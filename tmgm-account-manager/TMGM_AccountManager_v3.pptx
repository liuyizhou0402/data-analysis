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XAU/USD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EF3F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25年12月</c:v>
                  </c:pt>
                  <c:pt idx="1">
                    <c:v>26年1月高点</c:v>
                  </c:pt>
                  <c:pt idx="2">
                    <c:v>3月</c:v>
                  </c:pt>
                  <c:pt idx="3">
                    <c:v>5月</c:v>
                  </c:pt>
                  <c:pt idx="4">
                    <c:v>7月末</c:v>
                  </c:pt>
                  <c:pt idx="5">
                    <c:v>8月初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4550</c:v>
                </c:pt>
                <c:pt idx="1">
                  <c:v>5598</c:v>
                </c:pt>
                <c:pt idx="2">
                  <c:v>4870</c:v>
                </c:pt>
                <c:pt idx="3">
                  <c:v>4400</c:v>
                </c:pt>
                <c:pt idx="4">
                  <c:v>4050</c:v>
                </c:pt>
                <c:pt idx="5">
                  <c:v>4029</c:v>
                </c:pt>
              </c:numCache>
            </c:numRef>
          </c:val>
          <c:smooth val="1"/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EEF3F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6B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  <c:min val="3600"/>
        </c:scaling>
        <c:delete val="0"/>
        <c:axPos val="l"/>
        <c:majorGridlines>
          <c:spPr>
            <a:ln w="12700" cap="flat">
              <a:solidFill>
                <a:srgbClr val="1F2E3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8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02E"/>
        </a:solidFill>
        <a:ln>
          <a:noFill/>
        </a:ln>
        <a:effectLst/>
      </c:spPr>
    </c:plotArea>
    <c:plotVisOnly val="1"/>
    <c:dispBlanksAs val="span"/>
  </c:chart>
  <c:spPr>
    <a:solidFill>
      <a:srgbClr val="1420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回撤 %</c:v>
                </c:pt>
              </c:strCache>
            </c:strRef>
          </c:tx>
          <c:spPr>
            <a:solidFill>
              <a:srgbClr val="E0605A">
                <a:alpha val="10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3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60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526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26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纳斯达克</c:v>
                  </c:pt>
                  <c:pt idx="1">
                    <c:v>标普 500</c:v>
                  </c:pt>
                  <c:pt idx="2">
                    <c:v>道琼斯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4</c:v>
                </c:pt>
                <c:pt idx="2">
                  <c:v>3.2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EF3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3A6B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1F2E3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8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02E"/>
        </a:solidFill>
        <a:ln>
          <a:noFill/>
        </a:ln>
        <a:effectLst/>
      </c:spPr>
    </c:plotArea>
    <c:plotVisOnly val="1"/>
    <c:dispBlanksAs val="span"/>
  </c:chart>
  <c:spPr>
    <a:solidFill>
      <a:srgbClr val="1420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同比增长 %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EF3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Google Cloud</c:v>
                  </c:pt>
                  <c:pt idx="1">
                    <c:v>订阅与设备</c:v>
                  </c:pt>
                  <c:pt idx="2">
                    <c:v>搜索广告</c:v>
                  </c:pt>
                  <c:pt idx="3">
                    <c:v>YouTube 广告</c:v>
                  </c:pt>
                  <c:pt idx="4">
                    <c:v>整体营收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15</c:v>
                </c:pt>
                <c:pt idx="2">
                  <c:v>17</c:v>
                </c:pt>
                <c:pt idx="3">
                  <c:v>13</c:v>
                </c:pt>
                <c:pt idx="4">
                  <c:v>24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EEF3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6B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b"/>
        <c:majorGridlines>
          <c:spPr>
            <a:ln w="12700" cap="flat">
              <a:solidFill>
                <a:srgbClr val="1F2E3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8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02E"/>
        </a:solidFill>
        <a:ln>
          <a:noFill/>
        </a:ln>
        <a:effectLst/>
      </c:spPr>
    </c:plotArea>
    <c:plotVisOnly val="1"/>
    <c:dispBlanksAs val="span"/>
  </c:chart>
  <c:spPr>
    <a:solidFill>
      <a:srgbClr val="1420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>
            <a:solidFill>
              <a:srgbClr val="C2703D"/>
            </a:solidFill>
            <a:ln w="38100" cap="flat">
              <a:solidFill>
                <a:srgbClr val="C2703D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EEF3F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703D"/>
              </a:solidFill>
              <a:ln w="9525" cap="flat">
                <a:solidFill>
                  <a:srgbClr val="C27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25年12月底</c:v>
                  </c:pt>
                  <c:pt idx="1">
                    <c:v>26年1月</c:v>
                  </c:pt>
                  <c:pt idx="2">
                    <c:v>3月9日高</c:v>
                  </c:pt>
                  <c:pt idx="3">
                    <c:v>5月</c:v>
                  </c:pt>
                  <c:pt idx="4">
                    <c:v>7月</c:v>
                  </c:pt>
                  <c:pt idx="5">
                    <c:v>8月7日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65</c:v>
                </c:pt>
                <c:pt idx="2">
                  <c:v>119.47</c:v>
                </c:pt>
                <c:pt idx="3">
                  <c:v>88</c:v>
                </c:pt>
                <c:pt idx="4">
                  <c:v>73</c:v>
                </c:pt>
                <c:pt idx="5">
                  <c:v>78.18</c:v>
                </c:pt>
              </c:numCache>
            </c:numRef>
          </c:val>
          <c:smooth val="1"/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EEF3F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6B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"/>
          <c:min val="40"/>
        </c:scaling>
        <c:delete val="0"/>
        <c:axPos val="l"/>
        <c:majorGridlines>
          <c:spPr>
            <a:ln w="12700" cap="flat">
              <a:solidFill>
                <a:srgbClr val="1F2E3E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8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02E"/>
        </a:solidFill>
        <a:ln>
          <a:noFill/>
        </a:ln>
        <a:effectLst/>
      </c:spPr>
    </c:plotArea>
    <c:plotVisOnly val="1"/>
    <c:dispBlanksAs val="span"/>
  </c:chart>
  <c:spPr>
    <a:solidFill>
      <a:srgbClr val="1420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封面。强调这是内部材料，任何对外版本必须先过合规。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239012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115214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TMGM  ·  ACCOUNT MANAGER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5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客户沟通话术</a:t>
            </a:r>
            <a:endParaRPr lang="en-US" sz="45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5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与四大资产市场分析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66928" y="34381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Australia Limited   ·   ASIC AFSL 436416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4041648"/>
            <a:ext cx="5373472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2245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81328" y="4224528"/>
            <a:ext cx="418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公司介绍话术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466344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  ·  资深交易者  ·  代理 IB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688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1296" y="4041648"/>
            <a:ext cx="5373472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5616" y="42245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65696" y="4224528"/>
            <a:ext cx="418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市场分析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65696" y="4663440"/>
            <a:ext cx="418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  ·  纳指  ·  Alphabet  ·  原油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53167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— 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570585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2026年8月9日   ·   内部培训材料   ·   非投资建议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开口之前：四条红线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产品干预令已延长至 2027年5月23日  ·  违反可处民事及刑事处罚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5391760" cy="7863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865376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禁止诱导开户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25296" y="215798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不得提供开户奖金、返现、交易信用额度或“免费礼品”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700784"/>
            <a:ext cx="5391760" cy="7863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91376" y="1865376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禁止承诺收益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91376" y="2157984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不得说“稳赚”“保本”“低风险高回报”或任何形式的收益保证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5391760" cy="7863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283464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禁止规避杠杆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25296" y="312724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不得引导澳洲零售客户转向离岸实体以获取更高杠杆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3008" y="2670048"/>
            <a:ext cx="5391760" cy="7863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91376" y="2834640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禁止个人建议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91376" y="312724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实习生通常未获授权 · 不得针对个人情况推荐仓位或金额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694176"/>
            <a:ext cx="5391760" cy="243230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895344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零售客户杠杆上限  ·  ASIC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4315968"/>
            <a:ext cx="392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主要货币对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78528" y="43159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30:1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4663440"/>
            <a:ext cx="5099152" cy="347472"/>
          </a:xfrm>
          <a:prstGeom prst="rect">
            <a:avLst/>
          </a:prstGeom>
          <a:solidFill>
            <a:srgbClr val="1A2938"/>
          </a:solidFill>
          <a:ln w="12700">
            <a:solidFill>
              <a:srgbClr val="1A29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663440"/>
            <a:ext cx="392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次要货币对 / 黄金 / 主要股指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78528" y="4663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5010912"/>
            <a:ext cx="392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其他商品 / 次要股指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78528" y="5010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" y="5358384"/>
            <a:ext cx="5099152" cy="347472"/>
          </a:xfrm>
          <a:prstGeom prst="rect">
            <a:avLst/>
          </a:prstGeom>
          <a:solidFill>
            <a:srgbClr val="1A2938"/>
          </a:solidFill>
          <a:ln w="12700">
            <a:solidFill>
              <a:srgbClr val="1A29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358384"/>
            <a:ext cx="392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个股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78528" y="5358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5705856"/>
            <a:ext cx="392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加密货币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78528" y="57058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2:1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33008" y="3694176"/>
            <a:ext cx="5391760" cy="2432304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7328" y="3895344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每通电话必须说到的三件事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07328" y="43708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82816" y="4370832"/>
            <a:ext cx="434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是杠杆产品，大多数零售客户是亏钱的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507328" y="4882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82816" y="4882896"/>
            <a:ext cx="434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已提供 PDS、FSG 与目标市场认定 (TMD)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507328" y="53949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82816" y="5394960"/>
            <a:ext cx="434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以上为一般性信息，未考虑你的个人财务状况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07328" y="5779008"/>
            <a:ext cx="484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这三句必须每通电话都讲到 — 不是走流程，是你个人的法律保护。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来源：ASIC 20-254MR / 21-060MR 产品干预令；2022年4月延长五年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TMGM 事实档案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只说能查证的事实 · 客户会去查，夸大一次就再也建立不起信任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AFSL 436416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30275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持牌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2013年12月获批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4314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2058" y="1865376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82058" y="2468880"/>
            <a:ext cx="30275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可交易品种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外汇 / 指数 / 股票 / 商品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21701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9445" y="1865376"/>
            <a:ext cx="30275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 评级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59445" y="2468880"/>
            <a:ext cx="30275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客户资金独立存放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澳洲授权存款机构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218688"/>
            <a:ext cx="5391760" cy="290779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19856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实体结构  ·  务必分清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858768"/>
            <a:ext cx="484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Australia Ltd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4069080"/>
            <a:ext cx="484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AFSL 436416 — 澳洲客户归这里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4315968"/>
            <a:ext cx="484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Global Ltd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4526280"/>
            <a:ext cx="484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瓦努阿图 VFSC 40356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4773168"/>
            <a:ext cx="484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Global Markets (SE)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983480"/>
            <a:ext cx="484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塞舌尔 FSA SD224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" y="5230368"/>
            <a:ext cx="484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Global Markets (Intl)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5440680"/>
            <a:ext cx="484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毛里求斯 FSC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5687568"/>
            <a:ext cx="484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Markets (NZ) Ltd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5897880"/>
            <a:ext cx="484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新西兰 FMA FSP 569807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3008" y="3218688"/>
            <a:ext cx="5391760" cy="290779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7328" y="3419856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其他可查证事实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07328" y="3877056"/>
            <a:ext cx="48431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总部：Level 28, One International Tower, Barangaroo, 悉尼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澳洲办公室：悉尼、墨尔本、阿德莱德、堪培拉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年由 TradeMax 更名为 TMGM Group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赞助：澳大利亚网球公开赛、AFF 三菱电机杯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私人持股，未公开上市，无披露的外部风投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不接受美国、加拿大、日本居民开户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 AFCA 澳洲金融投诉管理局争议机制覆盖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来源：TMGM 官网监管页面 / ASIC 注册资料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新客户 / 首次接触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目标不是让他今天入金，而是让他明白自己在参与什么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6800571" cy="248716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01952"/>
            <a:ext cx="6251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  ·  30 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304288"/>
            <a:ext cx="6251931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“我是 TMGM 的 [姓名]。我们是 Trademax Australia，受澳洲 ASIC 监管，持牌编号 436416，自 2013 年运营，总部在悉尼 Barangaroo。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在讲任何产品之前，我得先说清楚一件事：我们做的是差价合约，这是杠杆产品，大部分零售客户在这个产品上是亏钱的。如果你听完觉得不适合，那完全没问题。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我先问你三个问题：你之前交易过杠杆产品吗？你打算投入的这笔钱，全部亏掉会不会影响你的生活？你希望解决什么问题？”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41819" y="1700784"/>
            <a:ext cx="3982948" cy="2487168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16139" y="1901952"/>
            <a:ext cx="3434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为什么这样开场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16139" y="2359152"/>
            <a:ext cx="3434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先亮牌照</a:t>
            </a:r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建立可查证的信任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16139" y="2724912"/>
            <a:ext cx="3434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先讲风险</a:t>
            </a:r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满足合规，筛掉赔不起的人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16139" y="3090672"/>
            <a:ext cx="3434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提问</a:t>
            </a:r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判断是否属于目标市场 TMD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16139" y="3456432"/>
            <a:ext cx="3434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“不适合也没问题”</a:t>
            </a:r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</a:t>
            </a:r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降低防御，提高留存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407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异议应对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7839" cy="42062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548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“能赚多少？”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75888" y="4754880"/>
            <a:ext cx="7674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“我没法给你任何收益预期——真给了就是违规。我能告诉你的是成本结构和风险有多大。”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5230368"/>
            <a:ext cx="11057839" cy="420624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303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“有没有开户优惠？”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75888" y="5230368"/>
            <a:ext cx="7674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“澳洲监管明确禁止用奖金或礼品吸引开户。任何这么说的平台，你都该多留个心眼。”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705856"/>
            <a:ext cx="11057839" cy="42062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70585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“我朋友说能加到 500 倍”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75888" y="5705856"/>
            <a:ext cx="76745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“那是离岸牌照。澳洲零售上限是外汇 30 倍、黄金 20 倍。杠杆低不是缺点，是保护。”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结尾必说：“以上是一般性信息，没有考虑你的个人财务状况。开户前请读完 PDS 和 TMD。”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资深交易者 / 换平台客户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他不需要你教他交易 · 只关心成本、执行、出金 · 讲品牌故事等于浪费他时间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883664"/>
            <a:ext cx="2497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304288"/>
            <a:ext cx="29544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点差结构、佣金、隔夜利息、货币转换费。给具体数字，不给形容词。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4314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8634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4122" y="1883664"/>
            <a:ext cx="2497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8634" y="2304288"/>
            <a:ext cx="29544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订单类型、滑点政策、服务器位置与延迟、平台 MT4/MT5、API 接入。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1701" y="1700784"/>
            <a:ext cx="3503066" cy="12984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6021" y="1883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71509" y="1883664"/>
            <a:ext cx="24972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资金安全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96021" y="2304288"/>
            <a:ext cx="29544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客户资金独立存放于 AA 评级澳洲 ADI；负余额保护；AFCA 争议解决。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00571" cy="221284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456432"/>
            <a:ext cx="62519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  ·  15 秒，直接切入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895344"/>
            <a:ext cx="62519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“我不占用你时间讲品牌。三个数字：我们的 [品种] 平均点差是 X，佣金 Y，隔夜利息 Z。你现在平台是多少？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如果我们没优势，我直接告诉你，不浪费你时间。如果有，我给你开个模拟账户，你用自己的策略跑两周，看执行质量再决定。”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41819" y="3255264"/>
            <a:ext cx="3982948" cy="2212848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16139" y="3456432"/>
            <a:ext cx="3434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绝对不要做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16139" y="3931920"/>
            <a:ext cx="34343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不要背诵公司历史和奖项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不要给他看你的行情分析（他比你懂）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不要回避不利对比 — 他一定会自己查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不要暗示离岸账户能给更高杠杆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所有点差、佣金、隔夜利息必须来自 TMGM 官方产品明细表，注明为浮动或历史平均值，不得报成固定值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III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代理 / IB 合作伙伴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代理关心可持续的分成，不是一次性冲量 · 帮他把客户留住，他才会长期给你导流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5391760" cy="210312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01952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322576"/>
            <a:ext cx="484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“你带来的客户，我们的目标不是让他一个月爆仓走人，而是让他活得够久、交易得够久。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我们受 ASIC 监管，客户资金存在 AA 评级澳洲银行，有负余额保护和 AFCA 争议渠道 —— 这些对你意味着更少的客诉，和更长的客户生命周期。”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3008" y="1700784"/>
            <a:ext cx="5391760" cy="2103120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1901952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代理真正会问的四个问题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07328" y="23591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6240" y="2359152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分成结构：按手数还是按点差？几时结算？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07328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46240" y="2651760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后台：能不能实时看到下线客户数据？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07328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6240" y="2944368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支持：有没有中文客服、本地化材料？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07328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6240" y="3236976"/>
            <a:ext cx="43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合规：我作为代理，营销上有哪些限制？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0599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代理关系里最容易出事的地方 — 你要主动讲清楚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425696"/>
            <a:ext cx="3503066" cy="1298448"/>
          </a:xfrm>
          <a:prstGeom prst="rect">
            <a:avLst/>
          </a:prstGeom>
          <a:solidFill>
            <a:srgbClr val="2A1A1E"/>
          </a:solidFill>
          <a:ln w="12700">
            <a:solidFill>
              <a:srgbClr val="4828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4645152"/>
            <a:ext cx="2606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代理的宣传也算数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084064"/>
            <a:ext cx="29544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代理在微信群、小红书发的“稳赚”截图，监管责任可能回到持牌方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4314" y="4425696"/>
            <a:ext cx="3503066" cy="1298448"/>
          </a:xfrm>
          <a:prstGeom prst="rect">
            <a:avLst/>
          </a:prstGeom>
          <a:solidFill>
            <a:srgbClr val="2A1A1E"/>
          </a:solidFill>
          <a:ln w="12700">
            <a:solidFill>
              <a:srgbClr val="4828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8634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966106" y="4645152"/>
            <a:ext cx="2606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代理不得提供建议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8634" y="5084064"/>
            <a:ext cx="29544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未持牌代理向客户推荐仓位、品种、进出场点位，属于无牌提供金融建议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21701" y="4425696"/>
            <a:ext cx="3503066" cy="1298448"/>
          </a:xfrm>
          <a:prstGeom prst="rect">
            <a:avLst/>
          </a:prstGeom>
          <a:solidFill>
            <a:srgbClr val="2A1A1E"/>
          </a:solidFill>
          <a:ln w="12700">
            <a:solidFill>
              <a:srgbClr val="4828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6021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743493" y="4645152"/>
            <a:ext cx="26069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不得代客操作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96021" y="5084064"/>
            <a:ext cx="295442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代理拿客户账号密码下单是明确违规，一旦亏损必然演变成投诉与法律纠纷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任何代理协议条款、分成比例与结算方式，必须以 TMGM 法务 / 合规提供的正式文件为准，不得口头承诺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 ·  MARKETS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2026年8月9日 · 市场背景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三条主线同时在推动所有资产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3503066" cy="256032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385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59536" y="2615184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美联储转鹰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017520"/>
            <a:ext cx="29178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主席 Kevin Warsh 立场强硬。7月29日会议维持 350–375bp 不变；市场一度给到 35.8% 的加息概率。6月通胀 3.5%，核心 2.6%。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4314" y="1700784"/>
            <a:ext cx="3503066" cy="256032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922" y="19385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36922" y="2615184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霍尔木兹海峡危机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922" y="3017520"/>
            <a:ext cx="29178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美伊冲突后海峡通行受限。伊朗与阿曼谈判胶着，伊方要求排除美以船只并收费。能源价格与通胀预期被牢牢绑定。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700784"/>
            <a:ext cx="3503066" cy="256032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4309" y="19385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14309" y="2615184"/>
            <a:ext cx="2917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纳指年内第二次回调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4309" y="3017520"/>
            <a:ext cx="29178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板块高度集中，资金对巨额资本开支的耐心下降。市场从“讲故事”转向“看现金流”。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35424"/>
            <a:ext cx="11057839" cy="914400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535424"/>
            <a:ext cx="10436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给客户的一句话：</a:t>
            </a:r>
            <a:pPr indent="0" marL="0">
              <a:buNone/>
            </a:pPr>
            <a:r>
              <a:rPr lang="en-US" sz="13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利率、地缘、AI 资本开支 — 今天几乎每个品种的波动都能追溯到这三件事之一。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 ·  XAU/USD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黄金 · 基本面与政策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1月历史高点 $5,598 回落约 28% · 目前在 $4,020–4,050 区间盘整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084832" cy="142646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现价区间 · 8月初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700784"/>
            <a:ext cx="2084832" cy="142646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86537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63824" y="24688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较1月高点回撤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85232" y="1700784"/>
            <a:ext cx="2084832" cy="142646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2976" y="1865376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22976" y="246888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零售杠杆上限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44384" y="1700784"/>
            <a:ext cx="3980383" cy="1426464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1865376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机构目标价严重分歧  ·  分歧本身就是波动来源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18704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摩根大通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53167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18704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高盛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53167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$4,900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18704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53167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$4,560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18704" y="2880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StoneX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53167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3383280"/>
            <a:ext cx="5391760" cy="274320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602736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支撑金价的力量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4096512"/>
            <a:ext cx="484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各国央行持续购金，部分抵消 ETF 的大额赎回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霍尔木兹冲突未解，避险需求随时可能被点燃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美国财政赤字推向 GDP 约 7%，长期利多贵金属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波动率压缩到极致，通常预示一次方向性大行情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若美联储措辞转鸽，看跌结构可能快速反转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33008" y="3383280"/>
            <a:ext cx="5391760" cy="274320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7328" y="3602736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压制金价的力量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7328" y="4096512"/>
            <a:ext cx="484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Warsh 领导下的美联储拒绝转向，实际利率维持高位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市场仍在给加息定价 — 对无息资产是直接打击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 持续净赎回，投资端需求疲弱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全球矿产供应上升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–"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月线级别动能指标仍指向下方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来源：CNBC、路透、摩根大通全球研究、LiteFinance（2026年7–8月） · 一般性信息，非投资建议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 ·  TECHNICALS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黄金 · 技术面与关键价位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价格被夹在 200 日与 50 日均线之间 — 摩根大通称之为“技术上的无人区”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6858000" cy="283464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0195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 2026 年走势  ·  示意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3232" y="2249424"/>
          <a:ext cx="6565392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699248" y="1700784"/>
            <a:ext cx="3925519" cy="2834640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1901952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关键价位  ·  需盘前复核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3568" y="230428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日均线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62288" y="23042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$4,730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18927" y="23042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阻力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45552" y="2724912"/>
            <a:ext cx="3632911" cy="420624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73568" y="27249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日均线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62288" y="27249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$4,340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618927" y="27249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分水岭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73568" y="31455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现价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62288" y="31455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$4,029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618927" y="31455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45552" y="3566160"/>
            <a:ext cx="3632911" cy="420624"/>
          </a:xfrm>
          <a:prstGeom prst="rect">
            <a:avLst/>
          </a:prstGeom>
          <a:solidFill>
            <a:srgbClr val="14202E"/>
          </a:solidFill>
          <a:ln w="12700">
            <a:solidFill>
              <a:srgbClr val="1420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3568" y="35661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预测下沿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62288" y="35661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$3,580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18927" y="356616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73568" y="4023360"/>
            <a:ext cx="33768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均线为 6 月摩根大通口径，可能已变动。</a:t>
            </a:r>
            <a:endParaRPr lang="en-US" sz="10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务必用 TMGM 实时图表复核后再对外使用。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6928" y="4773168"/>
            <a:ext cx="11057839" cy="135331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4956048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两种情景  ·  不做单边预测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" y="5321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看涨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536192" y="5321808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守住 200 日均线并放量上破 $4,340，配合美联储措辞转鸽，有机会重新挑战 $4,730。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41248" y="57241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看跌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536192" y="5724144"/>
            <a:ext cx="98142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跌破 $4,000 整数关口且月线动能延续，打开向 $3,845 / $3,580 的下行空间。波动率压缩意味着无论哪个方向，启动都可能很急。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图表为示意性走势，非精确 K 线数据 · 一般性信息，不构成交易建议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纳斯达克 · 基本面与政策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2026年内第二次进入回调区间 · 问题不在 AI 故事是否成立，而在估值是否已经透支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1057839" cy="1371600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01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核心矛盾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67712"/>
            <a:ext cx="1043604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纳指权重高度集中在少数依赖 AI 增长叙事的巨头。只要叙事松动，指数下跌速度就会远快于标普与道指 — 7月29日标普距高点仅 4%，道指仅 3.2%，而纳指已进入回调。这个结构性差异是解释指数波动最有力的框架。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310128"/>
            <a:ext cx="3503066" cy="281635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529584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政策变量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005072"/>
            <a:ext cx="295442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美联储主席 Warsh 鹰派，不排除加息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高利率直接压制成长股估值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OBBBA 财政刺激退潮，赤字升至 GDP 约 7%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地缘冲突推高能源，通胀更难压下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3310128"/>
            <a:ext cx="3503066" cy="281635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8634" y="3529584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支撑因素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8634" y="4005072"/>
            <a:ext cx="295442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微软 Azure 收入激增曾带动纳指创 6 月来最佳单日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巨头现金流与资产负债表依然稳健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需求是多年期趋势，非单季故事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回调后部分标的估值重新具吸引力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1701" y="3310128"/>
            <a:ext cx="3503066" cy="281635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6021" y="3529584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风险因素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6021" y="4005072"/>
            <a:ext cx="295442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半导体板块反复抛售，美光一度重挫 30%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指数集中度高，单一龙头失速即拖累全局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市场进入“拿出证据来”阶段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20:1 杠杆下波动仍足以快速触发强平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来源：The Motley Fool、CNBC（2026年7–8月） · 一般性信息，非投资建议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NASDAQ  ·  TECHNICALS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纳斯达克 · 技术面与交易含义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回调定义为自高点回落 10–20% · 历史上纳指回调后多在年内收复，但“多数”不等于“这次”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5852160" cy="26151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019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三大指数自高点回撤  ·  7月末（%）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3232" y="2249424"/>
          <a:ext cx="5559552" cy="1883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93408" y="1700784"/>
            <a:ext cx="4931359" cy="2615184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67728" y="1901952"/>
            <a:ext cx="4382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这张图怎么用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67728" y="2340864"/>
            <a:ext cx="4382719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同一段时间里，纳指跌幅是道指的四倍。这不是市场整体崩了，而是资金在从科技集中度最高的地方撤出。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对客户的实际含义：如果他做纳指 CFD，他承担的不是“美国经济风险”，而是集中的 AI 板块风险。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这个区分能帮客户理解为什么仓位波动远大于预期 — 也是你能提供的、真正有价值的信息。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4553712"/>
            <a:ext cx="11057839" cy="157276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73659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风险管理提示  ·  仅作一般性教育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41248" y="50840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回调 ≠ 见底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852928" y="5084064"/>
            <a:ext cx="8497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10–20% 的回撤可以延续数月，也可以演变成熊市。别把“历史上会反弹”当成时间表。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1248" y="544982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集中度即风险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852928" y="5449824"/>
            <a:ext cx="8497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少数权重股决定指数方向，财报季的单日跳空风险显著高于分散型指数。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5815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杠杆放大一切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852928" y="5815584"/>
            <a:ext cx="8497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20:1 下，指数 5% 的逆向波动即接近本金全损。强平会先于本金耗尽触发。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回撤数据为 2026年7月29日近似值 · 一般性信息，非投资建议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 ·  GOOGL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 · 基本面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财报几乎全线超预期，但股价没涨 — 因为自由现金流转负了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558720" cy="1225296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208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$1,198亿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208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营收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YoY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9968" y="1700784"/>
            <a:ext cx="2558720" cy="1225296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7712" y="1865376"/>
            <a:ext cx="208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37712" y="2468880"/>
            <a:ext cx="208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增长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 $248 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700784"/>
            <a:ext cx="2558720" cy="1225296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1865376"/>
            <a:ext cx="208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−$58.6亿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70752" y="2468880"/>
            <a:ext cx="208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自由现金流转负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6047" y="1700784"/>
            <a:ext cx="2558720" cy="1225296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3791" y="1865376"/>
            <a:ext cx="208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$449亿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303791" y="2468880"/>
            <a:ext cx="208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资本开支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+100%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182112"/>
            <a:ext cx="5852160" cy="294436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3649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各业务线同比增长（%）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13232" y="3694176"/>
          <a:ext cx="5559552" cy="22677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693408" y="3182112"/>
            <a:ext cx="4931359" cy="2944368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728" y="3364992"/>
            <a:ext cx="4382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多空双方各自的论据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67728" y="3730752"/>
            <a:ext cx="4382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看多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967728" y="4005072"/>
            <a:ext cx="43827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$9.11 远超预期 $2.89；Gemini 应用月活 9.5 亿；财富 100 强企业渗透率近 90%；33 位分析师中 28 位给出买入评级。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67728" y="4791456"/>
            <a:ext cx="4382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看空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967728" y="5065776"/>
            <a:ext cx="43827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全年资本开支指引 $1,800–1,900 亿；6 月增发股票筹资 $496 亿并发债 $203 亿；自由现金流转负；股价年内涨 11% 但 5、6、7 月连续下跌，跑输苹果与英伟达。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来源：Alphabet Q2 2026 财报、CNBC、TheStreet、IG（2026年7月22日） · 一般性信息，非投资建议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 ·  TECHNICALS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 · 技术面与监管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监管压力是这只股票区别于其他科技巨头的独立变量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5391760" cy="190195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83664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技术位  ·  7月中旬口径，需复核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31136"/>
            <a:ext cx="1614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近期收盘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1614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$346.77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455621" y="2231136"/>
            <a:ext cx="1614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趋势线支撑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55621" y="2468880"/>
            <a:ext cx="1614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$341.43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69994" y="2231136"/>
            <a:ext cx="16143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阻力带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69994" y="2468880"/>
            <a:ext cx="161437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6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$357–359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1248" y="2852928"/>
            <a:ext cx="484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突破条件：需放量站上 $357–359 的 EMA 密集区，才谈得上趋势反转。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700784"/>
            <a:ext cx="5391760" cy="1901952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1883664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监管与政策事件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07328" y="22311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7月2日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04608" y="2231136"/>
            <a:ext cx="374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欧盟法院终审维持 41 亿欧元（约 $46.7 亿）Android 反垄断罚款，八年官司落幕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07328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7月17–18日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604608" y="2578608"/>
            <a:ext cx="374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欧盟依《数字市场法》DMA 发出具约束力的互操作性指令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07328" y="29260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04608" y="2926080"/>
            <a:ext cx="374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罚款相对可承受（单季营收即超千亿），但会为后续案件立下判例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8770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 GOOGL CFD 时要提醒客户的三件事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242816"/>
            <a:ext cx="3503066" cy="151790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4622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53312" y="4462272"/>
            <a:ext cx="2442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个股杠杆仅 5:1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" y="49377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对个股 CFD 的杠杆上限是 5 倍，远低于外汇。客户常误以为可以高杠杆做个股。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4314" y="4242816"/>
            <a:ext cx="3503066" cy="151790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8634" y="44622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130698" y="4462272"/>
            <a:ext cx="2442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财报与监管跳空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8634" y="49377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财报公布与欧盟裁决都在非交易时段发生，开盘跳空可能直接跳过止损价位。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21701" y="4242816"/>
            <a:ext cx="3503066" cy="151790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6021" y="446227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908085" y="4462272"/>
            <a:ext cx="24423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 不等于持股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96021" y="4937760"/>
            <a:ext cx="295442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客户不持有实际股份，没有投票权；股息以调整方式处理，持仓过夜产生融资费用。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价位为 2026年7月中旬数据，可能已显著变动 · 使用前必须以实时行情复核 · 非投资建议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 ·  CRUDE / XOM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原油与能源股 · 基本面与政策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四个资产里政策驱动最纯粹的一个 — 霍尔木兹海峡的每条新闻都会直接反映在价格上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558720" cy="115214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83664"/>
            <a:ext cx="208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$78.18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04672" y="2432304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WTI 现货 · 8月7日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9968" y="1700784"/>
            <a:ext cx="2558720" cy="115214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7712" y="1883664"/>
            <a:ext cx="208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37712" y="2432304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布伦特原油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700784"/>
            <a:ext cx="2558720" cy="115214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1883664"/>
            <a:ext cx="208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7A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70752" y="2432304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同比涨幅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6047" y="1700784"/>
            <a:ext cx="2558720" cy="115214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3791" y="1883664"/>
            <a:ext cx="2083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$54.97–119.47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03791" y="2432304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周区间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5391760" cy="3035808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310128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霍尔木兹海峡  ·  当前谈判焦点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3785616"/>
            <a:ext cx="48431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伊朗提出的伊阿协议草案要求禁止美、以船只通行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并要求被其视为敌对的国家先行支付补偿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违规船只可能被处以货值 20% 的罚金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伊朗称海峡须待美国解除海上封锁后才完全重开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美方立场相反，要求无限制通行、恢复战前状态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–"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伊朗曾对海峡内“敌对目标”实施打击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3008" y="3090672"/>
            <a:ext cx="5391760" cy="303580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7328" y="3310128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能源股的基本面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07328" y="3712464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利多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07328" y="3986784"/>
            <a:ext cx="484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埃克森美孚、雪佛龙、Valero 上季度均交出亮眼财报 — 美伊冲突制造了巨额短期利润。炼油类 ETF 与原油波动率产品是近半年最大赢家之一。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7328" y="4864608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利空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07328" y="5138928"/>
            <a:ext cx="484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高盛预测 2026 年四季度布伦特仅 $60、WTI $56，并维持全年 230 万桶/日的供给过剩判断。多位机构人士警告：押注地缘政治是高风险交易，一旦停火，溢价会迅速消失。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来源：Trading Economics、Forbes、CNBC、Oilprice（2026年8月） · 一般性信息，非投资建议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 ·  TECHNICALS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原油 · 技术面与情景推演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3月9日曾冲到 $119.47，目前 $78 — 现价距年内高点仍有约 35% 的距离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6858000" cy="2615184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0195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WTI 原油 2026 年走势  ·  示意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13232" y="2249424"/>
          <a:ext cx="6565392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699248" y="1700784"/>
            <a:ext cx="3925519" cy="2615184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1901952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波动特征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3568" y="2340864"/>
            <a:ext cx="3376879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周振幅超过 117%，是四个资产中波动最剧烈的。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价格几乎完全由新闻驱动：海峡谈判的每一次进退，都会在数小时内反映到盘面。</a:t>
            </a: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endParaRPr lang="en-US" sz="12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对非黄金商品的零售杠杆上限为 10:1，比黄金还低。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4553712"/>
            <a:ext cx="11057839" cy="1572768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736592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三种情景  ·  风险框架，不是概率预测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" y="5157216"/>
            <a:ext cx="128016" cy="128016"/>
          </a:xfrm>
          <a:prstGeom prst="rect">
            <a:avLst/>
          </a:prstGeom>
          <a:solidFill>
            <a:srgbClr val="47A883"/>
          </a:solidFill>
          <a:ln/>
        </p:spPr>
      </p:sp>
      <p:sp>
        <p:nvSpPr>
          <p:cNvPr id="15" name="Text 12"/>
          <p:cNvSpPr/>
          <p:nvPr/>
        </p:nvSpPr>
        <p:spPr>
          <a:xfrm>
            <a:off x="1133856" y="5065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停火 / 海峡重开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182112" y="5065776"/>
            <a:ext cx="8168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地缘溢价迅速蒸发，向高盛 $56–60 目标区间靠拢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1248" y="5522976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1133856" y="54315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僵局延续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182112" y="5431536"/>
            <a:ext cx="8168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$75–85 区间宽幅震荡，消息面反复拉锯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" y="5888736"/>
            <a:ext cx="128016" cy="128016"/>
          </a:xfrm>
          <a:prstGeom prst="rect">
            <a:avLst/>
          </a:prstGeom>
          <a:solidFill>
            <a:srgbClr val="E0605A"/>
          </a:solidFill>
          <a:ln/>
        </p:spPr>
      </p:sp>
      <p:sp>
        <p:nvSpPr>
          <p:cNvPr id="21" name="Text 18"/>
          <p:cNvSpPr/>
          <p:nvPr/>
        </p:nvSpPr>
        <p:spPr>
          <a:xfrm>
            <a:off x="1133856" y="57972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冲突升级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182112" y="5797296"/>
            <a:ext cx="81683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供应实质中断，重新测试 $100 以上，3月高点 $119 成为参考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图表为示意性走势 · 三种情景仅为风险框架说明，不是概率预测，更不是交易建议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CROSS-ASSET  ·  RISK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跨资产联动 · 分散不等于对冲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四个品种看起来毫不相关，但今天它们背后只有三个驱动因子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11057839" cy="265176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83664"/>
            <a:ext cx="10509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驱动因子映射  ·  定性框架，非实测相关系数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资产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18688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美联储 / 实际利率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87568" y="2249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霍尔木兹地缘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156448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资本开支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68128" y="2249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杠杆上限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黄金 XAU/USD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18688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强负相关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87568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避险买盘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56448" y="2578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无直接关系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68128" y="2578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2926080"/>
            <a:ext cx="10765231" cy="347472"/>
          </a:xfrm>
          <a:prstGeom prst="rect">
            <a:avLst/>
          </a:prstGeom>
          <a:solidFill>
            <a:srgbClr val="1A2938"/>
          </a:solidFill>
          <a:ln w="12700">
            <a:solidFill>
              <a:srgbClr val="1A29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纳指 NAS100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18688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强负相关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7568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间接（通胀）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56448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核心驱动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168128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20:1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Alphabet GOOGL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18688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负相关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56448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核心驱动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68128" y="3273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" y="3621024"/>
            <a:ext cx="10765231" cy="347472"/>
          </a:xfrm>
          <a:prstGeom prst="rect">
            <a:avLst/>
          </a:prstGeom>
          <a:solidFill>
            <a:srgbClr val="1A2938"/>
          </a:solidFill>
          <a:ln w="12700">
            <a:solidFill>
              <a:srgbClr val="1A29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WTI 原油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18688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87568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核心驱动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56448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无直接关系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68128" y="36210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" y="4041648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读法：同一行看这个品种被谁推动，同一列看哪些品种会一起动。三个因子同时转向时，四个品种可能同向下跌 — 这就是“分散”失效的时刻。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590288"/>
            <a:ext cx="3503066" cy="153619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773168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客户最常见的误解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" y="5175504"/>
            <a:ext cx="29544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“我买了黄金又买了纳指，所以我分散了。” — 两者都在对美联储路径下注，只是方向相反。这不是分散，是把仓位押在同一个宏观判断上。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44314" y="4590288"/>
            <a:ext cx="3503066" cy="153619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8634" y="4773168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集中度怎么解释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18634" y="5175504"/>
            <a:ext cx="29544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纳指与 GOOGL 高度重叠：同时持有等于在 AI 资本开支这一个因子上加倍。可以问客户：“如果 AI 叙事松动，你有几个仓位会同时亏？”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21701" y="4590288"/>
            <a:ext cx="3503066" cy="1536192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96021" y="4773168"/>
            <a:ext cx="29544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你能讲什么，不能讲什么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96021" y="5175504"/>
            <a:ext cx="29544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可以讲：因子结构、波动来源、杠杆差异。不能讲：应该配多少、该买哪个、什么时候进出。前者是一般性信息，后者是个人建议。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本表为定性框架，用于解释风险来源，不是统计相关系数，也不构成任何配置建议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 · 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估值与财报：怎么读，怎么讲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客户问“它到底贵不贵” — 你能给框架，不能给答案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5852160" cy="2688336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8366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现金流折现的三个输入  ·  DCF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24942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自由现金流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505456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经营现金流减去资本开支。Alphabet Q2 转负 $58.6 亿，就是因为分母端资本开支翻倍。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9443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44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折现率 WACC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280160" y="3200400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无风险利率上行 → 折现率上行 → 远期现金流现值下降。这是“美联储鹰派压制成长股”的完整机制。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3639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639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终值假设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80160" y="3895344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估值里最大的一块，也最主观。多数分歧不在明年，而在“十年后还剩多少增长”。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93408" y="1700784"/>
            <a:ext cx="4931359" cy="2688336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1883664"/>
            <a:ext cx="4382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2C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财报季：超预期为什么不等于上涨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67728" y="2267712"/>
            <a:ext cx="4382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股价反映的是预期差，不是绝对好坏。Alphabet Q2 EPS $9.11 对预期 $2.89 — 数字漂亮，股价却没动。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67728" y="2926080"/>
            <a:ext cx="4382719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看指引，不只看本季 — 全年资本开支指引才是重点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看现金流表，不只看利润表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看融资动作：增发 $496 亿 + 发债 $203 亿说明什么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–"/>
            </a:pPr>
            <a:r>
              <a:rPr lang="en-US" sz="110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看财报后的分析师目标价调整方向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5391760" cy="1499616"/>
          </a:xfrm>
          <a:prstGeom prst="rect">
            <a:avLst/>
          </a:prstGeom>
          <a:solidFill>
            <a:srgbClr val="1A2938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828032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47A8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可以这样说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5193792"/>
            <a:ext cx="484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“市场现在争论的是资本开支什么时候转化成收入。”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“自由现金流转负，意味着估值模型的输入变了。”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“分析师目标价从 $X 到 $Y，分歧本身就是波动来源。”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3008" y="4626864"/>
            <a:ext cx="5391760" cy="1499616"/>
          </a:xfrm>
          <a:prstGeom prst="rect">
            <a:avLst/>
          </a:prstGeom>
          <a:solidFill>
            <a:srgbClr val="2A1A1E"/>
          </a:solidFill>
          <a:ln w="12700">
            <a:solidFill>
              <a:srgbClr val="4828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07328" y="4828032"/>
            <a:ext cx="484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绝对不能这样说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07328" y="5193792"/>
            <a:ext cx="484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“现在这个价位很便宜，可以进。”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“我算过它值 $XXX，现在被低估了。”</a:t>
            </a:r>
            <a:endParaRPr lang="en-US" sz="10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–"/>
            </a:pPr>
            <a:r>
              <a:rPr lang="en-US" sz="10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“财报这么好，下周肯定涨。”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估值框架为一般性教育内容 · 任何具体目标价、买卖时点或仓位建议都属于个人建议，未获授权不得提供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25780"/>
            <a:ext cx="77724" cy="7772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38912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USE THIS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E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使用这份材料之前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三件必须做的事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3503066" cy="228600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938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9536" y="2560320"/>
            <a:ext cx="2917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所有价位重新复核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926080"/>
            <a:ext cx="29178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本材料数据截至 2026年8月8日。任何对外引用的价格、均线、点差，都必须以 TMGM 实时数据为准。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4314" y="1700784"/>
            <a:ext cx="3503066" cy="228600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922" y="1938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36922" y="2560320"/>
            <a:ext cx="2917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送合规部门审核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36922" y="2926080"/>
            <a:ext cx="29178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这是内部准备材料。任何要发给客户或代理的版本，必须先经 TMGM 合规审核。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1701" y="1700784"/>
            <a:ext cx="3503066" cy="2286000"/>
          </a:xfrm>
          <a:prstGeom prst="rect">
            <a:avLst/>
          </a:prstGeom>
          <a:solidFill>
            <a:srgbClr val="14202E"/>
          </a:solidFill>
          <a:ln w="12700">
            <a:solidFill>
              <a:srgbClr val="263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4309" y="193852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414309" y="2560320"/>
            <a:ext cx="2917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确认你的授权范围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4309" y="2926080"/>
            <a:ext cx="291785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向任何客户讲这些分析之前，先向主管书面确认：你是否被授权提供一般性建议？这关系到你个人的法律责任。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261104"/>
            <a:ext cx="11057839" cy="1371600"/>
          </a:xfrm>
          <a:prstGeom prst="rect">
            <a:avLst/>
          </a:prstGeom>
          <a:solidFill>
            <a:srgbClr val="2A1A1E"/>
          </a:solidFill>
          <a:ln w="12700">
            <a:solidFill>
              <a:srgbClr val="4828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4462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E0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风险披露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7824" y="4828032"/>
            <a:ext cx="1043604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E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差价合约 (CFD) 是复杂的杠杆金融产品，存在快速亏损的高风险。大多数零售投资者在交易 CFD 时亏损。本材料为一般性信息，未考虑任何个人的投资目标、财务状况或需求，不构成个人建议。交易前请阅读 PDS、FSG 与目标市场认定 (TMD)。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309360"/>
            <a:ext cx="10234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Trademax Australia Limited  ·  ASIC AFSL 436416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93247" y="6309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8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TMGM Account Manager — 客户沟通话术与四大资产市场分析</dc:title>
  <dc:subject>PptxGenJS Presentation</dc:subject>
  <dc:creator>TMGM</dc:creator>
  <cp:lastModifiedBy>TMGM</cp:lastModifiedBy>
  <cp:revision>1</cp:revision>
  <dcterms:created xsi:type="dcterms:W3CDTF">2026-08-09T14:39:27Z</dcterms:created>
  <dcterms:modified xsi:type="dcterms:W3CDTF">2026-08-09T14:39:27Z</dcterms:modified>
</cp:coreProperties>
</file>