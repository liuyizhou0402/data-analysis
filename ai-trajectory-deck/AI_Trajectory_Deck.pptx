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 01. The trajectory of the illness — not the technology — sets the deployment logic. Acute care compresses decisions into minutes, so AI sits at the front line for triage speed. Chronic care unfolds over years, so AI works in the background on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Findings 02 and 03. Trust is the constraint chronic care cannot trade away, so face-to-face time has to survive automation. Failure is usually not a model problem — it is a role-assignment problem: standalone AI deployed where human trust was the active ingredient.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7F1"/>
        </a:solidFill>
      </p:bgPr>
    </p:bg>
    <p:spTree>
      <p:nvGrpSpPr>
        <p:cNvPr id="1" name=""/>
        <p:cNvGrpSpPr/>
        <p:nvPr/>
      </p:nvGrpSpPr>
      <p:grpSpPr>
        <a:xfrm>
          <a:off x="0" y="0"/>
          <a:ext cx="0" cy="0"/>
          <a:chOff x="0" y="0"/>
          <a:chExt cx="0" cy="0"/>
        </a:xfrm>
      </p:grpSpPr>
      <p:sp>
        <p:nvSpPr>
          <p:cNvPr id="2" name="Shape 0"/>
          <p:cNvSpPr/>
          <p:nvPr/>
        </p:nvSpPr>
        <p:spPr>
          <a:xfrm>
            <a:off x="9281160" y="-1417320"/>
            <a:ext cx="4480560" cy="4480560"/>
          </a:xfrm>
          <a:prstGeom prst="ellipse">
            <a:avLst/>
          </a:prstGeom>
          <a:solidFill>
            <a:srgbClr val="DCEDEA"/>
          </a:solidFill>
          <a:ln w="12700">
            <a:solidFill>
              <a:srgbClr val="DCEDEA"/>
            </a:solidFill>
            <a:prstDash val="solid"/>
          </a:ln>
        </p:spPr>
      </p:sp>
      <p:pic>
        <p:nvPicPr>
          <p:cNvPr id="3" name="Image 0" descr="preencoded.png">    </p:cNvPr>
          <p:cNvPicPr>
            <a:picLocks noChangeAspect="1"/>
          </p:cNvPicPr>
          <p:nvPr/>
        </p:nvPicPr>
        <p:blipFill>
          <a:blip r:embed="rId1"/>
          <a:stretch>
            <a:fillRect/>
          </a:stretch>
        </p:blipFill>
        <p:spPr>
          <a:xfrm>
            <a:off x="9710928" y="292608"/>
            <a:ext cx="2286000" cy="2286000"/>
          </a:xfrm>
          <a:prstGeom prst="rect">
            <a:avLst/>
          </a:prstGeom>
        </p:spPr>
      </p:pic>
      <p:sp>
        <p:nvSpPr>
          <p:cNvPr id="4" name="Text 1"/>
          <p:cNvSpPr/>
          <p:nvPr/>
        </p:nvSpPr>
        <p:spPr>
          <a:xfrm>
            <a:off x="777240" y="566928"/>
            <a:ext cx="7315200" cy="274320"/>
          </a:xfrm>
          <a:prstGeom prst="rect">
            <a:avLst/>
          </a:prstGeom>
          <a:noFill/>
          <a:ln/>
        </p:spPr>
        <p:txBody>
          <a:bodyPr wrap="square" lIns="0" tIns="0" rIns="0" bIns="0" rtlCol="0" anchor="ctr"/>
          <a:lstStyle/>
          <a:p>
            <a:pPr indent="0" marL="0">
              <a:buNone/>
            </a:pPr>
            <a:r>
              <a:rPr lang="en-US" sz="1150" b="1" spc="320" kern="0" dirty="0">
                <a:solidFill>
                  <a:srgbClr val="D9532F"/>
                </a:solidFill>
                <a:latin typeface="Arial" pitchFamily="34" charset="0"/>
                <a:ea typeface="Arial" pitchFamily="34" charset="-122"/>
                <a:cs typeface="Arial" pitchFamily="34" charset="-120"/>
              </a:rPr>
              <a:t>FINDING 01   ·   CARE TRAJECTORY</a:t>
            </a:r>
            <a:endParaRPr lang="en-US" sz="1150" dirty="0"/>
          </a:p>
        </p:txBody>
      </p:sp>
      <p:sp>
        <p:nvSpPr>
          <p:cNvPr id="5" name="Text 2"/>
          <p:cNvSpPr/>
          <p:nvPr/>
        </p:nvSpPr>
        <p:spPr>
          <a:xfrm>
            <a:off x="777240" y="932688"/>
            <a:ext cx="8595360" cy="1371600"/>
          </a:xfrm>
          <a:prstGeom prst="rect">
            <a:avLst/>
          </a:prstGeom>
          <a:noFill/>
          <a:ln/>
        </p:spPr>
        <p:txBody>
          <a:bodyPr wrap="square" lIns="0" tIns="0" rIns="0" bIns="0" rtlCol="0" anchor="ctr"/>
          <a:lstStyle/>
          <a:p>
            <a:pPr indent="0" marL="0">
              <a:lnSpc>
                <a:spcPts val="4600"/>
              </a:lnSpc>
              <a:buNone/>
            </a:pPr>
            <a:r>
              <a:rPr lang="en-US" sz="3800" b="1" dirty="0">
                <a:solidFill>
                  <a:srgbClr val="12263A"/>
                </a:solidFill>
                <a:latin typeface="Arial" pitchFamily="34" charset="0"/>
                <a:ea typeface="Arial" pitchFamily="34" charset="-122"/>
                <a:cs typeface="Arial" pitchFamily="34" charset="-120"/>
              </a:rPr>
              <a:t>Different Illness Trajectories</a:t>
            </a:r>
            <a:endParaRPr lang="en-US" sz="3800" dirty="0"/>
          </a:p>
          <a:p>
            <a:pPr indent="0" marL="0">
              <a:lnSpc>
                <a:spcPts val="4600"/>
              </a:lnSpc>
              <a:buNone/>
            </a:pPr>
            <a:r>
              <a:rPr lang="en-US" sz="3800" b="1" dirty="0">
                <a:solidFill>
                  <a:srgbClr val="12263A"/>
                </a:solidFill>
                <a:latin typeface="Arial" pitchFamily="34" charset="0"/>
                <a:ea typeface="Arial" pitchFamily="34" charset="-122"/>
                <a:cs typeface="Arial" pitchFamily="34" charset="-120"/>
              </a:rPr>
              <a:t>Need Different AI Logics</a:t>
            </a:r>
            <a:endParaRPr lang="en-US" sz="3800" dirty="0"/>
          </a:p>
        </p:txBody>
      </p:sp>
      <p:sp>
        <p:nvSpPr>
          <p:cNvPr id="6" name="Shape 3"/>
          <p:cNvSpPr/>
          <p:nvPr/>
        </p:nvSpPr>
        <p:spPr>
          <a:xfrm>
            <a:off x="777240" y="2651760"/>
            <a:ext cx="5090008" cy="3291840"/>
          </a:xfrm>
          <a:prstGeom prst="roundRect">
            <a:avLst>
              <a:gd name="adj" fmla="val 3889"/>
            </a:avLst>
          </a:prstGeom>
          <a:solidFill>
            <a:srgbClr val="FFFFFF"/>
          </a:solidFill>
          <a:ln w="12700">
            <a:solidFill>
              <a:srgbClr val="E7DFD4"/>
            </a:solidFill>
            <a:prstDash val="solid"/>
          </a:ln>
        </p:spPr>
      </p:sp>
      <p:sp>
        <p:nvSpPr>
          <p:cNvPr id="7" name="Shape 4"/>
          <p:cNvSpPr/>
          <p:nvPr/>
        </p:nvSpPr>
        <p:spPr>
          <a:xfrm>
            <a:off x="1161288" y="3035808"/>
            <a:ext cx="1481328" cy="329184"/>
          </a:xfrm>
          <a:prstGeom prst="roundRect">
            <a:avLst>
              <a:gd name="adj" fmla="val 47222"/>
            </a:avLst>
          </a:prstGeom>
          <a:solidFill>
            <a:srgbClr val="D9532F"/>
          </a:solidFill>
          <a:ln w="12700">
            <a:solidFill>
              <a:srgbClr val="D9532F"/>
            </a:solidFill>
            <a:prstDash val="solid"/>
          </a:ln>
        </p:spPr>
      </p:sp>
      <p:sp>
        <p:nvSpPr>
          <p:cNvPr id="8" name="Text 5"/>
          <p:cNvSpPr/>
          <p:nvPr/>
        </p:nvSpPr>
        <p:spPr>
          <a:xfrm>
            <a:off x="1161288" y="3035808"/>
            <a:ext cx="1481328" cy="329184"/>
          </a:xfrm>
          <a:prstGeom prst="rect">
            <a:avLst/>
          </a:prstGeom>
          <a:noFill/>
          <a:ln/>
        </p:spPr>
        <p:txBody>
          <a:bodyPr wrap="square" lIns="0" tIns="0" rIns="0" bIns="0" rtlCol="0" anchor="ctr"/>
          <a:lstStyle/>
          <a:p>
            <a:pPr algn="ctr" indent="0" marL="0">
              <a:buNone/>
            </a:pPr>
            <a:r>
              <a:rPr lang="en-US" sz="900" b="1" spc="140" kern="0" dirty="0">
                <a:solidFill>
                  <a:srgbClr val="FFFFFF"/>
                </a:solidFill>
                <a:latin typeface="Arial" pitchFamily="34" charset="0"/>
                <a:ea typeface="Arial" pitchFamily="34" charset="-122"/>
                <a:cs typeface="Arial" pitchFamily="34" charset="-120"/>
              </a:rPr>
              <a:t>ACUTE CARE</a:t>
            </a:r>
            <a:endParaRPr lang="en-US" sz="900" dirty="0"/>
          </a:p>
        </p:txBody>
      </p:sp>
      <p:sp>
        <p:nvSpPr>
          <p:cNvPr id="9" name="Shape 6"/>
          <p:cNvSpPr/>
          <p:nvPr/>
        </p:nvSpPr>
        <p:spPr>
          <a:xfrm>
            <a:off x="4623664" y="2962656"/>
            <a:ext cx="859536" cy="859536"/>
          </a:xfrm>
          <a:prstGeom prst="ellipse">
            <a:avLst/>
          </a:prstGeom>
          <a:solidFill>
            <a:srgbClr val="FAE2D8"/>
          </a:solidFill>
          <a:ln w="12700">
            <a:solidFill>
              <a:srgbClr val="FAE2D8"/>
            </a:solidFill>
            <a:prstDash val="solid"/>
          </a:ln>
        </p:spPr>
      </p:sp>
      <p:pic>
        <p:nvPicPr>
          <p:cNvPr id="10" name="Image 1" descr="preencoded.png">    </p:cNvPr>
          <p:cNvPicPr>
            <a:picLocks noChangeAspect="1"/>
          </p:cNvPicPr>
          <p:nvPr/>
        </p:nvPicPr>
        <p:blipFill>
          <a:blip r:embed="rId2"/>
          <a:stretch>
            <a:fillRect/>
          </a:stretch>
        </p:blipFill>
        <p:spPr>
          <a:xfrm>
            <a:off x="4833976" y="3172968"/>
            <a:ext cx="438912" cy="438912"/>
          </a:xfrm>
          <a:prstGeom prst="rect">
            <a:avLst/>
          </a:prstGeom>
        </p:spPr>
      </p:pic>
      <p:sp>
        <p:nvSpPr>
          <p:cNvPr id="11" name="Text 7"/>
          <p:cNvSpPr/>
          <p:nvPr/>
        </p:nvSpPr>
        <p:spPr>
          <a:xfrm>
            <a:off x="1161288" y="3621024"/>
            <a:ext cx="4321912" cy="420624"/>
          </a:xfrm>
          <a:prstGeom prst="rect">
            <a:avLst/>
          </a:prstGeom>
          <a:noFill/>
          <a:ln/>
        </p:spPr>
        <p:txBody>
          <a:bodyPr wrap="square" lIns="0" tIns="0" rIns="0" bIns="0" rtlCol="0" anchor="ctr"/>
          <a:lstStyle/>
          <a:p>
            <a:pPr indent="0" marL="0">
              <a:buNone/>
            </a:pPr>
            <a:r>
              <a:rPr lang="en-US" sz="2300" b="1" dirty="0">
                <a:solidFill>
                  <a:srgbClr val="12263A"/>
                </a:solidFill>
                <a:latin typeface="Arial" pitchFamily="34" charset="0"/>
                <a:ea typeface="Arial" pitchFamily="34" charset="-122"/>
                <a:cs typeface="Arial" pitchFamily="34" charset="-120"/>
              </a:rPr>
              <a:t>Front-Line AI</a:t>
            </a:r>
            <a:endParaRPr lang="en-US" sz="2300" dirty="0"/>
          </a:p>
        </p:txBody>
      </p:sp>
      <p:sp>
        <p:nvSpPr>
          <p:cNvPr id="12" name="Text 8"/>
          <p:cNvSpPr/>
          <p:nvPr/>
        </p:nvSpPr>
        <p:spPr>
          <a:xfrm>
            <a:off x="1161288" y="4114800"/>
            <a:ext cx="4267048" cy="786384"/>
          </a:xfrm>
          <a:prstGeom prst="rect">
            <a:avLst/>
          </a:prstGeom>
          <a:noFill/>
          <a:ln/>
        </p:spPr>
        <p:txBody>
          <a:bodyPr wrap="square" lIns="0" tIns="0" rIns="0" bIns="0" rtlCol="0" anchor="t"/>
          <a:lstStyle/>
          <a:p>
            <a:pPr indent="0" marL="0">
              <a:lnSpc>
                <a:spcPts val="2100"/>
              </a:lnSpc>
              <a:buNone/>
            </a:pPr>
            <a:r>
              <a:rPr lang="en-US" sz="1400" dirty="0">
                <a:solidFill>
                  <a:srgbClr val="3A5265"/>
                </a:solidFill>
                <a:latin typeface="Arial" pitchFamily="34" charset="0"/>
                <a:ea typeface="Arial" pitchFamily="34" charset="-122"/>
                <a:cs typeface="Arial" pitchFamily="34" charset="-120"/>
              </a:rPr>
              <a:t>Leverages front-line AI for speed and rapid triage.</a:t>
            </a:r>
            <a:endParaRPr lang="en-US" sz="1400" dirty="0"/>
          </a:p>
        </p:txBody>
      </p:sp>
      <p:pic>
        <p:nvPicPr>
          <p:cNvPr id="13" name="Image 2" descr="preencoded.png">    </p:cNvPr>
          <p:cNvPicPr>
            <a:picLocks noChangeAspect="1"/>
          </p:cNvPicPr>
          <p:nvPr/>
        </p:nvPicPr>
        <p:blipFill>
          <a:blip r:embed="rId3"/>
          <a:stretch>
            <a:fillRect/>
          </a:stretch>
        </p:blipFill>
        <p:spPr>
          <a:xfrm>
            <a:off x="1161288" y="4937760"/>
            <a:ext cx="4321912" cy="566928"/>
          </a:xfrm>
          <a:prstGeom prst="rect">
            <a:avLst/>
          </a:prstGeom>
        </p:spPr>
      </p:pic>
      <p:sp>
        <p:nvSpPr>
          <p:cNvPr id="14" name="Text 9"/>
          <p:cNvSpPr/>
          <p:nvPr/>
        </p:nvSpPr>
        <p:spPr>
          <a:xfrm>
            <a:off x="1161288" y="5522976"/>
            <a:ext cx="4321912" cy="237744"/>
          </a:xfrm>
          <a:prstGeom prst="rect">
            <a:avLst/>
          </a:prstGeom>
          <a:noFill/>
          <a:ln/>
        </p:spPr>
        <p:txBody>
          <a:bodyPr wrap="square" lIns="0" tIns="0" rIns="0" bIns="0" rtlCol="0" anchor="ctr"/>
          <a:lstStyle/>
          <a:p>
            <a:pPr indent="0" marL="0">
              <a:buNone/>
            </a:pPr>
            <a:r>
              <a:rPr lang="en-US" sz="1000" b="1" spc="80" kern="0" dirty="0">
                <a:solidFill>
                  <a:srgbClr val="D9532F"/>
                </a:solidFill>
                <a:latin typeface="Arial" pitchFamily="34" charset="0"/>
                <a:ea typeface="Arial" pitchFamily="34" charset="-122"/>
                <a:cs typeface="Arial" pitchFamily="34" charset="-120"/>
              </a:rPr>
              <a:t>Short, steep trajectory</a:t>
            </a:r>
            <a:endParaRPr lang="en-US" sz="1000" dirty="0"/>
          </a:p>
        </p:txBody>
      </p:sp>
      <p:sp>
        <p:nvSpPr>
          <p:cNvPr id="15" name="Shape 10"/>
          <p:cNvSpPr/>
          <p:nvPr/>
        </p:nvSpPr>
        <p:spPr>
          <a:xfrm>
            <a:off x="6324448" y="2651760"/>
            <a:ext cx="5090008" cy="3291840"/>
          </a:xfrm>
          <a:prstGeom prst="roundRect">
            <a:avLst>
              <a:gd name="adj" fmla="val 3889"/>
            </a:avLst>
          </a:prstGeom>
          <a:solidFill>
            <a:srgbClr val="FFFFFF"/>
          </a:solidFill>
          <a:ln w="12700">
            <a:solidFill>
              <a:srgbClr val="E7DFD4"/>
            </a:solidFill>
            <a:prstDash val="solid"/>
          </a:ln>
        </p:spPr>
      </p:sp>
      <p:sp>
        <p:nvSpPr>
          <p:cNvPr id="16" name="Shape 11"/>
          <p:cNvSpPr/>
          <p:nvPr/>
        </p:nvSpPr>
        <p:spPr>
          <a:xfrm>
            <a:off x="6708496" y="3035808"/>
            <a:ext cx="1481328" cy="329184"/>
          </a:xfrm>
          <a:prstGeom prst="roundRect">
            <a:avLst>
              <a:gd name="adj" fmla="val 47222"/>
            </a:avLst>
          </a:prstGeom>
          <a:solidFill>
            <a:srgbClr val="1F7A72"/>
          </a:solidFill>
          <a:ln w="12700">
            <a:solidFill>
              <a:srgbClr val="1F7A72"/>
            </a:solidFill>
            <a:prstDash val="solid"/>
          </a:ln>
        </p:spPr>
      </p:sp>
      <p:sp>
        <p:nvSpPr>
          <p:cNvPr id="17" name="Text 12"/>
          <p:cNvSpPr/>
          <p:nvPr/>
        </p:nvSpPr>
        <p:spPr>
          <a:xfrm>
            <a:off x="6708496" y="3035808"/>
            <a:ext cx="1481328" cy="329184"/>
          </a:xfrm>
          <a:prstGeom prst="rect">
            <a:avLst/>
          </a:prstGeom>
          <a:noFill/>
          <a:ln/>
        </p:spPr>
        <p:txBody>
          <a:bodyPr wrap="square" lIns="0" tIns="0" rIns="0" bIns="0" rtlCol="0" anchor="ctr"/>
          <a:lstStyle/>
          <a:p>
            <a:pPr algn="ctr" indent="0" marL="0">
              <a:buNone/>
            </a:pPr>
            <a:r>
              <a:rPr lang="en-US" sz="900" b="1" spc="140" kern="0" dirty="0">
                <a:solidFill>
                  <a:srgbClr val="FFFFFF"/>
                </a:solidFill>
                <a:latin typeface="Arial" pitchFamily="34" charset="0"/>
                <a:ea typeface="Arial" pitchFamily="34" charset="-122"/>
                <a:cs typeface="Arial" pitchFamily="34" charset="-120"/>
              </a:rPr>
              <a:t>CHRONIC CARE</a:t>
            </a:r>
            <a:endParaRPr lang="en-US" sz="900" dirty="0"/>
          </a:p>
        </p:txBody>
      </p:sp>
      <p:sp>
        <p:nvSpPr>
          <p:cNvPr id="18" name="Shape 13"/>
          <p:cNvSpPr/>
          <p:nvPr/>
        </p:nvSpPr>
        <p:spPr>
          <a:xfrm>
            <a:off x="10170871" y="2962656"/>
            <a:ext cx="859536" cy="859536"/>
          </a:xfrm>
          <a:prstGeom prst="ellipse">
            <a:avLst/>
          </a:prstGeom>
          <a:solidFill>
            <a:srgbClr val="DCEDEA"/>
          </a:solidFill>
          <a:ln w="12700">
            <a:solidFill>
              <a:srgbClr val="DCEDEA"/>
            </a:solidFill>
            <a:prstDash val="solid"/>
          </a:ln>
        </p:spPr>
      </p:sp>
      <p:pic>
        <p:nvPicPr>
          <p:cNvPr id="19" name="Image 3" descr="preencoded.png">    </p:cNvPr>
          <p:cNvPicPr>
            <a:picLocks noChangeAspect="1"/>
          </p:cNvPicPr>
          <p:nvPr/>
        </p:nvPicPr>
        <p:blipFill>
          <a:blip r:embed="rId4"/>
          <a:stretch>
            <a:fillRect/>
          </a:stretch>
        </p:blipFill>
        <p:spPr>
          <a:xfrm>
            <a:off x="10381183" y="3172968"/>
            <a:ext cx="438912" cy="438912"/>
          </a:xfrm>
          <a:prstGeom prst="rect">
            <a:avLst/>
          </a:prstGeom>
        </p:spPr>
      </p:pic>
      <p:sp>
        <p:nvSpPr>
          <p:cNvPr id="20" name="Text 14"/>
          <p:cNvSpPr/>
          <p:nvPr/>
        </p:nvSpPr>
        <p:spPr>
          <a:xfrm>
            <a:off x="6708496" y="3621024"/>
            <a:ext cx="4321912" cy="420624"/>
          </a:xfrm>
          <a:prstGeom prst="rect">
            <a:avLst/>
          </a:prstGeom>
          <a:noFill/>
          <a:ln/>
        </p:spPr>
        <p:txBody>
          <a:bodyPr wrap="square" lIns="0" tIns="0" rIns="0" bIns="0" rtlCol="0" anchor="ctr"/>
          <a:lstStyle/>
          <a:p>
            <a:pPr indent="0" marL="0">
              <a:buNone/>
            </a:pPr>
            <a:r>
              <a:rPr lang="en-US" sz="2300" b="1" dirty="0">
                <a:solidFill>
                  <a:srgbClr val="12263A"/>
                </a:solidFill>
                <a:latin typeface="Arial" pitchFamily="34" charset="0"/>
                <a:ea typeface="Arial" pitchFamily="34" charset="-122"/>
                <a:cs typeface="Arial" pitchFamily="34" charset="-120"/>
              </a:rPr>
              <a:t>Behind-the-Scenes AI</a:t>
            </a:r>
            <a:endParaRPr lang="en-US" sz="2300" dirty="0"/>
          </a:p>
        </p:txBody>
      </p:sp>
      <p:sp>
        <p:nvSpPr>
          <p:cNvPr id="21" name="Text 15"/>
          <p:cNvSpPr/>
          <p:nvPr/>
        </p:nvSpPr>
        <p:spPr>
          <a:xfrm>
            <a:off x="6708496" y="4114800"/>
            <a:ext cx="4267048" cy="786384"/>
          </a:xfrm>
          <a:prstGeom prst="rect">
            <a:avLst/>
          </a:prstGeom>
          <a:noFill/>
          <a:ln/>
        </p:spPr>
        <p:txBody>
          <a:bodyPr wrap="square" lIns="0" tIns="0" rIns="0" bIns="0" rtlCol="0" anchor="t"/>
          <a:lstStyle/>
          <a:p>
            <a:pPr indent="0" marL="0">
              <a:lnSpc>
                <a:spcPts val="2100"/>
              </a:lnSpc>
              <a:buNone/>
            </a:pPr>
            <a:r>
              <a:rPr lang="en-US" sz="1400" dirty="0">
                <a:solidFill>
                  <a:srgbClr val="3A5265"/>
                </a:solidFill>
                <a:latin typeface="Arial" pitchFamily="34" charset="0"/>
                <a:ea typeface="Arial" pitchFamily="34" charset="-122"/>
                <a:cs typeface="Arial" pitchFamily="34" charset="-120"/>
              </a:rPr>
              <a:t>Relies on behind-the-scenes AI for long-term monitoring.</a:t>
            </a:r>
            <a:endParaRPr lang="en-US" sz="1400" dirty="0"/>
          </a:p>
        </p:txBody>
      </p:sp>
      <p:pic>
        <p:nvPicPr>
          <p:cNvPr id="22" name="Image 4" descr="preencoded.png">    </p:cNvPr>
          <p:cNvPicPr>
            <a:picLocks noChangeAspect="1"/>
          </p:cNvPicPr>
          <p:nvPr/>
        </p:nvPicPr>
        <p:blipFill>
          <a:blip r:embed="rId5"/>
          <a:stretch>
            <a:fillRect/>
          </a:stretch>
        </p:blipFill>
        <p:spPr>
          <a:xfrm>
            <a:off x="6708496" y="4937760"/>
            <a:ext cx="4321912" cy="566928"/>
          </a:xfrm>
          <a:prstGeom prst="rect">
            <a:avLst/>
          </a:prstGeom>
        </p:spPr>
      </p:pic>
      <p:sp>
        <p:nvSpPr>
          <p:cNvPr id="23" name="Text 16"/>
          <p:cNvSpPr/>
          <p:nvPr/>
        </p:nvSpPr>
        <p:spPr>
          <a:xfrm>
            <a:off x="6708496" y="5522976"/>
            <a:ext cx="4321912" cy="237744"/>
          </a:xfrm>
          <a:prstGeom prst="rect">
            <a:avLst/>
          </a:prstGeom>
          <a:noFill/>
          <a:ln/>
        </p:spPr>
        <p:txBody>
          <a:bodyPr wrap="square" lIns="0" tIns="0" rIns="0" bIns="0" rtlCol="0" anchor="ctr"/>
          <a:lstStyle/>
          <a:p>
            <a:pPr indent="0" marL="0">
              <a:buNone/>
            </a:pPr>
            <a:r>
              <a:rPr lang="en-US" sz="1000" b="1" spc="80" kern="0" dirty="0">
                <a:solidFill>
                  <a:srgbClr val="1F7A72"/>
                </a:solidFill>
                <a:latin typeface="Arial" pitchFamily="34" charset="0"/>
                <a:ea typeface="Arial" pitchFamily="34" charset="-122"/>
                <a:cs typeface="Arial" pitchFamily="34" charset="-120"/>
              </a:rPr>
              <a:t>Long, sustained trajectory</a:t>
            </a:r>
            <a:endParaRPr lang="en-US" sz="1000" dirty="0"/>
          </a:p>
        </p:txBody>
      </p:sp>
      <p:sp>
        <p:nvSpPr>
          <p:cNvPr id="24" name="Text 17"/>
          <p:cNvSpPr/>
          <p:nvPr/>
        </p:nvSpPr>
        <p:spPr>
          <a:xfrm>
            <a:off x="777240" y="6144768"/>
            <a:ext cx="10637215" cy="274320"/>
          </a:xfrm>
          <a:prstGeom prst="rect">
            <a:avLst/>
          </a:prstGeom>
          <a:noFill/>
          <a:ln/>
        </p:spPr>
        <p:txBody>
          <a:bodyPr wrap="square" lIns="0" tIns="0" rIns="0" bIns="0" rtlCol="0" anchor="ctr"/>
          <a:lstStyle/>
          <a:p>
            <a:pPr indent="0" marL="0">
              <a:buNone/>
            </a:pPr>
            <a:r>
              <a:rPr lang="en-US" sz="1050" dirty="0">
                <a:solidFill>
                  <a:srgbClr val="7A8CA0"/>
                </a:solidFill>
                <a:latin typeface="Arial" pitchFamily="34" charset="0"/>
                <a:ea typeface="Arial" pitchFamily="34" charset="-122"/>
                <a:cs typeface="Arial" pitchFamily="34" charset="-120"/>
              </a:rPr>
              <a:t>Acute vs. chronic care demand fundamentally different roles for AI.</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2136"/>
        </a:solidFill>
      </p:bgPr>
    </p:bg>
    <p:spTree>
      <p:nvGrpSpPr>
        <p:cNvPr id="1" name=""/>
        <p:cNvGrpSpPr/>
        <p:nvPr/>
      </p:nvGrpSpPr>
      <p:grpSpPr>
        <a:xfrm>
          <a:off x="0" y="0"/>
          <a:ext cx="0" cy="0"/>
          <a:chOff x="0" y="0"/>
          <a:chExt cx="0" cy="0"/>
        </a:xfrm>
      </p:grpSpPr>
      <p:sp>
        <p:nvSpPr>
          <p:cNvPr id="2" name="Shape 0"/>
          <p:cNvSpPr/>
          <p:nvPr/>
        </p:nvSpPr>
        <p:spPr>
          <a:xfrm>
            <a:off x="9601200" y="-1737360"/>
            <a:ext cx="4754880" cy="4754880"/>
          </a:xfrm>
          <a:prstGeom prst="ellipse">
            <a:avLst/>
          </a:prstGeom>
          <a:solidFill>
            <a:srgbClr val="17324C"/>
          </a:solidFill>
          <a:ln w="12700">
            <a:solidFill>
              <a:srgbClr val="17324C"/>
            </a:solidFill>
            <a:prstDash val="solid"/>
          </a:ln>
        </p:spPr>
      </p:sp>
      <p:pic>
        <p:nvPicPr>
          <p:cNvPr id="3" name="Image 0" descr="preencoded.png">    </p:cNvPr>
          <p:cNvPicPr>
            <a:picLocks noChangeAspect="1"/>
          </p:cNvPicPr>
          <p:nvPr/>
        </p:nvPicPr>
        <p:blipFill>
          <a:blip r:embed="rId1"/>
          <a:stretch>
            <a:fillRect/>
          </a:stretch>
        </p:blipFill>
        <p:spPr>
          <a:xfrm>
            <a:off x="10012680" y="256032"/>
            <a:ext cx="2194560" cy="2194560"/>
          </a:xfrm>
          <a:prstGeom prst="rect">
            <a:avLst/>
          </a:prstGeom>
        </p:spPr>
      </p:pic>
      <p:sp>
        <p:nvSpPr>
          <p:cNvPr id="4" name="Text 1"/>
          <p:cNvSpPr/>
          <p:nvPr/>
        </p:nvSpPr>
        <p:spPr>
          <a:xfrm>
            <a:off x="777240" y="566928"/>
            <a:ext cx="7772400" cy="274320"/>
          </a:xfrm>
          <a:prstGeom prst="rect">
            <a:avLst/>
          </a:prstGeom>
          <a:noFill/>
          <a:ln/>
        </p:spPr>
        <p:txBody>
          <a:bodyPr wrap="square" lIns="0" tIns="0" rIns="0" bIns="0" rtlCol="0" anchor="ctr"/>
          <a:lstStyle/>
          <a:p>
            <a:pPr indent="0" marL="0">
              <a:buNone/>
            </a:pPr>
            <a:r>
              <a:rPr lang="en-US" sz="1150" b="1" spc="320" kern="0" dirty="0">
                <a:solidFill>
                  <a:srgbClr val="E9A83B"/>
                </a:solidFill>
                <a:latin typeface="Arial" pitchFamily="34" charset="0"/>
                <a:ea typeface="Arial" pitchFamily="34" charset="-122"/>
                <a:cs typeface="Arial" pitchFamily="34" charset="-120"/>
              </a:rPr>
              <a:t>FINDINGS 02 &amp; 03   ·   IMPLEMENTATION</a:t>
            </a:r>
            <a:endParaRPr lang="en-US" sz="1150" dirty="0"/>
          </a:p>
        </p:txBody>
      </p:sp>
      <p:sp>
        <p:nvSpPr>
          <p:cNvPr id="5" name="Text 2"/>
          <p:cNvSpPr/>
          <p:nvPr/>
        </p:nvSpPr>
        <p:spPr>
          <a:xfrm>
            <a:off x="777240" y="932688"/>
            <a:ext cx="8778240" cy="73152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Two Conditions for Clinical Success</a:t>
            </a:r>
            <a:endParaRPr lang="en-US" sz="3600" dirty="0"/>
          </a:p>
        </p:txBody>
      </p:sp>
      <p:sp>
        <p:nvSpPr>
          <p:cNvPr id="6" name="Shape 3"/>
          <p:cNvSpPr/>
          <p:nvPr/>
        </p:nvSpPr>
        <p:spPr>
          <a:xfrm>
            <a:off x="777240" y="2139696"/>
            <a:ext cx="10637215" cy="1773936"/>
          </a:xfrm>
          <a:prstGeom prst="roundRect">
            <a:avLst>
              <a:gd name="adj" fmla="val 6701"/>
            </a:avLst>
          </a:prstGeom>
          <a:solidFill>
            <a:srgbClr val="17324C"/>
          </a:solidFill>
          <a:ln w="12700">
            <a:solidFill>
              <a:srgbClr val="27506F"/>
            </a:solidFill>
            <a:prstDash val="solid"/>
          </a:ln>
        </p:spPr>
      </p:sp>
      <p:sp>
        <p:nvSpPr>
          <p:cNvPr id="7" name="Shape 4"/>
          <p:cNvSpPr/>
          <p:nvPr/>
        </p:nvSpPr>
        <p:spPr>
          <a:xfrm>
            <a:off x="1234440" y="2523744"/>
            <a:ext cx="1005840" cy="1005840"/>
          </a:xfrm>
          <a:prstGeom prst="ellipse">
            <a:avLst/>
          </a:prstGeom>
          <a:solidFill>
            <a:srgbClr val="1F7A72"/>
          </a:solidFill>
          <a:ln w="12700">
            <a:solidFill>
              <a:srgbClr val="1F7A72"/>
            </a:solidFill>
            <a:prstDash val="solid"/>
          </a:ln>
        </p:spPr>
      </p:sp>
      <p:pic>
        <p:nvPicPr>
          <p:cNvPr id="8" name="Image 1" descr="preencoded.png">    </p:cNvPr>
          <p:cNvPicPr>
            <a:picLocks noChangeAspect="1"/>
          </p:cNvPicPr>
          <p:nvPr/>
        </p:nvPicPr>
        <p:blipFill>
          <a:blip r:embed="rId2"/>
          <a:stretch>
            <a:fillRect/>
          </a:stretch>
        </p:blipFill>
        <p:spPr>
          <a:xfrm>
            <a:off x="1485900" y="2775204"/>
            <a:ext cx="502920" cy="502920"/>
          </a:xfrm>
          <a:prstGeom prst="rect">
            <a:avLst/>
          </a:prstGeom>
        </p:spPr>
      </p:pic>
      <p:sp>
        <p:nvSpPr>
          <p:cNvPr id="9" name="Text 5"/>
          <p:cNvSpPr/>
          <p:nvPr/>
        </p:nvSpPr>
        <p:spPr>
          <a:xfrm>
            <a:off x="2651760" y="2432304"/>
            <a:ext cx="548640" cy="274320"/>
          </a:xfrm>
          <a:prstGeom prst="rect">
            <a:avLst/>
          </a:prstGeom>
          <a:noFill/>
          <a:ln/>
        </p:spPr>
        <p:txBody>
          <a:bodyPr wrap="square" lIns="0" tIns="0" rIns="0" bIns="0" rtlCol="0" anchor="ctr"/>
          <a:lstStyle/>
          <a:p>
            <a:pPr indent="0" marL="0">
              <a:buNone/>
            </a:pPr>
            <a:r>
              <a:rPr lang="en-US" sz="1200" b="1" spc="120" kern="0" dirty="0">
                <a:solidFill>
                  <a:srgbClr val="1F7A72"/>
                </a:solidFill>
                <a:latin typeface="Arial" pitchFamily="34" charset="0"/>
                <a:ea typeface="Arial" pitchFamily="34" charset="-122"/>
                <a:cs typeface="Arial" pitchFamily="34" charset="-120"/>
              </a:rPr>
              <a:t>02</a:t>
            </a:r>
            <a:endParaRPr lang="en-US" sz="1200" dirty="0"/>
          </a:p>
        </p:txBody>
      </p:sp>
      <p:sp>
        <p:nvSpPr>
          <p:cNvPr id="10" name="Text 6"/>
          <p:cNvSpPr/>
          <p:nvPr/>
        </p:nvSpPr>
        <p:spPr>
          <a:xfrm>
            <a:off x="2651760" y="2688336"/>
            <a:ext cx="8259775" cy="402336"/>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Preserving Human Connection</a:t>
            </a:r>
            <a:endParaRPr lang="en-US" sz="2200" dirty="0"/>
          </a:p>
        </p:txBody>
      </p:sp>
      <p:sp>
        <p:nvSpPr>
          <p:cNvPr id="11" name="Text 7"/>
          <p:cNvSpPr/>
          <p:nvPr/>
        </p:nvSpPr>
        <p:spPr>
          <a:xfrm>
            <a:off x="2651760" y="3108960"/>
            <a:ext cx="8122615" cy="658368"/>
          </a:xfrm>
          <a:prstGeom prst="rect">
            <a:avLst/>
          </a:prstGeom>
          <a:noFill/>
          <a:ln/>
        </p:spPr>
        <p:txBody>
          <a:bodyPr wrap="square" lIns="0" tIns="0" rIns="0" bIns="0" rtlCol="0" anchor="t"/>
          <a:lstStyle/>
          <a:p>
            <a:pPr indent="0" marL="0">
              <a:lnSpc>
                <a:spcPts val="2000"/>
              </a:lnSpc>
              <a:buNone/>
            </a:pPr>
            <a:r>
              <a:rPr lang="en-US" sz="1350" dirty="0">
                <a:solidFill>
                  <a:srgbClr val="AFC4D6"/>
                </a:solidFill>
                <a:latin typeface="Arial" pitchFamily="34" charset="0"/>
                <a:ea typeface="Arial" pitchFamily="34" charset="-122"/>
                <a:cs typeface="Arial" pitchFamily="34" charset="-120"/>
              </a:rPr>
              <a:t>Patients with chronic conditions prioritize trust and emotional support, requiring face-to-face physician interaction that technology cannot replace.</a:t>
            </a:r>
            <a:endParaRPr lang="en-US" sz="1350" dirty="0"/>
          </a:p>
        </p:txBody>
      </p:sp>
      <p:sp>
        <p:nvSpPr>
          <p:cNvPr id="12" name="Shape 8"/>
          <p:cNvSpPr/>
          <p:nvPr/>
        </p:nvSpPr>
        <p:spPr>
          <a:xfrm>
            <a:off x="777240" y="4151376"/>
            <a:ext cx="10637215" cy="1773936"/>
          </a:xfrm>
          <a:prstGeom prst="roundRect">
            <a:avLst>
              <a:gd name="adj" fmla="val 6701"/>
            </a:avLst>
          </a:prstGeom>
          <a:solidFill>
            <a:srgbClr val="17324C"/>
          </a:solidFill>
          <a:ln w="12700">
            <a:solidFill>
              <a:srgbClr val="27506F"/>
            </a:solidFill>
            <a:prstDash val="solid"/>
          </a:ln>
        </p:spPr>
      </p:sp>
      <p:sp>
        <p:nvSpPr>
          <p:cNvPr id="13" name="Shape 9"/>
          <p:cNvSpPr/>
          <p:nvPr/>
        </p:nvSpPr>
        <p:spPr>
          <a:xfrm>
            <a:off x="1234440" y="4535424"/>
            <a:ext cx="1005840" cy="1005840"/>
          </a:xfrm>
          <a:prstGeom prst="ellipse">
            <a:avLst/>
          </a:prstGeom>
          <a:solidFill>
            <a:srgbClr val="D9532F"/>
          </a:solidFill>
          <a:ln w="12700">
            <a:solidFill>
              <a:srgbClr val="D9532F"/>
            </a:solidFill>
            <a:prstDash val="solid"/>
          </a:ln>
        </p:spPr>
      </p:sp>
      <p:pic>
        <p:nvPicPr>
          <p:cNvPr id="14" name="Image 2" descr="preencoded.png">    </p:cNvPr>
          <p:cNvPicPr>
            <a:picLocks noChangeAspect="1"/>
          </p:cNvPicPr>
          <p:nvPr/>
        </p:nvPicPr>
        <p:blipFill>
          <a:blip r:embed="rId3"/>
          <a:stretch>
            <a:fillRect/>
          </a:stretch>
        </p:blipFill>
        <p:spPr>
          <a:xfrm>
            <a:off x="1485900" y="4786884"/>
            <a:ext cx="502920" cy="502920"/>
          </a:xfrm>
          <a:prstGeom prst="rect">
            <a:avLst/>
          </a:prstGeom>
        </p:spPr>
      </p:pic>
      <p:sp>
        <p:nvSpPr>
          <p:cNvPr id="15" name="Text 10"/>
          <p:cNvSpPr/>
          <p:nvPr/>
        </p:nvSpPr>
        <p:spPr>
          <a:xfrm>
            <a:off x="2651760" y="4443984"/>
            <a:ext cx="548640" cy="274320"/>
          </a:xfrm>
          <a:prstGeom prst="rect">
            <a:avLst/>
          </a:prstGeom>
          <a:noFill/>
          <a:ln/>
        </p:spPr>
        <p:txBody>
          <a:bodyPr wrap="square" lIns="0" tIns="0" rIns="0" bIns="0" rtlCol="0" anchor="ctr"/>
          <a:lstStyle/>
          <a:p>
            <a:pPr indent="0" marL="0">
              <a:buNone/>
            </a:pPr>
            <a:r>
              <a:rPr lang="en-US" sz="1200" b="1" spc="120" kern="0" dirty="0">
                <a:solidFill>
                  <a:srgbClr val="D9532F"/>
                </a:solidFill>
                <a:latin typeface="Arial" pitchFamily="34" charset="0"/>
                <a:ea typeface="Arial" pitchFamily="34" charset="-122"/>
                <a:cs typeface="Arial" pitchFamily="34" charset="-120"/>
              </a:rPr>
              <a:t>03</a:t>
            </a:r>
            <a:endParaRPr lang="en-US" sz="1200" dirty="0"/>
          </a:p>
        </p:txBody>
      </p:sp>
      <p:sp>
        <p:nvSpPr>
          <p:cNvPr id="16" name="Text 11"/>
          <p:cNvSpPr/>
          <p:nvPr/>
        </p:nvSpPr>
        <p:spPr>
          <a:xfrm>
            <a:off x="2651760" y="4700016"/>
            <a:ext cx="8259775" cy="402336"/>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Deployment Fit Defines Success</a:t>
            </a:r>
            <a:endParaRPr lang="en-US" sz="2200" dirty="0"/>
          </a:p>
        </p:txBody>
      </p:sp>
      <p:sp>
        <p:nvSpPr>
          <p:cNvPr id="17" name="Text 12"/>
          <p:cNvSpPr/>
          <p:nvPr/>
        </p:nvSpPr>
        <p:spPr>
          <a:xfrm>
            <a:off x="2651760" y="5120640"/>
            <a:ext cx="8122615" cy="658368"/>
          </a:xfrm>
          <a:prstGeom prst="rect">
            <a:avLst/>
          </a:prstGeom>
          <a:noFill/>
          <a:ln/>
        </p:spPr>
        <p:txBody>
          <a:bodyPr wrap="square" lIns="0" tIns="0" rIns="0" bIns="0" rtlCol="0" anchor="t"/>
          <a:lstStyle/>
          <a:p>
            <a:pPr indent="0" marL="0">
              <a:lnSpc>
                <a:spcPts val="2000"/>
              </a:lnSpc>
              <a:buNone/>
            </a:pPr>
            <a:r>
              <a:rPr lang="en-US" sz="1350" dirty="0">
                <a:solidFill>
                  <a:srgbClr val="AFC4D6"/>
                </a:solidFill>
                <a:latin typeface="Arial" pitchFamily="34" charset="0"/>
                <a:ea typeface="Arial" pitchFamily="34" charset="-122"/>
                <a:cs typeface="Arial" pitchFamily="34" charset="-120"/>
              </a:rPr>
              <a:t>Mismatching AI’s role — forcing standalone AI where human trust is critical — is the primary driver of clinical implementation failure.</a:t>
            </a:r>
            <a:endParaRPr lang="en-US" sz="1350" dirty="0"/>
          </a:p>
        </p:txBody>
      </p:sp>
      <p:sp>
        <p:nvSpPr>
          <p:cNvPr id="18" name="Text 13"/>
          <p:cNvSpPr/>
          <p:nvPr/>
        </p:nvSpPr>
        <p:spPr>
          <a:xfrm>
            <a:off x="777240" y="6144768"/>
            <a:ext cx="10637215" cy="274320"/>
          </a:xfrm>
          <a:prstGeom prst="rect">
            <a:avLst/>
          </a:prstGeom>
          <a:noFill/>
          <a:ln/>
        </p:spPr>
        <p:txBody>
          <a:bodyPr wrap="square" lIns="0" tIns="0" rIns="0" bIns="0" rtlCol="0" anchor="ctr"/>
          <a:lstStyle/>
          <a:p>
            <a:pPr indent="0" marL="0">
              <a:buNone/>
            </a:pPr>
            <a:r>
              <a:rPr lang="en-US" sz="1050" dirty="0">
                <a:solidFill>
                  <a:srgbClr val="6E8BA5"/>
                </a:solidFill>
                <a:latin typeface="Arial" pitchFamily="34" charset="0"/>
                <a:ea typeface="Arial" pitchFamily="34" charset="-122"/>
                <a:cs typeface="Arial" pitchFamily="34" charset="-120"/>
              </a:rPr>
              <a:t>Fit the role to the trajectory — or implementation fails.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Illness Trajectory and AI Deployment Logic</dc:title>
  <dc:subject>PptxGenJS Presentation</dc:subject>
  <dc:creator>PptxGenJS</dc:creator>
  <cp:lastModifiedBy>PptxGenJS</cp:lastModifiedBy>
  <cp:revision>1</cp:revision>
  <dcterms:created xsi:type="dcterms:W3CDTF">2026-08-14T04:36:29Z</dcterms:created>
  <dcterms:modified xsi:type="dcterms:W3CDTF">2026-08-14T04:36:29Z</dcterms:modified>
</cp:coreProperties>
</file>