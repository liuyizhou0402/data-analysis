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515600" cy="2011680"/>
          </a:xfrm>
          <a:prstGeom prst="rect">
            <a:avLst/>
          </a:prstGeom>
          <a:noFill/>
        </p:spPr>
        <p:txBody>
          <a:bodyPr wrap="square">
            <a:spAutoFit/>
          </a:bodyPr>
          <a:lstStyle/>
          <a:p>
            <a:pPr algn="l"/>
            <a:r>
              <a:rPr sz="4400" b="1" i="0">
                <a:solidFill>
                  <a:srgbClr val="FFFFFF"/>
                </a:solidFill>
              </a:rPr>
              <a:t>雅思听力 满分冲刺</a:t>
            </a:r>
          </a:p>
        </p:txBody>
      </p:sp>
      <p:sp>
        <p:nvSpPr>
          <p:cNvPr id="5" name="TextBox 4"/>
          <p:cNvSpPr txBox="1"/>
          <p:nvPr/>
        </p:nvSpPr>
        <p:spPr>
          <a:xfrm>
            <a:off x="640080" y="3657600"/>
            <a:ext cx="9601200" cy="1097280"/>
          </a:xfrm>
          <a:prstGeom prst="rect">
            <a:avLst/>
          </a:prstGeom>
          <a:noFill/>
        </p:spPr>
        <p:txBody>
          <a:bodyPr wrap="square">
            <a:spAutoFit/>
          </a:bodyPr>
          <a:lstStyle/>
          <a:p>
            <a:pPr algn="l"/>
            <a:r>
              <a:rPr sz="2200" b="0" i="0">
                <a:solidFill>
                  <a:srgbClr val="CCDDFF"/>
                </a:solidFill>
              </a:rPr>
              <a:t>IELTS Listening · 10节课系统提分 · 深圳专属版</a:t>
            </a:r>
          </a:p>
        </p:txBody>
      </p:sp>
      <p:sp>
        <p:nvSpPr>
          <p:cNvPr id="6" name="Rectangle 5"/>
          <p:cNvSpPr/>
          <p:nvPr/>
        </p:nvSpPr>
        <p:spPr>
          <a:xfrm>
            <a:off x="640080" y="4937760"/>
            <a:ext cx="3200400" cy="50292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965192"/>
            <a:ext cx="3017520" cy="457200"/>
          </a:xfrm>
          <a:prstGeom prst="rect">
            <a:avLst/>
          </a:prstGeom>
          <a:noFill/>
        </p:spPr>
        <p:txBody>
          <a:bodyPr wrap="square">
            <a:spAutoFit/>
          </a:bodyPr>
          <a:lstStyle/>
          <a:p>
            <a:pPr algn="l"/>
            <a:r>
              <a:rPr sz="1400" b="1" i="0">
                <a:solidFill>
                  <a:srgbClr val="FFFFFF"/>
                </a:solidFill>
              </a:rPr>
              <a:t>MODULE 1 · LISTENING · L01–L10</a:t>
            </a:r>
          </a:p>
        </p:txBody>
      </p:sp>
      <p:sp>
        <p:nvSpPr>
          <p:cNvPr id="8" name="TextBox 7"/>
          <p:cNvSpPr txBox="1"/>
          <p:nvPr/>
        </p:nvSpPr>
        <p:spPr>
          <a:xfrm>
            <a:off x="640080" y="6126480"/>
            <a:ext cx="10515600" cy="548640"/>
          </a:xfrm>
          <a:prstGeom prst="rect">
            <a:avLst/>
          </a:prstGeom>
          <a:noFill/>
        </p:spPr>
        <p:txBody>
          <a:bodyPr wrap="square">
            <a:spAutoFit/>
          </a:bodyPr>
          <a:lstStyle/>
          <a:p>
            <a:pPr algn="l"/>
            <a:r>
              <a:rPr sz="1300" b="0" i="0">
                <a:solidFill>
                  <a:srgbClr val="E88C00"/>
                </a:solidFill>
              </a:rPr>
              <a:t>专为深圳雅思学员设计 | 40课时完整提分体系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L01</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考试全貌
&amp; 失分诊断</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了解雅思听力四个Section的结构与难度梯度</a:t>
            </a:r>
          </a:p>
          <a:p>
            <a:pPr algn="l">
              <a:spcBef>
                <a:spcPts val="1000"/>
              </a:spcBef>
            </a:pPr>
            <a:r>
              <a:rPr sz="1700">
                <a:solidFill>
                  <a:srgbClr val="1B3A6B"/>
                </a:solidFill>
              </a:rPr>
              <a:t>✦  掌握10大题型的特点与分布</a:t>
            </a:r>
          </a:p>
          <a:p>
            <a:pPr algn="l">
              <a:spcBef>
                <a:spcPts val="1000"/>
              </a:spcBef>
            </a:pPr>
            <a:r>
              <a:rPr sz="1700">
                <a:solidFill>
                  <a:srgbClr val="1B3A6B"/>
                </a:solidFill>
              </a:rPr>
              <a:t>✦  诊断深圳学生最常见的3类失分原因</a:t>
            </a:r>
          </a:p>
          <a:p>
            <a:pPr algn="l">
              <a:spcBef>
                <a:spcPts val="1000"/>
              </a:spcBef>
            </a:pPr>
            <a:r>
              <a:rPr sz="1700">
                <a:solidFill>
                  <a:srgbClr val="1B3A6B"/>
                </a:solidFill>
              </a:rPr>
              <a:t>✦  制定10课时个人提分路线图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雅思听力考试全貌</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考试时长</a:t>
            </a:r>
          </a:p>
          <a:p>
            <a:pPr algn="l">
              <a:spcBef>
                <a:spcPts val="200"/>
              </a:spcBef>
            </a:pPr>
            <a:r>
              <a:rPr sz="1600">
                <a:solidFill>
                  <a:srgbClr val="556580"/>
                </a:solidFill>
              </a:rPr>
              <a:t>    约30分钟录音 + 10分钟誊写（纸笔）/ 机考无额外誊写时间</a:t>
            </a:r>
          </a:p>
          <a:p>
            <a:pPr algn="l">
              <a:spcBef>
                <a:spcPts val="800"/>
              </a:spcBef>
            </a:pPr>
            <a:r>
              <a:rPr sz="1900" b="1">
                <a:solidFill>
                  <a:srgbClr val="1B3A6B"/>
                </a:solidFill>
              </a:rPr>
              <a:t>▶  Section 1</a:t>
            </a:r>
          </a:p>
          <a:p>
            <a:pPr algn="l">
              <a:spcBef>
                <a:spcPts val="200"/>
              </a:spcBef>
            </a:pPr>
            <a:r>
              <a:rPr sz="1600">
                <a:solidFill>
                  <a:srgbClr val="556580"/>
                </a:solidFill>
              </a:rPr>
              <a:t>    日常对话（订票/问路/预约）— 最简单，必须拿满分</a:t>
            </a:r>
          </a:p>
          <a:p>
            <a:pPr algn="l">
              <a:spcBef>
                <a:spcPts val="800"/>
              </a:spcBef>
            </a:pPr>
            <a:r>
              <a:rPr sz="1900" b="1">
                <a:solidFill>
                  <a:srgbClr val="1B3A6B"/>
                </a:solidFill>
              </a:rPr>
              <a:t>▶  Section 2</a:t>
            </a:r>
          </a:p>
          <a:p>
            <a:pPr algn="l">
              <a:spcBef>
                <a:spcPts val="200"/>
              </a:spcBef>
            </a:pPr>
            <a:r>
              <a:rPr sz="1600">
                <a:solidFill>
                  <a:srgbClr val="556580"/>
                </a:solidFill>
              </a:rPr>
              <a:t>    独白讲解（社区/活动/设施介绍）— 注意数字与地点</a:t>
            </a:r>
          </a:p>
          <a:p>
            <a:pPr algn="l">
              <a:spcBef>
                <a:spcPts val="800"/>
              </a:spcBef>
            </a:pPr>
            <a:r>
              <a:rPr sz="1900" b="1">
                <a:solidFill>
                  <a:srgbClr val="1B3A6B"/>
                </a:solidFill>
              </a:rPr>
              <a:t>▶  Section 3</a:t>
            </a:r>
          </a:p>
          <a:p>
            <a:pPr algn="l">
              <a:spcBef>
                <a:spcPts val="200"/>
              </a:spcBef>
            </a:pPr>
            <a:r>
              <a:rPr sz="1600">
                <a:solidFill>
                  <a:srgbClr val="556580"/>
                </a:solidFill>
              </a:rPr>
              <a:t>    学术讨论（2-4人，大学场景）— 观点区分是难点</a:t>
            </a:r>
          </a:p>
          <a:p>
            <a:pPr algn="l">
              <a:spcBef>
                <a:spcPts val="800"/>
              </a:spcBef>
            </a:pPr>
            <a:r>
              <a:rPr sz="1900" b="1">
                <a:solidFill>
                  <a:srgbClr val="1B3A6B"/>
                </a:solidFill>
              </a:rPr>
              <a:t>▶  Section 4</a:t>
            </a:r>
          </a:p>
          <a:p>
            <a:pPr algn="l">
              <a:spcBef>
                <a:spcPts val="200"/>
              </a:spcBef>
            </a:pPr>
            <a:r>
              <a:rPr sz="1600">
                <a:solidFill>
                  <a:srgbClr val="556580"/>
                </a:solidFill>
              </a:rPr>
              <a:t>    学术讲座（独白）— 专业词汇密集，最难，影响7+关键</a:t>
            </a:r>
          </a:p>
          <a:p>
            <a:pPr algn="l">
              <a:spcBef>
                <a:spcPts val="800"/>
              </a:spcBef>
            </a:pPr>
            <a:r>
              <a:rPr sz="1900" b="1">
                <a:solidFill>
                  <a:srgbClr val="1B3A6B"/>
                </a:solidFill>
              </a:rPr>
              <a:t>▶  总题数</a:t>
            </a:r>
          </a:p>
          <a:p>
            <a:pPr algn="l">
              <a:spcBef>
                <a:spcPts val="200"/>
              </a:spcBef>
            </a:pPr>
            <a:r>
              <a:rPr sz="1600">
                <a:solidFill>
                  <a:srgbClr val="556580"/>
                </a:solidFill>
              </a:rPr>
              <a:t>    40题，每题1分；6分≈正确率60%；7分≈75%；8分≈88%</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深圳学生注意：深圳学生普遍Section 3丢分最多，因多人对话容易跟丢说话人。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10大题型速览</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填空题 Form/Note/Table/Flow Completion</a:t>
            </a:r>
          </a:p>
          <a:p>
            <a:pPr algn="l">
              <a:spcBef>
                <a:spcPts val="200"/>
              </a:spcBef>
            </a:pPr>
            <a:r>
              <a:rPr sz="1600">
                <a:solidFill>
                  <a:srgbClr val="556580"/>
                </a:solidFill>
              </a:rPr>
              <a:t>    拼写正确率决定得分，限词要求必须遵守</a:t>
            </a:r>
          </a:p>
          <a:p>
            <a:pPr algn="l">
              <a:spcBef>
                <a:spcPts val="800"/>
              </a:spcBef>
            </a:pPr>
            <a:r>
              <a:rPr sz="1900" b="1">
                <a:solidFill>
                  <a:srgbClr val="1B3A6B"/>
                </a:solidFill>
              </a:rPr>
              <a:t>▶  单选题 Multiple Choice</a:t>
            </a:r>
          </a:p>
          <a:p>
            <a:pPr algn="l">
              <a:spcBef>
                <a:spcPts val="200"/>
              </a:spcBef>
            </a:pPr>
            <a:r>
              <a:rPr sz="1600">
                <a:solidFill>
                  <a:srgbClr val="556580"/>
                </a:solidFill>
              </a:rPr>
              <a:t>    选项设陷阱，听到关键词不等于答案就在那里</a:t>
            </a:r>
          </a:p>
          <a:p>
            <a:pPr algn="l">
              <a:spcBef>
                <a:spcPts val="800"/>
              </a:spcBef>
            </a:pPr>
            <a:r>
              <a:rPr sz="1900" b="1">
                <a:solidFill>
                  <a:srgbClr val="1B3A6B"/>
                </a:solidFill>
              </a:rPr>
              <a:t>▶  地图/平面图 Map Labelling</a:t>
            </a:r>
          </a:p>
          <a:p>
            <a:pPr algn="l">
              <a:spcBef>
                <a:spcPts val="200"/>
              </a:spcBef>
            </a:pPr>
            <a:r>
              <a:rPr sz="1600">
                <a:solidFill>
                  <a:srgbClr val="556580"/>
                </a:solidFill>
              </a:rPr>
              <a:t>    方向词是核心，opposite/next to/between</a:t>
            </a:r>
          </a:p>
          <a:p>
            <a:pPr algn="l">
              <a:spcBef>
                <a:spcPts val="800"/>
              </a:spcBef>
            </a:pPr>
            <a:r>
              <a:rPr sz="1900" b="1">
                <a:solidFill>
                  <a:srgbClr val="1B3A6B"/>
                </a:solidFill>
              </a:rPr>
              <a:t>▶  匹配题 Matching</a:t>
            </a:r>
          </a:p>
          <a:p>
            <a:pPr algn="l">
              <a:spcBef>
                <a:spcPts val="200"/>
              </a:spcBef>
            </a:pPr>
            <a:r>
              <a:rPr sz="1600">
                <a:solidFill>
                  <a:srgbClr val="556580"/>
                </a:solidFill>
              </a:rPr>
              <a:t>    需要边听边看所有选项，不能逐一对应</a:t>
            </a:r>
          </a:p>
          <a:p>
            <a:pPr algn="l">
              <a:spcBef>
                <a:spcPts val="800"/>
              </a:spcBef>
            </a:pPr>
            <a:r>
              <a:rPr sz="1900" b="1">
                <a:solidFill>
                  <a:srgbClr val="1B3A6B"/>
                </a:solidFill>
              </a:rPr>
              <a:t>▶  简答题 Short Answer</a:t>
            </a:r>
          </a:p>
          <a:p>
            <a:pPr algn="l">
              <a:spcBef>
                <a:spcPts val="200"/>
              </a:spcBef>
            </a:pPr>
            <a:r>
              <a:rPr sz="1600">
                <a:solidFill>
                  <a:srgbClr val="556580"/>
                </a:solidFill>
              </a:rPr>
              <a:t>    答案通常是名词短语，注意复数与冠词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为什么你听懂了却做错？</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每个词都听到了，但写的时候拼错（necessary/accommodation）</a:t>
            </a:r>
          </a:p>
          <a:p>
            <a:pPr>
              <a:spcBef>
                <a:spcPts val="800"/>
              </a:spcBef>
            </a:pPr>
            <a:r>
              <a:rPr sz="1600">
                <a:solidFill>
                  <a:srgbClr val="D02B2B"/>
                </a:solidFill>
              </a:rPr>
              <a:t>✗  听到选项A中的关键词就选A，忽略后续的转折otherwise/but/actually</a:t>
            </a:r>
          </a:p>
          <a:p>
            <a:pPr>
              <a:spcBef>
                <a:spcPts val="800"/>
              </a:spcBef>
            </a:pPr>
            <a:r>
              <a:rPr sz="1600">
                <a:solidFill>
                  <a:srgbClr val="D02B2B"/>
                </a:solidFill>
              </a:rPr>
              <a:t>✗  专注听内容，忘记看题目，答案已经过去了</a:t>
            </a:r>
          </a:p>
          <a:p>
            <a:pPr>
              <a:spcBef>
                <a:spcPts val="800"/>
              </a:spcBef>
            </a:pPr>
            <a:r>
              <a:rPr sz="1600">
                <a:solidFill>
                  <a:srgbClr val="D02B2B"/>
                </a:solidFill>
              </a:rPr>
              <a:t>✗  Section 4 第一句话没跟上，后面全乱了</a:t>
            </a:r>
          </a:p>
          <a:p>
            <a:pPr>
              <a:spcBef>
                <a:spcPts val="800"/>
              </a:spcBef>
            </a:pPr>
            <a:r>
              <a:rPr sz="1600">
                <a:solidFill>
                  <a:srgbClr val="D02B2B"/>
                </a:solidFill>
              </a:rPr>
              <a:t>✗  誊写时把正确答案抄错</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每天5分钟听写练习，专攻高频拼写词100个</a:t>
            </a:r>
          </a:p>
          <a:p>
            <a:pPr>
              <a:spcBef>
                <a:spcPts val="800"/>
              </a:spcBef>
            </a:pPr>
            <a:r>
              <a:rPr sz="1600">
                <a:solidFill>
                  <a:srgbClr val="1A7A3C"/>
                </a:solidFill>
              </a:rPr>
              <a:t>✓  听到关键词时，继续听完整句，特别是连接词之后</a:t>
            </a:r>
          </a:p>
          <a:p>
            <a:pPr>
              <a:spcBef>
                <a:spcPts val="800"/>
              </a:spcBef>
            </a:pPr>
            <a:r>
              <a:rPr sz="1600">
                <a:solidFill>
                  <a:srgbClr val="1A7A3C"/>
                </a:solidFill>
              </a:rPr>
              <a:t>✓  做题前30秒预读题目，预测关键词类型（人名/数字/地点）</a:t>
            </a:r>
          </a:p>
          <a:p>
            <a:pPr>
              <a:spcBef>
                <a:spcPts val="800"/>
              </a:spcBef>
            </a:pPr>
            <a:r>
              <a:rPr sz="1600">
                <a:solidFill>
                  <a:srgbClr val="1A7A3C"/>
                </a:solidFill>
              </a:rPr>
              <a:t>✓  Section 4从第一题开始立即进入状态，不要热身</a:t>
            </a:r>
          </a:p>
          <a:p>
            <a:pPr>
              <a:spcBef>
                <a:spcPts val="800"/>
              </a:spcBef>
            </a:pPr>
            <a:r>
              <a:rPr sz="1600">
                <a:solidFill>
                  <a:srgbClr val="1A7A3C"/>
                </a:solidFill>
              </a:rPr>
              <a:t>✓  誊写慢一倍速度，检查复数/大写/单位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题型示例：填空题陷阱</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题目：The conference will be held on ________ 15th.
（录音原文：The event was originally planned for Friday the 14th, but we've moved it to Saturday the 15th.）</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答案：Saturday（注意：不要写 Friday！录音先提14日再纠正为15日）</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预读时预测此处需要填'星期几'类词，听到数字前的修饰词不要漏掉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L01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S1最简单必须得满分，S4是拉开7+距离的关键</a:t>
            </a:r>
          </a:p>
          <a:p>
            <a:pPr>
              <a:spcBef>
                <a:spcPts val="800"/>
              </a:spcBef>
            </a:pPr>
            <a:r>
              <a:rPr sz="1600">
                <a:solidFill>
                  <a:srgbClr val="FFFFFF"/>
                </a:solidFill>
              </a:rPr>
              <a:t>✓  10大题型各有陷阱，填空拼写、选择转折是重灾区</a:t>
            </a:r>
          </a:p>
          <a:p>
            <a:pPr>
              <a:spcBef>
                <a:spcPts val="800"/>
              </a:spcBef>
            </a:pPr>
            <a:r>
              <a:rPr sz="1600">
                <a:solidFill>
                  <a:srgbClr val="FFFFFF"/>
                </a:solidFill>
              </a:rPr>
              <a:t>✓  深圳学生核心问题：听到了但做错，而非完全听不懂</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下载剑桥真题10-19，完成1套S1+S2（不计时，练熟悉感）</a:t>
            </a:r>
          </a:p>
          <a:p>
            <a:pPr>
              <a:spcBef>
                <a:spcPts val="800"/>
              </a:spcBef>
            </a:pPr>
            <a:r>
              <a:rPr sz="1500">
                <a:solidFill>
                  <a:srgbClr val="FFFFFF"/>
                </a:solidFill>
              </a:rPr>
              <a:t>→  整理个人拼写错误词表（从本课示例开始）</a:t>
            </a:r>
          </a:p>
          <a:p>
            <a:pPr>
              <a:spcBef>
                <a:spcPts val="800"/>
              </a:spcBef>
            </a:pPr>
            <a:r>
              <a:rPr sz="1500">
                <a:solidFill>
                  <a:srgbClr val="FFFFFF"/>
                </a:solidFill>
              </a:rPr>
              <a:t>→  下载BBC 6-Minute English，每天听1集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L02</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Section 1
日常对话满分</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掌握Section 1所有题型的答题节奏</a:t>
            </a:r>
          </a:p>
          <a:p>
            <a:pPr algn="l">
              <a:spcBef>
                <a:spcPts val="1000"/>
              </a:spcBef>
            </a:pPr>
            <a:r>
              <a:rPr sz="1700">
                <a:solidFill>
                  <a:srgbClr val="1B3A6B"/>
                </a:solidFill>
              </a:rPr>
              <a:t>✦  练习数字、电话号码、邮编等信息的快速捕捉</a:t>
            </a:r>
          </a:p>
          <a:p>
            <a:pPr algn="l">
              <a:spcBef>
                <a:spcPts val="1000"/>
              </a:spcBef>
            </a:pPr>
            <a:r>
              <a:rPr sz="1700">
                <a:solidFill>
                  <a:srgbClr val="1B3A6B"/>
                </a:solidFill>
              </a:rPr>
              <a:t>✦  学会100个雅思听力高频拼写词</a:t>
            </a:r>
          </a:p>
          <a:p>
            <a:pPr algn="l">
              <a:spcBef>
                <a:spcPts val="1000"/>
              </a:spcBef>
            </a:pPr>
            <a:r>
              <a:rPr sz="1700">
                <a:solidFill>
                  <a:srgbClr val="1B3A6B"/>
                </a:solidFill>
              </a:rPr>
              <a:t>✦  实现Section 1稳定满分10/10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Section 1 场景分类与预测策略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高频场景1：预约类</a:t>
            </a:r>
          </a:p>
          <a:p>
            <a:pPr algn="l">
              <a:spcBef>
                <a:spcPts val="200"/>
              </a:spcBef>
            </a:pPr>
            <a:r>
              <a:rPr sz="1600">
                <a:solidFill>
                  <a:srgbClr val="556580"/>
                </a:solidFill>
              </a:rPr>
              <a:t>    clinic/dentist/gym/library — 预测姓名、时间、电话</a:t>
            </a:r>
          </a:p>
          <a:p>
            <a:pPr algn="l">
              <a:spcBef>
                <a:spcPts val="800"/>
              </a:spcBef>
            </a:pPr>
            <a:r>
              <a:rPr sz="1900" b="1">
                <a:solidFill>
                  <a:srgbClr val="1B3A6B"/>
                </a:solidFill>
              </a:rPr>
              <a:t>▶  高频场景2：租房类</a:t>
            </a:r>
          </a:p>
          <a:p>
            <a:pPr algn="l">
              <a:spcBef>
                <a:spcPts val="200"/>
              </a:spcBef>
            </a:pPr>
            <a:r>
              <a:rPr sz="1600">
                <a:solidFill>
                  <a:srgbClr val="556580"/>
                </a:solidFill>
              </a:rPr>
              <a:t>    address, rent price, facilities, deposit — 预测地址格式</a:t>
            </a:r>
          </a:p>
          <a:p>
            <a:pPr algn="l">
              <a:spcBef>
                <a:spcPts val="800"/>
              </a:spcBef>
            </a:pPr>
            <a:r>
              <a:rPr sz="1900" b="1">
                <a:solidFill>
                  <a:srgbClr val="1B3A6B"/>
                </a:solidFill>
              </a:rPr>
              <a:t>▶  高频场景3：旅游类</a:t>
            </a:r>
          </a:p>
          <a:p>
            <a:pPr algn="l">
              <a:spcBef>
                <a:spcPts val="200"/>
              </a:spcBef>
            </a:pPr>
            <a:r>
              <a:rPr sz="1600">
                <a:solidFill>
                  <a:srgbClr val="556580"/>
                </a:solidFill>
              </a:rPr>
              <a:t>    tour booking, hotel, transport — 预测时间、价格、地名</a:t>
            </a:r>
          </a:p>
          <a:p>
            <a:pPr algn="l">
              <a:spcBef>
                <a:spcPts val="800"/>
              </a:spcBef>
            </a:pPr>
            <a:r>
              <a:rPr sz="1900" b="1">
                <a:solidFill>
                  <a:srgbClr val="1B3A6B"/>
                </a:solidFill>
              </a:rPr>
              <a:t>▶  高频场景4：社区服务</a:t>
            </a:r>
          </a:p>
          <a:p>
            <a:pPr algn="l">
              <a:spcBef>
                <a:spcPts val="200"/>
              </a:spcBef>
            </a:pPr>
            <a:r>
              <a:rPr sz="1600">
                <a:solidFill>
                  <a:srgbClr val="556580"/>
                </a:solidFill>
              </a:rPr>
              <a:t>    course registration, complaint — 预测人名、编号</a:t>
            </a:r>
          </a:p>
          <a:p>
            <a:pPr algn="l">
              <a:spcBef>
                <a:spcPts val="800"/>
              </a:spcBef>
            </a:pPr>
            <a:r>
              <a:rPr sz="1900" b="1">
                <a:solidFill>
                  <a:srgbClr val="1B3A6B"/>
                </a:solidFill>
              </a:rPr>
              <a:t>▶  通用技巧</a:t>
            </a:r>
          </a:p>
          <a:p>
            <a:pPr algn="l">
              <a:spcBef>
                <a:spcPts val="200"/>
              </a:spcBef>
            </a:pPr>
            <a:r>
              <a:rPr sz="1600">
                <a:solidFill>
                  <a:srgbClr val="556580"/>
                </a:solidFill>
              </a:rPr>
              <a:t>    看题目→预测信息类型→带目的去听，不要泛听</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深圳学生注意：Section 1语速最慢，信息重复率最高，没理由丢分——如果丢分说明预读没做好。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数字类信息捕捉专项</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电话号码</a:t>
            </a:r>
          </a:p>
          <a:p>
            <a:pPr algn="l">
              <a:spcBef>
                <a:spcPts val="200"/>
              </a:spcBef>
            </a:pPr>
            <a:r>
              <a:rPr sz="1600">
                <a:solidFill>
                  <a:srgbClr val="556580"/>
                </a:solidFill>
              </a:rPr>
              <a:t>    英式读法：07700 → oh seven seven double oh；注意double/treble</a:t>
            </a:r>
          </a:p>
          <a:p>
            <a:pPr algn="l">
              <a:spcBef>
                <a:spcPts val="800"/>
              </a:spcBef>
            </a:pPr>
            <a:r>
              <a:rPr sz="1900" b="1">
                <a:solidFill>
                  <a:srgbClr val="1B3A6B"/>
                </a:solidFill>
              </a:rPr>
              <a:t>▶  邮政编码</a:t>
            </a:r>
          </a:p>
          <a:p>
            <a:pPr algn="l">
              <a:spcBef>
                <a:spcPts val="200"/>
              </a:spcBef>
            </a:pPr>
            <a:r>
              <a:rPr sz="1600">
                <a:solidFill>
                  <a:srgbClr val="556580"/>
                </a:solidFill>
              </a:rPr>
              <a:t>    英式格式：SW1A 2AA — 字母+数字混合，用斜线在纸上快速记录</a:t>
            </a:r>
          </a:p>
          <a:p>
            <a:pPr algn="l">
              <a:spcBef>
                <a:spcPts val="800"/>
              </a:spcBef>
            </a:pPr>
            <a:r>
              <a:rPr sz="1900" b="1">
                <a:solidFill>
                  <a:srgbClr val="1B3A6B"/>
                </a:solidFill>
              </a:rPr>
              <a:t>▶  价格</a:t>
            </a:r>
          </a:p>
          <a:p>
            <a:pPr algn="l">
              <a:spcBef>
                <a:spcPts val="200"/>
              </a:spcBef>
            </a:pPr>
            <a:r>
              <a:rPr sz="1600">
                <a:solidFill>
                  <a:srgbClr val="556580"/>
                </a:solidFill>
              </a:rPr>
              <a:t>    £45.50 vs $45.50 — 注意货币单位，考试不需写货币符号</a:t>
            </a:r>
          </a:p>
          <a:p>
            <a:pPr algn="l">
              <a:spcBef>
                <a:spcPts val="800"/>
              </a:spcBef>
            </a:pPr>
            <a:r>
              <a:rPr sz="1900" b="1">
                <a:solidFill>
                  <a:srgbClr val="1B3A6B"/>
                </a:solidFill>
              </a:rPr>
              <a:t>▶  时间</a:t>
            </a:r>
          </a:p>
          <a:p>
            <a:pPr algn="l">
              <a:spcBef>
                <a:spcPts val="200"/>
              </a:spcBef>
            </a:pPr>
            <a:r>
              <a:rPr sz="1600">
                <a:solidFill>
                  <a:srgbClr val="556580"/>
                </a:solidFill>
              </a:rPr>
              <a:t>    half past three / quarter to four — 转换为数字再写 3:30 / 3:45</a:t>
            </a:r>
          </a:p>
          <a:p>
            <a:pPr algn="l">
              <a:spcBef>
                <a:spcPts val="800"/>
              </a:spcBef>
            </a:pPr>
            <a:r>
              <a:rPr sz="1900" b="1">
                <a:solidFill>
                  <a:srgbClr val="1B3A6B"/>
                </a:solidFill>
              </a:rPr>
              <a:t>▶  日期</a:t>
            </a:r>
          </a:p>
          <a:p>
            <a:pPr algn="l">
              <a:spcBef>
                <a:spcPts val="200"/>
              </a:spcBef>
            </a:pPr>
            <a:r>
              <a:rPr sz="1600">
                <a:solidFill>
                  <a:srgbClr val="556580"/>
                </a:solidFill>
              </a:rPr>
              <a:t>    the third of March / March 3rd — 统一写 3 March 或 March 3</a:t>
            </a:r>
          </a:p>
          <a:p>
            <a:pPr algn="l">
              <a:spcBef>
                <a:spcPts val="800"/>
              </a:spcBef>
            </a:pPr>
            <a:r>
              <a:rPr sz="1900" b="1">
                <a:solidFill>
                  <a:srgbClr val="1B3A6B"/>
                </a:solidFill>
              </a:rPr>
              <a:t>▶  特殊数字</a:t>
            </a:r>
          </a:p>
          <a:p>
            <a:pPr algn="l">
              <a:spcBef>
                <a:spcPts val="200"/>
              </a:spcBef>
            </a:pPr>
            <a:r>
              <a:rPr sz="1600">
                <a:solidFill>
                  <a:srgbClr val="556580"/>
                </a:solidFill>
              </a:rPr>
              <a:t>    thirteen(13) vs thirty(30)——注意-teen结尾重音在后</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实战练习：信息表填空</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Customer Booking Form
Name: __________ (1)
Phone: __________ (2)
Date required: __________ (3)
Special request: __________ (4)
（录音片段）A: Can I take your name please? B: Sure, it's Joanna — J-O-A-N-N-A — Briggs. B-R-I-G-G-S.
A: And a contact number? B: 07891 double 4, 365.
A: When do you need the room? B: The evening of the 23rd of April.</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(1) Joanna Briggs  (2) 07891 443365  (3) 23 April（注意：拼写逐字母，double=44）</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听到字母拼读时，在纸上同步拼写；double X=XX；电话号码一定数完再写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Section 1 失分模式</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字母拼读时没跟上速度，等反应过来已经过了</a:t>
            </a:r>
          </a:p>
          <a:p>
            <a:pPr>
              <a:spcBef>
                <a:spcPts val="800"/>
              </a:spcBef>
            </a:pPr>
            <a:r>
              <a:rPr sz="1600">
                <a:solidFill>
                  <a:srgbClr val="D02B2B"/>
                </a:solidFill>
              </a:rPr>
              <a:t>✗  写了first name漏了last name（或反之）</a:t>
            </a:r>
          </a:p>
          <a:p>
            <a:pPr>
              <a:spcBef>
                <a:spcPts val="800"/>
              </a:spcBef>
            </a:pPr>
            <a:r>
              <a:rPr sz="1600">
                <a:solidFill>
                  <a:srgbClr val="D02B2B"/>
                </a:solidFill>
              </a:rPr>
              <a:t>✗  数字13和30混淆，听teen还是ty</a:t>
            </a:r>
          </a:p>
          <a:p>
            <a:pPr>
              <a:spcBef>
                <a:spcPts val="800"/>
              </a:spcBef>
            </a:pPr>
            <a:r>
              <a:rPr sz="1600">
                <a:solidFill>
                  <a:srgbClr val="D02B2B"/>
                </a:solidFill>
              </a:rPr>
              <a:t>✗  大小写错误：name写小写，地名拼错</a:t>
            </a:r>
          </a:p>
          <a:p>
            <a:pPr>
              <a:spcBef>
                <a:spcPts val="800"/>
              </a:spcBef>
            </a:pPr>
            <a:r>
              <a:rPr sz="1600">
                <a:solidFill>
                  <a:srgbClr val="D02B2B"/>
                </a:solidFill>
              </a:rPr>
              <a:t>✗  限词'NO MORE THAN ONE WORD'写了两个词</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每天练5个英文姓名拼写，训练字母接收速度</a:t>
            </a:r>
          </a:p>
          <a:p>
            <a:pPr>
              <a:spcBef>
                <a:spcPts val="800"/>
              </a:spcBef>
            </a:pPr>
            <a:r>
              <a:rPr sz="1600">
                <a:solidFill>
                  <a:srgbClr val="1A7A3C"/>
                </a:solidFill>
              </a:rPr>
              <a:t>✓  看到Name题，预判可能有first+last两个空</a:t>
            </a:r>
          </a:p>
          <a:p>
            <a:pPr>
              <a:spcBef>
                <a:spcPts val="800"/>
              </a:spcBef>
            </a:pPr>
            <a:r>
              <a:rPr sz="1600">
                <a:solidFill>
                  <a:srgbClr val="1A7A3C"/>
                </a:solidFill>
              </a:rPr>
              <a:t>✓  录音中thirteen重音在-teen，语调上扬；thirty重音在thir-</a:t>
            </a:r>
          </a:p>
          <a:p>
            <a:pPr>
              <a:spcBef>
                <a:spcPts val="800"/>
              </a:spcBef>
            </a:pPr>
            <a:r>
              <a:rPr sz="1600">
                <a:solidFill>
                  <a:srgbClr val="1A7A3C"/>
                </a:solidFill>
              </a:rPr>
              <a:t>✓  人名地名首字母大写，其余小写，不确定全小写也可</a:t>
            </a:r>
          </a:p>
          <a:p>
            <a:pPr>
              <a:spcBef>
                <a:spcPts val="800"/>
              </a:spcBef>
            </a:pPr>
            <a:r>
              <a:rPr sz="1600">
                <a:solidFill>
                  <a:srgbClr val="1A7A3C"/>
                </a:solidFill>
              </a:rPr>
              <a:t>✓  誊写前再看一眼字数限制，'one word and/or a number'也算一格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L02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预读30秒 → 预测信息类型 → 带目的听 → 检查拼写大小写</a:t>
            </a:r>
          </a:p>
          <a:p>
            <a:pPr>
              <a:spcBef>
                <a:spcPts val="800"/>
              </a:spcBef>
            </a:pPr>
            <a:r>
              <a:rPr sz="1600">
                <a:solidFill>
                  <a:srgbClr val="FFFFFF"/>
                </a:solidFill>
              </a:rPr>
              <a:t>✓  数字/字母类信息：同步书写，不要等录音结束再写</a:t>
            </a:r>
          </a:p>
          <a:p>
            <a:pPr>
              <a:spcBef>
                <a:spcPts val="800"/>
              </a:spcBef>
            </a:pPr>
            <a:r>
              <a:rPr sz="1600">
                <a:solidFill>
                  <a:srgbClr val="FFFFFF"/>
                </a:solidFill>
              </a:rPr>
              <a:t>✓  Section 1语速慢、信息重复——做到满分10/10是合理目标</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完成剑桥真题Section 1各两套，统计错误类型</a:t>
            </a:r>
          </a:p>
          <a:p>
            <a:pPr>
              <a:spcBef>
                <a:spcPts val="800"/>
              </a:spcBef>
            </a:pPr>
            <a:r>
              <a:rPr sz="1500">
                <a:solidFill>
                  <a:srgbClr val="FFFFFF"/>
                </a:solidFill>
              </a:rPr>
              <a:t>→  背诵高频拼写词50个（accommodation/necessary/available等）</a:t>
            </a:r>
          </a:p>
          <a:p>
            <a:pPr>
              <a:spcBef>
                <a:spcPts val="800"/>
              </a:spcBef>
            </a:pPr>
            <a:r>
              <a:rPr sz="1500">
                <a:solidFill>
                  <a:srgbClr val="FFFFFF"/>
                </a:solidFill>
              </a:rPr>
              <a:t>→  练习快速书写数字和字母，每天2分钟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L03</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Section 2
独白场景攻略</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掌握地图/平面图题的方向词与解题步骤</a:t>
            </a:r>
          </a:p>
          <a:p>
            <a:pPr algn="l">
              <a:spcBef>
                <a:spcPts val="1000"/>
              </a:spcBef>
            </a:pPr>
            <a:r>
              <a:rPr sz="1700">
                <a:solidFill>
                  <a:srgbClr val="1B3A6B"/>
                </a:solidFill>
              </a:rPr>
              <a:t>✦  学会从独白中提炼关键数据与分类信息</a:t>
            </a:r>
          </a:p>
          <a:p>
            <a:pPr algn="l">
              <a:spcBef>
                <a:spcPts val="1000"/>
              </a:spcBef>
            </a:pPr>
            <a:r>
              <a:rPr sz="1700">
                <a:solidFill>
                  <a:srgbClr val="1B3A6B"/>
                </a:solidFill>
              </a:rPr>
              <a:t>✦  攻克Section 2匹配题的同时跟踪技巧</a:t>
            </a:r>
          </a:p>
          <a:p>
            <a:pPr algn="l">
              <a:spcBef>
                <a:spcPts val="1000"/>
              </a:spcBef>
            </a:pPr>
            <a:r>
              <a:rPr sz="1700">
                <a:solidFill>
                  <a:srgbClr val="1B3A6B"/>
                </a:solidFill>
              </a:rPr>
              <a:t>✦  建立社区/设施/活动场景词汇库</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Section 2 题型分布与场景</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常见场景</a:t>
            </a:r>
          </a:p>
          <a:p>
            <a:pPr algn="l">
              <a:spcBef>
                <a:spcPts val="200"/>
              </a:spcBef>
            </a:pPr>
            <a:r>
              <a:rPr sz="1600">
                <a:solidFill>
                  <a:srgbClr val="556580"/>
                </a:solidFill>
              </a:rPr>
              <a:t>    博物馆导览、社区中心、旅游景点、志愿活动、设施介绍</a:t>
            </a:r>
          </a:p>
          <a:p>
            <a:pPr algn="l">
              <a:spcBef>
                <a:spcPts val="800"/>
              </a:spcBef>
            </a:pPr>
            <a:r>
              <a:rPr sz="1900" b="1">
                <a:solidFill>
                  <a:srgbClr val="1B3A6B"/>
                </a:solidFill>
              </a:rPr>
              <a:t>▶  核心题型</a:t>
            </a:r>
          </a:p>
          <a:p>
            <a:pPr algn="l">
              <a:spcBef>
                <a:spcPts val="200"/>
              </a:spcBef>
            </a:pPr>
            <a:r>
              <a:rPr sz="1600">
                <a:solidFill>
                  <a:srgbClr val="556580"/>
                </a:solidFill>
              </a:rPr>
              <a:t>    地图标注（Map）+ 匹配题（Matching）+ 选择题（MCQ）</a:t>
            </a:r>
          </a:p>
          <a:p>
            <a:pPr algn="l">
              <a:spcBef>
                <a:spcPts val="800"/>
              </a:spcBef>
            </a:pPr>
            <a:r>
              <a:rPr sz="1900" b="1">
                <a:solidFill>
                  <a:srgbClr val="1B3A6B"/>
                </a:solidFill>
              </a:rPr>
              <a:t>▶  独白特点</a:t>
            </a:r>
          </a:p>
          <a:p>
            <a:pPr algn="l">
              <a:spcBef>
                <a:spcPts val="200"/>
              </a:spcBef>
            </a:pPr>
            <a:r>
              <a:rPr sz="1600">
                <a:solidFill>
                  <a:srgbClr val="556580"/>
                </a:solidFill>
              </a:rPr>
              <a:t>    一人讲解，语速比S1快，信息量大，逻辑性强（顺序/分类）</a:t>
            </a:r>
          </a:p>
          <a:p>
            <a:pPr algn="l">
              <a:spcBef>
                <a:spcPts val="800"/>
              </a:spcBef>
            </a:pPr>
            <a:r>
              <a:rPr sz="1900" b="1">
                <a:solidFill>
                  <a:srgbClr val="1B3A6B"/>
                </a:solidFill>
              </a:rPr>
              <a:t>▶  地图题</a:t>
            </a:r>
          </a:p>
          <a:p>
            <a:pPr algn="l">
              <a:spcBef>
                <a:spcPts val="200"/>
              </a:spcBef>
            </a:pPr>
            <a:r>
              <a:rPr sz="1600">
                <a:solidFill>
                  <a:srgbClr val="556580"/>
                </a:solidFill>
              </a:rPr>
              <a:t>    先看地图找参照物(entrance/main building)，听方向词定位</a:t>
            </a:r>
          </a:p>
          <a:p>
            <a:pPr algn="l">
              <a:spcBef>
                <a:spcPts val="800"/>
              </a:spcBef>
            </a:pPr>
            <a:r>
              <a:rPr sz="1900" b="1">
                <a:solidFill>
                  <a:srgbClr val="1B3A6B"/>
                </a:solidFill>
              </a:rPr>
              <a:t>▶  匹配题</a:t>
            </a:r>
          </a:p>
          <a:p>
            <a:pPr algn="l">
              <a:spcBef>
                <a:spcPts val="200"/>
              </a:spcBef>
            </a:pPr>
            <a:r>
              <a:rPr sz="1600">
                <a:solidFill>
                  <a:srgbClr val="556580"/>
                </a:solidFill>
              </a:rPr>
              <a:t>    将选项A-F提前读熟，听到关键词→匹配描述→锁定答案</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深圳学生注意：深圳学生做地图题时，常常把north/south/left/right搞混——地图north朝上！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地图题核心方向词</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位置关系</a:t>
            </a:r>
          </a:p>
          <a:p>
            <a:pPr algn="l">
              <a:spcBef>
                <a:spcPts val="200"/>
              </a:spcBef>
            </a:pPr>
            <a:r>
              <a:rPr sz="1600">
                <a:solidFill>
                  <a:srgbClr val="556580"/>
                </a:solidFill>
              </a:rPr>
              <a:t>    next to / beside / adjacent to / opposite / facing</a:t>
            </a:r>
          </a:p>
          <a:p>
            <a:pPr algn="l">
              <a:spcBef>
                <a:spcPts val="800"/>
              </a:spcBef>
            </a:pPr>
            <a:r>
              <a:rPr sz="1900" b="1">
                <a:solidFill>
                  <a:srgbClr val="1B3A6B"/>
                </a:solidFill>
              </a:rPr>
              <a:t>▶  方向移动</a:t>
            </a:r>
          </a:p>
          <a:p>
            <a:pPr algn="l">
              <a:spcBef>
                <a:spcPts val="200"/>
              </a:spcBef>
            </a:pPr>
            <a:r>
              <a:rPr sz="1600">
                <a:solidFill>
                  <a:srgbClr val="556580"/>
                </a:solidFill>
              </a:rPr>
              <a:t>    turn left/right, go straight ahead, take the first turning</a:t>
            </a:r>
          </a:p>
          <a:p>
            <a:pPr algn="l">
              <a:spcBef>
                <a:spcPts val="800"/>
              </a:spcBef>
            </a:pPr>
            <a:r>
              <a:rPr sz="1900" b="1">
                <a:solidFill>
                  <a:srgbClr val="1B3A6B"/>
                </a:solidFill>
              </a:rPr>
              <a:t>▶  相对位置</a:t>
            </a:r>
          </a:p>
          <a:p>
            <a:pPr algn="l">
              <a:spcBef>
                <a:spcPts val="200"/>
              </a:spcBef>
            </a:pPr>
            <a:r>
              <a:rPr sz="1600">
                <a:solidFill>
                  <a:srgbClr val="556580"/>
                </a:solidFill>
              </a:rPr>
              <a:t>    at the end of, in the corner of, between X and Y</a:t>
            </a:r>
          </a:p>
          <a:p>
            <a:pPr algn="l">
              <a:spcBef>
                <a:spcPts val="800"/>
              </a:spcBef>
            </a:pPr>
            <a:r>
              <a:rPr sz="1900" b="1">
                <a:solidFill>
                  <a:srgbClr val="1B3A6B"/>
                </a:solidFill>
              </a:rPr>
              <a:t>▶  绝对方位</a:t>
            </a:r>
          </a:p>
          <a:p>
            <a:pPr algn="l">
              <a:spcBef>
                <a:spcPts val="200"/>
              </a:spcBef>
            </a:pPr>
            <a:r>
              <a:rPr sz="1600">
                <a:solidFill>
                  <a:srgbClr val="556580"/>
                </a:solidFill>
              </a:rPr>
              <a:t>    in the north/south/east/west of the building</a:t>
            </a:r>
          </a:p>
          <a:p>
            <a:pPr algn="l">
              <a:spcBef>
                <a:spcPts val="800"/>
              </a:spcBef>
            </a:pPr>
            <a:r>
              <a:rPr sz="1900" b="1">
                <a:solidFill>
                  <a:srgbClr val="1B3A6B"/>
                </a:solidFill>
              </a:rPr>
              <a:t>▶  楼层</a:t>
            </a:r>
          </a:p>
          <a:p>
            <a:pPr algn="l">
              <a:spcBef>
                <a:spcPts val="200"/>
              </a:spcBef>
            </a:pPr>
            <a:r>
              <a:rPr sz="1600">
                <a:solidFill>
                  <a:srgbClr val="556580"/>
                </a:solidFill>
              </a:rPr>
              <a:t>    on the ground/first/second floor; upstairs/downstairs</a:t>
            </a:r>
          </a:p>
          <a:p>
            <a:pPr algn="l">
              <a:spcBef>
                <a:spcPts val="800"/>
              </a:spcBef>
            </a:pPr>
            <a:r>
              <a:rPr sz="1900" b="1">
                <a:solidFill>
                  <a:srgbClr val="1B3A6B"/>
                </a:solidFill>
              </a:rPr>
              <a:t>▶  做题步骤</a:t>
            </a:r>
          </a:p>
          <a:p>
            <a:pPr algn="l">
              <a:spcBef>
                <a:spcPts val="200"/>
              </a:spcBef>
            </a:pPr>
            <a:r>
              <a:rPr sz="1600">
                <a:solidFill>
                  <a:srgbClr val="556580"/>
                </a:solidFill>
              </a:rPr>
              <a:t>    ①看参照点 ②预读问题中的地点 ③听方向词 ④边听边标注路径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地图题实战示例</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题目：Label the map. Write the correct letter A-F.
Questions: 11. Children's Play Area  12. Café  13. Information Centre
录音：'As you enter the park through the main gate, you'll see the car park on your left. The Information Centre is directly opposite the entrance. If you follow the path to the right, you'll find the Café next to the lake. The Children's Play Area is in the far north-east corner.'</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11→ NE corner (F); 12→ by the lake right side (D); 13→ opposite entrance (B)</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边听边在地图上画箭头标路径；'directly opposite'=正对面；'far NE corner'=右上角</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Section 2 地图题连续失分</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没看清地图上已有的标注（把existing label当答案写进去）</a:t>
            </a:r>
          </a:p>
          <a:p>
            <a:pPr>
              <a:spcBef>
                <a:spcPts val="800"/>
              </a:spcBef>
            </a:pPr>
            <a:r>
              <a:rPr sz="1600">
                <a:solidFill>
                  <a:srgbClr val="D02B2B"/>
                </a:solidFill>
              </a:rPr>
              <a:t>✗  left/right从谁的角度搞混：应从站在地图中人物的视角</a:t>
            </a:r>
          </a:p>
          <a:p>
            <a:pPr>
              <a:spcBef>
                <a:spcPts val="800"/>
              </a:spcBef>
            </a:pPr>
            <a:r>
              <a:rPr sz="1600">
                <a:solidFill>
                  <a:srgbClr val="D02B2B"/>
                </a:solidFill>
              </a:rPr>
              <a:t>✗  听到方向词来不及在图上定位，跟丢了</a:t>
            </a:r>
          </a:p>
          <a:p>
            <a:pPr>
              <a:spcBef>
                <a:spcPts val="800"/>
              </a:spcBef>
            </a:pPr>
            <a:r>
              <a:rPr sz="1600">
                <a:solidFill>
                  <a:srgbClr val="D02B2B"/>
                </a:solidFill>
              </a:rPr>
              <a:t>✗  匹配题选项没提前读，听到时来不及找对应选项</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做题前15秒：先扫描地图，圈出entrance/N箭头/已有标注</a:t>
            </a:r>
          </a:p>
          <a:p>
            <a:pPr>
              <a:spcBef>
                <a:spcPts val="800"/>
              </a:spcBef>
            </a:pPr>
            <a:r>
              <a:rPr sz="1600">
                <a:solidFill>
                  <a:srgbClr val="1A7A3C"/>
                </a:solidFill>
              </a:rPr>
              <a:t>✓  记住：地图题left/right以人物行进方向为准，not地图绝对方向</a:t>
            </a:r>
          </a:p>
          <a:p>
            <a:pPr>
              <a:spcBef>
                <a:spcPts val="800"/>
              </a:spcBef>
            </a:pPr>
            <a:r>
              <a:rPr sz="1600">
                <a:solidFill>
                  <a:srgbClr val="1A7A3C"/>
                </a:solidFill>
              </a:rPr>
              <a:t>✓  用铅笔在地图上轻轻画路径箭头，帮助跟踪方向</a:t>
            </a:r>
          </a:p>
          <a:p>
            <a:pPr>
              <a:spcBef>
                <a:spcPts val="800"/>
              </a:spcBef>
            </a:pPr>
            <a:r>
              <a:rPr sz="1600">
                <a:solidFill>
                  <a:srgbClr val="1A7A3C"/>
                </a:solidFill>
              </a:rPr>
              <a:t>✓  匹配选项提前读完并记住关键词，而不是边听边找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L03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地图题：先识别参照点，用箭头跟踪路径，掌握20个核心方向词</a:t>
            </a:r>
          </a:p>
          <a:p>
            <a:pPr>
              <a:spcBef>
                <a:spcPts val="800"/>
              </a:spcBef>
            </a:pPr>
            <a:r>
              <a:rPr sz="1600">
                <a:solidFill>
                  <a:srgbClr val="FFFFFF"/>
                </a:solidFill>
              </a:rPr>
              <a:t>✓  匹配题：选项提前读完，听到描述立即匹配，不要返回重找</a:t>
            </a:r>
          </a:p>
          <a:p>
            <a:pPr>
              <a:spcBef>
                <a:spcPts val="800"/>
              </a:spcBef>
            </a:pPr>
            <a:r>
              <a:rPr sz="1600">
                <a:solidFill>
                  <a:srgbClr val="FFFFFF"/>
                </a:solidFill>
              </a:rPr>
              <a:t>✓  Section 2独白语速中等，信息有逻辑顺序，利用结构预判内容</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完成3套剑桥真题Section 2，重点练地图题</a:t>
            </a:r>
          </a:p>
          <a:p>
            <a:pPr>
              <a:spcBef>
                <a:spcPts val="800"/>
              </a:spcBef>
            </a:pPr>
            <a:r>
              <a:rPr sz="1500">
                <a:solidFill>
                  <a:srgbClr val="FFFFFF"/>
                </a:solidFill>
              </a:rPr>
              <a:t>→  整理方向词词表并默写10遍</a:t>
            </a:r>
          </a:p>
          <a:p>
            <a:pPr>
              <a:spcBef>
                <a:spcPts val="800"/>
              </a:spcBef>
            </a:pPr>
            <a:r>
              <a:rPr sz="1500">
                <a:solidFill>
                  <a:srgbClr val="FFFFFF"/>
                </a:solidFill>
              </a:rPr>
              <a:t>→  听BBC/National Geographic纪录片旁白，训练独白跟踪能力</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L04</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Section 3
学术对话突破</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识别多人对话中的说话人切换信号</a:t>
            </a:r>
          </a:p>
          <a:p>
            <a:pPr algn="l">
              <a:spcBef>
                <a:spcPts val="1000"/>
              </a:spcBef>
            </a:pPr>
            <a:r>
              <a:rPr sz="1700">
                <a:solidFill>
                  <a:srgbClr val="1B3A6B"/>
                </a:solidFill>
              </a:rPr>
              <a:t>✦  捕捉观点、态度和评价类信息</a:t>
            </a:r>
          </a:p>
          <a:p>
            <a:pPr algn="l">
              <a:spcBef>
                <a:spcPts val="1000"/>
              </a:spcBef>
            </a:pPr>
            <a:r>
              <a:rPr sz="1700">
                <a:solidFill>
                  <a:srgbClr val="1B3A6B"/>
                </a:solidFill>
              </a:rPr>
              <a:t>✦  攻克Section 3高难度MCQ的排除法</a:t>
            </a:r>
          </a:p>
          <a:p>
            <a:pPr algn="l">
              <a:spcBef>
                <a:spcPts val="1000"/>
              </a:spcBef>
            </a:pPr>
            <a:r>
              <a:rPr sz="1700">
                <a:solidFill>
                  <a:srgbClr val="1B3A6B"/>
                </a:solidFill>
              </a:rPr>
              <a:t>✦  建立学术讨论场景词汇（作业/报告/研究）</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Section 3 结构与挑战</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场景特点</a:t>
            </a:r>
          </a:p>
          <a:p>
            <a:pPr algn="l">
              <a:spcBef>
                <a:spcPts val="200"/>
              </a:spcBef>
            </a:pPr>
            <a:r>
              <a:rPr sz="1600">
                <a:solidFill>
                  <a:srgbClr val="556580"/>
                </a:solidFill>
              </a:rPr>
              <a:t>    2-4名大学生/导师讨论：作业、报告、实验、presentation、研究方法</a:t>
            </a:r>
          </a:p>
          <a:p>
            <a:pPr algn="l">
              <a:spcBef>
                <a:spcPts val="800"/>
              </a:spcBef>
            </a:pPr>
            <a:r>
              <a:rPr sz="1900" b="1">
                <a:solidFill>
                  <a:srgbClr val="1B3A6B"/>
                </a:solidFill>
              </a:rPr>
              <a:t>▶  语言特点</a:t>
            </a:r>
          </a:p>
          <a:p>
            <a:pPr algn="l">
              <a:spcBef>
                <a:spcPts val="200"/>
              </a:spcBef>
            </a:pPr>
            <a:r>
              <a:rPr sz="1600">
                <a:solidFill>
                  <a:srgbClr val="556580"/>
                </a:solidFill>
              </a:rPr>
              <a:t>    观点交换频繁（I think/In my view/Actually/But don't you think）</a:t>
            </a:r>
          </a:p>
          <a:p>
            <a:pPr algn="l">
              <a:spcBef>
                <a:spcPts val="800"/>
              </a:spcBef>
            </a:pPr>
            <a:r>
              <a:rPr sz="1900" b="1">
                <a:solidFill>
                  <a:srgbClr val="1B3A6B"/>
                </a:solidFill>
              </a:rPr>
              <a:t>▶  最难题型</a:t>
            </a:r>
          </a:p>
          <a:p>
            <a:pPr algn="l">
              <a:spcBef>
                <a:spcPts val="200"/>
              </a:spcBef>
            </a:pPr>
            <a:r>
              <a:rPr sz="1600">
                <a:solidFill>
                  <a:srgbClr val="556580"/>
                </a:solidFill>
              </a:rPr>
              <a:t>    多选MCQ（从5个选项选2个）——必须判断每个说话人的态度</a:t>
            </a:r>
          </a:p>
          <a:p>
            <a:pPr algn="l">
              <a:spcBef>
                <a:spcPts val="800"/>
              </a:spcBef>
            </a:pPr>
            <a:r>
              <a:rPr sz="1900" b="1">
                <a:solidFill>
                  <a:srgbClr val="1B3A6B"/>
                </a:solidFill>
              </a:rPr>
              <a:t>▶  态度词</a:t>
            </a:r>
          </a:p>
          <a:p>
            <a:pPr algn="l">
              <a:spcBef>
                <a:spcPts val="200"/>
              </a:spcBef>
            </a:pPr>
            <a:r>
              <a:rPr sz="1600">
                <a:solidFill>
                  <a:srgbClr val="556580"/>
                </a:solidFill>
              </a:rPr>
              <a:t>    enthusiastic/skeptical/surprised/agree/disagree/neutral/impressed</a:t>
            </a:r>
          </a:p>
          <a:p>
            <a:pPr algn="l">
              <a:spcBef>
                <a:spcPts val="800"/>
              </a:spcBef>
            </a:pPr>
            <a:r>
              <a:rPr sz="1900" b="1">
                <a:solidFill>
                  <a:srgbClr val="1B3A6B"/>
                </a:solidFill>
              </a:rPr>
              <a:t>▶  核心策略</a:t>
            </a:r>
          </a:p>
          <a:p>
            <a:pPr algn="l">
              <a:spcBef>
                <a:spcPts val="200"/>
              </a:spcBef>
            </a:pPr>
            <a:r>
              <a:rPr sz="1600">
                <a:solidFill>
                  <a:srgbClr val="556580"/>
                </a:solidFill>
              </a:rPr>
              <a:t>    标注说话人A/B/C，分别追踪各自的观点立场</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深圳学生注意：这是深圳学生平均失分最多的Section！关键：分清谁说了什么，而不是听懂每个词。</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观点与态度捕捉训练</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同意信号</a:t>
            </a:r>
          </a:p>
          <a:p>
            <a:pPr algn="l">
              <a:spcBef>
                <a:spcPts val="200"/>
              </a:spcBef>
            </a:pPr>
            <a:r>
              <a:rPr sz="1600">
                <a:solidFill>
                  <a:srgbClr val="556580"/>
                </a:solidFill>
              </a:rPr>
              <a:t>    Exactly / That's a good point / I couldn't agree more / You're right</a:t>
            </a:r>
          </a:p>
          <a:p>
            <a:pPr algn="l">
              <a:spcBef>
                <a:spcPts val="800"/>
              </a:spcBef>
            </a:pPr>
            <a:r>
              <a:rPr sz="1900" b="1">
                <a:solidFill>
                  <a:srgbClr val="1B3A6B"/>
                </a:solidFill>
              </a:rPr>
              <a:t>▶  不同意</a:t>
            </a:r>
          </a:p>
          <a:p>
            <a:pPr algn="l">
              <a:spcBef>
                <a:spcPts val="200"/>
              </a:spcBef>
            </a:pPr>
            <a:r>
              <a:rPr sz="1600">
                <a:solidFill>
                  <a:srgbClr val="556580"/>
                </a:solidFill>
              </a:rPr>
              <a:t>    Actually / Well / I'm not so sure / That's not necessarily true / But</a:t>
            </a:r>
          </a:p>
          <a:p>
            <a:pPr algn="l">
              <a:spcBef>
                <a:spcPts val="800"/>
              </a:spcBef>
            </a:pPr>
            <a:r>
              <a:rPr sz="1900" b="1">
                <a:solidFill>
                  <a:srgbClr val="1B3A6B"/>
                </a:solidFill>
              </a:rPr>
              <a:t>▶  转折关注</a:t>
            </a:r>
          </a:p>
          <a:p>
            <a:pPr algn="l">
              <a:spcBef>
                <a:spcPts val="200"/>
              </a:spcBef>
            </a:pPr>
            <a:r>
              <a:rPr sz="1600">
                <a:solidFill>
                  <a:srgbClr val="556580"/>
                </a:solidFill>
              </a:rPr>
              <a:t>    听到however/although/but/on the other hand——答案常在转折后</a:t>
            </a:r>
          </a:p>
          <a:p>
            <a:pPr algn="l">
              <a:spcBef>
                <a:spcPts val="800"/>
              </a:spcBef>
            </a:pPr>
            <a:r>
              <a:rPr sz="1900" b="1">
                <a:solidFill>
                  <a:srgbClr val="1B3A6B"/>
                </a:solidFill>
              </a:rPr>
              <a:t>▶  观点归属</a:t>
            </a:r>
          </a:p>
          <a:p>
            <a:pPr algn="l">
              <a:spcBef>
                <a:spcPts val="200"/>
              </a:spcBef>
            </a:pPr>
            <a:r>
              <a:rPr sz="1600">
                <a:solidFill>
                  <a:srgbClr val="556580"/>
                </a:solidFill>
              </a:rPr>
              <a:t>    She thinks... / As far as he's concerned... / From her perspective...</a:t>
            </a:r>
          </a:p>
          <a:p>
            <a:pPr algn="l">
              <a:spcBef>
                <a:spcPts val="800"/>
              </a:spcBef>
            </a:pPr>
            <a:r>
              <a:rPr sz="1900" b="1">
                <a:solidFill>
                  <a:srgbClr val="1B3A6B"/>
                </a:solidFill>
              </a:rPr>
              <a:t>▶  态度判断</a:t>
            </a:r>
          </a:p>
          <a:p>
            <a:pPr algn="l">
              <a:spcBef>
                <a:spcPts val="200"/>
              </a:spcBef>
            </a:pPr>
            <a:r>
              <a:rPr sz="1600">
                <a:solidFill>
                  <a:srgbClr val="556580"/>
                </a:solidFill>
              </a:rPr>
              <a:t>    语调上扬=肯定/赞同；语调下沉+停顿=怀疑/否定</a:t>
            </a:r>
          </a:p>
          <a:p>
            <a:pPr algn="l">
              <a:spcBef>
                <a:spcPts val="800"/>
              </a:spcBef>
            </a:pPr>
            <a:r>
              <a:rPr sz="1900" b="1">
                <a:solidFill>
                  <a:srgbClr val="1B3A6B"/>
                </a:solidFill>
              </a:rPr>
              <a:t>▶  多选题法</a:t>
            </a:r>
          </a:p>
          <a:p>
            <a:pPr algn="l">
              <a:spcBef>
                <a:spcPts val="200"/>
              </a:spcBef>
            </a:pPr>
            <a:r>
              <a:rPr sz="1600">
                <a:solidFill>
                  <a:srgbClr val="556580"/>
                </a:solidFill>
              </a:rPr>
              <a:t>    每个选项用✓✗?标注，确认的✓，排除的✗，不确定的?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多选题解题示范（Choose TWO）</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题目：Which TWO problems do the students mention about their research method?
A. too time-consuming  B. sample size too small  C. results inconsistent
D. equipment unreliable  E. data collection incomplete
录音：Tom: 'I think the biggest issue is that we only surveyed 15 people — the sample is just too small.'
Amy: 'I know, and I'm also worried that not everyone completed all the questions.'
Tom: 'Yeah, the data collection wasn't thorough enough.'</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答案：B（sample too small）+ E（data collection incomplete）
注意：A/C/D在录音中未提及，即使你觉得'合理'也不能选</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多选题：答案一定在录音中明确提到，不能靠推断；每个选项单独判断对错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Section 3 MCQ 高频错误</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听到选项中的某个词就以为是答案（词汇陷阱）</a:t>
            </a:r>
          </a:p>
          <a:p>
            <a:pPr>
              <a:spcBef>
                <a:spcPts val="800"/>
              </a:spcBef>
            </a:pPr>
            <a:r>
              <a:rPr sz="1600">
                <a:solidFill>
                  <a:srgbClr val="D02B2B"/>
                </a:solidFill>
              </a:rPr>
              <a:t>✗  录音说'I was going to... but'——结果没发生的事情当作答案</a:t>
            </a:r>
          </a:p>
          <a:p>
            <a:pPr>
              <a:spcBef>
                <a:spcPts val="800"/>
              </a:spcBef>
            </a:pPr>
            <a:r>
              <a:rPr sz="1600">
                <a:solidFill>
                  <a:srgbClr val="D02B2B"/>
                </a:solidFill>
              </a:rPr>
              <a:t>✗  两个说话人观点相反，选了被否定的那个</a:t>
            </a:r>
          </a:p>
          <a:p>
            <a:pPr>
              <a:spcBef>
                <a:spcPts val="800"/>
              </a:spcBef>
            </a:pPr>
            <a:r>
              <a:rPr sz="1600">
                <a:solidFill>
                  <a:srgbClr val="D02B2B"/>
                </a:solidFill>
              </a:rPr>
              <a:t>✗  多选题只写了一个答案，忘记要选两个</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听到选项关键词≠正确答案，要确认整个句子的意思和逻辑</a:t>
            </a:r>
          </a:p>
          <a:p>
            <a:pPr>
              <a:spcBef>
                <a:spcPts val="800"/>
              </a:spcBef>
            </a:pPr>
            <a:r>
              <a:rPr sz="1600">
                <a:solidFill>
                  <a:srgbClr val="1A7A3C"/>
                </a:solidFill>
              </a:rPr>
              <a:t>✓  注意否定结构：not/never/didn't/hardly——这类陈述通常是干扰项</a:t>
            </a:r>
          </a:p>
          <a:p>
            <a:pPr>
              <a:spcBef>
                <a:spcPts val="800"/>
              </a:spcBef>
            </a:pPr>
            <a:r>
              <a:rPr sz="1600">
                <a:solidFill>
                  <a:srgbClr val="1A7A3C"/>
                </a:solidFill>
              </a:rPr>
              <a:t>✓  追踪说话人立场：用A: B: 标注笔记，避免张冠李戴</a:t>
            </a:r>
          </a:p>
          <a:p>
            <a:pPr>
              <a:spcBef>
                <a:spcPts val="800"/>
              </a:spcBef>
            </a:pPr>
            <a:r>
              <a:rPr sz="1600">
                <a:solidFill>
                  <a:srgbClr val="1A7A3C"/>
                </a:solidFill>
              </a:rPr>
              <a:t>✓  多选题答题后检查：数字是否正确（选了2个还是1个）</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L04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Section 3核心：分辨说话人 + 捕捉态度转折 + 排除干扰选项</a:t>
            </a:r>
          </a:p>
          <a:p>
            <a:pPr>
              <a:spcBef>
                <a:spcPts val="800"/>
              </a:spcBef>
            </a:pPr>
            <a:r>
              <a:rPr sz="1600">
                <a:solidFill>
                  <a:srgbClr val="FFFFFF"/>
                </a:solidFill>
              </a:rPr>
              <a:t>✓  多选题必须听完每一个选项对应的内容再判断，不能听到就选</a:t>
            </a:r>
          </a:p>
          <a:p>
            <a:pPr>
              <a:spcBef>
                <a:spcPts val="800"/>
              </a:spcBef>
            </a:pPr>
            <a:r>
              <a:rPr sz="1600">
                <a:solidFill>
                  <a:srgbClr val="FFFFFF"/>
                </a:solidFill>
              </a:rPr>
              <a:t>✓  转折词(but/however/actually)后面的内容往往是答案</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找Section 3多选题真题各3套，专项练习</a:t>
            </a:r>
          </a:p>
          <a:p>
            <a:pPr>
              <a:spcBef>
                <a:spcPts val="800"/>
              </a:spcBef>
            </a:pPr>
            <a:r>
              <a:rPr sz="1500">
                <a:solidFill>
                  <a:srgbClr val="FFFFFF"/>
                </a:solidFill>
              </a:rPr>
              <a:t>→  总结Section 3常见干扰策略（同义替换/否定陷阱/话题转移）</a:t>
            </a:r>
          </a:p>
          <a:p>
            <a:pPr>
              <a:spcBef>
                <a:spcPts val="800"/>
              </a:spcBef>
            </a:pPr>
            <a:r>
              <a:rPr sz="1500">
                <a:solidFill>
                  <a:srgbClr val="FFFFFF"/>
                </a:solidFill>
              </a:rPr>
              <a:t>→  每天听1段英语辩论/讨论，练习追踪多人观点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L05</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Section 4
学术讲座冲7+</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建立学术讲座的听力框架与宏观结构意识</a:t>
            </a:r>
          </a:p>
          <a:p>
            <a:pPr algn="l">
              <a:spcBef>
                <a:spcPts val="1000"/>
              </a:spcBef>
            </a:pPr>
            <a:r>
              <a:rPr sz="1700">
                <a:solidFill>
                  <a:srgbClr val="1B3A6B"/>
                </a:solidFill>
              </a:rPr>
              <a:t>✦  掌握笔记速记符号系统</a:t>
            </a:r>
          </a:p>
          <a:p>
            <a:pPr algn="l">
              <a:spcBef>
                <a:spcPts val="1000"/>
              </a:spcBef>
            </a:pPr>
            <a:r>
              <a:rPr sz="1700">
                <a:solidFill>
                  <a:srgbClr val="1B3A6B"/>
                </a:solidFill>
              </a:rPr>
              <a:t>✦  攻克学术词汇的听力识别（Academic Word List）</a:t>
            </a:r>
          </a:p>
          <a:p>
            <a:pPr algn="l">
              <a:spcBef>
                <a:spcPts val="1000"/>
              </a:spcBef>
            </a:pPr>
            <a:r>
              <a:rPr sz="1700">
                <a:solidFill>
                  <a:srgbClr val="1B3A6B"/>
                </a:solidFill>
              </a:rPr>
              <a:t>✦  稳定拿到Section 4的6+分（30题中10题）</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Section 4 结构解析</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特点</a:t>
            </a:r>
          </a:p>
          <a:p>
            <a:pPr algn="l">
              <a:spcBef>
                <a:spcPts val="200"/>
              </a:spcBef>
            </a:pPr>
            <a:r>
              <a:rPr sz="1600">
                <a:solidFill>
                  <a:srgbClr val="556580"/>
                </a:solidFill>
              </a:rPr>
              <a:t>    单人讲座，无打断，语速最快，专业词汇最密集，共10题</a:t>
            </a:r>
          </a:p>
          <a:p>
            <a:pPr algn="l">
              <a:spcBef>
                <a:spcPts val="800"/>
              </a:spcBef>
            </a:pPr>
            <a:r>
              <a:rPr sz="1900" b="1">
                <a:solidFill>
                  <a:srgbClr val="1B3A6B"/>
                </a:solidFill>
              </a:rPr>
              <a:t>▶  常见学科</a:t>
            </a:r>
          </a:p>
          <a:p>
            <a:pPr algn="l">
              <a:spcBef>
                <a:spcPts val="200"/>
              </a:spcBef>
            </a:pPr>
            <a:r>
              <a:rPr sz="1600">
                <a:solidFill>
                  <a:srgbClr val="556580"/>
                </a:solidFill>
              </a:rPr>
              <a:t>    历史/地理/生物/心理/经济/建筑/环境——关键词都有规律</a:t>
            </a:r>
          </a:p>
          <a:p>
            <a:pPr algn="l">
              <a:spcBef>
                <a:spcPts val="800"/>
              </a:spcBef>
            </a:pPr>
            <a:r>
              <a:rPr sz="1900" b="1">
                <a:solidFill>
                  <a:srgbClr val="1B3A6B"/>
                </a:solidFill>
              </a:rPr>
              <a:t>▶  结构信号</a:t>
            </a:r>
          </a:p>
          <a:p>
            <a:pPr algn="l">
              <a:spcBef>
                <a:spcPts val="200"/>
              </a:spcBef>
            </a:pPr>
            <a:r>
              <a:rPr sz="1600">
                <a:solidFill>
                  <a:srgbClr val="556580"/>
                </a:solidFill>
              </a:rPr>
              <a:t>    Today I'm going to talk about... / Firstly... / Moving on to... / To summarise...</a:t>
            </a:r>
          </a:p>
          <a:p>
            <a:pPr algn="l">
              <a:spcBef>
                <a:spcPts val="800"/>
              </a:spcBef>
            </a:pPr>
            <a:r>
              <a:rPr sz="1900" b="1">
                <a:solidFill>
                  <a:srgbClr val="1B3A6B"/>
                </a:solidFill>
              </a:rPr>
              <a:t>▶  题型</a:t>
            </a:r>
          </a:p>
          <a:p>
            <a:pPr algn="l">
              <a:spcBef>
                <a:spcPts val="200"/>
              </a:spcBef>
            </a:pPr>
            <a:r>
              <a:rPr sz="1600">
                <a:solidFill>
                  <a:srgbClr val="556580"/>
                </a:solidFill>
              </a:rPr>
              <a:t>    填空为主（note completion / summary completion），MCQ辅助</a:t>
            </a:r>
          </a:p>
          <a:p>
            <a:pPr algn="l">
              <a:spcBef>
                <a:spcPts val="800"/>
              </a:spcBef>
            </a:pPr>
            <a:r>
              <a:rPr sz="1900" b="1">
                <a:solidFill>
                  <a:srgbClr val="1B3A6B"/>
                </a:solidFill>
              </a:rPr>
              <a:t>▶  难点</a:t>
            </a:r>
          </a:p>
          <a:p>
            <a:pPr algn="l">
              <a:spcBef>
                <a:spcPts val="200"/>
              </a:spcBef>
            </a:pPr>
            <a:r>
              <a:rPr sz="1600">
                <a:solidFill>
                  <a:srgbClr val="556580"/>
                </a:solidFill>
              </a:rPr>
              <a:t>    单词听不懂怎么办？——靠上下文推断+笔记占位+继续往前听</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深圳学生注意：Section 4 要有'不求全听懂'的心态——听到40%关键信息就能得7/10分。</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学术讲座笔记速记系统</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数量/程度</a:t>
            </a:r>
          </a:p>
          <a:p>
            <a:pPr algn="l">
              <a:spcBef>
                <a:spcPts val="200"/>
              </a:spcBef>
            </a:pPr>
            <a:r>
              <a:rPr sz="1600">
                <a:solidFill>
                  <a:srgbClr val="556580"/>
                </a:solidFill>
              </a:rPr>
              <a:t>    ↑ increase / ↓ decrease / ≈ approximately / &gt; greater than / &lt; less than</a:t>
            </a:r>
          </a:p>
          <a:p>
            <a:pPr algn="l">
              <a:spcBef>
                <a:spcPts val="800"/>
              </a:spcBef>
            </a:pPr>
            <a:r>
              <a:rPr sz="1900" b="1">
                <a:solidFill>
                  <a:srgbClr val="1B3A6B"/>
                </a:solidFill>
              </a:rPr>
              <a:t>▶  逻辑关系</a:t>
            </a:r>
          </a:p>
          <a:p>
            <a:pPr algn="l">
              <a:spcBef>
                <a:spcPts val="200"/>
              </a:spcBef>
            </a:pPr>
            <a:r>
              <a:rPr sz="1600">
                <a:solidFill>
                  <a:srgbClr val="556580"/>
                </a:solidFill>
              </a:rPr>
              <a:t>    ∴ therefore / ∵ because / → leads to / ↔ relationship / ≠ different</a:t>
            </a:r>
          </a:p>
          <a:p>
            <a:pPr algn="l">
              <a:spcBef>
                <a:spcPts val="800"/>
              </a:spcBef>
            </a:pPr>
            <a:r>
              <a:rPr sz="1900" b="1">
                <a:solidFill>
                  <a:srgbClr val="1B3A6B"/>
                </a:solidFill>
              </a:rPr>
              <a:t>▶  常用缩写</a:t>
            </a:r>
          </a:p>
          <a:p>
            <a:pPr algn="l">
              <a:spcBef>
                <a:spcPts val="200"/>
              </a:spcBef>
            </a:pPr>
            <a:r>
              <a:rPr sz="1600">
                <a:solidFill>
                  <a:srgbClr val="556580"/>
                </a:solidFill>
              </a:rPr>
              <a:t>    w/ with / w/o without / esp. especially / eg. example / cf. compare</a:t>
            </a:r>
          </a:p>
          <a:p>
            <a:pPr algn="l">
              <a:spcBef>
                <a:spcPts val="800"/>
              </a:spcBef>
            </a:pPr>
            <a:r>
              <a:rPr sz="1900" b="1">
                <a:solidFill>
                  <a:srgbClr val="1B3A6B"/>
                </a:solidFill>
              </a:rPr>
              <a:t>▶  重复用词</a:t>
            </a:r>
          </a:p>
          <a:p>
            <a:pPr algn="l">
              <a:spcBef>
                <a:spcPts val="200"/>
              </a:spcBef>
            </a:pPr>
            <a:r>
              <a:rPr sz="1600">
                <a:solidFill>
                  <a:srgbClr val="556580"/>
                </a:solidFill>
              </a:rPr>
              <a:t>    用数字①②③标并列信息；'+'连接相关概念</a:t>
            </a:r>
          </a:p>
          <a:p>
            <a:pPr algn="l">
              <a:spcBef>
                <a:spcPts val="800"/>
              </a:spcBef>
            </a:pPr>
            <a:r>
              <a:rPr sz="1900" b="1">
                <a:solidFill>
                  <a:srgbClr val="1B3A6B"/>
                </a:solidFill>
              </a:rPr>
              <a:t>▶  实战建议</a:t>
            </a:r>
          </a:p>
          <a:p>
            <a:pPr algn="l">
              <a:spcBef>
                <a:spcPts val="200"/>
              </a:spcBef>
            </a:pPr>
            <a:r>
              <a:rPr sz="1600">
                <a:solidFill>
                  <a:srgbClr val="556580"/>
                </a:solidFill>
              </a:rPr>
              <a:t>    不要试图写完整句子——只记关键名词和数字</a:t>
            </a:r>
          </a:p>
          <a:p>
            <a:pPr algn="l">
              <a:spcBef>
                <a:spcPts val="800"/>
              </a:spcBef>
            </a:pPr>
            <a:r>
              <a:rPr sz="1900" b="1">
                <a:solidFill>
                  <a:srgbClr val="1B3A6B"/>
                </a:solidFill>
              </a:rPr>
              <a:t>▶  空格占位</a:t>
            </a:r>
          </a:p>
          <a:p>
            <a:pPr algn="l">
              <a:spcBef>
                <a:spcPts val="200"/>
              </a:spcBef>
            </a:pPr>
            <a:r>
              <a:rPr sz="1600">
                <a:solidFill>
                  <a:srgbClr val="556580"/>
                </a:solidFill>
              </a:rPr>
              <a:t>    听不清的地方用_____标记，继续往后听，誊写时再回想</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学术讲座实战：笔记填空</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Note Completion: Urban Heat Island Effect
Causes: (31)__________ surfaces absorb more heat
         reduced vegetation leads to less (32)__________
Effects: nighttime temperatures (33)__________ than rural areas
         increases energy consumption for (34)__________
录音：'...impermeable surfaces such as concrete and asphalt absorb significantly more solar radiation. Furthermore, the lack of greenery means there is far less evapotranspiration occurring. As a result, urban areas can be up to 3 degrees warmer at night, driving up demand for air conditioning...'</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31. impermeable  32. evapotranspiration  33. warmer / higher  34. air conditioning</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31题：impermeable是专业词，可能拼不出→先写音标/首字母，誊写时补全；32题：evapo-trans-pi-ration逐音节听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Section 4 崩溃场景及应对</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开场没跟上，后面整个乱——'破罐子破摔'心态</a:t>
            </a:r>
          </a:p>
          <a:p>
            <a:pPr>
              <a:spcBef>
                <a:spcPts val="800"/>
              </a:spcBef>
            </a:pPr>
            <a:r>
              <a:rPr sz="1600">
                <a:solidFill>
                  <a:srgbClr val="D02B2B"/>
                </a:solidFill>
              </a:rPr>
              <a:t>✗  遇到不认识的词就卡住，后面5题全部错过</a:t>
            </a:r>
          </a:p>
          <a:p>
            <a:pPr>
              <a:spcBef>
                <a:spcPts val="800"/>
              </a:spcBef>
            </a:pPr>
            <a:r>
              <a:rPr sz="1600">
                <a:solidFill>
                  <a:srgbClr val="D02B2B"/>
                </a:solidFill>
              </a:rPr>
              <a:t>✗  笔记写太多，手写速度跟不上语速</a:t>
            </a:r>
          </a:p>
          <a:p>
            <a:pPr>
              <a:spcBef>
                <a:spcPts val="800"/>
              </a:spcBef>
            </a:pPr>
            <a:r>
              <a:rPr sz="1600">
                <a:solidFill>
                  <a:srgbClr val="D02B2B"/>
                </a:solidFill>
              </a:rPr>
              <a:t>✗  填空题答案写了但拼错，全错</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跟丢了立即用题号重新定位——找下一个问题的关键词</a:t>
            </a:r>
          </a:p>
          <a:p>
            <a:pPr>
              <a:spcBef>
                <a:spcPts val="800"/>
              </a:spcBef>
            </a:pPr>
            <a:r>
              <a:rPr sz="1600">
                <a:solidFill>
                  <a:srgbClr val="1A7A3C"/>
                </a:solidFill>
              </a:rPr>
              <a:t>✓  不认识的词：直接用字母标音或画线，继续往前听</a:t>
            </a:r>
          </a:p>
          <a:p>
            <a:pPr>
              <a:spcBef>
                <a:spcPts val="800"/>
              </a:spcBef>
            </a:pPr>
            <a:r>
              <a:rPr sz="1600">
                <a:solidFill>
                  <a:srgbClr val="1A7A3C"/>
                </a:solidFill>
              </a:rPr>
              <a:t>✓  笔记只记名词+数字+形容词，动词/冠词全省略</a:t>
            </a:r>
          </a:p>
          <a:p>
            <a:pPr>
              <a:spcBef>
                <a:spcPts val="800"/>
              </a:spcBef>
            </a:pPr>
            <a:r>
              <a:rPr sz="1600">
                <a:solidFill>
                  <a:srgbClr val="1A7A3C"/>
                </a:solidFill>
              </a:rPr>
              <a:t>✓  誊写时优先检查拼写：按音节分解s-e-p-a-r-a-t-e-l-y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L05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Section 4：建立框架→笔记占位→不纠结单个词→誊写检查拼写</a:t>
            </a:r>
          </a:p>
          <a:p>
            <a:pPr>
              <a:spcBef>
                <a:spcPts val="800"/>
              </a:spcBef>
            </a:pPr>
            <a:r>
              <a:rPr sz="1600">
                <a:solidFill>
                  <a:srgbClr val="FFFFFF"/>
                </a:solidFill>
              </a:rPr>
              <a:t>✓  学会笔记速记系统，不求每词都写，只抓关键名词和数字</a:t>
            </a:r>
          </a:p>
          <a:p>
            <a:pPr>
              <a:spcBef>
                <a:spcPts val="800"/>
              </a:spcBef>
            </a:pPr>
            <a:r>
              <a:rPr sz="1600">
                <a:solidFill>
                  <a:srgbClr val="FFFFFF"/>
                </a:solidFill>
              </a:rPr>
              <a:t>✓  跟丢了不要慌：立即用题号找到下一个锚点，继续答题</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做剑桥真题Section 4各3套，统计AWL词汇不认识的</a:t>
            </a:r>
          </a:p>
          <a:p>
            <a:pPr>
              <a:spcBef>
                <a:spcPts val="800"/>
              </a:spcBef>
            </a:pPr>
            <a:r>
              <a:rPr sz="1500">
                <a:solidFill>
                  <a:srgbClr val="FFFFFF"/>
                </a:solidFill>
              </a:rPr>
              <a:t>→  建立'雅思听力学科词汇表'（生物/地理/历史各30词）</a:t>
            </a:r>
          </a:p>
          <a:p>
            <a:pPr>
              <a:spcBef>
                <a:spcPts val="800"/>
              </a:spcBef>
            </a:pPr>
            <a:r>
              <a:rPr sz="1500">
                <a:solidFill>
                  <a:srgbClr val="FFFFFF"/>
                </a:solidFill>
              </a:rPr>
              <a:t>→  每天听TED-Ed 5分钟，练习从快速讲座中提炼关键信息</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L06</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预测技能
&amp; 关键词定位</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系统训练预读技能——30秒内完成有效预判</a:t>
            </a:r>
          </a:p>
          <a:p>
            <a:pPr algn="l">
              <a:spcBef>
                <a:spcPts val="1000"/>
              </a:spcBef>
            </a:pPr>
            <a:r>
              <a:rPr sz="1700">
                <a:solidFill>
                  <a:srgbClr val="1B3A6B"/>
                </a:solidFill>
              </a:rPr>
              <a:t>✦  学会从题目预测答案的词性、范围和格式</a:t>
            </a:r>
          </a:p>
          <a:p>
            <a:pPr algn="l">
              <a:spcBef>
                <a:spcPts val="1000"/>
              </a:spcBef>
            </a:pPr>
            <a:r>
              <a:rPr sz="1700">
                <a:solidFill>
                  <a:srgbClr val="1B3A6B"/>
                </a:solidFill>
              </a:rPr>
              <a:t>✦  掌握同义替换识别（paraphrasing）</a:t>
            </a:r>
          </a:p>
          <a:p>
            <a:pPr algn="l">
              <a:spcBef>
                <a:spcPts val="1000"/>
              </a:spcBef>
            </a:pPr>
            <a:r>
              <a:rPr sz="1700">
                <a:solidFill>
                  <a:srgbClr val="1B3A6B"/>
                </a:solidFill>
              </a:rPr>
              <a:t>✦  建立听力的'预测→验证'循环流程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预读的三个层次</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第一层：信息类型</a:t>
            </a:r>
          </a:p>
          <a:p>
            <a:pPr algn="l">
              <a:spcBef>
                <a:spcPts val="200"/>
              </a:spcBef>
            </a:pPr>
            <a:r>
              <a:rPr sz="1600">
                <a:solidFill>
                  <a:srgbClr val="556580"/>
                </a:solidFill>
              </a:rPr>
              <a:t>    根据空格位置/题型判断需要听什么（名词？数字？形容词？）</a:t>
            </a:r>
          </a:p>
          <a:p>
            <a:pPr algn="l">
              <a:spcBef>
                <a:spcPts val="800"/>
              </a:spcBef>
            </a:pPr>
            <a:r>
              <a:rPr sz="1900" b="1">
                <a:solidFill>
                  <a:srgbClr val="1B3A6B"/>
                </a:solidFill>
              </a:rPr>
              <a:t>▶  第二层：词汇范围</a:t>
            </a:r>
          </a:p>
          <a:p>
            <a:pPr algn="l">
              <a:spcBef>
                <a:spcPts val="200"/>
              </a:spcBef>
            </a:pPr>
            <a:r>
              <a:rPr sz="1600">
                <a:solidFill>
                  <a:srgbClr val="556580"/>
                </a:solidFill>
              </a:rPr>
              <a:t>    根据语境缩小范围——如'booking date'预测月份+数字格式</a:t>
            </a:r>
          </a:p>
          <a:p>
            <a:pPr algn="l">
              <a:spcBef>
                <a:spcPts val="800"/>
              </a:spcBef>
            </a:pPr>
            <a:r>
              <a:rPr sz="1900" b="1">
                <a:solidFill>
                  <a:srgbClr val="1B3A6B"/>
                </a:solidFill>
              </a:rPr>
              <a:t>▶  第三层：难度预判</a:t>
            </a:r>
          </a:p>
          <a:p>
            <a:pPr algn="l">
              <a:spcBef>
                <a:spcPts val="200"/>
              </a:spcBef>
            </a:pPr>
            <a:r>
              <a:rPr sz="1600">
                <a:solidFill>
                  <a:srgbClr val="556580"/>
                </a:solidFill>
              </a:rPr>
              <a:t>    如果空格前后有专业词，准备接受不认识的词，听音记形</a:t>
            </a:r>
          </a:p>
          <a:p>
            <a:pPr algn="l">
              <a:spcBef>
                <a:spcPts val="800"/>
              </a:spcBef>
            </a:pPr>
            <a:r>
              <a:rPr sz="1900" b="1">
                <a:solidFill>
                  <a:srgbClr val="1B3A6B"/>
                </a:solidFill>
              </a:rPr>
              <a:t>▶  关键词标记</a:t>
            </a:r>
          </a:p>
          <a:p>
            <a:pPr algn="l">
              <a:spcBef>
                <a:spcPts val="200"/>
              </a:spcBef>
            </a:pPr>
            <a:r>
              <a:rPr sz="1600">
                <a:solidFill>
                  <a:srgbClr val="556580"/>
                </a:solidFill>
              </a:rPr>
              <a:t>    在试卷上圈出题目关键词，预判录音中的同义替换</a:t>
            </a:r>
          </a:p>
          <a:p>
            <a:pPr algn="l">
              <a:spcBef>
                <a:spcPts val="800"/>
              </a:spcBef>
            </a:pPr>
            <a:r>
              <a:rPr sz="1900" b="1">
                <a:solidFill>
                  <a:srgbClr val="1B3A6B"/>
                </a:solidFill>
              </a:rPr>
              <a:t>▶  时间分配</a:t>
            </a:r>
          </a:p>
          <a:p>
            <a:pPr algn="l">
              <a:spcBef>
                <a:spcPts val="200"/>
              </a:spcBef>
            </a:pPr>
            <a:r>
              <a:rPr sz="1600">
                <a:solidFill>
                  <a:srgbClr val="556580"/>
                </a:solidFill>
              </a:rPr>
              <a:t>    每道题预读≤5秒；提前翻到下一section预读≥20秒</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深圳学生注意：考试中有Section间隙（约30秒），这是预读下一Section最重要的时机！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同义替换 Paraphrasing 专项</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数量表达</a:t>
            </a:r>
          </a:p>
          <a:p>
            <a:pPr algn="l">
              <a:spcBef>
                <a:spcPts val="200"/>
              </a:spcBef>
            </a:pPr>
            <a:r>
              <a:rPr sz="1600">
                <a:solidFill>
                  <a:srgbClr val="556580"/>
                </a:solidFill>
              </a:rPr>
              <a:t>    a large number of → many; a significant decrease → fell sharply</a:t>
            </a:r>
          </a:p>
          <a:p>
            <a:pPr algn="l">
              <a:spcBef>
                <a:spcPts val="800"/>
              </a:spcBef>
            </a:pPr>
            <a:r>
              <a:rPr sz="1900" b="1">
                <a:solidFill>
                  <a:srgbClr val="1B3A6B"/>
                </a:solidFill>
              </a:rPr>
              <a:t>▶  时间表达</a:t>
            </a:r>
          </a:p>
          <a:p>
            <a:pPr algn="l">
              <a:spcBef>
                <a:spcPts val="200"/>
              </a:spcBef>
            </a:pPr>
            <a:r>
              <a:rPr sz="1600">
                <a:solidFill>
                  <a:srgbClr val="556580"/>
                </a:solidFill>
              </a:rPr>
              <a:t>    in the morning → before noon; at the weekend → on Saturday/Sunday</a:t>
            </a:r>
          </a:p>
          <a:p>
            <a:pPr algn="l">
              <a:spcBef>
                <a:spcPts val="800"/>
              </a:spcBef>
            </a:pPr>
            <a:r>
              <a:rPr sz="1900" b="1">
                <a:solidFill>
                  <a:srgbClr val="1B3A6B"/>
                </a:solidFill>
              </a:rPr>
              <a:t>▶  程度表达</a:t>
            </a:r>
          </a:p>
          <a:p>
            <a:pPr algn="l">
              <a:spcBef>
                <a:spcPts val="200"/>
              </a:spcBef>
            </a:pPr>
            <a:r>
              <a:rPr sz="1600">
                <a:solidFill>
                  <a:srgbClr val="556580"/>
                </a:solidFill>
              </a:rPr>
              <a:t>    extremely popular → very well-liked; slightly warm → a little above average</a:t>
            </a:r>
          </a:p>
          <a:p>
            <a:pPr algn="l">
              <a:spcBef>
                <a:spcPts val="800"/>
              </a:spcBef>
            </a:pPr>
            <a:r>
              <a:rPr sz="1900" b="1">
                <a:solidFill>
                  <a:srgbClr val="1B3A6B"/>
                </a:solidFill>
              </a:rPr>
              <a:t>▶  动作替换</a:t>
            </a:r>
          </a:p>
          <a:p>
            <a:pPr algn="l">
              <a:spcBef>
                <a:spcPts val="200"/>
              </a:spcBef>
            </a:pPr>
            <a:r>
              <a:rPr sz="1600">
                <a:solidFill>
                  <a:srgbClr val="556580"/>
                </a:solidFill>
              </a:rPr>
              <a:t>    was established → was set up / was founded / came into existence</a:t>
            </a:r>
          </a:p>
          <a:p>
            <a:pPr algn="l">
              <a:spcBef>
                <a:spcPts val="800"/>
              </a:spcBef>
            </a:pPr>
            <a:r>
              <a:rPr sz="1900" b="1">
                <a:solidFill>
                  <a:srgbClr val="1B3A6B"/>
                </a:solidFill>
              </a:rPr>
              <a:t>▶  描述替换</a:t>
            </a:r>
          </a:p>
          <a:p>
            <a:pPr algn="l">
              <a:spcBef>
                <a:spcPts val="200"/>
              </a:spcBef>
            </a:pPr>
            <a:r>
              <a:rPr sz="1600">
                <a:solidFill>
                  <a:srgbClr val="556580"/>
                </a:solidFill>
              </a:rPr>
              <a:t>    affordable → not expensive / within budget / reasonably priced</a:t>
            </a:r>
          </a:p>
          <a:p>
            <a:pPr algn="l">
              <a:spcBef>
                <a:spcPts val="800"/>
              </a:spcBef>
            </a:pPr>
            <a:r>
              <a:rPr sz="1900" b="1">
                <a:solidFill>
                  <a:srgbClr val="1B3A6B"/>
                </a:solidFill>
              </a:rPr>
              <a:t>▶  练习方法</a:t>
            </a:r>
          </a:p>
          <a:p>
            <a:pPr algn="l">
              <a:spcBef>
                <a:spcPts val="200"/>
              </a:spcBef>
            </a:pPr>
            <a:r>
              <a:rPr sz="1600">
                <a:solidFill>
                  <a:srgbClr val="556580"/>
                </a:solidFill>
              </a:rPr>
              <a:t>    剑桥真题做完后，对照录音原文找出题目与录音的替换对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预测练习：你能预测出什么？</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题目：The library opens at __________ on Sundays. (Q.1)
       Membership costs £__________ per year. (Q.2)
       Books can be borrowed for __________ days. (Q.3)
       The library is located on __________ Street. (Q.4)</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Q1: 时间格式（9:00 / 10am / half past nine）
Q2: 数字（price，可能是两位数，如£25 / £45）
Q3: 数字（duration，可能是14/21/30天）
Q4: 专有名词（街道名，首字母大写）</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预测完格式和范围后，听录音时耳朵更有针对性——不是'被动听'而是'主动找'</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L06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预读30秒 = 考试中最重要的30秒，必须高效利用</a:t>
            </a:r>
          </a:p>
          <a:p>
            <a:pPr>
              <a:spcBef>
                <a:spcPts val="800"/>
              </a:spcBef>
            </a:pPr>
            <a:r>
              <a:rPr sz="1600">
                <a:solidFill>
                  <a:srgbClr val="FFFFFF"/>
                </a:solidFill>
              </a:rPr>
              <a:t>✓  每个空格预测：词性+数字格式+词汇范围</a:t>
            </a:r>
          </a:p>
          <a:p>
            <a:pPr>
              <a:spcBef>
                <a:spcPts val="800"/>
              </a:spcBef>
            </a:pPr>
            <a:r>
              <a:rPr sz="1600">
                <a:solidFill>
                  <a:srgbClr val="FFFFFF"/>
                </a:solidFill>
              </a:rPr>
              <a:t>✓  录音是题目的同义替换，不会出现100%原词</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完成5套预读专项练习：只预读不做题，然后对答案验证预测准确率</a:t>
            </a:r>
          </a:p>
          <a:p>
            <a:pPr>
              <a:spcBef>
                <a:spcPts val="800"/>
              </a:spcBef>
            </a:pPr>
            <a:r>
              <a:rPr sz="1500">
                <a:solidFill>
                  <a:srgbClr val="FFFFFF"/>
                </a:solidFill>
              </a:rPr>
              <a:t>→  整理50组高频同义替换配对（题目原文 vs 录音表达）</a:t>
            </a:r>
          </a:p>
          <a:p>
            <a:pPr>
              <a:spcBef>
                <a:spcPts val="800"/>
              </a:spcBef>
            </a:pPr>
            <a:r>
              <a:rPr sz="1500">
                <a:solidFill>
                  <a:srgbClr val="FFFFFF"/>
                </a:solidFill>
              </a:rPr>
              <a:t>→  每套真题做完后：对照文本找paraphrasing，建立替换词库</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L07</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笔记技能
&amp; 速记系统</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建立个人化的听力速记符号系统</a:t>
            </a:r>
          </a:p>
          <a:p>
            <a:pPr algn="l">
              <a:spcBef>
                <a:spcPts val="1000"/>
              </a:spcBef>
            </a:pPr>
            <a:r>
              <a:rPr sz="1700">
                <a:solidFill>
                  <a:srgbClr val="1B3A6B"/>
                </a:solidFill>
              </a:rPr>
              <a:t>✦  练习边听边记的双任务协调能力</a:t>
            </a:r>
          </a:p>
          <a:p>
            <a:pPr algn="l">
              <a:spcBef>
                <a:spcPts val="1000"/>
              </a:spcBef>
            </a:pPr>
            <a:r>
              <a:rPr sz="1700">
                <a:solidFill>
                  <a:srgbClr val="1B3A6B"/>
                </a:solidFill>
              </a:rPr>
              <a:t>✦  学会用笔记框架辅助答题（特别是S3/S4）</a:t>
            </a:r>
          </a:p>
          <a:p>
            <a:pPr algn="l">
              <a:spcBef>
                <a:spcPts val="1000"/>
              </a:spcBef>
            </a:pPr>
            <a:r>
              <a:rPr sz="1700">
                <a:solidFill>
                  <a:srgbClr val="1B3A6B"/>
                </a:solidFill>
              </a:rPr>
              <a:t>✦  提高手写速度和准确度</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听力笔记的核心原则</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原则1：记关键词</a:t>
            </a:r>
          </a:p>
          <a:p>
            <a:pPr algn="l">
              <a:spcBef>
                <a:spcPts val="200"/>
              </a:spcBef>
            </a:pPr>
            <a:r>
              <a:rPr sz="1600">
                <a:solidFill>
                  <a:srgbClr val="556580"/>
                </a:solidFill>
              </a:rPr>
              <a:t>    只记名词/数字/形容词，省略冠词/介词/动词be</a:t>
            </a:r>
          </a:p>
          <a:p>
            <a:pPr algn="l">
              <a:spcBef>
                <a:spcPts val="800"/>
              </a:spcBef>
            </a:pPr>
            <a:r>
              <a:rPr sz="1900" b="1">
                <a:solidFill>
                  <a:srgbClr val="1B3A6B"/>
                </a:solidFill>
              </a:rPr>
              <a:t>▶  原则2：记结构</a:t>
            </a:r>
          </a:p>
          <a:p>
            <a:pPr algn="l">
              <a:spcBef>
                <a:spcPts val="200"/>
              </a:spcBef>
            </a:pPr>
            <a:r>
              <a:rPr sz="1600">
                <a:solidFill>
                  <a:srgbClr val="556580"/>
                </a:solidFill>
              </a:rPr>
              <a:t>    用缩进/编号/箭头表示逻辑关系，不写完整句子</a:t>
            </a:r>
          </a:p>
          <a:p>
            <a:pPr algn="l">
              <a:spcBef>
                <a:spcPts val="800"/>
              </a:spcBef>
            </a:pPr>
            <a:r>
              <a:rPr sz="1900" b="1">
                <a:solidFill>
                  <a:srgbClr val="1B3A6B"/>
                </a:solidFill>
              </a:rPr>
              <a:t>▶  原则3：记不确定</a:t>
            </a:r>
          </a:p>
          <a:p>
            <a:pPr algn="l">
              <a:spcBef>
                <a:spcPts val="200"/>
              </a:spcBef>
            </a:pPr>
            <a:r>
              <a:rPr sz="1600">
                <a:solidFill>
                  <a:srgbClr val="556580"/>
                </a:solidFill>
              </a:rPr>
              <a:t>    听不清=留空/写首字母/写音似词，誊写时再核</a:t>
            </a:r>
          </a:p>
          <a:p>
            <a:pPr algn="l">
              <a:spcBef>
                <a:spcPts val="800"/>
              </a:spcBef>
            </a:pPr>
            <a:r>
              <a:rPr sz="1900" b="1">
                <a:solidFill>
                  <a:srgbClr val="1B3A6B"/>
                </a:solidFill>
              </a:rPr>
              <a:t>▶  原则4：向前看</a:t>
            </a:r>
          </a:p>
          <a:p>
            <a:pPr algn="l">
              <a:spcBef>
                <a:spcPts val="200"/>
              </a:spcBef>
            </a:pPr>
            <a:r>
              <a:rPr sz="1600">
                <a:solidFill>
                  <a:srgbClr val="556580"/>
                </a:solidFill>
              </a:rPr>
              <a:t>    不要纠结已经过的答案，立即准备下一题</a:t>
            </a:r>
          </a:p>
          <a:p>
            <a:pPr algn="l">
              <a:spcBef>
                <a:spcPts val="800"/>
              </a:spcBef>
            </a:pPr>
            <a:r>
              <a:rPr sz="1900" b="1">
                <a:solidFill>
                  <a:srgbClr val="1B3A6B"/>
                </a:solidFill>
              </a:rPr>
              <a:t>▶  错误示范</a:t>
            </a:r>
          </a:p>
          <a:p>
            <a:pPr algn="l">
              <a:spcBef>
                <a:spcPts val="200"/>
              </a:spcBef>
            </a:pPr>
            <a:r>
              <a:rPr sz="1600">
                <a:solidFill>
                  <a:srgbClr val="556580"/>
                </a:solidFill>
              </a:rPr>
              <a:t>    ❌ 在笔记本上写完整段落（跟不上速度，必丢后面的答案）</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速记符号对照表</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逻辑与关系符号</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  leads to / causes / results in</a:t>
            </a:r>
          </a:p>
          <a:p>
            <a:pPr algn="l">
              <a:spcBef>
                <a:spcPts val="700"/>
              </a:spcBef>
            </a:pPr>
            <a:r>
              <a:rPr sz="1600">
                <a:solidFill>
                  <a:srgbClr val="1B3A6B"/>
                </a:solidFill>
              </a:rPr>
              <a:t>• ↔  is related to / connected with</a:t>
            </a:r>
          </a:p>
          <a:p>
            <a:pPr algn="l">
              <a:spcBef>
                <a:spcPts val="700"/>
              </a:spcBef>
            </a:pPr>
            <a:r>
              <a:rPr sz="1600">
                <a:solidFill>
                  <a:srgbClr val="1B3A6B"/>
                </a:solidFill>
              </a:rPr>
              <a:t>• ∴  therefore / so / thus</a:t>
            </a:r>
          </a:p>
          <a:p>
            <a:pPr algn="l">
              <a:spcBef>
                <a:spcPts val="700"/>
              </a:spcBef>
            </a:pPr>
            <a:r>
              <a:rPr sz="1600">
                <a:solidFill>
                  <a:srgbClr val="1B3A6B"/>
                </a:solidFill>
              </a:rPr>
              <a:t>• ∵  because / due to / owing to</a:t>
            </a:r>
          </a:p>
          <a:p>
            <a:pPr algn="l">
              <a:spcBef>
                <a:spcPts val="700"/>
              </a:spcBef>
            </a:pPr>
            <a:r>
              <a:rPr sz="1600">
                <a:solidFill>
                  <a:srgbClr val="1B3A6B"/>
                </a:solidFill>
              </a:rPr>
              <a:t>• +  and / also / in addition</a:t>
            </a:r>
          </a:p>
          <a:p>
            <a:pPr algn="l">
              <a:spcBef>
                <a:spcPts val="700"/>
              </a:spcBef>
            </a:pPr>
            <a:r>
              <a:rPr sz="1600">
                <a:solidFill>
                  <a:srgbClr val="1B3A6B"/>
                </a:solidFill>
              </a:rPr>
              <a:t>• ≠  different from / contrast with</a:t>
            </a:r>
          </a:p>
          <a:p>
            <a:pPr algn="l">
              <a:spcBef>
                <a:spcPts val="700"/>
              </a:spcBef>
            </a:pPr>
            <a:r>
              <a:rPr sz="1600">
                <a:solidFill>
                  <a:srgbClr val="1B3A6B"/>
                </a:solidFill>
              </a:rPr>
              <a:t>• ≈  approximately / about / around</a:t>
            </a:r>
          </a:p>
          <a:p>
            <a:pPr algn="l">
              <a:spcBef>
                <a:spcPts val="700"/>
              </a:spcBef>
            </a:pPr>
            <a:r>
              <a:rPr sz="1600">
                <a:solidFill>
                  <a:srgbClr val="1B3A6B"/>
                </a:solidFill>
              </a:rPr>
              <a:t>• ↑↓ increase / decrease</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常用词缩写</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gov't  government</a:t>
            </a:r>
          </a:p>
          <a:p>
            <a:pPr algn="l">
              <a:spcBef>
                <a:spcPts val="700"/>
              </a:spcBef>
            </a:pPr>
            <a:r>
              <a:rPr sz="1600">
                <a:solidFill>
                  <a:srgbClr val="1B3A6B"/>
                </a:solidFill>
              </a:rPr>
              <a:t>• env.   environment</a:t>
            </a:r>
          </a:p>
          <a:p>
            <a:pPr algn="l">
              <a:spcBef>
                <a:spcPts val="700"/>
              </a:spcBef>
            </a:pPr>
            <a:r>
              <a:rPr sz="1600">
                <a:solidFill>
                  <a:srgbClr val="1B3A6B"/>
                </a:solidFill>
              </a:rPr>
              <a:t>• pop.   population</a:t>
            </a:r>
          </a:p>
          <a:p>
            <a:pPr algn="l">
              <a:spcBef>
                <a:spcPts val="700"/>
              </a:spcBef>
            </a:pPr>
            <a:r>
              <a:rPr sz="1600">
                <a:solidFill>
                  <a:srgbClr val="1B3A6B"/>
                </a:solidFill>
              </a:rPr>
              <a:t>• tech.  technology</a:t>
            </a:r>
          </a:p>
          <a:p>
            <a:pPr algn="l">
              <a:spcBef>
                <a:spcPts val="700"/>
              </a:spcBef>
            </a:pPr>
            <a:r>
              <a:rPr sz="1600">
                <a:solidFill>
                  <a:srgbClr val="1B3A6B"/>
                </a:solidFill>
              </a:rPr>
              <a:t>• econ.  economics/economy</a:t>
            </a:r>
          </a:p>
          <a:p>
            <a:pPr algn="l">
              <a:spcBef>
                <a:spcPts val="700"/>
              </a:spcBef>
            </a:pPr>
            <a:r>
              <a:rPr sz="1600">
                <a:solidFill>
                  <a:srgbClr val="1B3A6B"/>
                </a:solidFill>
              </a:rPr>
              <a:t>• info.  information</a:t>
            </a:r>
          </a:p>
          <a:p>
            <a:pPr algn="l">
              <a:spcBef>
                <a:spcPts val="700"/>
              </a:spcBef>
            </a:pPr>
            <a:r>
              <a:rPr sz="1600">
                <a:solidFill>
                  <a:srgbClr val="1B3A6B"/>
                </a:solidFill>
              </a:rPr>
              <a:t>• dept.  department</a:t>
            </a:r>
          </a:p>
          <a:p>
            <a:pPr algn="l">
              <a:spcBef>
                <a:spcPts val="700"/>
              </a:spcBef>
            </a:pPr>
            <a:r>
              <a:rPr sz="1600">
                <a:solidFill>
                  <a:srgbClr val="1B3A6B"/>
                </a:solidFill>
              </a:rPr>
              <a:t>• esp.   especially</a:t>
            </a:r>
          </a:p>
          <a:p>
            <a:pPr algn="l">
              <a:spcBef>
                <a:spcPts val="700"/>
              </a:spcBef>
            </a:pPr>
            <a:r>
              <a:rPr sz="1600">
                <a:solidFill>
                  <a:srgbClr val="1B3A6B"/>
                </a:solidFill>
              </a:rPr>
              <a:t>• eg./ex. for example</a:t>
            </a:r>
          </a:p>
          <a:p>
            <a:pPr algn="l">
              <a:spcBef>
                <a:spcPts val="700"/>
              </a:spcBef>
            </a:pPr>
            <a:r>
              <a:rPr sz="1600">
                <a:solidFill>
                  <a:srgbClr val="1B3A6B"/>
                </a:solidFill>
              </a:rPr>
              <a:t>• ie.    that 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L07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速记不是写得少——是提取关键词+用符号替代长词</a:t>
            </a:r>
          </a:p>
          <a:p>
            <a:pPr>
              <a:spcBef>
                <a:spcPts val="800"/>
              </a:spcBef>
            </a:pPr>
            <a:r>
              <a:rPr sz="1600">
                <a:solidFill>
                  <a:srgbClr val="FFFFFF"/>
                </a:solidFill>
              </a:rPr>
              <a:t>✓  笔记的目的是辅助记忆和追踪结构，不是记录全文</a:t>
            </a:r>
          </a:p>
          <a:p>
            <a:pPr>
              <a:spcBef>
                <a:spcPts val="800"/>
              </a:spcBef>
            </a:pPr>
            <a:r>
              <a:rPr sz="1600">
                <a:solidFill>
                  <a:srgbClr val="FFFFFF"/>
                </a:solidFill>
              </a:rPr>
              <a:t>✓  手写速度慢是深圳学生的痛点——需要每日专项训练</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设计自己的10个核心速记符号，本周内全部形成肌肉记忆</a:t>
            </a:r>
          </a:p>
          <a:p>
            <a:pPr>
              <a:spcBef>
                <a:spcPts val="800"/>
              </a:spcBef>
            </a:pPr>
            <a:r>
              <a:rPr sz="1500">
                <a:solidFill>
                  <a:srgbClr val="FFFFFF"/>
                </a:solidFill>
              </a:rPr>
              <a:t>→  每天5分钟听写练习：听一段录音，只用符号和关键词做笔记</a:t>
            </a:r>
          </a:p>
          <a:p>
            <a:pPr>
              <a:spcBef>
                <a:spcPts val="800"/>
              </a:spcBef>
            </a:pPr>
            <a:r>
              <a:rPr sz="1500">
                <a:solidFill>
                  <a:srgbClr val="FFFFFF"/>
                </a:solidFill>
              </a:rPr>
              <a:t>→  对比笔记与原文，检验信息提取准确率</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L08</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陷阱类型
全解析</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识别并规避雅思听力的6大出题陷阱</a:t>
            </a:r>
          </a:p>
          <a:p>
            <a:pPr algn="l">
              <a:spcBef>
                <a:spcPts val="1000"/>
              </a:spcBef>
            </a:pPr>
            <a:r>
              <a:rPr sz="1700">
                <a:solidFill>
                  <a:srgbClr val="1B3A6B"/>
                </a:solidFill>
              </a:rPr>
              <a:t>✦  建立'反陷阱'的听题习惯</a:t>
            </a:r>
          </a:p>
          <a:p>
            <a:pPr algn="l">
              <a:spcBef>
                <a:spcPts val="1000"/>
              </a:spcBef>
            </a:pPr>
            <a:r>
              <a:rPr sz="1700">
                <a:solidFill>
                  <a:srgbClr val="1B3A6B"/>
                </a:solidFill>
              </a:rPr>
              <a:t>✦  分析真题错题，找出个人陷阱敏感区</a:t>
            </a:r>
          </a:p>
          <a:p>
            <a:pPr algn="l">
              <a:spcBef>
                <a:spcPts val="1000"/>
              </a:spcBef>
            </a:pPr>
            <a:r>
              <a:rPr sz="1700">
                <a:solidFill>
                  <a:srgbClr val="1B3A6B"/>
                </a:solidFill>
              </a:rPr>
              <a:t>✦  通过模式识别提高抗干扰能力</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六大听力陷阱详解</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陷阱1：更正/修改</a:t>
            </a:r>
          </a:p>
          <a:p>
            <a:pPr algn="l">
              <a:spcBef>
                <a:spcPts val="200"/>
              </a:spcBef>
            </a:pPr>
            <a:r>
              <a:rPr sz="1600">
                <a:solidFill>
                  <a:srgbClr val="556580"/>
                </a:solidFill>
              </a:rPr>
              <a:t>    先说A再改成B——答案是B（'Actually, let me correct that...'）</a:t>
            </a:r>
          </a:p>
          <a:p>
            <a:pPr algn="l">
              <a:spcBef>
                <a:spcPts val="800"/>
              </a:spcBef>
            </a:pPr>
            <a:r>
              <a:rPr sz="1900" b="1">
                <a:solidFill>
                  <a:srgbClr val="1B3A6B"/>
                </a:solidFill>
              </a:rPr>
              <a:t>▶  陷阱2：否定式</a:t>
            </a:r>
          </a:p>
          <a:p>
            <a:pPr algn="l">
              <a:spcBef>
                <a:spcPts val="200"/>
              </a:spcBef>
            </a:pPr>
            <a:r>
              <a:rPr sz="1600">
                <a:solidFill>
                  <a:srgbClr val="556580"/>
                </a:solidFill>
              </a:rPr>
              <a:t>    'The meeting is NOT on Monday'——考生常写Monday</a:t>
            </a:r>
          </a:p>
          <a:p>
            <a:pPr algn="l">
              <a:spcBef>
                <a:spcPts val="800"/>
              </a:spcBef>
            </a:pPr>
            <a:r>
              <a:rPr sz="1900" b="1">
                <a:solidFill>
                  <a:srgbClr val="1B3A6B"/>
                </a:solidFill>
              </a:rPr>
              <a:t>▶  陷阱3：同音/近音</a:t>
            </a:r>
          </a:p>
          <a:p>
            <a:pPr algn="l">
              <a:spcBef>
                <a:spcPts val="200"/>
              </a:spcBef>
            </a:pPr>
            <a:r>
              <a:rPr sz="1600">
                <a:solidFill>
                  <a:srgbClr val="556580"/>
                </a:solidFill>
              </a:rPr>
              <a:t>    fifteen vs fifty / desert vs dessert / affect vs effect</a:t>
            </a:r>
          </a:p>
          <a:p>
            <a:pPr algn="l">
              <a:spcBef>
                <a:spcPts val="800"/>
              </a:spcBef>
            </a:pPr>
            <a:r>
              <a:rPr sz="1900" b="1">
                <a:solidFill>
                  <a:srgbClr val="1B3A6B"/>
                </a:solidFill>
              </a:rPr>
              <a:t>▶  陷阱4：干扰选项</a:t>
            </a:r>
          </a:p>
          <a:p>
            <a:pPr algn="l">
              <a:spcBef>
                <a:spcPts val="200"/>
              </a:spcBef>
            </a:pPr>
            <a:r>
              <a:rPr sz="1600">
                <a:solidFill>
                  <a:srgbClr val="556580"/>
                </a:solidFill>
              </a:rPr>
              <a:t>    选择题中提到某个关键词但不是正确答案（语义陷阱）</a:t>
            </a:r>
          </a:p>
          <a:p>
            <a:pPr algn="l">
              <a:spcBef>
                <a:spcPts val="800"/>
              </a:spcBef>
            </a:pPr>
            <a:r>
              <a:rPr sz="1900" b="1">
                <a:solidFill>
                  <a:srgbClr val="1B3A6B"/>
                </a:solidFill>
              </a:rPr>
              <a:t>▶  陷阱5：顺序打乱</a:t>
            </a:r>
          </a:p>
          <a:p>
            <a:pPr algn="l">
              <a:spcBef>
                <a:spcPts val="200"/>
              </a:spcBef>
            </a:pPr>
            <a:r>
              <a:rPr sz="1600">
                <a:solidFill>
                  <a:srgbClr val="556580"/>
                </a:solidFill>
              </a:rPr>
              <a:t>    答案不按题目顺序出现（地图题尤其如此）</a:t>
            </a:r>
          </a:p>
          <a:p>
            <a:pPr algn="l">
              <a:spcBef>
                <a:spcPts val="800"/>
              </a:spcBef>
            </a:pPr>
            <a:r>
              <a:rPr sz="1900" b="1">
                <a:solidFill>
                  <a:srgbClr val="1B3A6B"/>
                </a:solidFill>
              </a:rPr>
              <a:t>▶  陷阱6：限词违反</a:t>
            </a:r>
          </a:p>
          <a:p>
            <a:pPr algn="l">
              <a:spcBef>
                <a:spcPts val="200"/>
              </a:spcBef>
            </a:pPr>
            <a:r>
              <a:rPr sz="1600">
                <a:solidFill>
                  <a:srgbClr val="556580"/>
                </a:solidFill>
              </a:rPr>
              <a:t>    'NO MORE THAN TWO WORDS'但写了3个词——直接0分</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深圳学生注意：陷阱1（更正）是最常见也最容易规避的，只要养成'等录音说完整句'的习惯就能避免。</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更正陷阱 vs 否定陷阱</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更正陷阱 Correction Trap</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触发词：actually / sorry / I mean / let me correct that / wait, no</a:t>
            </a:r>
          </a:p>
          <a:p>
            <a:pPr algn="l">
              <a:spcBef>
                <a:spcPts val="700"/>
              </a:spcBef>
            </a:pPr>
            <a:r>
              <a:rPr sz="1600">
                <a:solidFill>
                  <a:srgbClr val="1B3A6B"/>
                </a:solidFill>
              </a:rPr>
              <a:t>• 场景：A says 8 → 'Sorry, I meant 18'</a:t>
            </a:r>
          </a:p>
          <a:p>
            <a:pPr algn="l">
              <a:spcBef>
                <a:spcPts val="700"/>
              </a:spcBef>
            </a:pPr>
            <a:r>
              <a:rPr sz="1600">
                <a:solidFill>
                  <a:srgbClr val="1B3A6B"/>
                </a:solidFill>
              </a:rPr>
              <a:t>• 正确答案：18（后说的）</a:t>
            </a:r>
          </a:p>
          <a:p>
            <a:pPr algn="l">
              <a:spcBef>
                <a:spcPts val="700"/>
              </a:spcBef>
            </a:pPr>
            <a:r>
              <a:rPr sz="1600">
                <a:solidFill>
                  <a:srgbClr val="1B3A6B"/>
                </a:solidFill>
              </a:rPr>
              <a:t>• 解法：听到更正词立即划掉之前写的</a:t>
            </a:r>
          </a:p>
          <a:p>
            <a:pPr algn="l">
              <a:spcBef>
                <a:spcPts val="700"/>
              </a:spcBef>
            </a:pPr>
            <a:r>
              <a:rPr sz="1600">
                <a:solidFill>
                  <a:srgbClr val="1B3A6B"/>
                </a:solidFill>
              </a:rPr>
              <a:t>• 练习：剑桥15真题中共有14处更正陷阱</a:t>
            </a:r>
          </a:p>
          <a:p>
            <a:pPr algn="l">
              <a:spcBef>
                <a:spcPts val="700"/>
              </a:spcBef>
            </a:pPr>
            <a:r>
              <a:rPr sz="1600">
                <a:solidFill>
                  <a:srgbClr val="1B3A6B"/>
                </a:solidFill>
              </a:rPr>
              <a:t>• 记忆口诀：先说不算，后说才算</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否定陷阱 Negation Trap</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触发词：not / never / no / neither / without / hardly</a:t>
            </a:r>
          </a:p>
          <a:p>
            <a:pPr algn="l">
              <a:spcBef>
                <a:spcPts val="700"/>
              </a:spcBef>
            </a:pPr>
            <a:r>
              <a:rPr sz="1600">
                <a:solidFill>
                  <a:srgbClr val="1B3A6B"/>
                </a:solidFill>
              </a:rPr>
              <a:t>• 场景：'The room is not available on Tuesday'</a:t>
            </a:r>
          </a:p>
          <a:p>
            <a:pPr algn="l">
              <a:spcBef>
                <a:spcPts val="700"/>
              </a:spcBef>
            </a:pPr>
            <a:r>
              <a:rPr sz="1600">
                <a:solidFill>
                  <a:srgbClr val="1B3A6B"/>
                </a:solidFill>
              </a:rPr>
              <a:t>• 考生错答：Tuesday（漏听not）</a:t>
            </a:r>
          </a:p>
          <a:p>
            <a:pPr algn="l">
              <a:spcBef>
                <a:spcPts val="700"/>
              </a:spcBef>
            </a:pPr>
            <a:r>
              <a:rPr sz="1600">
                <a:solidFill>
                  <a:srgbClr val="1B3A6B"/>
                </a:solidFill>
              </a:rPr>
              <a:t>• 正确答案：该日不可用，题目问available date则另选</a:t>
            </a:r>
          </a:p>
          <a:p>
            <a:pPr algn="l">
              <a:spcBef>
                <a:spcPts val="700"/>
              </a:spcBef>
            </a:pPr>
            <a:r>
              <a:rPr sz="1600">
                <a:solidFill>
                  <a:srgbClr val="1B3A6B"/>
                </a:solidFill>
              </a:rPr>
              <a:t>• 解法：提前圈出题目中的否定词，预判录音中也会有</a:t>
            </a:r>
          </a:p>
          <a:p>
            <a:pPr algn="l">
              <a:spcBef>
                <a:spcPts val="700"/>
              </a:spcBef>
            </a:pPr>
            <a:r>
              <a:rPr sz="1600">
                <a:solidFill>
                  <a:srgbClr val="1B3A6B"/>
                </a:solidFill>
              </a:rPr>
              <a:t>• 记忆口诀：听到not/never，答案反转</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综合陷阱练习</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题目：The centre is open every day EXCEPT __________.
录音：'We're open seven days a week — well, actually six, because we close on Sundays. Oh wait, I should mention we're also closed on public holidays, but those aren't every week.'
陷阱分析：
① 先说seven days（干扰）→ 更正为six
② 'closed on Sundays' → 答案应是Sunday
③ 'public holidays'是额外信息，题目只问'every day EXCEPT'</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答案：Sunday（注意：public holidays不是每周固定，不符合'except'的含义）</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先排除干扰，再验证答案是否完整回答了题目的问题</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L08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六大陷阱：更正&gt;否定&gt;同音&gt;干扰&gt;顺序&gt;限词，按频率记忆</a:t>
            </a:r>
          </a:p>
          <a:p>
            <a:pPr>
              <a:spcBef>
                <a:spcPts val="800"/>
              </a:spcBef>
            </a:pPr>
            <a:r>
              <a:rPr sz="1600">
                <a:solidFill>
                  <a:srgbClr val="FFFFFF"/>
                </a:solidFill>
              </a:rPr>
              <a:t>✓  更正陷阱：听到'actually/sorry'立即划掉之前答案</a:t>
            </a:r>
          </a:p>
          <a:p>
            <a:pPr>
              <a:spcBef>
                <a:spcPts val="800"/>
              </a:spcBef>
            </a:pPr>
            <a:r>
              <a:rPr sz="1600">
                <a:solidFill>
                  <a:srgbClr val="FFFFFF"/>
                </a:solidFill>
              </a:rPr>
              <a:t>✓  限词陷阱：誊写前必须再看一次字数限制</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用红笔在真题上标出所有陷阱类型，统计个人被哪类陷阱抓最多</a:t>
            </a:r>
          </a:p>
          <a:p>
            <a:pPr>
              <a:spcBef>
                <a:spcPts val="800"/>
              </a:spcBef>
            </a:pPr>
            <a:r>
              <a:rPr sz="1500">
                <a:solidFill>
                  <a:srgbClr val="FFFFFF"/>
                </a:solidFill>
              </a:rPr>
              <a:t>→  做'只找陷阱'专项练习：带着找陷阱的目的做一套S1+S2</a:t>
            </a:r>
          </a:p>
          <a:p>
            <a:pPr>
              <a:spcBef>
                <a:spcPts val="800"/>
              </a:spcBef>
            </a:pPr>
            <a:r>
              <a:rPr sz="1500">
                <a:solidFill>
                  <a:srgbClr val="FFFFFF"/>
                </a:solidFill>
              </a:rPr>
              <a:t>→  将错题分类整理，分析自己的陷阱敏感词</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L09</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口音识别
&amp; 速度适应</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识别英式、澳式、美式口音的主要发音差异</a:t>
            </a:r>
          </a:p>
          <a:p>
            <a:pPr algn="l">
              <a:spcBef>
                <a:spcPts val="1000"/>
              </a:spcBef>
            </a:pPr>
            <a:r>
              <a:rPr sz="1700">
                <a:solidFill>
                  <a:srgbClr val="1B3A6B"/>
                </a:solidFill>
              </a:rPr>
              <a:t>✦  训练对不同语速的听力适应能力</a:t>
            </a:r>
          </a:p>
          <a:p>
            <a:pPr algn="l">
              <a:spcBef>
                <a:spcPts val="1000"/>
              </a:spcBef>
            </a:pPr>
            <a:r>
              <a:rPr sz="1700">
                <a:solidFill>
                  <a:srgbClr val="1B3A6B"/>
                </a:solidFill>
              </a:rPr>
              <a:t>✦  掌握连读、弱读、省音等自然语流特征</a:t>
            </a:r>
          </a:p>
          <a:p>
            <a:pPr algn="l">
              <a:spcBef>
                <a:spcPts val="1000"/>
              </a:spcBef>
            </a:pPr>
            <a:r>
              <a:rPr sz="1700">
                <a:solidFill>
                  <a:srgbClr val="1B3A6B"/>
                </a:solidFill>
              </a:rPr>
              <a:t>✦  提高实际考试中的口音适应速度</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雅思主要口音特征</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英式英语 RP</a:t>
            </a:r>
          </a:p>
          <a:p>
            <a:pPr algn="l">
              <a:spcBef>
                <a:spcPts val="200"/>
              </a:spcBef>
            </a:pPr>
            <a:r>
              <a:rPr sz="1600">
                <a:solidFill>
                  <a:srgbClr val="556580"/>
                </a:solidFill>
              </a:rPr>
              <a:t>    不卷舌r（car=caa）；bath/can't中a发[ɑː]；'can't'听起来像'kaant'</a:t>
            </a:r>
          </a:p>
          <a:p>
            <a:pPr algn="l">
              <a:spcBef>
                <a:spcPts val="800"/>
              </a:spcBef>
            </a:pPr>
            <a:r>
              <a:rPr sz="1900" b="1">
                <a:solidFill>
                  <a:srgbClr val="1B3A6B"/>
                </a:solidFill>
              </a:rPr>
              <a:t>▶  澳式英语</a:t>
            </a:r>
          </a:p>
          <a:p>
            <a:pPr algn="l">
              <a:spcBef>
                <a:spcPts val="200"/>
              </a:spcBef>
            </a:pPr>
            <a:r>
              <a:rPr sz="1600">
                <a:solidFill>
                  <a:srgbClr val="556580"/>
                </a:solidFill>
              </a:rPr>
              <a:t>    day/mate中ay发近似[æɪ]；today='te-dye'；'no'近似'noy'</a:t>
            </a:r>
          </a:p>
          <a:p>
            <a:pPr algn="l">
              <a:spcBef>
                <a:spcPts val="800"/>
              </a:spcBef>
            </a:pPr>
            <a:r>
              <a:rPr sz="1900" b="1">
                <a:solidFill>
                  <a:srgbClr val="1B3A6B"/>
                </a:solidFill>
              </a:rPr>
              <a:t>▶  常见混淆词</a:t>
            </a:r>
          </a:p>
          <a:p>
            <a:pPr algn="l">
              <a:spcBef>
                <a:spcPts val="200"/>
              </a:spcBef>
            </a:pPr>
            <a:r>
              <a:rPr sz="1600">
                <a:solidFill>
                  <a:srgbClr val="556580"/>
                </a:solidFill>
              </a:rPr>
              <a:t>    英式thirteen vs 澳式thirteen——澳式t不送气，听起来像'dirteen'</a:t>
            </a:r>
          </a:p>
          <a:p>
            <a:pPr algn="l">
              <a:spcBef>
                <a:spcPts val="800"/>
              </a:spcBef>
            </a:pPr>
            <a:r>
              <a:rPr sz="1900" b="1">
                <a:solidFill>
                  <a:srgbClr val="1B3A6B"/>
                </a:solidFill>
              </a:rPr>
              <a:t>▶  美式英语</a:t>
            </a:r>
          </a:p>
          <a:p>
            <a:pPr algn="l">
              <a:spcBef>
                <a:spcPts val="200"/>
              </a:spcBef>
            </a:pPr>
            <a:r>
              <a:rPr sz="1600">
                <a:solidFill>
                  <a:srgbClr val="556580"/>
                </a:solidFill>
              </a:rPr>
              <a:t>    雅思偶尔出现；r强卷舌；water='wader'；butter='budder'</a:t>
            </a:r>
          </a:p>
          <a:p>
            <a:pPr algn="l">
              <a:spcBef>
                <a:spcPts val="800"/>
              </a:spcBef>
            </a:pPr>
            <a:r>
              <a:rPr sz="1900" b="1">
                <a:solidFill>
                  <a:srgbClr val="1B3A6B"/>
                </a:solidFill>
              </a:rPr>
              <a:t>▶  核心策略</a:t>
            </a:r>
          </a:p>
          <a:p>
            <a:pPr algn="l">
              <a:spcBef>
                <a:spcPts val="200"/>
              </a:spcBef>
            </a:pPr>
            <a:r>
              <a:rPr sz="1600">
                <a:solidFill>
                  <a:srgbClr val="556580"/>
                </a:solidFill>
              </a:rPr>
              <a:t>    不要背口音特征——大量泛听各类口音，靠熟悉度适应</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深圳学生注意：深圳学生普遍只听过美式发音（学校教材多为美音），遇到澳式口音第一反应：'这是英语吗？'</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自然语流特征（连读/弱读/省音）</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连读 Linking</a:t>
            </a:r>
          </a:p>
          <a:p>
            <a:pPr algn="l">
              <a:spcBef>
                <a:spcPts val="200"/>
              </a:spcBef>
            </a:pPr>
            <a:r>
              <a:rPr sz="1600">
                <a:solidFill>
                  <a:srgbClr val="556580"/>
                </a:solidFill>
              </a:rPr>
              <a:t>    'an apple'→'a-napple'; 'come on'→'comon'; 'next to'→'nexto'</a:t>
            </a:r>
          </a:p>
          <a:p>
            <a:pPr algn="l">
              <a:spcBef>
                <a:spcPts val="800"/>
              </a:spcBef>
            </a:pPr>
            <a:r>
              <a:rPr sz="1900" b="1">
                <a:solidFill>
                  <a:srgbClr val="1B3A6B"/>
                </a:solidFill>
              </a:rPr>
              <a:t>▶  弱读 Reduction</a:t>
            </a:r>
          </a:p>
          <a:p>
            <a:pPr algn="l">
              <a:spcBef>
                <a:spcPts val="200"/>
              </a:spcBef>
            </a:pPr>
            <a:r>
              <a:rPr sz="1600">
                <a:solidFill>
                  <a:srgbClr val="556580"/>
                </a:solidFill>
              </a:rPr>
              <a:t>    'and'→[ən]; 'can'→[kən]; 'of'→[ə]; 'to'→[tə] ('want to'→'wanna')</a:t>
            </a:r>
          </a:p>
          <a:p>
            <a:pPr algn="l">
              <a:spcBef>
                <a:spcPts val="800"/>
              </a:spcBef>
            </a:pPr>
            <a:r>
              <a:rPr sz="1900" b="1">
                <a:solidFill>
                  <a:srgbClr val="1B3A6B"/>
                </a:solidFill>
              </a:rPr>
              <a:t>▶  省音 Elision</a:t>
            </a:r>
          </a:p>
          <a:p>
            <a:pPr algn="l">
              <a:spcBef>
                <a:spcPts val="200"/>
              </a:spcBef>
            </a:pPr>
            <a:r>
              <a:rPr sz="1600">
                <a:solidFill>
                  <a:srgbClr val="556580"/>
                </a:solidFill>
              </a:rPr>
              <a:t>    'last night'→'las night'; 'next day'→'nex day'; 'must be'→'musbe'</a:t>
            </a:r>
          </a:p>
          <a:p>
            <a:pPr algn="l">
              <a:spcBef>
                <a:spcPts val="800"/>
              </a:spcBef>
            </a:pPr>
            <a:r>
              <a:rPr sz="1900" b="1">
                <a:solidFill>
                  <a:srgbClr val="1B3A6B"/>
                </a:solidFill>
              </a:rPr>
              <a:t>▶  爆破不完全</a:t>
            </a:r>
          </a:p>
          <a:p>
            <a:pPr algn="l">
              <a:spcBef>
                <a:spcPts val="200"/>
              </a:spcBef>
            </a:pPr>
            <a:r>
              <a:rPr sz="1600">
                <a:solidFill>
                  <a:srgbClr val="556580"/>
                </a:solidFill>
              </a:rPr>
              <a:t>    'good morning'→'goo morning'（d不完整发音）</a:t>
            </a:r>
          </a:p>
          <a:p>
            <a:pPr algn="l">
              <a:spcBef>
                <a:spcPts val="800"/>
              </a:spcBef>
            </a:pPr>
            <a:r>
              <a:rPr sz="1900" b="1">
                <a:solidFill>
                  <a:srgbClr val="1B3A6B"/>
                </a:solidFill>
              </a:rPr>
              <a:t>▶  练习方法</a:t>
            </a:r>
          </a:p>
          <a:p>
            <a:pPr algn="l">
              <a:spcBef>
                <a:spcPts val="200"/>
              </a:spcBef>
            </a:pPr>
            <a:r>
              <a:rPr sz="1600">
                <a:solidFill>
                  <a:srgbClr val="556580"/>
                </a:solidFill>
              </a:rPr>
              <a:t>    听录音原文→找连读位置→跟读模仿→再听验证</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L09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口音适应靠量——每天接触多种口音，不靠背发音规则</a:t>
            </a:r>
          </a:p>
          <a:p>
            <a:pPr>
              <a:spcBef>
                <a:spcPts val="800"/>
              </a:spcBef>
            </a:pPr>
            <a:r>
              <a:rPr sz="1600">
                <a:solidFill>
                  <a:srgbClr val="FFFFFF"/>
                </a:solidFill>
              </a:rPr>
              <a:t>✓  连读/弱读是真正让人听不懂的原因，不是词汇量问题</a:t>
            </a:r>
          </a:p>
          <a:p>
            <a:pPr>
              <a:spcBef>
                <a:spcPts val="800"/>
              </a:spcBef>
            </a:pPr>
            <a:r>
              <a:rPr sz="1600">
                <a:solidFill>
                  <a:srgbClr val="FFFFFF"/>
                </a:solidFill>
              </a:rPr>
              <a:t>✓  雅思录音以英式/澳式为主，需刻意训练这两种口音的适应</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每天听20分钟澳大利亚ABC News（澳式）+ BBC Radio（英式）</a:t>
            </a:r>
          </a:p>
          <a:p>
            <a:pPr>
              <a:spcBef>
                <a:spcPts val="800"/>
              </a:spcBef>
            </a:pPr>
            <a:r>
              <a:rPr sz="1500">
                <a:solidFill>
                  <a:srgbClr val="FFFFFF"/>
                </a:solidFill>
              </a:rPr>
              <a:t>→  找3段含大量连读的录音，标注所有连读位置后跟读</a:t>
            </a:r>
          </a:p>
          <a:p>
            <a:pPr>
              <a:spcBef>
                <a:spcPts val="800"/>
              </a:spcBef>
            </a:pPr>
            <a:r>
              <a:rPr sz="1500">
                <a:solidFill>
                  <a:srgbClr val="FFFFFF"/>
                </a:solidFill>
              </a:rPr>
              <a:t>→  完成一套剑桥真题，记录因口音导致的错题</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L10</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全真模考
&amp; 系统复盘</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完成一套完整雅思听力模拟考试（严格计时）</a:t>
            </a:r>
          </a:p>
          <a:p>
            <a:pPr algn="l">
              <a:spcBef>
                <a:spcPts val="1000"/>
              </a:spcBef>
            </a:pPr>
            <a:r>
              <a:rPr sz="1700">
                <a:solidFill>
                  <a:srgbClr val="1B3A6B"/>
                </a:solidFill>
              </a:rPr>
              <a:t>✦  建立系统化的错题分析方法</a:t>
            </a:r>
          </a:p>
          <a:p>
            <a:pPr algn="l">
              <a:spcBef>
                <a:spcPts val="1000"/>
              </a:spcBef>
            </a:pPr>
            <a:r>
              <a:rPr sz="1700">
                <a:solidFill>
                  <a:srgbClr val="1B3A6B"/>
                </a:solidFill>
              </a:rPr>
              <a:t>✦  制定考前一周的冲刺计划</a:t>
            </a:r>
          </a:p>
          <a:p>
            <a:pPr algn="l">
              <a:spcBef>
                <a:spcPts val="1000"/>
              </a:spcBef>
            </a:pPr>
            <a:r>
              <a:rPr sz="1700">
                <a:solidFill>
                  <a:srgbClr val="1B3A6B"/>
                </a:solidFill>
              </a:rPr>
              <a:t>✦  心理建设：考场应对与节奏控制</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考前一周冲刺计划</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D-7</a:t>
            </a:r>
          </a:p>
          <a:p>
            <a:pPr algn="l">
              <a:spcBef>
                <a:spcPts val="200"/>
              </a:spcBef>
            </a:pPr>
            <a:r>
              <a:rPr sz="1600">
                <a:solidFill>
                  <a:srgbClr val="556580"/>
                </a:solidFill>
              </a:rPr>
              <a:t>    完成1套完整模拟卷（含S1-S4），严格计时，误差不超过30秒</a:t>
            </a:r>
          </a:p>
          <a:p>
            <a:pPr algn="l">
              <a:spcBef>
                <a:spcPts val="800"/>
              </a:spcBef>
            </a:pPr>
            <a:r>
              <a:rPr sz="1900" b="1">
                <a:solidFill>
                  <a:srgbClr val="1B3A6B"/>
                </a:solidFill>
              </a:rPr>
              <a:t>▶  D-6</a:t>
            </a:r>
          </a:p>
          <a:p>
            <a:pPr algn="l">
              <a:spcBef>
                <a:spcPts val="200"/>
              </a:spcBef>
            </a:pPr>
            <a:r>
              <a:rPr sz="1600">
                <a:solidFill>
                  <a:srgbClr val="556580"/>
                </a:solidFill>
              </a:rPr>
              <a:t>    精析错题：每道错题标注陷阱类型，重听3遍确认失分原因</a:t>
            </a:r>
          </a:p>
          <a:p>
            <a:pPr algn="l">
              <a:spcBef>
                <a:spcPts val="800"/>
              </a:spcBef>
            </a:pPr>
            <a:r>
              <a:rPr sz="1900" b="1">
                <a:solidFill>
                  <a:srgbClr val="1B3A6B"/>
                </a:solidFill>
              </a:rPr>
              <a:t>▶  D-5</a:t>
            </a:r>
          </a:p>
          <a:p>
            <a:pPr algn="l">
              <a:spcBef>
                <a:spcPts val="200"/>
              </a:spcBef>
            </a:pPr>
            <a:r>
              <a:rPr sz="1600">
                <a:solidFill>
                  <a:srgbClr val="556580"/>
                </a:solidFill>
              </a:rPr>
              <a:t>    专项训练弱项Section（通常是S3/S4），各做3套</a:t>
            </a:r>
          </a:p>
          <a:p>
            <a:pPr algn="l">
              <a:spcBef>
                <a:spcPts val="800"/>
              </a:spcBef>
            </a:pPr>
            <a:r>
              <a:rPr sz="1900" b="1">
                <a:solidFill>
                  <a:srgbClr val="1B3A6B"/>
                </a:solidFill>
              </a:rPr>
              <a:t>▶  D-4</a:t>
            </a:r>
          </a:p>
          <a:p>
            <a:pPr algn="l">
              <a:spcBef>
                <a:spcPts val="200"/>
              </a:spcBef>
            </a:pPr>
            <a:r>
              <a:rPr sz="1600">
                <a:solidFill>
                  <a:srgbClr val="556580"/>
                </a:solidFill>
              </a:rPr>
              <a:t>    拼写词复习：高频词100个过一遍，拼写练习20个</a:t>
            </a:r>
          </a:p>
          <a:p>
            <a:pPr algn="l">
              <a:spcBef>
                <a:spcPts val="800"/>
              </a:spcBef>
            </a:pPr>
            <a:r>
              <a:rPr sz="1900" b="1">
                <a:solidFill>
                  <a:srgbClr val="1B3A6B"/>
                </a:solidFill>
              </a:rPr>
              <a:t>▶  D-3</a:t>
            </a:r>
          </a:p>
          <a:p>
            <a:pPr algn="l">
              <a:spcBef>
                <a:spcPts val="200"/>
              </a:spcBef>
            </a:pPr>
            <a:r>
              <a:rPr sz="1600">
                <a:solidFill>
                  <a:srgbClr val="556580"/>
                </a:solidFill>
              </a:rPr>
              <a:t>    轻量模拟：只做S1+S2，保持状态，避免过度练习</a:t>
            </a:r>
          </a:p>
          <a:p>
            <a:pPr algn="l">
              <a:spcBef>
                <a:spcPts val="800"/>
              </a:spcBef>
            </a:pPr>
            <a:r>
              <a:rPr sz="1900" b="1">
                <a:solidFill>
                  <a:srgbClr val="1B3A6B"/>
                </a:solidFill>
              </a:rPr>
              <a:t>▶  D-2</a:t>
            </a:r>
          </a:p>
          <a:p>
            <a:pPr algn="l">
              <a:spcBef>
                <a:spcPts val="200"/>
              </a:spcBef>
            </a:pPr>
            <a:r>
              <a:rPr sz="1600">
                <a:solidFill>
                  <a:srgbClr val="556580"/>
                </a:solidFill>
              </a:rPr>
              <a:t>    听音乐放松，准备考试物品，不做新题</a:t>
            </a:r>
          </a:p>
          <a:p>
            <a:pPr algn="l">
              <a:spcBef>
                <a:spcPts val="800"/>
              </a:spcBef>
            </a:pPr>
            <a:r>
              <a:rPr sz="1900" b="1">
                <a:solidFill>
                  <a:srgbClr val="1B3A6B"/>
                </a:solidFill>
              </a:rPr>
              <a:t>▶  D-1</a:t>
            </a:r>
          </a:p>
          <a:p>
            <a:pPr algn="l">
              <a:spcBef>
                <a:spcPts val="200"/>
              </a:spcBef>
            </a:pPr>
            <a:r>
              <a:rPr sz="1600">
                <a:solidFill>
                  <a:srgbClr val="556580"/>
                </a:solidFill>
              </a:rPr>
              <a:t>    早睡，听30分钟轻松英语广播，不刷新题</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考场策略与心理建设</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提前30分钟</a:t>
            </a:r>
          </a:p>
          <a:p>
            <a:pPr algn="l">
              <a:spcBef>
                <a:spcPts val="200"/>
              </a:spcBef>
            </a:pPr>
            <a:r>
              <a:rPr sz="1600">
                <a:solidFill>
                  <a:srgbClr val="556580"/>
                </a:solidFill>
              </a:rPr>
              <a:t>    到达考场，熟悉环境，调整座位让耳机舒适</a:t>
            </a:r>
          </a:p>
          <a:p>
            <a:pPr algn="l">
              <a:spcBef>
                <a:spcPts val="800"/>
              </a:spcBef>
            </a:pPr>
            <a:r>
              <a:rPr sz="1900" b="1">
                <a:solidFill>
                  <a:srgbClr val="1B3A6B"/>
                </a:solidFill>
              </a:rPr>
              <a:t>▶  预读优先</a:t>
            </a:r>
          </a:p>
          <a:p>
            <a:pPr algn="l">
              <a:spcBef>
                <a:spcPts val="200"/>
              </a:spcBef>
            </a:pPr>
            <a:r>
              <a:rPr sz="1600">
                <a:solidFill>
                  <a:srgbClr val="556580"/>
                </a:solidFill>
              </a:rPr>
              <a:t>    每段录音前必须利用时间预读，哪怕只有20秒</a:t>
            </a:r>
          </a:p>
          <a:p>
            <a:pPr algn="l">
              <a:spcBef>
                <a:spcPts val="800"/>
              </a:spcBef>
            </a:pPr>
            <a:r>
              <a:rPr sz="1900" b="1">
                <a:solidFill>
                  <a:srgbClr val="1B3A6B"/>
                </a:solidFill>
              </a:rPr>
              <a:t>▶  跟丢怎么办</a:t>
            </a:r>
          </a:p>
          <a:p>
            <a:pPr algn="l">
              <a:spcBef>
                <a:spcPts val="200"/>
              </a:spcBef>
            </a:pPr>
            <a:r>
              <a:rPr sz="1600">
                <a:solidFill>
                  <a:srgbClr val="556580"/>
                </a:solidFill>
              </a:rPr>
              <a:t>    立即放弃已过的题，用题号找到下一个锚点继续</a:t>
            </a:r>
          </a:p>
          <a:p>
            <a:pPr algn="l">
              <a:spcBef>
                <a:spcPts val="800"/>
              </a:spcBef>
            </a:pPr>
            <a:r>
              <a:rPr sz="1900" b="1">
                <a:solidFill>
                  <a:srgbClr val="1B3A6B"/>
                </a:solidFill>
              </a:rPr>
              <a:t>▶  卡壳怎么办</a:t>
            </a:r>
          </a:p>
          <a:p>
            <a:pPr algn="l">
              <a:spcBef>
                <a:spcPts val="200"/>
              </a:spcBef>
            </a:pPr>
            <a:r>
              <a:rPr sz="1600">
                <a:solidFill>
                  <a:srgbClr val="556580"/>
                </a:solidFill>
              </a:rPr>
              <a:t>    填写最可能的答案，不要留空——猜1/4概率也比0高</a:t>
            </a:r>
          </a:p>
          <a:p>
            <a:pPr algn="l">
              <a:spcBef>
                <a:spcPts val="800"/>
              </a:spcBef>
            </a:pPr>
            <a:r>
              <a:rPr sz="1900" b="1">
                <a:solidFill>
                  <a:srgbClr val="1B3A6B"/>
                </a:solidFill>
              </a:rPr>
              <a:t>▶  誊写技巧</a:t>
            </a:r>
          </a:p>
          <a:p>
            <a:pPr algn="l">
              <a:spcBef>
                <a:spcPts val="200"/>
              </a:spcBef>
            </a:pPr>
            <a:r>
              <a:rPr sz="1600">
                <a:solidFill>
                  <a:srgbClr val="556580"/>
                </a:solidFill>
              </a:rPr>
              <a:t>    纸笔考：最后10分钟誊写，检查拼写大小写复数</a:t>
            </a:r>
          </a:p>
          <a:p>
            <a:pPr algn="l">
              <a:spcBef>
                <a:spcPts val="800"/>
              </a:spcBef>
            </a:pPr>
            <a:r>
              <a:rPr sz="1900" b="1">
                <a:solidFill>
                  <a:srgbClr val="1B3A6B"/>
                </a:solidFill>
              </a:rPr>
              <a:t>▶  机考差异</a:t>
            </a:r>
          </a:p>
          <a:p>
            <a:pPr algn="l">
              <a:spcBef>
                <a:spcPts val="200"/>
              </a:spcBef>
            </a:pPr>
            <a:r>
              <a:rPr sz="1600">
                <a:solidFill>
                  <a:srgbClr val="556580"/>
                </a:solidFill>
              </a:rPr>
              <a:t>    机考边听边输入，无誊写时间；提前练习键盘输入速度</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L10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模考要严格计时，不允许暂停——真实考试没有暂停键</a:t>
            </a:r>
          </a:p>
          <a:p>
            <a:pPr>
              <a:spcBef>
                <a:spcPts val="800"/>
              </a:spcBef>
            </a:pPr>
            <a:r>
              <a:rPr sz="1600">
                <a:solidFill>
                  <a:srgbClr val="FFFFFF"/>
                </a:solidFill>
              </a:rPr>
              <a:t>✓  错题分析比做更多题更重要——找到模式，不重复犯错</a:t>
            </a:r>
          </a:p>
          <a:p>
            <a:pPr>
              <a:spcBef>
                <a:spcPts val="800"/>
              </a:spcBef>
            </a:pPr>
            <a:r>
              <a:rPr sz="1600">
                <a:solidFill>
                  <a:srgbClr val="FFFFFF"/>
                </a:solidFill>
              </a:rPr>
              <a:t>✓  考场心态：跟丢了放弃，不要恐慌——保住能拿到的分</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本周完成2套完整模拟卷，目标分数对比第1课诊断结果</a:t>
            </a:r>
          </a:p>
          <a:p>
            <a:pPr>
              <a:spcBef>
                <a:spcPts val="800"/>
              </a:spcBef>
            </a:pPr>
            <a:r>
              <a:rPr sz="1500">
                <a:solidFill>
                  <a:srgbClr val="FFFFFF"/>
                </a:solidFill>
              </a:rPr>
              <a:t>→  制作个人听力错题本（按6大陷阱分类）</a:t>
            </a:r>
          </a:p>
          <a:p>
            <a:pPr>
              <a:spcBef>
                <a:spcPts val="800"/>
              </a:spcBef>
            </a:pPr>
            <a:r>
              <a:rPr sz="1500">
                <a:solidFill>
                  <a:srgbClr val="FFFFFF"/>
                </a:solidFill>
              </a:rPr>
              <a:t>→  考前3天：每天听1小时英语，保持语感，不刷新题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