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515600" cy="2011680"/>
          </a:xfrm>
          <a:prstGeom prst="rect">
            <a:avLst/>
          </a:prstGeom>
          <a:noFill/>
        </p:spPr>
        <p:txBody>
          <a:bodyPr wrap="square">
            <a:spAutoFit/>
          </a:bodyPr>
          <a:lstStyle/>
          <a:p>
            <a:pPr algn="l"/>
            <a:r>
              <a:rPr sz="4400" b="1" i="0">
                <a:solidFill>
                  <a:srgbClr val="FFFFFF"/>
                </a:solidFill>
              </a:rPr>
              <a:t>雅思口语 7分冲刺</a:t>
            </a:r>
          </a:p>
        </p:txBody>
      </p:sp>
      <p:sp>
        <p:nvSpPr>
          <p:cNvPr id="5" name="TextBox 4"/>
          <p:cNvSpPr txBox="1"/>
          <p:nvPr/>
        </p:nvSpPr>
        <p:spPr>
          <a:xfrm>
            <a:off x="640080" y="3657600"/>
            <a:ext cx="9601200" cy="1097280"/>
          </a:xfrm>
          <a:prstGeom prst="rect">
            <a:avLst/>
          </a:prstGeom>
          <a:noFill/>
        </p:spPr>
        <p:txBody>
          <a:bodyPr wrap="square">
            <a:spAutoFit/>
          </a:bodyPr>
          <a:lstStyle/>
          <a:p>
            <a:pPr algn="l"/>
            <a:r>
              <a:rPr sz="2200" b="0" i="0">
                <a:solidFill>
                  <a:srgbClr val="CCDDFF"/>
                </a:solidFill>
              </a:rPr>
              <a:t>IELTS Speaking · 10节课从哑巴英语到7分表达 · 深圳专属版</a:t>
            </a:r>
          </a:p>
        </p:txBody>
      </p:sp>
      <p:sp>
        <p:nvSpPr>
          <p:cNvPr id="6" name="Rectangle 5"/>
          <p:cNvSpPr/>
          <p:nvPr/>
        </p:nvSpPr>
        <p:spPr>
          <a:xfrm>
            <a:off x="640080" y="4937760"/>
            <a:ext cx="3200400" cy="50292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65192"/>
            <a:ext cx="3017520" cy="457200"/>
          </a:xfrm>
          <a:prstGeom prst="rect">
            <a:avLst/>
          </a:prstGeom>
          <a:noFill/>
        </p:spPr>
        <p:txBody>
          <a:bodyPr wrap="square">
            <a:spAutoFit/>
          </a:bodyPr>
          <a:lstStyle/>
          <a:p>
            <a:pPr algn="l"/>
            <a:r>
              <a:rPr sz="1400" b="1" i="0">
                <a:solidFill>
                  <a:srgbClr val="FFFFFF"/>
                </a:solidFill>
              </a:rPr>
              <a:t>MODULE 2 · SPEAKING · L01–L10</a:t>
            </a:r>
          </a:p>
        </p:txBody>
      </p:sp>
      <p:sp>
        <p:nvSpPr>
          <p:cNvPr id="8" name="TextBox 7"/>
          <p:cNvSpPr txBox="1"/>
          <p:nvPr/>
        </p:nvSpPr>
        <p:spPr>
          <a:xfrm>
            <a:off x="640080" y="6126480"/>
            <a:ext cx="10515600" cy="548640"/>
          </a:xfrm>
          <a:prstGeom prst="rect">
            <a:avLst/>
          </a:prstGeom>
          <a:noFill/>
        </p:spPr>
        <p:txBody>
          <a:bodyPr wrap="square">
            <a:spAutoFit/>
          </a:bodyPr>
          <a:lstStyle/>
          <a:p>
            <a:pPr algn="l"/>
            <a:r>
              <a:rPr sz="1300" b="0" i="0">
                <a:solidFill>
                  <a:srgbClr val="E88C00"/>
                </a:solidFill>
              </a:rPr>
              <a:t>专为深圳雅思学员设计 | 40课时完整提分体系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L01</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评分标准
&amp; 现状诊断</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深入理解四大评分维度（FC/LR/GRA/P）</a:t>
            </a:r>
          </a:p>
          <a:p>
            <a:pPr algn="l">
              <a:spcBef>
                <a:spcPts val="1000"/>
              </a:spcBef>
            </a:pPr>
            <a:r>
              <a:rPr sz="1700">
                <a:solidFill>
                  <a:srgbClr val="1B3A6B"/>
                </a:solidFill>
              </a:rPr>
              <a:t>✦  诊断深圳学生口语的典型问题</a:t>
            </a:r>
          </a:p>
          <a:p>
            <a:pPr algn="l">
              <a:spcBef>
                <a:spcPts val="1000"/>
              </a:spcBef>
            </a:pPr>
            <a:r>
              <a:rPr sz="1700">
                <a:solidFill>
                  <a:srgbClr val="1B3A6B"/>
                </a:solidFill>
              </a:rPr>
              <a:t>✦  建立正确的口语学习方法论</a:t>
            </a:r>
          </a:p>
          <a:p>
            <a:pPr algn="l">
              <a:spcBef>
                <a:spcPts val="1000"/>
              </a:spcBef>
            </a:pPr>
            <a:r>
              <a:rPr sz="1700">
                <a:solidFill>
                  <a:srgbClr val="1B3A6B"/>
                </a:solidFill>
              </a:rPr>
              <a:t>✦  了解Part 1/2/3的时间分配与评分权重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四大评分维度详解</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FC 流利度与连贯性 25%</a:t>
            </a:r>
          </a:p>
          <a:p>
            <a:pPr algn="l">
              <a:spcBef>
                <a:spcPts val="200"/>
              </a:spcBef>
            </a:pPr>
            <a:r>
              <a:rPr sz="1600">
                <a:solidFill>
                  <a:srgbClr val="556580"/>
                </a:solidFill>
              </a:rPr>
              <a:t>    语速自然、停顿合理、连接词丰富；最忌：背诵感强、'robot English'</a:t>
            </a:r>
          </a:p>
          <a:p>
            <a:pPr algn="l">
              <a:spcBef>
                <a:spcPts val="800"/>
              </a:spcBef>
            </a:pPr>
            <a:r>
              <a:rPr sz="1900" b="1">
                <a:solidFill>
                  <a:srgbClr val="1B3A6B"/>
                </a:solidFill>
              </a:rPr>
              <a:t>▶  LR 词汇资源 25%</a:t>
            </a:r>
          </a:p>
          <a:p>
            <a:pPr algn="l">
              <a:spcBef>
                <a:spcPts val="200"/>
              </a:spcBef>
            </a:pPr>
            <a:r>
              <a:rPr sz="1600">
                <a:solidFill>
                  <a:srgbClr val="556580"/>
                </a:solidFill>
              </a:rPr>
              <a:t>    用词多样、地道、有搭配；忌：高频简单词堆砌（good/nice/big）</a:t>
            </a:r>
          </a:p>
          <a:p>
            <a:pPr algn="l">
              <a:spcBef>
                <a:spcPts val="800"/>
              </a:spcBef>
            </a:pPr>
            <a:r>
              <a:rPr sz="1900" b="1">
                <a:solidFill>
                  <a:srgbClr val="1B3A6B"/>
                </a:solidFill>
              </a:rPr>
              <a:t>▶  GRA 语法范围与准确性 25%</a:t>
            </a:r>
          </a:p>
          <a:p>
            <a:pPr algn="l">
              <a:spcBef>
                <a:spcPts val="200"/>
              </a:spcBef>
            </a:pPr>
            <a:r>
              <a:rPr sz="1600">
                <a:solidFill>
                  <a:srgbClr val="556580"/>
                </a:solidFill>
              </a:rPr>
              <a:t>    时态准确、句式多样；简单句全对&gt;复杂句全错</a:t>
            </a:r>
          </a:p>
          <a:p>
            <a:pPr algn="l">
              <a:spcBef>
                <a:spcPts val="800"/>
              </a:spcBef>
            </a:pPr>
            <a:r>
              <a:rPr sz="1900" b="1">
                <a:solidFill>
                  <a:srgbClr val="1B3A6B"/>
                </a:solidFill>
              </a:rPr>
              <a:t>▶  P 发音 25%</a:t>
            </a:r>
          </a:p>
          <a:p>
            <a:pPr algn="l">
              <a:spcBef>
                <a:spcPts val="200"/>
              </a:spcBef>
            </a:pPr>
            <a:r>
              <a:rPr sz="1600">
                <a:solidFill>
                  <a:srgbClr val="556580"/>
                </a:solidFill>
              </a:rPr>
              <a:t>    清晰易懂为主；口音不扣分，但语调单调、吞音会扣分</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深圳学生注意：深圳学生普遍GRA和P相对强，FC和LR是拉低分数的核心问题——中式逻辑+有限词汇。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深圳学生口语四大痛点</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背诵模板：考官一眼识别，FC直接打低分</a:t>
            </a:r>
          </a:p>
          <a:p>
            <a:pPr>
              <a:spcBef>
                <a:spcPts val="800"/>
              </a:spcBef>
            </a:pPr>
            <a:r>
              <a:rPr sz="1600">
                <a:solidFill>
                  <a:srgbClr val="D02B2B"/>
                </a:solidFill>
              </a:rPr>
              <a:t>✗  说话总想先想中文再翻译，导致停顿过多(um...er...uh...)</a:t>
            </a:r>
          </a:p>
          <a:p>
            <a:pPr>
              <a:spcBef>
                <a:spcPts val="800"/>
              </a:spcBef>
            </a:pPr>
            <a:r>
              <a:rPr sz="1600">
                <a:solidFill>
                  <a:srgbClr val="D02B2B"/>
                </a:solidFill>
              </a:rPr>
              <a:t>✗  词汇单调：good/nice/interesting/important反复用</a:t>
            </a:r>
          </a:p>
          <a:p>
            <a:pPr>
              <a:spcBef>
                <a:spcPts val="800"/>
              </a:spcBef>
            </a:pPr>
            <a:r>
              <a:rPr sz="1600">
                <a:solidFill>
                  <a:srgbClr val="D02B2B"/>
                </a:solidFill>
              </a:rPr>
              <a:t>✗  说完Part 2题卡就停下，没有自然延伸和细节</a:t>
            </a:r>
          </a:p>
          <a:p>
            <a:pPr>
              <a:spcBef>
                <a:spcPts val="800"/>
              </a:spcBef>
            </a:pPr>
            <a:r>
              <a:rPr sz="1600">
                <a:solidFill>
                  <a:srgbClr val="D02B2B"/>
                </a:solidFill>
              </a:rPr>
              <a:t>✗  Part 3回答太短：只有一两句，没有展开论证</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不背模板，背语言素材（词块/搭配/句型）</a:t>
            </a:r>
          </a:p>
          <a:p>
            <a:pPr>
              <a:spcBef>
                <a:spcPts val="800"/>
              </a:spcBef>
            </a:pPr>
            <a:r>
              <a:rPr sz="1600">
                <a:solidFill>
                  <a:srgbClr val="1A7A3C"/>
                </a:solidFill>
              </a:rPr>
              <a:t>✓  用filler words过渡：Well, / That's a good question / Let me think...</a:t>
            </a:r>
          </a:p>
          <a:p>
            <a:pPr>
              <a:spcBef>
                <a:spcPts val="800"/>
              </a:spcBef>
            </a:pPr>
            <a:r>
              <a:rPr sz="1600">
                <a:solidFill>
                  <a:srgbClr val="1A7A3C"/>
                </a:solidFill>
              </a:rPr>
              <a:t>✓  建立替换词词库：good→remarkable/outstanding/genuinely enjoyable</a:t>
            </a:r>
          </a:p>
          <a:p>
            <a:pPr>
              <a:spcBef>
                <a:spcPts val="800"/>
              </a:spcBef>
            </a:pPr>
            <a:r>
              <a:rPr sz="1600">
                <a:solidFill>
                  <a:srgbClr val="1A7A3C"/>
                </a:solidFill>
              </a:rPr>
              <a:t>✓  Part 2讲故事：5W1H框架确保2分钟内容充实</a:t>
            </a:r>
          </a:p>
          <a:p>
            <a:pPr>
              <a:spcBef>
                <a:spcPts val="800"/>
              </a:spcBef>
            </a:pPr>
            <a:r>
              <a:rPr sz="1600">
                <a:solidFill>
                  <a:srgbClr val="1A7A3C"/>
                </a:solidFill>
              </a:rPr>
              <a:t>✓  Part 3用PEEL结构：观点→解释→例子→总结（最少4句话）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三个Part时间分配</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Part 1 介绍与日常话题</a:t>
            </a:r>
          </a:p>
          <a:p>
            <a:pPr algn="l">
              <a:spcBef>
                <a:spcPts val="200"/>
              </a:spcBef>
            </a:pPr>
            <a:r>
              <a:rPr sz="1600">
                <a:solidFill>
                  <a:srgbClr val="556580"/>
                </a:solidFill>
              </a:rPr>
              <a:t>    4-5分钟 / 10-12个问题 / 每题2-3句话 / 话题：家乡/学习/兴趣/日常</a:t>
            </a:r>
          </a:p>
          <a:p>
            <a:pPr algn="l">
              <a:spcBef>
                <a:spcPts val="800"/>
              </a:spcBef>
            </a:pPr>
            <a:r>
              <a:rPr sz="1900" b="1">
                <a:solidFill>
                  <a:srgbClr val="1B3A6B"/>
                </a:solidFill>
              </a:rPr>
              <a:t>▶  Part 2 长篇独白</a:t>
            </a:r>
          </a:p>
          <a:p>
            <a:pPr algn="l">
              <a:spcBef>
                <a:spcPts val="200"/>
              </a:spcBef>
            </a:pPr>
            <a:r>
              <a:rPr sz="1600">
                <a:solidFill>
                  <a:srgbClr val="556580"/>
                </a:solidFill>
              </a:rPr>
              <a:t>    3-4分钟 / 准备1分钟+说1-2分钟 / 题卡上有4个提示点</a:t>
            </a:r>
          </a:p>
          <a:p>
            <a:pPr algn="l">
              <a:spcBef>
                <a:spcPts val="800"/>
              </a:spcBef>
            </a:pPr>
            <a:r>
              <a:rPr sz="1900" b="1">
                <a:solidFill>
                  <a:srgbClr val="1B3A6B"/>
                </a:solidFill>
              </a:rPr>
              <a:t>▶  Part 3 深度讨论</a:t>
            </a:r>
          </a:p>
          <a:p>
            <a:pPr algn="l">
              <a:spcBef>
                <a:spcPts val="200"/>
              </a:spcBef>
            </a:pPr>
            <a:r>
              <a:rPr sz="1600">
                <a:solidFill>
                  <a:srgbClr val="556580"/>
                </a:solidFill>
              </a:rPr>
              <a:t>    4-5分钟 / 4-6个问题 / 每题4-6句话 / 话题扩展至社会层面</a:t>
            </a:r>
          </a:p>
          <a:p>
            <a:pPr algn="l">
              <a:spcBef>
                <a:spcPts val="800"/>
              </a:spcBef>
            </a:pPr>
            <a:r>
              <a:rPr sz="1900" b="1">
                <a:solidFill>
                  <a:srgbClr val="1B3A6B"/>
                </a:solidFill>
              </a:rPr>
              <a:t>▶  评分时机</a:t>
            </a:r>
          </a:p>
          <a:p>
            <a:pPr algn="l">
              <a:spcBef>
                <a:spcPts val="200"/>
              </a:spcBef>
            </a:pPr>
            <a:r>
              <a:rPr sz="1600">
                <a:solidFill>
                  <a:srgbClr val="556580"/>
                </a:solidFill>
              </a:rPr>
              <a:t>    考官全程评分，Part 1的第一句话就决定了考官对你的第一印象</a:t>
            </a:r>
          </a:p>
          <a:p>
            <a:pPr algn="l">
              <a:spcBef>
                <a:spcPts val="800"/>
              </a:spcBef>
            </a:pPr>
            <a:r>
              <a:rPr sz="1900" b="1">
                <a:solidFill>
                  <a:srgbClr val="1B3A6B"/>
                </a:solidFill>
              </a:rPr>
              <a:t>▶  开场建议</a:t>
            </a:r>
          </a:p>
          <a:p>
            <a:pPr algn="l">
              <a:spcBef>
                <a:spcPts val="200"/>
              </a:spcBef>
            </a:pPr>
            <a:r>
              <a:rPr sz="1600">
                <a:solidFill>
                  <a:srgbClr val="556580"/>
                </a:solidFill>
              </a:rPr>
              <a:t>    Part 1第一题：直接回答+细节，不要客套'Nice to meet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L01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FC+LR是核心得分项，GRA和P是基础保障项</a:t>
            </a:r>
          </a:p>
          <a:p>
            <a:pPr>
              <a:spcBef>
                <a:spcPts val="800"/>
              </a:spcBef>
            </a:pPr>
            <a:r>
              <a:rPr sz="1600">
                <a:solidFill>
                  <a:srgbClr val="FFFFFF"/>
                </a:solidFill>
              </a:rPr>
              <a:t>✓  不背模板——背词块和搭配，让语言听起来自然</a:t>
            </a:r>
          </a:p>
          <a:p>
            <a:pPr>
              <a:spcBef>
                <a:spcPts val="800"/>
              </a:spcBef>
            </a:pPr>
            <a:r>
              <a:rPr sz="1600">
                <a:solidFill>
                  <a:srgbClr val="FFFFFF"/>
                </a:solidFill>
              </a:rPr>
              <a:t>✓  Part 1开场直接回答，Part 2讲故事，Part 3讲观点+例子</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录音1分钟自我介绍，听回放评估：有几个um/er/uh？</a:t>
            </a:r>
          </a:p>
          <a:p>
            <a:pPr>
              <a:spcBef>
                <a:spcPts val="800"/>
              </a:spcBef>
            </a:pPr>
            <a:r>
              <a:rPr sz="1500">
                <a:solidFill>
                  <a:srgbClr val="FFFFFF"/>
                </a:solidFill>
              </a:rPr>
              <a:t>→  列出10个你经常说的单词，每个找2个替换词</a:t>
            </a:r>
          </a:p>
          <a:p>
            <a:pPr>
              <a:spcBef>
                <a:spcPts val="800"/>
              </a:spcBef>
            </a:pPr>
            <a:r>
              <a:rPr sz="1500">
                <a:solidFill>
                  <a:srgbClr val="FFFFFF"/>
                </a:solidFill>
              </a:rPr>
              <a:t>→  每天跟读TED演讲3分钟，模仿语调和节奏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L02</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Part 1
个人话题速答</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掌握Part 1的答题节奏与扩展技巧</a:t>
            </a:r>
          </a:p>
          <a:p>
            <a:pPr algn="l">
              <a:spcBef>
                <a:spcPts val="1000"/>
              </a:spcBef>
            </a:pPr>
            <a:r>
              <a:rPr sz="1700">
                <a:solidFill>
                  <a:srgbClr val="1B3A6B"/>
                </a:solidFill>
              </a:rPr>
              <a:t>✦  建立家乡/学习/工作/兴趣等核心话题词库</a:t>
            </a:r>
          </a:p>
          <a:p>
            <a:pPr algn="l">
              <a:spcBef>
                <a:spcPts val="1000"/>
              </a:spcBef>
            </a:pPr>
            <a:r>
              <a:rPr sz="1700">
                <a:solidFill>
                  <a:srgbClr val="1B3A6B"/>
                </a:solidFill>
              </a:rPr>
              <a:t>✦  练习自然的3-4句话扩展模式</a:t>
            </a:r>
          </a:p>
          <a:p>
            <a:pPr algn="l">
              <a:spcBef>
                <a:spcPts val="1000"/>
              </a:spcBef>
            </a:pPr>
            <a:r>
              <a:rPr sz="1700">
                <a:solidFill>
                  <a:srgbClr val="1B3A6B"/>
                </a:solidFill>
              </a:rPr>
              <a:t>✦  消除'背诵感'，让回答听起来真实自然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Part 1 答题公式</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基础公式</a:t>
            </a:r>
          </a:p>
          <a:p>
            <a:pPr algn="l">
              <a:spcBef>
                <a:spcPts val="200"/>
              </a:spcBef>
            </a:pPr>
            <a:r>
              <a:rPr sz="1600">
                <a:solidFill>
                  <a:srgbClr val="556580"/>
                </a:solidFill>
              </a:rPr>
              <a:t>    答案 + 原因/细节 + 例子/补充 = 2-3句自然回答</a:t>
            </a:r>
          </a:p>
          <a:p>
            <a:pPr algn="l">
              <a:spcBef>
                <a:spcPts val="800"/>
              </a:spcBef>
            </a:pPr>
            <a:r>
              <a:rPr sz="1900" b="1">
                <a:solidFill>
                  <a:srgbClr val="1B3A6B"/>
                </a:solidFill>
              </a:rPr>
              <a:t>▶  切忌</a:t>
            </a:r>
          </a:p>
          <a:p>
            <a:pPr algn="l">
              <a:spcBef>
                <a:spcPts val="200"/>
              </a:spcBef>
            </a:pPr>
            <a:r>
              <a:rPr sz="1600">
                <a:solidFill>
                  <a:srgbClr val="556580"/>
                </a:solidFill>
              </a:rPr>
              <a:t>    只答是/否（太短）；说5句以上（太长，占用考官下题时间）</a:t>
            </a:r>
          </a:p>
          <a:p>
            <a:pPr algn="l">
              <a:spcBef>
                <a:spcPts val="800"/>
              </a:spcBef>
            </a:pPr>
            <a:r>
              <a:rPr sz="1900" b="1">
                <a:solidFill>
                  <a:srgbClr val="1B3A6B"/>
                </a:solidFill>
              </a:rPr>
              <a:t>▶  话题分类</a:t>
            </a:r>
          </a:p>
          <a:p>
            <a:pPr algn="l">
              <a:spcBef>
                <a:spcPts val="200"/>
              </a:spcBef>
            </a:pPr>
            <a:r>
              <a:rPr sz="1600">
                <a:solidFill>
                  <a:srgbClr val="556580"/>
                </a:solidFill>
              </a:rPr>
              <a:t>    个人信息类/日常习惯类/喜好偏好类/家乡环境类/学习工作类</a:t>
            </a:r>
          </a:p>
          <a:p>
            <a:pPr algn="l">
              <a:spcBef>
                <a:spcPts val="800"/>
              </a:spcBef>
            </a:pPr>
            <a:r>
              <a:rPr sz="1900" b="1">
                <a:solidFill>
                  <a:srgbClr val="1B3A6B"/>
                </a:solidFill>
              </a:rPr>
              <a:t>▶  连接词</a:t>
            </a:r>
          </a:p>
          <a:p>
            <a:pPr algn="l">
              <a:spcBef>
                <a:spcPts val="200"/>
              </a:spcBef>
            </a:pPr>
            <a:r>
              <a:rPr sz="1600">
                <a:solidFill>
                  <a:srgbClr val="556580"/>
                </a:solidFill>
              </a:rPr>
              <a:t>    ...because... / ...and what I like most is... / ...especially when...</a:t>
            </a:r>
          </a:p>
          <a:p>
            <a:pPr algn="l">
              <a:spcBef>
                <a:spcPts val="800"/>
              </a:spcBef>
            </a:pPr>
            <a:r>
              <a:rPr sz="1900" b="1">
                <a:solidFill>
                  <a:srgbClr val="1B3A6B"/>
                </a:solidFill>
              </a:rPr>
              <a:t>▶  举例方式</a:t>
            </a:r>
          </a:p>
          <a:p>
            <a:pPr algn="l">
              <a:spcBef>
                <a:spcPts val="200"/>
              </a:spcBef>
            </a:pPr>
            <a:r>
              <a:rPr sz="1600">
                <a:solidFill>
                  <a:srgbClr val="556580"/>
                </a:solidFill>
              </a:rPr>
              <a:t>    For instance, / Like last weekend, / I remember once...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Part 1 高频话题词库</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家乡 &amp; 居住地</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be situated in the heart of / on the outskirts of</a:t>
            </a:r>
          </a:p>
          <a:p>
            <a:pPr algn="l">
              <a:spcBef>
                <a:spcPts val="700"/>
              </a:spcBef>
            </a:pPr>
            <a:r>
              <a:rPr sz="1600">
                <a:solidFill>
                  <a:srgbClr val="1B3A6B"/>
                </a:solidFill>
              </a:rPr>
              <a:t>• vibrant/bustling metropolis — 充满活力的大城市</a:t>
            </a:r>
          </a:p>
          <a:p>
            <a:pPr algn="l">
              <a:spcBef>
                <a:spcPts val="700"/>
              </a:spcBef>
            </a:pPr>
            <a:r>
              <a:rPr sz="1600">
                <a:solidFill>
                  <a:srgbClr val="1B3A6B"/>
                </a:solidFill>
              </a:rPr>
              <a:t>• a fast-paced lifestyle / rapid development</a:t>
            </a:r>
          </a:p>
          <a:p>
            <a:pPr algn="l">
              <a:spcBef>
                <a:spcPts val="700"/>
              </a:spcBef>
            </a:pPr>
            <a:r>
              <a:rPr sz="1600">
                <a:solidFill>
                  <a:srgbClr val="1B3A6B"/>
                </a:solidFill>
              </a:rPr>
              <a:t>• subtropical climate / year-round warmth</a:t>
            </a:r>
          </a:p>
          <a:p>
            <a:pPr algn="l">
              <a:spcBef>
                <a:spcPts val="700"/>
              </a:spcBef>
            </a:pPr>
            <a:r>
              <a:rPr sz="1600">
                <a:solidFill>
                  <a:srgbClr val="1B3A6B"/>
                </a:solidFill>
              </a:rPr>
              <a:t>• tech hub / innovation-driven city（适合深圳）</a:t>
            </a:r>
          </a:p>
          <a:p>
            <a:pPr algn="l">
              <a:spcBef>
                <a:spcPts val="700"/>
              </a:spcBef>
            </a:pPr>
            <a:r>
              <a:rPr sz="1600">
                <a:solidFill>
                  <a:srgbClr val="1B3A6B"/>
                </a:solidFill>
              </a:rPr>
              <a:t>• diverse culinary scene / blend of cultures</a:t>
            </a:r>
          </a:p>
          <a:p>
            <a:pPr algn="l">
              <a:spcBef>
                <a:spcPts val="700"/>
              </a:spcBef>
            </a:pPr>
            <a:r>
              <a:rPr sz="1600">
                <a:solidFill>
                  <a:srgbClr val="1B3A6B"/>
                </a:solidFill>
              </a:rPr>
              <a:t>• convenient public transport / extensive metro network</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兴趣爱好</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I'm really into... / I'm passionate about...</a:t>
            </a:r>
          </a:p>
          <a:p>
            <a:pPr algn="l">
              <a:spcBef>
                <a:spcPts val="700"/>
              </a:spcBef>
            </a:pPr>
            <a:r>
              <a:rPr sz="1600">
                <a:solidFill>
                  <a:srgbClr val="1B3A6B"/>
                </a:solidFill>
              </a:rPr>
              <a:t>• it helps me unwind / de-stress after a long day</a:t>
            </a:r>
          </a:p>
          <a:p>
            <a:pPr algn="l">
              <a:spcBef>
                <a:spcPts val="700"/>
              </a:spcBef>
            </a:pPr>
            <a:r>
              <a:rPr sz="1600">
                <a:solidFill>
                  <a:srgbClr val="1B3A6B"/>
                </a:solidFill>
              </a:rPr>
              <a:t>• I've been doing it since I was... / for about X years</a:t>
            </a:r>
          </a:p>
          <a:p>
            <a:pPr algn="l">
              <a:spcBef>
                <a:spcPts val="700"/>
              </a:spcBef>
            </a:pPr>
            <a:r>
              <a:rPr sz="1600">
                <a:solidFill>
                  <a:srgbClr val="1B3A6B"/>
                </a:solidFill>
              </a:rPr>
              <a:t>• it gives me a sense of accomplishment</a:t>
            </a:r>
          </a:p>
          <a:p>
            <a:pPr algn="l">
              <a:spcBef>
                <a:spcPts val="700"/>
              </a:spcBef>
            </a:pPr>
            <a:r>
              <a:rPr sz="1600">
                <a:solidFill>
                  <a:srgbClr val="1B3A6B"/>
                </a:solidFill>
              </a:rPr>
              <a:t>• I tend to... rather than... when I have free time</a:t>
            </a:r>
          </a:p>
          <a:p>
            <a:pPr algn="l">
              <a:spcBef>
                <a:spcPts val="700"/>
              </a:spcBef>
            </a:pPr>
            <a:r>
              <a:rPr sz="1600">
                <a:solidFill>
                  <a:srgbClr val="1B3A6B"/>
                </a:solidFill>
              </a:rPr>
              <a:t>• streaming platform / binge-watch / on-demand content</a:t>
            </a:r>
          </a:p>
          <a:p>
            <a:pPr algn="l">
              <a:spcBef>
                <a:spcPts val="700"/>
              </a:spcBef>
            </a:pPr>
            <a:r>
              <a:rPr sz="1600">
                <a:solidFill>
                  <a:srgbClr val="1B3A6B"/>
                </a:solidFill>
              </a:rPr>
              <a:t>• hit the gym / work out / keep fit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Part 1 答题对比：低分 vs 高分</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问题：Do you enjoy cooking?
❌ 低分回答（5分）：
'Yes, I like cooking. It is interesting. I cook sometimes. It is good for health.'
（词汇单调、句子碎片化、没有个人特色）
✅ 高分回答（7分）：
'Honestly, I'm not a huge fan of cooking — I find it quite time-consuming after a long day at school. But I do enjoy baking occasionally, especially when I'm stressed. There's something really satisfying about making something from scratch.'</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差异分析：高分回答有真实的观点（不太喜欢）、具体细节（压力大时烘焙）、情感色彩（satisfying）</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Part 1不需要正确答案，需要真实自然、有细节的回答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Part 1 答题过短问题</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'Do you like reading?' → 'Yes, I like reading.'（完全没展开）</a:t>
            </a:r>
          </a:p>
          <a:p>
            <a:pPr>
              <a:spcBef>
                <a:spcPts val="800"/>
              </a:spcBef>
            </a:pPr>
            <a:r>
              <a:rPr sz="1600">
                <a:solidFill>
                  <a:srgbClr val="D02B2B"/>
                </a:solidFill>
              </a:rPr>
              <a:t>✗  每题都以'Yes/No, I think...'开头（公式化）</a:t>
            </a:r>
          </a:p>
          <a:p>
            <a:pPr>
              <a:spcBef>
                <a:spcPts val="800"/>
              </a:spcBef>
            </a:pPr>
            <a:r>
              <a:rPr sz="1600">
                <a:solidFill>
                  <a:srgbClr val="D02B2B"/>
                </a:solidFill>
              </a:rPr>
              <a:t>✗  理由全是'because it is interesting/useful/good'</a:t>
            </a:r>
          </a:p>
          <a:p>
            <a:pPr>
              <a:spcBef>
                <a:spcPts val="800"/>
              </a:spcBef>
            </a:pPr>
            <a:r>
              <a:rPr sz="1600">
                <a:solidFill>
                  <a:srgbClr val="D02B2B"/>
                </a:solidFill>
              </a:rPr>
              <a:t>✗  答完第一句就停下，等考官追问</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开头不用Yes/No，直接给细节：'Reading is something I genuinely enjoy...'</a:t>
            </a:r>
          </a:p>
          <a:p>
            <a:pPr>
              <a:spcBef>
                <a:spcPts val="800"/>
              </a:spcBef>
            </a:pPr>
            <a:r>
              <a:rPr sz="1600">
                <a:solidFill>
                  <a:srgbClr val="1A7A3C"/>
                </a:solidFill>
              </a:rPr>
              <a:t>✓  用'and what I particularly like is...'自然延伸第二点</a:t>
            </a:r>
          </a:p>
          <a:p>
            <a:pPr>
              <a:spcBef>
                <a:spcPts val="800"/>
              </a:spcBef>
            </a:pPr>
            <a:r>
              <a:rPr sz="1600">
                <a:solidFill>
                  <a:srgbClr val="1A7A3C"/>
                </a:solidFill>
              </a:rPr>
              <a:t>✓  理由具体化：不说'interesting'，说'it challenges my thinking every time'</a:t>
            </a:r>
          </a:p>
          <a:p>
            <a:pPr>
              <a:spcBef>
                <a:spcPts val="800"/>
              </a:spcBef>
            </a:pPr>
            <a:r>
              <a:rPr sz="1600">
                <a:solidFill>
                  <a:srgbClr val="1A7A3C"/>
                </a:solidFill>
              </a:rPr>
              <a:t>✓  答完主要内容后加一句举例/个人经历，自然结束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L02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Part 1：答案+原因+细节=2-3句，不长不短</a:t>
            </a:r>
          </a:p>
          <a:p>
            <a:pPr>
              <a:spcBef>
                <a:spcPts val="800"/>
              </a:spcBef>
            </a:pPr>
            <a:r>
              <a:rPr sz="1600">
                <a:solidFill>
                  <a:srgbClr val="FFFFFF"/>
                </a:solidFill>
              </a:rPr>
              <a:t>✓  用真实观点和具体细节替代模板和空洞词汇</a:t>
            </a:r>
          </a:p>
          <a:p>
            <a:pPr>
              <a:spcBef>
                <a:spcPts val="800"/>
              </a:spcBef>
            </a:pPr>
            <a:r>
              <a:rPr sz="1600">
                <a:solidFill>
                  <a:srgbClr val="FFFFFF"/>
                </a:solidFill>
              </a:rPr>
              <a:t>✓  开头多样化：不要总是Yes/No，直接进入内容</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准备20个Part 1高频话题，每个话题写出3句自然回答</a:t>
            </a:r>
          </a:p>
          <a:p>
            <a:pPr>
              <a:spcBef>
                <a:spcPts val="800"/>
              </a:spcBef>
            </a:pPr>
            <a:r>
              <a:rPr sz="1500">
                <a:solidFill>
                  <a:srgbClr val="FFFFFF"/>
                </a:solidFill>
              </a:rPr>
              <a:t>→  每天用手机录音练习5个Part 1问题，听回放找问题</a:t>
            </a:r>
          </a:p>
          <a:p>
            <a:pPr>
              <a:spcBef>
                <a:spcPts val="800"/>
              </a:spcBef>
            </a:pPr>
            <a:r>
              <a:rPr sz="1500">
                <a:solidFill>
                  <a:srgbClr val="FFFFFF"/>
                </a:solidFill>
              </a:rPr>
              <a:t>→  替换词练习：把昨天说过的'good/nice/like'都换掉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L03</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Part 2
题卡独白精讲</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掌握1分钟准备时间的高效利用方法</a:t>
            </a:r>
          </a:p>
          <a:p>
            <a:pPr algn="l">
              <a:spcBef>
                <a:spcPts val="1000"/>
              </a:spcBef>
            </a:pPr>
            <a:r>
              <a:rPr sz="1700">
                <a:solidFill>
                  <a:srgbClr val="1B3A6B"/>
                </a:solidFill>
              </a:rPr>
              <a:t>✦  学会用5W1H框架构建2分钟流畅故事</a:t>
            </a:r>
          </a:p>
          <a:p>
            <a:pPr algn="l">
              <a:spcBef>
                <a:spcPts val="1000"/>
              </a:spcBef>
            </a:pPr>
            <a:r>
              <a:rPr sz="1700">
                <a:solidFill>
                  <a:srgbClr val="1B3A6B"/>
                </a:solidFill>
              </a:rPr>
              <a:t>✦  建立高分故事的情感层次和细节技巧</a:t>
            </a:r>
          </a:p>
          <a:p>
            <a:pPr algn="l">
              <a:spcBef>
                <a:spcPts val="1000"/>
              </a:spcBef>
            </a:pPr>
            <a:r>
              <a:rPr sz="1700">
                <a:solidFill>
                  <a:srgbClr val="1B3A6B"/>
                </a:solidFill>
              </a:rPr>
              <a:t>✦  备考30个Part 2核心话题，举一反三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Part 2 1分钟准备策略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第1步（5秒）</a:t>
            </a:r>
          </a:p>
          <a:p>
            <a:pPr algn="l">
              <a:spcBef>
                <a:spcPts val="200"/>
              </a:spcBef>
            </a:pPr>
            <a:r>
              <a:rPr sz="1600">
                <a:solidFill>
                  <a:srgbClr val="556580"/>
                </a:solidFill>
              </a:rPr>
              <a:t>    快速看清题卡要求：Describe a... + 4个提示点（WHO/WHAT/WHEN/WHY）</a:t>
            </a:r>
          </a:p>
          <a:p>
            <a:pPr algn="l">
              <a:spcBef>
                <a:spcPts val="800"/>
              </a:spcBef>
            </a:pPr>
            <a:r>
              <a:rPr sz="1900" b="1">
                <a:solidFill>
                  <a:srgbClr val="1B3A6B"/>
                </a:solidFill>
              </a:rPr>
              <a:t>▶  第2步（20秒）</a:t>
            </a:r>
          </a:p>
          <a:p>
            <a:pPr algn="l">
              <a:spcBef>
                <a:spcPts val="200"/>
              </a:spcBef>
            </a:pPr>
            <a:r>
              <a:rPr sz="1600">
                <a:solidFill>
                  <a:srgbClr val="556580"/>
                </a:solidFill>
              </a:rPr>
              <a:t>    确定1个具体的人/事/地点/物品——越具体越好（不要泛指）</a:t>
            </a:r>
          </a:p>
          <a:p>
            <a:pPr algn="l">
              <a:spcBef>
                <a:spcPts val="800"/>
              </a:spcBef>
            </a:pPr>
            <a:r>
              <a:rPr sz="1900" b="1">
                <a:solidFill>
                  <a:srgbClr val="1B3A6B"/>
                </a:solidFill>
              </a:rPr>
              <a:t>▶  第3步（30秒）</a:t>
            </a:r>
          </a:p>
          <a:p>
            <a:pPr algn="l">
              <a:spcBef>
                <a:spcPts val="200"/>
              </a:spcBef>
            </a:pPr>
            <a:r>
              <a:rPr sz="1600">
                <a:solidFill>
                  <a:srgbClr val="556580"/>
                </a:solidFill>
              </a:rPr>
              <a:t>    在题卡空白处写5-8个关键词（不要写完整句子）</a:t>
            </a:r>
          </a:p>
          <a:p>
            <a:pPr algn="l">
              <a:spcBef>
                <a:spcPts val="800"/>
              </a:spcBef>
            </a:pPr>
            <a:r>
              <a:rPr sz="1900" b="1">
                <a:solidFill>
                  <a:srgbClr val="1B3A6B"/>
                </a:solidFill>
              </a:rPr>
              <a:t>▶  第4步（5秒）</a:t>
            </a:r>
          </a:p>
          <a:p>
            <a:pPr algn="l">
              <a:spcBef>
                <a:spcPts val="200"/>
              </a:spcBef>
            </a:pPr>
            <a:r>
              <a:rPr sz="1600">
                <a:solidFill>
                  <a:srgbClr val="556580"/>
                </a:solidFill>
              </a:rPr>
              <a:t>    决定结尾：为什么难忘/有什么影响/有什么感受</a:t>
            </a:r>
          </a:p>
          <a:p>
            <a:pPr algn="l">
              <a:spcBef>
                <a:spcPts val="800"/>
              </a:spcBef>
            </a:pPr>
            <a:r>
              <a:rPr sz="1900" b="1">
                <a:solidFill>
                  <a:srgbClr val="1B3A6B"/>
                </a:solidFill>
              </a:rPr>
              <a:t>▶  注意</a:t>
            </a:r>
          </a:p>
          <a:p>
            <a:pPr algn="l">
              <a:spcBef>
                <a:spcPts val="200"/>
              </a:spcBef>
            </a:pPr>
            <a:r>
              <a:rPr sz="1600">
                <a:solidFill>
                  <a:srgbClr val="556580"/>
                </a:solidFill>
              </a:rPr>
              <a:t>    准备时间内可以用中文思考，但关键词用英文写，避免翻译卡顿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2分钟独白结构框架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开场（10秒）</a:t>
            </a:r>
          </a:p>
          <a:p>
            <a:pPr algn="l">
              <a:spcBef>
                <a:spcPts val="200"/>
              </a:spcBef>
            </a:pPr>
            <a:r>
              <a:rPr sz="1600">
                <a:solidFill>
                  <a:srgbClr val="556580"/>
                </a:solidFill>
              </a:rPr>
              <a:t>    I'd like to talk about... / The [person/place/thing] I want to describe is...</a:t>
            </a:r>
          </a:p>
          <a:p>
            <a:pPr algn="l">
              <a:spcBef>
                <a:spcPts val="800"/>
              </a:spcBef>
            </a:pPr>
            <a:r>
              <a:rPr sz="1900" b="1">
                <a:solidFill>
                  <a:srgbClr val="1B3A6B"/>
                </a:solidFill>
              </a:rPr>
              <a:t>▶  背景（20秒）</a:t>
            </a:r>
          </a:p>
          <a:p>
            <a:pPr algn="l">
              <a:spcBef>
                <a:spcPts val="200"/>
              </a:spcBef>
            </a:pPr>
            <a:r>
              <a:rPr sz="1600">
                <a:solidFill>
                  <a:srgbClr val="556580"/>
                </a:solidFill>
              </a:rPr>
              <a:t>    When/Where + basic context（时间地点背景，1-2句）</a:t>
            </a:r>
          </a:p>
          <a:p>
            <a:pPr algn="l">
              <a:spcBef>
                <a:spcPts val="800"/>
              </a:spcBef>
            </a:pPr>
            <a:r>
              <a:rPr sz="1900" b="1">
                <a:solidFill>
                  <a:srgbClr val="1B3A6B"/>
                </a:solidFill>
              </a:rPr>
              <a:t>▶  主体（70秒）</a:t>
            </a:r>
          </a:p>
          <a:p>
            <a:pPr algn="l">
              <a:spcBef>
                <a:spcPts val="200"/>
              </a:spcBef>
            </a:pPr>
            <a:r>
              <a:rPr sz="1600">
                <a:solidFill>
                  <a:srgbClr val="556580"/>
                </a:solidFill>
              </a:rPr>
              <a:t>    按题卡提示点展开，每个点2-3句；加入感官描述和情感</a:t>
            </a:r>
          </a:p>
          <a:p>
            <a:pPr algn="l">
              <a:spcBef>
                <a:spcPts val="800"/>
              </a:spcBef>
            </a:pPr>
            <a:r>
              <a:rPr sz="1900" b="1">
                <a:solidFill>
                  <a:srgbClr val="1B3A6B"/>
                </a:solidFill>
              </a:rPr>
              <a:t>▶  高光细节（20秒）</a:t>
            </a:r>
          </a:p>
          <a:p>
            <a:pPr algn="l">
              <a:spcBef>
                <a:spcPts val="200"/>
              </a:spcBef>
            </a:pPr>
            <a:r>
              <a:rPr sz="1600">
                <a:solidFill>
                  <a:srgbClr val="556580"/>
                </a:solidFill>
              </a:rPr>
              <a:t>    一个最难忘的具体细节/场景/对话——让考官记住你</a:t>
            </a:r>
          </a:p>
          <a:p>
            <a:pPr algn="l">
              <a:spcBef>
                <a:spcPts val="800"/>
              </a:spcBef>
            </a:pPr>
            <a:r>
              <a:rPr sz="1900" b="1">
                <a:solidFill>
                  <a:srgbClr val="1B3A6B"/>
                </a:solidFill>
              </a:rPr>
              <a:t>▶  结尾（10秒）</a:t>
            </a:r>
          </a:p>
          <a:p>
            <a:pPr algn="l">
              <a:spcBef>
                <a:spcPts val="200"/>
              </a:spcBef>
            </a:pPr>
            <a:r>
              <a:rPr sz="1600">
                <a:solidFill>
                  <a:srgbClr val="556580"/>
                </a:solidFill>
              </a:rPr>
              <a:t>    总结感受：That experience really taught me... / I'll always remember...</a:t>
            </a:r>
          </a:p>
          <a:p>
            <a:pPr algn="l">
              <a:spcBef>
                <a:spcPts val="800"/>
              </a:spcBef>
            </a:pPr>
            <a:r>
              <a:rPr sz="1900" b="1">
                <a:solidFill>
                  <a:srgbClr val="1B3A6B"/>
                </a:solidFill>
              </a:rPr>
              <a:t>▶  计时练习</a:t>
            </a:r>
          </a:p>
          <a:p>
            <a:pPr algn="l">
              <a:spcBef>
                <a:spcPts val="200"/>
              </a:spcBef>
            </a:pPr>
            <a:r>
              <a:rPr sz="1600">
                <a:solidFill>
                  <a:srgbClr val="556580"/>
                </a:solidFill>
              </a:rPr>
              <a:t>    第一次可能1分10秒或2分30秒，目标是1分45秒-2分15秒</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Part 2 范例全文</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题卡：Describe a meal you enjoyed eating. You should say: where you ate it / what you ate / who you were with / and explain why you enjoyed it.
I'd like to talk about a meal I had about six months ago at a small Cantonese restaurant tucked away in an old neighbourhood in Shenzhen — it wasn't fancy at all, but the food was absolutely incredible.
I went there with my grandmother, who grew up in that area and knew the owner personally. We ordered steamed fish, braised pork belly, and a clay pot rice — all classic Guangdong dishes.
What made it particularly special was watching my grandmother chat with the chef in Cantonese, sharing stories about how the neighbourhood had changed over the decades.</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这段回答得分点：具体地点+人物情感+感官描述+文化细节——非常authentic，不像背诵</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避免虚构故事：用真实经历更自然，考官能感受到genuine情感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Part 2 三十大话题举一反三</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人物类（Person）</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a person who has influenced you → 老师/家长/朋友</a:t>
            </a:r>
          </a:p>
          <a:p>
            <a:pPr algn="l">
              <a:spcBef>
                <a:spcPts val="700"/>
              </a:spcBef>
            </a:pPr>
            <a:r>
              <a:rPr sz="1600">
                <a:solidFill>
                  <a:srgbClr val="1B3A6B"/>
                </a:solidFill>
              </a:rPr>
              <a:t>• someone you admire → 同上，换角度</a:t>
            </a:r>
          </a:p>
          <a:p>
            <a:pPr algn="l">
              <a:spcBef>
                <a:spcPts val="700"/>
              </a:spcBef>
            </a:pPr>
            <a:r>
              <a:rPr sz="1600">
                <a:solidFill>
                  <a:srgbClr val="1B3A6B"/>
                </a:solidFill>
              </a:rPr>
              <a:t>• a child you know → 弟弟妹妹/邻居小孩</a:t>
            </a:r>
          </a:p>
          <a:p>
            <a:pPr algn="l">
              <a:spcBef>
                <a:spcPts val="700"/>
              </a:spcBef>
            </a:pPr>
            <a:r>
              <a:rPr sz="1600">
                <a:solidFill>
                  <a:srgbClr val="1B3A6B"/>
                </a:solidFill>
              </a:rPr>
              <a:t>• an elderly person → 爷爷奶奶，谈传统与智慧</a:t>
            </a:r>
          </a:p>
          <a:p>
            <a:pPr algn="l">
              <a:spcBef>
                <a:spcPts val="700"/>
              </a:spcBef>
            </a:pPr>
            <a:r>
              <a:rPr sz="1600">
                <a:solidFill>
                  <a:srgbClr val="1B3A6B"/>
                </a:solidFill>
              </a:rPr>
              <a:t>• a successful person → 可以用同一个人物，换侧重点</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地点类（Place）</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a place you like to visit → 深圳某个公园/商场/老街</a:t>
            </a:r>
          </a:p>
          <a:p>
            <a:pPr algn="l">
              <a:spcBef>
                <a:spcPts val="700"/>
              </a:spcBef>
            </a:pPr>
            <a:r>
              <a:rPr sz="1600">
                <a:solidFill>
                  <a:srgbClr val="1B3A6B"/>
                </a:solidFill>
              </a:rPr>
              <a:t>• a city you want to visit → 谈向往，用现在时和条件句</a:t>
            </a:r>
          </a:p>
          <a:p>
            <a:pPr algn="l">
              <a:spcBef>
                <a:spcPts val="700"/>
              </a:spcBef>
            </a:pPr>
            <a:r>
              <a:rPr sz="1600">
                <a:solidFill>
                  <a:srgbClr val="1B3A6B"/>
                </a:solidFill>
              </a:rPr>
              <a:t>• a historical place → 可讲深圳改革开放历史</a:t>
            </a:r>
          </a:p>
          <a:p>
            <a:pPr algn="l">
              <a:spcBef>
                <a:spcPts val="700"/>
              </a:spcBef>
            </a:pPr>
            <a:r>
              <a:rPr sz="1600">
                <a:solidFill>
                  <a:srgbClr val="1B3A6B"/>
                </a:solidFill>
              </a:rPr>
              <a:t>• a place in nature → 海边/山顶/公园</a:t>
            </a:r>
          </a:p>
          <a:p>
            <a:pPr algn="l">
              <a:spcBef>
                <a:spcPts val="700"/>
              </a:spcBef>
            </a:pPr>
            <a:r>
              <a:rPr sz="1600">
                <a:solidFill>
                  <a:srgbClr val="1B3A6B"/>
                </a:solidFill>
              </a:rPr>
              <a:t>• a restaurant/café → 细节最丰富，推荐常备</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L03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准备时间：定人/事/物→写关键词→规划结尾感受</a:t>
            </a:r>
          </a:p>
          <a:p>
            <a:pPr>
              <a:spcBef>
                <a:spcPts val="800"/>
              </a:spcBef>
            </a:pPr>
            <a:r>
              <a:rPr sz="1600">
                <a:solidFill>
                  <a:srgbClr val="FFFFFF"/>
                </a:solidFill>
              </a:rPr>
              <a:t>✓  内容结构：背景→主体（4个提示点）→高光细节→感受总结</a:t>
            </a:r>
          </a:p>
          <a:p>
            <a:pPr>
              <a:spcBef>
                <a:spcPts val="800"/>
              </a:spcBef>
            </a:pPr>
            <a:r>
              <a:rPr sz="1600">
                <a:solidFill>
                  <a:srgbClr val="FFFFFF"/>
                </a:solidFill>
              </a:rPr>
              <a:t>✓  时长目标：1分45秒-2分15秒，太短被追问，太长被打断</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每天练习1个Part 2话题，录音后分析：有没有达到1分45秒？</a:t>
            </a:r>
          </a:p>
          <a:p>
            <a:pPr>
              <a:spcBef>
                <a:spcPts val="800"/>
              </a:spcBef>
            </a:pPr>
            <a:r>
              <a:rPr sz="1500">
                <a:solidFill>
                  <a:srgbClr val="FFFFFF"/>
                </a:solidFill>
              </a:rPr>
              <a:t>→  准备5个'万能人物'和5个'万能地点'，可以回答多种话题</a:t>
            </a:r>
          </a:p>
          <a:p>
            <a:pPr>
              <a:spcBef>
                <a:spcPts val="800"/>
              </a:spcBef>
            </a:pPr>
            <a:r>
              <a:rPr sz="1500">
                <a:solidFill>
                  <a:srgbClr val="FFFFFF"/>
                </a:solidFill>
              </a:rPr>
              <a:t>→  阅读高分Part 2范文，标注细节词汇和情感表达，模仿使用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L04</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Part 3
深度观点表达</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掌握Part 3的PEEL论证结构</a:t>
            </a:r>
          </a:p>
          <a:p>
            <a:pPr algn="l">
              <a:spcBef>
                <a:spcPts val="1000"/>
              </a:spcBef>
            </a:pPr>
            <a:r>
              <a:rPr sz="1700">
                <a:solidFill>
                  <a:srgbClr val="1B3A6B"/>
                </a:solidFill>
              </a:rPr>
              <a:t>✦  学会表达同意、不同意、中立观点</a:t>
            </a:r>
          </a:p>
          <a:p>
            <a:pPr algn="l">
              <a:spcBef>
                <a:spcPts val="1000"/>
              </a:spcBef>
            </a:pPr>
            <a:r>
              <a:rPr sz="1700">
                <a:solidFill>
                  <a:srgbClr val="1B3A6B"/>
                </a:solidFill>
              </a:rPr>
              <a:t>✦  建立社会类话题的观点词库</a:t>
            </a:r>
          </a:p>
          <a:p>
            <a:pPr algn="l">
              <a:spcBef>
                <a:spcPts val="1000"/>
              </a:spcBef>
            </a:pPr>
            <a:r>
              <a:rPr sz="1700">
                <a:solidFill>
                  <a:srgbClr val="1B3A6B"/>
                </a:solidFill>
              </a:rPr>
              <a:t>✦  练习从个人延伸到社会层面的思维方式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Part 3 PEEL答题框架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P — Point 观点</a:t>
            </a:r>
          </a:p>
          <a:p>
            <a:pPr algn="l">
              <a:spcBef>
                <a:spcPts val="200"/>
              </a:spcBef>
            </a:pPr>
            <a:r>
              <a:rPr sz="1600">
                <a:solidFill>
                  <a:srgbClr val="556580"/>
                </a:solidFill>
              </a:rPr>
              <a:t>    直接给出明确立场：I think... / In my view... / Personally speaking...</a:t>
            </a:r>
          </a:p>
          <a:p>
            <a:pPr algn="l">
              <a:spcBef>
                <a:spcPts val="800"/>
              </a:spcBef>
            </a:pPr>
            <a:r>
              <a:rPr sz="1900" b="1">
                <a:solidFill>
                  <a:srgbClr val="1B3A6B"/>
                </a:solidFill>
              </a:rPr>
              <a:t>▶  E — Explain 解释</a:t>
            </a:r>
          </a:p>
          <a:p>
            <a:pPr algn="l">
              <a:spcBef>
                <a:spcPts val="200"/>
              </a:spcBef>
            </a:pPr>
            <a:r>
              <a:rPr sz="1600">
                <a:solidFill>
                  <a:srgbClr val="556580"/>
                </a:solidFill>
              </a:rPr>
              <a:t>    解释原因/逻辑：This is because... / The main reason is that...</a:t>
            </a:r>
          </a:p>
          <a:p>
            <a:pPr algn="l">
              <a:spcBef>
                <a:spcPts val="800"/>
              </a:spcBef>
            </a:pPr>
            <a:r>
              <a:rPr sz="1900" b="1">
                <a:solidFill>
                  <a:srgbClr val="1B3A6B"/>
                </a:solidFill>
              </a:rPr>
              <a:t>▶  E — Example 举例</a:t>
            </a:r>
          </a:p>
          <a:p>
            <a:pPr algn="l">
              <a:spcBef>
                <a:spcPts val="200"/>
              </a:spcBef>
            </a:pPr>
            <a:r>
              <a:rPr sz="1600">
                <a:solidFill>
                  <a:srgbClr val="556580"/>
                </a:solidFill>
              </a:rPr>
              <a:t>    具体例子/数据/场景：For instance / Take China as an example...</a:t>
            </a:r>
          </a:p>
          <a:p>
            <a:pPr algn="l">
              <a:spcBef>
                <a:spcPts val="800"/>
              </a:spcBef>
            </a:pPr>
            <a:r>
              <a:rPr sz="1900" b="1">
                <a:solidFill>
                  <a:srgbClr val="1B3A6B"/>
                </a:solidFill>
              </a:rPr>
              <a:t>▶  L — Link 收尾</a:t>
            </a:r>
          </a:p>
          <a:p>
            <a:pPr algn="l">
              <a:spcBef>
                <a:spcPts val="200"/>
              </a:spcBef>
            </a:pPr>
            <a:r>
              <a:rPr sz="1600">
                <a:solidFill>
                  <a:srgbClr val="556580"/>
                </a:solidFill>
              </a:rPr>
              <a:t>    总结或回扣观点：So overall... / That's why I believe... / It seems to me that...</a:t>
            </a:r>
          </a:p>
          <a:p>
            <a:pPr algn="l">
              <a:spcBef>
                <a:spcPts val="800"/>
              </a:spcBef>
            </a:pPr>
            <a:r>
              <a:rPr sz="1900" b="1">
                <a:solidFill>
                  <a:srgbClr val="1B3A6B"/>
                </a:solidFill>
              </a:rPr>
              <a:t>▶  时间目标</a:t>
            </a:r>
          </a:p>
          <a:p>
            <a:pPr algn="l">
              <a:spcBef>
                <a:spcPts val="200"/>
              </a:spcBef>
            </a:pPr>
            <a:r>
              <a:rPr sz="1600">
                <a:solidFill>
                  <a:srgbClr val="556580"/>
                </a:solidFill>
              </a:rPr>
              <a:t>    每个Part 3问题：4-6句话，25-45秒，不少于20秒</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深圳学生注意：Part 3最低分回答：只有P没有EEL。深圳学生普遍说完观点就停，不会论证展开。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社会类话题词汇库</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科技话题</a:t>
            </a:r>
          </a:p>
          <a:p>
            <a:pPr algn="l">
              <a:spcBef>
                <a:spcPts val="200"/>
              </a:spcBef>
            </a:pPr>
            <a:r>
              <a:rPr sz="1600">
                <a:solidFill>
                  <a:srgbClr val="556580"/>
                </a:solidFill>
              </a:rPr>
              <a:t>    technological advancement / digital divide / data privacy / AI-driven / connectivity</a:t>
            </a:r>
          </a:p>
          <a:p>
            <a:pPr algn="l">
              <a:spcBef>
                <a:spcPts val="800"/>
              </a:spcBef>
            </a:pPr>
            <a:r>
              <a:rPr sz="1900" b="1">
                <a:solidFill>
                  <a:srgbClr val="1B3A6B"/>
                </a:solidFill>
              </a:rPr>
              <a:t>▶  教育话题</a:t>
            </a:r>
          </a:p>
          <a:p>
            <a:pPr algn="l">
              <a:spcBef>
                <a:spcPts val="200"/>
              </a:spcBef>
            </a:pPr>
            <a:r>
              <a:rPr sz="1600">
                <a:solidFill>
                  <a:srgbClr val="556580"/>
                </a:solidFill>
              </a:rPr>
              <a:t>    academic pressure / rote learning / critical thinking / holistic development</a:t>
            </a:r>
          </a:p>
          <a:p>
            <a:pPr algn="l">
              <a:spcBef>
                <a:spcPts val="800"/>
              </a:spcBef>
            </a:pPr>
            <a:r>
              <a:rPr sz="1900" b="1">
                <a:solidFill>
                  <a:srgbClr val="1B3A6B"/>
                </a:solidFill>
              </a:rPr>
              <a:t>▶  环境话题</a:t>
            </a:r>
          </a:p>
          <a:p>
            <a:pPr algn="l">
              <a:spcBef>
                <a:spcPts val="200"/>
              </a:spcBef>
            </a:pPr>
            <a:r>
              <a:rPr sz="1600">
                <a:solidFill>
                  <a:srgbClr val="556580"/>
                </a:solidFill>
              </a:rPr>
              <a:t>    carbon footprint / sustainable development / renewable energy / ecological impact</a:t>
            </a:r>
          </a:p>
          <a:p>
            <a:pPr algn="l">
              <a:spcBef>
                <a:spcPts val="800"/>
              </a:spcBef>
            </a:pPr>
            <a:r>
              <a:rPr sz="1900" b="1">
                <a:solidFill>
                  <a:srgbClr val="1B3A6B"/>
                </a:solidFill>
              </a:rPr>
              <a:t>▶  社会话题</a:t>
            </a:r>
          </a:p>
          <a:p>
            <a:pPr algn="l">
              <a:spcBef>
                <a:spcPts val="200"/>
              </a:spcBef>
            </a:pPr>
            <a:r>
              <a:rPr sz="1600">
                <a:solidFill>
                  <a:srgbClr val="556580"/>
                </a:solidFill>
              </a:rPr>
              <a:t>    socioeconomic disparity / work-life balance / urbanisation / ageing population</a:t>
            </a:r>
          </a:p>
          <a:p>
            <a:pPr algn="l">
              <a:spcBef>
                <a:spcPts val="800"/>
              </a:spcBef>
            </a:pPr>
            <a:r>
              <a:rPr sz="1900" b="1">
                <a:solidFill>
                  <a:srgbClr val="1B3A6B"/>
                </a:solidFill>
              </a:rPr>
              <a:t>▶  文化话题</a:t>
            </a:r>
          </a:p>
          <a:p>
            <a:pPr algn="l">
              <a:spcBef>
                <a:spcPts val="200"/>
              </a:spcBef>
            </a:pPr>
            <a:r>
              <a:rPr sz="1600">
                <a:solidFill>
                  <a:srgbClr val="556580"/>
                </a:solidFill>
              </a:rPr>
              <a:t>    cultural heritage / globalisation / cultural homogenisation / intergenerational gap</a:t>
            </a:r>
          </a:p>
          <a:p>
            <a:pPr algn="l">
              <a:spcBef>
                <a:spcPts val="800"/>
              </a:spcBef>
            </a:pPr>
            <a:r>
              <a:rPr sz="1900" b="1">
                <a:solidFill>
                  <a:srgbClr val="1B3A6B"/>
                </a:solidFill>
              </a:rPr>
              <a:t>▶  连接词</a:t>
            </a:r>
          </a:p>
          <a:p>
            <a:pPr algn="l">
              <a:spcBef>
                <a:spcPts val="200"/>
              </a:spcBef>
            </a:pPr>
            <a:r>
              <a:rPr sz="1600">
                <a:solidFill>
                  <a:srgbClr val="556580"/>
                </a:solidFill>
              </a:rPr>
              <a:t>    On the one hand... / Conversely... / Nevertheless... / It's worth noting that...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Part 3 低分 vs 高分对比</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问题：Do you think technology has changed the way people communicate?
❌ 低分（5.5分）：
'Yes, I think technology changed communication. Now people use phone and internet. It is faster and more convenient. But sometimes people don't meet face to face.'
✅ 高分（7分）：
'Absolutely — I think technology has transformed communication in both positive and challenging ways. On one hand, platforms like WeChat and Zoom allow people to stay connected across vast distances instantly, which was unimaginable a generation ago. However, I do worry that the depth of connection has diminished — people tend to send quick messages rather than having meaningful conversations. So while connectivity has improved, the quality of communication may have actually declined.'</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高分要素：转折(however)、具体细节(WeChat/Zoom)、抽象概念(depth of connection)、平衡观点</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Part 3不需要'正确答案'，需要有立场、有逻辑、有细节的英文论证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L04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PEEL框架：观点→解释→例子→总结，每个Part 3问题最少4句话</a:t>
            </a:r>
          </a:p>
          <a:p>
            <a:pPr>
              <a:spcBef>
                <a:spcPts val="800"/>
              </a:spcBef>
            </a:pPr>
            <a:r>
              <a:rPr sz="1600">
                <a:solidFill>
                  <a:srgbClr val="FFFFFF"/>
                </a:solidFill>
              </a:rPr>
              <a:t>✓  社会类话题词汇：科技/教育/环境/文化各备10个核心词组</a:t>
            </a:r>
          </a:p>
          <a:p>
            <a:pPr>
              <a:spcBef>
                <a:spcPts val="800"/>
              </a:spcBef>
            </a:pPr>
            <a:r>
              <a:rPr sz="1600">
                <a:solidFill>
                  <a:srgbClr val="FFFFFF"/>
                </a:solidFill>
              </a:rPr>
              <a:t>✓  展示思辨能力：给出平衡观点比只说'好/坏'更能拿高分</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用PEEL框架回答20个Part 3经典问题，录音后对照7分示范</a:t>
            </a:r>
          </a:p>
          <a:p>
            <a:pPr>
              <a:spcBef>
                <a:spcPts val="800"/>
              </a:spcBef>
            </a:pPr>
            <a:r>
              <a:rPr sz="1500">
                <a:solidFill>
                  <a:srgbClr val="FFFFFF"/>
                </a:solidFill>
              </a:rPr>
              <a:t>→  每天阅读一篇英文时评（The Guardian/BBC），摘抄5个观点词组</a:t>
            </a:r>
          </a:p>
          <a:p>
            <a:pPr>
              <a:spcBef>
                <a:spcPts val="800"/>
              </a:spcBef>
            </a:pPr>
            <a:r>
              <a:rPr sz="1500">
                <a:solidFill>
                  <a:srgbClr val="FFFFFF"/>
                </a:solidFill>
              </a:rPr>
              <a:t>→  练习从Part 2个人话题自然延伸到Part 3社会问题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L05</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流利度
&amp; 连贯性提升</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减少无效停顿(um/er/uh)的技巧</a:t>
            </a:r>
          </a:p>
          <a:p>
            <a:pPr algn="l">
              <a:spcBef>
                <a:spcPts val="1000"/>
              </a:spcBef>
            </a:pPr>
            <a:r>
              <a:rPr sz="1700">
                <a:solidFill>
                  <a:srgbClr val="1B3A6B"/>
                </a:solidFill>
              </a:rPr>
              <a:t>✦  掌握自然的过渡与连接词系统</a:t>
            </a:r>
          </a:p>
          <a:p>
            <a:pPr algn="l">
              <a:spcBef>
                <a:spcPts val="1000"/>
              </a:spcBef>
            </a:pPr>
            <a:r>
              <a:rPr sz="1700">
                <a:solidFill>
                  <a:srgbClr val="1B3A6B"/>
                </a:solidFill>
              </a:rPr>
              <a:t>✦  学会用填充语(filler)争取思考时间</a:t>
            </a:r>
          </a:p>
          <a:p>
            <a:pPr algn="l">
              <a:spcBef>
                <a:spcPts val="1000"/>
              </a:spcBef>
            </a:pPr>
            <a:r>
              <a:rPr sz="1700">
                <a:solidFill>
                  <a:srgbClr val="1B3A6B"/>
                </a:solidFill>
              </a:rPr>
              <a:t>✦  建立英语思维，减少翻译依赖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自然停顿 vs 无效停顿</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无效停顿（扣分）</a:t>
            </a:r>
          </a:p>
          <a:p>
            <a:pPr algn="l">
              <a:spcBef>
                <a:spcPts val="200"/>
              </a:spcBef>
            </a:pPr>
            <a:r>
              <a:rPr sz="1600">
                <a:solidFill>
                  <a:srgbClr val="556580"/>
                </a:solidFill>
              </a:rPr>
              <a:t>    um... er... uh... （超过3次/分钟开始影响FC评分）</a:t>
            </a:r>
          </a:p>
          <a:p>
            <a:pPr algn="l">
              <a:spcBef>
                <a:spcPts val="800"/>
              </a:spcBef>
            </a:pPr>
            <a:r>
              <a:rPr sz="1900" b="1">
                <a:solidFill>
                  <a:srgbClr val="1B3A6B"/>
                </a:solidFill>
              </a:rPr>
              <a:t>▶  有效停顿（不扣分）</a:t>
            </a:r>
          </a:p>
          <a:p>
            <a:pPr algn="l">
              <a:spcBef>
                <a:spcPts val="200"/>
              </a:spcBef>
            </a:pPr>
            <a:r>
              <a:rPr sz="1600">
                <a:solidFill>
                  <a:srgbClr val="556580"/>
                </a:solidFill>
              </a:rPr>
              <a:t>    短暂停顿+思考词：Well... / Let me think... / That's interesting...</a:t>
            </a:r>
          </a:p>
          <a:p>
            <a:pPr algn="l">
              <a:spcBef>
                <a:spcPts val="800"/>
              </a:spcBef>
            </a:pPr>
            <a:r>
              <a:rPr sz="1900" b="1">
                <a:solidFill>
                  <a:srgbClr val="1B3A6B"/>
                </a:solidFill>
              </a:rPr>
              <a:t>▶  升级版填充语</a:t>
            </a:r>
          </a:p>
          <a:p>
            <a:pPr algn="l">
              <a:spcBef>
                <a:spcPts val="200"/>
              </a:spcBef>
            </a:pPr>
            <a:r>
              <a:rPr sz="1600">
                <a:solidFill>
                  <a:srgbClr val="556580"/>
                </a:solidFill>
              </a:rPr>
              <a:t>    That's a great question — I'd say... / It's hard to generalise, but...</a:t>
            </a:r>
          </a:p>
          <a:p>
            <a:pPr algn="l">
              <a:spcBef>
                <a:spcPts val="800"/>
              </a:spcBef>
            </a:pPr>
            <a:r>
              <a:rPr sz="1900" b="1">
                <a:solidFill>
                  <a:srgbClr val="1B3A6B"/>
                </a:solidFill>
              </a:rPr>
              <a:t>▶  语速建议</a:t>
            </a:r>
          </a:p>
          <a:p>
            <a:pPr algn="l">
              <a:spcBef>
                <a:spcPts val="200"/>
              </a:spcBef>
            </a:pPr>
            <a:r>
              <a:rPr sz="1600">
                <a:solidFill>
                  <a:srgbClr val="556580"/>
                </a:solidFill>
              </a:rPr>
              <a:t>    不追求快！自然节奏&gt;快速背诵；考官评的是流利，不是语速</a:t>
            </a:r>
          </a:p>
          <a:p>
            <a:pPr algn="l">
              <a:spcBef>
                <a:spcPts val="800"/>
              </a:spcBef>
            </a:pPr>
            <a:r>
              <a:rPr sz="1900" b="1">
                <a:solidFill>
                  <a:srgbClr val="1B3A6B"/>
                </a:solidFill>
              </a:rPr>
              <a:t>▶  英语思维训练</a:t>
            </a:r>
          </a:p>
          <a:p>
            <a:pPr algn="l">
              <a:spcBef>
                <a:spcPts val="200"/>
              </a:spcBef>
            </a:pPr>
            <a:r>
              <a:rPr sz="1600">
                <a:solidFill>
                  <a:srgbClr val="556580"/>
                </a:solidFill>
              </a:rPr>
              <a:t>    每天5分钟：用英文自言自语（描述周围的事物/当天的计划）</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连接词分类使用指南</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顺序与递进</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First of all / To begin with（第一点）</a:t>
            </a:r>
          </a:p>
          <a:p>
            <a:pPr algn="l">
              <a:spcBef>
                <a:spcPts val="700"/>
              </a:spcBef>
            </a:pPr>
            <a:r>
              <a:rPr sz="1600">
                <a:solidFill>
                  <a:srgbClr val="1B3A6B"/>
                </a:solidFill>
              </a:rPr>
              <a:t>• What's more / Additionally（补充）</a:t>
            </a:r>
          </a:p>
          <a:p>
            <a:pPr algn="l">
              <a:spcBef>
                <a:spcPts val="700"/>
              </a:spcBef>
            </a:pPr>
            <a:r>
              <a:rPr sz="1600">
                <a:solidFill>
                  <a:srgbClr val="1B3A6B"/>
                </a:solidFill>
              </a:rPr>
              <a:t>• In particular / Especially（强调）</a:t>
            </a:r>
          </a:p>
          <a:p>
            <a:pPr algn="l">
              <a:spcBef>
                <a:spcPts val="700"/>
              </a:spcBef>
            </a:pPr>
            <a:r>
              <a:rPr sz="1600">
                <a:solidFill>
                  <a:srgbClr val="1B3A6B"/>
                </a:solidFill>
              </a:rPr>
              <a:t>• Above all / Most importantly（最重要）</a:t>
            </a:r>
          </a:p>
          <a:p>
            <a:pPr algn="l">
              <a:spcBef>
                <a:spcPts val="700"/>
              </a:spcBef>
            </a:pPr>
            <a:r>
              <a:rPr sz="1600">
                <a:solidFill>
                  <a:srgbClr val="1B3A6B"/>
                </a:solidFill>
              </a:rPr>
              <a:t>• Finally / Last but not least（收尾）</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转折与对比</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However / Nevertheless（然而）</a:t>
            </a:r>
          </a:p>
          <a:p>
            <a:pPr algn="l">
              <a:spcBef>
                <a:spcPts val="700"/>
              </a:spcBef>
            </a:pPr>
            <a:r>
              <a:rPr sz="1600">
                <a:solidFill>
                  <a:srgbClr val="1B3A6B"/>
                </a:solidFill>
              </a:rPr>
              <a:t>• On the other hand（另一方面）</a:t>
            </a:r>
          </a:p>
          <a:p>
            <a:pPr algn="l">
              <a:spcBef>
                <a:spcPts val="700"/>
              </a:spcBef>
            </a:pPr>
            <a:r>
              <a:rPr sz="1600">
                <a:solidFill>
                  <a:srgbClr val="1B3A6B"/>
                </a:solidFill>
              </a:rPr>
              <a:t>• In contrast / Whereas（对比）</a:t>
            </a:r>
          </a:p>
          <a:p>
            <a:pPr algn="l">
              <a:spcBef>
                <a:spcPts val="700"/>
              </a:spcBef>
            </a:pPr>
            <a:r>
              <a:rPr sz="1600">
                <a:solidFill>
                  <a:srgbClr val="1B3A6B"/>
                </a:solidFill>
              </a:rPr>
              <a:t>• Despite this / Even so（尽管如此）</a:t>
            </a:r>
          </a:p>
          <a:p>
            <a:pPr algn="l">
              <a:spcBef>
                <a:spcPts val="700"/>
              </a:spcBef>
            </a:pPr>
            <a:r>
              <a:rPr sz="1600">
                <a:solidFill>
                  <a:srgbClr val="1B3A6B"/>
                </a:solidFill>
              </a:rPr>
              <a:t>• That said / Having said that（话虽如此）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L05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流利≠快，而是：停顿自然、节奏稳定、连接词丰富</a:t>
            </a:r>
          </a:p>
          <a:p>
            <a:pPr>
              <a:spcBef>
                <a:spcPts val="800"/>
              </a:spcBef>
            </a:pPr>
            <a:r>
              <a:rPr sz="1600">
                <a:solidFill>
                  <a:srgbClr val="FFFFFF"/>
                </a:solidFill>
              </a:rPr>
              <a:t>✓  用有效填充语替代um/er：'Well...'/'Let me think...'</a:t>
            </a:r>
          </a:p>
          <a:p>
            <a:pPr>
              <a:spcBef>
                <a:spcPts val="800"/>
              </a:spcBef>
            </a:pPr>
            <a:r>
              <a:rPr sz="1600">
                <a:solidFill>
                  <a:srgbClr val="FFFFFF"/>
                </a:solidFill>
              </a:rPr>
              <a:t>✓  英语思维：每天5分钟英文自言自语是最高效的FC训练</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录音5分钟自由口语，统计um/er出现次数，目标每分钟&lt;3次</a:t>
            </a:r>
          </a:p>
          <a:p>
            <a:pPr>
              <a:spcBef>
                <a:spcPts val="800"/>
              </a:spcBef>
            </a:pPr>
            <a:r>
              <a:rPr sz="1500">
                <a:solidFill>
                  <a:srgbClr val="FFFFFF"/>
                </a:solidFill>
              </a:rPr>
              <a:t>→  整理20个个人常用连接词，本周内全部在口语中自然使用</a:t>
            </a:r>
          </a:p>
          <a:p>
            <a:pPr>
              <a:spcBef>
                <a:spcPts val="800"/>
              </a:spcBef>
            </a:pPr>
            <a:r>
              <a:rPr sz="1500">
                <a:solidFill>
                  <a:srgbClr val="FFFFFF"/>
                </a:solidFill>
              </a:rPr>
              <a:t>→  挑战：连续用英文思考一件事10分钟（不允许中文）</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L06</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词汇资源
精准提升</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建立口语词汇替换系统，消灭单调词</a:t>
            </a:r>
          </a:p>
          <a:p>
            <a:pPr algn="l">
              <a:spcBef>
                <a:spcPts val="1000"/>
              </a:spcBef>
            </a:pPr>
            <a:r>
              <a:rPr sz="1700">
                <a:solidFill>
                  <a:srgbClr val="1B3A6B"/>
                </a:solidFill>
              </a:rPr>
              <a:t>✦  掌握地道搭配(collocation)的使用</a:t>
            </a:r>
          </a:p>
          <a:p>
            <a:pPr algn="l">
              <a:spcBef>
                <a:spcPts val="1000"/>
              </a:spcBef>
            </a:pPr>
            <a:r>
              <a:rPr sz="1700">
                <a:solidFill>
                  <a:srgbClr val="1B3A6B"/>
                </a:solidFill>
              </a:rPr>
              <a:t>✦  学习口语惯用语和习语(idiom)的正确场景</a:t>
            </a:r>
          </a:p>
          <a:p>
            <a:pPr algn="l">
              <a:spcBef>
                <a:spcPts val="1000"/>
              </a:spcBef>
            </a:pPr>
            <a:r>
              <a:rPr sz="1700">
                <a:solidFill>
                  <a:srgbClr val="1B3A6B"/>
                </a:solidFill>
              </a:rPr>
              <a:t>✦  LR从6分到7分的核心词汇策略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高频单调词替换词库</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good/great替换</a:t>
            </a:r>
          </a:p>
          <a:p>
            <a:pPr algn="l">
              <a:spcBef>
                <a:spcPts val="200"/>
              </a:spcBef>
            </a:pPr>
            <a:r>
              <a:rPr sz="1600">
                <a:solidFill>
                  <a:srgbClr val="556580"/>
                </a:solidFill>
              </a:rPr>
              <a:t>    remarkable / outstanding / genuinely enjoyable / exceptionally well-done</a:t>
            </a:r>
          </a:p>
          <a:p>
            <a:pPr algn="l">
              <a:spcBef>
                <a:spcPts val="800"/>
              </a:spcBef>
            </a:pPr>
            <a:r>
              <a:rPr sz="1900" b="1">
                <a:solidFill>
                  <a:srgbClr val="1B3A6B"/>
                </a:solidFill>
              </a:rPr>
              <a:t>▶  interesting替换</a:t>
            </a:r>
          </a:p>
          <a:p>
            <a:pPr algn="l">
              <a:spcBef>
                <a:spcPts val="200"/>
              </a:spcBef>
            </a:pPr>
            <a:r>
              <a:rPr sz="1600">
                <a:solidFill>
                  <a:srgbClr val="556580"/>
                </a:solidFill>
              </a:rPr>
              <a:t>    thought-provoking / captivating / fascinating / eye-opening</a:t>
            </a:r>
          </a:p>
          <a:p>
            <a:pPr algn="l">
              <a:spcBef>
                <a:spcPts val="800"/>
              </a:spcBef>
            </a:pPr>
            <a:r>
              <a:rPr sz="1900" b="1">
                <a:solidFill>
                  <a:srgbClr val="1B3A6B"/>
                </a:solidFill>
              </a:rPr>
              <a:t>▶  important替换</a:t>
            </a:r>
          </a:p>
          <a:p>
            <a:pPr algn="l">
              <a:spcBef>
                <a:spcPts val="200"/>
              </a:spcBef>
            </a:pPr>
            <a:r>
              <a:rPr sz="1600">
                <a:solidFill>
                  <a:srgbClr val="556580"/>
                </a:solidFill>
              </a:rPr>
              <a:t>    crucial / pivotal / of great significance / plays a vital role</a:t>
            </a:r>
          </a:p>
          <a:p>
            <a:pPr algn="l">
              <a:spcBef>
                <a:spcPts val="800"/>
              </a:spcBef>
            </a:pPr>
            <a:r>
              <a:rPr sz="1900" b="1">
                <a:solidFill>
                  <a:srgbClr val="1B3A6B"/>
                </a:solidFill>
              </a:rPr>
              <a:t>▶  big/large替换</a:t>
            </a:r>
          </a:p>
          <a:p>
            <a:pPr algn="l">
              <a:spcBef>
                <a:spcPts val="200"/>
              </a:spcBef>
            </a:pPr>
            <a:r>
              <a:rPr sz="1600">
                <a:solidFill>
                  <a:srgbClr val="556580"/>
                </a:solidFill>
              </a:rPr>
              <a:t>    substantial / considerable / massive / extensive</a:t>
            </a:r>
          </a:p>
          <a:p>
            <a:pPr algn="l">
              <a:spcBef>
                <a:spcPts val="800"/>
              </a:spcBef>
            </a:pPr>
            <a:r>
              <a:rPr sz="1900" b="1">
                <a:solidFill>
                  <a:srgbClr val="1B3A6B"/>
                </a:solidFill>
              </a:rPr>
              <a:t>▶  a lot of替换</a:t>
            </a:r>
          </a:p>
          <a:p>
            <a:pPr algn="l">
              <a:spcBef>
                <a:spcPts val="200"/>
              </a:spcBef>
            </a:pPr>
            <a:r>
              <a:rPr sz="1600">
                <a:solidFill>
                  <a:srgbClr val="556580"/>
                </a:solidFill>
              </a:rPr>
              <a:t>    a significant number of / a wide range of / countless / numerous</a:t>
            </a:r>
          </a:p>
          <a:p>
            <a:pPr algn="l">
              <a:spcBef>
                <a:spcPts val="800"/>
              </a:spcBef>
            </a:pPr>
            <a:r>
              <a:rPr sz="1900" b="1">
                <a:solidFill>
                  <a:srgbClr val="1B3A6B"/>
                </a:solidFill>
              </a:rPr>
              <a:t>▶  make me happy替换</a:t>
            </a:r>
          </a:p>
          <a:p>
            <a:pPr algn="l">
              <a:spcBef>
                <a:spcPts val="200"/>
              </a:spcBef>
            </a:pPr>
            <a:r>
              <a:rPr sz="1600">
                <a:solidFill>
                  <a:srgbClr val="556580"/>
                </a:solidFill>
              </a:rPr>
              <a:t>    gives me a sense of fulfillment / brings me immense joy / I find it deeply rewarding</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深圳学生注意：LR 7分标准：能使用不常见词汇且用法自然准确，有意识地避开最高频词汇。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地道口语搭配 Collocations</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时间搭配</a:t>
            </a:r>
          </a:p>
          <a:p>
            <a:pPr algn="l">
              <a:spcBef>
                <a:spcPts val="200"/>
              </a:spcBef>
            </a:pPr>
            <a:r>
              <a:rPr sz="1600">
                <a:solidFill>
                  <a:srgbClr val="556580"/>
                </a:solidFill>
              </a:rPr>
              <a:t>    spend time on / invest time in / waste time doing / make the most of my time</a:t>
            </a:r>
          </a:p>
          <a:p>
            <a:pPr algn="l">
              <a:spcBef>
                <a:spcPts val="800"/>
              </a:spcBef>
            </a:pPr>
            <a:r>
              <a:rPr sz="1900" b="1">
                <a:solidFill>
                  <a:srgbClr val="1B3A6B"/>
                </a:solidFill>
              </a:rPr>
              <a:t>▶  问题搭配</a:t>
            </a:r>
          </a:p>
          <a:p>
            <a:pPr algn="l">
              <a:spcBef>
                <a:spcPts val="200"/>
              </a:spcBef>
            </a:pPr>
            <a:r>
              <a:rPr sz="1600">
                <a:solidFill>
                  <a:srgbClr val="556580"/>
                </a:solidFill>
              </a:rPr>
              <a:t>    tackle a problem / address an issue / overcome a challenge / deal with difficulties</a:t>
            </a:r>
          </a:p>
          <a:p>
            <a:pPr algn="l">
              <a:spcBef>
                <a:spcPts val="800"/>
              </a:spcBef>
            </a:pPr>
            <a:r>
              <a:rPr sz="1900" b="1">
                <a:solidFill>
                  <a:srgbClr val="1B3A6B"/>
                </a:solidFill>
              </a:rPr>
              <a:t>▶  影响搭配</a:t>
            </a:r>
          </a:p>
          <a:p>
            <a:pPr algn="l">
              <a:spcBef>
                <a:spcPts val="200"/>
              </a:spcBef>
            </a:pPr>
            <a:r>
              <a:rPr sz="1600">
                <a:solidFill>
                  <a:srgbClr val="556580"/>
                </a:solidFill>
              </a:rPr>
              <a:t>    have a profound impact on / exert influence over / leave a lasting impression</a:t>
            </a:r>
          </a:p>
          <a:p>
            <a:pPr algn="l">
              <a:spcBef>
                <a:spcPts val="800"/>
              </a:spcBef>
            </a:pPr>
            <a:r>
              <a:rPr sz="1900" b="1">
                <a:solidFill>
                  <a:srgbClr val="1B3A6B"/>
                </a:solidFill>
              </a:rPr>
              <a:t>▶  学习搭配</a:t>
            </a:r>
          </a:p>
          <a:p>
            <a:pPr algn="l">
              <a:spcBef>
                <a:spcPts val="200"/>
              </a:spcBef>
            </a:pPr>
            <a:r>
              <a:rPr sz="1600">
                <a:solidFill>
                  <a:srgbClr val="556580"/>
                </a:solidFill>
              </a:rPr>
              <a:t>    acquire knowledge / broaden my horizons / sharpen my skills / pursue academic goals</a:t>
            </a:r>
          </a:p>
          <a:p>
            <a:pPr algn="l">
              <a:spcBef>
                <a:spcPts val="800"/>
              </a:spcBef>
            </a:pPr>
            <a:r>
              <a:rPr sz="1900" b="1">
                <a:solidFill>
                  <a:srgbClr val="1B3A6B"/>
                </a:solidFill>
              </a:rPr>
              <a:t>▶  感受搭配</a:t>
            </a:r>
          </a:p>
          <a:p>
            <a:pPr algn="l">
              <a:spcBef>
                <a:spcPts val="200"/>
              </a:spcBef>
            </a:pPr>
            <a:r>
              <a:rPr sz="1600">
                <a:solidFill>
                  <a:srgbClr val="556580"/>
                </a:solidFill>
              </a:rPr>
              <a:t>    feel a sense of / be struck by / be overwhelmed by / find it fulfilling</a:t>
            </a:r>
          </a:p>
          <a:p>
            <a:pPr algn="l">
              <a:spcBef>
                <a:spcPts val="800"/>
              </a:spcBef>
            </a:pPr>
            <a:r>
              <a:rPr sz="1900" b="1">
                <a:solidFill>
                  <a:srgbClr val="1B3A6B"/>
                </a:solidFill>
              </a:rPr>
              <a:t>▶  习语使用</a:t>
            </a:r>
          </a:p>
          <a:p>
            <a:pPr algn="l">
              <a:spcBef>
                <a:spcPts val="200"/>
              </a:spcBef>
            </a:pPr>
            <a:r>
              <a:rPr sz="1600">
                <a:solidFill>
                  <a:srgbClr val="556580"/>
                </a:solidFill>
              </a:rPr>
              <a:t>    适量使用1-2个习语增色，不要堆砌：'hit the nail on the head / open a can of worms'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L06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LR提分关键：不是背更多单词，而是准确使用不常见词汇</a:t>
            </a:r>
          </a:p>
          <a:p>
            <a:pPr>
              <a:spcBef>
                <a:spcPts val="800"/>
              </a:spcBef>
            </a:pPr>
            <a:r>
              <a:rPr sz="1600">
                <a:solidFill>
                  <a:srgbClr val="FFFFFF"/>
                </a:solidFill>
              </a:rPr>
              <a:t>✓  地道搭配比单个高级词更重要——'tackle a problem'比'solve'更地道</a:t>
            </a:r>
          </a:p>
          <a:p>
            <a:pPr>
              <a:spcBef>
                <a:spcPts val="800"/>
              </a:spcBef>
            </a:pPr>
            <a:r>
              <a:rPr sz="1600">
                <a:solidFill>
                  <a:srgbClr val="FFFFFF"/>
                </a:solidFill>
              </a:rPr>
              <a:t>✓  习语：了解并能自然使用2-3个，不要刻意堆砌</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整理个人口语中出现频率最高的10个词，每个找3个替换词</a:t>
            </a:r>
          </a:p>
          <a:p>
            <a:pPr>
              <a:spcBef>
                <a:spcPts val="800"/>
              </a:spcBef>
            </a:pPr>
            <a:r>
              <a:rPr sz="1500">
                <a:solidFill>
                  <a:srgbClr val="FFFFFF"/>
                </a:solidFill>
              </a:rPr>
              <a:t>→  每天背5个Collocation（带例句），在当天口语练习中使用</a:t>
            </a:r>
          </a:p>
          <a:p>
            <a:pPr>
              <a:spcBef>
                <a:spcPts val="800"/>
              </a:spcBef>
            </a:pPr>
            <a:r>
              <a:rPr sz="1500">
                <a:solidFill>
                  <a:srgbClr val="FFFFFF"/>
                </a:solidFill>
              </a:rPr>
              <a:t>→  找1篇高分Part 2范文，标出所有不常见词汇，整理到词汇本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L07</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语法范围
&amp; 准确性</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掌握口语中必须展示的5类句型结构</a:t>
            </a:r>
          </a:p>
          <a:p>
            <a:pPr algn="l">
              <a:spcBef>
                <a:spcPts val="1000"/>
              </a:spcBef>
            </a:pPr>
            <a:r>
              <a:rPr sz="1700">
                <a:solidFill>
                  <a:srgbClr val="1B3A6B"/>
                </a:solidFill>
              </a:rPr>
              <a:t>✦  时态运用：过去/现在/将来/假设的准确切换</a:t>
            </a:r>
          </a:p>
          <a:p>
            <a:pPr algn="l">
              <a:spcBef>
                <a:spcPts val="1000"/>
              </a:spcBef>
            </a:pPr>
            <a:r>
              <a:rPr sz="1700">
                <a:solidFill>
                  <a:srgbClr val="1B3A6B"/>
                </a:solidFill>
              </a:rPr>
              <a:t>✦  学会用从句、条件句增加句子复杂度</a:t>
            </a:r>
          </a:p>
          <a:p>
            <a:pPr algn="l">
              <a:spcBef>
                <a:spcPts val="1000"/>
              </a:spcBef>
            </a:pPr>
            <a:r>
              <a:rPr sz="1700">
                <a:solidFill>
                  <a:srgbClr val="1B3A6B"/>
                </a:solidFill>
              </a:rPr>
              <a:t>✦  GRA从6分到7分的关键语法错误规避</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口语必备5类句型</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条件句 If</a:t>
            </a:r>
          </a:p>
          <a:p>
            <a:pPr algn="l">
              <a:spcBef>
                <a:spcPts val="200"/>
              </a:spcBef>
            </a:pPr>
            <a:r>
              <a:rPr sz="1600">
                <a:solidFill>
                  <a:srgbClr val="556580"/>
                </a:solidFill>
              </a:rPr>
              <a:t>    If I had the chance, I would... / If technology continues to develop, we might...</a:t>
            </a:r>
          </a:p>
          <a:p>
            <a:pPr algn="l">
              <a:spcBef>
                <a:spcPts val="800"/>
              </a:spcBef>
            </a:pPr>
            <a:r>
              <a:rPr sz="1900" b="1">
                <a:solidFill>
                  <a:srgbClr val="1B3A6B"/>
                </a:solidFill>
              </a:rPr>
              <a:t>▶  比较句</a:t>
            </a:r>
          </a:p>
          <a:p>
            <a:pPr algn="l">
              <a:spcBef>
                <a:spcPts val="200"/>
              </a:spcBef>
            </a:pPr>
            <a:r>
              <a:rPr sz="1600">
                <a:solidFill>
                  <a:srgbClr val="556580"/>
                </a:solidFill>
              </a:rPr>
              <a:t>    ...is far more... than... / compared with X, Y seems considerably more...</a:t>
            </a:r>
          </a:p>
          <a:p>
            <a:pPr algn="l">
              <a:spcBef>
                <a:spcPts val="800"/>
              </a:spcBef>
            </a:pPr>
            <a:r>
              <a:rPr sz="1900" b="1">
                <a:solidFill>
                  <a:srgbClr val="1B3A6B"/>
                </a:solidFill>
              </a:rPr>
              <a:t>▶  让步从句</a:t>
            </a:r>
          </a:p>
          <a:p>
            <a:pPr algn="l">
              <a:spcBef>
                <a:spcPts val="200"/>
              </a:spcBef>
            </a:pPr>
            <a:r>
              <a:rPr sz="1600">
                <a:solidFill>
                  <a:srgbClr val="556580"/>
                </a:solidFill>
              </a:rPr>
              <a:t>    Although/Even though... / Despite the fact that... / While I understand that...</a:t>
            </a:r>
          </a:p>
          <a:p>
            <a:pPr algn="l">
              <a:spcBef>
                <a:spcPts val="800"/>
              </a:spcBef>
            </a:pPr>
            <a:r>
              <a:rPr sz="1900" b="1">
                <a:solidFill>
                  <a:srgbClr val="1B3A6B"/>
                </a:solidFill>
              </a:rPr>
              <a:t>▶  强调结构</a:t>
            </a:r>
          </a:p>
          <a:p>
            <a:pPr algn="l">
              <a:spcBef>
                <a:spcPts val="200"/>
              </a:spcBef>
            </a:pPr>
            <a:r>
              <a:rPr sz="1600">
                <a:solidFill>
                  <a:srgbClr val="556580"/>
                </a:solidFill>
              </a:rPr>
              <a:t>    What really matters is... / It's the quality, not the quantity, that counts</a:t>
            </a:r>
          </a:p>
          <a:p>
            <a:pPr algn="l">
              <a:spcBef>
                <a:spcPts val="800"/>
              </a:spcBef>
            </a:pPr>
            <a:r>
              <a:rPr sz="1900" b="1">
                <a:solidFill>
                  <a:srgbClr val="1B3A6B"/>
                </a:solidFill>
              </a:rPr>
              <a:t>▶  被动语态</a:t>
            </a:r>
          </a:p>
          <a:p>
            <a:pPr algn="l">
              <a:spcBef>
                <a:spcPts val="200"/>
              </a:spcBef>
            </a:pPr>
            <a:r>
              <a:rPr sz="1600">
                <a:solidFill>
                  <a:srgbClr val="556580"/>
                </a:solidFill>
              </a:rPr>
              <a:t>    is widely regarded as / has been significantly influenced by / was established 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语法提升：改写练习</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原句（5.5分语法）：
'I think technology is good. It help people do many things. We can communicate with friends far away. Also we can find information quickly. But sometimes technology is bad for children.'
改写目标（7分语法）：请注意时态准确性、句子多样性、从句使用：</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改写示范（7分）：
'I genuinely believe that technology has had a transformative impact on our daily lives. It enables us to communicate with people across the globe almost instantly, which would have seemed impossible a few decades ago. That said, I do have concerns about its influence on younger generations, particularly in terms of screen time and its effect on social skills.'</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关键改进：has had(现在完成时)、which从句、would have seemed(虚拟语气)、particularly(副词增色)</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L07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GRA 7分：3种以上不同句型+时态基本准确+偶有小错无伤大雅</a:t>
            </a:r>
          </a:p>
          <a:p>
            <a:pPr>
              <a:spcBef>
                <a:spcPts val="800"/>
              </a:spcBef>
            </a:pPr>
            <a:r>
              <a:rPr sz="1600">
                <a:solidFill>
                  <a:srgbClr val="FFFFFF"/>
                </a:solidFill>
              </a:rPr>
              <a:t>✓  重点练：条件句/让步从句/比较句——这三类最能提升句子复杂度</a:t>
            </a:r>
          </a:p>
          <a:p>
            <a:pPr>
              <a:spcBef>
                <a:spcPts val="800"/>
              </a:spcBef>
            </a:pPr>
            <a:r>
              <a:rPr sz="1600">
                <a:solidFill>
                  <a:srgbClr val="FFFFFF"/>
                </a:solidFill>
              </a:rPr>
              <a:t>✓  时态：Part 1现在时为主，Part 2过去时为主，Part 3现在/将来为主</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用5类句型分别造5个口语场景句子，录音练习</a:t>
            </a:r>
          </a:p>
          <a:p>
            <a:pPr>
              <a:spcBef>
                <a:spcPts val="800"/>
              </a:spcBef>
            </a:pPr>
            <a:r>
              <a:rPr sz="1500">
                <a:solidFill>
                  <a:srgbClr val="FFFFFF"/>
                </a:solidFill>
              </a:rPr>
              <a:t>→  找一篇自己之前的录音，用改写练习方法升级语法</a:t>
            </a:r>
          </a:p>
          <a:p>
            <a:pPr>
              <a:spcBef>
                <a:spcPts val="800"/>
              </a:spcBef>
            </a:pPr>
            <a:r>
              <a:rPr sz="1500">
                <a:solidFill>
                  <a:srgbClr val="FFFFFF"/>
                </a:solidFill>
              </a:rPr>
              <a:t>→  每天语法练习：把5句简单句改写成复合句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L08</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发音与语调
自然提升</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识别并纠正深圳学生的高频发音错误</a:t>
            </a:r>
          </a:p>
          <a:p>
            <a:pPr algn="l">
              <a:spcBef>
                <a:spcPts val="1000"/>
              </a:spcBef>
            </a:pPr>
            <a:r>
              <a:rPr sz="1700">
                <a:solidFill>
                  <a:srgbClr val="1B3A6B"/>
                </a:solidFill>
              </a:rPr>
              <a:t>✦  掌握英语语调的升降调规律</a:t>
            </a:r>
          </a:p>
          <a:p>
            <a:pPr algn="l">
              <a:spcBef>
                <a:spcPts val="1000"/>
              </a:spcBef>
            </a:pPr>
            <a:r>
              <a:rPr sz="1700">
                <a:solidFill>
                  <a:srgbClr val="1B3A6B"/>
                </a:solidFill>
              </a:rPr>
              <a:t>✦  学会通过语调传递情感和确信度</a:t>
            </a:r>
          </a:p>
          <a:p>
            <a:pPr algn="l">
              <a:spcBef>
                <a:spcPts val="1000"/>
              </a:spcBef>
            </a:pPr>
            <a:r>
              <a:rPr sz="1700">
                <a:solidFill>
                  <a:srgbClr val="1B3A6B"/>
                </a:solidFill>
              </a:rPr>
              <a:t>✦  发音(P)从6分到7分的关键技巧</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深圳学生高频发音问题</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th发音</a:t>
            </a:r>
          </a:p>
          <a:p>
            <a:pPr algn="l">
              <a:spcBef>
                <a:spcPts val="200"/>
              </a:spcBef>
            </a:pPr>
            <a:r>
              <a:rPr sz="1600">
                <a:solidFill>
                  <a:srgbClr val="556580"/>
                </a:solidFill>
              </a:rPr>
              <a:t>    think=sink(错) → 舌尖轻触上齿背，气流穿过 [θ]；this/that中[ð]有振动</a:t>
            </a:r>
          </a:p>
          <a:p>
            <a:pPr algn="l">
              <a:spcBef>
                <a:spcPts val="800"/>
              </a:spcBef>
            </a:pPr>
            <a:r>
              <a:rPr sz="1900" b="1">
                <a:solidFill>
                  <a:srgbClr val="1B3A6B"/>
                </a:solidFill>
              </a:rPr>
              <a:t>▶  r/l区分</a:t>
            </a:r>
          </a:p>
          <a:p>
            <a:pPr algn="l">
              <a:spcBef>
                <a:spcPts val="200"/>
              </a:spcBef>
            </a:pPr>
            <a:r>
              <a:rPr sz="1600">
                <a:solidFill>
                  <a:srgbClr val="556580"/>
                </a:solidFill>
              </a:rPr>
              <a:t>    rice≠lice；right≠light → r：舌尖不碰上颚，向后卷；l：舌尖轻触上颚</a:t>
            </a:r>
          </a:p>
          <a:p>
            <a:pPr algn="l">
              <a:spcBef>
                <a:spcPts val="800"/>
              </a:spcBef>
            </a:pPr>
            <a:r>
              <a:rPr sz="1900" b="1">
                <a:solidFill>
                  <a:srgbClr val="1B3A6B"/>
                </a:solidFill>
              </a:rPr>
              <a:t>▶  词尾辅音</a:t>
            </a:r>
          </a:p>
          <a:p>
            <a:pPr algn="l">
              <a:spcBef>
                <a:spcPts val="200"/>
              </a:spcBef>
            </a:pPr>
            <a:r>
              <a:rPr sz="1600">
                <a:solidFill>
                  <a:srgbClr val="556580"/>
                </a:solidFill>
              </a:rPr>
              <a:t>    desk末尾k要完整发出；band末尾d要发出；不要吞音</a:t>
            </a:r>
          </a:p>
          <a:p>
            <a:pPr algn="l">
              <a:spcBef>
                <a:spcPts val="800"/>
              </a:spcBef>
            </a:pPr>
            <a:r>
              <a:rPr sz="1900" b="1">
                <a:solidFill>
                  <a:srgbClr val="1B3A6B"/>
                </a:solidFill>
              </a:rPr>
              <a:t>▶  重音位置</a:t>
            </a:r>
          </a:p>
          <a:p>
            <a:pPr algn="l">
              <a:spcBef>
                <a:spcPts val="200"/>
              </a:spcBef>
            </a:pPr>
            <a:r>
              <a:rPr sz="1600">
                <a:solidFill>
                  <a:srgbClr val="556580"/>
                </a:solidFill>
              </a:rPr>
              <a:t>    PREsent(n.礼物) vs preSENT(v.呈现)；REcord(n.) vs reCORD(v.)</a:t>
            </a:r>
          </a:p>
          <a:p>
            <a:pPr algn="l">
              <a:spcBef>
                <a:spcPts val="800"/>
              </a:spcBef>
            </a:pPr>
            <a:r>
              <a:rPr sz="1900" b="1">
                <a:solidFill>
                  <a:srgbClr val="1B3A6B"/>
                </a:solidFill>
              </a:rPr>
              <a:t>▶  语调单调</a:t>
            </a:r>
          </a:p>
          <a:p>
            <a:pPr algn="l">
              <a:spcBef>
                <a:spcPts val="200"/>
              </a:spcBef>
            </a:pPr>
            <a:r>
              <a:rPr sz="1600">
                <a:solidFill>
                  <a:srgbClr val="556580"/>
                </a:solidFill>
              </a:rPr>
              <a:t>    陈述句结尾降调↓；一般疑问句结尾升调↑；列举用升降升降↓</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深圳学生注意：发音评分标准：不要求英美口音，要求清晰易懂+语调自然。广东口音本身不扣分！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英语语调规律</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信息焦点词</a:t>
            </a:r>
          </a:p>
          <a:p>
            <a:pPr algn="l">
              <a:spcBef>
                <a:spcPts val="200"/>
              </a:spcBef>
            </a:pPr>
            <a:r>
              <a:rPr sz="1600">
                <a:solidFill>
                  <a:srgbClr val="556580"/>
                </a:solidFill>
              </a:rPr>
              <a:t>    句子中最重要的词要重读：I LOVE cooking（不是i love COOKING）</a:t>
            </a:r>
          </a:p>
          <a:p>
            <a:pPr algn="l">
              <a:spcBef>
                <a:spcPts val="800"/>
              </a:spcBef>
            </a:pPr>
            <a:r>
              <a:rPr sz="1900" b="1">
                <a:solidFill>
                  <a:srgbClr val="1B3A6B"/>
                </a:solidFill>
              </a:rPr>
              <a:t>▶  情感语调</a:t>
            </a:r>
          </a:p>
          <a:p>
            <a:pPr algn="l">
              <a:spcBef>
                <a:spcPts val="200"/>
              </a:spcBef>
            </a:pPr>
            <a:r>
              <a:rPr sz="1600">
                <a:solidFill>
                  <a:srgbClr val="556580"/>
                </a:solidFill>
              </a:rPr>
              <a:t>    兴奋：音调高、语速略快；沉思：音调低沉、语速慢</a:t>
            </a:r>
          </a:p>
          <a:p>
            <a:pPr algn="l">
              <a:spcBef>
                <a:spcPts val="800"/>
              </a:spcBef>
            </a:pPr>
            <a:r>
              <a:rPr sz="1900" b="1">
                <a:solidFill>
                  <a:srgbClr val="1B3A6B"/>
                </a:solidFill>
              </a:rPr>
              <a:t>▶  强调技巧</a:t>
            </a:r>
          </a:p>
          <a:p>
            <a:pPr algn="l">
              <a:spcBef>
                <a:spcPts val="200"/>
              </a:spcBef>
            </a:pPr>
            <a:r>
              <a:rPr sz="1600">
                <a:solidFill>
                  <a:srgbClr val="556580"/>
                </a:solidFill>
              </a:rPr>
              <a:t>    在关键词前微微停顿、拉长元音：'It was ab-so-lutely incredible'</a:t>
            </a:r>
          </a:p>
          <a:p>
            <a:pPr algn="l">
              <a:spcBef>
                <a:spcPts val="800"/>
              </a:spcBef>
            </a:pPr>
            <a:r>
              <a:rPr sz="1900" b="1">
                <a:solidFill>
                  <a:srgbClr val="1B3A6B"/>
                </a:solidFill>
              </a:rPr>
              <a:t>▶  连接时语调</a:t>
            </a:r>
          </a:p>
          <a:p>
            <a:pPr algn="l">
              <a:spcBef>
                <a:spcPts val="200"/>
              </a:spcBef>
            </a:pPr>
            <a:r>
              <a:rPr sz="1600">
                <a:solidFill>
                  <a:srgbClr val="556580"/>
                </a:solidFill>
              </a:rPr>
              <a:t>    and/but前通常稍停、降调，然后and/but升调继续</a:t>
            </a:r>
          </a:p>
          <a:p>
            <a:pPr algn="l">
              <a:spcBef>
                <a:spcPts val="800"/>
              </a:spcBef>
            </a:pPr>
            <a:r>
              <a:rPr sz="1900" b="1">
                <a:solidFill>
                  <a:srgbClr val="1B3A6B"/>
                </a:solidFill>
              </a:rPr>
              <a:t>▶  结尾语调</a:t>
            </a:r>
          </a:p>
          <a:p>
            <a:pPr algn="l">
              <a:spcBef>
                <a:spcPts val="200"/>
              </a:spcBef>
            </a:pPr>
            <a:r>
              <a:rPr sz="1600">
                <a:solidFill>
                  <a:srgbClr val="556580"/>
                </a:solidFill>
              </a:rPr>
              <a:t>    观点最后一句降调→表示确定；升调→表示不确定/开放态度</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L08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P 7分：清晰易懂+语调自然+重音正确，广东口音不扣分</a:t>
            </a:r>
          </a:p>
          <a:p>
            <a:pPr>
              <a:spcBef>
                <a:spcPts val="800"/>
              </a:spcBef>
            </a:pPr>
            <a:r>
              <a:rPr sz="1600">
                <a:solidFill>
                  <a:srgbClr val="FFFFFF"/>
                </a:solidFill>
              </a:rPr>
              <a:t>✓  重点攻克：th发音、词尾辅音、句子重音</a:t>
            </a:r>
          </a:p>
          <a:p>
            <a:pPr>
              <a:spcBef>
                <a:spcPts val="800"/>
              </a:spcBef>
            </a:pPr>
            <a:r>
              <a:rPr sz="1600">
                <a:solidFill>
                  <a:srgbClr val="FFFFFF"/>
                </a:solidFill>
              </a:rPr>
              <a:t>✓  语调比发音更重要：单调的语调比偶尔发音错更影响分数</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每天跟读10个含th的句子：think/through/although/worthwhile</a:t>
            </a:r>
          </a:p>
          <a:p>
            <a:pPr>
              <a:spcBef>
                <a:spcPts val="800"/>
              </a:spcBef>
            </a:pPr>
            <a:r>
              <a:rPr sz="1500">
                <a:solidFill>
                  <a:srgbClr val="FFFFFF"/>
                </a:solidFill>
              </a:rPr>
              <a:t>→  录音并播放自己说的5个句子，听是否有语调变化</a:t>
            </a:r>
          </a:p>
          <a:p>
            <a:pPr>
              <a:spcBef>
                <a:spcPts val="800"/>
              </a:spcBef>
            </a:pPr>
            <a:r>
              <a:rPr sz="1500">
                <a:solidFill>
                  <a:srgbClr val="FFFFFF"/>
                </a:solidFill>
              </a:rPr>
              <a:t>→  找一个英语youtuber或播客主持人，模仿其语调和重音习惯</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L09</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高频话题
词汇系统备考</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整合30个IELTS口语高频话题的核心词汇</a:t>
            </a:r>
          </a:p>
          <a:p>
            <a:pPr algn="l">
              <a:spcBef>
                <a:spcPts val="1000"/>
              </a:spcBef>
            </a:pPr>
            <a:r>
              <a:rPr sz="1700">
                <a:solidFill>
                  <a:srgbClr val="1B3A6B"/>
                </a:solidFill>
              </a:rPr>
              <a:t>✦  学会话题词汇的灵活迁移</a:t>
            </a:r>
          </a:p>
          <a:p>
            <a:pPr algn="l">
              <a:spcBef>
                <a:spcPts val="1000"/>
              </a:spcBef>
            </a:pPr>
            <a:r>
              <a:rPr sz="1700">
                <a:solidFill>
                  <a:srgbClr val="1B3A6B"/>
                </a:solidFill>
              </a:rPr>
              <a:t>✦  建立个人口语话题资料库</a:t>
            </a:r>
          </a:p>
          <a:p>
            <a:pPr algn="l">
              <a:spcBef>
                <a:spcPts val="1000"/>
              </a:spcBef>
            </a:pPr>
            <a:r>
              <a:rPr sz="1700">
                <a:solidFill>
                  <a:srgbClr val="1B3A6B"/>
                </a:solidFill>
              </a:rPr>
              <a:t>✦  针对深圳学生薄弱话题重点突破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深圳学生薄弱话题 vs 强项话题</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薄弱话题（需重点准备）</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Nature &amp; Environment（很少接触大自然）</a:t>
            </a:r>
          </a:p>
          <a:p>
            <a:pPr algn="l">
              <a:spcBef>
                <a:spcPts val="700"/>
              </a:spcBef>
            </a:pPr>
            <a:r>
              <a:rPr sz="1600">
                <a:solidFill>
                  <a:srgbClr val="1B3A6B"/>
                </a:solidFill>
              </a:rPr>
              <a:t>• Historical places &amp; Traditions（文化类话题词汇少）</a:t>
            </a:r>
          </a:p>
          <a:p>
            <a:pPr algn="l">
              <a:spcBef>
                <a:spcPts val="700"/>
              </a:spcBef>
            </a:pPr>
            <a:r>
              <a:rPr sz="1600">
                <a:solidFill>
                  <a:srgbClr val="1B3A6B"/>
                </a:solidFill>
              </a:rPr>
              <a:t>• Rural vs Urban life（深圳学生生活单一）</a:t>
            </a:r>
          </a:p>
          <a:p>
            <a:pPr algn="l">
              <a:spcBef>
                <a:spcPts val="700"/>
              </a:spcBef>
            </a:pPr>
            <a:r>
              <a:rPr sz="1600">
                <a:solidFill>
                  <a:srgbClr val="1B3A6B"/>
                </a:solidFill>
              </a:rPr>
              <a:t>• Art &amp; Music（兴趣类话题缺乏细节）</a:t>
            </a:r>
          </a:p>
          <a:p>
            <a:pPr algn="l">
              <a:spcBef>
                <a:spcPts val="700"/>
              </a:spcBef>
            </a:pPr>
            <a:r>
              <a:rPr sz="1600">
                <a:solidFill>
                  <a:srgbClr val="1B3A6B"/>
                </a:solidFill>
              </a:rPr>
              <a:t>• Helping others &amp; Volunteering</a:t>
            </a:r>
          </a:p>
          <a:p>
            <a:pPr algn="l">
              <a:spcBef>
                <a:spcPts val="700"/>
              </a:spcBef>
            </a:pPr>
            <a:r>
              <a:rPr sz="1600">
                <a:solidFill>
                  <a:srgbClr val="1B3A6B"/>
                </a:solidFill>
              </a:rPr>
              <a:t>• Childhood memories（回忆类不善用过去时）</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相对强项（可作为展示点）</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Technology &amp; Social Media（深圳科技氛围浓）</a:t>
            </a:r>
          </a:p>
          <a:p>
            <a:pPr algn="l">
              <a:spcBef>
                <a:spcPts val="700"/>
              </a:spcBef>
            </a:pPr>
            <a:r>
              <a:rPr sz="1600">
                <a:solidFill>
                  <a:srgbClr val="1B3A6B"/>
                </a:solidFill>
              </a:rPr>
              <a:t>• Shopping &amp; Consumer culture</a:t>
            </a:r>
          </a:p>
          <a:p>
            <a:pPr algn="l">
              <a:spcBef>
                <a:spcPts val="700"/>
              </a:spcBef>
            </a:pPr>
            <a:r>
              <a:rPr sz="1600">
                <a:solidFill>
                  <a:srgbClr val="1B3A6B"/>
                </a:solidFill>
              </a:rPr>
              <a:t>• Study &amp; Academic life</a:t>
            </a:r>
          </a:p>
          <a:p>
            <a:pPr algn="l">
              <a:spcBef>
                <a:spcPts val="700"/>
              </a:spcBef>
            </a:pPr>
            <a:r>
              <a:rPr sz="1600">
                <a:solidFill>
                  <a:srgbClr val="1B3A6B"/>
                </a:solidFill>
              </a:rPr>
              <a:t>• Food &amp; Restaurants</a:t>
            </a:r>
          </a:p>
          <a:p>
            <a:pPr algn="l">
              <a:spcBef>
                <a:spcPts val="700"/>
              </a:spcBef>
            </a:pPr>
            <a:r>
              <a:rPr sz="1600">
                <a:solidFill>
                  <a:srgbClr val="1B3A6B"/>
                </a:solidFill>
              </a:rPr>
              <a:t>• City life &amp; Infrastructure</a:t>
            </a:r>
          </a:p>
          <a:p>
            <a:pPr algn="l">
              <a:spcBef>
                <a:spcPts val="700"/>
              </a:spcBef>
            </a:pPr>
            <a:r>
              <a:rPr sz="1600">
                <a:solidFill>
                  <a:srgbClr val="1B3A6B"/>
                </a:solidFill>
              </a:rPr>
              <a:t>• Career &amp; Future plans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万能话题模板素材（Nature/Environment）</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场景</a:t>
            </a:r>
          </a:p>
          <a:p>
            <a:pPr algn="l">
              <a:spcBef>
                <a:spcPts val="200"/>
              </a:spcBef>
            </a:pPr>
            <a:r>
              <a:rPr sz="1600">
                <a:solidFill>
                  <a:srgbClr val="556580"/>
                </a:solidFill>
              </a:rPr>
              <a:t>    I once visited Dameisha Beach in Shenzhen / Wutong Mountain...</a:t>
            </a:r>
          </a:p>
          <a:p>
            <a:pPr algn="l">
              <a:spcBef>
                <a:spcPts val="800"/>
              </a:spcBef>
            </a:pPr>
            <a:r>
              <a:rPr sz="1900" b="1">
                <a:solidFill>
                  <a:srgbClr val="1B3A6B"/>
                </a:solidFill>
              </a:rPr>
              <a:t>▶  描述词</a:t>
            </a:r>
          </a:p>
          <a:p>
            <a:pPr algn="l">
              <a:spcBef>
                <a:spcPts val="200"/>
              </a:spcBef>
            </a:pPr>
            <a:r>
              <a:rPr sz="1600">
                <a:solidFill>
                  <a:srgbClr val="556580"/>
                </a:solidFill>
              </a:rPr>
              <a:t>    pristine / breathtaking scenery / lush greenery / tranquil atmosphere</a:t>
            </a:r>
          </a:p>
          <a:p>
            <a:pPr algn="l">
              <a:spcBef>
                <a:spcPts val="800"/>
              </a:spcBef>
            </a:pPr>
            <a:r>
              <a:rPr sz="1900" b="1">
                <a:solidFill>
                  <a:srgbClr val="1B3A6B"/>
                </a:solidFill>
              </a:rPr>
              <a:t>▶  感受词</a:t>
            </a:r>
          </a:p>
          <a:p>
            <a:pPr algn="l">
              <a:spcBef>
                <a:spcPts val="200"/>
              </a:spcBef>
            </a:pPr>
            <a:r>
              <a:rPr sz="1600">
                <a:solidFill>
                  <a:srgbClr val="556580"/>
                </a:solidFill>
              </a:rPr>
              <a:t>    I felt a profound sense of peace / it was a welcome escape from the city</a:t>
            </a:r>
          </a:p>
          <a:p>
            <a:pPr algn="l">
              <a:spcBef>
                <a:spcPts val="800"/>
              </a:spcBef>
            </a:pPr>
            <a:r>
              <a:rPr sz="1900" b="1">
                <a:solidFill>
                  <a:srgbClr val="1B3A6B"/>
                </a:solidFill>
              </a:rPr>
              <a:t>▶  环保词</a:t>
            </a:r>
          </a:p>
          <a:p>
            <a:pPr algn="l">
              <a:spcBef>
                <a:spcPts val="200"/>
              </a:spcBef>
            </a:pPr>
            <a:r>
              <a:rPr sz="1600">
                <a:solidFill>
                  <a:srgbClr val="556580"/>
                </a:solidFill>
              </a:rPr>
              <a:t>    carbon footprint / biodiversity / ecosystem / deforestation / conservation</a:t>
            </a:r>
          </a:p>
          <a:p>
            <a:pPr algn="l">
              <a:spcBef>
                <a:spcPts val="800"/>
              </a:spcBef>
            </a:pPr>
            <a:r>
              <a:rPr sz="1900" b="1">
                <a:solidFill>
                  <a:srgbClr val="1B3A6B"/>
                </a:solidFill>
              </a:rPr>
              <a:t>▶  话题延伸</a:t>
            </a:r>
          </a:p>
          <a:p>
            <a:pPr algn="l">
              <a:spcBef>
                <a:spcPts val="200"/>
              </a:spcBef>
            </a:pPr>
            <a:r>
              <a:rPr sz="1600">
                <a:solidFill>
                  <a:srgbClr val="556580"/>
                </a:solidFill>
              </a:rPr>
              <a:t>    lack of exposure to nature among urban youth / impact of rapid urbanisation</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深圳学生注意：准备2-3个'万能场景'：一次旅行、一段经历、一个人物——可以用于回答多种话题。</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L09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薄弱话题不是回避，而是准备足够的素材和词汇来应对</a:t>
            </a:r>
          </a:p>
          <a:p>
            <a:pPr>
              <a:spcBef>
                <a:spcPts val="800"/>
              </a:spcBef>
            </a:pPr>
            <a:r>
              <a:rPr sz="1600">
                <a:solidFill>
                  <a:srgbClr val="FFFFFF"/>
                </a:solidFill>
              </a:rPr>
              <a:t>✓  2-3个万能故事素材可以改造回答20+种不同题目</a:t>
            </a:r>
          </a:p>
          <a:p>
            <a:pPr>
              <a:spcBef>
                <a:spcPts val="800"/>
              </a:spcBef>
            </a:pPr>
            <a:r>
              <a:rPr sz="1600">
                <a:solidFill>
                  <a:srgbClr val="FFFFFF"/>
                </a:solidFill>
              </a:rPr>
              <a:t>✓  深圳学生的优势话题（科技/城市）要充分展示</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为5个薄弱话题各准备一段80词的核心素材，背熟关键词</a:t>
            </a:r>
          </a:p>
          <a:p>
            <a:pPr>
              <a:spcBef>
                <a:spcPts val="800"/>
              </a:spcBef>
            </a:pPr>
            <a:r>
              <a:rPr sz="1500">
                <a:solidFill>
                  <a:srgbClr val="FFFFFF"/>
                </a:solidFill>
              </a:rPr>
              <a:t>→  整理个人话题资料库：30个话题×10个核心词汇</a:t>
            </a:r>
          </a:p>
          <a:p>
            <a:pPr>
              <a:spcBef>
                <a:spcPts val="800"/>
              </a:spcBef>
            </a:pPr>
            <a:r>
              <a:rPr sz="1500">
                <a:solidFill>
                  <a:srgbClr val="FFFFFF"/>
                </a:solidFill>
              </a:rPr>
              <a:t>→  找考友进行模拟口语考试，互相评分</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L10</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全真模拟
&amp; 系统复盘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完成一次全流程模拟口语考试（严格计时）</a:t>
            </a:r>
          </a:p>
          <a:p>
            <a:pPr algn="l">
              <a:spcBef>
                <a:spcPts val="1000"/>
              </a:spcBef>
            </a:pPr>
            <a:r>
              <a:rPr sz="1700">
                <a:solidFill>
                  <a:srgbClr val="1B3A6B"/>
                </a:solidFill>
              </a:rPr>
              <a:t>✦  建立考场心理建设系统</a:t>
            </a:r>
          </a:p>
          <a:p>
            <a:pPr algn="l">
              <a:spcBef>
                <a:spcPts val="1000"/>
              </a:spcBef>
            </a:pPr>
            <a:r>
              <a:rPr sz="1700">
                <a:solidFill>
                  <a:srgbClr val="1B3A6B"/>
                </a:solidFill>
              </a:rPr>
              <a:t>✦  学会自我评估和持续提高的方法</a:t>
            </a:r>
          </a:p>
          <a:p>
            <a:pPr algn="l">
              <a:spcBef>
                <a:spcPts val="1000"/>
              </a:spcBef>
            </a:pPr>
            <a:r>
              <a:rPr sz="1700">
                <a:solidFill>
                  <a:srgbClr val="1B3A6B"/>
                </a:solidFill>
              </a:rPr>
              <a:t>✦  制定考前一周口语冲刺计划</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考场心理建设与节奏控制</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进考场前</a:t>
            </a:r>
          </a:p>
          <a:p>
            <a:pPr algn="l">
              <a:spcBef>
                <a:spcPts val="200"/>
              </a:spcBef>
            </a:pPr>
            <a:r>
              <a:rPr sz="1600">
                <a:solidFill>
                  <a:srgbClr val="556580"/>
                </a:solidFill>
              </a:rPr>
              <a:t>    深呼吸3次；提醒自己：考官不是评判者，是对话者</a:t>
            </a:r>
          </a:p>
          <a:p>
            <a:pPr algn="l">
              <a:spcBef>
                <a:spcPts val="800"/>
              </a:spcBef>
            </a:pPr>
            <a:r>
              <a:rPr sz="1900" b="1">
                <a:solidFill>
                  <a:srgbClr val="1B3A6B"/>
                </a:solidFill>
              </a:rPr>
              <a:t>▶  开场白</a:t>
            </a:r>
          </a:p>
          <a:p>
            <a:pPr algn="l">
              <a:spcBef>
                <a:spcPts val="200"/>
              </a:spcBef>
            </a:pPr>
            <a:r>
              <a:rPr sz="1600">
                <a:solidFill>
                  <a:srgbClr val="556580"/>
                </a:solidFill>
              </a:rPr>
              <a:t>    直接进入回答，不要说'I am nervous'或过度客套</a:t>
            </a:r>
          </a:p>
          <a:p>
            <a:pPr algn="l">
              <a:spcBef>
                <a:spcPts val="800"/>
              </a:spcBef>
            </a:pPr>
            <a:r>
              <a:rPr sz="1900" b="1">
                <a:solidFill>
                  <a:srgbClr val="1B3A6B"/>
                </a:solidFill>
              </a:rPr>
              <a:t>▶  答不上来</a:t>
            </a:r>
          </a:p>
          <a:p>
            <a:pPr algn="l">
              <a:spcBef>
                <a:spcPts val="200"/>
              </a:spcBef>
            </a:pPr>
            <a:r>
              <a:rPr sz="1600">
                <a:solidFill>
                  <a:srgbClr val="556580"/>
                </a:solidFill>
              </a:rPr>
              <a:t>    用'That's an interesting question...'争取2-3秒，然后诚实作答</a:t>
            </a:r>
          </a:p>
          <a:p>
            <a:pPr algn="l">
              <a:spcBef>
                <a:spcPts val="800"/>
              </a:spcBef>
            </a:pPr>
            <a:r>
              <a:rPr sz="1900" b="1">
                <a:solidFill>
                  <a:srgbClr val="1B3A6B"/>
                </a:solidFill>
              </a:rPr>
              <a:t>▶  说错了</a:t>
            </a:r>
          </a:p>
          <a:p>
            <a:pPr algn="l">
              <a:spcBef>
                <a:spcPts val="200"/>
              </a:spcBef>
            </a:pPr>
            <a:r>
              <a:rPr sz="1600">
                <a:solidFill>
                  <a:srgbClr val="556580"/>
                </a:solidFill>
              </a:rPr>
              <a:t>    自然纠正：'Sorry, I meant to say...'，不要停顿太久</a:t>
            </a:r>
          </a:p>
          <a:p>
            <a:pPr algn="l">
              <a:spcBef>
                <a:spcPts val="800"/>
              </a:spcBef>
            </a:pPr>
            <a:r>
              <a:rPr sz="1900" b="1">
                <a:solidFill>
                  <a:srgbClr val="1B3A6B"/>
                </a:solidFill>
              </a:rPr>
              <a:t>▶  考官打断</a:t>
            </a:r>
          </a:p>
          <a:p>
            <a:pPr algn="l">
              <a:spcBef>
                <a:spcPts val="200"/>
              </a:spcBef>
            </a:pPr>
            <a:r>
              <a:rPr sz="1600">
                <a:solidFill>
                  <a:srgbClr val="556580"/>
                </a:solidFill>
              </a:rPr>
              <a:t>    这是正常的！说明时间到了，不是回答有问题</a:t>
            </a:r>
          </a:p>
          <a:p>
            <a:pPr algn="l">
              <a:spcBef>
                <a:spcPts val="800"/>
              </a:spcBef>
            </a:pPr>
            <a:r>
              <a:rPr sz="1900" b="1">
                <a:solidFill>
                  <a:srgbClr val="1B3A6B"/>
                </a:solidFill>
              </a:rPr>
              <a:t>▶  结束语</a:t>
            </a:r>
          </a:p>
          <a:p>
            <a:pPr algn="l">
              <a:spcBef>
                <a:spcPts val="200"/>
              </a:spcBef>
            </a:pPr>
            <a:r>
              <a:rPr sz="1600">
                <a:solidFill>
                  <a:srgbClr val="556580"/>
                </a:solidFill>
              </a:rPr>
              <a:t>    考官说'That's the end of the test'后不要继续说话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考前一周口语冲刺</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D-7至D-5</a:t>
            </a:r>
          </a:p>
          <a:p>
            <a:pPr algn="l">
              <a:spcBef>
                <a:spcPts val="200"/>
              </a:spcBef>
            </a:pPr>
            <a:r>
              <a:rPr sz="1600">
                <a:solidFill>
                  <a:srgbClr val="556580"/>
                </a:solidFill>
              </a:rPr>
              <a:t>    每天完整模拟一次Part 1+2+3（约15分钟），录音留存</a:t>
            </a:r>
          </a:p>
          <a:p>
            <a:pPr algn="l">
              <a:spcBef>
                <a:spcPts val="800"/>
              </a:spcBef>
            </a:pPr>
            <a:r>
              <a:rPr sz="1900" b="1">
                <a:solidFill>
                  <a:srgbClr val="1B3A6B"/>
                </a:solidFill>
              </a:rPr>
              <a:t>▶  D-4</a:t>
            </a:r>
          </a:p>
          <a:p>
            <a:pPr algn="l">
              <a:spcBef>
                <a:spcPts val="200"/>
              </a:spcBef>
            </a:pPr>
            <a:r>
              <a:rPr sz="1600">
                <a:solidFill>
                  <a:srgbClr val="556580"/>
                </a:solidFill>
              </a:rPr>
              <a:t>    重听录音，对照评分标准自评FC/LR/GRA/P各项</a:t>
            </a:r>
          </a:p>
          <a:p>
            <a:pPr algn="l">
              <a:spcBef>
                <a:spcPts val="800"/>
              </a:spcBef>
            </a:pPr>
            <a:r>
              <a:rPr sz="1900" b="1">
                <a:solidFill>
                  <a:srgbClr val="1B3A6B"/>
                </a:solidFill>
              </a:rPr>
              <a:t>▶  D-3</a:t>
            </a:r>
          </a:p>
          <a:p>
            <a:pPr algn="l">
              <a:spcBef>
                <a:spcPts val="200"/>
              </a:spcBef>
            </a:pPr>
            <a:r>
              <a:rPr sz="1600">
                <a:solidFill>
                  <a:srgbClr val="556580"/>
                </a:solidFill>
              </a:rPr>
              <a:t>    重点练习薄弱项，复习个人词汇替换词表</a:t>
            </a:r>
          </a:p>
          <a:p>
            <a:pPr algn="l">
              <a:spcBef>
                <a:spcPts val="800"/>
              </a:spcBef>
            </a:pPr>
            <a:r>
              <a:rPr sz="1900" b="1">
                <a:solidFill>
                  <a:srgbClr val="1B3A6B"/>
                </a:solidFill>
              </a:rPr>
              <a:t>▶  D-2</a:t>
            </a:r>
          </a:p>
          <a:p>
            <a:pPr algn="l">
              <a:spcBef>
                <a:spcPts val="200"/>
              </a:spcBef>
            </a:pPr>
            <a:r>
              <a:rPr sz="1600">
                <a:solidFill>
                  <a:srgbClr val="556580"/>
                </a:solidFill>
              </a:rPr>
              <a:t>    用英文聊天：任何话题说5分钟，保持口感</a:t>
            </a:r>
          </a:p>
          <a:p>
            <a:pPr algn="l">
              <a:spcBef>
                <a:spcPts val="800"/>
              </a:spcBef>
            </a:pPr>
            <a:r>
              <a:rPr sz="1900" b="1">
                <a:solidFill>
                  <a:srgbClr val="1B3A6B"/>
                </a:solidFill>
              </a:rPr>
              <a:t>▶  D-1</a:t>
            </a:r>
          </a:p>
          <a:p>
            <a:pPr algn="l">
              <a:spcBef>
                <a:spcPts val="200"/>
              </a:spcBef>
            </a:pPr>
            <a:r>
              <a:rPr sz="1600">
                <a:solidFill>
                  <a:srgbClr val="556580"/>
                </a:solidFill>
              </a:rPr>
              <a:t>    轻松模拟1次Part 1，不练Part 2/3，保留精力</a:t>
            </a:r>
          </a:p>
          <a:p>
            <a:pPr algn="l">
              <a:spcBef>
                <a:spcPts val="800"/>
              </a:spcBef>
            </a:pPr>
            <a:r>
              <a:rPr sz="1900" b="1">
                <a:solidFill>
                  <a:srgbClr val="1B3A6B"/>
                </a:solidFill>
              </a:rPr>
              <a:t>▶  D-Day</a:t>
            </a:r>
          </a:p>
          <a:p>
            <a:pPr algn="l">
              <a:spcBef>
                <a:spcPts val="200"/>
              </a:spcBef>
            </a:pPr>
            <a:r>
              <a:rPr sz="1600">
                <a:solidFill>
                  <a:srgbClr val="556580"/>
                </a:solidFill>
              </a:rPr>
              <a:t>    考前30分钟：用英文在脑海中给自己一次'热身'介绍</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L10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口语7分不是靠背模板，而是靠大量真实练习积累的自信</a:t>
            </a:r>
          </a:p>
          <a:p>
            <a:pPr>
              <a:spcBef>
                <a:spcPts val="800"/>
              </a:spcBef>
            </a:pPr>
            <a:r>
              <a:rPr sz="1600">
                <a:solidFill>
                  <a:srgbClr val="FFFFFF"/>
                </a:solidFill>
              </a:rPr>
              <a:t>✓  考场最重要的是：沉着→扩展→不停顿过多</a:t>
            </a:r>
          </a:p>
          <a:p>
            <a:pPr>
              <a:spcBef>
                <a:spcPts val="800"/>
              </a:spcBef>
            </a:pPr>
            <a:r>
              <a:rPr sz="1600">
                <a:solidFill>
                  <a:srgbClr val="FFFFFF"/>
                </a:solidFill>
              </a:rPr>
              <a:t>✓  录音回听是最高效的自我提升工具，坚持到考试当天</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本课后：完成一次完整模拟考（录音），发给老师批改</a:t>
            </a:r>
          </a:p>
          <a:p>
            <a:pPr>
              <a:spcBef>
                <a:spcPts val="800"/>
              </a:spcBef>
            </a:pPr>
            <a:r>
              <a:rPr sz="1500">
                <a:solidFill>
                  <a:srgbClr val="FFFFFF"/>
                </a:solidFill>
              </a:rPr>
              <a:t>→  考前维持：每天15分钟口语练习，不间断</a:t>
            </a:r>
          </a:p>
          <a:p>
            <a:pPr>
              <a:spcBef>
                <a:spcPts val="800"/>
              </a:spcBef>
            </a:pPr>
            <a:r>
              <a:rPr sz="1500">
                <a:solidFill>
                  <a:srgbClr val="FFFFFF"/>
                </a:solidFill>
              </a:rPr>
              <a:t>→  目标复盘：对比第1课录音和现在录音，看清进步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