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60" cy="685800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778240" y="0"/>
            <a:ext cx="3413455" cy="6858000"/>
          </a:xfrm>
          <a:prstGeom prst="rect">
            <a:avLst/>
          </a:prstGeom>
          <a:solidFill>
            <a:srgbClr val="072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778240" y="1463040"/>
            <a:ext cx="3413455" cy="1828800"/>
          </a:xfrm>
          <a:prstGeom prst="rect">
            <a:avLst/>
          </a:prstGeom>
          <a:noFill/>
        </p:spPr>
        <p:txBody>
          <a:bodyPr wrap="square" anchor="t">
            <a:spAutoFit/>
          </a:bodyPr>
          <a:lstStyle/>
          <a:p>
            <a:pPr algn="ctr"/>
            <a:r>
              <a:rPr sz="12000" b="1" i="0">
                <a:solidFill>
                  <a:srgbClr val="12A594"/>
                </a:solidFill>
                <a:latin typeface="Calibri"/>
              </a:rPr>
              <a:t>L05</a:t>
            </a:r>
          </a:p>
        </p:txBody>
      </p:sp>
      <p:sp>
        <p:nvSpPr>
          <p:cNvPr id="6" name="TextBox 5"/>
          <p:cNvSpPr txBox="1"/>
          <p:nvPr/>
        </p:nvSpPr>
        <p:spPr>
          <a:xfrm>
            <a:off x="8778240" y="3566160"/>
            <a:ext cx="3413455" cy="731520"/>
          </a:xfrm>
          <a:prstGeom prst="rect">
            <a:avLst/>
          </a:prstGeom>
          <a:noFill/>
        </p:spPr>
        <p:txBody>
          <a:bodyPr wrap="square" anchor="t">
            <a:spAutoFit/>
          </a:bodyPr>
          <a:lstStyle/>
          <a:p>
            <a:pPr algn="ctr"/>
            <a:r>
              <a:rPr sz="3000" b="1" i="0">
                <a:solidFill>
                  <a:srgbClr val="FFFFFF"/>
                </a:solidFill>
                <a:latin typeface="Calibri"/>
              </a:rPr>
              <a:t>/ 10</a:t>
            </a:r>
          </a:p>
        </p:txBody>
      </p:sp>
      <p:sp>
        <p:nvSpPr>
          <p:cNvPr id="7" name="TextBox 6"/>
          <p:cNvSpPr txBox="1"/>
          <p:nvPr/>
        </p:nvSpPr>
        <p:spPr>
          <a:xfrm>
            <a:off x="777240" y="1280160"/>
            <a:ext cx="7680960" cy="640080"/>
          </a:xfrm>
          <a:prstGeom prst="rect">
            <a:avLst/>
          </a:prstGeom>
          <a:noFill/>
        </p:spPr>
        <p:txBody>
          <a:bodyPr wrap="square" anchor="t">
            <a:spAutoFit/>
          </a:bodyPr>
          <a:lstStyle/>
          <a:p>
            <a:pPr algn="l"/>
            <a:r>
              <a:rPr sz="2000" b="1" i="0">
                <a:solidFill>
                  <a:srgbClr val="12A594"/>
                </a:solidFill>
                <a:latin typeface="Calibri"/>
              </a:rPr>
              <a:t>IELTS Listening 听力</a:t>
            </a:r>
          </a:p>
        </p:txBody>
      </p:sp>
      <p:sp>
        <p:nvSpPr>
          <p:cNvPr id="8" name="TextBox 7"/>
          <p:cNvSpPr txBox="1"/>
          <p:nvPr/>
        </p:nvSpPr>
        <p:spPr>
          <a:xfrm>
            <a:off x="777240" y="1920240"/>
            <a:ext cx="7680960" cy="2194560"/>
          </a:xfrm>
          <a:prstGeom prst="rect">
            <a:avLst/>
          </a:prstGeom>
          <a:noFill/>
        </p:spPr>
        <p:txBody>
          <a:bodyPr wrap="square" anchor="t">
            <a:spAutoFit/>
          </a:bodyPr>
          <a:lstStyle/>
          <a:p>
            <a:pPr algn="l"/>
            <a:r>
              <a:rPr sz="4200" b="1" i="0">
                <a:solidFill>
                  <a:srgbClr val="FFFFFF"/>
                </a:solidFill>
                <a:latin typeface="Calibri"/>
              </a:rPr>
              <a:t>Section 4
学术讲座攻略</a:t>
            </a:r>
          </a:p>
        </p:txBody>
      </p:sp>
      <p:sp>
        <p:nvSpPr>
          <p:cNvPr id="9" name="TextBox 8"/>
          <p:cNvSpPr txBox="1"/>
          <p:nvPr/>
        </p:nvSpPr>
        <p:spPr>
          <a:xfrm>
            <a:off x="777240" y="4206240"/>
            <a:ext cx="7498079" cy="1097280"/>
          </a:xfrm>
          <a:prstGeom prst="rect">
            <a:avLst/>
          </a:prstGeom>
          <a:noFill/>
        </p:spPr>
        <p:txBody>
          <a:bodyPr wrap="square" anchor="t">
            <a:spAutoFit/>
          </a:bodyPr>
          <a:lstStyle/>
          <a:p>
            <a:pPr algn="l"/>
            <a:r>
              <a:rPr sz="1800" b="0" i="0">
                <a:solidFill>
                  <a:srgbClr val="CFDCF2"/>
                </a:solidFill>
                <a:latin typeface="Calibri"/>
              </a:rPr>
              <a:t>Section 4: Academic Lecture Mastery</a:t>
            </a:r>
          </a:p>
        </p:txBody>
      </p:sp>
      <p:sp>
        <p:nvSpPr>
          <p:cNvPr id="10" name="Rounded Rectangle 9"/>
          <p:cNvSpPr/>
          <p:nvPr/>
        </p:nvSpPr>
        <p:spPr>
          <a:xfrm>
            <a:off x="777240" y="5669280"/>
            <a:ext cx="3840480" cy="548640"/>
          </a:xfrm>
          <a:prstGeom prst="round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5742432"/>
            <a:ext cx="3657600" cy="411480"/>
          </a:xfrm>
          <a:prstGeom prst="rect">
            <a:avLst/>
          </a:prstGeom>
          <a:noFill/>
        </p:spPr>
        <p:txBody>
          <a:bodyPr wrap="square" anchor="t">
            <a:spAutoFit/>
          </a:bodyPr>
          <a:lstStyle/>
          <a:p>
            <a:pPr algn="l"/>
            <a:r>
              <a:rPr sz="1300" b="1" i="0">
                <a:solidFill>
                  <a:srgbClr val="FFFFFF"/>
                </a:solidFill>
                <a:latin typeface="Calibri"/>
              </a:rPr>
              <a:t>第 5 节课 · 课时 90 分钟</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本课流程  Lesson Roadmap</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7" name="Rounded Rectangle 6"/>
          <p:cNvSpPr/>
          <p:nvPr/>
        </p:nvSpPr>
        <p:spPr>
          <a:xfrm>
            <a:off x="548640" y="1325880"/>
            <a:ext cx="566928" cy="566928"/>
          </a:xfrm>
          <a:prstGeom prst="round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371600"/>
            <a:ext cx="566928" cy="457200"/>
          </a:xfrm>
          <a:prstGeom prst="rect">
            <a:avLst/>
          </a:prstGeom>
          <a:noFill/>
        </p:spPr>
        <p:txBody>
          <a:bodyPr wrap="square" anchor="t">
            <a:spAutoFit/>
          </a:bodyPr>
          <a:lstStyle/>
          <a:p>
            <a:pPr algn="ctr"/>
            <a:r>
              <a:rPr sz="2000" b="1" i="0">
                <a:solidFill>
                  <a:srgbClr val="FFFFFF"/>
                </a:solidFill>
                <a:latin typeface="Calibri"/>
              </a:rPr>
              <a:t>1</a:t>
            </a:r>
          </a:p>
        </p:txBody>
      </p:sp>
      <p:sp>
        <p:nvSpPr>
          <p:cNvPr id="9" name="TextBox 8"/>
          <p:cNvSpPr txBox="1"/>
          <p:nvPr/>
        </p:nvSpPr>
        <p:spPr>
          <a:xfrm>
            <a:off x="1280160" y="1344168"/>
            <a:ext cx="4937760" cy="731520"/>
          </a:xfrm>
          <a:prstGeom prst="rect">
            <a:avLst/>
          </a:prstGeom>
          <a:noFill/>
        </p:spPr>
        <p:txBody>
          <a:bodyPr wrap="square" anchor="ctr">
            <a:spAutoFit/>
          </a:bodyPr>
          <a:lstStyle/>
          <a:p>
            <a:pPr algn="l"/>
            <a:r>
              <a:rPr sz="1450" b="1" i="0">
                <a:solidFill>
                  <a:srgbClr val="1E293B"/>
                </a:solidFill>
                <a:latin typeface="Calibri"/>
              </a:rPr>
              <a:t>上节回顾</a:t>
            </a:r>
          </a:p>
        </p:txBody>
      </p:sp>
      <p:sp>
        <p:nvSpPr>
          <p:cNvPr id="10" name="Rounded Rectangle 9"/>
          <p:cNvSpPr/>
          <p:nvPr/>
        </p:nvSpPr>
        <p:spPr>
          <a:xfrm>
            <a:off x="548640" y="2167128"/>
            <a:ext cx="566928" cy="566928"/>
          </a:xfrm>
          <a:prstGeom prst="round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212848"/>
            <a:ext cx="566928" cy="457200"/>
          </a:xfrm>
          <a:prstGeom prst="rect">
            <a:avLst/>
          </a:prstGeom>
          <a:noFill/>
        </p:spPr>
        <p:txBody>
          <a:bodyPr wrap="square" anchor="t">
            <a:spAutoFit/>
          </a:bodyPr>
          <a:lstStyle/>
          <a:p>
            <a:pPr algn="ctr"/>
            <a:r>
              <a:rPr sz="2000" b="1" i="0">
                <a:solidFill>
                  <a:srgbClr val="FFFFFF"/>
                </a:solidFill>
                <a:latin typeface="Calibri"/>
              </a:rPr>
              <a:t>2</a:t>
            </a:r>
          </a:p>
        </p:txBody>
      </p:sp>
      <p:sp>
        <p:nvSpPr>
          <p:cNvPr id="12" name="TextBox 11"/>
          <p:cNvSpPr txBox="1"/>
          <p:nvPr/>
        </p:nvSpPr>
        <p:spPr>
          <a:xfrm>
            <a:off x="1280160" y="2185416"/>
            <a:ext cx="4937760" cy="731520"/>
          </a:xfrm>
          <a:prstGeom prst="rect">
            <a:avLst/>
          </a:prstGeom>
          <a:noFill/>
        </p:spPr>
        <p:txBody>
          <a:bodyPr wrap="square" anchor="ctr">
            <a:spAutoFit/>
          </a:bodyPr>
          <a:lstStyle/>
          <a:p>
            <a:pPr algn="l"/>
            <a:r>
              <a:rPr sz="1450" b="1" i="0">
                <a:solidFill>
                  <a:srgbClr val="1E293B"/>
                </a:solidFill>
                <a:latin typeface="Calibri"/>
              </a:rPr>
              <a:t>S4结构与特点</a:t>
            </a:r>
          </a:p>
        </p:txBody>
      </p:sp>
      <p:sp>
        <p:nvSpPr>
          <p:cNvPr id="13" name="Rounded Rectangle 12"/>
          <p:cNvSpPr/>
          <p:nvPr/>
        </p:nvSpPr>
        <p:spPr>
          <a:xfrm>
            <a:off x="548640" y="3008376"/>
            <a:ext cx="566928" cy="566928"/>
          </a:xfrm>
          <a:prstGeom prst="round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054096"/>
            <a:ext cx="566928" cy="457200"/>
          </a:xfrm>
          <a:prstGeom prst="rect">
            <a:avLst/>
          </a:prstGeom>
          <a:noFill/>
        </p:spPr>
        <p:txBody>
          <a:bodyPr wrap="square" anchor="t">
            <a:spAutoFit/>
          </a:bodyPr>
          <a:lstStyle/>
          <a:p>
            <a:pPr algn="ctr"/>
            <a:r>
              <a:rPr sz="2000" b="1" i="0">
                <a:solidFill>
                  <a:srgbClr val="FFFFFF"/>
                </a:solidFill>
                <a:latin typeface="Calibri"/>
              </a:rPr>
              <a:t>3</a:t>
            </a:r>
          </a:p>
        </p:txBody>
      </p:sp>
      <p:sp>
        <p:nvSpPr>
          <p:cNvPr id="15" name="TextBox 14"/>
          <p:cNvSpPr txBox="1"/>
          <p:nvPr/>
        </p:nvSpPr>
        <p:spPr>
          <a:xfrm>
            <a:off x="1280160" y="3026664"/>
            <a:ext cx="4937760" cy="731520"/>
          </a:xfrm>
          <a:prstGeom prst="rect">
            <a:avLst/>
          </a:prstGeom>
          <a:noFill/>
        </p:spPr>
        <p:txBody>
          <a:bodyPr wrap="square" anchor="ctr">
            <a:spAutoFit/>
          </a:bodyPr>
          <a:lstStyle/>
          <a:p>
            <a:pPr algn="l"/>
            <a:r>
              <a:rPr sz="1450" b="1" i="0">
                <a:solidFill>
                  <a:srgbClr val="1E293B"/>
                </a:solidFill>
                <a:latin typeface="Calibri"/>
              </a:rPr>
              <a:t>笔记/摘要填空技法</a:t>
            </a:r>
          </a:p>
        </p:txBody>
      </p:sp>
      <p:sp>
        <p:nvSpPr>
          <p:cNvPr id="16" name="Rounded Rectangle 15"/>
          <p:cNvSpPr/>
          <p:nvPr/>
        </p:nvSpPr>
        <p:spPr>
          <a:xfrm>
            <a:off x="548640" y="3849624"/>
            <a:ext cx="566928" cy="566928"/>
          </a:xfrm>
          <a:prstGeom prst="round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895344"/>
            <a:ext cx="566928" cy="457200"/>
          </a:xfrm>
          <a:prstGeom prst="rect">
            <a:avLst/>
          </a:prstGeom>
          <a:noFill/>
        </p:spPr>
        <p:txBody>
          <a:bodyPr wrap="square" anchor="t">
            <a:spAutoFit/>
          </a:bodyPr>
          <a:lstStyle/>
          <a:p>
            <a:pPr algn="ctr"/>
            <a:r>
              <a:rPr sz="2000" b="1" i="0">
                <a:solidFill>
                  <a:srgbClr val="FFFFFF"/>
                </a:solidFill>
                <a:latin typeface="Calibri"/>
              </a:rPr>
              <a:t>4</a:t>
            </a:r>
          </a:p>
        </p:txBody>
      </p:sp>
      <p:sp>
        <p:nvSpPr>
          <p:cNvPr id="18" name="TextBox 17"/>
          <p:cNvSpPr txBox="1"/>
          <p:nvPr/>
        </p:nvSpPr>
        <p:spPr>
          <a:xfrm>
            <a:off x="1280160" y="3867911"/>
            <a:ext cx="4937760" cy="731520"/>
          </a:xfrm>
          <a:prstGeom prst="rect">
            <a:avLst/>
          </a:prstGeom>
          <a:noFill/>
        </p:spPr>
        <p:txBody>
          <a:bodyPr wrap="square" anchor="ctr">
            <a:spAutoFit/>
          </a:bodyPr>
          <a:lstStyle/>
          <a:p>
            <a:pPr algn="l"/>
            <a:r>
              <a:rPr sz="1450" b="1" i="0">
                <a:solidFill>
                  <a:srgbClr val="1E293B"/>
                </a:solidFill>
                <a:latin typeface="Calibri"/>
              </a:rPr>
              <a:t>AWL学术词汇策略</a:t>
            </a:r>
          </a:p>
        </p:txBody>
      </p:sp>
      <p:sp>
        <p:nvSpPr>
          <p:cNvPr id="19" name="Rounded Rectangle 18"/>
          <p:cNvSpPr/>
          <p:nvPr/>
        </p:nvSpPr>
        <p:spPr>
          <a:xfrm>
            <a:off x="6400800" y="1325880"/>
            <a:ext cx="566928" cy="566928"/>
          </a:xfrm>
          <a:prstGeom prst="round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0" y="1371600"/>
            <a:ext cx="566928" cy="457200"/>
          </a:xfrm>
          <a:prstGeom prst="rect">
            <a:avLst/>
          </a:prstGeom>
          <a:noFill/>
        </p:spPr>
        <p:txBody>
          <a:bodyPr wrap="square" anchor="t">
            <a:spAutoFit/>
          </a:bodyPr>
          <a:lstStyle/>
          <a:p>
            <a:pPr algn="ctr"/>
            <a:r>
              <a:rPr sz="2000" b="1" i="0">
                <a:solidFill>
                  <a:srgbClr val="FFFFFF"/>
                </a:solidFill>
                <a:latin typeface="Calibri"/>
              </a:rPr>
              <a:t>5</a:t>
            </a:r>
          </a:p>
        </p:txBody>
      </p:sp>
      <p:sp>
        <p:nvSpPr>
          <p:cNvPr id="21" name="TextBox 20"/>
          <p:cNvSpPr txBox="1"/>
          <p:nvPr/>
        </p:nvSpPr>
        <p:spPr>
          <a:xfrm>
            <a:off x="7132320" y="1344168"/>
            <a:ext cx="4937760" cy="731520"/>
          </a:xfrm>
          <a:prstGeom prst="rect">
            <a:avLst/>
          </a:prstGeom>
          <a:noFill/>
        </p:spPr>
        <p:txBody>
          <a:bodyPr wrap="square" anchor="ctr">
            <a:spAutoFit/>
          </a:bodyPr>
          <a:lstStyle/>
          <a:p>
            <a:pPr algn="l"/>
            <a:r>
              <a:rPr sz="1450" b="1" i="0">
                <a:solidFill>
                  <a:srgbClr val="1E293B"/>
                </a:solidFill>
                <a:latin typeface="Calibri"/>
              </a:rPr>
              <a:t>讲座追踪技能</a:t>
            </a:r>
          </a:p>
        </p:txBody>
      </p:sp>
      <p:sp>
        <p:nvSpPr>
          <p:cNvPr id="22" name="Rounded Rectangle 21"/>
          <p:cNvSpPr/>
          <p:nvPr/>
        </p:nvSpPr>
        <p:spPr>
          <a:xfrm>
            <a:off x="6400800" y="2167128"/>
            <a:ext cx="566928" cy="566928"/>
          </a:xfrm>
          <a:prstGeom prst="round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0" y="2212848"/>
            <a:ext cx="566928" cy="457200"/>
          </a:xfrm>
          <a:prstGeom prst="rect">
            <a:avLst/>
          </a:prstGeom>
          <a:noFill/>
        </p:spPr>
        <p:txBody>
          <a:bodyPr wrap="square" anchor="t">
            <a:spAutoFit/>
          </a:bodyPr>
          <a:lstStyle/>
          <a:p>
            <a:pPr algn="ctr"/>
            <a:r>
              <a:rPr sz="2000" b="1" i="0">
                <a:solidFill>
                  <a:srgbClr val="FFFFFF"/>
                </a:solidFill>
                <a:latin typeface="Calibri"/>
              </a:rPr>
              <a:t>6</a:t>
            </a:r>
          </a:p>
        </p:txBody>
      </p:sp>
      <p:sp>
        <p:nvSpPr>
          <p:cNvPr id="24" name="TextBox 23"/>
          <p:cNvSpPr txBox="1"/>
          <p:nvPr/>
        </p:nvSpPr>
        <p:spPr>
          <a:xfrm>
            <a:off x="7132320" y="2185416"/>
            <a:ext cx="4937760" cy="731520"/>
          </a:xfrm>
          <a:prstGeom prst="rect">
            <a:avLst/>
          </a:prstGeom>
          <a:noFill/>
        </p:spPr>
        <p:txBody>
          <a:bodyPr wrap="square" anchor="ctr">
            <a:spAutoFit/>
          </a:bodyPr>
          <a:lstStyle/>
          <a:p>
            <a:pPr algn="l"/>
            <a:r>
              <a:rPr sz="1450" b="1" i="0">
                <a:solidFill>
                  <a:srgbClr val="1E293B"/>
                </a:solidFill>
                <a:latin typeface="Calibri"/>
              </a:rPr>
              <a:t>例题精讲</a:t>
            </a:r>
          </a:p>
        </p:txBody>
      </p:sp>
      <p:sp>
        <p:nvSpPr>
          <p:cNvPr id="25" name="Rounded Rectangle 24"/>
          <p:cNvSpPr/>
          <p:nvPr/>
        </p:nvSpPr>
        <p:spPr>
          <a:xfrm>
            <a:off x="6400800" y="3008376"/>
            <a:ext cx="566928" cy="566928"/>
          </a:xfrm>
          <a:prstGeom prst="round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0" y="3054096"/>
            <a:ext cx="566928" cy="457200"/>
          </a:xfrm>
          <a:prstGeom prst="rect">
            <a:avLst/>
          </a:prstGeom>
          <a:noFill/>
        </p:spPr>
        <p:txBody>
          <a:bodyPr wrap="square" anchor="t">
            <a:spAutoFit/>
          </a:bodyPr>
          <a:lstStyle/>
          <a:p>
            <a:pPr algn="ctr"/>
            <a:r>
              <a:rPr sz="2000" b="1" i="0">
                <a:solidFill>
                  <a:srgbClr val="FFFFFF"/>
                </a:solidFill>
                <a:latin typeface="Calibri"/>
              </a:rPr>
              <a:t>7</a:t>
            </a:r>
          </a:p>
        </p:txBody>
      </p:sp>
      <p:sp>
        <p:nvSpPr>
          <p:cNvPr id="27" name="TextBox 26"/>
          <p:cNvSpPr txBox="1"/>
          <p:nvPr/>
        </p:nvSpPr>
        <p:spPr>
          <a:xfrm>
            <a:off x="7132320" y="3026664"/>
            <a:ext cx="4937760" cy="731520"/>
          </a:xfrm>
          <a:prstGeom prst="rect">
            <a:avLst/>
          </a:prstGeom>
          <a:noFill/>
        </p:spPr>
        <p:txBody>
          <a:bodyPr wrap="square" anchor="ctr">
            <a:spAutoFit/>
          </a:bodyPr>
          <a:lstStyle/>
          <a:p>
            <a:pPr algn="l"/>
            <a:r>
              <a:rPr sz="1450" b="1" i="0">
                <a:solidFill>
                  <a:srgbClr val="1E293B"/>
                </a:solidFill>
                <a:latin typeface="Calibri"/>
              </a:rPr>
              <a:t>课堂练习</a:t>
            </a:r>
          </a:p>
        </p:txBody>
      </p:sp>
      <p:sp>
        <p:nvSpPr>
          <p:cNvPr id="28" name="Rounded Rectangle 27"/>
          <p:cNvSpPr/>
          <p:nvPr/>
        </p:nvSpPr>
        <p:spPr>
          <a:xfrm>
            <a:off x="6400800" y="3849624"/>
            <a:ext cx="566928" cy="566928"/>
          </a:xfrm>
          <a:prstGeom prst="round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0" y="3895344"/>
            <a:ext cx="566928" cy="457200"/>
          </a:xfrm>
          <a:prstGeom prst="rect">
            <a:avLst/>
          </a:prstGeom>
          <a:noFill/>
        </p:spPr>
        <p:txBody>
          <a:bodyPr wrap="square" anchor="t">
            <a:spAutoFit/>
          </a:bodyPr>
          <a:lstStyle/>
          <a:p>
            <a:pPr algn="ctr"/>
            <a:r>
              <a:rPr sz="2000" b="1" i="0">
                <a:solidFill>
                  <a:srgbClr val="FFFFFF"/>
                </a:solidFill>
                <a:latin typeface="Calibri"/>
              </a:rPr>
              <a:t>8</a:t>
            </a:r>
          </a:p>
        </p:txBody>
      </p:sp>
      <p:sp>
        <p:nvSpPr>
          <p:cNvPr id="30" name="TextBox 29"/>
          <p:cNvSpPr txBox="1"/>
          <p:nvPr/>
        </p:nvSpPr>
        <p:spPr>
          <a:xfrm>
            <a:off x="7132320" y="3867911"/>
            <a:ext cx="4937760" cy="731520"/>
          </a:xfrm>
          <a:prstGeom prst="rect">
            <a:avLst/>
          </a:prstGeom>
          <a:noFill/>
        </p:spPr>
        <p:txBody>
          <a:bodyPr wrap="square" anchor="ctr">
            <a:spAutoFit/>
          </a:bodyPr>
          <a:lstStyle/>
          <a:p>
            <a:pPr algn="l"/>
            <a:r>
              <a:rPr sz="1450" b="1" i="0">
                <a:solidFill>
                  <a:srgbClr val="1E293B"/>
                </a:solidFill>
                <a:latin typeface="Calibri"/>
              </a:rPr>
              <a:t>小结作业</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WARM-UP</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上节回顾  Quick Review</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ounded Rectangle 7"/>
          <p:cNvSpPr/>
          <p:nvPr/>
        </p:nvSpPr>
        <p:spPr>
          <a:xfrm>
            <a:off x="548640" y="1188720"/>
            <a:ext cx="11064240" cy="4937760"/>
          </a:xfrm>
          <a:prstGeom prst="round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54480"/>
            <a:ext cx="10332720" cy="4389120"/>
          </a:xfrm>
          <a:prstGeom prst="rect">
            <a:avLst/>
          </a:prstGeom>
          <a:noFill/>
        </p:spPr>
        <p:txBody>
          <a:bodyPr wrap="square">
            <a:spAutoFit/>
          </a:bodyPr>
          <a:lstStyle/>
          <a:p>
            <a:r>
              <a:rPr sz="1650">
                <a:solidFill>
                  <a:srgbClr val="1E293B"/>
                </a:solidFill>
              </a:rPr>
              <a:t>↺ S3 Choose TWO：每选项独立✓✗?，两个✓才写，最后数字母数量</a:t>
            </a:r>
          </a:p>
          <a:p>
            <a:pPr>
              <a:spcBef>
                <a:spcPts val="1200"/>
              </a:spcBef>
            </a:pPr>
            <a:r>
              <a:rPr sz="1650">
                <a:solidFill>
                  <a:srgbClr val="1E293B"/>
                </a:solidFill>
              </a:rPr>
              <a:t>↺ 说话人追踪表格：T/A/S标注，态度词=警报，礼貌≠同意</a:t>
            </a:r>
          </a:p>
          <a:p>
            <a:pPr>
              <a:spcBef>
                <a:spcPts val="1200"/>
              </a:spcBef>
            </a:pPr>
            <a:r>
              <a:rPr sz="1650">
                <a:solidFill>
                  <a:srgbClr val="1E293B"/>
                </a:solidFill>
              </a:rPr>
              <a:t>↺ 时间管理：每题≤2分钟，S3结束立刻翻S4预读</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学习目标  Learning Objectives</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7" name="TextBox 6"/>
          <p:cNvSpPr txBox="1"/>
          <p:nvPr/>
        </p:nvSpPr>
        <p:spPr>
          <a:xfrm>
            <a:off x="548640" y="1188720"/>
            <a:ext cx="10972800" cy="457200"/>
          </a:xfrm>
          <a:prstGeom prst="rect">
            <a:avLst/>
          </a:prstGeom>
          <a:noFill/>
        </p:spPr>
        <p:txBody>
          <a:bodyPr wrap="square" anchor="t">
            <a:spAutoFit/>
          </a:bodyPr>
          <a:lstStyle/>
          <a:p>
            <a:pPr algn="l"/>
            <a:r>
              <a:rPr sz="1600" b="1" i="0">
                <a:solidFill>
                  <a:srgbClr val="12A594"/>
                </a:solidFill>
                <a:latin typeface="Calibri"/>
              </a:rPr>
              <a:t>完成本课后，你将能够：</a:t>
            </a:r>
          </a:p>
        </p:txBody>
      </p:sp>
      <p:sp>
        <p:nvSpPr>
          <p:cNvPr id="8" name="TextBox 7"/>
          <p:cNvSpPr txBox="1"/>
          <p:nvPr/>
        </p:nvSpPr>
        <p:spPr>
          <a:xfrm>
            <a:off x="640080" y="1828800"/>
            <a:ext cx="10972800" cy="4572000"/>
          </a:xfrm>
          <a:prstGeom prst="rect">
            <a:avLst/>
          </a:prstGeom>
          <a:noFill/>
        </p:spPr>
        <p:txBody>
          <a:bodyPr wrap="square">
            <a:spAutoFit/>
          </a:bodyPr>
          <a:lstStyle/>
          <a:p>
            <a:r>
              <a:rPr sz="1800">
                <a:solidFill>
                  <a:srgbClr val="1E293B"/>
                </a:solidFill>
              </a:rPr>
              <a:t>✦  掌握S4笔记填空与摘要填空的答题技法</a:t>
            </a:r>
          </a:p>
          <a:p>
            <a:pPr>
              <a:spcBef>
                <a:spcPts val="1400"/>
              </a:spcBef>
            </a:pPr>
            <a:r>
              <a:rPr sz="1800">
                <a:solidFill>
                  <a:srgbClr val="1E293B"/>
                </a:solidFill>
              </a:rPr>
              <a:t>✦  建立AWL学术词汇的"听辨"策略（不要求会写，要求听出来）</a:t>
            </a:r>
          </a:p>
          <a:p>
            <a:pPr>
              <a:spcBef>
                <a:spcPts val="1400"/>
              </a:spcBef>
            </a:pPr>
            <a:r>
              <a:rPr sz="1800">
                <a:solidFill>
                  <a:srgbClr val="1E293B"/>
                </a:solidFill>
              </a:rPr>
              <a:t>✦  学会识别S4讲座结构信号词，避免跟丢</a:t>
            </a:r>
          </a:p>
          <a:p>
            <a:pPr>
              <a:spcBef>
                <a:spcPts val="1400"/>
              </a:spcBef>
            </a:pPr>
            <a:r>
              <a:rPr sz="1800">
                <a:solidFill>
                  <a:srgbClr val="1E293B"/>
                </a:solidFill>
              </a:rPr>
              <a:t>✦  实现Section 4稳定5-7/10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7A16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000" b="1" i="0">
                <a:solidFill>
                  <a:srgbClr val="FFFFFF"/>
                </a:solidFill>
                <a:latin typeface="Calibri"/>
              </a:rPr>
              <a:t>🎯 深圳学生高频痛点 · S4失分的3种典型情形</a:t>
            </a:r>
          </a:p>
        </p:txBody>
      </p:sp>
      <p:sp>
        <p:nvSpPr>
          <p:cNvPr id="6" name="TextBox 5"/>
          <p:cNvSpPr txBox="1"/>
          <p:nvPr/>
        </p:nvSpPr>
        <p:spPr>
          <a:xfrm>
            <a:off x="548640" y="1143000"/>
            <a:ext cx="5486400" cy="411480"/>
          </a:xfrm>
          <a:prstGeom prst="rect">
            <a:avLst/>
          </a:prstGeom>
          <a:noFill/>
        </p:spPr>
        <p:txBody>
          <a:bodyPr wrap="square" anchor="t">
            <a:spAutoFit/>
          </a:bodyPr>
          <a:lstStyle/>
          <a:p>
            <a:pPr algn="l"/>
            <a:r>
              <a:rPr sz="1500" b="1" i="0">
                <a:solidFill>
                  <a:srgbClr val="C02A2A"/>
                </a:solidFill>
                <a:latin typeface="Calibri"/>
              </a:rPr>
              <a:t>❌ 常见误区</a:t>
            </a:r>
          </a:p>
        </p:txBody>
      </p:sp>
      <p:sp>
        <p:nvSpPr>
          <p:cNvPr id="7" name="TextBox 6"/>
          <p:cNvSpPr txBox="1"/>
          <p:nvPr/>
        </p:nvSpPr>
        <p:spPr>
          <a:xfrm>
            <a:off x="548640" y="1645920"/>
            <a:ext cx="5486400" cy="4572000"/>
          </a:xfrm>
          <a:prstGeom prst="rect">
            <a:avLst/>
          </a:prstGeom>
          <a:noFill/>
        </p:spPr>
        <p:txBody>
          <a:bodyPr wrap="square">
            <a:spAutoFit/>
          </a:bodyPr>
          <a:lstStyle/>
          <a:p>
            <a:r>
              <a:rPr sz="1400">
                <a:solidFill>
                  <a:srgbClr val="C02A2A"/>
                </a:solidFill>
              </a:rPr>
              <a:t>✗ S4第一句没听懂，产生恐慌，后面9题全部放弃——自我放弃是最大的失分</a:t>
            </a:r>
          </a:p>
          <a:p>
            <a:pPr>
              <a:spcBef>
                <a:spcPts val="800"/>
              </a:spcBef>
            </a:pPr>
            <a:r>
              <a:rPr sz="1400">
                <a:solidFill>
                  <a:srgbClr val="C02A2A"/>
                </a:solidFill>
              </a:rPr>
              <a:t>✗ AWL词汇听到了但不认识(evapotranspiration/entrepreneurship)，音记不出来</a:t>
            </a:r>
          </a:p>
          <a:p>
            <a:pPr>
              <a:spcBef>
                <a:spcPts val="800"/>
              </a:spcBef>
            </a:pPr>
            <a:r>
              <a:rPr sz="1400">
                <a:solidFill>
                  <a:srgbClr val="C02A2A"/>
                </a:solidFill>
              </a:rPr>
              <a:t>✗ 摘要填空：填了三个词，但限词是ONE WORD——因违反限词全部0分</a:t>
            </a:r>
          </a:p>
        </p:txBody>
      </p:sp>
      <p:sp>
        <p:nvSpPr>
          <p:cNvPr id="8" name="Rectangle 7"/>
          <p:cNvSpPr/>
          <p:nvPr/>
        </p:nvSpPr>
        <p:spPr>
          <a:xfrm>
            <a:off x="6108192" y="1097280"/>
            <a:ext cx="36576" cy="5212080"/>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143000"/>
            <a:ext cx="5486400" cy="411480"/>
          </a:xfrm>
          <a:prstGeom prst="rect">
            <a:avLst/>
          </a:prstGeom>
          <a:noFill/>
        </p:spPr>
        <p:txBody>
          <a:bodyPr wrap="square" anchor="t">
            <a:spAutoFit/>
          </a:bodyPr>
          <a:lstStyle/>
          <a:p>
            <a:pPr algn="l"/>
            <a:r>
              <a:rPr sz="1500" b="1" i="0">
                <a:solidFill>
                  <a:srgbClr val="1B7A3D"/>
                </a:solidFill>
                <a:latin typeface="Calibri"/>
              </a:rPr>
              <a:t>✅ 正确做法</a:t>
            </a:r>
          </a:p>
        </p:txBody>
      </p:sp>
      <p:sp>
        <p:nvSpPr>
          <p:cNvPr id="10" name="TextBox 9"/>
          <p:cNvSpPr txBox="1"/>
          <p:nvPr/>
        </p:nvSpPr>
        <p:spPr>
          <a:xfrm>
            <a:off x="6309360" y="1645920"/>
            <a:ext cx="5394960" cy="4572000"/>
          </a:xfrm>
          <a:prstGeom prst="rect">
            <a:avLst/>
          </a:prstGeom>
          <a:noFill/>
        </p:spPr>
        <p:txBody>
          <a:bodyPr wrap="square">
            <a:spAutoFit/>
          </a:bodyPr>
          <a:lstStyle/>
          <a:p>
            <a:r>
              <a:rPr sz="1400">
                <a:solidFill>
                  <a:srgbClr val="1B7A3D"/>
                </a:solidFill>
              </a:rPr>
              <a:t>✓ 跟丢了不要慌：找下一题的关键词，用题号重定位；哪怕猜也要填</a:t>
            </a:r>
          </a:p>
          <a:p>
            <a:pPr>
              <a:spcBef>
                <a:spcPts val="800"/>
              </a:spcBef>
            </a:pPr>
            <a:r>
              <a:rPr sz="1400">
                <a:solidFill>
                  <a:srgbClr val="1B7A3D"/>
                </a:solidFill>
              </a:rPr>
              <a:t>✓ AWL策略：按音节写占位(evap...)，誊写时补全；重音节是识别关键</a:t>
            </a:r>
          </a:p>
          <a:p>
            <a:pPr>
              <a:spcBef>
                <a:spcPts val="800"/>
              </a:spcBef>
            </a:pPr>
            <a:r>
              <a:rPr sz="1400">
                <a:solidFill>
                  <a:srgbClr val="1B7A3D"/>
                </a:solidFill>
              </a:rPr>
              <a:t>✓ 做每题前看限词：ONE WORD→只写一个；TWO WORDS→最多两个</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2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12A594"/>
                </a:solidFill>
                <a:latin typeface="Calibri"/>
              </a:rPr>
              <a:t>PART 01</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S4结构与特点</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S4 Structure &amp; Features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Section 4的本质</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ounded Rectangle 7"/>
          <p:cNvSpPr/>
          <p:nvPr/>
        </p:nvSpPr>
        <p:spPr>
          <a:xfrm>
            <a:off x="548640" y="1143000"/>
            <a:ext cx="11064240" cy="868680"/>
          </a:xfrm>
          <a:prstGeom prst="round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0F4C5C"/>
                </a:solidFill>
                <a:latin typeface="Calibri"/>
              </a:rPr>
              <a:t>单人学术讲座，最难的Section</a:t>
            </a:r>
          </a:p>
        </p:txBody>
      </p:sp>
      <p:sp>
        <p:nvSpPr>
          <p:cNvPr id="10" name="TextBox 9"/>
          <p:cNvSpPr txBox="1"/>
          <p:nvPr/>
        </p:nvSpPr>
        <p:spPr>
          <a:xfrm>
            <a:off x="640080" y="2240280"/>
            <a:ext cx="10972800" cy="3931920"/>
          </a:xfrm>
          <a:prstGeom prst="rect">
            <a:avLst/>
          </a:prstGeom>
          <a:noFill/>
        </p:spPr>
        <p:txBody>
          <a:bodyPr wrap="square">
            <a:spAutoFit/>
          </a:bodyPr>
          <a:lstStyle/>
          <a:p>
            <a:r>
              <a:rPr sz="1800" b="1">
                <a:solidFill>
                  <a:srgbClr val="0F4C5C"/>
                </a:solidFill>
              </a:rPr>
              <a:t>• 说话人</a:t>
            </a:r>
          </a:p>
          <a:p>
            <a:pPr>
              <a:spcBef>
                <a:spcPts val="100"/>
              </a:spcBef>
            </a:pPr>
            <a:r>
              <a:rPr sz="1500">
                <a:solidFill>
                  <a:srgbClr val="556075"/>
                </a:solidFill>
              </a:rPr>
              <a:t>   大学教授/讲师；单人独白，约10分钟</a:t>
            </a:r>
          </a:p>
          <a:p>
            <a:pPr>
              <a:spcBef>
                <a:spcPts val="900"/>
              </a:spcBef>
            </a:pPr>
            <a:r>
              <a:rPr sz="1800" b="1">
                <a:solidFill>
                  <a:srgbClr val="0F4C5C"/>
                </a:solidFill>
              </a:rPr>
              <a:t>• 内容</a:t>
            </a:r>
          </a:p>
          <a:p>
            <a:pPr>
              <a:spcBef>
                <a:spcPts val="100"/>
              </a:spcBef>
            </a:pPr>
            <a:r>
              <a:rPr sz="1500">
                <a:solidFill>
                  <a:srgbClr val="556075"/>
                </a:solidFill>
              </a:rPr>
              <a:t>   自然科学/社会科学/历史/商业等学术主题</a:t>
            </a:r>
          </a:p>
          <a:p>
            <a:pPr>
              <a:spcBef>
                <a:spcPts val="900"/>
              </a:spcBef>
            </a:pPr>
            <a:r>
              <a:rPr sz="1800" b="1">
                <a:solidFill>
                  <a:srgbClr val="0F4C5C"/>
                </a:solidFill>
              </a:rPr>
              <a:t>• 难度</a:t>
            </a:r>
          </a:p>
          <a:p>
            <a:pPr>
              <a:spcBef>
                <a:spcPts val="100"/>
              </a:spcBef>
            </a:pPr>
            <a:r>
              <a:rPr sz="1500">
                <a:solidFill>
                  <a:srgbClr val="556075"/>
                </a:solidFill>
              </a:rPr>
              <a:t>   AWL词汇密集；语速最快；是7分和8分的分水岭</a:t>
            </a:r>
          </a:p>
          <a:p>
            <a:pPr>
              <a:spcBef>
                <a:spcPts val="900"/>
              </a:spcBef>
            </a:pPr>
            <a:r>
              <a:rPr sz="1800" b="1">
                <a:solidFill>
                  <a:srgbClr val="0F4C5C"/>
                </a:solidFill>
              </a:rPr>
              <a:t>• 题型</a:t>
            </a:r>
          </a:p>
          <a:p>
            <a:pPr>
              <a:spcBef>
                <a:spcPts val="100"/>
              </a:spcBef>
            </a:pPr>
            <a:r>
              <a:rPr sz="1500">
                <a:solidFill>
                  <a:srgbClr val="556075"/>
                </a:solidFill>
              </a:rPr>
              <a:t>   笔记填空50%+摘要填空30%+流程图10%+其他10%</a:t>
            </a:r>
          </a:p>
          <a:p>
            <a:pPr>
              <a:spcBef>
                <a:spcPts val="900"/>
              </a:spcBef>
            </a:pPr>
            <a:r>
              <a:rPr sz="1800" b="1">
                <a:solidFill>
                  <a:srgbClr val="0F4C5C"/>
                </a:solidFill>
              </a:rPr>
              <a:t>• 关键</a:t>
            </a:r>
          </a:p>
          <a:p>
            <a:pPr>
              <a:spcBef>
                <a:spcPts val="100"/>
              </a:spcBef>
            </a:pPr>
            <a:r>
              <a:rPr sz="1500">
                <a:solidFill>
                  <a:srgbClr val="556075"/>
                </a:solidFill>
              </a:rPr>
              <a:t>   S4拉开7分和8分的差距——7分需稳定5-6/10</a:t>
            </a:r>
          </a:p>
        </p:txBody>
      </p:sp>
      <p:sp>
        <p:nvSpPr>
          <p:cNvPr id="11" name="Rectangle 10"/>
          <p:cNvSpPr/>
          <p:nvPr/>
        </p:nvSpPr>
        <p:spPr>
          <a:xfrm>
            <a:off x="548640" y="5989320"/>
            <a:ext cx="11064240" cy="548640"/>
          </a:xfrm>
          <a:prstGeom prst="rect">
            <a:avLst/>
          </a:prstGeom>
          <a:solidFill>
            <a:srgbClr val="FDF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6035040"/>
            <a:ext cx="10698480" cy="457200"/>
          </a:xfrm>
          <a:prstGeom prst="rect">
            <a:avLst/>
          </a:prstGeom>
          <a:noFill/>
        </p:spPr>
        <p:txBody>
          <a:bodyPr wrap="square" anchor="ctr">
            <a:spAutoFit/>
          </a:bodyPr>
          <a:lstStyle/>
          <a:p>
            <a:pPr algn="l"/>
            <a:r>
              <a:rPr sz="1250" b="0" i="1">
                <a:solidFill>
                  <a:srgbClr val="C02A2A"/>
                </a:solidFill>
                <a:latin typeface="Calibri"/>
              </a:rPr>
              <a:t>⚠ 深圳学生注意：S4考的是学术听力能力；AWL词汇+结构追踪+笔记技能三位一体</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S4题型详解</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ounded Rectangle 7"/>
          <p:cNvSpPr/>
          <p:nvPr/>
        </p:nvSpPr>
        <p:spPr>
          <a:xfrm>
            <a:off x="548640" y="1143000"/>
            <a:ext cx="11064240" cy="868680"/>
          </a:xfrm>
          <a:prstGeom prst="round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0F4C5C"/>
                </a:solidFill>
                <a:latin typeface="Calibri"/>
              </a:rPr>
              <a:t>笔记填空是最高频的题型</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0F4C5C"/>
                </a:solidFill>
              </a:rPr>
              <a:t>• 笔记填空</a:t>
            </a:r>
          </a:p>
          <a:p>
            <a:pPr>
              <a:spcBef>
                <a:spcPts val="100"/>
              </a:spcBef>
            </a:pPr>
            <a:r>
              <a:rPr sz="1500">
                <a:solidFill>
                  <a:srgbClr val="556075"/>
                </a:solidFill>
              </a:rPr>
              <a:t>   最高频；按讲座内容顺序填写；答案通常是原词</a:t>
            </a:r>
          </a:p>
          <a:p>
            <a:pPr>
              <a:spcBef>
                <a:spcPts val="900"/>
              </a:spcBef>
            </a:pPr>
            <a:r>
              <a:rPr sz="1800" b="1">
                <a:solidFill>
                  <a:srgbClr val="0F4C5C"/>
                </a:solidFill>
              </a:rPr>
              <a:t>• 摘要填空</a:t>
            </a:r>
          </a:p>
          <a:p>
            <a:pPr>
              <a:spcBef>
                <a:spcPts val="100"/>
              </a:spcBef>
            </a:pPr>
            <a:r>
              <a:rPr sz="1500">
                <a:solidFill>
                  <a:srgbClr val="556075"/>
                </a:solidFill>
              </a:rPr>
              <a:t>   一段摘要有多个空；需要理解上下文语义</a:t>
            </a:r>
          </a:p>
          <a:p>
            <a:pPr>
              <a:spcBef>
                <a:spcPts val="900"/>
              </a:spcBef>
            </a:pPr>
            <a:r>
              <a:rPr sz="1800" b="1">
                <a:solidFill>
                  <a:srgbClr val="0F4C5C"/>
                </a:solidFill>
              </a:rPr>
              <a:t>• 流程图填空</a:t>
            </a:r>
          </a:p>
          <a:p>
            <a:pPr>
              <a:spcBef>
                <a:spcPts val="100"/>
              </a:spcBef>
            </a:pPr>
            <a:r>
              <a:rPr sz="1500">
                <a:solidFill>
                  <a:srgbClr val="556075"/>
                </a:solidFill>
              </a:rPr>
              <a:t>   按步骤顺序；被动语态常见；动词词根重要</a:t>
            </a:r>
          </a:p>
          <a:p>
            <a:pPr>
              <a:spcBef>
                <a:spcPts val="900"/>
              </a:spcBef>
            </a:pPr>
            <a:r>
              <a:rPr sz="1800" b="1">
                <a:solidFill>
                  <a:srgbClr val="0F4C5C"/>
                </a:solidFill>
              </a:rPr>
              <a:t>• 短问答</a:t>
            </a:r>
          </a:p>
          <a:p>
            <a:pPr>
              <a:spcBef>
                <a:spcPts val="100"/>
              </a:spcBef>
            </a:pPr>
            <a:r>
              <a:rPr sz="1500">
                <a:solidFill>
                  <a:srgbClr val="556075"/>
                </a:solidFill>
              </a:rPr>
              <a:t>   限词严格；通常是名词短语；不需要完整句子</a:t>
            </a:r>
          </a:p>
          <a:p>
            <a:pPr>
              <a:spcBef>
                <a:spcPts val="900"/>
              </a:spcBef>
            </a:pPr>
            <a:r>
              <a:rPr sz="1800" b="1">
                <a:solidFill>
                  <a:srgbClr val="0F4C5C"/>
                </a:solidFill>
              </a:rPr>
              <a:t>• 关键</a:t>
            </a:r>
          </a:p>
          <a:p>
            <a:pPr>
              <a:spcBef>
                <a:spcPts val="100"/>
              </a:spcBef>
            </a:pPr>
            <a:r>
              <a:rPr sz="1500">
                <a:solidFill>
                  <a:srgbClr val="556075"/>
                </a:solidFill>
              </a:rPr>
              <a:t>   S4几乎所有答案都是录音原词；不需要改写</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S4讲座的内部结构</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850" b="1">
                <a:solidFill>
                  <a:srgbClr val="0F4C5C"/>
                </a:solidFill>
              </a:rPr>
              <a:t>• 讲座开头</a:t>
            </a:r>
          </a:p>
          <a:p>
            <a:pPr>
              <a:spcBef>
                <a:spcPts val="100"/>
              </a:spcBef>
            </a:pPr>
            <a:r>
              <a:rPr sz="1550">
                <a:solidFill>
                  <a:srgbClr val="556075"/>
                </a:solidFill>
              </a:rPr>
              <a:t>   引入主题；提出研究问题；给出定义</a:t>
            </a:r>
          </a:p>
          <a:p>
            <a:pPr>
              <a:spcBef>
                <a:spcPts val="1000"/>
              </a:spcBef>
            </a:pPr>
            <a:r>
              <a:rPr sz="1850" b="1">
                <a:solidFill>
                  <a:srgbClr val="0F4C5C"/>
                </a:solidFill>
              </a:rPr>
              <a:t>• 主体部分</a:t>
            </a:r>
          </a:p>
          <a:p>
            <a:pPr>
              <a:spcBef>
                <a:spcPts val="100"/>
              </a:spcBef>
            </a:pPr>
            <a:r>
              <a:rPr sz="1550">
                <a:solidFill>
                  <a:srgbClr val="556075"/>
                </a:solidFill>
              </a:rPr>
              <a:t>   按层级展开：主点→子点→例子→数据</a:t>
            </a:r>
          </a:p>
          <a:p>
            <a:pPr>
              <a:spcBef>
                <a:spcPts val="1000"/>
              </a:spcBef>
            </a:pPr>
            <a:r>
              <a:rPr sz="1850" b="1">
                <a:solidFill>
                  <a:srgbClr val="0F4C5C"/>
                </a:solidFill>
              </a:rPr>
              <a:t>• 讲座中段</a:t>
            </a:r>
          </a:p>
          <a:p>
            <a:pPr>
              <a:spcBef>
                <a:spcPts val="100"/>
              </a:spcBef>
            </a:pPr>
            <a:r>
              <a:rPr sz="1550">
                <a:solidFill>
                  <a:srgbClr val="556075"/>
                </a:solidFill>
              </a:rPr>
              <a:t>   可能有转折：但是现在来看/最新研究发现</a:t>
            </a:r>
          </a:p>
          <a:p>
            <a:pPr>
              <a:spcBef>
                <a:spcPts val="1000"/>
              </a:spcBef>
            </a:pPr>
            <a:r>
              <a:rPr sz="1850" b="1">
                <a:solidFill>
                  <a:srgbClr val="0F4C5C"/>
                </a:solidFill>
              </a:rPr>
              <a:t>• 讲座结尾</a:t>
            </a:r>
          </a:p>
          <a:p>
            <a:pPr>
              <a:spcBef>
                <a:spcPts val="100"/>
              </a:spcBef>
            </a:pPr>
            <a:r>
              <a:rPr sz="1550">
                <a:solidFill>
                  <a:srgbClr val="556075"/>
                </a:solidFill>
              </a:rPr>
              <a:t>   总结+影响+建议/展望未来</a:t>
            </a:r>
          </a:p>
          <a:p>
            <a:pPr>
              <a:spcBef>
                <a:spcPts val="1000"/>
              </a:spcBef>
            </a:pPr>
            <a:r>
              <a:rPr sz="1850" b="1">
                <a:solidFill>
                  <a:srgbClr val="0F4C5C"/>
                </a:solidFill>
              </a:rPr>
              <a:t>• 题目分布</a:t>
            </a:r>
          </a:p>
          <a:p>
            <a:pPr>
              <a:spcBef>
                <a:spcPts val="100"/>
              </a:spcBef>
            </a:pPr>
            <a:r>
              <a:rPr sz="1550">
                <a:solidFill>
                  <a:srgbClr val="556075"/>
                </a:solidFill>
              </a:rPr>
              <a:t>   Q31-35通常对应主体；Q36-40对应后半段</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S4跟丢后的心理调适</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7" name="TextBox 6"/>
          <p:cNvSpPr txBox="1"/>
          <p:nvPr/>
        </p:nvSpPr>
        <p:spPr>
          <a:xfrm>
            <a:off x="640080" y="1234440"/>
            <a:ext cx="10972800" cy="4572000"/>
          </a:xfrm>
          <a:prstGeom prst="rect">
            <a:avLst/>
          </a:prstGeom>
          <a:noFill/>
        </p:spPr>
        <p:txBody>
          <a:bodyPr wrap="square">
            <a:spAutoFit/>
          </a:bodyPr>
          <a:lstStyle/>
          <a:p>
            <a:r>
              <a:rPr sz="1650">
                <a:solidFill>
                  <a:srgbClr val="1E293B"/>
                </a:solidFill>
              </a:rPr>
              <a:t>• 最</a:t>
            </a:r>
          </a:p>
          <a:p>
            <a:pPr>
              <a:spcBef>
                <a:spcPts val="1000"/>
              </a:spcBef>
            </a:pPr>
            <a:r>
              <a:rPr sz="1650">
                <a:solidFill>
                  <a:srgbClr val="1E293B"/>
                </a:solidFill>
              </a:rPr>
              <a:t>• 重</a:t>
            </a:r>
          </a:p>
          <a:p>
            <a:pPr>
              <a:spcBef>
                <a:spcPts val="1000"/>
              </a:spcBef>
            </a:pPr>
            <a:r>
              <a:rPr sz="1650">
                <a:solidFill>
                  <a:srgbClr val="1E293B"/>
                </a:solidFill>
              </a:rPr>
              <a:t>• 要</a:t>
            </a:r>
          </a:p>
          <a:p>
            <a:pPr>
              <a:spcBef>
                <a:spcPts val="1000"/>
              </a:spcBef>
            </a:pPr>
            <a:r>
              <a:rPr sz="1650">
                <a:solidFill>
                  <a:srgbClr val="1E293B"/>
                </a:solidFill>
              </a:rPr>
              <a:t>• 的</a:t>
            </a:r>
          </a:p>
          <a:p>
            <a:pPr>
              <a:spcBef>
                <a:spcPts val="1000"/>
              </a:spcBef>
            </a:pPr>
            <a:r>
              <a:rPr sz="1650">
                <a:solidFill>
                  <a:srgbClr val="1E293B"/>
                </a:solidFill>
              </a:rPr>
              <a:t>• 技</a:t>
            </a:r>
          </a:p>
          <a:p>
            <a:pPr>
              <a:spcBef>
                <a:spcPts val="1000"/>
              </a:spcBef>
            </a:pPr>
            <a:r>
              <a:rPr sz="1650">
                <a:solidFill>
                  <a:srgbClr val="1E293B"/>
                </a:solidFill>
              </a:rPr>
              <a:t>• 能</a:t>
            </a:r>
          </a:p>
        </p:txBody>
      </p:sp>
      <p:sp>
        <p:nvSpPr>
          <p:cNvPr id="8" name="Rectangle 7"/>
          <p:cNvSpPr/>
          <p:nvPr/>
        </p:nvSpPr>
        <p:spPr>
          <a:xfrm>
            <a:off x="548640" y="5989320"/>
            <a:ext cx="11064240" cy="548640"/>
          </a:xfrm>
          <a:prstGeom prst="rect">
            <a:avLst/>
          </a:prstGeom>
          <a:solidFill>
            <a:srgbClr val="FDF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035040"/>
            <a:ext cx="10698480" cy="457200"/>
          </a:xfrm>
          <a:prstGeom prst="rect">
            <a:avLst/>
          </a:prstGeom>
          <a:noFill/>
        </p:spPr>
        <p:txBody>
          <a:bodyPr wrap="square" anchor="ctr">
            <a:spAutoFit/>
          </a:bodyPr>
          <a:lstStyle/>
          <a:p>
            <a:pPr algn="l"/>
            <a:r>
              <a:rPr sz="1250" b="0" i="1">
                <a:solidFill>
                  <a:srgbClr val="C02A2A"/>
                </a:solidFill>
                <a:latin typeface="Calibri"/>
              </a:rPr>
              <a:t>⚠ 深圳学生注意：[('第一反应', '不要慌；立刻暂停回想——把注意力放到"往前"'), ('重定位', '用下一道题的关键词找锚点；等录音出现该词'), ('猜填', '跟丢的题不要留空；从题目语义猜一个合理答案'), ('继续', '重定位后按正常节奏继续；1题跟丢≠后面全错'), ('心态', 'S4能做对6题以上=已经很好；10/10是S4高手水平')]</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例题：S4笔记填空基础</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ectangle 7"/>
          <p:cNvSpPr/>
          <p:nvPr/>
        </p:nvSpPr>
        <p:spPr>
          <a:xfrm>
            <a:off x="548640" y="1188720"/>
            <a:ext cx="11064240" cy="36576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Notes Completion: Urban Heat Island Effect. Write NO MORE THAN TWO WORDS.
Main causes:
1. Heat from __________ (Q31)
2. Reduced __________ due to lack of greenery (Q32)
"Research identifies microfibre emissions from synthetic textiles as the primary heat source.
Furthermore, reduced evapotranspiration due to declining urban greenery compounds this."</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Q31: synthetic textiles (听到microfibre emissions后定位到"from synthetic textiles")
Q32: evapotranspiration (专业词，按音节记：e-vapo-tran...)</a:t>
            </a:r>
          </a:p>
        </p:txBody>
      </p:sp>
      <p:sp>
        <p:nvSpPr>
          <p:cNvPr id="14" name="Rectangle 13"/>
          <p:cNvSpPr/>
          <p:nvPr/>
        </p:nvSpPr>
        <p:spPr>
          <a:xfrm>
            <a:off x="548640" y="5669279"/>
            <a:ext cx="11064240" cy="36576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Q32：专业词按首字母占位(evap-)，誊写时借助上下文语义补全拼写</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例题：S4摘要填空</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ectangle 7"/>
          <p:cNvSpPr/>
          <p:nvPr/>
        </p:nvSpPr>
        <p:spPr>
          <a:xfrm>
            <a:off x="548640" y="1188720"/>
            <a:ext cx="11064240" cy="36576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Summary Completion: Write NO MORE THAN ONE WORD.
The circular economy differs from the linear model in that it aims to __________ (Q33)
waste rather than simply dispose of it. Companies have found that __________ (Q34)
in reusable materials can save long-term costs.
"Unlike the linear take-make-dispose model, circular economy minimises waste through reuse.
Initial investment in durable materials proves cost-effective over time."</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Q33: minimise (录音"minimises waste"→空格前"to"→填动词原形)
Q34: investment (录音"Initial investment"→空格后"in"→填名词)</a:t>
            </a:r>
          </a:p>
        </p:txBody>
      </p:sp>
      <p:sp>
        <p:nvSpPr>
          <p:cNvPr id="14" name="Rectangle 13"/>
          <p:cNvSpPr/>
          <p:nvPr/>
        </p:nvSpPr>
        <p:spPr>
          <a:xfrm>
            <a:off x="548640" y="5669279"/>
            <a:ext cx="11064240" cy="36576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摘要填空：先读空格前后的语法环境→预判词性→听时找对应词</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2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12A594"/>
                </a:solidFill>
                <a:latin typeface="Calibri"/>
              </a:rPr>
              <a:t>PART 02</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笔记填空与摘要填空技法</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Note &amp; Summary Completion Techniques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笔记填空五步法</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ounded Rectangle 7"/>
          <p:cNvSpPr/>
          <p:nvPr/>
        </p:nvSpPr>
        <p:spPr>
          <a:xfrm>
            <a:off x="548640" y="1143000"/>
            <a:ext cx="11064240" cy="868680"/>
          </a:xfrm>
          <a:prstGeom prst="round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0F4C5C"/>
                </a:solidFill>
                <a:latin typeface="Calibri"/>
              </a:rPr>
              <a:t>每步都能减少失分</a:t>
            </a:r>
          </a:p>
        </p:txBody>
      </p:sp>
      <p:sp>
        <p:nvSpPr>
          <p:cNvPr id="10" name="TextBox 9"/>
          <p:cNvSpPr txBox="1"/>
          <p:nvPr/>
        </p:nvSpPr>
        <p:spPr>
          <a:xfrm>
            <a:off x="640080" y="2240280"/>
            <a:ext cx="10972800" cy="3931920"/>
          </a:xfrm>
          <a:prstGeom prst="rect">
            <a:avLst/>
          </a:prstGeom>
          <a:noFill/>
        </p:spPr>
        <p:txBody>
          <a:bodyPr wrap="square">
            <a:spAutoFit/>
          </a:bodyPr>
          <a:lstStyle/>
          <a:p>
            <a:r>
              <a:rPr sz="1800" b="1">
                <a:solidFill>
                  <a:srgbClr val="0F4C5C"/>
                </a:solidFill>
              </a:rPr>
              <a:t>• Step1 预读</a:t>
            </a:r>
          </a:p>
          <a:p>
            <a:pPr>
              <a:spcBef>
                <a:spcPts val="100"/>
              </a:spcBef>
            </a:pPr>
            <a:r>
              <a:rPr sz="1500">
                <a:solidFill>
                  <a:srgbClr val="556075"/>
                </a:solidFill>
              </a:rPr>
              <a:t>   看笔记结构：标题是什么？空格在哪个层级？</a:t>
            </a:r>
          </a:p>
          <a:p>
            <a:pPr>
              <a:spcBef>
                <a:spcPts val="900"/>
              </a:spcBef>
            </a:pPr>
            <a:r>
              <a:rPr sz="1800" b="1">
                <a:solidFill>
                  <a:srgbClr val="0F4C5C"/>
                </a:solidFill>
              </a:rPr>
              <a:t>• Step2 预判词性</a:t>
            </a:r>
          </a:p>
          <a:p>
            <a:pPr>
              <a:spcBef>
                <a:spcPts val="100"/>
              </a:spcBef>
            </a:pPr>
            <a:r>
              <a:rPr sz="1500">
                <a:solidFill>
                  <a:srgbClr val="556075"/>
                </a:solidFill>
              </a:rPr>
              <a:t>   空格前后是否有a/an/the/形容词→名词；be动词→形容词/名词</a:t>
            </a:r>
          </a:p>
          <a:p>
            <a:pPr>
              <a:spcBef>
                <a:spcPts val="900"/>
              </a:spcBef>
            </a:pPr>
            <a:r>
              <a:rPr sz="1800" b="1">
                <a:solidFill>
                  <a:srgbClr val="0F4C5C"/>
                </a:solidFill>
              </a:rPr>
              <a:t>• Step3 预判内容</a:t>
            </a:r>
          </a:p>
          <a:p>
            <a:pPr>
              <a:spcBef>
                <a:spcPts val="100"/>
              </a:spcBef>
            </a:pPr>
            <a:r>
              <a:rPr sz="1500">
                <a:solidFill>
                  <a:srgbClr val="556075"/>
                </a:solidFill>
              </a:rPr>
              <a:t>   笔记的主题是什么？这个空格可能填什么类型的词？</a:t>
            </a:r>
          </a:p>
          <a:p>
            <a:pPr>
              <a:spcBef>
                <a:spcPts val="900"/>
              </a:spcBef>
            </a:pPr>
            <a:r>
              <a:rPr sz="1800" b="1">
                <a:solidFill>
                  <a:srgbClr val="0F4C5C"/>
                </a:solidFill>
              </a:rPr>
              <a:t>• Step4 听时捕捉</a:t>
            </a:r>
          </a:p>
          <a:p>
            <a:pPr>
              <a:spcBef>
                <a:spcPts val="100"/>
              </a:spcBef>
            </a:pPr>
            <a:r>
              <a:rPr sz="1500">
                <a:solidFill>
                  <a:srgbClr val="556075"/>
                </a:solidFill>
              </a:rPr>
              <a:t>   边听边写候选词；专业词按音节记首字母占位</a:t>
            </a:r>
          </a:p>
          <a:p>
            <a:pPr>
              <a:spcBef>
                <a:spcPts val="900"/>
              </a:spcBef>
            </a:pPr>
            <a:r>
              <a:rPr sz="1800" b="1">
                <a:solidFill>
                  <a:srgbClr val="0F4C5C"/>
                </a:solidFill>
              </a:rPr>
              <a:t>• Step5 誊写核对</a:t>
            </a:r>
          </a:p>
          <a:p>
            <a:pPr>
              <a:spcBef>
                <a:spcPts val="100"/>
              </a:spcBef>
            </a:pPr>
            <a:r>
              <a:rPr sz="1500">
                <a:solidFill>
                  <a:srgbClr val="556075"/>
                </a:solidFill>
              </a:rPr>
              <a:t>   限词/拼写/大小写逐项检查</a:t>
            </a:r>
          </a:p>
        </p:txBody>
      </p:sp>
      <p:sp>
        <p:nvSpPr>
          <p:cNvPr id="11" name="Rectangle 10"/>
          <p:cNvSpPr/>
          <p:nvPr/>
        </p:nvSpPr>
        <p:spPr>
          <a:xfrm>
            <a:off x="548640" y="5989320"/>
            <a:ext cx="11064240" cy="548640"/>
          </a:xfrm>
          <a:prstGeom prst="rect">
            <a:avLst/>
          </a:prstGeom>
          <a:solidFill>
            <a:srgbClr val="FDF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6035040"/>
            <a:ext cx="10698480" cy="457200"/>
          </a:xfrm>
          <a:prstGeom prst="rect">
            <a:avLst/>
          </a:prstGeom>
          <a:noFill/>
        </p:spPr>
        <p:txBody>
          <a:bodyPr wrap="square" anchor="ctr">
            <a:spAutoFit/>
          </a:bodyPr>
          <a:lstStyle/>
          <a:p>
            <a:pPr algn="l"/>
            <a:r>
              <a:rPr sz="1250" b="0" i="1">
                <a:solidFill>
                  <a:srgbClr val="C02A2A"/>
                </a:solidFill>
                <a:latin typeface="Calibri"/>
              </a:rPr>
              <a:t>⚠ 深圳学生注意：笔记填空的答案几乎100%是录音原词；重点在"定位"和"限词"</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摘要填空的特殊挑战</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ounded Rectangle 7"/>
          <p:cNvSpPr/>
          <p:nvPr/>
        </p:nvSpPr>
        <p:spPr>
          <a:xfrm>
            <a:off x="548640" y="1143000"/>
            <a:ext cx="11064240" cy="868680"/>
          </a:xfrm>
          <a:prstGeom prst="round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0F4C5C"/>
                </a:solidFill>
                <a:latin typeface="Calibri"/>
              </a:rPr>
              <a:t>摘要填空比笔记填空难</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0F4C5C"/>
                </a:solidFill>
              </a:rPr>
              <a:t>• 难点1</a:t>
            </a:r>
          </a:p>
          <a:p>
            <a:pPr>
              <a:spcBef>
                <a:spcPts val="100"/>
              </a:spcBef>
            </a:pPr>
            <a:r>
              <a:rPr sz="1500">
                <a:solidFill>
                  <a:srgbClr val="556075"/>
                </a:solidFill>
              </a:rPr>
              <a:t>   摘要用的词和录音词不同（同义替换）——不能直接用录音词</a:t>
            </a:r>
          </a:p>
          <a:p>
            <a:pPr>
              <a:spcBef>
                <a:spcPts val="900"/>
              </a:spcBef>
            </a:pPr>
            <a:r>
              <a:rPr sz="1800" b="1">
                <a:solidFill>
                  <a:srgbClr val="0F4C5C"/>
                </a:solidFill>
              </a:rPr>
              <a:t>• 难点2</a:t>
            </a:r>
          </a:p>
          <a:p>
            <a:pPr>
              <a:spcBef>
                <a:spcPts val="100"/>
              </a:spcBef>
            </a:pPr>
            <a:r>
              <a:rPr sz="1500">
                <a:solidFill>
                  <a:srgbClr val="556075"/>
                </a:solidFill>
              </a:rPr>
              <a:t>   摘要中的空格语法约束更严——词性必须对</a:t>
            </a:r>
          </a:p>
          <a:p>
            <a:pPr>
              <a:spcBef>
                <a:spcPts val="900"/>
              </a:spcBef>
            </a:pPr>
            <a:r>
              <a:rPr sz="1800" b="1">
                <a:solidFill>
                  <a:srgbClr val="0F4C5C"/>
                </a:solidFill>
              </a:rPr>
              <a:t>• 难点3</a:t>
            </a:r>
          </a:p>
          <a:p>
            <a:pPr>
              <a:spcBef>
                <a:spcPts val="100"/>
              </a:spcBef>
            </a:pPr>
            <a:r>
              <a:rPr sz="1500">
                <a:solidFill>
                  <a:srgbClr val="556075"/>
                </a:solidFill>
              </a:rPr>
              <a:t>   摘要填空通常在S4后半段，此时最容易跟丢</a:t>
            </a:r>
          </a:p>
          <a:p>
            <a:pPr>
              <a:spcBef>
                <a:spcPts val="900"/>
              </a:spcBef>
            </a:pPr>
            <a:r>
              <a:rPr sz="1800" b="1">
                <a:solidFill>
                  <a:srgbClr val="0F4C5C"/>
                </a:solidFill>
              </a:rPr>
              <a:t>• 解法</a:t>
            </a:r>
          </a:p>
          <a:p>
            <a:pPr>
              <a:spcBef>
                <a:spcPts val="100"/>
              </a:spcBef>
            </a:pPr>
            <a:r>
              <a:rPr sz="1500">
                <a:solidFill>
                  <a:srgbClr val="556075"/>
                </a:solidFill>
              </a:rPr>
              <a:t>   先读完整段摘要，理解语义→再听录音→用理解匹配</a:t>
            </a:r>
          </a:p>
          <a:p>
            <a:pPr>
              <a:spcBef>
                <a:spcPts val="900"/>
              </a:spcBef>
            </a:pPr>
            <a:r>
              <a:rPr sz="1800" b="1">
                <a:solidFill>
                  <a:srgbClr val="0F4C5C"/>
                </a:solidFill>
              </a:rPr>
              <a:t>• 关键</a:t>
            </a:r>
          </a:p>
          <a:p>
            <a:pPr>
              <a:spcBef>
                <a:spcPts val="100"/>
              </a:spcBef>
            </a:pPr>
            <a:r>
              <a:rPr sz="1500">
                <a:solidFill>
                  <a:srgbClr val="556075"/>
                </a:solidFill>
              </a:rPr>
              <a:t>   摘要填空考的是"语义理解"，不只是"关键词捕捉"</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限词违规：最常见的摘要失分</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850" b="1">
                <a:solidFill>
                  <a:srgbClr val="0F4C5C"/>
                </a:solidFill>
              </a:rPr>
              <a:t>• ONE WORD only</a:t>
            </a:r>
          </a:p>
          <a:p>
            <a:pPr>
              <a:spcBef>
                <a:spcPts val="100"/>
              </a:spcBef>
            </a:pPr>
            <a:r>
              <a:rPr sz="1550">
                <a:solidFill>
                  <a:srgbClr val="556075"/>
                </a:solidFill>
              </a:rPr>
              <a:t>   只能填1个词；the/a不算但也不能写；复合词(self-sufficient)算1个</a:t>
            </a:r>
          </a:p>
          <a:p>
            <a:pPr>
              <a:spcBef>
                <a:spcPts val="1000"/>
              </a:spcBef>
            </a:pPr>
            <a:r>
              <a:rPr sz="1850" b="1">
                <a:solidFill>
                  <a:srgbClr val="0F4C5C"/>
                </a:solidFill>
              </a:rPr>
              <a:t>• TWO WORDS</a:t>
            </a:r>
          </a:p>
          <a:p>
            <a:pPr>
              <a:spcBef>
                <a:spcPts val="100"/>
              </a:spcBef>
            </a:pPr>
            <a:r>
              <a:rPr sz="1550">
                <a:solidFill>
                  <a:srgbClr val="556075"/>
                </a:solidFill>
              </a:rPr>
              <a:t>   最多2个；a/the算1个词；数字算1个词</a:t>
            </a:r>
          </a:p>
          <a:p>
            <a:pPr>
              <a:spcBef>
                <a:spcPts val="1000"/>
              </a:spcBef>
            </a:pPr>
            <a:r>
              <a:rPr sz="1850" b="1">
                <a:solidFill>
                  <a:srgbClr val="0F4C5C"/>
                </a:solidFill>
              </a:rPr>
              <a:t>• A NUMBER</a:t>
            </a:r>
          </a:p>
          <a:p>
            <a:pPr>
              <a:spcBef>
                <a:spcPts val="100"/>
              </a:spcBef>
            </a:pPr>
            <a:r>
              <a:rPr sz="1550">
                <a:solidFill>
                  <a:srgbClr val="556075"/>
                </a:solidFill>
              </a:rPr>
              <a:t>   只填数字；写文字"fifty"通常也接受</a:t>
            </a:r>
          </a:p>
          <a:p>
            <a:pPr>
              <a:spcBef>
                <a:spcPts val="1000"/>
              </a:spcBef>
            </a:pPr>
            <a:r>
              <a:rPr sz="1850" b="1">
                <a:solidFill>
                  <a:srgbClr val="0F4C5C"/>
                </a:solidFill>
              </a:rPr>
              <a:t>• TWO WORDS AND/OR A NUMBER</a:t>
            </a:r>
          </a:p>
          <a:p>
            <a:pPr>
              <a:spcBef>
                <a:spcPts val="100"/>
              </a:spcBef>
            </a:pPr>
            <a:r>
              <a:rPr sz="1550">
                <a:solidFill>
                  <a:srgbClr val="556075"/>
                </a:solidFill>
              </a:rPr>
              <a:t>   最多2个单词，或者1个数字，或者词+数字</a:t>
            </a:r>
          </a:p>
          <a:p>
            <a:pPr>
              <a:spcBef>
                <a:spcPts val="1000"/>
              </a:spcBef>
            </a:pPr>
            <a:r>
              <a:rPr sz="1850" b="1">
                <a:solidFill>
                  <a:srgbClr val="0F4C5C"/>
                </a:solidFill>
              </a:rPr>
              <a:t>• 违规代价</a:t>
            </a:r>
          </a:p>
          <a:p>
            <a:pPr>
              <a:spcBef>
                <a:spcPts val="100"/>
              </a:spcBef>
            </a:pPr>
            <a:r>
              <a:rPr sz="1550">
                <a:solidFill>
                  <a:srgbClr val="556075"/>
                </a:solidFill>
              </a:rPr>
              <a:t>   超出限词=0分，哪怕内容正确；一定要在誊写时数词数</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词性预判实战练习</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850" b="1">
                <a:solidFill>
                  <a:srgbClr val="0F4C5C"/>
                </a:solidFill>
              </a:rPr>
              <a:t>• 例1</a:t>
            </a:r>
          </a:p>
          <a:p>
            <a:pPr>
              <a:spcBef>
                <a:spcPts val="100"/>
              </a:spcBef>
            </a:pPr>
            <a:r>
              <a:rPr sz="1550">
                <a:solidFill>
                  <a:srgbClr val="556075"/>
                </a:solidFill>
              </a:rPr>
              <a:t>   Researchers found that _____ (Q35) levels increased after treatment.</a:t>
            </a:r>
          </a:p>
          <a:p>
            <a:pPr>
              <a:spcBef>
                <a:spcPts val="1000"/>
              </a:spcBef>
            </a:pPr>
            <a:r>
              <a:rPr sz="1850" b="1">
                <a:solidFill>
                  <a:srgbClr val="0F4C5C"/>
                </a:solidFill>
              </a:rPr>
              <a:t>• 分析1</a:t>
            </a:r>
          </a:p>
          <a:p>
            <a:pPr>
              <a:spcBef>
                <a:spcPts val="100"/>
              </a:spcBef>
            </a:pPr>
            <a:r>
              <a:rPr sz="1550">
                <a:solidFill>
                  <a:srgbClr val="556075"/>
                </a:solidFill>
              </a:rPr>
              <a:t>   _____ 后有levels(名词)→空格需要形容词；或空格本身是名词修饰levels</a:t>
            </a:r>
          </a:p>
          <a:p>
            <a:pPr>
              <a:spcBef>
                <a:spcPts val="1000"/>
              </a:spcBef>
            </a:pPr>
            <a:r>
              <a:rPr sz="1850" b="1">
                <a:solidFill>
                  <a:srgbClr val="0F4C5C"/>
                </a:solidFill>
              </a:rPr>
              <a:t>• 例2</a:t>
            </a:r>
          </a:p>
          <a:p>
            <a:pPr>
              <a:spcBef>
                <a:spcPts val="100"/>
              </a:spcBef>
            </a:pPr>
            <a:r>
              <a:rPr sz="1550">
                <a:solidFill>
                  <a:srgbClr val="556075"/>
                </a:solidFill>
              </a:rPr>
              <a:t>   The main _____ (Q36) of this approach is its cost.</a:t>
            </a:r>
          </a:p>
          <a:p>
            <a:pPr>
              <a:spcBef>
                <a:spcPts val="1000"/>
              </a:spcBef>
            </a:pPr>
            <a:r>
              <a:rPr sz="1850" b="1">
                <a:solidFill>
                  <a:srgbClr val="0F4C5C"/>
                </a:solidFill>
              </a:rPr>
              <a:t>• 分析2</a:t>
            </a:r>
          </a:p>
          <a:p>
            <a:pPr>
              <a:spcBef>
                <a:spcPts val="100"/>
              </a:spcBef>
            </a:pPr>
            <a:r>
              <a:rPr sz="1550">
                <a:solidFill>
                  <a:srgbClr val="556075"/>
                </a:solidFill>
              </a:rPr>
              <a:t>   The main _____ of... → 名词短语结构→填名词（disadvantage/benefit/problem）</a:t>
            </a:r>
          </a:p>
          <a:p>
            <a:pPr>
              <a:spcBef>
                <a:spcPts val="1000"/>
              </a:spcBef>
            </a:pPr>
            <a:r>
              <a:rPr sz="1850" b="1">
                <a:solidFill>
                  <a:srgbClr val="0F4C5C"/>
                </a:solidFill>
              </a:rPr>
              <a:t>• 结论</a:t>
            </a:r>
          </a:p>
          <a:p>
            <a:pPr>
              <a:spcBef>
                <a:spcPts val="100"/>
              </a:spcBef>
            </a:pPr>
            <a:r>
              <a:rPr sz="1550">
                <a:solidFill>
                  <a:srgbClr val="556075"/>
                </a:solidFill>
              </a:rPr>
              <a:t>   预判词性后：听时只关注该词性的词，排除其他干扰</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笔记填空精听练习</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ectangle 7"/>
          <p:cNvSpPr/>
          <p:nvPr/>
        </p:nvSpPr>
        <p:spPr>
          <a:xfrm>
            <a:off x="548640" y="1188720"/>
            <a:ext cx="11064240" cy="36576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Notes: Renewable Energy. Write NO MORE THAN TWO WORDS.
Solar power:
- most __________ energy source (Q37)
- currently provides __________ of global electricity (Q38)
"Solar is now the most rapidly expanding energy source globally.
It currently supplies around two percent of total global electricity generation."</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Q37: rapidly expanding (听到"most rapidly expanding"→填two words符合限制)
Q38: two percent (听到"around two percent"→around是副词不用填→填two percent)</a:t>
            </a:r>
          </a:p>
        </p:txBody>
      </p:sp>
      <p:sp>
        <p:nvSpPr>
          <p:cNvPr id="14" name="Rectangle 13"/>
          <p:cNvSpPr/>
          <p:nvPr/>
        </p:nvSpPr>
        <p:spPr>
          <a:xfrm>
            <a:off x="548640" y="5669279"/>
            <a:ext cx="11064240" cy="36576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Q37注意：most后跟形容词/副词结构；"rapidly expanding"整体修饰"energy source"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摘要填空完整练习</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ectangle 7"/>
          <p:cNvSpPr/>
          <p:nvPr/>
        </p:nvSpPr>
        <p:spPr>
          <a:xfrm>
            <a:off x="548640" y="1188720"/>
            <a:ext cx="11064240" cy="36576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Summary: Write ONE WORD ONLY.
The study __________ (Q39) that frequent smartphone use reduces attention span.
This is particularly concerning for __________ (Q40) who rely on sustained focus.
"Researchers confirmed that heavy smartphone usage significantly shortens the ability to focus.
The finding is especially relevant for students who need prolonged concentration."</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Q39: confirmed (录音"confirmed"=摘要"concluded/showed"→但限ONE WORD→confirmed是原词最准)
Q40: students (录音"students"=摘要空格的语义匹配)</a:t>
            </a:r>
          </a:p>
        </p:txBody>
      </p:sp>
      <p:sp>
        <p:nvSpPr>
          <p:cNvPr id="14" name="Rectangle 13"/>
          <p:cNvSpPr/>
          <p:nvPr/>
        </p:nvSpPr>
        <p:spPr>
          <a:xfrm>
            <a:off x="548640" y="5669279"/>
            <a:ext cx="11064240" cy="36576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摘要填空先看语义：Q39需要动词（研究___了...）；Q40需要名词（___群体）</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2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12A594"/>
                </a:solidFill>
                <a:latin typeface="Calibri"/>
              </a:rPr>
              <a:t>PART 03</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AWL学术词汇听辨策略</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AWL Vocabulary: Listening Strategy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AWL词汇的特点</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ounded Rectangle 7"/>
          <p:cNvSpPr/>
          <p:nvPr/>
        </p:nvSpPr>
        <p:spPr>
          <a:xfrm>
            <a:off x="548640" y="1143000"/>
            <a:ext cx="11064240" cy="868680"/>
          </a:xfrm>
          <a:prstGeom prst="round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0F4C5C"/>
                </a:solidFill>
                <a:latin typeface="Calibri"/>
              </a:rPr>
              <a:t>Academic Word List的听力挑战</a:t>
            </a:r>
          </a:p>
        </p:txBody>
      </p:sp>
      <p:sp>
        <p:nvSpPr>
          <p:cNvPr id="10" name="TextBox 9"/>
          <p:cNvSpPr txBox="1"/>
          <p:nvPr/>
        </p:nvSpPr>
        <p:spPr>
          <a:xfrm>
            <a:off x="640080" y="2240280"/>
            <a:ext cx="10972800" cy="3931920"/>
          </a:xfrm>
          <a:prstGeom prst="rect">
            <a:avLst/>
          </a:prstGeom>
          <a:noFill/>
        </p:spPr>
        <p:txBody>
          <a:bodyPr wrap="square">
            <a:spAutoFit/>
          </a:bodyPr>
          <a:lstStyle/>
          <a:p>
            <a:r>
              <a:rPr sz="1800" b="1">
                <a:solidFill>
                  <a:srgbClr val="0F4C5C"/>
                </a:solidFill>
              </a:rPr>
              <a:t>• 总量</a:t>
            </a:r>
          </a:p>
          <a:p>
            <a:pPr>
              <a:spcBef>
                <a:spcPts val="100"/>
              </a:spcBef>
            </a:pPr>
            <a:r>
              <a:rPr sz="1500">
                <a:solidFill>
                  <a:srgbClr val="556075"/>
                </a:solidFill>
              </a:rPr>
              <a:t>   AWL共570个词族，覆盖学术文章约10%的词汇</a:t>
            </a:r>
          </a:p>
          <a:p>
            <a:pPr>
              <a:spcBef>
                <a:spcPts val="900"/>
              </a:spcBef>
            </a:pPr>
            <a:r>
              <a:rPr sz="1800" b="1">
                <a:solidFill>
                  <a:srgbClr val="0F4C5C"/>
                </a:solidFill>
              </a:rPr>
              <a:t>• S4出现频率</a:t>
            </a:r>
          </a:p>
          <a:p>
            <a:pPr>
              <a:spcBef>
                <a:spcPts val="100"/>
              </a:spcBef>
            </a:pPr>
            <a:r>
              <a:rPr sz="1500">
                <a:solidFill>
                  <a:srgbClr val="556075"/>
                </a:solidFill>
              </a:rPr>
              <a:t>   S4每10句话约有3-5个AWL词汇</a:t>
            </a:r>
          </a:p>
          <a:p>
            <a:pPr>
              <a:spcBef>
                <a:spcPts val="900"/>
              </a:spcBef>
            </a:pPr>
            <a:r>
              <a:rPr sz="1800" b="1">
                <a:solidFill>
                  <a:srgbClr val="0F4C5C"/>
                </a:solidFill>
              </a:rPr>
              <a:t>• 听辨难点</a:t>
            </a:r>
          </a:p>
          <a:p>
            <a:pPr>
              <a:spcBef>
                <a:spcPts val="100"/>
              </a:spcBef>
            </a:pPr>
            <a:r>
              <a:rPr sz="1500">
                <a:solidFill>
                  <a:srgbClr val="556075"/>
                </a:solidFill>
              </a:rPr>
              <a:t>   看到认识，听到不认识——视觉词形≠听觉音形</a:t>
            </a:r>
          </a:p>
          <a:p>
            <a:pPr>
              <a:spcBef>
                <a:spcPts val="900"/>
              </a:spcBef>
            </a:pPr>
            <a:r>
              <a:rPr sz="1800" b="1">
                <a:solidFill>
                  <a:srgbClr val="0F4C5C"/>
                </a:solidFill>
              </a:rPr>
              <a:t>• 拼写难点</a:t>
            </a:r>
          </a:p>
          <a:p>
            <a:pPr>
              <a:spcBef>
                <a:spcPts val="100"/>
              </a:spcBef>
            </a:pPr>
            <a:r>
              <a:rPr sz="1500">
                <a:solidFill>
                  <a:srgbClr val="556075"/>
                </a:solidFill>
              </a:rPr>
              <a:t>   S4答案可能包含AWL词，拼错=0分</a:t>
            </a:r>
          </a:p>
          <a:p>
            <a:pPr>
              <a:spcBef>
                <a:spcPts val="900"/>
              </a:spcBef>
            </a:pPr>
            <a:r>
              <a:rPr sz="1800" b="1">
                <a:solidFill>
                  <a:srgbClr val="0F4C5C"/>
                </a:solidFill>
              </a:rPr>
              <a:t>• 策略</a:t>
            </a:r>
          </a:p>
          <a:p>
            <a:pPr>
              <a:spcBef>
                <a:spcPts val="100"/>
              </a:spcBef>
            </a:pPr>
            <a:r>
              <a:rPr sz="1500">
                <a:solidFill>
                  <a:srgbClr val="556075"/>
                </a:solidFill>
              </a:rPr>
              <a:t>   不要求会写所有AWL词；重点是"听到音能认出意思"</a:t>
            </a:r>
          </a:p>
        </p:txBody>
      </p:sp>
      <p:sp>
        <p:nvSpPr>
          <p:cNvPr id="11" name="Rectangle 10"/>
          <p:cNvSpPr/>
          <p:nvPr/>
        </p:nvSpPr>
        <p:spPr>
          <a:xfrm>
            <a:off x="548640" y="5989320"/>
            <a:ext cx="11064240" cy="548640"/>
          </a:xfrm>
          <a:prstGeom prst="rect">
            <a:avLst/>
          </a:prstGeom>
          <a:solidFill>
            <a:srgbClr val="FDF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6035040"/>
            <a:ext cx="10698480" cy="457200"/>
          </a:xfrm>
          <a:prstGeom prst="rect">
            <a:avLst/>
          </a:prstGeom>
          <a:noFill/>
        </p:spPr>
        <p:txBody>
          <a:bodyPr wrap="square" anchor="ctr">
            <a:spAutoFit/>
          </a:bodyPr>
          <a:lstStyle/>
          <a:p>
            <a:pPr algn="l"/>
            <a:r>
              <a:rPr sz="1250" b="0" i="1">
                <a:solidFill>
                  <a:srgbClr val="C02A2A"/>
                </a:solidFill>
                <a:latin typeface="Calibri"/>
              </a:rPr>
              <a:t>⚠ 深圳学生注意：雅思S4目标：听到evapotranspiration→知道大概是"蒸发作用"→按音写占位</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高频AWL词汇：听音辨义技巧</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ounded Rectangle 7"/>
          <p:cNvSpPr/>
          <p:nvPr/>
        </p:nvSpPr>
        <p:spPr>
          <a:xfrm>
            <a:off x="548640" y="1143000"/>
            <a:ext cx="11064240" cy="868680"/>
          </a:xfrm>
          <a:prstGeom prst="round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0F4C5C"/>
                </a:solidFill>
                <a:latin typeface="Calibri"/>
              </a:rPr>
              <a:t>分音节识别是核心</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0F4C5C"/>
                </a:solidFill>
              </a:rPr>
              <a:t>• 词根策略</a:t>
            </a:r>
          </a:p>
          <a:p>
            <a:pPr>
              <a:spcBef>
                <a:spcPts val="100"/>
              </a:spcBef>
            </a:pPr>
            <a:r>
              <a:rPr sz="1500">
                <a:solidFill>
                  <a:srgbClr val="556075"/>
                </a:solidFill>
              </a:rPr>
              <a:t>   bio=生命；hydro=水；therm=热；geo=地；eco=生态</a:t>
            </a:r>
          </a:p>
          <a:p>
            <a:pPr>
              <a:spcBef>
                <a:spcPts val="900"/>
              </a:spcBef>
            </a:pPr>
            <a:r>
              <a:rPr sz="1800" b="1">
                <a:solidFill>
                  <a:srgbClr val="0F4C5C"/>
                </a:solidFill>
              </a:rPr>
              <a:t>• 前缀策略</a:t>
            </a:r>
          </a:p>
          <a:p>
            <a:pPr>
              <a:spcBef>
                <a:spcPts val="100"/>
              </a:spcBef>
            </a:pPr>
            <a:r>
              <a:rPr sz="1500">
                <a:solidFill>
                  <a:srgbClr val="556075"/>
                </a:solidFill>
              </a:rPr>
              <a:t>   un-/dis-=否定；re-=重复；pre-=之前；inter-=之间</a:t>
            </a:r>
          </a:p>
          <a:p>
            <a:pPr>
              <a:spcBef>
                <a:spcPts val="900"/>
              </a:spcBef>
            </a:pPr>
            <a:r>
              <a:rPr sz="1800" b="1">
                <a:solidFill>
                  <a:srgbClr val="0F4C5C"/>
                </a:solidFill>
              </a:rPr>
              <a:t>• 后缀策略</a:t>
            </a:r>
          </a:p>
          <a:p>
            <a:pPr>
              <a:spcBef>
                <a:spcPts val="100"/>
              </a:spcBef>
            </a:pPr>
            <a:r>
              <a:rPr sz="1500">
                <a:solidFill>
                  <a:srgbClr val="556075"/>
                </a:solidFill>
              </a:rPr>
              <a:t>   -tion/-sion=名词；-ify/-ize=动词；-ous/-al=形容词</a:t>
            </a:r>
          </a:p>
          <a:p>
            <a:pPr>
              <a:spcBef>
                <a:spcPts val="900"/>
              </a:spcBef>
            </a:pPr>
            <a:r>
              <a:rPr sz="1800" b="1">
                <a:solidFill>
                  <a:srgbClr val="0F4C5C"/>
                </a:solidFill>
              </a:rPr>
              <a:t>• 音节分解</a:t>
            </a:r>
          </a:p>
          <a:p>
            <a:pPr>
              <a:spcBef>
                <a:spcPts val="100"/>
              </a:spcBef>
            </a:pPr>
            <a:r>
              <a:rPr sz="1500">
                <a:solidFill>
                  <a:srgbClr val="556075"/>
                </a:solidFill>
              </a:rPr>
              <a:t>   e-vap-o-trans-pi-RA-tion → 重音节"RA"是识别关键</a:t>
            </a:r>
          </a:p>
          <a:p>
            <a:pPr>
              <a:spcBef>
                <a:spcPts val="900"/>
              </a:spcBef>
            </a:pPr>
            <a:r>
              <a:rPr sz="1800" b="1">
                <a:solidFill>
                  <a:srgbClr val="0F4C5C"/>
                </a:solidFill>
              </a:rPr>
              <a:t>• 首字母法</a:t>
            </a:r>
          </a:p>
          <a:p>
            <a:pPr>
              <a:spcBef>
                <a:spcPts val="100"/>
              </a:spcBef>
            </a:pPr>
            <a:r>
              <a:rPr sz="1500">
                <a:solidFill>
                  <a:srgbClr val="556075"/>
                </a:solidFill>
              </a:rPr>
              <a:t>   听不清时：写出能听到的首字母+音节数→占位→誊写补全</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AWL高频词30个（听辨重点）</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850" b="1">
                <a:solidFill>
                  <a:srgbClr val="0F4C5C"/>
                </a:solidFill>
              </a:rPr>
              <a:t>• concept / conceptual</a:t>
            </a:r>
          </a:p>
          <a:p>
            <a:pPr>
              <a:spcBef>
                <a:spcPts val="100"/>
              </a:spcBef>
            </a:pPr>
            <a:r>
              <a:rPr sz="1550">
                <a:solidFill>
                  <a:srgbClr val="556075"/>
                </a:solidFill>
              </a:rPr>
              <a:t>   概念/概念性的（重音：CON-cept）</a:t>
            </a:r>
          </a:p>
          <a:p>
            <a:pPr>
              <a:spcBef>
                <a:spcPts val="1000"/>
              </a:spcBef>
            </a:pPr>
            <a:r>
              <a:rPr sz="1850" b="1">
                <a:solidFill>
                  <a:srgbClr val="0F4C5C"/>
                </a:solidFill>
              </a:rPr>
              <a:t>• significant / significantly</a:t>
            </a:r>
          </a:p>
          <a:p>
            <a:pPr>
              <a:spcBef>
                <a:spcPts val="100"/>
              </a:spcBef>
            </a:pPr>
            <a:r>
              <a:rPr sz="1550">
                <a:solidFill>
                  <a:srgbClr val="556075"/>
                </a:solidFill>
              </a:rPr>
              <a:t>   重要的/显著地（SIG-ni-fi-cant）</a:t>
            </a:r>
          </a:p>
          <a:p>
            <a:pPr>
              <a:spcBef>
                <a:spcPts val="1000"/>
              </a:spcBef>
            </a:pPr>
            <a:r>
              <a:rPr sz="1850" b="1">
                <a:solidFill>
                  <a:srgbClr val="0F4C5C"/>
                </a:solidFill>
              </a:rPr>
              <a:t>• analysis / analyse</a:t>
            </a:r>
          </a:p>
          <a:p>
            <a:pPr>
              <a:spcBef>
                <a:spcPts val="100"/>
              </a:spcBef>
            </a:pPr>
            <a:r>
              <a:rPr sz="1550">
                <a:solidFill>
                  <a:srgbClr val="556075"/>
                </a:solidFill>
              </a:rPr>
              <a:t>   分析（a-NAL-y-sis）</a:t>
            </a:r>
          </a:p>
          <a:p>
            <a:pPr>
              <a:spcBef>
                <a:spcPts val="1000"/>
              </a:spcBef>
            </a:pPr>
            <a:r>
              <a:rPr sz="1850" b="1">
                <a:solidFill>
                  <a:srgbClr val="0F4C5C"/>
                </a:solidFill>
              </a:rPr>
              <a:t>• factor / variable</a:t>
            </a:r>
          </a:p>
          <a:p>
            <a:pPr>
              <a:spcBef>
                <a:spcPts val="100"/>
              </a:spcBef>
            </a:pPr>
            <a:r>
              <a:rPr sz="1550">
                <a:solidFill>
                  <a:srgbClr val="556075"/>
                </a:solidFill>
              </a:rPr>
              <a:t>   因素/变量</a:t>
            </a:r>
          </a:p>
          <a:p>
            <a:pPr>
              <a:spcBef>
                <a:spcPts val="1000"/>
              </a:spcBef>
            </a:pPr>
            <a:r>
              <a:rPr sz="1850" b="1">
                <a:solidFill>
                  <a:srgbClr val="0F4C5C"/>
                </a:solidFill>
              </a:rPr>
              <a:t>• methodology</a:t>
            </a:r>
          </a:p>
          <a:p>
            <a:pPr>
              <a:spcBef>
                <a:spcPts val="100"/>
              </a:spcBef>
            </a:pPr>
            <a:r>
              <a:rPr sz="1550">
                <a:solidFill>
                  <a:srgbClr val="556075"/>
                </a:solidFill>
              </a:rPr>
              <a:t>   方法论（meth-od-OL-o-gy）</a:t>
            </a:r>
          </a:p>
          <a:p>
            <a:pPr>
              <a:spcBef>
                <a:spcPts val="1000"/>
              </a:spcBef>
            </a:pPr>
            <a:r>
              <a:rPr sz="1850" b="1">
                <a:solidFill>
                  <a:srgbClr val="0F4C5C"/>
                </a:solidFill>
              </a:rPr>
              <a:t>• implication</a:t>
            </a:r>
          </a:p>
          <a:p>
            <a:pPr>
              <a:spcBef>
                <a:spcPts val="100"/>
              </a:spcBef>
            </a:pPr>
            <a:r>
              <a:rPr sz="1550">
                <a:solidFill>
                  <a:srgbClr val="556075"/>
                </a:solidFill>
              </a:rPr>
              <a:t>   含义/影响（im-pli-CA-tion）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AWL词汇占位法实战</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850" b="1">
                <a:solidFill>
                  <a:srgbClr val="0F4C5C"/>
                </a:solidFill>
              </a:rPr>
              <a:t>• 步骤1</a:t>
            </a:r>
          </a:p>
          <a:p>
            <a:pPr>
              <a:spcBef>
                <a:spcPts val="100"/>
              </a:spcBef>
            </a:pPr>
            <a:r>
              <a:rPr sz="1550">
                <a:solidFill>
                  <a:srgbClr val="556075"/>
                </a:solidFill>
              </a:rPr>
              <a:t>   听到不认识的长词：写出首2-3个字母</a:t>
            </a:r>
          </a:p>
          <a:p>
            <a:pPr>
              <a:spcBef>
                <a:spcPts val="1000"/>
              </a:spcBef>
            </a:pPr>
            <a:r>
              <a:rPr sz="1850" b="1">
                <a:solidFill>
                  <a:srgbClr val="0F4C5C"/>
                </a:solidFill>
              </a:rPr>
              <a:t>• 步骤2</a:t>
            </a:r>
          </a:p>
          <a:p>
            <a:pPr>
              <a:spcBef>
                <a:spcPts val="100"/>
              </a:spcBef>
            </a:pPr>
            <a:r>
              <a:rPr sz="1550">
                <a:solidFill>
                  <a:srgbClr val="556075"/>
                </a:solidFill>
              </a:rPr>
              <a:t>   继续写能听清的音节（用-代替难音节）</a:t>
            </a:r>
          </a:p>
          <a:p>
            <a:pPr>
              <a:spcBef>
                <a:spcPts val="1000"/>
              </a:spcBef>
            </a:pPr>
            <a:r>
              <a:rPr sz="1850" b="1">
                <a:solidFill>
                  <a:srgbClr val="0F4C5C"/>
                </a:solidFill>
              </a:rPr>
              <a:t>• 步骤3</a:t>
            </a:r>
          </a:p>
          <a:p>
            <a:pPr>
              <a:spcBef>
                <a:spcPts val="100"/>
              </a:spcBef>
            </a:pPr>
            <a:r>
              <a:rPr sz="1550">
                <a:solidFill>
                  <a:srgbClr val="556075"/>
                </a:solidFill>
              </a:rPr>
              <a:t>   写出词的大概音节数（划格子）</a:t>
            </a:r>
          </a:p>
          <a:p>
            <a:pPr>
              <a:spcBef>
                <a:spcPts val="1000"/>
              </a:spcBef>
            </a:pPr>
            <a:r>
              <a:rPr sz="1850" b="1">
                <a:solidFill>
                  <a:srgbClr val="0F4C5C"/>
                </a:solidFill>
              </a:rPr>
              <a:t>• 步骤4</a:t>
            </a:r>
          </a:p>
          <a:p>
            <a:pPr>
              <a:spcBef>
                <a:spcPts val="100"/>
              </a:spcBef>
            </a:pPr>
            <a:r>
              <a:rPr sz="1550">
                <a:solidFill>
                  <a:srgbClr val="556075"/>
                </a:solidFill>
              </a:rPr>
              <a:t>   誊写时：结合上下文+可能的词根补全拼写</a:t>
            </a:r>
          </a:p>
          <a:p>
            <a:pPr>
              <a:spcBef>
                <a:spcPts val="1000"/>
              </a:spcBef>
            </a:pPr>
            <a:r>
              <a:rPr sz="1850" b="1">
                <a:solidFill>
                  <a:srgbClr val="0F4C5C"/>
                </a:solidFill>
              </a:rPr>
              <a:t>• 例子</a:t>
            </a:r>
          </a:p>
          <a:p>
            <a:pPr>
              <a:spcBef>
                <a:spcPts val="100"/>
              </a:spcBef>
            </a:pPr>
            <a:r>
              <a:rPr sz="1550">
                <a:solidFill>
                  <a:srgbClr val="556075"/>
                </a:solidFill>
              </a:rPr>
              <a:t>   e-vap-o-tr---spi---tion → evapotranspiration（10分钟后誊写时补全）</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AWL音节训练：重音识别</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ectangle 7"/>
          <p:cNvSpPr/>
          <p:nvPr/>
        </p:nvSpPr>
        <p:spPr>
          <a:xfrm>
            <a:off x="548640" y="1188720"/>
            <a:ext cx="11064240" cy="36576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以下AWL词，标出重音所在的音节（找最强的那个）：
1. a-NAL-y-sis → 重音在第2音节
2. meth-od-OL-o-gy → 重音在第3音节
3. sig-NIF-i-cant → 重音在第2音节
4. sus-TAIN-a-ble → 重音在第2音节
5. en-vi-RON-ment → 重音在第3音节</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找到重音节=找到词的"身份标记"；即使前后音节听不清，重音节通常最清晰</a:t>
            </a:r>
          </a:p>
        </p:txBody>
      </p:sp>
      <p:sp>
        <p:nvSpPr>
          <p:cNvPr id="14" name="Rectangle 13"/>
          <p:cNvSpPr/>
          <p:nvPr/>
        </p:nvSpPr>
        <p:spPr>
          <a:xfrm>
            <a:off x="548640" y="5669279"/>
            <a:ext cx="11064240" cy="36576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训练：每天背5个AWL词，同时背它们的重音位置，听到重音节能反应出整词</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S4真题AWL词汇占位练习</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ectangle 7"/>
          <p:cNvSpPr/>
          <p:nvPr/>
        </p:nvSpPr>
        <p:spPr>
          <a:xfrm>
            <a:off x="548640" y="1188720"/>
            <a:ext cx="11064240" cy="36576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老师读以下句子，用占位法记录划线词（首字母+音节格）：
1. "The study examines the feasibility of urban farming."
2. "Deforestation has significant implications for biodiversity."
3. "Entrepreneurship requires both creativity and methodology."
4. "Evapotranspiration contributes to the urban heat island effect."</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1. fea-----ity(feasibility) + ur---farm(urban farming)
2. De---tion(Deforestation) + bio-----ty(biodiversity)
3. Entrep------ship + meth---gy
4. Evap------tion</a:t>
            </a:r>
          </a:p>
        </p:txBody>
      </p:sp>
      <p:sp>
        <p:nvSpPr>
          <p:cNvPr id="14" name="Rectangle 13"/>
          <p:cNvSpPr/>
          <p:nvPr/>
        </p:nvSpPr>
        <p:spPr>
          <a:xfrm>
            <a:off x="548640" y="5669279"/>
            <a:ext cx="11064240" cy="36576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关键：不因难词停下来；首字母占位后继续追踪；誊写时借助上下文补全</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2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12A594"/>
                </a:solidFill>
                <a:latin typeface="Calibri"/>
              </a:rPr>
              <a:t>PART 04</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讲座追踪与S4综合策略</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Lecture Tracking &amp; S4 Strategy</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S4讲座结构信号词</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ounded Rectangle 7"/>
          <p:cNvSpPr/>
          <p:nvPr/>
        </p:nvSpPr>
        <p:spPr>
          <a:xfrm>
            <a:off x="548640" y="1143000"/>
            <a:ext cx="11064240" cy="868680"/>
          </a:xfrm>
          <a:prstGeom prst="round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0F4C5C"/>
                </a:solidFill>
                <a:latin typeface="Calibri"/>
              </a:rPr>
              <a:t>识别结构=永远不跟丢</a:t>
            </a:r>
          </a:p>
        </p:txBody>
      </p:sp>
      <p:sp>
        <p:nvSpPr>
          <p:cNvPr id="10" name="TextBox 9"/>
          <p:cNvSpPr txBox="1"/>
          <p:nvPr/>
        </p:nvSpPr>
        <p:spPr>
          <a:xfrm>
            <a:off x="640080" y="2240280"/>
            <a:ext cx="10972800" cy="3931920"/>
          </a:xfrm>
          <a:prstGeom prst="rect">
            <a:avLst/>
          </a:prstGeom>
          <a:noFill/>
        </p:spPr>
        <p:txBody>
          <a:bodyPr wrap="square">
            <a:spAutoFit/>
          </a:bodyPr>
          <a:lstStyle/>
          <a:p>
            <a:r>
              <a:rPr sz="1800" b="1">
                <a:solidFill>
                  <a:srgbClr val="0F4C5C"/>
                </a:solidFill>
              </a:rPr>
              <a:t>• 层级标志</a:t>
            </a:r>
          </a:p>
          <a:p>
            <a:pPr>
              <a:spcBef>
                <a:spcPts val="100"/>
              </a:spcBef>
            </a:pPr>
            <a:r>
              <a:rPr sz="1500">
                <a:solidFill>
                  <a:srgbClr val="556075"/>
                </a:solidFill>
              </a:rPr>
              <a:t>   Firstly.../Secondly.../Finally... = 讲座层级</a:t>
            </a:r>
          </a:p>
          <a:p>
            <a:pPr>
              <a:spcBef>
                <a:spcPts val="900"/>
              </a:spcBef>
            </a:pPr>
            <a:r>
              <a:rPr sz="1800" b="1">
                <a:solidFill>
                  <a:srgbClr val="0F4C5C"/>
                </a:solidFill>
              </a:rPr>
              <a:t>• 转折</a:t>
            </a:r>
          </a:p>
          <a:p>
            <a:pPr>
              <a:spcBef>
                <a:spcPts val="100"/>
              </a:spcBef>
            </a:pPr>
            <a:r>
              <a:rPr sz="1500">
                <a:solidFill>
                  <a:srgbClr val="556075"/>
                </a:solidFill>
              </a:rPr>
              <a:t>   However.../On the other hand.../In contrast... = 讲座转折</a:t>
            </a:r>
          </a:p>
          <a:p>
            <a:pPr>
              <a:spcBef>
                <a:spcPts val="900"/>
              </a:spcBef>
            </a:pPr>
            <a:r>
              <a:rPr sz="1800" b="1">
                <a:solidFill>
                  <a:srgbClr val="0F4C5C"/>
                </a:solidFill>
              </a:rPr>
              <a:t>• 例证</a:t>
            </a:r>
          </a:p>
          <a:p>
            <a:pPr>
              <a:spcBef>
                <a:spcPts val="100"/>
              </a:spcBef>
            </a:pPr>
            <a:r>
              <a:rPr sz="1500">
                <a:solidFill>
                  <a:srgbClr val="556075"/>
                </a:solidFill>
              </a:rPr>
              <a:t>   For example.../Take...as an instance... = 进入例子</a:t>
            </a:r>
          </a:p>
          <a:p>
            <a:pPr>
              <a:spcBef>
                <a:spcPts val="900"/>
              </a:spcBef>
            </a:pPr>
            <a:r>
              <a:rPr sz="1800" b="1">
                <a:solidFill>
                  <a:srgbClr val="0F4C5C"/>
                </a:solidFill>
              </a:rPr>
              <a:t>• 总结</a:t>
            </a:r>
          </a:p>
          <a:p>
            <a:pPr>
              <a:spcBef>
                <a:spcPts val="100"/>
              </a:spcBef>
            </a:pPr>
            <a:r>
              <a:rPr sz="1500">
                <a:solidFill>
                  <a:srgbClr val="556075"/>
                </a:solidFill>
              </a:rPr>
              <a:t>   To summarise.../In conclusion.../Overall...</a:t>
            </a:r>
          </a:p>
          <a:p>
            <a:pPr>
              <a:spcBef>
                <a:spcPts val="900"/>
              </a:spcBef>
            </a:pPr>
            <a:r>
              <a:rPr sz="1800" b="1">
                <a:solidFill>
                  <a:srgbClr val="0F4C5C"/>
                </a:solidFill>
              </a:rPr>
              <a:t>• 强调</a:t>
            </a:r>
          </a:p>
          <a:p>
            <a:pPr>
              <a:spcBef>
                <a:spcPts val="100"/>
              </a:spcBef>
            </a:pPr>
            <a:r>
              <a:rPr sz="1500">
                <a:solidFill>
                  <a:srgbClr val="556075"/>
                </a:solidFill>
              </a:rPr>
              <a:t>   Most importantly.../What's crucial is.../The key point...</a:t>
            </a:r>
          </a:p>
        </p:txBody>
      </p:sp>
      <p:sp>
        <p:nvSpPr>
          <p:cNvPr id="11" name="Rectangle 10"/>
          <p:cNvSpPr/>
          <p:nvPr/>
        </p:nvSpPr>
        <p:spPr>
          <a:xfrm>
            <a:off x="548640" y="5989320"/>
            <a:ext cx="11064240" cy="548640"/>
          </a:xfrm>
          <a:prstGeom prst="rect">
            <a:avLst/>
          </a:prstGeom>
          <a:solidFill>
            <a:srgbClr val="FDF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6035040"/>
            <a:ext cx="10698480" cy="457200"/>
          </a:xfrm>
          <a:prstGeom prst="rect">
            <a:avLst/>
          </a:prstGeom>
          <a:noFill/>
        </p:spPr>
        <p:txBody>
          <a:bodyPr wrap="square" anchor="ctr">
            <a:spAutoFit/>
          </a:bodyPr>
          <a:lstStyle/>
          <a:p>
            <a:pPr algn="l"/>
            <a:r>
              <a:rPr sz="1250" b="0" i="1">
                <a:solidFill>
                  <a:srgbClr val="C02A2A"/>
                </a:solidFill>
                <a:latin typeface="Calibri"/>
              </a:rPr>
              <a:t>⚠ 深圳学生注意：每个信号词=一个题目转换点；听到信号词→准备好下一道题</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S4时间管理与策略</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ounded Rectangle 7"/>
          <p:cNvSpPr/>
          <p:nvPr/>
        </p:nvSpPr>
        <p:spPr>
          <a:xfrm>
            <a:off x="548640" y="1143000"/>
            <a:ext cx="11064240" cy="868680"/>
          </a:xfrm>
          <a:prstGeom prst="round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0F4C5C"/>
                </a:solidFill>
                <a:latin typeface="Calibri"/>
              </a:rPr>
              <a:t>10题要全部作答</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0F4C5C"/>
                </a:solidFill>
              </a:rPr>
              <a:t>• 预读优先</a:t>
            </a:r>
          </a:p>
          <a:p>
            <a:pPr>
              <a:spcBef>
                <a:spcPts val="100"/>
              </a:spcBef>
            </a:pPr>
            <a:r>
              <a:rPr sz="1500">
                <a:solidFill>
                  <a:srgbClr val="556075"/>
                </a:solidFill>
              </a:rPr>
              <a:t>   S4说明时间：读完全部Q31-40；圈关键词；预判答案类型</a:t>
            </a:r>
          </a:p>
          <a:p>
            <a:pPr>
              <a:spcBef>
                <a:spcPts val="900"/>
              </a:spcBef>
            </a:pPr>
            <a:r>
              <a:rPr sz="1800" b="1">
                <a:solidFill>
                  <a:srgbClr val="0F4C5C"/>
                </a:solidFill>
              </a:rPr>
              <a:t>• 跟丢处理</a:t>
            </a:r>
          </a:p>
          <a:p>
            <a:pPr>
              <a:spcBef>
                <a:spcPts val="100"/>
              </a:spcBef>
            </a:pPr>
            <a:r>
              <a:rPr sz="1500">
                <a:solidFill>
                  <a:srgbClr val="556075"/>
                </a:solidFill>
              </a:rPr>
              <a:t>   跟丢立刻用题号找锚点；猜填；继续往前不回头</a:t>
            </a:r>
          </a:p>
          <a:p>
            <a:pPr>
              <a:spcBef>
                <a:spcPts val="900"/>
              </a:spcBef>
            </a:pPr>
            <a:r>
              <a:rPr sz="1800" b="1">
                <a:solidFill>
                  <a:srgbClr val="0F4C5C"/>
                </a:solidFill>
              </a:rPr>
              <a:t>• 专业词处理</a:t>
            </a:r>
          </a:p>
          <a:p>
            <a:pPr>
              <a:spcBef>
                <a:spcPts val="100"/>
              </a:spcBef>
            </a:pPr>
            <a:r>
              <a:rPr sz="1500">
                <a:solidFill>
                  <a:srgbClr val="556075"/>
                </a:solidFill>
              </a:rPr>
              <a:t>   不认识的词按音节写占位；不因一个词而停下来</a:t>
            </a:r>
          </a:p>
          <a:p>
            <a:pPr>
              <a:spcBef>
                <a:spcPts val="900"/>
              </a:spcBef>
            </a:pPr>
            <a:r>
              <a:rPr sz="1800" b="1">
                <a:solidFill>
                  <a:srgbClr val="0F4C5C"/>
                </a:solidFill>
              </a:rPr>
              <a:t>• 时间分配</a:t>
            </a:r>
          </a:p>
          <a:p>
            <a:pPr>
              <a:spcBef>
                <a:spcPts val="100"/>
              </a:spcBef>
            </a:pPr>
            <a:r>
              <a:rPr sz="1500">
                <a:solidFill>
                  <a:srgbClr val="556075"/>
                </a:solidFill>
              </a:rPr>
              <a:t>   10道题约7-8分钟；每题约45秒；不在一题上超过1分钟</a:t>
            </a:r>
          </a:p>
          <a:p>
            <a:pPr>
              <a:spcBef>
                <a:spcPts val="900"/>
              </a:spcBef>
            </a:pPr>
            <a:r>
              <a:rPr sz="1800" b="1">
                <a:solidFill>
                  <a:srgbClr val="0F4C5C"/>
                </a:solidFill>
              </a:rPr>
              <a:t>• 猜测原则</a:t>
            </a:r>
          </a:p>
          <a:p>
            <a:pPr>
              <a:spcBef>
                <a:spcPts val="100"/>
              </a:spcBef>
            </a:pPr>
            <a:r>
              <a:rPr sz="1500">
                <a:solidFill>
                  <a:srgbClr val="556075"/>
                </a:solidFill>
              </a:rPr>
              <a:t>   不留空：从语义和语法猜一个合理答案</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跟丢重定位五步骤</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850" b="1">
                <a:solidFill>
                  <a:srgbClr val="0F4C5C"/>
                </a:solidFill>
              </a:rPr>
              <a:t>• 停止回想</a:t>
            </a:r>
          </a:p>
          <a:p>
            <a:pPr>
              <a:spcBef>
                <a:spcPts val="100"/>
              </a:spcBef>
            </a:pPr>
            <a:r>
              <a:rPr sz="1550">
                <a:solidFill>
                  <a:srgbClr val="556075"/>
                </a:solidFill>
              </a:rPr>
              <a:t>   不要把时间花在已经过去的内容上</a:t>
            </a:r>
          </a:p>
          <a:p>
            <a:pPr>
              <a:spcBef>
                <a:spcPts val="1000"/>
              </a:spcBef>
            </a:pPr>
            <a:r>
              <a:rPr sz="1850" b="1">
                <a:solidFill>
                  <a:srgbClr val="0F4C5C"/>
                </a:solidFill>
              </a:rPr>
              <a:t>• 找锚点词</a:t>
            </a:r>
          </a:p>
          <a:p>
            <a:pPr>
              <a:spcBef>
                <a:spcPts val="100"/>
              </a:spcBef>
            </a:pPr>
            <a:r>
              <a:rPr sz="1550">
                <a:solidFill>
                  <a:srgbClr val="556075"/>
                </a:solidFill>
              </a:rPr>
              <a:t>   看下一道未答题目的关键词（名词/动词/数字）</a:t>
            </a:r>
          </a:p>
          <a:p>
            <a:pPr>
              <a:spcBef>
                <a:spcPts val="1000"/>
              </a:spcBef>
            </a:pPr>
            <a:r>
              <a:rPr sz="1850" b="1">
                <a:solidFill>
                  <a:srgbClr val="0F4C5C"/>
                </a:solidFill>
              </a:rPr>
              <a:t>• 等待出现</a:t>
            </a:r>
          </a:p>
          <a:p>
            <a:pPr>
              <a:spcBef>
                <a:spcPts val="100"/>
              </a:spcBef>
            </a:pPr>
            <a:r>
              <a:rPr sz="1550">
                <a:solidFill>
                  <a:srgbClr val="556075"/>
                </a:solidFill>
              </a:rPr>
              <a:t>   继续听，等录音出现该关键词或其同义词</a:t>
            </a:r>
          </a:p>
          <a:p>
            <a:pPr>
              <a:spcBef>
                <a:spcPts val="1000"/>
              </a:spcBef>
            </a:pPr>
            <a:r>
              <a:rPr sz="1850" b="1">
                <a:solidFill>
                  <a:srgbClr val="0F4C5C"/>
                </a:solidFill>
              </a:rPr>
              <a:t>• 标记位置</a:t>
            </a:r>
          </a:p>
          <a:p>
            <a:pPr>
              <a:spcBef>
                <a:spcPts val="100"/>
              </a:spcBef>
            </a:pPr>
            <a:r>
              <a:rPr sz="1550">
                <a:solidFill>
                  <a:srgbClr val="556075"/>
                </a:solidFill>
              </a:rPr>
              <a:t>   听到锚点词→立刻找到题目位置→准备答题</a:t>
            </a:r>
          </a:p>
          <a:p>
            <a:pPr>
              <a:spcBef>
                <a:spcPts val="1000"/>
              </a:spcBef>
            </a:pPr>
            <a:r>
              <a:rPr sz="1850" b="1">
                <a:solidFill>
                  <a:srgbClr val="0F4C5C"/>
                </a:solidFill>
              </a:rPr>
              <a:t>• 猜填已过</a:t>
            </a:r>
          </a:p>
          <a:p>
            <a:pPr>
              <a:spcBef>
                <a:spcPts val="100"/>
              </a:spcBef>
            </a:pPr>
            <a:r>
              <a:rPr sz="1550">
                <a:solidFill>
                  <a:srgbClr val="556075"/>
                </a:solidFill>
              </a:rPr>
              <a:t>   等下一个Section间隙：对跟丢的题猜填一个合理答案</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S4综合备考策略</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850" b="1">
                <a:solidFill>
                  <a:srgbClr val="0F4C5C"/>
                </a:solidFill>
              </a:rPr>
              <a:t>• 词汇准备</a:t>
            </a:r>
          </a:p>
          <a:p>
            <a:pPr>
              <a:spcBef>
                <a:spcPts val="100"/>
              </a:spcBef>
            </a:pPr>
            <a:r>
              <a:rPr sz="1550">
                <a:solidFill>
                  <a:srgbClr val="556075"/>
                </a:solidFill>
              </a:rPr>
              <a:t>   每周背30个AWL词；重点是"听到音能认出意思"</a:t>
            </a:r>
          </a:p>
          <a:p>
            <a:pPr>
              <a:spcBef>
                <a:spcPts val="1000"/>
              </a:spcBef>
            </a:pPr>
            <a:r>
              <a:rPr sz="1850" b="1">
                <a:solidFill>
                  <a:srgbClr val="0F4C5C"/>
                </a:solidFill>
              </a:rPr>
              <a:t>• 精听练习</a:t>
            </a:r>
          </a:p>
          <a:p>
            <a:pPr>
              <a:spcBef>
                <a:spcPts val="100"/>
              </a:spcBef>
            </a:pPr>
            <a:r>
              <a:rPr sz="1550">
                <a:solidFill>
                  <a:srgbClr val="556075"/>
                </a:solidFill>
              </a:rPr>
              <a:t>   每天选1段S4真题录音；听3遍；对照原文标难词</a:t>
            </a:r>
          </a:p>
          <a:p>
            <a:pPr>
              <a:spcBef>
                <a:spcPts val="1000"/>
              </a:spcBef>
            </a:pPr>
            <a:r>
              <a:rPr sz="1850" b="1">
                <a:solidFill>
                  <a:srgbClr val="0F4C5C"/>
                </a:solidFill>
              </a:rPr>
              <a:t>• 结构追踪</a:t>
            </a:r>
          </a:p>
          <a:p>
            <a:pPr>
              <a:spcBef>
                <a:spcPts val="100"/>
              </a:spcBef>
            </a:pPr>
            <a:r>
              <a:rPr sz="1550">
                <a:solidFill>
                  <a:srgbClr val="556075"/>
                </a:solidFill>
              </a:rPr>
              <a:t>   每次做S4后：标出讲座结构信号词；核对题目分布</a:t>
            </a:r>
          </a:p>
          <a:p>
            <a:pPr>
              <a:spcBef>
                <a:spcPts val="1000"/>
              </a:spcBef>
            </a:pPr>
            <a:r>
              <a:rPr sz="1850" b="1">
                <a:solidFill>
                  <a:srgbClr val="0F4C5C"/>
                </a:solidFill>
              </a:rPr>
              <a:t>• 错题分析</a:t>
            </a:r>
          </a:p>
          <a:p>
            <a:pPr>
              <a:spcBef>
                <a:spcPts val="100"/>
              </a:spcBef>
            </a:pPr>
            <a:r>
              <a:rPr sz="1550">
                <a:solidFill>
                  <a:srgbClr val="556075"/>
                </a:solidFill>
              </a:rPr>
              <a:t>   分类失分：是跟丢？是词汇不认识？是限词违规？</a:t>
            </a:r>
          </a:p>
          <a:p>
            <a:pPr>
              <a:spcBef>
                <a:spcPts val="1000"/>
              </a:spcBef>
            </a:pPr>
            <a:r>
              <a:rPr sz="1850" b="1">
                <a:solidFill>
                  <a:srgbClr val="0F4C5C"/>
                </a:solidFill>
              </a:rPr>
              <a:t>• 目标设定</a:t>
            </a:r>
          </a:p>
          <a:p>
            <a:pPr>
              <a:spcBef>
                <a:spcPts val="100"/>
              </a:spcBef>
            </a:pPr>
            <a:r>
              <a:rPr sz="1550">
                <a:solidFill>
                  <a:srgbClr val="556075"/>
                </a:solidFill>
              </a:rPr>
              <a:t>   6分以下→目标S4做对5题；7分→目标7题；8分→目标8题</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S4预读策略演练</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ectangle 7"/>
          <p:cNvSpPr/>
          <p:nvPr/>
        </p:nvSpPr>
        <p:spPr>
          <a:xfrm>
            <a:off x="548640" y="1188720"/>
            <a:ext cx="11064240" cy="36576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限时45秒，对以下S4题目完成预读（圈关键词+预判答案类型）：
Q31: The main cause of soil erosion is _______
Q32: Rainfall of _______ mm per year makes the problem worse
Q33: A possible solution involves _______ farming techniques
Q34: This approach can reduce soil loss by _______</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Q31: 名词/名词短语（cause of...=原因→填名词）
Q32: 数字（mm per year=降雨量→填数字）
Q33: 形容词或名词（___farming=修饰farming→填形容词或专有名词）
Q34: 百分比或数字（reduce by___=减少多少→数字/百分比）</a:t>
            </a:r>
          </a:p>
        </p:txBody>
      </p:sp>
      <p:sp>
        <p:nvSpPr>
          <p:cNvPr id="14" name="Rectangle 13"/>
          <p:cNvSpPr/>
          <p:nvPr/>
        </p:nvSpPr>
        <p:spPr>
          <a:xfrm>
            <a:off x="548640" y="5669279"/>
            <a:ext cx="11064240" cy="36576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预判词性的好处：听时只关注该词性的词，排除其他信息的干扰</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S4信号词追踪演练</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ectangle 7"/>
          <p:cNvSpPr/>
          <p:nvPr/>
        </p:nvSpPr>
        <p:spPr>
          <a:xfrm>
            <a:off x="548640" y="1188720"/>
            <a:ext cx="11064240" cy="36576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读以下讲座片段，标出信号词并说出每段讲的主要内容：
"Today I want to focus on urban sustainability.
Firstly, let's consider the environmental factors.
However, economic considerations are equally important.
To summarise, sustainable cities require both approaches."</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信号词1: Firstly→环境因素 信号词2: However→经济因素 信号词3: To summarise→总结
题目分布：Q31-34对应环境因素；Q35-37对应经济因素；Q38-40对应总结</a:t>
            </a:r>
          </a:p>
        </p:txBody>
      </p:sp>
      <p:sp>
        <p:nvSpPr>
          <p:cNvPr id="14" name="Rectangle 13"/>
          <p:cNvSpPr/>
          <p:nvPr/>
        </p:nvSpPr>
        <p:spPr>
          <a:xfrm>
            <a:off x="548640" y="5669279"/>
            <a:ext cx="11064240" cy="36576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信号词=题目分布的路标；每次标完信号词，就能预测每题出现的大致时间</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2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12A594"/>
                </a:solidFill>
                <a:latin typeface="Calibri"/>
              </a:rPr>
              <a:t>PART 05</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高频词汇</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Key Vocabulary</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词汇 · 句型库</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AWL高频词：学科核心词</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ectangle 7"/>
          <p:cNvSpPr/>
          <p:nvPr/>
        </p:nvSpPr>
        <p:spPr>
          <a:xfrm>
            <a:off x="548640" y="1234440"/>
            <a:ext cx="4937760" cy="566928"/>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234440"/>
            <a:ext cx="6126480" cy="566928"/>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4754880" cy="566928"/>
          </a:xfrm>
          <a:prstGeom prst="rect">
            <a:avLst/>
          </a:prstGeom>
          <a:noFill/>
        </p:spPr>
        <p:txBody>
          <a:bodyPr wrap="square" anchor="ctr">
            <a:spAutoFit/>
          </a:bodyPr>
          <a:lstStyle/>
          <a:p>
            <a:pPr algn="l"/>
            <a:r>
              <a:rPr sz="1300" b="1" i="0">
                <a:solidFill>
                  <a:srgbClr val="FFFFFF"/>
                </a:solidFill>
                <a:latin typeface="Calibri"/>
              </a:rPr>
              <a:t>表达 / Expression</a:t>
            </a:r>
          </a:p>
        </p:txBody>
      </p:sp>
      <p:sp>
        <p:nvSpPr>
          <p:cNvPr id="11" name="TextBox 10"/>
          <p:cNvSpPr txBox="1"/>
          <p:nvPr/>
        </p:nvSpPr>
        <p:spPr>
          <a:xfrm>
            <a:off x="5623560" y="1234440"/>
            <a:ext cx="5852160" cy="566928"/>
          </a:xfrm>
          <a:prstGeom prst="rect">
            <a:avLst/>
          </a:prstGeom>
          <a:noFill/>
        </p:spPr>
        <p:txBody>
          <a:bodyPr wrap="square" anchor="ctr">
            <a:spAutoFit/>
          </a:bodyPr>
          <a:lstStyle/>
          <a:p>
            <a:pPr algn="l"/>
            <a:r>
              <a:rPr sz="1300" b="1" i="0">
                <a:solidFill>
                  <a:srgbClr val="FFFFFF"/>
                </a:solidFill>
                <a:latin typeface="Calibri"/>
              </a:rPr>
              <a:t>用法 / 中文</a:t>
            </a:r>
          </a:p>
        </p:txBody>
      </p:sp>
      <p:sp>
        <p:nvSpPr>
          <p:cNvPr id="12" name="Rectangle 11"/>
          <p:cNvSpPr/>
          <p:nvPr/>
        </p:nvSpPr>
        <p:spPr>
          <a:xfrm>
            <a:off x="548640" y="1801368"/>
            <a:ext cx="493776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801368"/>
            <a:ext cx="612648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801368"/>
            <a:ext cx="4754880" cy="566928"/>
          </a:xfrm>
          <a:prstGeom prst="rect">
            <a:avLst/>
          </a:prstGeom>
          <a:noFill/>
        </p:spPr>
        <p:txBody>
          <a:bodyPr wrap="square" anchor="ctr">
            <a:spAutoFit/>
          </a:bodyPr>
          <a:lstStyle/>
          <a:p>
            <a:pPr algn="l"/>
            <a:r>
              <a:rPr sz="1250" b="1" i="0">
                <a:solidFill>
                  <a:srgbClr val="0F4C5C"/>
                </a:solidFill>
                <a:latin typeface="Calibri"/>
              </a:rPr>
              <a:t>hypothesis</a:t>
            </a:r>
          </a:p>
        </p:txBody>
      </p:sp>
      <p:sp>
        <p:nvSpPr>
          <p:cNvPr id="15" name="TextBox 14"/>
          <p:cNvSpPr txBox="1"/>
          <p:nvPr/>
        </p:nvSpPr>
        <p:spPr>
          <a:xfrm>
            <a:off x="5623560" y="1801368"/>
            <a:ext cx="5852160" cy="566928"/>
          </a:xfrm>
          <a:prstGeom prst="rect">
            <a:avLst/>
          </a:prstGeom>
          <a:noFill/>
        </p:spPr>
        <p:txBody>
          <a:bodyPr wrap="square" anchor="ctr">
            <a:spAutoFit/>
          </a:bodyPr>
          <a:lstStyle/>
          <a:p>
            <a:pPr algn="l"/>
            <a:r>
              <a:rPr sz="1250" b="0" i="0">
                <a:solidFill>
                  <a:srgbClr val="1E293B"/>
                </a:solidFill>
                <a:latin typeface="Calibri"/>
              </a:rPr>
              <a:t>假设（hy-POTH-e-sis）</a:t>
            </a:r>
          </a:p>
        </p:txBody>
      </p:sp>
      <p:sp>
        <p:nvSpPr>
          <p:cNvPr id="16" name="Rectangle 15"/>
          <p:cNvSpPr/>
          <p:nvPr/>
        </p:nvSpPr>
        <p:spPr>
          <a:xfrm>
            <a:off x="548640" y="2368296"/>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2368296"/>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368296"/>
            <a:ext cx="4754880" cy="566928"/>
          </a:xfrm>
          <a:prstGeom prst="rect">
            <a:avLst/>
          </a:prstGeom>
          <a:noFill/>
        </p:spPr>
        <p:txBody>
          <a:bodyPr wrap="square" anchor="ctr">
            <a:spAutoFit/>
          </a:bodyPr>
          <a:lstStyle/>
          <a:p>
            <a:pPr algn="l"/>
            <a:r>
              <a:rPr sz="1250" b="1" i="0">
                <a:solidFill>
                  <a:srgbClr val="0F4C5C"/>
                </a:solidFill>
                <a:latin typeface="Calibri"/>
              </a:rPr>
              <a:t>variable</a:t>
            </a:r>
          </a:p>
        </p:txBody>
      </p:sp>
      <p:sp>
        <p:nvSpPr>
          <p:cNvPr id="19" name="TextBox 18"/>
          <p:cNvSpPr txBox="1"/>
          <p:nvPr/>
        </p:nvSpPr>
        <p:spPr>
          <a:xfrm>
            <a:off x="5623560" y="2368296"/>
            <a:ext cx="5852160" cy="566928"/>
          </a:xfrm>
          <a:prstGeom prst="rect">
            <a:avLst/>
          </a:prstGeom>
          <a:noFill/>
        </p:spPr>
        <p:txBody>
          <a:bodyPr wrap="square" anchor="ctr">
            <a:spAutoFit/>
          </a:bodyPr>
          <a:lstStyle/>
          <a:p>
            <a:pPr algn="l"/>
            <a:r>
              <a:rPr sz="1250" b="0" i="0">
                <a:solidFill>
                  <a:srgbClr val="1E293B"/>
                </a:solidFill>
                <a:latin typeface="Calibri"/>
              </a:rPr>
              <a:t>变量（VAR-i-a-ble）</a:t>
            </a:r>
          </a:p>
        </p:txBody>
      </p:sp>
      <p:sp>
        <p:nvSpPr>
          <p:cNvPr id="20" name="Rectangle 19"/>
          <p:cNvSpPr/>
          <p:nvPr/>
        </p:nvSpPr>
        <p:spPr>
          <a:xfrm>
            <a:off x="548640" y="2935224"/>
            <a:ext cx="493776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0" y="2935224"/>
            <a:ext cx="612648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35224"/>
            <a:ext cx="4754880" cy="566928"/>
          </a:xfrm>
          <a:prstGeom prst="rect">
            <a:avLst/>
          </a:prstGeom>
          <a:noFill/>
        </p:spPr>
        <p:txBody>
          <a:bodyPr wrap="square" anchor="ctr">
            <a:spAutoFit/>
          </a:bodyPr>
          <a:lstStyle/>
          <a:p>
            <a:pPr algn="l"/>
            <a:r>
              <a:rPr sz="1250" b="1" i="0">
                <a:solidFill>
                  <a:srgbClr val="0F4C5C"/>
                </a:solidFill>
                <a:latin typeface="Calibri"/>
              </a:rPr>
              <a:t>significant</a:t>
            </a:r>
          </a:p>
        </p:txBody>
      </p:sp>
      <p:sp>
        <p:nvSpPr>
          <p:cNvPr id="23" name="TextBox 22"/>
          <p:cNvSpPr txBox="1"/>
          <p:nvPr/>
        </p:nvSpPr>
        <p:spPr>
          <a:xfrm>
            <a:off x="5623560" y="2935224"/>
            <a:ext cx="5852160" cy="566928"/>
          </a:xfrm>
          <a:prstGeom prst="rect">
            <a:avLst/>
          </a:prstGeom>
          <a:noFill/>
        </p:spPr>
        <p:txBody>
          <a:bodyPr wrap="square" anchor="ctr">
            <a:spAutoFit/>
          </a:bodyPr>
          <a:lstStyle/>
          <a:p>
            <a:pPr algn="l"/>
            <a:r>
              <a:rPr sz="1250" b="0" i="0">
                <a:solidFill>
                  <a:srgbClr val="1E293B"/>
                </a:solidFill>
                <a:latin typeface="Calibri"/>
              </a:rPr>
              <a:t>显著的（sig-NIF-i-cant）</a:t>
            </a:r>
          </a:p>
        </p:txBody>
      </p:sp>
      <p:sp>
        <p:nvSpPr>
          <p:cNvPr id="24" name="Rectangle 23"/>
          <p:cNvSpPr/>
          <p:nvPr/>
        </p:nvSpPr>
        <p:spPr>
          <a:xfrm>
            <a:off x="548640" y="3502152"/>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0" y="3502152"/>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502152"/>
            <a:ext cx="4754880" cy="566928"/>
          </a:xfrm>
          <a:prstGeom prst="rect">
            <a:avLst/>
          </a:prstGeom>
          <a:noFill/>
        </p:spPr>
        <p:txBody>
          <a:bodyPr wrap="square" anchor="ctr">
            <a:spAutoFit/>
          </a:bodyPr>
          <a:lstStyle/>
          <a:p>
            <a:pPr algn="l"/>
            <a:r>
              <a:rPr sz="1250" b="1" i="0">
                <a:solidFill>
                  <a:srgbClr val="0F4C5C"/>
                </a:solidFill>
                <a:latin typeface="Calibri"/>
              </a:rPr>
              <a:t>sustainable</a:t>
            </a:r>
          </a:p>
        </p:txBody>
      </p:sp>
      <p:sp>
        <p:nvSpPr>
          <p:cNvPr id="27" name="TextBox 26"/>
          <p:cNvSpPr txBox="1"/>
          <p:nvPr/>
        </p:nvSpPr>
        <p:spPr>
          <a:xfrm>
            <a:off x="5623560" y="3502152"/>
            <a:ext cx="5852160" cy="566928"/>
          </a:xfrm>
          <a:prstGeom prst="rect">
            <a:avLst/>
          </a:prstGeom>
          <a:noFill/>
        </p:spPr>
        <p:txBody>
          <a:bodyPr wrap="square" anchor="ctr">
            <a:spAutoFit/>
          </a:bodyPr>
          <a:lstStyle/>
          <a:p>
            <a:pPr algn="l"/>
            <a:r>
              <a:rPr sz="1250" b="0" i="0">
                <a:solidFill>
                  <a:srgbClr val="1E293B"/>
                </a:solidFill>
                <a:latin typeface="Calibri"/>
              </a:rPr>
              <a:t>可持续的（sus-TAIN-a-ble）</a:t>
            </a:r>
          </a:p>
        </p:txBody>
      </p:sp>
      <p:sp>
        <p:nvSpPr>
          <p:cNvPr id="28" name="Rectangle 27"/>
          <p:cNvSpPr/>
          <p:nvPr/>
        </p:nvSpPr>
        <p:spPr>
          <a:xfrm>
            <a:off x="548640" y="4069080"/>
            <a:ext cx="493776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4069080"/>
            <a:ext cx="612648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4069080"/>
            <a:ext cx="4754880" cy="566928"/>
          </a:xfrm>
          <a:prstGeom prst="rect">
            <a:avLst/>
          </a:prstGeom>
          <a:noFill/>
        </p:spPr>
        <p:txBody>
          <a:bodyPr wrap="square" anchor="ctr">
            <a:spAutoFit/>
          </a:bodyPr>
          <a:lstStyle/>
          <a:p>
            <a:pPr algn="l"/>
            <a:r>
              <a:rPr sz="1250" b="1" i="0">
                <a:solidFill>
                  <a:srgbClr val="0F4C5C"/>
                </a:solidFill>
                <a:latin typeface="Calibri"/>
              </a:rPr>
              <a:t>implication</a:t>
            </a:r>
          </a:p>
        </p:txBody>
      </p:sp>
      <p:sp>
        <p:nvSpPr>
          <p:cNvPr id="31" name="TextBox 30"/>
          <p:cNvSpPr txBox="1"/>
          <p:nvPr/>
        </p:nvSpPr>
        <p:spPr>
          <a:xfrm>
            <a:off x="5623560" y="4069080"/>
            <a:ext cx="5852160" cy="566928"/>
          </a:xfrm>
          <a:prstGeom prst="rect">
            <a:avLst/>
          </a:prstGeom>
          <a:noFill/>
        </p:spPr>
        <p:txBody>
          <a:bodyPr wrap="square" anchor="ctr">
            <a:spAutoFit/>
          </a:bodyPr>
          <a:lstStyle/>
          <a:p>
            <a:pPr algn="l"/>
            <a:r>
              <a:rPr sz="1250" b="0" i="0">
                <a:solidFill>
                  <a:srgbClr val="1E293B"/>
                </a:solidFill>
                <a:latin typeface="Calibri"/>
              </a:rPr>
              <a:t>含义/影响（im-pli-CA-tion）</a:t>
            </a:r>
          </a:p>
        </p:txBody>
      </p:sp>
      <p:sp>
        <p:nvSpPr>
          <p:cNvPr id="32" name="Rectangle 31"/>
          <p:cNvSpPr/>
          <p:nvPr/>
        </p:nvSpPr>
        <p:spPr>
          <a:xfrm>
            <a:off x="548640" y="4636008"/>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0" y="4636008"/>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4636008"/>
            <a:ext cx="4754880" cy="566928"/>
          </a:xfrm>
          <a:prstGeom prst="rect">
            <a:avLst/>
          </a:prstGeom>
          <a:noFill/>
        </p:spPr>
        <p:txBody>
          <a:bodyPr wrap="square" anchor="ctr">
            <a:spAutoFit/>
          </a:bodyPr>
          <a:lstStyle/>
          <a:p>
            <a:pPr algn="l"/>
            <a:r>
              <a:rPr sz="1250" b="1" i="0">
                <a:solidFill>
                  <a:srgbClr val="0F4C5C"/>
                </a:solidFill>
                <a:latin typeface="Calibri"/>
              </a:rPr>
              <a:t>methodology</a:t>
            </a:r>
          </a:p>
        </p:txBody>
      </p:sp>
      <p:sp>
        <p:nvSpPr>
          <p:cNvPr id="35" name="TextBox 34"/>
          <p:cNvSpPr txBox="1"/>
          <p:nvPr/>
        </p:nvSpPr>
        <p:spPr>
          <a:xfrm>
            <a:off x="5623560" y="4636008"/>
            <a:ext cx="5852160" cy="566928"/>
          </a:xfrm>
          <a:prstGeom prst="rect">
            <a:avLst/>
          </a:prstGeom>
          <a:noFill/>
        </p:spPr>
        <p:txBody>
          <a:bodyPr wrap="square" anchor="ctr">
            <a:spAutoFit/>
          </a:bodyPr>
          <a:lstStyle/>
          <a:p>
            <a:pPr algn="l"/>
            <a:r>
              <a:rPr sz="1250" b="0" i="0">
                <a:solidFill>
                  <a:srgbClr val="1E293B"/>
                </a:solidFill>
                <a:latin typeface="Calibri"/>
              </a:rPr>
              <a:t>研究方法论（meth-od-OL-o-gy）</a:t>
            </a:r>
          </a:p>
        </p:txBody>
      </p:sp>
      <p:sp>
        <p:nvSpPr>
          <p:cNvPr id="36" name="Rectangle 35"/>
          <p:cNvSpPr/>
          <p:nvPr/>
        </p:nvSpPr>
        <p:spPr>
          <a:xfrm>
            <a:off x="548640" y="5202936"/>
            <a:ext cx="493776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0" y="5202936"/>
            <a:ext cx="612648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5202936"/>
            <a:ext cx="4754880" cy="566928"/>
          </a:xfrm>
          <a:prstGeom prst="rect">
            <a:avLst/>
          </a:prstGeom>
          <a:noFill/>
        </p:spPr>
        <p:txBody>
          <a:bodyPr wrap="square" anchor="ctr">
            <a:spAutoFit/>
          </a:bodyPr>
          <a:lstStyle/>
          <a:p>
            <a:pPr algn="l"/>
            <a:r>
              <a:rPr sz="1250" b="1" i="0">
                <a:solidFill>
                  <a:srgbClr val="0F4C5C"/>
                </a:solidFill>
                <a:latin typeface="Calibri"/>
              </a:rPr>
              <a:t>correlation</a:t>
            </a:r>
          </a:p>
        </p:txBody>
      </p:sp>
      <p:sp>
        <p:nvSpPr>
          <p:cNvPr id="39" name="TextBox 38"/>
          <p:cNvSpPr txBox="1"/>
          <p:nvPr/>
        </p:nvSpPr>
        <p:spPr>
          <a:xfrm>
            <a:off x="5623560" y="5202936"/>
            <a:ext cx="5852160" cy="566928"/>
          </a:xfrm>
          <a:prstGeom prst="rect">
            <a:avLst/>
          </a:prstGeom>
          <a:noFill/>
        </p:spPr>
        <p:txBody>
          <a:bodyPr wrap="square" anchor="ctr">
            <a:spAutoFit/>
          </a:bodyPr>
          <a:lstStyle/>
          <a:p>
            <a:pPr algn="l"/>
            <a:r>
              <a:rPr sz="1250" b="0" i="0">
                <a:solidFill>
                  <a:srgbClr val="1E293B"/>
                </a:solidFill>
                <a:latin typeface="Calibri"/>
              </a:rPr>
              <a:t>相关性（cor-re-LA-tion）</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词汇 · 句型库</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AWL高频词：动词类</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ectangle 7"/>
          <p:cNvSpPr/>
          <p:nvPr/>
        </p:nvSpPr>
        <p:spPr>
          <a:xfrm>
            <a:off x="548640" y="1234440"/>
            <a:ext cx="4937760" cy="566928"/>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234440"/>
            <a:ext cx="6126480" cy="566928"/>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4754880" cy="566928"/>
          </a:xfrm>
          <a:prstGeom prst="rect">
            <a:avLst/>
          </a:prstGeom>
          <a:noFill/>
        </p:spPr>
        <p:txBody>
          <a:bodyPr wrap="square" anchor="ctr">
            <a:spAutoFit/>
          </a:bodyPr>
          <a:lstStyle/>
          <a:p>
            <a:pPr algn="l"/>
            <a:r>
              <a:rPr sz="1300" b="1" i="0">
                <a:solidFill>
                  <a:srgbClr val="FFFFFF"/>
                </a:solidFill>
                <a:latin typeface="Calibri"/>
              </a:rPr>
              <a:t>表达 / Expression</a:t>
            </a:r>
          </a:p>
        </p:txBody>
      </p:sp>
      <p:sp>
        <p:nvSpPr>
          <p:cNvPr id="11" name="TextBox 10"/>
          <p:cNvSpPr txBox="1"/>
          <p:nvPr/>
        </p:nvSpPr>
        <p:spPr>
          <a:xfrm>
            <a:off x="5623560" y="1234440"/>
            <a:ext cx="5852160" cy="566928"/>
          </a:xfrm>
          <a:prstGeom prst="rect">
            <a:avLst/>
          </a:prstGeom>
          <a:noFill/>
        </p:spPr>
        <p:txBody>
          <a:bodyPr wrap="square" anchor="ctr">
            <a:spAutoFit/>
          </a:bodyPr>
          <a:lstStyle/>
          <a:p>
            <a:pPr algn="l"/>
            <a:r>
              <a:rPr sz="1300" b="1" i="0">
                <a:solidFill>
                  <a:srgbClr val="FFFFFF"/>
                </a:solidFill>
                <a:latin typeface="Calibri"/>
              </a:rPr>
              <a:t>用法 / 中文</a:t>
            </a:r>
          </a:p>
        </p:txBody>
      </p:sp>
      <p:sp>
        <p:nvSpPr>
          <p:cNvPr id="12" name="Rectangle 11"/>
          <p:cNvSpPr/>
          <p:nvPr/>
        </p:nvSpPr>
        <p:spPr>
          <a:xfrm>
            <a:off x="548640" y="1801368"/>
            <a:ext cx="493776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801368"/>
            <a:ext cx="612648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801368"/>
            <a:ext cx="4754880" cy="566928"/>
          </a:xfrm>
          <a:prstGeom prst="rect">
            <a:avLst/>
          </a:prstGeom>
          <a:noFill/>
        </p:spPr>
        <p:txBody>
          <a:bodyPr wrap="square" anchor="ctr">
            <a:spAutoFit/>
          </a:bodyPr>
          <a:lstStyle/>
          <a:p>
            <a:pPr algn="l"/>
            <a:r>
              <a:rPr sz="1250" b="1" i="0">
                <a:solidFill>
                  <a:srgbClr val="0F4C5C"/>
                </a:solidFill>
                <a:latin typeface="Calibri"/>
              </a:rPr>
              <a:t>analyse / analysis</a:t>
            </a:r>
          </a:p>
        </p:txBody>
      </p:sp>
      <p:sp>
        <p:nvSpPr>
          <p:cNvPr id="15" name="TextBox 14"/>
          <p:cNvSpPr txBox="1"/>
          <p:nvPr/>
        </p:nvSpPr>
        <p:spPr>
          <a:xfrm>
            <a:off x="5623560" y="1801368"/>
            <a:ext cx="5852160" cy="566928"/>
          </a:xfrm>
          <a:prstGeom prst="rect">
            <a:avLst/>
          </a:prstGeom>
          <a:noFill/>
        </p:spPr>
        <p:txBody>
          <a:bodyPr wrap="square" anchor="ctr">
            <a:spAutoFit/>
          </a:bodyPr>
          <a:lstStyle/>
          <a:p>
            <a:pPr algn="l"/>
            <a:r>
              <a:rPr sz="1250" b="0" i="0">
                <a:solidFill>
                  <a:srgbClr val="1E293B"/>
                </a:solidFill>
                <a:latin typeface="Calibri"/>
              </a:rPr>
              <a:t>分析</a:t>
            </a:r>
          </a:p>
        </p:txBody>
      </p:sp>
      <p:sp>
        <p:nvSpPr>
          <p:cNvPr id="16" name="Rectangle 15"/>
          <p:cNvSpPr/>
          <p:nvPr/>
        </p:nvSpPr>
        <p:spPr>
          <a:xfrm>
            <a:off x="548640" y="2368296"/>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2368296"/>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368296"/>
            <a:ext cx="4754880" cy="566928"/>
          </a:xfrm>
          <a:prstGeom prst="rect">
            <a:avLst/>
          </a:prstGeom>
          <a:noFill/>
        </p:spPr>
        <p:txBody>
          <a:bodyPr wrap="square" anchor="ctr">
            <a:spAutoFit/>
          </a:bodyPr>
          <a:lstStyle/>
          <a:p>
            <a:pPr algn="l"/>
            <a:r>
              <a:rPr sz="1250" b="1" i="0">
                <a:solidFill>
                  <a:srgbClr val="0F4C5C"/>
                </a:solidFill>
                <a:latin typeface="Calibri"/>
              </a:rPr>
              <a:t>evaluate / assessment</a:t>
            </a:r>
          </a:p>
        </p:txBody>
      </p:sp>
      <p:sp>
        <p:nvSpPr>
          <p:cNvPr id="19" name="TextBox 18"/>
          <p:cNvSpPr txBox="1"/>
          <p:nvPr/>
        </p:nvSpPr>
        <p:spPr>
          <a:xfrm>
            <a:off x="5623560" y="2368296"/>
            <a:ext cx="5852160" cy="566928"/>
          </a:xfrm>
          <a:prstGeom prst="rect">
            <a:avLst/>
          </a:prstGeom>
          <a:noFill/>
        </p:spPr>
        <p:txBody>
          <a:bodyPr wrap="square" anchor="ctr">
            <a:spAutoFit/>
          </a:bodyPr>
          <a:lstStyle/>
          <a:p>
            <a:pPr algn="l"/>
            <a:r>
              <a:rPr sz="1250" b="0" i="0">
                <a:solidFill>
                  <a:srgbClr val="1E293B"/>
                </a:solidFill>
                <a:latin typeface="Calibri"/>
              </a:rPr>
              <a:t>评估</a:t>
            </a:r>
          </a:p>
        </p:txBody>
      </p:sp>
      <p:sp>
        <p:nvSpPr>
          <p:cNvPr id="20" name="Rectangle 19"/>
          <p:cNvSpPr/>
          <p:nvPr/>
        </p:nvSpPr>
        <p:spPr>
          <a:xfrm>
            <a:off x="548640" y="2935224"/>
            <a:ext cx="493776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0" y="2935224"/>
            <a:ext cx="612648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35224"/>
            <a:ext cx="4754880" cy="566928"/>
          </a:xfrm>
          <a:prstGeom prst="rect">
            <a:avLst/>
          </a:prstGeom>
          <a:noFill/>
        </p:spPr>
        <p:txBody>
          <a:bodyPr wrap="square" anchor="ctr">
            <a:spAutoFit/>
          </a:bodyPr>
          <a:lstStyle/>
          <a:p>
            <a:pPr algn="l"/>
            <a:r>
              <a:rPr sz="1250" b="1" i="0">
                <a:solidFill>
                  <a:srgbClr val="0F4C5C"/>
                </a:solidFill>
                <a:latin typeface="Calibri"/>
              </a:rPr>
              <a:t>indicate / suggest</a:t>
            </a:r>
          </a:p>
        </p:txBody>
      </p:sp>
      <p:sp>
        <p:nvSpPr>
          <p:cNvPr id="23" name="TextBox 22"/>
          <p:cNvSpPr txBox="1"/>
          <p:nvPr/>
        </p:nvSpPr>
        <p:spPr>
          <a:xfrm>
            <a:off x="5623560" y="2935224"/>
            <a:ext cx="5852160" cy="566928"/>
          </a:xfrm>
          <a:prstGeom prst="rect">
            <a:avLst/>
          </a:prstGeom>
          <a:noFill/>
        </p:spPr>
        <p:txBody>
          <a:bodyPr wrap="square" anchor="ctr">
            <a:spAutoFit/>
          </a:bodyPr>
          <a:lstStyle/>
          <a:p>
            <a:pPr algn="l"/>
            <a:r>
              <a:rPr sz="1250" b="0" i="0">
                <a:solidFill>
                  <a:srgbClr val="1E293B"/>
                </a:solidFill>
                <a:latin typeface="Calibri"/>
              </a:rPr>
              <a:t>表明/暗示</a:t>
            </a:r>
          </a:p>
        </p:txBody>
      </p:sp>
      <p:sp>
        <p:nvSpPr>
          <p:cNvPr id="24" name="Rectangle 23"/>
          <p:cNvSpPr/>
          <p:nvPr/>
        </p:nvSpPr>
        <p:spPr>
          <a:xfrm>
            <a:off x="548640" y="3502152"/>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0" y="3502152"/>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502152"/>
            <a:ext cx="4754880" cy="566928"/>
          </a:xfrm>
          <a:prstGeom prst="rect">
            <a:avLst/>
          </a:prstGeom>
          <a:noFill/>
        </p:spPr>
        <p:txBody>
          <a:bodyPr wrap="square" anchor="ctr">
            <a:spAutoFit/>
          </a:bodyPr>
          <a:lstStyle/>
          <a:p>
            <a:pPr algn="l"/>
            <a:r>
              <a:rPr sz="1250" b="1" i="0">
                <a:solidFill>
                  <a:srgbClr val="0F4C5C"/>
                </a:solidFill>
                <a:latin typeface="Calibri"/>
              </a:rPr>
              <a:t>demonstrate</a:t>
            </a:r>
          </a:p>
        </p:txBody>
      </p:sp>
      <p:sp>
        <p:nvSpPr>
          <p:cNvPr id="27" name="TextBox 26"/>
          <p:cNvSpPr txBox="1"/>
          <p:nvPr/>
        </p:nvSpPr>
        <p:spPr>
          <a:xfrm>
            <a:off x="5623560" y="3502152"/>
            <a:ext cx="5852160" cy="566928"/>
          </a:xfrm>
          <a:prstGeom prst="rect">
            <a:avLst/>
          </a:prstGeom>
          <a:noFill/>
        </p:spPr>
        <p:txBody>
          <a:bodyPr wrap="square" anchor="ctr">
            <a:spAutoFit/>
          </a:bodyPr>
          <a:lstStyle/>
          <a:p>
            <a:pPr algn="l"/>
            <a:r>
              <a:rPr sz="1250" b="0" i="0">
                <a:solidFill>
                  <a:srgbClr val="1E293B"/>
                </a:solidFill>
                <a:latin typeface="Calibri"/>
              </a:rPr>
              <a:t>展示/证明</a:t>
            </a:r>
          </a:p>
        </p:txBody>
      </p:sp>
      <p:sp>
        <p:nvSpPr>
          <p:cNvPr id="28" name="Rectangle 27"/>
          <p:cNvSpPr/>
          <p:nvPr/>
        </p:nvSpPr>
        <p:spPr>
          <a:xfrm>
            <a:off x="548640" y="4069080"/>
            <a:ext cx="493776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4069080"/>
            <a:ext cx="612648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4069080"/>
            <a:ext cx="4754880" cy="566928"/>
          </a:xfrm>
          <a:prstGeom prst="rect">
            <a:avLst/>
          </a:prstGeom>
          <a:noFill/>
        </p:spPr>
        <p:txBody>
          <a:bodyPr wrap="square" anchor="ctr">
            <a:spAutoFit/>
          </a:bodyPr>
          <a:lstStyle/>
          <a:p>
            <a:pPr algn="l"/>
            <a:r>
              <a:rPr sz="1250" b="1" i="0">
                <a:solidFill>
                  <a:srgbClr val="0F4C5C"/>
                </a:solidFill>
                <a:latin typeface="Calibri"/>
              </a:rPr>
              <a:t>implement</a:t>
            </a:r>
          </a:p>
        </p:txBody>
      </p:sp>
      <p:sp>
        <p:nvSpPr>
          <p:cNvPr id="31" name="TextBox 30"/>
          <p:cNvSpPr txBox="1"/>
          <p:nvPr/>
        </p:nvSpPr>
        <p:spPr>
          <a:xfrm>
            <a:off x="5623560" y="4069080"/>
            <a:ext cx="5852160" cy="566928"/>
          </a:xfrm>
          <a:prstGeom prst="rect">
            <a:avLst/>
          </a:prstGeom>
          <a:noFill/>
        </p:spPr>
        <p:txBody>
          <a:bodyPr wrap="square" anchor="ctr">
            <a:spAutoFit/>
          </a:bodyPr>
          <a:lstStyle/>
          <a:p>
            <a:pPr algn="l"/>
            <a:r>
              <a:rPr sz="1250" b="0" i="0">
                <a:solidFill>
                  <a:srgbClr val="1E293B"/>
                </a:solidFill>
                <a:latin typeface="Calibri"/>
              </a:rPr>
              <a:t>实施</a:t>
            </a:r>
          </a:p>
        </p:txBody>
      </p:sp>
      <p:sp>
        <p:nvSpPr>
          <p:cNvPr id="32" name="Rectangle 31"/>
          <p:cNvSpPr/>
          <p:nvPr/>
        </p:nvSpPr>
        <p:spPr>
          <a:xfrm>
            <a:off x="548640" y="4636008"/>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0" y="4636008"/>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4636008"/>
            <a:ext cx="4754880" cy="566928"/>
          </a:xfrm>
          <a:prstGeom prst="rect">
            <a:avLst/>
          </a:prstGeom>
          <a:noFill/>
        </p:spPr>
        <p:txBody>
          <a:bodyPr wrap="square" anchor="ctr">
            <a:spAutoFit/>
          </a:bodyPr>
          <a:lstStyle/>
          <a:p>
            <a:pPr algn="l"/>
            <a:r>
              <a:rPr sz="1250" b="1" i="0">
                <a:solidFill>
                  <a:srgbClr val="0F4C5C"/>
                </a:solidFill>
                <a:latin typeface="Calibri"/>
              </a:rPr>
              <a:t>investigate</a:t>
            </a:r>
          </a:p>
        </p:txBody>
      </p:sp>
      <p:sp>
        <p:nvSpPr>
          <p:cNvPr id="35" name="TextBox 34"/>
          <p:cNvSpPr txBox="1"/>
          <p:nvPr/>
        </p:nvSpPr>
        <p:spPr>
          <a:xfrm>
            <a:off x="5623560" y="4636008"/>
            <a:ext cx="5852160" cy="566928"/>
          </a:xfrm>
          <a:prstGeom prst="rect">
            <a:avLst/>
          </a:prstGeom>
          <a:noFill/>
        </p:spPr>
        <p:txBody>
          <a:bodyPr wrap="square" anchor="ctr">
            <a:spAutoFit/>
          </a:bodyPr>
          <a:lstStyle/>
          <a:p>
            <a:pPr algn="l"/>
            <a:r>
              <a:rPr sz="1250" b="0" i="0">
                <a:solidFill>
                  <a:srgbClr val="1E293B"/>
                </a:solidFill>
                <a:latin typeface="Calibri"/>
              </a:rPr>
              <a:t>调查/研究</a:t>
            </a:r>
          </a:p>
        </p:txBody>
      </p:sp>
      <p:sp>
        <p:nvSpPr>
          <p:cNvPr id="36" name="Rectangle 35"/>
          <p:cNvSpPr/>
          <p:nvPr/>
        </p:nvSpPr>
        <p:spPr>
          <a:xfrm>
            <a:off x="548640" y="5202936"/>
            <a:ext cx="493776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0" y="5202936"/>
            <a:ext cx="612648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5202936"/>
            <a:ext cx="4754880" cy="566928"/>
          </a:xfrm>
          <a:prstGeom prst="rect">
            <a:avLst/>
          </a:prstGeom>
          <a:noFill/>
        </p:spPr>
        <p:txBody>
          <a:bodyPr wrap="square" anchor="ctr">
            <a:spAutoFit/>
          </a:bodyPr>
          <a:lstStyle/>
          <a:p>
            <a:pPr algn="l"/>
            <a:r>
              <a:rPr sz="1250" b="1" i="0">
                <a:solidFill>
                  <a:srgbClr val="0F4C5C"/>
                </a:solidFill>
                <a:latin typeface="Calibri"/>
              </a:rPr>
              <a:t>identify / classify</a:t>
            </a:r>
          </a:p>
        </p:txBody>
      </p:sp>
      <p:sp>
        <p:nvSpPr>
          <p:cNvPr id="39" name="TextBox 38"/>
          <p:cNvSpPr txBox="1"/>
          <p:nvPr/>
        </p:nvSpPr>
        <p:spPr>
          <a:xfrm>
            <a:off x="5623560" y="5202936"/>
            <a:ext cx="5852160" cy="566928"/>
          </a:xfrm>
          <a:prstGeom prst="rect">
            <a:avLst/>
          </a:prstGeom>
          <a:noFill/>
        </p:spPr>
        <p:txBody>
          <a:bodyPr wrap="square" anchor="ctr">
            <a:spAutoFit/>
          </a:bodyPr>
          <a:lstStyle/>
          <a:p>
            <a:pPr algn="l"/>
            <a:r>
              <a:rPr sz="1250" b="0" i="0">
                <a:solidFill>
                  <a:srgbClr val="1E293B"/>
                </a:solidFill>
                <a:latin typeface="Calibri"/>
              </a:rPr>
              <a:t>识别/分类</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词汇 · 句型库</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S4讲座信号词完整表</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ectangle 7"/>
          <p:cNvSpPr/>
          <p:nvPr/>
        </p:nvSpPr>
        <p:spPr>
          <a:xfrm>
            <a:off x="548640" y="1234440"/>
            <a:ext cx="4937760" cy="566928"/>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234440"/>
            <a:ext cx="6126480" cy="566928"/>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4754880" cy="566928"/>
          </a:xfrm>
          <a:prstGeom prst="rect">
            <a:avLst/>
          </a:prstGeom>
          <a:noFill/>
        </p:spPr>
        <p:txBody>
          <a:bodyPr wrap="square" anchor="ctr">
            <a:spAutoFit/>
          </a:bodyPr>
          <a:lstStyle/>
          <a:p>
            <a:pPr algn="l"/>
            <a:r>
              <a:rPr sz="1300" b="1" i="0">
                <a:solidFill>
                  <a:srgbClr val="FFFFFF"/>
                </a:solidFill>
                <a:latin typeface="Calibri"/>
              </a:rPr>
              <a:t>表达 / Expression</a:t>
            </a:r>
          </a:p>
        </p:txBody>
      </p:sp>
      <p:sp>
        <p:nvSpPr>
          <p:cNvPr id="11" name="TextBox 10"/>
          <p:cNvSpPr txBox="1"/>
          <p:nvPr/>
        </p:nvSpPr>
        <p:spPr>
          <a:xfrm>
            <a:off x="5623560" y="1234440"/>
            <a:ext cx="5852160" cy="566928"/>
          </a:xfrm>
          <a:prstGeom prst="rect">
            <a:avLst/>
          </a:prstGeom>
          <a:noFill/>
        </p:spPr>
        <p:txBody>
          <a:bodyPr wrap="square" anchor="ctr">
            <a:spAutoFit/>
          </a:bodyPr>
          <a:lstStyle/>
          <a:p>
            <a:pPr algn="l"/>
            <a:r>
              <a:rPr sz="1300" b="1" i="0">
                <a:solidFill>
                  <a:srgbClr val="FFFFFF"/>
                </a:solidFill>
                <a:latin typeface="Calibri"/>
              </a:rPr>
              <a:t>用法 / 中文</a:t>
            </a:r>
          </a:p>
        </p:txBody>
      </p:sp>
      <p:sp>
        <p:nvSpPr>
          <p:cNvPr id="12" name="Rectangle 11"/>
          <p:cNvSpPr/>
          <p:nvPr/>
        </p:nvSpPr>
        <p:spPr>
          <a:xfrm>
            <a:off x="548640" y="1801368"/>
            <a:ext cx="493776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801368"/>
            <a:ext cx="612648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801368"/>
            <a:ext cx="4754880" cy="566928"/>
          </a:xfrm>
          <a:prstGeom prst="rect">
            <a:avLst/>
          </a:prstGeom>
          <a:noFill/>
        </p:spPr>
        <p:txBody>
          <a:bodyPr wrap="square" anchor="ctr">
            <a:spAutoFit/>
          </a:bodyPr>
          <a:lstStyle/>
          <a:p>
            <a:pPr algn="l"/>
            <a:r>
              <a:rPr sz="1250" b="1" i="0">
                <a:solidFill>
                  <a:srgbClr val="0F4C5C"/>
                </a:solidFill>
                <a:latin typeface="Calibri"/>
              </a:rPr>
              <a:t>层级</a:t>
            </a:r>
          </a:p>
        </p:txBody>
      </p:sp>
      <p:sp>
        <p:nvSpPr>
          <p:cNvPr id="15" name="TextBox 14"/>
          <p:cNvSpPr txBox="1"/>
          <p:nvPr/>
        </p:nvSpPr>
        <p:spPr>
          <a:xfrm>
            <a:off x="5623560" y="1801368"/>
            <a:ext cx="5852160" cy="566928"/>
          </a:xfrm>
          <a:prstGeom prst="rect">
            <a:avLst/>
          </a:prstGeom>
          <a:noFill/>
        </p:spPr>
        <p:txBody>
          <a:bodyPr wrap="square" anchor="ctr">
            <a:spAutoFit/>
          </a:bodyPr>
          <a:lstStyle/>
          <a:p>
            <a:pPr algn="l"/>
            <a:r>
              <a:rPr sz="1250" b="0" i="0">
                <a:solidFill>
                  <a:srgbClr val="1E293B"/>
                </a:solidFill>
                <a:latin typeface="Calibri"/>
              </a:rPr>
              <a:t>firstly/secondly/finally/to begin with/moving on to</a:t>
            </a:r>
          </a:p>
        </p:txBody>
      </p:sp>
      <p:sp>
        <p:nvSpPr>
          <p:cNvPr id="16" name="Rectangle 15"/>
          <p:cNvSpPr/>
          <p:nvPr/>
        </p:nvSpPr>
        <p:spPr>
          <a:xfrm>
            <a:off x="548640" y="2368296"/>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2368296"/>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368296"/>
            <a:ext cx="4754880" cy="566928"/>
          </a:xfrm>
          <a:prstGeom prst="rect">
            <a:avLst/>
          </a:prstGeom>
          <a:noFill/>
        </p:spPr>
        <p:txBody>
          <a:bodyPr wrap="square" anchor="ctr">
            <a:spAutoFit/>
          </a:bodyPr>
          <a:lstStyle/>
          <a:p>
            <a:pPr algn="l"/>
            <a:r>
              <a:rPr sz="1250" b="1" i="0">
                <a:solidFill>
                  <a:srgbClr val="0F4C5C"/>
                </a:solidFill>
                <a:latin typeface="Calibri"/>
              </a:rPr>
              <a:t>转折</a:t>
            </a:r>
          </a:p>
        </p:txBody>
      </p:sp>
      <p:sp>
        <p:nvSpPr>
          <p:cNvPr id="19" name="TextBox 18"/>
          <p:cNvSpPr txBox="1"/>
          <p:nvPr/>
        </p:nvSpPr>
        <p:spPr>
          <a:xfrm>
            <a:off x="5623560" y="2368296"/>
            <a:ext cx="5852160" cy="566928"/>
          </a:xfrm>
          <a:prstGeom prst="rect">
            <a:avLst/>
          </a:prstGeom>
          <a:noFill/>
        </p:spPr>
        <p:txBody>
          <a:bodyPr wrap="square" anchor="ctr">
            <a:spAutoFit/>
          </a:bodyPr>
          <a:lstStyle/>
          <a:p>
            <a:pPr algn="l"/>
            <a:r>
              <a:rPr sz="1250" b="0" i="0">
                <a:solidFill>
                  <a:srgbClr val="1E293B"/>
                </a:solidFill>
                <a:latin typeface="Calibri"/>
              </a:rPr>
              <a:t>however/on the other hand/in contrast/although/yet</a:t>
            </a:r>
          </a:p>
        </p:txBody>
      </p:sp>
      <p:sp>
        <p:nvSpPr>
          <p:cNvPr id="20" name="Rectangle 19"/>
          <p:cNvSpPr/>
          <p:nvPr/>
        </p:nvSpPr>
        <p:spPr>
          <a:xfrm>
            <a:off x="548640" y="2935224"/>
            <a:ext cx="493776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0" y="2935224"/>
            <a:ext cx="612648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35224"/>
            <a:ext cx="4754880" cy="566928"/>
          </a:xfrm>
          <a:prstGeom prst="rect">
            <a:avLst/>
          </a:prstGeom>
          <a:noFill/>
        </p:spPr>
        <p:txBody>
          <a:bodyPr wrap="square" anchor="ctr">
            <a:spAutoFit/>
          </a:bodyPr>
          <a:lstStyle/>
          <a:p>
            <a:pPr algn="l"/>
            <a:r>
              <a:rPr sz="1250" b="1" i="0">
                <a:solidFill>
                  <a:srgbClr val="0F4C5C"/>
                </a:solidFill>
                <a:latin typeface="Calibri"/>
              </a:rPr>
              <a:t>例证</a:t>
            </a:r>
          </a:p>
        </p:txBody>
      </p:sp>
      <p:sp>
        <p:nvSpPr>
          <p:cNvPr id="23" name="TextBox 22"/>
          <p:cNvSpPr txBox="1"/>
          <p:nvPr/>
        </p:nvSpPr>
        <p:spPr>
          <a:xfrm>
            <a:off x="5623560" y="2935224"/>
            <a:ext cx="5852160" cy="566928"/>
          </a:xfrm>
          <a:prstGeom prst="rect">
            <a:avLst/>
          </a:prstGeom>
          <a:noFill/>
        </p:spPr>
        <p:txBody>
          <a:bodyPr wrap="square" anchor="ctr">
            <a:spAutoFit/>
          </a:bodyPr>
          <a:lstStyle/>
          <a:p>
            <a:pPr algn="l"/>
            <a:r>
              <a:rPr sz="1250" b="0" i="0">
                <a:solidFill>
                  <a:srgbClr val="1E293B"/>
                </a:solidFill>
                <a:latin typeface="Calibri"/>
              </a:rPr>
              <a:t>for example/for instance/take...as/such as</a:t>
            </a:r>
          </a:p>
        </p:txBody>
      </p:sp>
      <p:sp>
        <p:nvSpPr>
          <p:cNvPr id="24" name="Rectangle 23"/>
          <p:cNvSpPr/>
          <p:nvPr/>
        </p:nvSpPr>
        <p:spPr>
          <a:xfrm>
            <a:off x="548640" y="3502152"/>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0" y="3502152"/>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502152"/>
            <a:ext cx="4754880" cy="566928"/>
          </a:xfrm>
          <a:prstGeom prst="rect">
            <a:avLst/>
          </a:prstGeom>
          <a:noFill/>
        </p:spPr>
        <p:txBody>
          <a:bodyPr wrap="square" anchor="ctr">
            <a:spAutoFit/>
          </a:bodyPr>
          <a:lstStyle/>
          <a:p>
            <a:pPr algn="l"/>
            <a:r>
              <a:rPr sz="1250" b="1" i="0">
                <a:solidFill>
                  <a:srgbClr val="0F4C5C"/>
                </a:solidFill>
                <a:latin typeface="Calibri"/>
              </a:rPr>
              <a:t>强调</a:t>
            </a:r>
          </a:p>
        </p:txBody>
      </p:sp>
      <p:sp>
        <p:nvSpPr>
          <p:cNvPr id="27" name="TextBox 26"/>
          <p:cNvSpPr txBox="1"/>
          <p:nvPr/>
        </p:nvSpPr>
        <p:spPr>
          <a:xfrm>
            <a:off x="5623560" y="3502152"/>
            <a:ext cx="5852160" cy="566928"/>
          </a:xfrm>
          <a:prstGeom prst="rect">
            <a:avLst/>
          </a:prstGeom>
          <a:noFill/>
        </p:spPr>
        <p:txBody>
          <a:bodyPr wrap="square" anchor="ctr">
            <a:spAutoFit/>
          </a:bodyPr>
          <a:lstStyle/>
          <a:p>
            <a:pPr algn="l"/>
            <a:r>
              <a:rPr sz="1250" b="0" i="0">
                <a:solidFill>
                  <a:srgbClr val="1E293B"/>
                </a:solidFill>
                <a:latin typeface="Calibri"/>
              </a:rPr>
              <a:t>most importantly/crucially/above all/what's key</a:t>
            </a:r>
          </a:p>
        </p:txBody>
      </p:sp>
      <p:sp>
        <p:nvSpPr>
          <p:cNvPr id="28" name="Rectangle 27"/>
          <p:cNvSpPr/>
          <p:nvPr/>
        </p:nvSpPr>
        <p:spPr>
          <a:xfrm>
            <a:off x="548640" y="4069080"/>
            <a:ext cx="493776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4069080"/>
            <a:ext cx="612648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4069080"/>
            <a:ext cx="4754880" cy="566928"/>
          </a:xfrm>
          <a:prstGeom prst="rect">
            <a:avLst/>
          </a:prstGeom>
          <a:noFill/>
        </p:spPr>
        <p:txBody>
          <a:bodyPr wrap="square" anchor="ctr">
            <a:spAutoFit/>
          </a:bodyPr>
          <a:lstStyle/>
          <a:p>
            <a:pPr algn="l"/>
            <a:r>
              <a:rPr sz="1250" b="1" i="0">
                <a:solidFill>
                  <a:srgbClr val="0F4C5C"/>
                </a:solidFill>
                <a:latin typeface="Calibri"/>
              </a:rPr>
              <a:t>补充</a:t>
            </a:r>
          </a:p>
        </p:txBody>
      </p:sp>
      <p:sp>
        <p:nvSpPr>
          <p:cNvPr id="31" name="TextBox 30"/>
          <p:cNvSpPr txBox="1"/>
          <p:nvPr/>
        </p:nvSpPr>
        <p:spPr>
          <a:xfrm>
            <a:off x="5623560" y="4069080"/>
            <a:ext cx="5852160" cy="566928"/>
          </a:xfrm>
          <a:prstGeom prst="rect">
            <a:avLst/>
          </a:prstGeom>
          <a:noFill/>
        </p:spPr>
        <p:txBody>
          <a:bodyPr wrap="square" anchor="ctr">
            <a:spAutoFit/>
          </a:bodyPr>
          <a:lstStyle/>
          <a:p>
            <a:pPr algn="l"/>
            <a:r>
              <a:rPr sz="1250" b="0" i="0">
                <a:solidFill>
                  <a:srgbClr val="1E293B"/>
                </a:solidFill>
                <a:latin typeface="Calibri"/>
              </a:rPr>
              <a:t>moreover/furthermore/in addition/what's more</a:t>
            </a:r>
          </a:p>
        </p:txBody>
      </p:sp>
      <p:sp>
        <p:nvSpPr>
          <p:cNvPr id="32" name="Rectangle 31"/>
          <p:cNvSpPr/>
          <p:nvPr/>
        </p:nvSpPr>
        <p:spPr>
          <a:xfrm>
            <a:off x="548640" y="4636008"/>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0" y="4636008"/>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4636008"/>
            <a:ext cx="4754880" cy="566928"/>
          </a:xfrm>
          <a:prstGeom prst="rect">
            <a:avLst/>
          </a:prstGeom>
          <a:noFill/>
        </p:spPr>
        <p:txBody>
          <a:bodyPr wrap="square" anchor="ctr">
            <a:spAutoFit/>
          </a:bodyPr>
          <a:lstStyle/>
          <a:p>
            <a:pPr algn="l"/>
            <a:r>
              <a:rPr sz="1250" b="1" i="0">
                <a:solidFill>
                  <a:srgbClr val="0F4C5C"/>
                </a:solidFill>
                <a:latin typeface="Calibri"/>
              </a:rPr>
              <a:t>总结</a:t>
            </a:r>
          </a:p>
        </p:txBody>
      </p:sp>
      <p:sp>
        <p:nvSpPr>
          <p:cNvPr id="35" name="TextBox 34"/>
          <p:cNvSpPr txBox="1"/>
          <p:nvPr/>
        </p:nvSpPr>
        <p:spPr>
          <a:xfrm>
            <a:off x="5623560" y="4636008"/>
            <a:ext cx="5852160" cy="566928"/>
          </a:xfrm>
          <a:prstGeom prst="rect">
            <a:avLst/>
          </a:prstGeom>
          <a:noFill/>
        </p:spPr>
        <p:txBody>
          <a:bodyPr wrap="square" anchor="ctr">
            <a:spAutoFit/>
          </a:bodyPr>
          <a:lstStyle/>
          <a:p>
            <a:pPr algn="l"/>
            <a:r>
              <a:rPr sz="1250" b="0" i="0">
                <a:solidFill>
                  <a:srgbClr val="1E293B"/>
                </a:solidFill>
                <a:latin typeface="Calibri"/>
              </a:rPr>
              <a:t>to summarise/in conclusion/overall/to recap</a:t>
            </a:r>
          </a:p>
        </p:txBody>
      </p:sp>
      <p:sp>
        <p:nvSpPr>
          <p:cNvPr id="36" name="Rectangle 35"/>
          <p:cNvSpPr/>
          <p:nvPr/>
        </p:nvSpPr>
        <p:spPr>
          <a:xfrm>
            <a:off x="548640" y="5202936"/>
            <a:ext cx="493776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0" y="5202936"/>
            <a:ext cx="612648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5202936"/>
            <a:ext cx="4754880" cy="566928"/>
          </a:xfrm>
          <a:prstGeom prst="rect">
            <a:avLst/>
          </a:prstGeom>
          <a:noFill/>
        </p:spPr>
        <p:txBody>
          <a:bodyPr wrap="square" anchor="ctr">
            <a:spAutoFit/>
          </a:bodyPr>
          <a:lstStyle/>
          <a:p>
            <a:pPr algn="l"/>
            <a:r>
              <a:rPr sz="1250" b="1" i="0">
                <a:solidFill>
                  <a:srgbClr val="0F4C5C"/>
                </a:solidFill>
                <a:latin typeface="Calibri"/>
              </a:rPr>
              <a:t>因果</a:t>
            </a:r>
          </a:p>
        </p:txBody>
      </p:sp>
      <p:sp>
        <p:nvSpPr>
          <p:cNvPr id="39" name="TextBox 38"/>
          <p:cNvSpPr txBox="1"/>
          <p:nvPr/>
        </p:nvSpPr>
        <p:spPr>
          <a:xfrm>
            <a:off x="5623560" y="5202936"/>
            <a:ext cx="5852160" cy="566928"/>
          </a:xfrm>
          <a:prstGeom prst="rect">
            <a:avLst/>
          </a:prstGeom>
          <a:noFill/>
        </p:spPr>
        <p:txBody>
          <a:bodyPr wrap="square" anchor="ctr">
            <a:spAutoFit/>
          </a:bodyPr>
          <a:lstStyle/>
          <a:p>
            <a:pPr algn="l"/>
            <a:r>
              <a:rPr sz="1250" b="0" i="0">
                <a:solidFill>
                  <a:srgbClr val="1E293B"/>
                </a:solidFill>
                <a:latin typeface="Calibri"/>
              </a:rPr>
              <a:t>therefore/thus/as a result/consequently</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S4题型对比</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7" name="Rectangle 6"/>
          <p:cNvSpPr/>
          <p:nvPr/>
        </p:nvSpPr>
        <p:spPr>
          <a:xfrm>
            <a:off x="548640" y="1188720"/>
            <a:ext cx="5486400" cy="4572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225296"/>
            <a:ext cx="5212080" cy="384048"/>
          </a:xfrm>
          <a:prstGeom prst="rect">
            <a:avLst/>
          </a:prstGeom>
          <a:noFill/>
        </p:spPr>
        <p:txBody>
          <a:bodyPr wrap="square" anchor="ctr">
            <a:spAutoFit/>
          </a:bodyPr>
          <a:lstStyle/>
          <a:p>
            <a:pPr algn="l"/>
            <a:r>
              <a:rPr sz="1450" b="1" i="0">
                <a:solidFill>
                  <a:srgbClr val="FFFFFF"/>
                </a:solidFill>
                <a:latin typeface="Calibri"/>
              </a:rPr>
              <a:t>笔记填空（Note Completion）</a:t>
            </a:r>
          </a:p>
        </p:txBody>
      </p:sp>
      <p:sp>
        <p:nvSpPr>
          <p:cNvPr id="9" name="TextBox 8"/>
          <p:cNvSpPr txBox="1"/>
          <p:nvPr/>
        </p:nvSpPr>
        <p:spPr>
          <a:xfrm>
            <a:off x="640080" y="1783080"/>
            <a:ext cx="5349240" cy="4480560"/>
          </a:xfrm>
          <a:prstGeom prst="rect">
            <a:avLst/>
          </a:prstGeom>
          <a:noFill/>
        </p:spPr>
        <p:txBody>
          <a:bodyPr wrap="square">
            <a:spAutoFit/>
          </a:bodyPr>
          <a:lstStyle/>
          <a:p>
            <a:r>
              <a:rPr sz="1450">
                <a:solidFill>
                  <a:srgbClr val="1E293B"/>
                </a:solidFill>
              </a:rPr>
              <a:t>• 按讲座层级顺序填写</a:t>
            </a:r>
          </a:p>
          <a:p>
            <a:pPr>
              <a:spcBef>
                <a:spcPts val="700"/>
              </a:spcBef>
            </a:pPr>
            <a:r>
              <a:rPr sz="1450">
                <a:solidFill>
                  <a:srgbClr val="1E293B"/>
                </a:solidFill>
              </a:rPr>
              <a:t>• 答案通常是录音原词</a:t>
            </a:r>
          </a:p>
          <a:p>
            <a:pPr>
              <a:spcBef>
                <a:spcPts val="700"/>
              </a:spcBef>
            </a:pPr>
            <a:r>
              <a:rPr sz="1450">
                <a:solidFill>
                  <a:srgbClr val="1E293B"/>
                </a:solidFill>
              </a:rPr>
              <a:t>• 预读：看笔记层级结构</a:t>
            </a:r>
          </a:p>
          <a:p>
            <a:pPr>
              <a:spcBef>
                <a:spcPts val="700"/>
              </a:spcBef>
            </a:pPr>
            <a:r>
              <a:rPr sz="1450">
                <a:solidFill>
                  <a:srgbClr val="1E293B"/>
                </a:solidFill>
              </a:rPr>
              <a:t>• 预判词性（空格前后语法）</a:t>
            </a:r>
          </a:p>
          <a:p>
            <a:pPr>
              <a:spcBef>
                <a:spcPts val="700"/>
              </a:spcBef>
            </a:pPr>
            <a:r>
              <a:rPr sz="1450">
                <a:solidFill>
                  <a:srgbClr val="1E293B"/>
                </a:solidFill>
              </a:rPr>
              <a:t>• 专业词按音节占位</a:t>
            </a:r>
          </a:p>
          <a:p>
            <a:pPr>
              <a:spcBef>
                <a:spcPts val="700"/>
              </a:spcBef>
            </a:pPr>
            <a:r>
              <a:rPr sz="1450">
                <a:solidFill>
                  <a:srgbClr val="1E293B"/>
                </a:solidFill>
              </a:rPr>
              <a:t>• 限词严格：ONE/TWO WORDS</a:t>
            </a:r>
          </a:p>
          <a:p>
            <a:pPr>
              <a:spcBef>
                <a:spcPts val="700"/>
              </a:spcBef>
            </a:pPr>
            <a:r>
              <a:rPr sz="1450">
                <a:solidFill>
                  <a:srgbClr val="1E293B"/>
                </a:solidFill>
              </a:rPr>
              <a:t>• 专有名词大写</a:t>
            </a:r>
          </a:p>
        </p:txBody>
      </p:sp>
      <p:sp>
        <p:nvSpPr>
          <p:cNvPr id="10" name="Rectangle 9"/>
          <p:cNvSpPr/>
          <p:nvPr/>
        </p:nvSpPr>
        <p:spPr>
          <a:xfrm>
            <a:off x="6355079" y="1188720"/>
            <a:ext cx="5486400" cy="45720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225296"/>
            <a:ext cx="5212080" cy="384048"/>
          </a:xfrm>
          <a:prstGeom prst="rect">
            <a:avLst/>
          </a:prstGeom>
          <a:noFill/>
        </p:spPr>
        <p:txBody>
          <a:bodyPr wrap="square" anchor="ctr">
            <a:spAutoFit/>
          </a:bodyPr>
          <a:lstStyle/>
          <a:p>
            <a:pPr algn="l"/>
            <a:r>
              <a:rPr sz="1450" b="1" i="0">
                <a:solidFill>
                  <a:srgbClr val="FFFFFF"/>
                </a:solidFill>
                <a:latin typeface="Calibri"/>
              </a:rPr>
              <a:t>摘要填空（Summary Completion）</a:t>
            </a:r>
          </a:p>
        </p:txBody>
      </p:sp>
      <p:sp>
        <p:nvSpPr>
          <p:cNvPr id="12" name="TextBox 11"/>
          <p:cNvSpPr txBox="1"/>
          <p:nvPr/>
        </p:nvSpPr>
        <p:spPr>
          <a:xfrm>
            <a:off x="6446519" y="1783080"/>
            <a:ext cx="5349240" cy="4480560"/>
          </a:xfrm>
          <a:prstGeom prst="rect">
            <a:avLst/>
          </a:prstGeom>
          <a:noFill/>
        </p:spPr>
        <p:txBody>
          <a:bodyPr wrap="square">
            <a:spAutoFit/>
          </a:bodyPr>
          <a:lstStyle/>
          <a:p>
            <a:r>
              <a:rPr sz="1450">
                <a:solidFill>
                  <a:srgbClr val="1E293B"/>
                </a:solidFill>
              </a:rPr>
              <a:t>• 读完整段摘要理解语义</a:t>
            </a:r>
          </a:p>
          <a:p>
            <a:pPr>
              <a:spcBef>
                <a:spcPts val="700"/>
              </a:spcBef>
            </a:pPr>
            <a:r>
              <a:rPr sz="1450">
                <a:solidFill>
                  <a:srgbClr val="1E293B"/>
                </a:solidFill>
              </a:rPr>
              <a:t>• 同义替换：摘要词≠录音词</a:t>
            </a:r>
          </a:p>
          <a:p>
            <a:pPr>
              <a:spcBef>
                <a:spcPts val="700"/>
              </a:spcBef>
            </a:pPr>
            <a:r>
              <a:rPr sz="1450">
                <a:solidFill>
                  <a:srgbClr val="1E293B"/>
                </a:solidFill>
              </a:rPr>
              <a:t>• 词性约束更严</a:t>
            </a:r>
          </a:p>
          <a:p>
            <a:pPr>
              <a:spcBef>
                <a:spcPts val="700"/>
              </a:spcBef>
            </a:pPr>
            <a:r>
              <a:rPr sz="1450">
                <a:solidFill>
                  <a:srgbClr val="1E293B"/>
                </a:solidFill>
              </a:rPr>
              <a:t>• 理解上下文帮助预判</a:t>
            </a:r>
          </a:p>
          <a:p>
            <a:pPr>
              <a:spcBef>
                <a:spcPts val="700"/>
              </a:spcBef>
            </a:pPr>
            <a:r>
              <a:rPr sz="1450">
                <a:solidFill>
                  <a:srgbClr val="1E293B"/>
                </a:solidFill>
              </a:rPr>
              <a:t>• 通常在S4后半段，需要坚持</a:t>
            </a:r>
          </a:p>
          <a:p>
            <a:pPr>
              <a:spcBef>
                <a:spcPts val="700"/>
              </a:spcBef>
            </a:pPr>
            <a:r>
              <a:rPr sz="1450">
                <a:solidFill>
                  <a:srgbClr val="1E293B"/>
                </a:solidFill>
              </a:rPr>
              <a:t>• 一个词限制最严格</a:t>
            </a:r>
          </a:p>
          <a:p>
            <a:pPr>
              <a:spcBef>
                <a:spcPts val="700"/>
              </a:spcBef>
            </a:pPr>
            <a:r>
              <a:rPr sz="1450">
                <a:solidFill>
                  <a:srgbClr val="1E293B"/>
                </a:solidFill>
              </a:rPr>
              <a:t>• 语义正确比用词地道更重要</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2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12A594"/>
                </a:solidFill>
                <a:latin typeface="Calibri"/>
              </a:rPr>
              <a:t>PART 06</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方法精讲</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Methods &amp; Models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方法步骤</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笔记填空满分5步操作</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ounded Rectangle 7"/>
          <p:cNvSpPr/>
          <p:nvPr/>
        </p:nvSpPr>
        <p:spPr>
          <a:xfrm>
            <a:off x="548640" y="1280160"/>
            <a:ext cx="640080" cy="640080"/>
          </a:xfrm>
          <a:prstGeom prst="round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335024"/>
            <a:ext cx="640080" cy="502920"/>
          </a:xfrm>
          <a:prstGeom prst="rect">
            <a:avLst/>
          </a:prstGeom>
          <a:noFill/>
        </p:spPr>
        <p:txBody>
          <a:bodyPr wrap="square" anchor="t">
            <a:spAutoFit/>
          </a:bodyPr>
          <a:lstStyle/>
          <a:p>
            <a:pPr algn="ctr"/>
            <a:r>
              <a:rPr sz="2200" b="1" i="0">
                <a:solidFill>
                  <a:srgbClr val="FFFFFF"/>
                </a:solidFill>
                <a:latin typeface="Calibri"/>
              </a:rPr>
              <a:t>1</a:t>
            </a:r>
          </a:p>
        </p:txBody>
      </p:sp>
      <p:sp>
        <p:nvSpPr>
          <p:cNvPr id="10" name="Rectangle 9"/>
          <p:cNvSpPr/>
          <p:nvPr/>
        </p:nvSpPr>
        <p:spPr>
          <a:xfrm>
            <a:off x="841248" y="1938528"/>
            <a:ext cx="45720" cy="292607"/>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17320" y="1280160"/>
            <a:ext cx="10058400" cy="411480"/>
          </a:xfrm>
          <a:prstGeom prst="rect">
            <a:avLst/>
          </a:prstGeom>
          <a:noFill/>
        </p:spPr>
        <p:txBody>
          <a:bodyPr wrap="square" anchor="t">
            <a:spAutoFit/>
          </a:bodyPr>
          <a:lstStyle/>
          <a:p>
            <a:pPr algn="l"/>
            <a:r>
              <a:rPr sz="1600" b="1" i="0">
                <a:solidFill>
                  <a:srgbClr val="0F4C5C"/>
                </a:solidFill>
                <a:latin typeface="Calibri"/>
              </a:rPr>
              <a:t>预读(45s)</a:t>
            </a:r>
          </a:p>
        </p:txBody>
      </p:sp>
      <p:sp>
        <p:nvSpPr>
          <p:cNvPr id="12" name="TextBox 11"/>
          <p:cNvSpPr txBox="1"/>
          <p:nvPr/>
        </p:nvSpPr>
        <p:spPr>
          <a:xfrm>
            <a:off x="1417320" y="1645919"/>
            <a:ext cx="10058400" cy="585215"/>
          </a:xfrm>
          <a:prstGeom prst="rect">
            <a:avLst/>
          </a:prstGeom>
          <a:noFill/>
        </p:spPr>
        <p:txBody>
          <a:bodyPr wrap="square" anchor="t">
            <a:spAutoFit/>
          </a:bodyPr>
          <a:lstStyle/>
          <a:p>
            <a:pPr algn="l"/>
            <a:r>
              <a:rPr sz="1350" b="0" i="0">
                <a:solidFill>
                  <a:srgbClr val="556075"/>
                </a:solidFill>
                <a:latin typeface="Calibri"/>
              </a:rPr>
              <a:t>看笔记主题；圈空格前后关键词；预判每空词性</a:t>
            </a:r>
          </a:p>
        </p:txBody>
      </p:sp>
      <p:sp>
        <p:nvSpPr>
          <p:cNvPr id="13" name="Rounded Rectangle 12"/>
          <p:cNvSpPr/>
          <p:nvPr/>
        </p:nvSpPr>
        <p:spPr>
          <a:xfrm>
            <a:off x="548640" y="2231135"/>
            <a:ext cx="640080" cy="640080"/>
          </a:xfrm>
          <a:prstGeom prst="round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285999"/>
            <a:ext cx="640080" cy="502920"/>
          </a:xfrm>
          <a:prstGeom prst="rect">
            <a:avLst/>
          </a:prstGeom>
          <a:noFill/>
        </p:spPr>
        <p:txBody>
          <a:bodyPr wrap="square" anchor="t">
            <a:spAutoFit/>
          </a:bodyPr>
          <a:lstStyle/>
          <a:p>
            <a:pPr algn="ctr"/>
            <a:r>
              <a:rPr sz="2200" b="1" i="0">
                <a:solidFill>
                  <a:srgbClr val="FFFFFF"/>
                </a:solidFill>
                <a:latin typeface="Calibri"/>
              </a:rPr>
              <a:t>2</a:t>
            </a:r>
          </a:p>
        </p:txBody>
      </p:sp>
      <p:sp>
        <p:nvSpPr>
          <p:cNvPr id="15" name="Rectangle 14"/>
          <p:cNvSpPr/>
          <p:nvPr/>
        </p:nvSpPr>
        <p:spPr>
          <a:xfrm>
            <a:off x="841248" y="2889503"/>
            <a:ext cx="45720" cy="292607"/>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17320" y="2231135"/>
            <a:ext cx="10058400" cy="411480"/>
          </a:xfrm>
          <a:prstGeom prst="rect">
            <a:avLst/>
          </a:prstGeom>
          <a:noFill/>
        </p:spPr>
        <p:txBody>
          <a:bodyPr wrap="square" anchor="t">
            <a:spAutoFit/>
          </a:bodyPr>
          <a:lstStyle/>
          <a:p>
            <a:pPr algn="l"/>
            <a:r>
              <a:rPr sz="1600" b="1" i="0">
                <a:solidFill>
                  <a:srgbClr val="0F4C5C"/>
                </a:solidFill>
                <a:latin typeface="Calibri"/>
              </a:rPr>
              <a:t>边听边写</a:t>
            </a:r>
          </a:p>
        </p:txBody>
      </p:sp>
      <p:sp>
        <p:nvSpPr>
          <p:cNvPr id="17" name="TextBox 16"/>
          <p:cNvSpPr txBox="1"/>
          <p:nvPr/>
        </p:nvSpPr>
        <p:spPr>
          <a:xfrm>
            <a:off x="1417320" y="2596895"/>
            <a:ext cx="10058400" cy="585215"/>
          </a:xfrm>
          <a:prstGeom prst="rect">
            <a:avLst/>
          </a:prstGeom>
          <a:noFill/>
        </p:spPr>
        <p:txBody>
          <a:bodyPr wrap="square" anchor="t">
            <a:spAutoFit/>
          </a:bodyPr>
          <a:lstStyle/>
          <a:p>
            <a:pPr algn="l"/>
            <a:r>
              <a:rPr sz="1350" b="0" i="0">
                <a:solidFill>
                  <a:srgbClr val="556075"/>
                </a:solidFill>
                <a:latin typeface="Calibri"/>
              </a:rPr>
              <a:t>候选词先写旁边；不确定时写首字母占位</a:t>
            </a:r>
          </a:p>
        </p:txBody>
      </p:sp>
      <p:sp>
        <p:nvSpPr>
          <p:cNvPr id="18" name="Rounded Rectangle 17"/>
          <p:cNvSpPr/>
          <p:nvPr/>
        </p:nvSpPr>
        <p:spPr>
          <a:xfrm>
            <a:off x="548640" y="3182111"/>
            <a:ext cx="640080" cy="640080"/>
          </a:xfrm>
          <a:prstGeom prst="round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236975"/>
            <a:ext cx="640080" cy="502920"/>
          </a:xfrm>
          <a:prstGeom prst="rect">
            <a:avLst/>
          </a:prstGeom>
          <a:noFill/>
        </p:spPr>
        <p:txBody>
          <a:bodyPr wrap="square" anchor="t">
            <a:spAutoFit/>
          </a:bodyPr>
          <a:lstStyle/>
          <a:p>
            <a:pPr algn="ctr"/>
            <a:r>
              <a:rPr sz="2200" b="1" i="0">
                <a:solidFill>
                  <a:srgbClr val="FFFFFF"/>
                </a:solidFill>
                <a:latin typeface="Calibri"/>
              </a:rPr>
              <a:t>3</a:t>
            </a:r>
          </a:p>
        </p:txBody>
      </p:sp>
      <p:sp>
        <p:nvSpPr>
          <p:cNvPr id="20" name="Rectangle 19"/>
          <p:cNvSpPr/>
          <p:nvPr/>
        </p:nvSpPr>
        <p:spPr>
          <a:xfrm>
            <a:off x="841248" y="3840479"/>
            <a:ext cx="45720" cy="292607"/>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417320" y="3182111"/>
            <a:ext cx="10058400" cy="411480"/>
          </a:xfrm>
          <a:prstGeom prst="rect">
            <a:avLst/>
          </a:prstGeom>
          <a:noFill/>
        </p:spPr>
        <p:txBody>
          <a:bodyPr wrap="square" anchor="t">
            <a:spAutoFit/>
          </a:bodyPr>
          <a:lstStyle/>
          <a:p>
            <a:pPr algn="l"/>
            <a:r>
              <a:rPr sz="1600" b="1" i="0">
                <a:solidFill>
                  <a:srgbClr val="0F4C5C"/>
                </a:solidFill>
                <a:latin typeface="Calibri"/>
              </a:rPr>
              <a:t>专业词处理</a:t>
            </a:r>
          </a:p>
        </p:txBody>
      </p:sp>
      <p:sp>
        <p:nvSpPr>
          <p:cNvPr id="22" name="TextBox 21"/>
          <p:cNvSpPr txBox="1"/>
          <p:nvPr/>
        </p:nvSpPr>
        <p:spPr>
          <a:xfrm>
            <a:off x="1417320" y="3547871"/>
            <a:ext cx="10058400" cy="585215"/>
          </a:xfrm>
          <a:prstGeom prst="rect">
            <a:avLst/>
          </a:prstGeom>
          <a:noFill/>
        </p:spPr>
        <p:txBody>
          <a:bodyPr wrap="square" anchor="t">
            <a:spAutoFit/>
          </a:bodyPr>
          <a:lstStyle/>
          <a:p>
            <a:pPr algn="l"/>
            <a:r>
              <a:rPr sz="1350" b="0" i="0">
                <a:solidFill>
                  <a:srgbClr val="556075"/>
                </a:solidFill>
                <a:latin typeface="Calibri"/>
              </a:rPr>
              <a:t>长词：按音节写能听清的部分；首字母+划线占位</a:t>
            </a:r>
          </a:p>
        </p:txBody>
      </p:sp>
      <p:sp>
        <p:nvSpPr>
          <p:cNvPr id="23" name="Rounded Rectangle 22"/>
          <p:cNvSpPr/>
          <p:nvPr/>
        </p:nvSpPr>
        <p:spPr>
          <a:xfrm>
            <a:off x="548640" y="4133087"/>
            <a:ext cx="640080" cy="640080"/>
          </a:xfrm>
          <a:prstGeom prst="round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4187951"/>
            <a:ext cx="640080" cy="502920"/>
          </a:xfrm>
          <a:prstGeom prst="rect">
            <a:avLst/>
          </a:prstGeom>
          <a:noFill/>
        </p:spPr>
        <p:txBody>
          <a:bodyPr wrap="square" anchor="t">
            <a:spAutoFit/>
          </a:bodyPr>
          <a:lstStyle/>
          <a:p>
            <a:pPr algn="ctr"/>
            <a:r>
              <a:rPr sz="2200" b="1" i="0">
                <a:solidFill>
                  <a:srgbClr val="FFFFFF"/>
                </a:solidFill>
                <a:latin typeface="Calibri"/>
              </a:rPr>
              <a:t>4</a:t>
            </a:r>
          </a:p>
        </p:txBody>
      </p:sp>
      <p:sp>
        <p:nvSpPr>
          <p:cNvPr id="25" name="Rectangle 24"/>
          <p:cNvSpPr/>
          <p:nvPr/>
        </p:nvSpPr>
        <p:spPr>
          <a:xfrm>
            <a:off x="841248" y="4791455"/>
            <a:ext cx="45720" cy="292607"/>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417320" y="4133087"/>
            <a:ext cx="10058400" cy="411480"/>
          </a:xfrm>
          <a:prstGeom prst="rect">
            <a:avLst/>
          </a:prstGeom>
          <a:noFill/>
        </p:spPr>
        <p:txBody>
          <a:bodyPr wrap="square" anchor="t">
            <a:spAutoFit/>
          </a:bodyPr>
          <a:lstStyle/>
          <a:p>
            <a:pPr algn="l"/>
            <a:r>
              <a:rPr sz="1600" b="1" i="0">
                <a:solidFill>
                  <a:srgbClr val="0F4C5C"/>
                </a:solidFill>
                <a:latin typeface="Calibri"/>
              </a:rPr>
              <a:t>即时核对</a:t>
            </a:r>
          </a:p>
        </p:txBody>
      </p:sp>
      <p:sp>
        <p:nvSpPr>
          <p:cNvPr id="27" name="TextBox 26"/>
          <p:cNvSpPr txBox="1"/>
          <p:nvPr/>
        </p:nvSpPr>
        <p:spPr>
          <a:xfrm>
            <a:off x="1417320" y="4498848"/>
            <a:ext cx="10058400" cy="585215"/>
          </a:xfrm>
          <a:prstGeom prst="rect">
            <a:avLst/>
          </a:prstGeom>
          <a:noFill/>
        </p:spPr>
        <p:txBody>
          <a:bodyPr wrap="square" anchor="t">
            <a:spAutoFit/>
          </a:bodyPr>
          <a:lstStyle/>
          <a:p>
            <a:pPr algn="l"/>
            <a:r>
              <a:rPr sz="1350" b="0" i="0">
                <a:solidFill>
                  <a:srgbClr val="556075"/>
                </a:solidFill>
                <a:latin typeface="Calibri"/>
              </a:rPr>
              <a:t>写完一空立刻检查：限词/词性/大小写是否正确</a:t>
            </a:r>
          </a:p>
        </p:txBody>
      </p:sp>
      <p:sp>
        <p:nvSpPr>
          <p:cNvPr id="28" name="Rounded Rectangle 27"/>
          <p:cNvSpPr/>
          <p:nvPr/>
        </p:nvSpPr>
        <p:spPr>
          <a:xfrm>
            <a:off x="548640" y="5084063"/>
            <a:ext cx="640080" cy="640080"/>
          </a:xfrm>
          <a:prstGeom prst="round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8640" y="5138927"/>
            <a:ext cx="640080" cy="502920"/>
          </a:xfrm>
          <a:prstGeom prst="rect">
            <a:avLst/>
          </a:prstGeom>
          <a:noFill/>
        </p:spPr>
        <p:txBody>
          <a:bodyPr wrap="square" anchor="t">
            <a:spAutoFit/>
          </a:bodyPr>
          <a:lstStyle/>
          <a:p>
            <a:pPr algn="ctr"/>
            <a:r>
              <a:rPr sz="2200" b="1" i="0">
                <a:solidFill>
                  <a:srgbClr val="FFFFFF"/>
                </a:solidFill>
                <a:latin typeface="Calibri"/>
              </a:rPr>
              <a:t>5</a:t>
            </a:r>
          </a:p>
        </p:txBody>
      </p:sp>
      <p:sp>
        <p:nvSpPr>
          <p:cNvPr id="30" name="TextBox 29"/>
          <p:cNvSpPr txBox="1"/>
          <p:nvPr/>
        </p:nvSpPr>
        <p:spPr>
          <a:xfrm>
            <a:off x="1417320" y="5084063"/>
            <a:ext cx="10058400" cy="411480"/>
          </a:xfrm>
          <a:prstGeom prst="rect">
            <a:avLst/>
          </a:prstGeom>
          <a:noFill/>
        </p:spPr>
        <p:txBody>
          <a:bodyPr wrap="square" anchor="t">
            <a:spAutoFit/>
          </a:bodyPr>
          <a:lstStyle/>
          <a:p>
            <a:pPr algn="l"/>
            <a:r>
              <a:rPr sz="1600" b="1" i="0">
                <a:solidFill>
                  <a:srgbClr val="0F4C5C"/>
                </a:solidFill>
                <a:latin typeface="Calibri"/>
              </a:rPr>
              <a:t>誊写检查</a:t>
            </a:r>
          </a:p>
        </p:txBody>
      </p:sp>
      <p:sp>
        <p:nvSpPr>
          <p:cNvPr id="31" name="TextBox 30"/>
          <p:cNvSpPr txBox="1"/>
          <p:nvPr/>
        </p:nvSpPr>
        <p:spPr>
          <a:xfrm>
            <a:off x="1417320" y="5449823"/>
            <a:ext cx="10058400" cy="585215"/>
          </a:xfrm>
          <a:prstGeom prst="rect">
            <a:avLst/>
          </a:prstGeom>
          <a:noFill/>
        </p:spPr>
        <p:txBody>
          <a:bodyPr wrap="square" anchor="t">
            <a:spAutoFit/>
          </a:bodyPr>
          <a:lstStyle/>
          <a:p>
            <a:pPr algn="l"/>
            <a:r>
              <a:rPr sz="1350" b="0" i="0">
                <a:solidFill>
                  <a:srgbClr val="556075"/>
                </a:solidFill>
                <a:latin typeface="Calibri"/>
              </a:rPr>
              <a:t>最终：逐词核对拼写；专有名词大写；数词数</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方法步骤</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AWL词汇占位法操作</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ounded Rectangle 7"/>
          <p:cNvSpPr/>
          <p:nvPr/>
        </p:nvSpPr>
        <p:spPr>
          <a:xfrm>
            <a:off x="548640" y="1280160"/>
            <a:ext cx="640080" cy="640080"/>
          </a:xfrm>
          <a:prstGeom prst="round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335024"/>
            <a:ext cx="640080" cy="502920"/>
          </a:xfrm>
          <a:prstGeom prst="rect">
            <a:avLst/>
          </a:prstGeom>
          <a:noFill/>
        </p:spPr>
        <p:txBody>
          <a:bodyPr wrap="square" anchor="t">
            <a:spAutoFit/>
          </a:bodyPr>
          <a:lstStyle/>
          <a:p>
            <a:pPr algn="ctr"/>
            <a:r>
              <a:rPr sz="2200" b="1" i="0">
                <a:solidFill>
                  <a:srgbClr val="FFFFFF"/>
                </a:solidFill>
                <a:latin typeface="Calibri"/>
              </a:rPr>
              <a:t>1</a:t>
            </a:r>
          </a:p>
        </p:txBody>
      </p:sp>
      <p:sp>
        <p:nvSpPr>
          <p:cNvPr id="10" name="Rectangle 9"/>
          <p:cNvSpPr/>
          <p:nvPr/>
        </p:nvSpPr>
        <p:spPr>
          <a:xfrm>
            <a:off x="841248" y="1938528"/>
            <a:ext cx="45720" cy="292607"/>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17320" y="1280160"/>
            <a:ext cx="10058400" cy="411480"/>
          </a:xfrm>
          <a:prstGeom prst="rect">
            <a:avLst/>
          </a:prstGeom>
          <a:noFill/>
        </p:spPr>
        <p:txBody>
          <a:bodyPr wrap="square" anchor="t">
            <a:spAutoFit/>
          </a:bodyPr>
          <a:lstStyle/>
          <a:p>
            <a:pPr algn="l"/>
            <a:r>
              <a:rPr sz="1600" b="1" i="0">
                <a:solidFill>
                  <a:srgbClr val="0F4C5C"/>
                </a:solidFill>
                <a:latin typeface="Calibri"/>
              </a:rPr>
              <a:t>第1步</a:t>
            </a:r>
          </a:p>
        </p:txBody>
      </p:sp>
      <p:sp>
        <p:nvSpPr>
          <p:cNvPr id="12" name="TextBox 11"/>
          <p:cNvSpPr txBox="1"/>
          <p:nvPr/>
        </p:nvSpPr>
        <p:spPr>
          <a:xfrm>
            <a:off x="1417320" y="1645919"/>
            <a:ext cx="10058400" cy="585215"/>
          </a:xfrm>
          <a:prstGeom prst="rect">
            <a:avLst/>
          </a:prstGeom>
          <a:noFill/>
        </p:spPr>
        <p:txBody>
          <a:bodyPr wrap="square" anchor="t">
            <a:spAutoFit/>
          </a:bodyPr>
          <a:lstStyle/>
          <a:p>
            <a:pPr algn="l"/>
            <a:r>
              <a:rPr sz="1350" b="0" i="0">
                <a:solidFill>
                  <a:srgbClr val="556075"/>
                </a:solidFill>
                <a:latin typeface="Calibri"/>
              </a:rPr>
              <a:t>听到不认识的长词：立刻写前2-3个字母(e-vap...)</a:t>
            </a:r>
          </a:p>
        </p:txBody>
      </p:sp>
      <p:sp>
        <p:nvSpPr>
          <p:cNvPr id="13" name="Rounded Rectangle 12"/>
          <p:cNvSpPr/>
          <p:nvPr/>
        </p:nvSpPr>
        <p:spPr>
          <a:xfrm>
            <a:off x="548640" y="2231135"/>
            <a:ext cx="640080" cy="640080"/>
          </a:xfrm>
          <a:prstGeom prst="round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285999"/>
            <a:ext cx="640080" cy="502920"/>
          </a:xfrm>
          <a:prstGeom prst="rect">
            <a:avLst/>
          </a:prstGeom>
          <a:noFill/>
        </p:spPr>
        <p:txBody>
          <a:bodyPr wrap="square" anchor="t">
            <a:spAutoFit/>
          </a:bodyPr>
          <a:lstStyle/>
          <a:p>
            <a:pPr algn="ctr"/>
            <a:r>
              <a:rPr sz="2200" b="1" i="0">
                <a:solidFill>
                  <a:srgbClr val="FFFFFF"/>
                </a:solidFill>
                <a:latin typeface="Calibri"/>
              </a:rPr>
              <a:t>2</a:t>
            </a:r>
          </a:p>
        </p:txBody>
      </p:sp>
      <p:sp>
        <p:nvSpPr>
          <p:cNvPr id="15" name="Rectangle 14"/>
          <p:cNvSpPr/>
          <p:nvPr/>
        </p:nvSpPr>
        <p:spPr>
          <a:xfrm>
            <a:off x="841248" y="2889503"/>
            <a:ext cx="45720" cy="292607"/>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17320" y="2231135"/>
            <a:ext cx="10058400" cy="411480"/>
          </a:xfrm>
          <a:prstGeom prst="rect">
            <a:avLst/>
          </a:prstGeom>
          <a:noFill/>
        </p:spPr>
        <p:txBody>
          <a:bodyPr wrap="square" anchor="t">
            <a:spAutoFit/>
          </a:bodyPr>
          <a:lstStyle/>
          <a:p>
            <a:pPr algn="l"/>
            <a:r>
              <a:rPr sz="1600" b="1" i="0">
                <a:solidFill>
                  <a:srgbClr val="0F4C5C"/>
                </a:solidFill>
                <a:latin typeface="Calibri"/>
              </a:rPr>
              <a:t>第2步</a:t>
            </a:r>
          </a:p>
        </p:txBody>
      </p:sp>
      <p:sp>
        <p:nvSpPr>
          <p:cNvPr id="17" name="TextBox 16"/>
          <p:cNvSpPr txBox="1"/>
          <p:nvPr/>
        </p:nvSpPr>
        <p:spPr>
          <a:xfrm>
            <a:off x="1417320" y="2596895"/>
            <a:ext cx="10058400" cy="585215"/>
          </a:xfrm>
          <a:prstGeom prst="rect">
            <a:avLst/>
          </a:prstGeom>
          <a:noFill/>
        </p:spPr>
        <p:txBody>
          <a:bodyPr wrap="square" anchor="t">
            <a:spAutoFit/>
          </a:bodyPr>
          <a:lstStyle/>
          <a:p>
            <a:pPr algn="l"/>
            <a:r>
              <a:rPr sz="1350" b="0" i="0">
                <a:solidFill>
                  <a:srgbClr val="556075"/>
                </a:solidFill>
                <a:latin typeface="Calibri"/>
              </a:rPr>
              <a:t>继续写能听到的音节（用—代替模糊音）</a:t>
            </a:r>
          </a:p>
        </p:txBody>
      </p:sp>
      <p:sp>
        <p:nvSpPr>
          <p:cNvPr id="18" name="Rounded Rectangle 17"/>
          <p:cNvSpPr/>
          <p:nvPr/>
        </p:nvSpPr>
        <p:spPr>
          <a:xfrm>
            <a:off x="548640" y="3182111"/>
            <a:ext cx="640080" cy="640080"/>
          </a:xfrm>
          <a:prstGeom prst="round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236975"/>
            <a:ext cx="640080" cy="502920"/>
          </a:xfrm>
          <a:prstGeom prst="rect">
            <a:avLst/>
          </a:prstGeom>
          <a:noFill/>
        </p:spPr>
        <p:txBody>
          <a:bodyPr wrap="square" anchor="t">
            <a:spAutoFit/>
          </a:bodyPr>
          <a:lstStyle/>
          <a:p>
            <a:pPr algn="ctr"/>
            <a:r>
              <a:rPr sz="2200" b="1" i="0">
                <a:solidFill>
                  <a:srgbClr val="FFFFFF"/>
                </a:solidFill>
                <a:latin typeface="Calibri"/>
              </a:rPr>
              <a:t>3</a:t>
            </a:r>
          </a:p>
        </p:txBody>
      </p:sp>
      <p:sp>
        <p:nvSpPr>
          <p:cNvPr id="20" name="Rectangle 19"/>
          <p:cNvSpPr/>
          <p:nvPr/>
        </p:nvSpPr>
        <p:spPr>
          <a:xfrm>
            <a:off x="841248" y="3840479"/>
            <a:ext cx="45720" cy="292607"/>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417320" y="3182111"/>
            <a:ext cx="10058400" cy="411480"/>
          </a:xfrm>
          <a:prstGeom prst="rect">
            <a:avLst/>
          </a:prstGeom>
          <a:noFill/>
        </p:spPr>
        <p:txBody>
          <a:bodyPr wrap="square" anchor="t">
            <a:spAutoFit/>
          </a:bodyPr>
          <a:lstStyle/>
          <a:p>
            <a:pPr algn="l"/>
            <a:r>
              <a:rPr sz="1600" b="1" i="0">
                <a:solidFill>
                  <a:srgbClr val="0F4C5C"/>
                </a:solidFill>
                <a:latin typeface="Calibri"/>
              </a:rPr>
              <a:t>第3步</a:t>
            </a:r>
          </a:p>
        </p:txBody>
      </p:sp>
      <p:sp>
        <p:nvSpPr>
          <p:cNvPr id="22" name="TextBox 21"/>
          <p:cNvSpPr txBox="1"/>
          <p:nvPr/>
        </p:nvSpPr>
        <p:spPr>
          <a:xfrm>
            <a:off x="1417320" y="3547871"/>
            <a:ext cx="10058400" cy="585215"/>
          </a:xfrm>
          <a:prstGeom prst="rect">
            <a:avLst/>
          </a:prstGeom>
          <a:noFill/>
        </p:spPr>
        <p:txBody>
          <a:bodyPr wrap="square" anchor="t">
            <a:spAutoFit/>
          </a:bodyPr>
          <a:lstStyle/>
          <a:p>
            <a:pPr algn="l"/>
            <a:r>
              <a:rPr sz="1350" b="0" i="0">
                <a:solidFill>
                  <a:srgbClr val="556075"/>
                </a:solidFill>
                <a:latin typeface="Calibri"/>
              </a:rPr>
              <a:t>在旁边写词的大概音节数（帮助誊写时补全）</a:t>
            </a:r>
          </a:p>
        </p:txBody>
      </p:sp>
      <p:sp>
        <p:nvSpPr>
          <p:cNvPr id="23" name="Rounded Rectangle 22"/>
          <p:cNvSpPr/>
          <p:nvPr/>
        </p:nvSpPr>
        <p:spPr>
          <a:xfrm>
            <a:off x="548640" y="4133087"/>
            <a:ext cx="640080" cy="640080"/>
          </a:xfrm>
          <a:prstGeom prst="round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4187951"/>
            <a:ext cx="640080" cy="502920"/>
          </a:xfrm>
          <a:prstGeom prst="rect">
            <a:avLst/>
          </a:prstGeom>
          <a:noFill/>
        </p:spPr>
        <p:txBody>
          <a:bodyPr wrap="square" anchor="t">
            <a:spAutoFit/>
          </a:bodyPr>
          <a:lstStyle/>
          <a:p>
            <a:pPr algn="ctr"/>
            <a:r>
              <a:rPr sz="2200" b="1" i="0">
                <a:solidFill>
                  <a:srgbClr val="FFFFFF"/>
                </a:solidFill>
                <a:latin typeface="Calibri"/>
              </a:rPr>
              <a:t>4</a:t>
            </a:r>
          </a:p>
        </p:txBody>
      </p:sp>
      <p:sp>
        <p:nvSpPr>
          <p:cNvPr id="25" name="Rectangle 24"/>
          <p:cNvSpPr/>
          <p:nvPr/>
        </p:nvSpPr>
        <p:spPr>
          <a:xfrm>
            <a:off x="841248" y="4791455"/>
            <a:ext cx="45720" cy="292607"/>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417320" y="4133087"/>
            <a:ext cx="10058400" cy="411480"/>
          </a:xfrm>
          <a:prstGeom prst="rect">
            <a:avLst/>
          </a:prstGeom>
          <a:noFill/>
        </p:spPr>
        <p:txBody>
          <a:bodyPr wrap="square" anchor="t">
            <a:spAutoFit/>
          </a:bodyPr>
          <a:lstStyle/>
          <a:p>
            <a:pPr algn="l"/>
            <a:r>
              <a:rPr sz="1600" b="1" i="0">
                <a:solidFill>
                  <a:srgbClr val="0F4C5C"/>
                </a:solidFill>
                <a:latin typeface="Calibri"/>
              </a:rPr>
              <a:t>第4步</a:t>
            </a:r>
          </a:p>
        </p:txBody>
      </p:sp>
      <p:sp>
        <p:nvSpPr>
          <p:cNvPr id="27" name="TextBox 26"/>
          <p:cNvSpPr txBox="1"/>
          <p:nvPr/>
        </p:nvSpPr>
        <p:spPr>
          <a:xfrm>
            <a:off x="1417320" y="4498848"/>
            <a:ext cx="10058400" cy="585215"/>
          </a:xfrm>
          <a:prstGeom prst="rect">
            <a:avLst/>
          </a:prstGeom>
          <a:noFill/>
        </p:spPr>
        <p:txBody>
          <a:bodyPr wrap="square" anchor="t">
            <a:spAutoFit/>
          </a:bodyPr>
          <a:lstStyle/>
          <a:p>
            <a:pPr algn="l"/>
            <a:r>
              <a:rPr sz="1350" b="0" i="0">
                <a:solidFill>
                  <a:srgbClr val="556075"/>
                </a:solidFill>
                <a:latin typeface="Calibri"/>
              </a:rPr>
              <a:t>继续听后面的内容；不因一个词停止追踪</a:t>
            </a:r>
          </a:p>
        </p:txBody>
      </p:sp>
      <p:sp>
        <p:nvSpPr>
          <p:cNvPr id="28" name="Rounded Rectangle 27"/>
          <p:cNvSpPr/>
          <p:nvPr/>
        </p:nvSpPr>
        <p:spPr>
          <a:xfrm>
            <a:off x="548640" y="5084063"/>
            <a:ext cx="640080" cy="640080"/>
          </a:xfrm>
          <a:prstGeom prst="round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8640" y="5138927"/>
            <a:ext cx="640080" cy="502920"/>
          </a:xfrm>
          <a:prstGeom prst="rect">
            <a:avLst/>
          </a:prstGeom>
          <a:noFill/>
        </p:spPr>
        <p:txBody>
          <a:bodyPr wrap="square" anchor="t">
            <a:spAutoFit/>
          </a:bodyPr>
          <a:lstStyle/>
          <a:p>
            <a:pPr algn="ctr"/>
            <a:r>
              <a:rPr sz="2200" b="1" i="0">
                <a:solidFill>
                  <a:srgbClr val="FFFFFF"/>
                </a:solidFill>
                <a:latin typeface="Calibri"/>
              </a:rPr>
              <a:t>5</a:t>
            </a:r>
          </a:p>
        </p:txBody>
      </p:sp>
      <p:sp>
        <p:nvSpPr>
          <p:cNvPr id="30" name="TextBox 29"/>
          <p:cNvSpPr txBox="1"/>
          <p:nvPr/>
        </p:nvSpPr>
        <p:spPr>
          <a:xfrm>
            <a:off x="1417320" y="5084063"/>
            <a:ext cx="10058400" cy="411480"/>
          </a:xfrm>
          <a:prstGeom prst="rect">
            <a:avLst/>
          </a:prstGeom>
          <a:noFill/>
        </p:spPr>
        <p:txBody>
          <a:bodyPr wrap="square" anchor="t">
            <a:spAutoFit/>
          </a:bodyPr>
          <a:lstStyle/>
          <a:p>
            <a:pPr algn="l"/>
            <a:r>
              <a:rPr sz="1600" b="1" i="0">
                <a:solidFill>
                  <a:srgbClr val="0F4C5C"/>
                </a:solidFill>
                <a:latin typeface="Calibri"/>
              </a:rPr>
              <a:t>第5步</a:t>
            </a:r>
          </a:p>
        </p:txBody>
      </p:sp>
      <p:sp>
        <p:nvSpPr>
          <p:cNvPr id="31" name="TextBox 30"/>
          <p:cNvSpPr txBox="1"/>
          <p:nvPr/>
        </p:nvSpPr>
        <p:spPr>
          <a:xfrm>
            <a:off x="1417320" y="5449823"/>
            <a:ext cx="10058400" cy="585215"/>
          </a:xfrm>
          <a:prstGeom prst="rect">
            <a:avLst/>
          </a:prstGeom>
          <a:noFill/>
        </p:spPr>
        <p:txBody>
          <a:bodyPr wrap="square" anchor="t">
            <a:spAutoFit/>
          </a:bodyPr>
          <a:lstStyle/>
          <a:p>
            <a:pPr algn="l"/>
            <a:r>
              <a:rPr sz="1350" b="0" i="0">
                <a:solidFill>
                  <a:srgbClr val="556075"/>
                </a:solidFill>
                <a:latin typeface="Calibri"/>
              </a:rPr>
              <a:t>誊写时：用词根/上下文语义补全拼写；查词典确认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高分范例</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S4笔记填空满分示范</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ectangle 7"/>
          <p:cNvSpPr/>
          <p:nvPr/>
        </p:nvSpPr>
        <p:spPr>
          <a:xfrm>
            <a:off x="548640" y="1188720"/>
            <a:ext cx="11064240" cy="384048"/>
          </a:xfrm>
          <a:prstGeom prst="rect">
            <a:avLst/>
          </a:prstGeom>
          <a:solidFill>
            <a:srgbClr val="072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207008"/>
            <a:ext cx="10789920" cy="347472"/>
          </a:xfrm>
          <a:prstGeom prst="rect">
            <a:avLst/>
          </a:prstGeom>
          <a:noFill/>
        </p:spPr>
        <p:txBody>
          <a:bodyPr wrap="square" anchor="ctr">
            <a:spAutoFit/>
          </a:bodyPr>
          <a:lstStyle/>
          <a:p>
            <a:pPr algn="l"/>
            <a:r>
              <a:rPr sz="1200" b="1" i="0">
                <a:solidFill>
                  <a:srgbClr val="FFFFFF"/>
                </a:solidFill>
                <a:latin typeface="Calibri"/>
              </a:rPr>
              <a:t>题目：Section 4: Urban Heat Island Effect</a:t>
            </a:r>
          </a:p>
        </p:txBody>
      </p:sp>
      <p:sp>
        <p:nvSpPr>
          <p:cNvPr id="10" name="Rounded Rectangle 9"/>
          <p:cNvSpPr/>
          <p:nvPr/>
        </p:nvSpPr>
        <p:spPr>
          <a:xfrm>
            <a:off x="548640" y="1783080"/>
            <a:ext cx="7040880" cy="4160520"/>
          </a:xfrm>
          <a:prstGeom prst="round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920240"/>
            <a:ext cx="6629400" cy="3977639"/>
          </a:xfrm>
          <a:prstGeom prst="rect">
            <a:avLst/>
          </a:prstGeom>
          <a:noFill/>
        </p:spPr>
        <p:txBody>
          <a:bodyPr wrap="square">
            <a:spAutoFit/>
          </a:bodyPr>
          <a:lstStyle/>
          <a:p>
            <a:r>
              <a:rPr sz="1300">
                <a:solidFill>
                  <a:srgbClr val="1E293B"/>
                </a:solidFill>
              </a:rPr>
              <a:t>满分答题笔记格式：
Urban Heat Island(UHI) = city warmer than surroundings
Q31 Cause 1: Heat from synthetic textiles
    → 听到"synthetic textiles"立刻写，不等整句结束
Q32 Cause 2: Reduced evap...(占位) due to ↓greenery
    → evap-o-trans-pi-ration → 誊写时补全
Q33 Effect: Urban temp ↑ 2-5°C vs rural areas</a:t>
            </a:r>
          </a:p>
        </p:txBody>
      </p:sp>
      <p:sp>
        <p:nvSpPr>
          <p:cNvPr id="12" name="TextBox 11"/>
          <p:cNvSpPr txBox="1"/>
          <p:nvPr/>
        </p:nvSpPr>
        <p:spPr>
          <a:xfrm>
            <a:off x="7772400" y="1783080"/>
            <a:ext cx="3931920" cy="365760"/>
          </a:xfrm>
          <a:prstGeom prst="rect">
            <a:avLst/>
          </a:prstGeom>
          <a:noFill/>
        </p:spPr>
        <p:txBody>
          <a:bodyPr wrap="square" anchor="t">
            <a:spAutoFit/>
          </a:bodyPr>
          <a:lstStyle/>
          <a:p>
            <a:pPr algn="l"/>
            <a:r>
              <a:rPr sz="1300" b="1" i="0">
                <a:solidFill>
                  <a:srgbClr val="12A594"/>
                </a:solidFill>
                <a:latin typeface="Calibri"/>
              </a:rPr>
              <a:t>✍ 得分点批注</a:t>
            </a:r>
          </a:p>
        </p:txBody>
      </p:sp>
      <p:sp>
        <p:nvSpPr>
          <p:cNvPr id="13" name="TextBox 12"/>
          <p:cNvSpPr txBox="1"/>
          <p:nvPr/>
        </p:nvSpPr>
        <p:spPr>
          <a:xfrm>
            <a:off x="7772400" y="2194560"/>
            <a:ext cx="3931920" cy="3703320"/>
          </a:xfrm>
          <a:prstGeom prst="rect">
            <a:avLst/>
          </a:prstGeom>
          <a:noFill/>
        </p:spPr>
        <p:txBody>
          <a:bodyPr wrap="square">
            <a:spAutoFit/>
          </a:bodyPr>
          <a:lstStyle/>
          <a:p>
            <a:r>
              <a:rPr sz="1200">
                <a:solidFill>
                  <a:srgbClr val="1E293B"/>
                </a:solidFill>
              </a:rPr>
              <a:t>▸ Q31：原词直接写（synthetic textiles）；两词符合TWO WORDS限制</a:t>
            </a:r>
          </a:p>
          <a:p>
            <a:pPr>
              <a:spcBef>
                <a:spcPts val="700"/>
              </a:spcBef>
            </a:pPr>
            <a:r>
              <a:rPr sz="1200">
                <a:solidFill>
                  <a:srgbClr val="1E293B"/>
                </a:solidFill>
              </a:rPr>
              <a:t>▸ Q32：专业词占位（evap...）；不因难词停止追踪后面的内容</a:t>
            </a:r>
          </a:p>
          <a:p>
            <a:pPr>
              <a:spcBef>
                <a:spcPts val="700"/>
              </a:spcBef>
            </a:pPr>
            <a:r>
              <a:rPr sz="1200">
                <a:solidFill>
                  <a:srgbClr val="1E293B"/>
                </a:solidFill>
              </a:rPr>
              <a:t>▸ 笔记简化：↑↓→=；节省书写时间，把精力放在内容上</a:t>
            </a:r>
          </a:p>
          <a:p>
            <a:pPr>
              <a:spcBef>
                <a:spcPts val="700"/>
              </a:spcBef>
            </a:pPr>
            <a:r>
              <a:rPr sz="1200">
                <a:solidFill>
                  <a:srgbClr val="1E293B"/>
                </a:solidFill>
              </a:rPr>
              <a:t>▸ 预读时标好每题层级位置；听时精准定位每题</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高分范例</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S4摘要填空满分示范</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ectangle 7"/>
          <p:cNvSpPr/>
          <p:nvPr/>
        </p:nvSpPr>
        <p:spPr>
          <a:xfrm>
            <a:off x="548640" y="1188720"/>
            <a:ext cx="11064240" cy="384048"/>
          </a:xfrm>
          <a:prstGeom prst="rect">
            <a:avLst/>
          </a:prstGeom>
          <a:solidFill>
            <a:srgbClr val="072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207008"/>
            <a:ext cx="10789920" cy="347472"/>
          </a:xfrm>
          <a:prstGeom prst="rect">
            <a:avLst/>
          </a:prstGeom>
          <a:noFill/>
        </p:spPr>
        <p:txBody>
          <a:bodyPr wrap="square" anchor="ctr">
            <a:spAutoFit/>
          </a:bodyPr>
          <a:lstStyle/>
          <a:p>
            <a:pPr algn="l"/>
            <a:r>
              <a:rPr sz="1200" b="1" i="0">
                <a:solidFill>
                  <a:srgbClr val="FFFFFF"/>
                </a:solidFill>
                <a:latin typeface="Calibri"/>
              </a:rPr>
              <a:t>题目：Summary: Circular Economy. ONE WORD ONLY.</a:t>
            </a:r>
          </a:p>
        </p:txBody>
      </p:sp>
      <p:sp>
        <p:nvSpPr>
          <p:cNvPr id="10" name="Rounded Rectangle 9"/>
          <p:cNvSpPr/>
          <p:nvPr/>
        </p:nvSpPr>
        <p:spPr>
          <a:xfrm>
            <a:off x="548640" y="1783080"/>
            <a:ext cx="7040880" cy="4160520"/>
          </a:xfrm>
          <a:prstGeom prst="round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920240"/>
            <a:ext cx="6629400" cy="3977639"/>
          </a:xfrm>
          <a:prstGeom prst="rect">
            <a:avLst/>
          </a:prstGeom>
          <a:noFill/>
        </p:spPr>
        <p:txBody>
          <a:bodyPr wrap="square">
            <a:spAutoFit/>
          </a:bodyPr>
          <a:lstStyle/>
          <a:p>
            <a:r>
              <a:rPr sz="1300">
                <a:solidFill>
                  <a:srgbClr val="1E293B"/>
                </a:solidFill>
              </a:rPr>
              <a:t>预读摘要（先理解语义）：
"The circular economy is designed to _______(Q34) waste by reusing materials.
Unlike the _______(Q35) approach, it treats waste as a resource."
听录音追踪：
"...aims to minimise waste..." → Q34=minimise
"...unlike the conventional/linear take-make-dispose model..." → Q35=linear
验证：minimise(动词，符合to后接动词原形); linear(形容词，符合the ___approach)</a:t>
            </a:r>
          </a:p>
        </p:txBody>
      </p:sp>
      <p:sp>
        <p:nvSpPr>
          <p:cNvPr id="12" name="TextBox 11"/>
          <p:cNvSpPr txBox="1"/>
          <p:nvPr/>
        </p:nvSpPr>
        <p:spPr>
          <a:xfrm>
            <a:off x="7772400" y="1783080"/>
            <a:ext cx="3931920" cy="365760"/>
          </a:xfrm>
          <a:prstGeom prst="rect">
            <a:avLst/>
          </a:prstGeom>
          <a:noFill/>
        </p:spPr>
        <p:txBody>
          <a:bodyPr wrap="square" anchor="t">
            <a:spAutoFit/>
          </a:bodyPr>
          <a:lstStyle/>
          <a:p>
            <a:pPr algn="l"/>
            <a:r>
              <a:rPr sz="1300" b="1" i="0">
                <a:solidFill>
                  <a:srgbClr val="12A594"/>
                </a:solidFill>
                <a:latin typeface="Calibri"/>
              </a:rPr>
              <a:t>✍ 得分点批注</a:t>
            </a:r>
          </a:p>
        </p:txBody>
      </p:sp>
      <p:sp>
        <p:nvSpPr>
          <p:cNvPr id="13" name="TextBox 12"/>
          <p:cNvSpPr txBox="1"/>
          <p:nvPr/>
        </p:nvSpPr>
        <p:spPr>
          <a:xfrm>
            <a:off x="7772400" y="2194560"/>
            <a:ext cx="3931920" cy="3703320"/>
          </a:xfrm>
          <a:prstGeom prst="rect">
            <a:avLst/>
          </a:prstGeom>
          <a:noFill/>
        </p:spPr>
        <p:txBody>
          <a:bodyPr wrap="square">
            <a:spAutoFit/>
          </a:bodyPr>
          <a:lstStyle/>
          <a:p>
            <a:r>
              <a:rPr sz="1200">
                <a:solidFill>
                  <a:srgbClr val="1E293B"/>
                </a:solidFill>
              </a:rPr>
              <a:t>▸ 预读摘要时标注每空的词性要求：Q34=动词；Q35=形容词</a:t>
            </a:r>
          </a:p>
          <a:p>
            <a:pPr>
              <a:spcBef>
                <a:spcPts val="700"/>
              </a:spcBef>
            </a:pPr>
            <a:r>
              <a:rPr sz="1200">
                <a:solidFill>
                  <a:srgbClr val="1E293B"/>
                </a:solidFill>
              </a:rPr>
              <a:t>▸ 同义替换识别：minimize=minimise; linear/conventional=linear</a:t>
            </a:r>
          </a:p>
          <a:p>
            <a:pPr>
              <a:spcBef>
                <a:spcPts val="700"/>
              </a:spcBef>
            </a:pPr>
            <a:r>
              <a:rPr sz="1200">
                <a:solidFill>
                  <a:srgbClr val="1E293B"/>
                </a:solidFill>
              </a:rPr>
              <a:t>▸ ONE WORD：不能填"waste minimisation"（两词），只填"minimise"</a:t>
            </a:r>
          </a:p>
          <a:p>
            <a:pPr>
              <a:spcBef>
                <a:spcPts val="700"/>
              </a:spcBef>
            </a:pPr>
            <a:r>
              <a:rPr sz="1200">
                <a:solidFill>
                  <a:srgbClr val="1E293B"/>
                </a:solidFill>
              </a:rPr>
              <a:t>▸ 词性验证：Q35 "the ___ approach"→需要形容词→linear✓</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对比示范</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S4应对：跟丢放弃 vs 重定位继续</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ectangle 7"/>
          <p:cNvSpPr/>
          <p:nvPr/>
        </p:nvSpPr>
        <p:spPr>
          <a:xfrm>
            <a:off x="548640" y="1188720"/>
            <a:ext cx="5486400" cy="457200"/>
          </a:xfrm>
          <a:prstGeom prst="rect">
            <a:avLst/>
          </a:prstGeom>
          <a:solidFill>
            <a:srgbClr val="C0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16152"/>
            <a:ext cx="5212080" cy="402336"/>
          </a:xfrm>
          <a:prstGeom prst="rect">
            <a:avLst/>
          </a:prstGeom>
          <a:noFill/>
        </p:spPr>
        <p:txBody>
          <a:bodyPr wrap="square" anchor="ctr">
            <a:spAutoFit/>
          </a:bodyPr>
          <a:lstStyle/>
          <a:p>
            <a:pPr algn="l"/>
            <a:r>
              <a:rPr sz="1400" b="1" i="0">
                <a:solidFill>
                  <a:srgbClr val="FFFFFF"/>
                </a:solidFill>
                <a:latin typeface="Calibri"/>
              </a:rPr>
              <a:t>❌ 跟丢后放弃</a:t>
            </a:r>
          </a:p>
        </p:txBody>
      </p:sp>
      <p:sp>
        <p:nvSpPr>
          <p:cNvPr id="10" name="Rectangle 9"/>
          <p:cNvSpPr/>
          <p:nvPr/>
        </p:nvSpPr>
        <p:spPr>
          <a:xfrm>
            <a:off x="6172200" y="1188720"/>
            <a:ext cx="5486400" cy="45720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216152"/>
            <a:ext cx="5212080" cy="402336"/>
          </a:xfrm>
          <a:prstGeom prst="rect">
            <a:avLst/>
          </a:prstGeom>
          <a:noFill/>
        </p:spPr>
        <p:txBody>
          <a:bodyPr wrap="square" anchor="ctr">
            <a:spAutoFit/>
          </a:bodyPr>
          <a:lstStyle/>
          <a:p>
            <a:pPr algn="l"/>
            <a:r>
              <a:rPr sz="1400" b="1" i="0">
                <a:solidFill>
                  <a:srgbClr val="FFFFFF"/>
                </a:solidFill>
                <a:latin typeface="Calibri"/>
              </a:rPr>
              <a:t>✅ 跟丢后重定位</a:t>
            </a:r>
          </a:p>
        </p:txBody>
      </p:sp>
      <p:sp>
        <p:nvSpPr>
          <p:cNvPr id="12" name="Rounded Rectangle 11"/>
          <p:cNvSpPr/>
          <p:nvPr/>
        </p:nvSpPr>
        <p:spPr>
          <a:xfrm>
            <a:off x="548640" y="1737360"/>
            <a:ext cx="5486400" cy="448056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72200" y="1737360"/>
            <a:ext cx="5486400" cy="4480560"/>
          </a:xfrm>
          <a:prstGeom prst="roundRect">
            <a:avLst/>
          </a:prstGeom>
          <a:solidFill>
            <a:srgbClr val="EA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20240"/>
            <a:ext cx="5074920" cy="4114800"/>
          </a:xfrm>
          <a:prstGeom prst="rect">
            <a:avLst/>
          </a:prstGeom>
          <a:noFill/>
        </p:spPr>
        <p:txBody>
          <a:bodyPr wrap="square">
            <a:spAutoFit/>
          </a:bodyPr>
          <a:lstStyle/>
          <a:p>
            <a:r>
              <a:rPr sz="1350">
                <a:solidFill>
                  <a:srgbClr val="C02A2A"/>
                </a:solidFill>
              </a:rPr>
              <a:t>✗ S4第一句没听懂，产生恐慌</a:t>
            </a:r>
          </a:p>
          <a:p>
            <a:pPr>
              <a:spcBef>
                <a:spcPts val="700"/>
              </a:spcBef>
            </a:pPr>
            <a:r>
              <a:rPr sz="1350">
                <a:solidFill>
                  <a:srgbClr val="C02A2A"/>
                </a:solidFill>
              </a:rPr>
              <a:t>✗ 后面9题全部放弃或乱猜</a:t>
            </a:r>
          </a:p>
          <a:p>
            <a:pPr>
              <a:spcBef>
                <a:spcPts val="700"/>
              </a:spcBef>
            </a:pPr>
            <a:r>
              <a:rPr sz="1350">
                <a:solidFill>
                  <a:srgbClr val="C02A2A"/>
                </a:solidFill>
              </a:rPr>
              <a:t>✗ 留空白：5道题得0分</a:t>
            </a:r>
          </a:p>
          <a:p>
            <a:pPr>
              <a:spcBef>
                <a:spcPts val="700"/>
              </a:spcBef>
            </a:pPr>
            <a:r>
              <a:rPr sz="1350">
                <a:solidFill>
                  <a:srgbClr val="C02A2A"/>
                </a:solidFill>
              </a:rPr>
              <a:t>✗ 觉得S4太难，等着结束</a:t>
            </a:r>
          </a:p>
          <a:p>
            <a:pPr>
              <a:spcBef>
                <a:spcPts val="700"/>
              </a:spcBef>
            </a:pPr>
            <a:r>
              <a:rPr sz="1350">
                <a:solidFill>
                  <a:srgbClr val="C02A2A"/>
                </a:solidFill>
              </a:rPr>
              <a:t>✗ 对AWL词汇陌生→完全蒙</a:t>
            </a:r>
          </a:p>
        </p:txBody>
      </p:sp>
      <p:sp>
        <p:nvSpPr>
          <p:cNvPr id="15" name="TextBox 14"/>
          <p:cNvSpPr txBox="1"/>
          <p:nvPr/>
        </p:nvSpPr>
        <p:spPr>
          <a:xfrm>
            <a:off x="6400800" y="1920240"/>
            <a:ext cx="5074920" cy="4114800"/>
          </a:xfrm>
          <a:prstGeom prst="rect">
            <a:avLst/>
          </a:prstGeom>
          <a:noFill/>
        </p:spPr>
        <p:txBody>
          <a:bodyPr wrap="square">
            <a:spAutoFit/>
          </a:bodyPr>
          <a:lstStyle/>
          <a:p>
            <a:r>
              <a:rPr sz="1350">
                <a:solidFill>
                  <a:srgbClr val="1B7A3D"/>
                </a:solidFill>
              </a:rPr>
              <a:t>✓ 跟丢立刻停止回想；往前看</a:t>
            </a:r>
          </a:p>
          <a:p>
            <a:pPr>
              <a:spcBef>
                <a:spcPts val="700"/>
              </a:spcBef>
            </a:pPr>
            <a:r>
              <a:rPr sz="1350">
                <a:solidFill>
                  <a:srgbClr val="1B7A3D"/>
                </a:solidFill>
              </a:rPr>
              <a:t>✓ 找下一题关键词等锚点出现</a:t>
            </a:r>
          </a:p>
          <a:p>
            <a:pPr>
              <a:spcBef>
                <a:spcPts val="700"/>
              </a:spcBef>
            </a:pPr>
            <a:r>
              <a:rPr sz="1350">
                <a:solidFill>
                  <a:srgbClr val="1B7A3D"/>
                </a:solidFill>
              </a:rPr>
              <a:t>✓ 跟丢的题用语义猜填；不留空</a:t>
            </a:r>
          </a:p>
          <a:p>
            <a:pPr>
              <a:spcBef>
                <a:spcPts val="700"/>
              </a:spcBef>
            </a:pPr>
            <a:r>
              <a:rPr sz="1350">
                <a:solidFill>
                  <a:srgbClr val="1B7A3D"/>
                </a:solidFill>
              </a:rPr>
              <a:t>✓ AWL词按音节占位；誊写补全</a:t>
            </a:r>
          </a:p>
          <a:p>
            <a:pPr>
              <a:spcBef>
                <a:spcPts val="700"/>
              </a:spcBef>
            </a:pPr>
            <a:r>
              <a:rPr sz="1350">
                <a:solidFill>
                  <a:srgbClr val="1B7A3D"/>
                </a:solidFill>
              </a:rPr>
              <a:t>✓ S4对5题以上=已经很好</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对比示范</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笔记填空：违规 vs 合规</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ectangle 7"/>
          <p:cNvSpPr/>
          <p:nvPr/>
        </p:nvSpPr>
        <p:spPr>
          <a:xfrm>
            <a:off x="548640" y="1188720"/>
            <a:ext cx="5486400" cy="457200"/>
          </a:xfrm>
          <a:prstGeom prst="rect">
            <a:avLst/>
          </a:prstGeom>
          <a:solidFill>
            <a:srgbClr val="C0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16152"/>
            <a:ext cx="5212080" cy="402336"/>
          </a:xfrm>
          <a:prstGeom prst="rect">
            <a:avLst/>
          </a:prstGeom>
          <a:noFill/>
        </p:spPr>
        <p:txBody>
          <a:bodyPr wrap="square" anchor="ctr">
            <a:spAutoFit/>
          </a:bodyPr>
          <a:lstStyle/>
          <a:p>
            <a:pPr algn="l"/>
            <a:r>
              <a:rPr sz="1400" b="1" i="0">
                <a:solidFill>
                  <a:srgbClr val="FFFFFF"/>
                </a:solidFill>
                <a:latin typeface="Calibri"/>
              </a:rPr>
              <a:t>❌ 限词违规失分</a:t>
            </a:r>
          </a:p>
        </p:txBody>
      </p:sp>
      <p:sp>
        <p:nvSpPr>
          <p:cNvPr id="10" name="Rectangle 9"/>
          <p:cNvSpPr/>
          <p:nvPr/>
        </p:nvSpPr>
        <p:spPr>
          <a:xfrm>
            <a:off x="6172200" y="1188720"/>
            <a:ext cx="5486400" cy="45720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216152"/>
            <a:ext cx="5212080" cy="402336"/>
          </a:xfrm>
          <a:prstGeom prst="rect">
            <a:avLst/>
          </a:prstGeom>
          <a:noFill/>
        </p:spPr>
        <p:txBody>
          <a:bodyPr wrap="square" anchor="ctr">
            <a:spAutoFit/>
          </a:bodyPr>
          <a:lstStyle/>
          <a:p>
            <a:pPr algn="l"/>
            <a:r>
              <a:rPr sz="1400" b="1" i="0">
                <a:solidFill>
                  <a:srgbClr val="FFFFFF"/>
                </a:solidFill>
                <a:latin typeface="Calibri"/>
              </a:rPr>
              <a:t>✅ 限词合规满分</a:t>
            </a:r>
          </a:p>
        </p:txBody>
      </p:sp>
      <p:sp>
        <p:nvSpPr>
          <p:cNvPr id="12" name="Rounded Rectangle 11"/>
          <p:cNvSpPr/>
          <p:nvPr/>
        </p:nvSpPr>
        <p:spPr>
          <a:xfrm>
            <a:off x="548640" y="1737360"/>
            <a:ext cx="5486400" cy="448056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72200" y="1737360"/>
            <a:ext cx="5486400" cy="4480560"/>
          </a:xfrm>
          <a:prstGeom prst="roundRect">
            <a:avLst/>
          </a:prstGeom>
          <a:solidFill>
            <a:srgbClr val="EA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20240"/>
            <a:ext cx="5074920" cy="4114800"/>
          </a:xfrm>
          <a:prstGeom prst="rect">
            <a:avLst/>
          </a:prstGeom>
          <a:noFill/>
        </p:spPr>
        <p:txBody>
          <a:bodyPr wrap="square">
            <a:spAutoFit/>
          </a:bodyPr>
          <a:lstStyle/>
          <a:p>
            <a:r>
              <a:rPr sz="1350">
                <a:solidFill>
                  <a:srgbClr val="C02A2A"/>
                </a:solidFill>
              </a:rPr>
              <a:t>✗ ONE WORD：填了"the swimming pool"(3词)</a:t>
            </a:r>
          </a:p>
          <a:p>
            <a:pPr>
              <a:spcBef>
                <a:spcPts val="700"/>
              </a:spcBef>
            </a:pPr>
            <a:r>
              <a:rPr sz="1350">
                <a:solidFill>
                  <a:srgbClr val="C02A2A"/>
                </a:solidFill>
              </a:rPr>
              <a:t>✗ TWO WORDS：填了"the rapidly increasing"(3词)</a:t>
            </a:r>
          </a:p>
          <a:p>
            <a:pPr>
              <a:spcBef>
                <a:spcPts val="700"/>
              </a:spcBef>
            </a:pPr>
            <a:r>
              <a:rPr sz="1350">
                <a:solidFill>
                  <a:srgbClr val="C02A2A"/>
                </a:solidFill>
              </a:rPr>
              <a:t>✗ A NUMBER：填了"about fifty"而非"50"</a:t>
            </a:r>
          </a:p>
          <a:p>
            <a:pPr>
              <a:spcBef>
                <a:spcPts val="700"/>
              </a:spcBef>
            </a:pPr>
            <a:r>
              <a:rPr sz="1350">
                <a:solidFill>
                  <a:srgbClr val="C02A2A"/>
                </a:solidFill>
              </a:rPr>
              <a:t>✗ 没有检查：写完直接交卷</a:t>
            </a:r>
          </a:p>
          <a:p>
            <a:pPr>
              <a:spcBef>
                <a:spcPts val="700"/>
              </a:spcBef>
            </a:pPr>
            <a:r>
              <a:rPr sz="1350">
                <a:solidFill>
                  <a:srgbClr val="C02A2A"/>
                </a:solidFill>
              </a:rPr>
              <a:t>✗ 专有名词不大写：january→January</a:t>
            </a:r>
          </a:p>
        </p:txBody>
      </p:sp>
      <p:sp>
        <p:nvSpPr>
          <p:cNvPr id="15" name="TextBox 14"/>
          <p:cNvSpPr txBox="1"/>
          <p:nvPr/>
        </p:nvSpPr>
        <p:spPr>
          <a:xfrm>
            <a:off x="6400800" y="1920240"/>
            <a:ext cx="5074920" cy="4114800"/>
          </a:xfrm>
          <a:prstGeom prst="rect">
            <a:avLst/>
          </a:prstGeom>
          <a:noFill/>
        </p:spPr>
        <p:txBody>
          <a:bodyPr wrap="square">
            <a:spAutoFit/>
          </a:bodyPr>
          <a:lstStyle/>
          <a:p>
            <a:r>
              <a:rPr sz="1350">
                <a:solidFill>
                  <a:srgbClr val="1B7A3D"/>
                </a:solidFill>
              </a:rPr>
              <a:t>✓ ONE WORD：数词，冠词也算；只填1个词</a:t>
            </a:r>
          </a:p>
          <a:p>
            <a:pPr>
              <a:spcBef>
                <a:spcPts val="700"/>
              </a:spcBef>
            </a:pPr>
            <a:r>
              <a:rPr sz="1350">
                <a:solidFill>
                  <a:srgbClr val="1B7A3D"/>
                </a:solidFill>
              </a:rPr>
              <a:t>✓ TWO WORDS：最多2个；冠词算1个</a:t>
            </a:r>
          </a:p>
          <a:p>
            <a:pPr>
              <a:spcBef>
                <a:spcPts val="700"/>
              </a:spcBef>
            </a:pPr>
            <a:r>
              <a:rPr sz="1350">
                <a:solidFill>
                  <a:srgbClr val="1B7A3D"/>
                </a:solidFill>
              </a:rPr>
              <a:t>✓ A NUMBER：写数字"50"不写文字</a:t>
            </a:r>
          </a:p>
          <a:p>
            <a:pPr>
              <a:spcBef>
                <a:spcPts val="700"/>
              </a:spcBef>
            </a:pPr>
            <a:r>
              <a:rPr sz="1350">
                <a:solidFill>
                  <a:srgbClr val="1B7A3D"/>
                </a:solidFill>
              </a:rPr>
              <a:t>✓ 誊写前：逐空数词数，检查限词</a:t>
            </a:r>
          </a:p>
          <a:p>
            <a:pPr>
              <a:spcBef>
                <a:spcPts val="700"/>
              </a:spcBef>
            </a:pPr>
            <a:r>
              <a:rPr sz="1350">
                <a:solidFill>
                  <a:srgbClr val="1B7A3D"/>
                </a:solidFill>
              </a:rPr>
              <a:t>✓ 专有名词：月份/星期/地名首字母大写</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2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12A594"/>
                </a:solidFill>
                <a:latin typeface="Calibri"/>
              </a:rPr>
              <a:t>PART 07</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课堂练习</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Practice Drills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课堂练习</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练习1：AWL词汇音节分解</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ounded Rectangle 7"/>
          <p:cNvSpPr/>
          <p:nvPr/>
        </p:nvSpPr>
        <p:spPr>
          <a:xfrm>
            <a:off x="548640" y="1188720"/>
            <a:ext cx="11064240" cy="640080"/>
          </a:xfrm>
          <a:prstGeom prst="round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61872"/>
            <a:ext cx="10607040" cy="502920"/>
          </a:xfrm>
          <a:prstGeom prst="rect">
            <a:avLst/>
          </a:prstGeom>
          <a:noFill/>
        </p:spPr>
        <p:txBody>
          <a:bodyPr wrap="square" anchor="ctr">
            <a:spAutoFit/>
          </a:bodyPr>
          <a:lstStyle/>
          <a:p>
            <a:pPr algn="l"/>
            <a:r>
              <a:rPr sz="1400" b="1" i="0">
                <a:solidFill>
                  <a:srgbClr val="FFFFFF"/>
                </a:solidFill>
                <a:latin typeface="Calibri"/>
              </a:rPr>
              <a:t>📝 以下AWL词，逐音节读出，标出重音位置</a:t>
            </a:r>
          </a:p>
        </p:txBody>
      </p:sp>
      <p:sp>
        <p:nvSpPr>
          <p:cNvPr id="10" name="TextBox 9"/>
          <p:cNvSpPr txBox="1"/>
          <p:nvPr/>
        </p:nvSpPr>
        <p:spPr>
          <a:xfrm>
            <a:off x="640080" y="2057400"/>
            <a:ext cx="10972800" cy="4206240"/>
          </a:xfrm>
          <a:prstGeom prst="rect">
            <a:avLst/>
          </a:prstGeom>
          <a:noFill/>
        </p:spPr>
        <p:txBody>
          <a:bodyPr wrap="square">
            <a:spAutoFit/>
          </a:bodyPr>
          <a:lstStyle/>
          <a:p>
            <a:r>
              <a:rPr sz="1500">
                <a:solidFill>
                  <a:srgbClr val="1E293B"/>
                </a:solidFill>
              </a:rPr>
              <a:t>▢ 1. methodology → meth-od-OL-o-gy（5音节，重音第3）</a:t>
            </a:r>
          </a:p>
          <a:p>
            <a:pPr>
              <a:spcBef>
                <a:spcPts val="1100"/>
              </a:spcBef>
            </a:pPr>
            <a:r>
              <a:rPr sz="1500">
                <a:solidFill>
                  <a:srgbClr val="1E293B"/>
                </a:solidFill>
              </a:rPr>
              <a:t>▢ 2. significant → sig-NIF-i-cant（4音节，重音第2）</a:t>
            </a:r>
          </a:p>
          <a:p>
            <a:pPr>
              <a:spcBef>
                <a:spcPts val="1100"/>
              </a:spcBef>
            </a:pPr>
            <a:r>
              <a:rPr sz="1500">
                <a:solidFill>
                  <a:srgbClr val="1E293B"/>
                </a:solidFill>
              </a:rPr>
              <a:t>▢ 3. sustainable → sus-TAIN-a-ble（4音节，重音第2）</a:t>
            </a:r>
          </a:p>
          <a:p>
            <a:pPr>
              <a:spcBef>
                <a:spcPts val="1100"/>
              </a:spcBef>
            </a:pPr>
            <a:r>
              <a:rPr sz="1500">
                <a:solidFill>
                  <a:srgbClr val="1E293B"/>
                </a:solidFill>
              </a:rPr>
              <a:t>▢ 4. evapotranspiration → e-VAP-o-trans-pi-RA-tion（7音节）</a:t>
            </a:r>
          </a:p>
          <a:p>
            <a:pPr>
              <a:spcBef>
                <a:spcPts val="1100"/>
              </a:spcBef>
            </a:pPr>
            <a:r>
              <a:rPr sz="1500">
                <a:solidFill>
                  <a:srgbClr val="1E293B"/>
                </a:solidFill>
              </a:rPr>
              <a:t>▢ 5. entrepreneurship → en-tre-pre-NEUR-ship（5音节，重音第4）</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课堂练习</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练习2：限词检查</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ounded Rectangle 7"/>
          <p:cNvSpPr/>
          <p:nvPr/>
        </p:nvSpPr>
        <p:spPr>
          <a:xfrm>
            <a:off x="548640" y="1188720"/>
            <a:ext cx="11064240" cy="640080"/>
          </a:xfrm>
          <a:prstGeom prst="round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61872"/>
            <a:ext cx="10607040" cy="502920"/>
          </a:xfrm>
          <a:prstGeom prst="rect">
            <a:avLst/>
          </a:prstGeom>
          <a:noFill/>
        </p:spPr>
        <p:txBody>
          <a:bodyPr wrap="square" anchor="ctr">
            <a:spAutoFit/>
          </a:bodyPr>
          <a:lstStyle/>
          <a:p>
            <a:pPr algn="l"/>
            <a:r>
              <a:rPr sz="1400" b="1" i="0">
                <a:solidFill>
                  <a:srgbClr val="FFFFFF"/>
                </a:solidFill>
                <a:latin typeface="Calibri"/>
              </a:rPr>
              <a:t>📝 以下答案是否符合"NO MORE THAN TWO WORDS"？</a:t>
            </a:r>
          </a:p>
        </p:txBody>
      </p:sp>
      <p:sp>
        <p:nvSpPr>
          <p:cNvPr id="10" name="TextBox 9"/>
          <p:cNvSpPr txBox="1"/>
          <p:nvPr/>
        </p:nvSpPr>
        <p:spPr>
          <a:xfrm>
            <a:off x="640080" y="2057400"/>
            <a:ext cx="10972800" cy="4206240"/>
          </a:xfrm>
          <a:prstGeom prst="rect">
            <a:avLst/>
          </a:prstGeom>
          <a:noFill/>
        </p:spPr>
        <p:txBody>
          <a:bodyPr wrap="square">
            <a:spAutoFit/>
          </a:bodyPr>
          <a:lstStyle/>
          <a:p>
            <a:r>
              <a:rPr sz="1500">
                <a:solidFill>
                  <a:srgbClr val="1E293B"/>
                </a:solidFill>
              </a:rPr>
              <a:t>▢ "the swimming pool" → 合规还是违规？（冠词算词）</a:t>
            </a:r>
          </a:p>
          <a:p>
            <a:pPr>
              <a:spcBef>
                <a:spcPts val="1100"/>
              </a:spcBef>
            </a:pPr>
            <a:r>
              <a:rPr sz="1500">
                <a:solidFill>
                  <a:srgbClr val="1E293B"/>
                </a:solidFill>
              </a:rPr>
              <a:t>▢ "swimming pool" → 合规还是违规？</a:t>
            </a:r>
          </a:p>
          <a:p>
            <a:pPr>
              <a:spcBef>
                <a:spcPts val="1100"/>
              </a:spcBef>
            </a:pPr>
            <a:r>
              <a:rPr sz="1500">
                <a:solidFill>
                  <a:srgbClr val="1E293B"/>
                </a:solidFill>
              </a:rPr>
              <a:t>▢ "rapidly increasing" → 合规还是违规？</a:t>
            </a:r>
          </a:p>
          <a:p>
            <a:pPr>
              <a:spcBef>
                <a:spcPts val="1100"/>
              </a:spcBef>
            </a:pPr>
            <a:r>
              <a:rPr sz="1500">
                <a:solidFill>
                  <a:srgbClr val="1E293B"/>
                </a:solidFill>
              </a:rPr>
              <a:t>▢ "very rapidly" → 合规还是违规？</a:t>
            </a:r>
          </a:p>
          <a:p>
            <a:pPr>
              <a:spcBef>
                <a:spcPts val="1100"/>
              </a:spcBef>
            </a:pPr>
            <a:r>
              <a:rPr sz="1500">
                <a:solidFill>
                  <a:srgbClr val="1E293B"/>
                </a:solidFill>
              </a:rPr>
              <a:t>▢ "50" → 如果限制是ONE WORD AND/OR A NUMBER → ?</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课堂练习</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练习3：AWL词汇占位法练习</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ounded Rectangle 7"/>
          <p:cNvSpPr/>
          <p:nvPr/>
        </p:nvSpPr>
        <p:spPr>
          <a:xfrm>
            <a:off x="548640" y="1188720"/>
            <a:ext cx="11064240" cy="640080"/>
          </a:xfrm>
          <a:prstGeom prst="round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61872"/>
            <a:ext cx="10607040" cy="502920"/>
          </a:xfrm>
          <a:prstGeom prst="rect">
            <a:avLst/>
          </a:prstGeom>
          <a:noFill/>
        </p:spPr>
        <p:txBody>
          <a:bodyPr wrap="square" anchor="ctr">
            <a:spAutoFit/>
          </a:bodyPr>
          <a:lstStyle/>
          <a:p>
            <a:pPr algn="l"/>
            <a:r>
              <a:rPr sz="1400" b="1" i="0">
                <a:solidFill>
                  <a:srgbClr val="FFFFFF"/>
                </a:solidFill>
                <a:latin typeface="Calibri"/>
              </a:rPr>
              <a:t>📝 老师说以下句子，用占位法记录划线词</a:t>
            </a:r>
          </a:p>
        </p:txBody>
      </p:sp>
      <p:sp>
        <p:nvSpPr>
          <p:cNvPr id="10" name="TextBox 9"/>
          <p:cNvSpPr txBox="1"/>
          <p:nvPr/>
        </p:nvSpPr>
        <p:spPr>
          <a:xfrm>
            <a:off x="640080" y="2057400"/>
            <a:ext cx="10972800" cy="4206240"/>
          </a:xfrm>
          <a:prstGeom prst="rect">
            <a:avLst/>
          </a:prstGeom>
          <a:noFill/>
        </p:spPr>
        <p:txBody>
          <a:bodyPr wrap="square">
            <a:spAutoFit/>
          </a:bodyPr>
          <a:lstStyle/>
          <a:p>
            <a:r>
              <a:rPr sz="1500">
                <a:solidFill>
                  <a:srgbClr val="1E293B"/>
                </a:solidFill>
              </a:rPr>
              <a:t>▢ 1. "The main hypothesis of the study is..." → 写出hypothesis的占位</a:t>
            </a:r>
          </a:p>
          <a:p>
            <a:pPr>
              <a:spcBef>
                <a:spcPts val="1100"/>
              </a:spcBef>
            </a:pPr>
            <a:r>
              <a:rPr sz="1500">
                <a:solidFill>
                  <a:srgbClr val="1E293B"/>
                </a:solidFill>
              </a:rPr>
              <a:t>▢ 2. "Researchers demonstrated that biodiversity affects..." → 写biodiversity占位</a:t>
            </a:r>
          </a:p>
          <a:p>
            <a:pPr>
              <a:spcBef>
                <a:spcPts val="1100"/>
              </a:spcBef>
            </a:pPr>
            <a:r>
              <a:rPr sz="1500">
                <a:solidFill>
                  <a:srgbClr val="1E293B"/>
                </a:solidFill>
              </a:rPr>
              <a:t>▢ 3. "The methodology involved quantitative analysis..." → 写methodology占位</a:t>
            </a:r>
          </a:p>
          <a:p>
            <a:pPr>
              <a:spcBef>
                <a:spcPts val="1100"/>
              </a:spcBef>
            </a:pPr>
            <a:r>
              <a:rPr sz="1500">
                <a:solidFill>
                  <a:srgbClr val="1E293B"/>
                </a:solidFill>
              </a:rPr>
              <a:t>▢ 4. "This has significant implications for sustainability..." → 写implications占位</a:t>
            </a:r>
          </a:p>
          <a:p>
            <a:pPr>
              <a:spcBef>
                <a:spcPts val="1100"/>
              </a:spcBef>
            </a:pPr>
            <a:r>
              <a:rPr sz="1500">
                <a:solidFill>
                  <a:srgbClr val="1E293B"/>
                </a:solidFill>
              </a:rPr>
              <a:t>▢ 完成后：核对你的占位是否能帮助誊写时识别完整词</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课堂练习</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练习4：摘要填空词性预判</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ounded Rectangle 7"/>
          <p:cNvSpPr/>
          <p:nvPr/>
        </p:nvSpPr>
        <p:spPr>
          <a:xfrm>
            <a:off x="548640" y="1188720"/>
            <a:ext cx="11064240" cy="640080"/>
          </a:xfrm>
          <a:prstGeom prst="round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61872"/>
            <a:ext cx="10607040" cy="502920"/>
          </a:xfrm>
          <a:prstGeom prst="rect">
            <a:avLst/>
          </a:prstGeom>
          <a:noFill/>
        </p:spPr>
        <p:txBody>
          <a:bodyPr wrap="square" anchor="ctr">
            <a:spAutoFit/>
          </a:bodyPr>
          <a:lstStyle/>
          <a:p>
            <a:pPr algn="l"/>
            <a:r>
              <a:rPr sz="1400" b="1" i="0">
                <a:solidFill>
                  <a:srgbClr val="FFFFFF"/>
                </a:solidFill>
                <a:latin typeface="Calibri"/>
              </a:rPr>
              <a:t>📝 预读以下摘要，标出每空需要的词性（名词/动词/形容词）</a:t>
            </a:r>
          </a:p>
        </p:txBody>
      </p:sp>
      <p:sp>
        <p:nvSpPr>
          <p:cNvPr id="10" name="TextBox 9"/>
          <p:cNvSpPr txBox="1"/>
          <p:nvPr/>
        </p:nvSpPr>
        <p:spPr>
          <a:xfrm>
            <a:off x="640080" y="2057400"/>
            <a:ext cx="10972800" cy="4206240"/>
          </a:xfrm>
          <a:prstGeom prst="rect">
            <a:avLst/>
          </a:prstGeom>
          <a:noFill/>
        </p:spPr>
        <p:txBody>
          <a:bodyPr wrap="square">
            <a:spAutoFit/>
          </a:bodyPr>
          <a:lstStyle/>
          <a:p>
            <a:r>
              <a:rPr sz="1500">
                <a:solidFill>
                  <a:srgbClr val="1E293B"/>
                </a:solidFill>
              </a:rPr>
              <a:t>▢ The researcher _______(Q31) that pollution levels had risen.  → 词性：?</a:t>
            </a:r>
          </a:p>
          <a:p>
            <a:pPr>
              <a:spcBef>
                <a:spcPts val="1100"/>
              </a:spcBef>
            </a:pPr>
            <a:r>
              <a:rPr sz="1500">
                <a:solidFill>
                  <a:srgbClr val="1E293B"/>
                </a:solidFill>
              </a:rPr>
              <a:t>▢ The main _______(Q32) of climate change include rising seas. → 词性：?</a:t>
            </a:r>
          </a:p>
          <a:p>
            <a:pPr>
              <a:spcBef>
                <a:spcPts val="1100"/>
              </a:spcBef>
            </a:pPr>
            <a:r>
              <a:rPr sz="1500">
                <a:solidFill>
                  <a:srgbClr val="1E293B"/>
                </a:solidFill>
              </a:rPr>
              <a:t>▢ Scientists use _______(Q33) methods to measure temperature.  → 词性：?</a:t>
            </a:r>
          </a:p>
          <a:p>
            <a:pPr>
              <a:spcBef>
                <a:spcPts val="1100"/>
              </a:spcBef>
            </a:pPr>
            <a:r>
              <a:rPr sz="1500">
                <a:solidFill>
                  <a:srgbClr val="1E293B"/>
                </a:solidFill>
              </a:rPr>
              <a:t>▢ The results were _______(Q34) in three major journals.       → 词性：?</a:t>
            </a:r>
          </a:p>
          <a:p>
            <a:pPr>
              <a:spcBef>
                <a:spcPts val="1100"/>
              </a:spcBef>
            </a:pPr>
            <a:r>
              <a:rPr sz="1500">
                <a:solidFill>
                  <a:srgbClr val="1E293B"/>
                </a:solidFill>
              </a:rPr>
              <a:t>▢ 参考：Q31=动词(过去式)  Q32=名词(复数)  Q33=形容词  Q34=动词(被动)</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课堂练习</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练习5：S4综合模拟</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ounded Rectangle 7"/>
          <p:cNvSpPr/>
          <p:nvPr/>
        </p:nvSpPr>
        <p:spPr>
          <a:xfrm>
            <a:off x="548640" y="1188720"/>
            <a:ext cx="11064240" cy="640080"/>
          </a:xfrm>
          <a:prstGeom prst="round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61872"/>
            <a:ext cx="10607040" cy="502920"/>
          </a:xfrm>
          <a:prstGeom prst="rect">
            <a:avLst/>
          </a:prstGeom>
          <a:noFill/>
        </p:spPr>
        <p:txBody>
          <a:bodyPr wrap="square" anchor="ctr">
            <a:spAutoFit/>
          </a:bodyPr>
          <a:lstStyle/>
          <a:p>
            <a:pPr algn="l"/>
            <a:r>
              <a:rPr sz="1400" b="1" i="0">
                <a:solidFill>
                  <a:srgbClr val="FFFFFF"/>
                </a:solidFill>
                <a:latin typeface="Calibri"/>
              </a:rPr>
              <a:t>📝 完整S4模拟：预读→追踪→占位→誊写四阶段</a:t>
            </a:r>
          </a:p>
        </p:txBody>
      </p:sp>
      <p:sp>
        <p:nvSpPr>
          <p:cNvPr id="10" name="TextBox 9"/>
          <p:cNvSpPr txBox="1"/>
          <p:nvPr/>
        </p:nvSpPr>
        <p:spPr>
          <a:xfrm>
            <a:off x="640080" y="2057400"/>
            <a:ext cx="10972800" cy="4206240"/>
          </a:xfrm>
          <a:prstGeom prst="rect">
            <a:avLst/>
          </a:prstGeom>
          <a:noFill/>
        </p:spPr>
        <p:txBody>
          <a:bodyPr wrap="square">
            <a:spAutoFit/>
          </a:bodyPr>
          <a:lstStyle/>
          <a:p>
            <a:r>
              <a:rPr sz="1500">
                <a:solidFill>
                  <a:srgbClr val="1E293B"/>
                </a:solidFill>
              </a:rPr>
              <a:t>▢ 第一阶段（45秒）：预读Q31-40，圈关键词，预判词性</a:t>
            </a:r>
          </a:p>
          <a:p>
            <a:pPr>
              <a:spcBef>
                <a:spcPts val="1100"/>
              </a:spcBef>
            </a:pPr>
            <a:r>
              <a:rPr sz="1500">
                <a:solidFill>
                  <a:srgbClr val="1E293B"/>
                </a:solidFill>
              </a:rPr>
              <a:t>▢ 第二阶段（实时）：边听边写，专业词占位，不因难词停止</a:t>
            </a:r>
          </a:p>
          <a:p>
            <a:pPr>
              <a:spcBef>
                <a:spcPts val="1100"/>
              </a:spcBef>
            </a:pPr>
            <a:r>
              <a:rPr sz="1500">
                <a:solidFill>
                  <a:srgbClr val="1E293B"/>
                </a:solidFill>
              </a:rPr>
              <a:t>▢ 第三阶段（10分钟，纸笔考）：誊写，补全占位词，检查限词</a:t>
            </a:r>
          </a:p>
          <a:p>
            <a:pPr>
              <a:spcBef>
                <a:spcPts val="1100"/>
              </a:spcBef>
            </a:pPr>
            <a:r>
              <a:rPr sz="1500">
                <a:solidFill>
                  <a:srgbClr val="1E293B"/>
                </a:solidFill>
              </a:rPr>
              <a:t>▢ 第四阶段（分析）：分类失分：词汇不认识/跟丢/限词违规</a:t>
            </a:r>
          </a:p>
          <a:p>
            <a:pPr>
              <a:spcBef>
                <a:spcPts val="1100"/>
              </a:spcBef>
            </a:pPr>
            <a:r>
              <a:rPr sz="1500">
                <a:solidFill>
                  <a:srgbClr val="1E293B"/>
                </a:solidFill>
              </a:rPr>
              <a:t>▢ 目标：本节课S4对5题以上；每节课提升1题是合理速度</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2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12A594"/>
                </a:solidFill>
                <a:latin typeface="Calibri"/>
              </a:rPr>
              <a:t>PART 08</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避坑指南</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Pitfall Prevention</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7A16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000" b="1" i="0">
                <a:solidFill>
                  <a:srgbClr val="FFFFFF"/>
                </a:solidFill>
                <a:latin typeface="Calibri"/>
              </a:rPr>
              <a:t>🎯 深圳学生高频痛点 · S4最典型的4类失分</a:t>
            </a:r>
          </a:p>
        </p:txBody>
      </p:sp>
      <p:sp>
        <p:nvSpPr>
          <p:cNvPr id="6" name="TextBox 5"/>
          <p:cNvSpPr txBox="1"/>
          <p:nvPr/>
        </p:nvSpPr>
        <p:spPr>
          <a:xfrm>
            <a:off x="548640" y="1143000"/>
            <a:ext cx="5486400" cy="411480"/>
          </a:xfrm>
          <a:prstGeom prst="rect">
            <a:avLst/>
          </a:prstGeom>
          <a:noFill/>
        </p:spPr>
        <p:txBody>
          <a:bodyPr wrap="square" anchor="t">
            <a:spAutoFit/>
          </a:bodyPr>
          <a:lstStyle/>
          <a:p>
            <a:pPr algn="l"/>
            <a:r>
              <a:rPr sz="1500" b="1" i="0">
                <a:solidFill>
                  <a:srgbClr val="C02A2A"/>
                </a:solidFill>
                <a:latin typeface="Calibri"/>
              </a:rPr>
              <a:t>❌ 常见误区</a:t>
            </a:r>
          </a:p>
        </p:txBody>
      </p:sp>
      <p:sp>
        <p:nvSpPr>
          <p:cNvPr id="7" name="TextBox 6"/>
          <p:cNvSpPr txBox="1"/>
          <p:nvPr/>
        </p:nvSpPr>
        <p:spPr>
          <a:xfrm>
            <a:off x="548640" y="1645920"/>
            <a:ext cx="5486400" cy="4572000"/>
          </a:xfrm>
          <a:prstGeom prst="rect">
            <a:avLst/>
          </a:prstGeom>
          <a:noFill/>
        </p:spPr>
        <p:txBody>
          <a:bodyPr wrap="square">
            <a:spAutoFit/>
          </a:bodyPr>
          <a:lstStyle/>
          <a:p>
            <a:r>
              <a:rPr sz="1400">
                <a:solidFill>
                  <a:srgbClr val="C02A2A"/>
                </a:solidFill>
              </a:rPr>
              <a:t>✗ 第一句没听懂→放弃全场——恐慌是最大的失分</a:t>
            </a:r>
          </a:p>
          <a:p>
            <a:pPr>
              <a:spcBef>
                <a:spcPts val="800"/>
              </a:spcBef>
            </a:pPr>
            <a:r>
              <a:rPr sz="1400">
                <a:solidFill>
                  <a:srgbClr val="C02A2A"/>
                </a:solidFill>
              </a:rPr>
              <a:t>✗ AWL词汇不认识→空着→0分（哪怕猜都比空着好）</a:t>
            </a:r>
          </a:p>
          <a:p>
            <a:pPr>
              <a:spcBef>
                <a:spcPts val="800"/>
              </a:spcBef>
            </a:pPr>
            <a:r>
              <a:rPr sz="1400">
                <a:solidFill>
                  <a:srgbClr val="C02A2A"/>
                </a:solidFill>
              </a:rPr>
              <a:t>✗ 摘要填空超出限词→ONE WORD写了两个→0分</a:t>
            </a:r>
          </a:p>
          <a:p>
            <a:pPr>
              <a:spcBef>
                <a:spcPts val="800"/>
              </a:spcBef>
            </a:pPr>
            <a:r>
              <a:rPr sz="1400">
                <a:solidFill>
                  <a:srgbClr val="C02A2A"/>
                </a:solidFill>
              </a:rPr>
              <a:t>✗ 专业词拼错→听对了写错→得0分</a:t>
            </a:r>
          </a:p>
        </p:txBody>
      </p:sp>
      <p:sp>
        <p:nvSpPr>
          <p:cNvPr id="8" name="Rectangle 7"/>
          <p:cNvSpPr/>
          <p:nvPr/>
        </p:nvSpPr>
        <p:spPr>
          <a:xfrm>
            <a:off x="6108192" y="1097280"/>
            <a:ext cx="36576" cy="5212080"/>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143000"/>
            <a:ext cx="5486400" cy="411480"/>
          </a:xfrm>
          <a:prstGeom prst="rect">
            <a:avLst/>
          </a:prstGeom>
          <a:noFill/>
        </p:spPr>
        <p:txBody>
          <a:bodyPr wrap="square" anchor="t">
            <a:spAutoFit/>
          </a:bodyPr>
          <a:lstStyle/>
          <a:p>
            <a:pPr algn="l"/>
            <a:r>
              <a:rPr sz="1500" b="1" i="0">
                <a:solidFill>
                  <a:srgbClr val="1B7A3D"/>
                </a:solidFill>
                <a:latin typeface="Calibri"/>
              </a:rPr>
              <a:t>✅ 正确做法</a:t>
            </a:r>
          </a:p>
        </p:txBody>
      </p:sp>
      <p:sp>
        <p:nvSpPr>
          <p:cNvPr id="10" name="TextBox 9"/>
          <p:cNvSpPr txBox="1"/>
          <p:nvPr/>
        </p:nvSpPr>
        <p:spPr>
          <a:xfrm>
            <a:off x="6309360" y="1645920"/>
            <a:ext cx="5394960" cy="4572000"/>
          </a:xfrm>
          <a:prstGeom prst="rect">
            <a:avLst/>
          </a:prstGeom>
          <a:noFill/>
        </p:spPr>
        <p:txBody>
          <a:bodyPr wrap="square">
            <a:spAutoFit/>
          </a:bodyPr>
          <a:lstStyle/>
          <a:p>
            <a:r>
              <a:rPr sz="1400">
                <a:solidFill>
                  <a:srgbClr val="1B7A3D"/>
                </a:solidFill>
              </a:rPr>
              <a:t>✓ 第一句没懂：正常！继续听，用第二三句补上语境</a:t>
            </a:r>
          </a:p>
          <a:p>
            <a:pPr>
              <a:spcBef>
                <a:spcPts val="800"/>
              </a:spcBef>
            </a:pPr>
            <a:r>
              <a:rPr sz="1400">
                <a:solidFill>
                  <a:srgbClr val="1B7A3D"/>
                </a:solidFill>
              </a:rPr>
              <a:t>✓ AWL词不认识：写首字母占位；誊写时结合上下文猜拼写</a:t>
            </a:r>
          </a:p>
          <a:p>
            <a:pPr>
              <a:spcBef>
                <a:spcPts val="800"/>
              </a:spcBef>
            </a:pPr>
            <a:r>
              <a:rPr sz="1400">
                <a:solidFill>
                  <a:srgbClr val="1B7A3D"/>
                </a:solidFill>
              </a:rPr>
              <a:t>✓ 每次做摘要前：重新看限词要求；写完立刻数词数</a:t>
            </a:r>
          </a:p>
          <a:p>
            <a:pPr>
              <a:spcBef>
                <a:spcPts val="800"/>
              </a:spcBef>
            </a:pPr>
            <a:r>
              <a:rPr sz="1400">
                <a:solidFill>
                  <a:srgbClr val="1B7A3D"/>
                </a:solidFill>
              </a:rPr>
              <a:t>✓ 专业词：按音节占位；誊写时用词典/记忆/推断补全</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S4笔记填空高频词类</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7" name="TextBox 6"/>
          <p:cNvSpPr txBox="1"/>
          <p:nvPr/>
        </p:nvSpPr>
        <p:spPr>
          <a:xfrm>
            <a:off x="640080" y="1234440"/>
            <a:ext cx="10972800" cy="4572000"/>
          </a:xfrm>
          <a:prstGeom prst="rect">
            <a:avLst/>
          </a:prstGeom>
          <a:noFill/>
        </p:spPr>
        <p:txBody>
          <a:bodyPr wrap="square">
            <a:spAutoFit/>
          </a:bodyPr>
          <a:lstStyle/>
          <a:p>
            <a:r>
              <a:rPr sz="1850" b="1">
                <a:solidFill>
                  <a:srgbClr val="0F4C5C"/>
                </a:solidFill>
              </a:rPr>
              <a:t>• 数字类</a:t>
            </a:r>
          </a:p>
          <a:p>
            <a:pPr>
              <a:spcBef>
                <a:spcPts val="100"/>
              </a:spcBef>
            </a:pPr>
            <a:r>
              <a:rPr sz="1550">
                <a:solidFill>
                  <a:srgbClr val="556075"/>
                </a:solidFill>
              </a:rPr>
              <a:t>   年份/百分比/数量——最多要求ONE WORD AND/OR A NUMBER</a:t>
            </a:r>
          </a:p>
          <a:p>
            <a:pPr>
              <a:spcBef>
                <a:spcPts val="1000"/>
              </a:spcBef>
            </a:pPr>
            <a:r>
              <a:rPr sz="1850" b="1">
                <a:solidFill>
                  <a:srgbClr val="0F4C5C"/>
                </a:solidFill>
              </a:rPr>
              <a:t>• 专有名词</a:t>
            </a:r>
          </a:p>
          <a:p>
            <a:pPr>
              <a:spcBef>
                <a:spcPts val="100"/>
              </a:spcBef>
            </a:pPr>
            <a:r>
              <a:rPr sz="1550">
                <a:solidFill>
                  <a:srgbClr val="556075"/>
                </a:solidFill>
              </a:rPr>
              <a:t>   地名/人名/机构名——首字母必须大写</a:t>
            </a:r>
          </a:p>
          <a:p>
            <a:pPr>
              <a:spcBef>
                <a:spcPts val="1000"/>
              </a:spcBef>
            </a:pPr>
            <a:r>
              <a:rPr sz="1850" b="1">
                <a:solidFill>
                  <a:srgbClr val="0F4C5C"/>
                </a:solidFill>
              </a:rPr>
              <a:t>• 学术动词</a:t>
            </a:r>
          </a:p>
          <a:p>
            <a:pPr>
              <a:spcBef>
                <a:spcPts val="100"/>
              </a:spcBef>
            </a:pPr>
            <a:r>
              <a:rPr sz="1550">
                <a:solidFill>
                  <a:srgbClr val="556075"/>
                </a:solidFill>
              </a:rPr>
              <a:t>   analyse/identify/implement——词根+词缀记忆</a:t>
            </a:r>
          </a:p>
          <a:p>
            <a:pPr>
              <a:spcBef>
                <a:spcPts val="1000"/>
              </a:spcBef>
            </a:pPr>
            <a:r>
              <a:rPr sz="1850" b="1">
                <a:solidFill>
                  <a:srgbClr val="0F4C5C"/>
                </a:solidFill>
              </a:rPr>
              <a:t>• 形容词</a:t>
            </a:r>
          </a:p>
          <a:p>
            <a:pPr>
              <a:spcBef>
                <a:spcPts val="100"/>
              </a:spcBef>
            </a:pPr>
            <a:r>
              <a:rPr sz="1550">
                <a:solidFill>
                  <a:srgbClr val="556075"/>
                </a:solidFill>
              </a:rPr>
              <a:t>   修饰关键名词——空格前通常有the/a/an或名词</a:t>
            </a:r>
          </a:p>
          <a:p>
            <a:pPr>
              <a:spcBef>
                <a:spcPts val="1000"/>
              </a:spcBef>
            </a:pPr>
            <a:r>
              <a:rPr sz="1850" b="1">
                <a:solidFill>
                  <a:srgbClr val="0F4C5C"/>
                </a:solidFill>
              </a:rPr>
              <a:t>• 名词短语</a:t>
            </a:r>
          </a:p>
          <a:p>
            <a:pPr>
              <a:spcBef>
                <a:spcPts val="100"/>
              </a:spcBef>
            </a:pPr>
            <a:r>
              <a:rPr sz="1550">
                <a:solidFill>
                  <a:srgbClr val="556075"/>
                </a:solidFill>
              </a:rPr>
              <a:t>   两词答案——确认限词是TWO WORDS才能写两个</a:t>
            </a:r>
          </a:p>
        </p:txBody>
      </p:sp>
      <p:sp>
        <p:nvSpPr>
          <p:cNvPr id="8" name="Rectangle 7"/>
          <p:cNvSpPr/>
          <p:nvPr/>
        </p:nvSpPr>
        <p:spPr>
          <a:xfrm>
            <a:off x="548640" y="5989320"/>
            <a:ext cx="11064240" cy="548640"/>
          </a:xfrm>
          <a:prstGeom prst="rect">
            <a:avLst/>
          </a:prstGeom>
          <a:solidFill>
            <a:srgbClr val="FDF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035040"/>
            <a:ext cx="10698480" cy="457200"/>
          </a:xfrm>
          <a:prstGeom prst="rect">
            <a:avLst/>
          </a:prstGeom>
          <a:noFill/>
        </p:spPr>
        <p:txBody>
          <a:bodyPr wrap="square" anchor="ctr">
            <a:spAutoFit/>
          </a:bodyPr>
          <a:lstStyle/>
          <a:p>
            <a:pPr algn="l"/>
            <a:r>
              <a:rPr sz="1250" b="0" i="1">
                <a:solidFill>
                  <a:srgbClr val="C02A2A"/>
                </a:solidFill>
                <a:latin typeface="Calibri"/>
              </a:rPr>
              <a:t>⚠ 深圳学生注意：S4笔记填空约80%答案是单词；20%是两词短语——预判词性的价值很高</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S4备考策略</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850" b="1">
                <a:solidFill>
                  <a:srgbClr val="0F4C5C"/>
                </a:solidFill>
              </a:rPr>
              <a:t>• 短期</a:t>
            </a:r>
          </a:p>
          <a:p>
            <a:pPr>
              <a:spcBef>
                <a:spcPts val="100"/>
              </a:spcBef>
            </a:pPr>
            <a:r>
              <a:rPr sz="1550">
                <a:solidFill>
                  <a:srgbClr val="556075"/>
                </a:solidFill>
              </a:rPr>
              <a:t>   每天精听一段S4真题（3分钟）；对照原文标出陌生词</a:t>
            </a:r>
          </a:p>
          <a:p>
            <a:pPr>
              <a:spcBef>
                <a:spcPts val="1000"/>
              </a:spcBef>
            </a:pPr>
            <a:r>
              <a:rPr sz="1850" b="1">
                <a:solidFill>
                  <a:srgbClr val="0F4C5C"/>
                </a:solidFill>
              </a:rPr>
              <a:t>• 中期</a:t>
            </a:r>
          </a:p>
          <a:p>
            <a:pPr>
              <a:spcBef>
                <a:spcPts val="100"/>
              </a:spcBef>
            </a:pPr>
            <a:r>
              <a:rPr sz="1550">
                <a:solidFill>
                  <a:srgbClr val="556075"/>
                </a:solidFill>
              </a:rPr>
              <a:t>   每周背30个AWL词，重点是"听音识义"而非"会写"</a:t>
            </a:r>
          </a:p>
          <a:p>
            <a:pPr>
              <a:spcBef>
                <a:spcPts val="1000"/>
              </a:spcBef>
            </a:pPr>
            <a:r>
              <a:rPr sz="1850" b="1">
                <a:solidFill>
                  <a:srgbClr val="0F4C5C"/>
                </a:solidFill>
              </a:rPr>
              <a:t>• 长期</a:t>
            </a:r>
          </a:p>
          <a:p>
            <a:pPr>
              <a:spcBef>
                <a:spcPts val="100"/>
              </a:spcBef>
            </a:pPr>
            <a:r>
              <a:rPr sz="1550">
                <a:solidFill>
                  <a:srgbClr val="556075"/>
                </a:solidFill>
              </a:rPr>
              <a:t>   积累S4错题本：分类——词汇/跟丢/限词三类分别统计</a:t>
            </a:r>
          </a:p>
          <a:p>
            <a:pPr>
              <a:spcBef>
                <a:spcPts val="1000"/>
              </a:spcBef>
            </a:pPr>
            <a:r>
              <a:rPr sz="1850" b="1">
                <a:solidFill>
                  <a:srgbClr val="0F4C5C"/>
                </a:solidFill>
              </a:rPr>
              <a:t>• 模拟</a:t>
            </a:r>
          </a:p>
          <a:p>
            <a:pPr>
              <a:spcBef>
                <a:spcPts val="100"/>
              </a:spcBef>
            </a:pPr>
            <a:r>
              <a:rPr sz="1550">
                <a:solidFill>
                  <a:srgbClr val="556075"/>
                </a:solidFill>
              </a:rPr>
              <a:t>   每周一套完整模拟；S4要计时；模拟后精析每道错题</a:t>
            </a:r>
          </a:p>
          <a:p>
            <a:pPr>
              <a:spcBef>
                <a:spcPts val="1000"/>
              </a:spcBef>
            </a:pPr>
            <a:r>
              <a:rPr sz="1850" b="1">
                <a:solidFill>
                  <a:srgbClr val="0F4C5C"/>
                </a:solidFill>
              </a:rPr>
              <a:t>• 心态</a:t>
            </a:r>
          </a:p>
          <a:p>
            <a:pPr>
              <a:spcBef>
                <a:spcPts val="100"/>
              </a:spcBef>
            </a:pPr>
            <a:r>
              <a:rPr sz="1550">
                <a:solidFill>
                  <a:srgbClr val="556075"/>
                </a:solidFill>
              </a:rPr>
              <a:t>   S4从来不要求完美；对5-6题=7分区间；继续提升即可</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技巧速记</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S4笔记填空速记卡</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ounded Rectangle 7"/>
          <p:cNvSpPr/>
          <p:nvPr/>
        </p:nvSpPr>
        <p:spPr>
          <a:xfrm>
            <a:off x="548640" y="1234440"/>
            <a:ext cx="5486400" cy="1463040"/>
          </a:xfrm>
          <a:prstGeom prst="round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34440"/>
            <a:ext cx="109728" cy="146304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325880"/>
            <a:ext cx="5029200" cy="411480"/>
          </a:xfrm>
          <a:prstGeom prst="rect">
            <a:avLst/>
          </a:prstGeom>
          <a:noFill/>
        </p:spPr>
        <p:txBody>
          <a:bodyPr wrap="square" anchor="t">
            <a:spAutoFit/>
          </a:bodyPr>
          <a:lstStyle/>
          <a:p>
            <a:pPr algn="l"/>
            <a:r>
              <a:rPr sz="1400" b="1" i="0">
                <a:solidFill>
                  <a:srgbClr val="0F4C5C"/>
                </a:solidFill>
                <a:latin typeface="Calibri"/>
              </a:rPr>
              <a:t>预读必做</a:t>
            </a:r>
          </a:p>
        </p:txBody>
      </p:sp>
      <p:sp>
        <p:nvSpPr>
          <p:cNvPr id="11" name="TextBox 10"/>
          <p:cNvSpPr txBox="1"/>
          <p:nvPr/>
        </p:nvSpPr>
        <p:spPr>
          <a:xfrm>
            <a:off x="822959" y="1737360"/>
            <a:ext cx="5029200" cy="914400"/>
          </a:xfrm>
          <a:prstGeom prst="rect">
            <a:avLst/>
          </a:prstGeom>
          <a:noFill/>
        </p:spPr>
        <p:txBody>
          <a:bodyPr wrap="square" anchor="t">
            <a:spAutoFit/>
          </a:bodyPr>
          <a:lstStyle/>
          <a:p>
            <a:pPr algn="l"/>
            <a:r>
              <a:rPr sz="1250" b="0" i="0">
                <a:solidFill>
                  <a:srgbClr val="556075"/>
                </a:solidFill>
                <a:latin typeface="Calibri"/>
              </a:rPr>
              <a:t>45秒：看笔记结构，圈空格关键词，预判每空词性——这决定成败</a:t>
            </a:r>
          </a:p>
        </p:txBody>
      </p:sp>
      <p:sp>
        <p:nvSpPr>
          <p:cNvPr id="12" name="Rounded Rectangle 11"/>
          <p:cNvSpPr/>
          <p:nvPr/>
        </p:nvSpPr>
        <p:spPr>
          <a:xfrm>
            <a:off x="6355079" y="1234440"/>
            <a:ext cx="5486400" cy="1463040"/>
          </a:xfrm>
          <a:prstGeom prst="round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79" y="1234440"/>
            <a:ext cx="109728" cy="146304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399" y="1325880"/>
            <a:ext cx="5029200" cy="411480"/>
          </a:xfrm>
          <a:prstGeom prst="rect">
            <a:avLst/>
          </a:prstGeom>
          <a:noFill/>
        </p:spPr>
        <p:txBody>
          <a:bodyPr wrap="square" anchor="t">
            <a:spAutoFit/>
          </a:bodyPr>
          <a:lstStyle/>
          <a:p>
            <a:pPr algn="l"/>
            <a:r>
              <a:rPr sz="1400" b="1" i="0">
                <a:solidFill>
                  <a:srgbClr val="0F4C5C"/>
                </a:solidFill>
                <a:latin typeface="Calibri"/>
              </a:rPr>
              <a:t>占位法</a:t>
            </a:r>
          </a:p>
        </p:txBody>
      </p:sp>
      <p:sp>
        <p:nvSpPr>
          <p:cNvPr id="15" name="TextBox 14"/>
          <p:cNvSpPr txBox="1"/>
          <p:nvPr/>
        </p:nvSpPr>
        <p:spPr>
          <a:xfrm>
            <a:off x="6629399" y="1737360"/>
            <a:ext cx="5029200" cy="914400"/>
          </a:xfrm>
          <a:prstGeom prst="rect">
            <a:avLst/>
          </a:prstGeom>
          <a:noFill/>
        </p:spPr>
        <p:txBody>
          <a:bodyPr wrap="square" anchor="t">
            <a:spAutoFit/>
          </a:bodyPr>
          <a:lstStyle/>
          <a:p>
            <a:pPr algn="l"/>
            <a:r>
              <a:rPr sz="1250" b="0" i="0">
                <a:solidFill>
                  <a:srgbClr val="556075"/>
                </a:solidFill>
                <a:latin typeface="Calibri"/>
              </a:rPr>
              <a:t>专业词：写首2字母+划线占位；不因一词停止追踪后面的内容</a:t>
            </a:r>
          </a:p>
        </p:txBody>
      </p:sp>
      <p:sp>
        <p:nvSpPr>
          <p:cNvPr id="16" name="Rounded Rectangle 15"/>
          <p:cNvSpPr/>
          <p:nvPr/>
        </p:nvSpPr>
        <p:spPr>
          <a:xfrm>
            <a:off x="548640" y="2926080"/>
            <a:ext cx="5486400" cy="1463040"/>
          </a:xfrm>
          <a:prstGeom prst="round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926080"/>
            <a:ext cx="109728" cy="146304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3017520"/>
            <a:ext cx="5029200" cy="411480"/>
          </a:xfrm>
          <a:prstGeom prst="rect">
            <a:avLst/>
          </a:prstGeom>
          <a:noFill/>
        </p:spPr>
        <p:txBody>
          <a:bodyPr wrap="square" anchor="t">
            <a:spAutoFit/>
          </a:bodyPr>
          <a:lstStyle/>
          <a:p>
            <a:pPr algn="l"/>
            <a:r>
              <a:rPr sz="1400" b="1" i="0">
                <a:solidFill>
                  <a:srgbClr val="0F4C5C"/>
                </a:solidFill>
                <a:latin typeface="Calibri"/>
              </a:rPr>
              <a:t>限词铁律</a:t>
            </a:r>
          </a:p>
        </p:txBody>
      </p:sp>
      <p:sp>
        <p:nvSpPr>
          <p:cNvPr id="19" name="TextBox 18"/>
          <p:cNvSpPr txBox="1"/>
          <p:nvPr/>
        </p:nvSpPr>
        <p:spPr>
          <a:xfrm>
            <a:off x="822959" y="3429000"/>
            <a:ext cx="5029200" cy="914400"/>
          </a:xfrm>
          <a:prstGeom prst="rect">
            <a:avLst/>
          </a:prstGeom>
          <a:noFill/>
        </p:spPr>
        <p:txBody>
          <a:bodyPr wrap="square" anchor="t">
            <a:spAutoFit/>
          </a:bodyPr>
          <a:lstStyle/>
          <a:p>
            <a:pPr algn="l"/>
            <a:r>
              <a:rPr sz="1250" b="0" i="0">
                <a:solidFill>
                  <a:srgbClr val="556075"/>
                </a:solidFill>
                <a:latin typeface="Calibri"/>
              </a:rPr>
              <a:t>写完每空立刻数词数；ONE WORD只填1个；TWO WORDS最多2个</a:t>
            </a:r>
          </a:p>
        </p:txBody>
      </p:sp>
      <p:sp>
        <p:nvSpPr>
          <p:cNvPr id="20" name="Rounded Rectangle 19"/>
          <p:cNvSpPr/>
          <p:nvPr/>
        </p:nvSpPr>
        <p:spPr>
          <a:xfrm>
            <a:off x="6355079" y="2926080"/>
            <a:ext cx="5486400" cy="1463040"/>
          </a:xfrm>
          <a:prstGeom prst="round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79" y="2926080"/>
            <a:ext cx="109728" cy="146304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399" y="3017520"/>
            <a:ext cx="5029200" cy="411480"/>
          </a:xfrm>
          <a:prstGeom prst="rect">
            <a:avLst/>
          </a:prstGeom>
          <a:noFill/>
        </p:spPr>
        <p:txBody>
          <a:bodyPr wrap="square" anchor="t">
            <a:spAutoFit/>
          </a:bodyPr>
          <a:lstStyle/>
          <a:p>
            <a:pPr algn="l"/>
            <a:r>
              <a:rPr sz="1400" b="1" i="0">
                <a:solidFill>
                  <a:srgbClr val="0F4C5C"/>
                </a:solidFill>
                <a:latin typeface="Calibri"/>
              </a:rPr>
              <a:t>誊写五检</a:t>
            </a:r>
          </a:p>
        </p:txBody>
      </p:sp>
      <p:sp>
        <p:nvSpPr>
          <p:cNvPr id="23" name="TextBox 22"/>
          <p:cNvSpPr txBox="1"/>
          <p:nvPr/>
        </p:nvSpPr>
        <p:spPr>
          <a:xfrm>
            <a:off x="6629399" y="3429000"/>
            <a:ext cx="5029200" cy="914400"/>
          </a:xfrm>
          <a:prstGeom prst="rect">
            <a:avLst/>
          </a:prstGeom>
          <a:noFill/>
        </p:spPr>
        <p:txBody>
          <a:bodyPr wrap="square" anchor="t">
            <a:spAutoFit/>
          </a:bodyPr>
          <a:lstStyle/>
          <a:p>
            <a:pPr algn="l"/>
            <a:r>
              <a:rPr sz="1250" b="0" i="0">
                <a:solidFill>
                  <a:srgbClr val="556075"/>
                </a:solidFill>
                <a:latin typeface="Calibri"/>
              </a:rPr>
              <a:t>词数/大小写/复数/拼写/数字格式——5项逐一检查</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技巧速记</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AWL词汇速记卡</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ounded Rectangle 7"/>
          <p:cNvSpPr/>
          <p:nvPr/>
        </p:nvSpPr>
        <p:spPr>
          <a:xfrm>
            <a:off x="548640" y="1234440"/>
            <a:ext cx="5486400" cy="1463040"/>
          </a:xfrm>
          <a:prstGeom prst="round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34440"/>
            <a:ext cx="109728" cy="146304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325880"/>
            <a:ext cx="5029200" cy="411480"/>
          </a:xfrm>
          <a:prstGeom prst="rect">
            <a:avLst/>
          </a:prstGeom>
          <a:noFill/>
        </p:spPr>
        <p:txBody>
          <a:bodyPr wrap="square" anchor="t">
            <a:spAutoFit/>
          </a:bodyPr>
          <a:lstStyle/>
          <a:p>
            <a:pPr algn="l"/>
            <a:r>
              <a:rPr sz="1400" b="1" i="0">
                <a:solidFill>
                  <a:srgbClr val="0F4C5C"/>
                </a:solidFill>
                <a:latin typeface="Calibri"/>
              </a:rPr>
              <a:t>听辨优先</a:t>
            </a:r>
          </a:p>
        </p:txBody>
      </p:sp>
      <p:sp>
        <p:nvSpPr>
          <p:cNvPr id="11" name="TextBox 10"/>
          <p:cNvSpPr txBox="1"/>
          <p:nvPr/>
        </p:nvSpPr>
        <p:spPr>
          <a:xfrm>
            <a:off x="822959" y="1737360"/>
            <a:ext cx="5029200" cy="914400"/>
          </a:xfrm>
          <a:prstGeom prst="rect">
            <a:avLst/>
          </a:prstGeom>
          <a:noFill/>
        </p:spPr>
        <p:txBody>
          <a:bodyPr wrap="square" anchor="t">
            <a:spAutoFit/>
          </a:bodyPr>
          <a:lstStyle/>
          <a:p>
            <a:pPr algn="l"/>
            <a:r>
              <a:rPr sz="1250" b="0" i="0">
                <a:solidFill>
                  <a:srgbClr val="556075"/>
                </a:solidFill>
                <a:latin typeface="Calibri"/>
              </a:rPr>
              <a:t>AWL核心300词目标：听到音能认出意思；不要求全会写</a:t>
            </a:r>
          </a:p>
        </p:txBody>
      </p:sp>
      <p:sp>
        <p:nvSpPr>
          <p:cNvPr id="12" name="Rounded Rectangle 11"/>
          <p:cNvSpPr/>
          <p:nvPr/>
        </p:nvSpPr>
        <p:spPr>
          <a:xfrm>
            <a:off x="6355079" y="1234440"/>
            <a:ext cx="5486400" cy="1463040"/>
          </a:xfrm>
          <a:prstGeom prst="round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79" y="1234440"/>
            <a:ext cx="109728" cy="146304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399" y="1325880"/>
            <a:ext cx="5029200" cy="411480"/>
          </a:xfrm>
          <a:prstGeom prst="rect">
            <a:avLst/>
          </a:prstGeom>
          <a:noFill/>
        </p:spPr>
        <p:txBody>
          <a:bodyPr wrap="square" anchor="t">
            <a:spAutoFit/>
          </a:bodyPr>
          <a:lstStyle/>
          <a:p>
            <a:pPr algn="l"/>
            <a:r>
              <a:rPr sz="1400" b="1" i="0">
                <a:solidFill>
                  <a:srgbClr val="0F4C5C"/>
                </a:solidFill>
                <a:latin typeface="Calibri"/>
              </a:rPr>
              <a:t>重音节法</a:t>
            </a:r>
          </a:p>
        </p:txBody>
      </p:sp>
      <p:sp>
        <p:nvSpPr>
          <p:cNvPr id="15" name="TextBox 14"/>
          <p:cNvSpPr txBox="1"/>
          <p:nvPr/>
        </p:nvSpPr>
        <p:spPr>
          <a:xfrm>
            <a:off x="6629399" y="1737360"/>
            <a:ext cx="5029200" cy="914400"/>
          </a:xfrm>
          <a:prstGeom prst="rect">
            <a:avLst/>
          </a:prstGeom>
          <a:noFill/>
        </p:spPr>
        <p:txBody>
          <a:bodyPr wrap="square" anchor="t">
            <a:spAutoFit/>
          </a:bodyPr>
          <a:lstStyle/>
          <a:p>
            <a:pPr algn="l"/>
            <a:r>
              <a:rPr sz="1250" b="0" i="0">
                <a:solidFill>
                  <a:srgbClr val="556075"/>
                </a:solidFill>
                <a:latin typeface="Calibri"/>
              </a:rPr>
              <a:t>每个AWL词找到重音节——重音节是听辨的"身份标记"</a:t>
            </a:r>
          </a:p>
        </p:txBody>
      </p:sp>
      <p:sp>
        <p:nvSpPr>
          <p:cNvPr id="16" name="Rounded Rectangle 15"/>
          <p:cNvSpPr/>
          <p:nvPr/>
        </p:nvSpPr>
        <p:spPr>
          <a:xfrm>
            <a:off x="548640" y="2926080"/>
            <a:ext cx="5486400" cy="1463040"/>
          </a:xfrm>
          <a:prstGeom prst="round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926080"/>
            <a:ext cx="109728" cy="146304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3017520"/>
            <a:ext cx="5029200" cy="411480"/>
          </a:xfrm>
          <a:prstGeom prst="rect">
            <a:avLst/>
          </a:prstGeom>
          <a:noFill/>
        </p:spPr>
        <p:txBody>
          <a:bodyPr wrap="square" anchor="t">
            <a:spAutoFit/>
          </a:bodyPr>
          <a:lstStyle/>
          <a:p>
            <a:pPr algn="l"/>
            <a:r>
              <a:rPr sz="1400" b="1" i="0">
                <a:solidFill>
                  <a:srgbClr val="0F4C5C"/>
                </a:solidFill>
                <a:latin typeface="Calibri"/>
              </a:rPr>
              <a:t>词根词缀</a:t>
            </a:r>
          </a:p>
        </p:txBody>
      </p:sp>
      <p:sp>
        <p:nvSpPr>
          <p:cNvPr id="19" name="TextBox 18"/>
          <p:cNvSpPr txBox="1"/>
          <p:nvPr/>
        </p:nvSpPr>
        <p:spPr>
          <a:xfrm>
            <a:off x="822959" y="3429000"/>
            <a:ext cx="5029200" cy="914400"/>
          </a:xfrm>
          <a:prstGeom prst="rect">
            <a:avLst/>
          </a:prstGeom>
          <a:noFill/>
        </p:spPr>
        <p:txBody>
          <a:bodyPr wrap="square" anchor="t">
            <a:spAutoFit/>
          </a:bodyPr>
          <a:lstStyle/>
          <a:p>
            <a:pPr algn="l"/>
            <a:r>
              <a:rPr sz="1250" b="0" i="0">
                <a:solidFill>
                  <a:srgbClr val="556075"/>
                </a:solidFill>
                <a:latin typeface="Calibri"/>
              </a:rPr>
              <a:t>bio/hydro/geo=词根；-tion/-fy/-ous=词缀——覆盖70%AWL词</a:t>
            </a:r>
          </a:p>
        </p:txBody>
      </p:sp>
      <p:sp>
        <p:nvSpPr>
          <p:cNvPr id="20" name="Rounded Rectangle 19"/>
          <p:cNvSpPr/>
          <p:nvPr/>
        </p:nvSpPr>
        <p:spPr>
          <a:xfrm>
            <a:off x="6355079" y="2926080"/>
            <a:ext cx="5486400" cy="1463040"/>
          </a:xfrm>
          <a:prstGeom prst="round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79" y="2926080"/>
            <a:ext cx="109728" cy="146304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399" y="3017520"/>
            <a:ext cx="5029200" cy="411480"/>
          </a:xfrm>
          <a:prstGeom prst="rect">
            <a:avLst/>
          </a:prstGeom>
          <a:noFill/>
        </p:spPr>
        <p:txBody>
          <a:bodyPr wrap="square" anchor="t">
            <a:spAutoFit/>
          </a:bodyPr>
          <a:lstStyle/>
          <a:p>
            <a:pPr algn="l"/>
            <a:r>
              <a:rPr sz="1400" b="1" i="0">
                <a:solidFill>
                  <a:srgbClr val="0F4C5C"/>
                </a:solidFill>
                <a:latin typeface="Calibri"/>
              </a:rPr>
              <a:t>占位逻辑</a:t>
            </a:r>
          </a:p>
        </p:txBody>
      </p:sp>
      <p:sp>
        <p:nvSpPr>
          <p:cNvPr id="23" name="TextBox 22"/>
          <p:cNvSpPr txBox="1"/>
          <p:nvPr/>
        </p:nvSpPr>
        <p:spPr>
          <a:xfrm>
            <a:off x="6629399" y="3429000"/>
            <a:ext cx="5029200" cy="914400"/>
          </a:xfrm>
          <a:prstGeom prst="rect">
            <a:avLst/>
          </a:prstGeom>
          <a:noFill/>
        </p:spPr>
        <p:txBody>
          <a:bodyPr wrap="square" anchor="t">
            <a:spAutoFit/>
          </a:bodyPr>
          <a:lstStyle/>
          <a:p>
            <a:pPr algn="l"/>
            <a:r>
              <a:rPr sz="1250" b="0" i="0">
                <a:solidFill>
                  <a:srgbClr val="556075"/>
                </a:solidFill>
                <a:latin typeface="Calibri"/>
              </a:rPr>
              <a:t>听到长词：写首字母+音节格；誊写时用上下文+词根补全</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自检清单</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L05 自检清单</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TextBox 7"/>
          <p:cNvSpPr txBox="1"/>
          <p:nvPr/>
        </p:nvSpPr>
        <p:spPr>
          <a:xfrm>
            <a:off x="731520" y="1371600"/>
            <a:ext cx="10789920" cy="4846320"/>
          </a:xfrm>
          <a:prstGeom prst="rect">
            <a:avLst/>
          </a:prstGeom>
          <a:noFill/>
        </p:spPr>
        <p:txBody>
          <a:bodyPr wrap="square">
            <a:spAutoFit/>
          </a:bodyPr>
          <a:lstStyle/>
          <a:p>
            <a:r>
              <a:rPr sz="1600">
                <a:solidFill>
                  <a:srgbClr val="1E293B"/>
                </a:solidFill>
              </a:rPr>
              <a:t>☐ 我知道S4笔记填空的五步解法，且知道每步的作用</a:t>
            </a:r>
          </a:p>
          <a:p>
            <a:pPr>
              <a:spcBef>
                <a:spcPts val="1200"/>
              </a:spcBef>
            </a:pPr>
            <a:r>
              <a:rPr sz="1600">
                <a:solidFill>
                  <a:srgbClr val="1E293B"/>
                </a:solidFill>
              </a:rPr>
              <a:t>☐ 我练习了AWL词汇占位法：首字母+音节格，不因难词停止</a:t>
            </a:r>
          </a:p>
          <a:p>
            <a:pPr>
              <a:spcBef>
                <a:spcPts val="1200"/>
              </a:spcBef>
            </a:pPr>
            <a:r>
              <a:rPr sz="1600">
                <a:solidFill>
                  <a:srgbClr val="1E293B"/>
                </a:solidFill>
              </a:rPr>
              <a:t>☐ 我识别了S4讲座结构信号词：firstly/however/to summarise</a:t>
            </a:r>
          </a:p>
          <a:p>
            <a:pPr>
              <a:spcBef>
                <a:spcPts val="1200"/>
              </a:spcBef>
            </a:pPr>
            <a:r>
              <a:rPr sz="1600">
                <a:solidFill>
                  <a:srgbClr val="1E293B"/>
                </a:solidFill>
              </a:rPr>
              <a:t>☐ 我知道跟丢后的处理：找锚点→重定位→猜填→继续</a:t>
            </a:r>
          </a:p>
          <a:p>
            <a:pPr>
              <a:spcBef>
                <a:spcPts val="1200"/>
              </a:spcBef>
            </a:pPr>
            <a:r>
              <a:rPr sz="1600">
                <a:solidFill>
                  <a:srgbClr val="1E293B"/>
                </a:solidFill>
              </a:rPr>
              <a:t>☐ 我了解S4的现实目标：6分→做对5题；7分→做对7题</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60" cy="685800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058400" cy="731520"/>
          </a:xfrm>
          <a:prstGeom prst="rect">
            <a:avLst/>
          </a:prstGeom>
          <a:noFill/>
        </p:spPr>
        <p:txBody>
          <a:bodyPr wrap="square" anchor="t">
            <a:spAutoFit/>
          </a:bodyPr>
          <a:lstStyle/>
          <a:p>
            <a:pPr algn="l"/>
            <a:r>
              <a:rPr sz="3000" b="1" i="0">
                <a:solidFill>
                  <a:srgbClr val="FFFFFF"/>
                </a:solidFill>
                <a:latin typeface="Calibri"/>
              </a:rPr>
              <a:t>L05 课堂小结</a:t>
            </a:r>
          </a:p>
        </p:txBody>
      </p:sp>
      <p:sp>
        <p:nvSpPr>
          <p:cNvPr id="5" name="TextBox 4"/>
          <p:cNvSpPr txBox="1"/>
          <p:nvPr/>
        </p:nvSpPr>
        <p:spPr>
          <a:xfrm>
            <a:off x="731520" y="1325880"/>
            <a:ext cx="10058400" cy="457200"/>
          </a:xfrm>
          <a:prstGeom prst="rect">
            <a:avLst/>
          </a:prstGeom>
          <a:noFill/>
        </p:spPr>
        <p:txBody>
          <a:bodyPr wrap="square" anchor="t">
            <a:spAutoFit/>
          </a:bodyPr>
          <a:lstStyle/>
          <a:p>
            <a:pPr algn="l"/>
            <a:r>
              <a:rPr sz="1600" b="1" i="0">
                <a:solidFill>
                  <a:srgbClr val="12A594"/>
                </a:solidFill>
                <a:latin typeface="Calibri"/>
              </a:rPr>
              <a:t>📌 本课核心要点</a:t>
            </a:r>
          </a:p>
        </p:txBody>
      </p:sp>
      <p:sp>
        <p:nvSpPr>
          <p:cNvPr id="6" name="TextBox 5"/>
          <p:cNvSpPr txBox="1"/>
          <p:nvPr/>
        </p:nvSpPr>
        <p:spPr>
          <a:xfrm>
            <a:off x="731520" y="1874519"/>
            <a:ext cx="10698480" cy="3474720"/>
          </a:xfrm>
          <a:prstGeom prst="rect">
            <a:avLst/>
          </a:prstGeom>
          <a:noFill/>
        </p:spPr>
        <p:txBody>
          <a:bodyPr wrap="square">
            <a:spAutoFit/>
          </a:bodyPr>
          <a:lstStyle/>
          <a:p>
            <a:r>
              <a:rPr sz="1550">
                <a:solidFill>
                  <a:srgbClr val="FFFFFF"/>
                </a:solidFill>
              </a:rPr>
              <a:t>✓  S4笔记填空：预读预判词性→听时占位→誊写补全→限词检查</a:t>
            </a:r>
          </a:p>
          <a:p>
            <a:pPr>
              <a:spcBef>
                <a:spcPts val="1100"/>
              </a:spcBef>
            </a:pPr>
            <a:r>
              <a:rPr sz="1550">
                <a:solidFill>
                  <a:srgbClr val="FFFFFF"/>
                </a:solidFill>
              </a:rPr>
              <a:t>✓  AWL听辨：重音节识别+词根词缀推断；不要求会写，要求听出来</a:t>
            </a:r>
          </a:p>
          <a:p>
            <a:pPr>
              <a:spcBef>
                <a:spcPts val="1100"/>
              </a:spcBef>
            </a:pPr>
            <a:r>
              <a:rPr sz="1550">
                <a:solidFill>
                  <a:srgbClr val="FFFFFF"/>
                </a:solidFill>
              </a:rPr>
              <a:t>✓  跟丢不放弃：找锚点词重定位；猜填空白；继续往前听</a:t>
            </a:r>
          </a:p>
        </p:txBody>
      </p:sp>
      <p:sp>
        <p:nvSpPr>
          <p:cNvPr id="7" name="Rounded Rectangle 6"/>
          <p:cNvSpPr/>
          <p:nvPr/>
        </p:nvSpPr>
        <p:spPr>
          <a:xfrm>
            <a:off x="731520" y="5486400"/>
            <a:ext cx="10698480" cy="914400"/>
          </a:xfrm>
          <a:prstGeom prst="roundRect">
            <a:avLst/>
          </a:prstGeom>
          <a:solidFill>
            <a:srgbClr val="072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5596128"/>
            <a:ext cx="10332720" cy="731520"/>
          </a:xfrm>
          <a:prstGeom prst="rect">
            <a:avLst/>
          </a:prstGeom>
          <a:noFill/>
        </p:spPr>
        <p:txBody>
          <a:bodyPr wrap="square" anchor="ctr">
            <a:spAutoFit/>
          </a:bodyPr>
          <a:lstStyle/>
          <a:p>
            <a:pPr algn="l"/>
            <a:r>
              <a:rPr sz="1500" b="1" i="0">
                <a:solidFill>
                  <a:srgbClr val="12A594"/>
                </a:solidFill>
                <a:latin typeface="Calibri"/>
              </a:rPr>
              <a:t>💎 一句话记住：S4最大的提分空间在"跟丢后不放弃"——这个心态改变就能多对2-3题</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练习巩固</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L05 课后作业  Homework</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TextBox 7"/>
          <p:cNvSpPr txBox="1"/>
          <p:nvPr/>
        </p:nvSpPr>
        <p:spPr>
          <a:xfrm>
            <a:off x="548640" y="1143000"/>
            <a:ext cx="10058400" cy="365760"/>
          </a:xfrm>
          <a:prstGeom prst="rect">
            <a:avLst/>
          </a:prstGeom>
          <a:noFill/>
        </p:spPr>
        <p:txBody>
          <a:bodyPr wrap="square" anchor="t">
            <a:spAutoFit/>
          </a:bodyPr>
          <a:lstStyle/>
          <a:p>
            <a:pPr algn="l"/>
            <a:r>
              <a:rPr sz="1300" b="1" i="0">
                <a:solidFill>
                  <a:srgbClr val="12A594"/>
                </a:solidFill>
                <a:latin typeface="Calibri"/>
              </a:rPr>
              <a:t>⏱ 建议用时：约60分钟</a:t>
            </a:r>
          </a:p>
        </p:txBody>
      </p:sp>
      <p:sp>
        <p:nvSpPr>
          <p:cNvPr id="9" name="TextBox 8"/>
          <p:cNvSpPr txBox="1"/>
          <p:nvPr/>
        </p:nvSpPr>
        <p:spPr>
          <a:xfrm>
            <a:off x="640080" y="1645920"/>
            <a:ext cx="10972800" cy="4572000"/>
          </a:xfrm>
          <a:prstGeom prst="rect">
            <a:avLst/>
          </a:prstGeom>
          <a:noFill/>
        </p:spPr>
        <p:txBody>
          <a:bodyPr wrap="square">
            <a:spAutoFit/>
          </a:bodyPr>
          <a:lstStyle/>
          <a:p>
            <a:r>
              <a:rPr sz="1550" b="1">
                <a:solidFill>
                  <a:srgbClr val="1E293B"/>
                </a:solidFill>
              </a:rPr>
              <a:t>作业 1　完成剑桥真题2套S4（计时），统计正确率并分类失分原因</a:t>
            </a:r>
          </a:p>
          <a:p>
            <a:pPr>
              <a:spcBef>
                <a:spcPts val="1300"/>
              </a:spcBef>
            </a:pPr>
            <a:r>
              <a:rPr sz="1550" b="1">
                <a:solidFill>
                  <a:srgbClr val="1E293B"/>
                </a:solidFill>
              </a:rPr>
              <a:t>作业 2　背诵AWL核心词汇30个：每天10个，重点是音节分解和听音识义</a:t>
            </a:r>
          </a:p>
          <a:p>
            <a:pPr>
              <a:spcBef>
                <a:spcPts val="1300"/>
              </a:spcBef>
            </a:pPr>
            <a:r>
              <a:rPr sz="1550" b="1">
                <a:solidFill>
                  <a:srgbClr val="1E293B"/>
                </a:solidFill>
              </a:rPr>
              <a:t>作业 3　精析1段S4录音：标出所有信号词和难词，建个人AWL词表</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2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280160"/>
            <a:ext cx="10058400" cy="548640"/>
          </a:xfrm>
          <a:prstGeom prst="rect">
            <a:avLst/>
          </a:prstGeom>
          <a:noFill/>
        </p:spPr>
        <p:txBody>
          <a:bodyPr wrap="square" anchor="t">
            <a:spAutoFit/>
          </a:bodyPr>
          <a:lstStyle/>
          <a:p>
            <a:pPr algn="l"/>
            <a:r>
              <a:rPr sz="1800" b="1" i="0">
                <a:solidFill>
                  <a:srgbClr val="12A594"/>
                </a:solidFill>
                <a:latin typeface="Calibri"/>
              </a:rPr>
              <a:t>下节预告  Next Lesson</a:t>
            </a:r>
          </a:p>
        </p:txBody>
      </p:sp>
      <p:sp>
        <p:nvSpPr>
          <p:cNvPr id="4" name="TextBox 3"/>
          <p:cNvSpPr txBox="1"/>
          <p:nvPr/>
        </p:nvSpPr>
        <p:spPr>
          <a:xfrm>
            <a:off x="914400" y="1920240"/>
            <a:ext cx="10332720" cy="914400"/>
          </a:xfrm>
          <a:prstGeom prst="rect">
            <a:avLst/>
          </a:prstGeom>
          <a:noFill/>
        </p:spPr>
        <p:txBody>
          <a:bodyPr wrap="square" anchor="t">
            <a:spAutoFit/>
          </a:bodyPr>
          <a:lstStyle/>
          <a:p>
            <a:pPr algn="l"/>
            <a:r>
              <a:rPr sz="3000" b="1" i="0">
                <a:solidFill>
                  <a:srgbClr val="FFFFFF"/>
                </a:solidFill>
                <a:latin typeface="Calibri"/>
              </a:rPr>
              <a:t>L06 · 预测技能与关键词定位</a:t>
            </a:r>
          </a:p>
        </p:txBody>
      </p:sp>
      <p:sp>
        <p:nvSpPr>
          <p:cNvPr id="5" name="TextBox 4"/>
          <p:cNvSpPr txBox="1"/>
          <p:nvPr/>
        </p:nvSpPr>
        <p:spPr>
          <a:xfrm>
            <a:off x="914400" y="3200400"/>
            <a:ext cx="10332720" cy="2743200"/>
          </a:xfrm>
          <a:prstGeom prst="rect">
            <a:avLst/>
          </a:prstGeom>
          <a:noFill/>
        </p:spPr>
        <p:txBody>
          <a:bodyPr wrap="square">
            <a:spAutoFit/>
          </a:bodyPr>
          <a:lstStyle/>
          <a:p>
            <a:r>
              <a:rPr sz="1600">
                <a:solidFill>
                  <a:srgbClr val="CFDCF2"/>
                </a:solidFill>
              </a:rPr>
              <a:t>→ 预读系统：从表面预读到深度预判的三层次</a:t>
            </a:r>
          </a:p>
          <a:p>
            <a:pPr>
              <a:spcBef>
                <a:spcPts val="1000"/>
              </a:spcBef>
            </a:pPr>
            <a:r>
              <a:rPr sz="1600">
                <a:solidFill>
                  <a:srgbClr val="CFDCF2"/>
                </a:solidFill>
              </a:rPr>
              <a:t>→ 关键词圈划：20秒圈完10题的操作规范</a:t>
            </a:r>
          </a:p>
          <a:p>
            <a:pPr>
              <a:spcBef>
                <a:spcPts val="1000"/>
              </a:spcBef>
            </a:pPr>
            <a:r>
              <a:rPr sz="1600">
                <a:solidFill>
                  <a:srgbClr val="CFDCF2"/>
                </a:solidFill>
              </a:rPr>
              <a:t>→ 同义替换识别：题目词和录音词的系统对应</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