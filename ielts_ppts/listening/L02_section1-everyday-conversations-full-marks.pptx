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1463040"/>
            <a:ext cx="34134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12A594"/>
                </a:solidFill>
                <a:latin typeface="Calibri"/>
              </a:rPr>
              <a:t>L02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3566160"/>
            <a:ext cx="34134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2A594"/>
                </a:solidFill>
                <a:latin typeface="Calibri"/>
              </a:rPr>
              <a:t>IELTS Listening 听力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680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Section 1
日常对话满分策略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FDCF2"/>
                </a:solidFill>
                <a:latin typeface="Calibri"/>
              </a:rPr>
              <a:t>Section 1: Zero-Loss Perfect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69280"/>
            <a:ext cx="3840480" cy="54864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424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第 2 节课 · 课时 90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本课流程  Lesson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上节回顾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67128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四大高频场景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08376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30秒预读技术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9624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数字专项训练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25880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字母拼读法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67128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例题精讲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008376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课堂练习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849624"/>
            <a:ext cx="566928" cy="566928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895344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867911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小结作业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WARM-UP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上节回顾  Quick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493776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↺ S1-S4梯度：S1语速最慢，必须满分10/10</a:t>
            </a:r>
          </a:p>
          <a:p>
            <a:pPr>
              <a:spcBef>
                <a:spcPts val="1200"/>
              </a:spcBef>
            </a:pPr>
            <a:r>
              <a:rPr sz="1650">
                <a:solidFill>
                  <a:srgbClr val="1E293B"/>
                </a:solidFill>
              </a:rPr>
              <a:t>↺ PRCA：预读→实时→即核→誊检 — 考场的固定流程</a:t>
            </a:r>
          </a:p>
          <a:p>
            <a:pPr>
              <a:spcBef>
                <a:spcPts val="1200"/>
              </a:spcBef>
            </a:pPr>
            <a:r>
              <a:rPr sz="1650">
                <a:solidFill>
                  <a:srgbClr val="1E293B"/>
                </a:solidFill>
              </a:rPr>
              <a:t>↺ 7分需对30题；三类失分：拼写/陷阱/时间管理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学习目标  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4"/>
                </a:solidFill>
                <a:latin typeface="Calibri"/>
              </a:rPr>
              <a:t>完成本课后，你将能够：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E293B"/>
                </a:solidFill>
              </a:rPr>
              <a:t>✦  掌握Section 1四大高频场景的词汇与答题框架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能在30秒内完成S1全部10题的预读和信息类型预判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精准捕捉电话号码/价格/时间/日期/邮编五类数字信息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1E293B"/>
                </a:solidFill>
              </a:rPr>
              <a:t>✦  实现Section 1稳定满分10/10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S1满分明明很近却总差1-2题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预读没完成：录音开始时还在看上一题，第一题已经过了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数字听错：thirteen(13)和thirty(30)混淆，重音位置没注意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只写了first name漏了last name（或反之）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更正陷阱：先说Tuesday，后改Wednesday，写了Tuesday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录音说明时间是黄金30秒，全部用来预读，一秒不浪费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13重音在-teen（thir-TEEN），30重音在thir-（THIR-ty）——靠后缀重音区分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看到Name空格：数空格数量，预判可能有first+last两空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听到actually/sorry/I mean立即划掉候选词，等待更正后的内容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四大高频场景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Four Core Scene Categories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场景一：预约/登记类 Appointment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最高频，超过60%的S1考题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预约诊所/牙医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必考：姓名+联系方式+预约时间+具体要求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健身房/课程登记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必考：姓名+会员类型+费用+起始日期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图书馆/设施预订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必考：借阅卡号+预约时间+特殊说明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高频陷阱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时间更改：先说9月，再改为10月——后说的是答案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关键词信号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appointment/booking/schedule/available/slot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深圳学生注意：预约场景必考更正陷阱——先听，听完再写，不要听到就写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场景二：住宿/租房类 Accommodation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词汇量最大，信息类别最多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学生公寓/宿舍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必考：地址+邮编+月租+押金+设施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民宿/B&amp;B/酒店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必考：房型+价格+入住退房日期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高频词组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furnished/unfurnished; utilities included; deposit/bond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数字密集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地址门牌+邮编+房租+押金——数字类信息集中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陷阱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押金(deposit)和月租(rent)数字互换——听清"deposit"还是"monthly fee"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场景三：旅游/设施类 Tourism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景点/博物馆介绍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必考：开放时间+票价+特殊优惠（学生/老人）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活动/节目安排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必考：日期+地点+报名方式+特殊要求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高频陷阱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"Open every day EXCEPT Sunday" → 题若问关闭日=Sunday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数字类型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票价通常两位数；时间注意am/pm；电话注意区号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表格策略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先确认表头分类，再按行列对应找答案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场景四：社区服务类 Community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图书馆服务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借还书规则、罚款、延期、预约、会员权限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社区课程报名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课程类型+时间+费用+报名截止+资格要求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志愿者活动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时间+地点+联系人+所需技能+培训信息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信息复杂度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多个服务或多个联系方式同时出现，需要区分对应关系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关键词信号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membership/eligible/volunteer/register/deadline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例题：预约场景完整填空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Form Completion: City Fitness Centre. NO MORE THAN ONE WORD AND/OR A NUMBER.
Member name: __________ Hargreaves (Q1)
Membership: __________ (Q2)
Monthly fee: £__________ (Q3)
Start: 1st __________ (Q4)
Locker no: __________ (Q5)
Script: "My first name's Patricia... P-A-T-R-I-C-I-A. I'd like a family membership.
That's £32.50 monthly. Starting the 1st of September. And locker 47B, please."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Q1: Patricia (同步字母拼写P-A-T-R-I-C-I-A)
Q2: family
Q3: 32.50
Q4: September
Q5: 47B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Q5: 数字+字母组合，47B缺任何一部分都是0分；字母B需要大写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例题：租房场景信息表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Notes Completion: Student Accommodation. NO MORE THAN TWO WORDS AND/OR A NUMBER.
Address: 24 __________ Road (Q6)
Rent: £__________ /month (Q7)
Deposit: __________ months (Q8)
Available: __________ (Q9)
Tube: __________ (Q10)
Script: "Address is 24 Birchwood Road — B-I-R-C-H-W-O-O-D. Rent's £650.
Two months' deposit. Available from mid-October. Nearest tube is Finchley Central."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Q6: Birchwood (字母听写，首字母大写)
Q7: 650
Q8: 2/two
Q9: mid-October
Q10: Finchley Central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Q9: mid-October = TWO WORDS（mid + October），符合"≤2 words"要求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30秒预读技术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30-Second Pre-Reading Technique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预读三层次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从表面信息到深层预判，每层用时5-10秒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第一层（5s）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确认题型：是填空/选择/地图？决定答题模式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第二层（10s）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圈出题目关键词：空格前后的名词/动词/数字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第三层（15s）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预判答案类型：这里要填名字/价格/时间/地点？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时间分配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10道题共30秒=每题3秒；重点预读空格前后，不读全句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边预读边预测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Monthly fee: £___→预测：两位数，如£35/£50/£65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深圳学生注意：S1成功的关键不是"听得好"，而是"预读得好"——预读决定成败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预测答案类型的四个维度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预判后，听的时候更有针对性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词性预测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空格前有a/an/the/形容词→填名词；空格后有名词→填形容词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数值范围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fee/price→数字；year→四位数；phone→11位；postcode→字母+数字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格式预测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date→数字+月份(3 March); time→数字或文字(9:30/half past nine)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语义范围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membership ___→可能是type/level/duration；contact ___→人名/电话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排除法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预测是月份→忽略数字，专注听月份名称→速度快出很多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预读实战：30秒能预读完哪些？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计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时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3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0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秒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，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预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读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以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下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2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题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目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，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记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录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每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题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的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预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测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答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案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类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型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：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Q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1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1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w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b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Q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1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2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w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k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y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9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Q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1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3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y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b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v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Q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1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4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c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d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o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t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
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Q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1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5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u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a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l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m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b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r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s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h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i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p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: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 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£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_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深圳学生注意：Q11: 年份（4位数字）
Q12: 时间（如7am/8am）
Q13: 设施名词（gym/pool/hall）
Q14: 街道名（专有名词大写）
Q15: 数字（两/三位数，如£120）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Section间隙的20秒：如何最大化利用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S1→S2间隙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S1结束音乐 → 立即翻到S2 → 预读Q11-15（至少3题）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S2→S3间隙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S2结束 → 翻到S3 → 重点：把MCQ选项A-E读完并圈关键词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S3→S4间隙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最重要的20秒：S4最难 → 把所有题目扫一遍，找到每题关键词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常见错误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间隙时间在发呆/调整答案/翻前面的页 → 这20秒是S下一Section的预读时间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练习方法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做真题时刻意计时：每次Section结束立即计时20秒练预读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30秒预读练习：从零开始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给你30秒，对以下表格题进行预读（记录你圈出的关键词和预测类型）：
COMMUNITY LANGUAGE CLASSES
Language | Day | Time | Room | Fee/month
Spanish  | Mon | 7pm  | __(Q1)__ | £__(Q2)__
Mandarin | __(Q3)__ | 6:30 | 12 | £35
French   | Wed | __(Q4)__ | 8 | £__(Q5)__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Q1: 数字/字母组合（教室号如4B/Room15）
Q2: 数字（费用£XX）
Q3: 星期几（Weekday name）
Q4: 时间（格式如6pm/half past five）
Q5: 数字（费用）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表格题的预读：先看表头（Language/Day/Time/Room/Fee），再看哪些格子有空需要填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反预读：没有预读会发生什么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模拟场景：录音已开始30秒，你才翻到S3题目，从Q21开始
结果：Q21和Q22已经过了，只能靠猜；Q23开始才能正常答题
代价：2道题=0.25分；别人不失分，你失分了
解决：把预读当作和答题同等重要的技能，每次做真题强制执行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对比：预读者均分8.5/10；不预读者均分6.2/10（剑桥研究数据）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预读成本：30秒；预读收益：约1-2道题的保险——ROI极高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数字类信息精准捕捉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Number Information: Precision Capture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电话号码：英式特有规则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英国电话号码有固定格式，掌握规则事半功倍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手机格式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07XXX XXXXXX（共11位，07开头）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座机格式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01XXX XXXXXX 或 02X XXXX XXXX（地区码不同）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double/treble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double 4 = 44（两个相同）；treble 9 = 999（三个相同）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零的读法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电话中零读"oh"；数学中"zero"或"nought"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同步书写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边听边写，不等全部说完再写——前3位忘了无法追回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深圳学生注意：电话号码是Section 1最高频的数字信息，也是最容易失分的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价格/费用：听到数字的前后语境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不只是听数字，要听数字的语境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整数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£45 = "forty-five pounds"，只需写45（不写£符号）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小数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£32.50 = "thirty-two pounds fifty"或"thirty-two fifty"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价格更正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先说£80"→ "but with discount that's £65" → 答案是65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货币区分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pounds(英镑) vs pence(便士)；£0.50 vs £50.00完全不同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折扣陷阱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20% off → 乘以0.8；student discount → 通常打折后价格才是答案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时间与日期：格式转换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考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官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要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求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写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数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字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格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式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，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但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录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音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用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文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字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读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深圳学生注意：[('整点', "nine o'clock = 9:00 或 9am（根据上下文选择格式）"), ('半点', 'half past six = 6:30（不是6:50！）'), ('刻钟', 'quarter past three = 3:15；quarter to three = 2:45'), ('日期', 'the third of March = 3 March 或 March 3（两种写法都接受）'), ('月份大写', 'January/February...必须首字母大写，否则算错误')]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特殊数字表达：thirteen vs thirty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核心规则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-teen结尾：重音在后（thir-TEEN）；-ty结尾：重音在前（THIR-ty）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易混组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13/30, 14/40, 15/50, 16/60, 17/70, 18/80, 19/90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语境帮助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如果是年龄，两位数合理；如果是面积，可能是百以上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确认方法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不确定时：等说话人继续描述，通常有其他信息可以验证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练习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每天找5个含-teen/-ty的句子，反复听直到能立即区分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数字听写专项练习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请听/读以下信息，快速记录（每条限时5秒）：
1. "Our number is oh eight double oh, treble five, 69."
2. "The fee is forty-two fifty per month."
3. "It runs from half past six to quarter to nine."
4. "Property at 14 Birchwood Road, postcode BS7 4NQ."
5. "Thirteen people — not thirty, I said thirteen."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1. 0800 555 569（double oh=00, treble five=555）
2. £42.50（forty-two fifty）
3. 6:30-8:45（quarter to nine=差15分到9点=8:45）
4. 14; BS7 4NQ
5. 13（NOT 30——更正陷阱）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第5题：录音说了"not thirty"=更正信号，最终答案是thirteen=13，不是30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价格陷阱综合练习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录音片段分析：
1. "Normal price is £85. With student discount you pay £62."
   题目问：How much do students pay? Answer: ?
2. "Rent is £750. The deposit is two months' rent."
   题目问：What is the deposit? Answer: ?
3. "Adult tickets: £15. Children under 12 are free."
   题目问：What do children pay? Answer: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1. £62（学生价，不是原价£85）
2. £1500（两个月租金=750×2，需要计算！）
3. free / nothing / 0（直接说"free"即可，写0也接受）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第2题：需要计算！750×2=1500；听力考试偶尔会有简单数学运算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字母拼读与表格填空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Spelling Dictation &amp; Form Completion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字母拼读：同步书写法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不要等说完再写，会忘记前面的字母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核心原则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听到一个字母立即写一个——边听边写，不等对方拼完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易混字母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B(bee)/D(dee)/E(ee)/G(gee)/P(pee)/T(tee)/V(vee)/Z(zed)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B vs D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B：双唇闭合后爆破；D：舌尖抵上颚；听尾音区分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M vs N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M：双唇闭合，鼻腔共鸣(em)；N：舌尖轻触上颚(en)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NATO字母表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记忆技巧：B=Bravo, D=Delta, M=Mike, N=November等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深圳学生注意：字母拼读在S1几乎100%出现——这是必须掌握的技能，不是可选项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表格填空：行列对应法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0F4C5C"/>
                </a:solidFill>
                <a:latin typeface="Calibri"/>
              </a:rPr>
              <a:t>先理解结构，再找对应位置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4C5C"/>
                </a:solidFill>
              </a:rPr>
              <a:t>• 第一步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看表头：横轴是什么属性？纵轴是什么分类？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第二步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确定每道题是哪行哪列的交叉点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第三步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根据交叉点位置预判：这里应该填什么类型的信息？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顺序规律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通常按从左到右、从上到下介绍——利用顺序提前定位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F4C5C"/>
                </a:solidFill>
              </a:rPr>
              <a:t>• 例外情况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有时介绍顺序与表格顺序不同——靠关键词而非顺序来定位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易混字母辨析：听音区分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B vs P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B=bee; P=pee; 听尾音：B结尾较浊，P结尾更清脆爆破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D vs T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D=dee; T=tee; D结尾有声，T无声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M vs N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M=em（双唇）; N=en（舌尖抵上颚）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G vs J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G=gee; J=jay; G短促，J有拖音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F vs S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F=ef; S=es; F用上齿咬下唇，S舌尖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表格填空：行列对应与常见错误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行列错位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Q2应填费用却填了Day——没有确认表格结构就开始答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超出限词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限ONE WORD AND/OR A NUMBER：写了"every Monday"(2词+形容词)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格式错误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时间题写"half past five"(4词)而不是"5:30"(更简洁)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大小写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月份/星期必须大写：monday→Monday；课程名大写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解决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预读：先看表头确认结构；每题写完数词数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字母拼读实战练习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跟着老师拼读以下姓名，逐字母同步记录：
1. MCDOUGALL → M-C-D-O-U-G-A-L-L（9个字母）
2. FEATHERSTONE → F-E-A-T-H-E-R-S-T-O-N-E（12个字母）
3. PRZYBYLSKI → P-R-Z-Y-B-Y-L-S-K-I（10个字母）
注意：L要清楚区分（L vs 1）；写完后核对字母数量是否对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1. 9个字母；2. 12个字母；3. 10个字母
提醒：每个字母之间的停顿是检查和核对的机会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技巧：在格子里写字母（每格一个字母）比在线上写更不容易出错和漏写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表格填空综合例题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Complete the table. Write NO MORE THAN ONE WORD AND/OR A NUMBER.
Course | Day | Time | Room | Fee/month
Yoga   | Mon | 7pm  | ?(Q1) | £?(Q2)
Pilates | ?(Q3) | 6:30 | 11 | £28
Zumba  | Thu | ?(Q4) | 9 | £?(Q5)
Script: "Yoga Mondays at seven, in room 4B, thirty pounds a month.
Pilates is Tuesdays at six-thirty, room 11, twenty-eight a month.
Zumba on Thursdays, half past five, room 9, and that's twenty-four fifty."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Q1: 4B  Q2: 30  Q3: Tuesday  Q4: 5:30  Q5: 24.50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表格按课程顺序介绍（Yoga→Pilates→Zumba），利用这个规律提前定位到对应行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高频词汇与表达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Key Vocabulary &amp; Expressions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预约场景高频词汇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make/book/schedule an appointment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预约（三种同义表达，都会出现在录音中）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cancel / reschedule / postpone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取消 / 改期 / 延后（三者区别：cancel=完全取消）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available / free / vacant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有空/空闲/空缺（人用available/free；位置用vacant）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slot / opening / time frame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时间段（可预约的）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waiting list / on 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候补名单 / 暂候（满了但可以等）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deposit / advance payment / bond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订金/预付款/押金（三者有细微差别）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confirmation / reminder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确认单 / 提醒（预约结束时常见词）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租房/住宿高频词汇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fully furnished / unfurnished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全配家具 / 无家具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utilities included / bills included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水电费含在租金内（否则另计）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landlord / tenant / estate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房东 / 租客 / 房产中介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lease / tenancy agreement / 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租约/合同（都指同一种文件）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security deposit / bond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押金（退房时如无损坏可全额退还）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en-suite / shared bathroom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独立卫浴 / 共用卫浴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ground floor / first floor (UK)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地面层 / 一楼（英式：与美式不同！二楼=first floor）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数字信息表达快速参照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double X / treble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XX / XXX（如double 4=44，treble 5=555）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£45.99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forty-five pounds ninety-nine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07700 900123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oh-double seven-double oh-nine-double oh-one-two-three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3:45pm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quarter to four in the afternoon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SW1A 2AA (UK postcode)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S-W-one-A [space] two-A-A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15th October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the fifteenth of October 或 October the fifteenth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0F4C5C"/>
                </a:solidFill>
                <a:latin typeface="Calibri"/>
              </a:rPr>
              <a:t>2.5 hours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two and a half hours 或 two hours thirty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S1最容易听错的词对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❌ 容易混淆的听法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13 vs 30（thirteen vs thirty）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15 vs 50（fifteen vs fifty）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Tuesday vs Thursday（都是T开头）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March vs May（M开头月份）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address vs access（发音相近）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deposit vs discount（功能不同）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188720"/>
            <a:ext cx="5486400" cy="4572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✅ 区分技巧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-teen重音在后(thir-TEEN)，-ty重音在前(THIR-ty)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同理适用于15/50, 16/60, 17/70, 18/80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听清楚：-ues-(day) vs -urs-(day)；前者有-u-音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March=有r音/较硬；May=短音；听清楚长度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语境判断：address=地址，access=进入权限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语境判断：deposit=定金（交钱），discount=折扣（少花钱）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方法精讲与满分范例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Method &amp; Perfect Score Models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Section 1 满分答题流程（10步）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考前（说明时间）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翻到S1题目；预读Q1-5；圈关键词；预判答案类型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31135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5999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889503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231135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Q1-5 录音进行时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96895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带着预读预测去听；候选词先记旁边，确认后写正格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82111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36975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840479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182111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Q1-5 结束间隙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547871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约10秒：预读Q6-10（若之前未完成）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33087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1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4791455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33087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Q6-10 录音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98848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特别注意更正陷阱：actually/sorry/I mean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84063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38927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84063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S1结束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449823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立即翻到S2；不要在S1上多停留，利用间隙预读S2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字母拼读同步书写操作规范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在空格旁用铅笔轻画小格子，1格=1字母，预估字母数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31135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5999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889503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231135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接收第1个字母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96895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立即写入第1格，不等第2个字母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82111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36975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840479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182111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连续接收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547871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每听到1个字母立即写入对应格；停顿时核对已写的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33087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87951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4791455"/>
            <a:ext cx="45720" cy="292607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33087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易混字母处理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98848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B/P不确定时：先写？，继续听后面；从语义判断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84063"/>
            <a:ext cx="640080" cy="640080"/>
          </a:xfrm>
          <a:prstGeom prst="round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138927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84063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4C5C"/>
                </a:solidFill>
                <a:latin typeface="Calibri"/>
              </a:rPr>
              <a:t>说完后确认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449823"/>
            <a:ext cx="10058400" cy="5852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利用对方停顿：逐格核对字母，检查有无遗漏或混淆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满分S1答题笔记示范：预约场景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题目：Fitness Centre Membership Enquiry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答题笔记格式示范：
Q1 Name: [P][A][T][R][I][C][I][A] + [H][A][R][G][R][E][A][V][E][S]
   → Patricia Hargreaves
Q2 Type: (annual × ) family ✓ → family
Q3 Fee: (£45 × ) £32.50 ✓ → 32.50
   [更正：先说45，actually说32.50]
Q4 Start: September ✓（首字母大写）
Q5 Locker: 47B ✓（数字+字母，B不能漏）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用格子记字母，每格一个，避免遗漏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更正陷阱：先划掉£45，写新答案£32.50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Q3只写数字（32.50），不写£符号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Q5: 47B — 字母和数字都必须写，缺一个=0分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满分S1答题：社区服务场景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题目：Community Centre Course Registration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Q6  Course: Photography
Q7  Day: Thursday [not Tuesday! 更正陷阱]
Q8  Time: 7:30 [half past seven — 转换为数字]
Q9  Room: B12 [字母+数字，注意大写B]
Q10 Fee: 24.50 [twenty-four fifty — 小数点格式]
关键笔记：Q7旁边写 "Tue? → Thu ✓" 记录更正过程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Q7：录音先说Tuesday，后用"actually"更正为Thursday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Q8：half past seven=7:30，口算转换成数字格式最安全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Q9：字母+数字 = 2部分都要正确，B12缺B=0分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Q10：小数点格式（24.50）和文字格式（twenty-four fifty）均接受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S1答题：有没有预读的差距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没有预读（5-6分结果）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充分预读（10/10结果）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录音开始时才翻到题目，Q1已过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不知道Q2要填type还是fee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听到数字不知道是哪道题的答案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拼读时等说完再写，前3个字母忘了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誊写时随便抄，没有逐字检查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说明播放时已圈完Q1-10关键词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Q2知道要填修饰"membership"的词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每个数字都知道对应Q3还是Q4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拼读同步写：听到P立刻写P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誊写逐词检查：拼写/大小写/限词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数字听写：听错 vs 听对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典型失误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正确记录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thirty-two = 32 → 写成了23（数字颠倒）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treble five = 555 → 写成了5（漏了两个）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half past nine = 9:30 → 写成了9:50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fifteen = 15 → 写成了50（fifteen vs fifty）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forty-two fifty = £42.50 → 写成£42.5（少一个零）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thirty-two → 先在脑中确认位数：3-2，不是2-3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treble five → treble=3个，三个5=555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half past nine → half past=30分钟后=9:30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fif-TEEN重音在后=15；FIF-ty重音在前=50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£42.50有两位小数：.50，不能简写成.5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Practice Drills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练习1：字母拼读听写（逐字母同步）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老师拼读以下词语，同步记录（每字母一格）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PRZYBYLSKI → P-R-Z-Y-B-Y-L-S-K-I（波兰姓，10字母）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FEATHERSTONE → F-E-A-T-H-E-R-S-T-O-N-E（12字母）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MCDOUGALL → M-C-D-O-U-G-A-L-L（9字母，注意双L）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JOHANNSEN → J-O-H-A-N-N-S-E-N（9字母，注意双N）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完成后核对：字母总数是否正确？有无混淆B/D、M/N？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练习2：数字快速记录（每条5秒）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跟着老师/录音，记录以下数字信息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"zero seven, double eight, treble nine, four two six" →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"sixty-four pounds, seventy-five pence" →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"from quarter past eight to half past ten" →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"the twenty-first of November, two thousand and twenty" → ?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"W-C-two, four-R-E" (postcode) → 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练习3：更正陷阱全识别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每句话含一处更正，写出最终正确答案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"Tuesday the 8th... sorry, I meant Wednesday the 9th."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"Call 0800-44... wait, check that, it's 0800-55, 678."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"Smart casual, jacket fine... actually, very informal."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"Deposit is two months... oh, actually, just one month."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"Room 15... no, moved to Room 50 last week."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练习4：表格填空计时（10分钟完成）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完整表格填空（模拟真实S1场景），老师读一遍，只能记录一次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SWIMMING POOL BOOKING: Name(Q1), Adult/Child(Q2), Session(Q3), Lane(Q4), Duration(Q5)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录音："...Ms Chen — C-H-E-N. Adult session on Tuesday. Lane number 3B. Two hours."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请同步记录5个答案，提交前检查：大小写/限词/数字格式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答案：Q1=Chen; Q2=Adult; Q3=Tuesday; Q4=3B; Q5=2hours/two hours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讨论：Q5如果限制是ONE WORD AND/OR A NUMBER，写"2"还是"2 hours"？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练习5：全流程计时练习（S1模拟）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完整模拟Section 1的预读→答题→检查流程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▢ 步骤1（30秒）：预读以下题目，圈关键词，预判类型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步骤2（实时）：老师读录音，同步答题（只有一遍）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步骤3（30秒）：检查答案：拼写/大小写/限词/数字格式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题目：Name(Q1), Age(Q2), Membership type(Q3), Start month(Q4), Emergency contact(Q5)</a:t>
            </a:r>
          </a:p>
          <a:p>
            <a:pPr>
              <a:spcBef>
                <a:spcPts val="1100"/>
              </a:spcBef>
            </a:pPr>
            <a:r>
              <a:rPr sz="1500">
                <a:solidFill>
                  <a:srgbClr val="1E293B"/>
                </a:solidFill>
              </a:rPr>
              <a:t>▢ 反思：预读时你预测对了哪些题的答案类型？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2A594"/>
                </a:solidFill>
                <a:latin typeface="Calibri"/>
              </a:rPr>
              <a:t>PART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避坑指南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S1 Pitfall Prevention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A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深圳学生高频痛点 · S1满分障碍——都是可以避免的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2A2A"/>
                </a:solidFill>
                <a:latin typeface="Calibri"/>
              </a:rPr>
              <a:t>❌ 常见误区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02A2A"/>
                </a:solidFill>
              </a:rPr>
              <a:t>✗ 誊写时把47B抄成74B（数字和字母顺序颠倒）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听到"first name"只写了名字，漏了title(Mr/Ms)或surname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Section 1结束后发呆，没有利用间隙预读Section 2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C02A2A"/>
                </a:solidFill>
              </a:rPr>
              <a:t>✗ 确认答案时只看内容，没有检查限词是否超出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8192" y="1097280"/>
            <a:ext cx="36576" cy="5212080"/>
          </a:xfrm>
          <a:prstGeom prst="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7A3D"/>
                </a:solidFill>
                <a:latin typeface="Calibri"/>
              </a:rPr>
              <a:t>✅ 正确做法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✓ 誊写慢一倍速度，每个答案写完轻声默读一遍确认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看到Name/Contact题：先数空格数量，判断要填几个部分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S1结束音乐响=立即翻到S2；这20秒=S2的2-3道题预读时间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B7A3D"/>
                </a:solidFill>
              </a:rPr>
              <a:t>✓ 誊写前再看一眼限词：ONE WORD AND/OR A NUMBER→数字是一格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S1高频细节错误（逐一击破）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October vs November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十月vs十一月——Oc-to-ber vs No-vem-ber，听清完整月份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am vs pm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"nine thirty in the evening" = 9:30pm，不是am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Street vs Road vs Avenue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全是地址后缀，听清用的是哪个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first floor (UK)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英式一楼=美式二楼（ground floor=地面层=美式一楼）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pounds vs pence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£35 vs 35p 差一百倍；听清"pounds"还是"pence"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solidFill>
            <a:srgbClr val="FD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1">
                <a:solidFill>
                  <a:srgbClr val="C02A2A"/>
                </a:solidFill>
                <a:latin typeface="Calibri"/>
              </a:rPr>
              <a:t>⚠ 深圳学生注意：这5个错误在剑桥真题S1中反复出现，背会等于多拿2题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誊写阶段五步自检（纸笔考）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 b="1">
                <a:solidFill>
                  <a:srgbClr val="0F4C5C"/>
                </a:solidFill>
              </a:rPr>
              <a:t>• Step 1 字数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每个答案数一下词数，是否在限制内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Step 2 大小写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专有名词/月份/星期→首字母大写；普通名词→小写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Step 3 复数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有数量词(two/several)→名词加s；单数情况→不加s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Step 4 拼写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快速默念每个字母，特别检查双字母词accommodation/necessary</a:t>
            </a:r>
          </a:p>
          <a:p>
            <a:pPr>
              <a:spcBef>
                <a:spcPts val="1000"/>
              </a:spcBef>
            </a:pPr>
            <a:r>
              <a:rPr sz="1850" b="1">
                <a:solidFill>
                  <a:srgbClr val="0F4C5C"/>
                </a:solidFill>
              </a:rPr>
              <a:t>• Step 5 格式</a:t>
            </a:r>
          </a:p>
          <a:p>
            <a:pPr>
              <a:spcBef>
                <a:spcPts val="100"/>
              </a:spcBef>
            </a:pPr>
            <a:r>
              <a:rPr sz="1550">
                <a:solidFill>
                  <a:srgbClr val="556075"/>
                </a:solidFill>
              </a:rPr>
              <a:t>   数字是否用阿拉伯数字？时间格式是否统一（9:30 vs nine thirty）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S1速记卡：四大必知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double/treble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double X=XX; treble X=XXX；遇到立刻反应，不要犹豫，电话号码常见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更正信号词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actually/sorry/I mean/wait/let me correct that → 划掉之前的，写新的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Name题必看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Name旁边有几个空格？有没有Title(Mr/Ms)？预判first+last还是只有一个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誊写金句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誊写速度慢一倍，核对每个字母；宁可没写完最后2题，也不能写错前8题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数字速记参考卡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13vs30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thirTEEN（重音后）vs THIRty（重音前）；-teen vs -ty的重音位置是区分关键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价格更正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先说原价 + but/actually/discount → 写后说的折扣价，不写原价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时间换算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quarter to X = X:00减15分；half past X = X:30；练到秒速转换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26080"/>
            <a:ext cx="5486400" cy="1463040"/>
          </a:xfrm>
          <a:prstGeom prst="roundRect">
            <a:avLst/>
          </a:prstGeom>
          <a:solidFill>
            <a:srgbClr val="E6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26080"/>
            <a:ext cx="109728" cy="146304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F4C5C"/>
                </a:solidFill>
                <a:latin typeface="Calibri"/>
              </a:rPr>
              <a:t>邮编格式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英式邮编：字母+数字+空格+数字+两字母，如SW1A 2AA；字母大写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自检清单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L02 自检清单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☐ 我能区分thirteen和thirty的重音位置并快速正确判断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我知道double/treble在电话号码中的含义并能即时反应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我练习了字母拼读同步书写法（每字母一格）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我掌握S1四大场景的核心词汇（预约/租房/旅游/社区）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我知道S1→S2间隙的20秒应该用来做什么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L02 课堂小结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2A594"/>
                </a:solidFill>
                <a:latin typeface="Calibri"/>
              </a:rPr>
              <a:t>📌 本课核心要点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>
                <a:solidFill>
                  <a:srgbClr val="FFFFFF"/>
                </a:solidFill>
              </a:rPr>
              <a:t>✓  S1四大场景：预约/租房/旅游/社区——各有核心词汇和答题套路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30秒预读三层次：确认题型→圈关键词→预判答案类型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数字专项：13vs30靠重音；double/treble立刻反应；价格更正听后说的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96128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2A594"/>
                </a:solidFill>
                <a:latin typeface="Calibri"/>
              </a:rPr>
              <a:t>💎 一句话记住：S1不该失分——失分100%来自预读不足或誊写不仔细，而非"听不懂"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12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94"/>
                </a:solidFill>
                <a:latin typeface="Calibri"/>
              </a:rPr>
              <a:t>练习巩固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L02 课后作业  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Listening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2A594"/>
                </a:solidFill>
                <a:latin typeface="Calibri"/>
              </a:rPr>
              <a:t>⏱ 建议用时：约45分钟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E293B"/>
                </a:solidFill>
              </a:rPr>
              <a:t>作业 1　剑桥真题任意两套Section 1（严格计时），统计正确率并分类错误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2　字母拼读练习：用5个同学名字互相拼读+听写，训练同步书写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3　数字训练：每天从英美剧/新闻中记录5个电话号码，记录并核对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2A594"/>
                </a:solidFill>
                <a:latin typeface="Calibri"/>
              </a:rPr>
              <a:t>下节预告 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L03 · Section 2 独白场景攻略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FDCF2"/>
                </a:solidFill>
              </a:rPr>
              <a:t>→ 地图/平面图题20个核心方向词详解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匹配题选项提前读的策略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Section 2独白的结构信号词与内容预测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