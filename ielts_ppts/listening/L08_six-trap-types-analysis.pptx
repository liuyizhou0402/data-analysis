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12A594"/>
                </a:solidFill>
                <a:latin typeface="Calibri"/>
              </a:rPr>
              <a:t>L08</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12A594"/>
                </a:solidFill>
                <a:latin typeface="Calibri"/>
              </a:rPr>
              <a:t>IELTS Listening 听力</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六大陷阱类型全析</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Six Trap Types: Complete Analysis</a:t>
            </a:r>
          </a:p>
        </p:txBody>
      </p:sp>
      <p:sp>
        <p:nvSpPr>
          <p:cNvPr id="10" name="Rounded Rectangle 9"/>
          <p:cNvSpPr/>
          <p:nvPr/>
        </p:nvSpPr>
        <p:spPr>
          <a:xfrm>
            <a:off x="777240" y="5669280"/>
            <a:ext cx="3840480" cy="54864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8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Rounded Rectangle 6"/>
          <p:cNvSpPr/>
          <p:nvPr/>
        </p:nvSpPr>
        <p:spPr>
          <a:xfrm>
            <a:off x="548640" y="1325880"/>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陷阱的本质与分布</a:t>
            </a:r>
          </a:p>
        </p:txBody>
      </p:sp>
      <p:sp>
        <p:nvSpPr>
          <p:cNvPr id="10" name="Rounded Rectangle 9"/>
          <p:cNvSpPr/>
          <p:nvPr/>
        </p:nvSpPr>
        <p:spPr>
          <a:xfrm>
            <a:off x="548640" y="2167128"/>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更正型陷阱</a:t>
            </a:r>
          </a:p>
        </p:txBody>
      </p:sp>
      <p:sp>
        <p:nvSpPr>
          <p:cNvPr id="13" name="Rounded Rectangle 12"/>
          <p:cNvSpPr/>
          <p:nvPr/>
        </p:nvSpPr>
        <p:spPr>
          <a:xfrm>
            <a:off x="548640" y="3008376"/>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否定型陷阱</a:t>
            </a:r>
          </a:p>
        </p:txBody>
      </p:sp>
      <p:sp>
        <p:nvSpPr>
          <p:cNvPr id="16" name="Rounded Rectangle 15"/>
          <p:cNvSpPr/>
          <p:nvPr/>
        </p:nvSpPr>
        <p:spPr>
          <a:xfrm>
            <a:off x="548640" y="3849624"/>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895344"/>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1280160" y="3867911"/>
            <a:ext cx="4937760" cy="731520"/>
          </a:xfrm>
          <a:prstGeom prst="rect">
            <a:avLst/>
          </a:prstGeom>
          <a:noFill/>
        </p:spPr>
        <p:txBody>
          <a:bodyPr wrap="square" anchor="ctr">
            <a:spAutoFit/>
          </a:bodyPr>
          <a:lstStyle/>
          <a:p>
            <a:pPr algn="l"/>
            <a:r>
              <a:rPr sz="1450" b="1" i="0">
                <a:solidFill>
                  <a:srgbClr val="1E293B"/>
                </a:solidFill>
                <a:latin typeface="Calibri"/>
              </a:rPr>
              <a:t>条件型陷阱</a:t>
            </a:r>
          </a:p>
        </p:txBody>
      </p:sp>
      <p:sp>
        <p:nvSpPr>
          <p:cNvPr id="19" name="Rounded Rectangle 18"/>
          <p:cNvSpPr/>
          <p:nvPr/>
        </p:nvSpPr>
        <p:spPr>
          <a:xfrm>
            <a:off x="6400800" y="1325880"/>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相似音陷阱</a:t>
            </a:r>
          </a:p>
        </p:txBody>
      </p:sp>
      <p:sp>
        <p:nvSpPr>
          <p:cNvPr id="22" name="Rounded Rectangle 21"/>
          <p:cNvSpPr/>
          <p:nvPr/>
        </p:nvSpPr>
        <p:spPr>
          <a:xfrm>
            <a:off x="6400800" y="2167128"/>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综合陷阱</a:t>
            </a:r>
          </a:p>
        </p:txBody>
      </p:sp>
      <p:sp>
        <p:nvSpPr>
          <p:cNvPr id="25" name="Rounded Rectangle 24"/>
          <p:cNvSpPr/>
          <p:nvPr/>
        </p:nvSpPr>
        <p:spPr>
          <a:xfrm>
            <a:off x="6400800" y="3008376"/>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7</a:t>
            </a:r>
          </a:p>
        </p:txBody>
      </p:sp>
      <p:sp>
        <p:nvSpPr>
          <p:cNvPr id="27" name="TextBox 26"/>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课堂练习</a:t>
            </a:r>
          </a:p>
        </p:txBody>
      </p:sp>
      <p:sp>
        <p:nvSpPr>
          <p:cNvPr id="28" name="Rounded Rectangle 27"/>
          <p:cNvSpPr/>
          <p:nvPr/>
        </p:nvSpPr>
        <p:spPr>
          <a:xfrm>
            <a:off x="6400800" y="3849624"/>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895344"/>
            <a:ext cx="566928" cy="457200"/>
          </a:xfrm>
          <a:prstGeom prst="rect">
            <a:avLst/>
          </a:prstGeom>
          <a:noFill/>
        </p:spPr>
        <p:txBody>
          <a:bodyPr wrap="square" anchor="t">
            <a:spAutoFit/>
          </a:bodyPr>
          <a:lstStyle/>
          <a:p>
            <a:pPr algn="ctr"/>
            <a:r>
              <a:rPr sz="2000" b="1" i="0">
                <a:solidFill>
                  <a:srgbClr val="FFFFFF"/>
                </a:solidFill>
                <a:latin typeface="Calibri"/>
              </a:rPr>
              <a:t>8</a:t>
            </a:r>
          </a:p>
        </p:txBody>
      </p:sp>
      <p:sp>
        <p:nvSpPr>
          <p:cNvPr id="30" name="TextBox 29"/>
          <p:cNvSpPr txBox="1"/>
          <p:nvPr/>
        </p:nvSpPr>
        <p:spPr>
          <a:xfrm>
            <a:off x="7132320" y="3867911"/>
            <a:ext cx="4937760" cy="731520"/>
          </a:xfrm>
          <a:prstGeom prst="rect">
            <a:avLst/>
          </a:prstGeom>
          <a:noFill/>
        </p:spPr>
        <p:txBody>
          <a:bodyPr wrap="square" anchor="ctr">
            <a:spAutoFit/>
          </a:bodyPr>
          <a:lstStyle/>
          <a:p>
            <a:pPr algn="l"/>
            <a:r>
              <a:rPr sz="1450" b="1" i="0">
                <a:solidFill>
                  <a:srgbClr val="1E293B"/>
                </a:solidFill>
                <a:latin typeface="Calibri"/>
              </a:rPr>
              <a:t>小结作业</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L07回顾：速记系统核心要点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0F4C5C"/>
                </a:solidFill>
              </a:rPr>
              <a:t>• 10大符号</a:t>
            </a:r>
          </a:p>
          <a:p>
            <a:pPr>
              <a:spcBef>
                <a:spcPts val="100"/>
              </a:spcBef>
            </a:pPr>
            <a:r>
              <a:rPr sz="1550">
                <a:solidFill>
                  <a:srgbClr val="556075"/>
                </a:solidFill>
              </a:rPr>
              <a:t>   →↑↓=≠ &amp; w/ w/o b/c ~ — 形成自动化习惯后节省70%书写时间</a:t>
            </a:r>
          </a:p>
          <a:p>
            <a:pPr>
              <a:spcBef>
                <a:spcPts val="1000"/>
              </a:spcBef>
            </a:pPr>
            <a:r>
              <a:rPr sz="1850" b="1">
                <a:solidFill>
                  <a:srgbClr val="0F4C5C"/>
                </a:solidFill>
              </a:rPr>
              <a:t>• 数字规范</a:t>
            </a:r>
          </a:p>
          <a:p>
            <a:pPr>
              <a:spcBef>
                <a:spcPts val="100"/>
              </a:spcBef>
            </a:pPr>
            <a:r>
              <a:rPr sz="1550">
                <a:solidFill>
                  <a:srgbClr val="556075"/>
                </a:solidFill>
              </a:rPr>
              <a:t>   阿拉伯数字+货币符号格式+小数位完整（£24.50不是£24.5）</a:t>
            </a:r>
          </a:p>
          <a:p>
            <a:pPr>
              <a:spcBef>
                <a:spcPts val="1000"/>
              </a:spcBef>
            </a:pPr>
            <a:r>
              <a:rPr sz="1850" b="1">
                <a:solidFill>
                  <a:srgbClr val="0F4C5C"/>
                </a:solidFill>
              </a:rPr>
              <a:t>• 占位技术</a:t>
            </a:r>
          </a:p>
          <a:p>
            <a:pPr>
              <a:spcBef>
                <a:spcPts val="100"/>
              </a:spcBef>
            </a:pPr>
            <a:r>
              <a:rPr sz="1550">
                <a:solidFill>
                  <a:srgbClr val="556075"/>
                </a:solidFill>
              </a:rPr>
              <a:t>   首字母+横线，不停下来纠结一题，誊写时从笔记中提取</a:t>
            </a:r>
          </a:p>
          <a:p>
            <a:pPr>
              <a:spcBef>
                <a:spcPts val="1000"/>
              </a:spcBef>
            </a:pPr>
            <a:r>
              <a:rPr sz="1850" b="1">
                <a:solidFill>
                  <a:srgbClr val="0F4C5C"/>
                </a:solidFill>
              </a:rPr>
              <a:t>• 誊写优先级</a:t>
            </a:r>
          </a:p>
          <a:p>
            <a:pPr>
              <a:spcBef>
                <a:spcPts val="100"/>
              </a:spcBef>
            </a:pPr>
            <a:r>
              <a:rPr sz="1550">
                <a:solidFill>
                  <a:srgbClr val="556075"/>
                </a:solidFill>
              </a:rPr>
              <a:t>   占位补全→拼写→大小写→单复数→限词</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深圳学生注意：本节课目标：识别并绕过雅思听力中的六大陷阱，防止"听懂了却做错"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学习目标  Learning Objectives</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548640" y="1188720"/>
            <a:ext cx="10972800" cy="457200"/>
          </a:xfrm>
          <a:prstGeom prst="rect">
            <a:avLst/>
          </a:prstGeom>
          <a:noFill/>
        </p:spPr>
        <p:txBody>
          <a:bodyPr wrap="square" anchor="t">
            <a:spAutoFit/>
          </a:bodyPr>
          <a:lstStyle/>
          <a:p>
            <a:pPr algn="l"/>
            <a:r>
              <a:rPr sz="1600" b="1" i="0">
                <a:solidFill>
                  <a:srgbClr val="12A594"/>
                </a:solidFill>
                <a:latin typeface="Calibri"/>
              </a:rPr>
              <a:t>完成本课后，你将能够：</a:t>
            </a:r>
          </a:p>
        </p:txBody>
      </p:sp>
      <p:sp>
        <p:nvSpPr>
          <p:cNvPr id="8" name="TextBox 7"/>
          <p:cNvSpPr txBox="1"/>
          <p:nvPr/>
        </p:nvSpPr>
        <p:spPr>
          <a:xfrm>
            <a:off x="640080" y="1828800"/>
            <a:ext cx="10972800" cy="4572000"/>
          </a:xfrm>
          <a:prstGeom prst="rect">
            <a:avLst/>
          </a:prstGeom>
          <a:noFill/>
        </p:spPr>
        <p:txBody>
          <a:bodyPr wrap="square">
            <a:spAutoFit/>
          </a:bodyPr>
          <a:lstStyle/>
          <a:p>
            <a:r>
              <a:rPr sz="1800">
                <a:solidFill>
                  <a:srgbClr val="1E293B"/>
                </a:solidFill>
              </a:rPr>
              <a:t>✦  识别雅思听力中的六种典型陷阱类型</a:t>
            </a:r>
          </a:p>
          <a:p>
            <a:pPr>
              <a:spcBef>
                <a:spcPts val="1400"/>
              </a:spcBef>
            </a:pPr>
            <a:r>
              <a:rPr sz="1800">
                <a:solidFill>
                  <a:srgbClr val="1E293B"/>
                </a:solidFill>
              </a:rPr>
              <a:t>✦  掌握每种陷阱的识别信号词和应对策略</a:t>
            </a:r>
          </a:p>
          <a:p>
            <a:pPr>
              <a:spcBef>
                <a:spcPts val="1400"/>
              </a:spcBef>
            </a:pPr>
            <a:r>
              <a:rPr sz="1800">
                <a:solidFill>
                  <a:srgbClr val="1E293B"/>
                </a:solidFill>
              </a:rPr>
              <a:t>✦  能在听到陷阱时立刻做出正确判断</a:t>
            </a:r>
          </a:p>
          <a:p>
            <a:pPr>
              <a:spcBef>
                <a:spcPts val="1400"/>
              </a:spcBef>
            </a:pPr>
            <a:r>
              <a:rPr sz="1800">
                <a:solidFill>
                  <a:srgbClr val="1E293B"/>
                </a:solidFill>
              </a:rPr>
              <a:t>✦  通过真题练习将陷阱识别率提升到80%以上</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听懂了却做错：陷阱是第一杀手</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更正陷阱：录音先说"Tuesday"，学生立刻写下Tuesday，没听到后面的"actually Wednesday"</a:t>
            </a:r>
          </a:p>
          <a:p>
            <a:pPr>
              <a:spcBef>
                <a:spcPts val="800"/>
              </a:spcBef>
            </a:pPr>
            <a:r>
              <a:rPr sz="1400">
                <a:solidFill>
                  <a:srgbClr val="C02A2A"/>
                </a:solidFill>
              </a:rPr>
              <a:t>✗ 否定陷阱：录音说"not available on Friday"，学生写了Friday（忽略了not）</a:t>
            </a:r>
          </a:p>
          <a:p>
            <a:pPr>
              <a:spcBef>
                <a:spcPts val="800"/>
              </a:spcBef>
            </a:pPr>
            <a:r>
              <a:rPr sz="1400">
                <a:solidFill>
                  <a:srgbClr val="C02A2A"/>
                </a:solidFill>
              </a:rPr>
              <a:t>✗ 条件陷阱：录音说"if it's free"，条件没实现，但学生把条件内容当成了答案</a:t>
            </a:r>
          </a:p>
        </p:txBody>
      </p:sp>
      <p:sp>
        <p:nvSpPr>
          <p:cNvPr id="8" name="Rectangle 7"/>
          <p:cNvSpPr/>
          <p:nvPr/>
        </p:nvSpPr>
        <p:spPr>
          <a:xfrm>
            <a:off x="6108192" y="1097280"/>
            <a:ext cx="36576" cy="5212080"/>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更正信号词：actually/sorry/I mean/wait/in fact — 听到这些词立刻划掉之前答案</a:t>
            </a:r>
          </a:p>
          <a:p>
            <a:pPr>
              <a:spcBef>
                <a:spcPts val="800"/>
              </a:spcBef>
            </a:pPr>
            <a:r>
              <a:rPr sz="1400">
                <a:solidFill>
                  <a:srgbClr val="1B7A3D"/>
                </a:solidFill>
              </a:rPr>
              <a:t>✓ 否定词强化意识：not/never/don't/without/no — 否定词后面的内容≠答案</a:t>
            </a:r>
          </a:p>
          <a:p>
            <a:pPr>
              <a:spcBef>
                <a:spcPts val="800"/>
              </a:spcBef>
            </a:pPr>
            <a:r>
              <a:rPr sz="1400">
                <a:solidFill>
                  <a:srgbClr val="1B7A3D"/>
                </a:solidFill>
              </a:rPr>
              <a:t>✓ 条件标志：if/unless/as long as/only when — 条件内容不一定是最终答案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更正型陷阱：最高频陷阱</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Correction Traps: The Most Common Trap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更正陷阱的机制</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录音先给出一个信息，再用信号词更正</a:t>
            </a:r>
          </a:p>
        </p:txBody>
      </p:sp>
      <p:sp>
        <p:nvSpPr>
          <p:cNvPr id="10" name="TextBox 9"/>
          <p:cNvSpPr txBox="1"/>
          <p:nvPr/>
        </p:nvSpPr>
        <p:spPr>
          <a:xfrm>
            <a:off x="640080" y="2240280"/>
            <a:ext cx="10972800" cy="3931920"/>
          </a:xfrm>
          <a:prstGeom prst="rect">
            <a:avLst/>
          </a:prstGeom>
          <a:noFill/>
        </p:spPr>
        <p:txBody>
          <a:bodyPr wrap="square">
            <a:spAutoFit/>
          </a:bodyPr>
          <a:lstStyle/>
          <a:p>
            <a:r>
              <a:rPr sz="1800" b="1">
                <a:solidFill>
                  <a:srgbClr val="0F4C5C"/>
                </a:solidFill>
              </a:rPr>
              <a:t>• 信号词</a:t>
            </a:r>
          </a:p>
          <a:p>
            <a:pPr>
              <a:spcBef>
                <a:spcPts val="100"/>
              </a:spcBef>
            </a:pPr>
            <a:r>
              <a:rPr sz="1500">
                <a:solidFill>
                  <a:srgbClr val="556075"/>
                </a:solidFill>
              </a:rPr>
              <a:t>   actually, sorry, I mean, wait, no wait, in fact, I'd like to change</a:t>
            </a:r>
          </a:p>
          <a:p>
            <a:pPr>
              <a:spcBef>
                <a:spcPts val="900"/>
              </a:spcBef>
            </a:pPr>
            <a:r>
              <a:rPr sz="1800" b="1">
                <a:solidFill>
                  <a:srgbClr val="0F4C5C"/>
                </a:solidFill>
              </a:rPr>
              <a:t>• 结构</a:t>
            </a:r>
          </a:p>
          <a:p>
            <a:pPr>
              <a:spcBef>
                <a:spcPts val="100"/>
              </a:spcBef>
            </a:pPr>
            <a:r>
              <a:rPr sz="1500">
                <a:solidFill>
                  <a:srgbClr val="556075"/>
                </a:solidFill>
              </a:rPr>
              <a:t>   错误信息 + 信号词 + 正确答案（考的是正确答案）</a:t>
            </a:r>
          </a:p>
          <a:p>
            <a:pPr>
              <a:spcBef>
                <a:spcPts val="900"/>
              </a:spcBef>
            </a:pPr>
            <a:r>
              <a:rPr sz="1800" b="1">
                <a:solidFill>
                  <a:srgbClr val="0F4C5C"/>
                </a:solidFill>
              </a:rPr>
              <a:t>• 常见场景</a:t>
            </a:r>
          </a:p>
          <a:p>
            <a:pPr>
              <a:spcBef>
                <a:spcPts val="100"/>
              </a:spcBef>
            </a:pPr>
            <a:r>
              <a:rPr sz="1500">
                <a:solidFill>
                  <a:srgbClr val="556075"/>
                </a:solidFill>
              </a:rPr>
              <a:t>   S1预约时间/姓名/价格/地址被更正</a:t>
            </a:r>
          </a:p>
          <a:p>
            <a:pPr>
              <a:spcBef>
                <a:spcPts val="900"/>
              </a:spcBef>
            </a:pPr>
            <a:r>
              <a:rPr sz="1800" b="1">
                <a:solidFill>
                  <a:srgbClr val="0F4C5C"/>
                </a:solidFill>
              </a:rPr>
              <a:t>• S3难度</a:t>
            </a:r>
          </a:p>
          <a:p>
            <a:pPr>
              <a:spcBef>
                <a:spcPts val="100"/>
              </a:spcBef>
            </a:pPr>
            <a:r>
              <a:rPr sz="1500">
                <a:solidFill>
                  <a:srgbClr val="556075"/>
                </a:solidFill>
              </a:rPr>
              <a:t>   学术讨论中更正更隐蔽，常用"let me reconsider"</a:t>
            </a:r>
          </a:p>
          <a:p>
            <a:pPr>
              <a:spcBef>
                <a:spcPts val="900"/>
              </a:spcBef>
            </a:pPr>
            <a:r>
              <a:rPr sz="1800" b="1">
                <a:solidFill>
                  <a:srgbClr val="0F4C5C"/>
                </a:solidFill>
              </a:rPr>
              <a:t>• 频率</a:t>
            </a:r>
          </a:p>
          <a:p>
            <a:pPr>
              <a:spcBef>
                <a:spcPts val="100"/>
              </a:spcBef>
            </a:pPr>
            <a:r>
              <a:rPr sz="1500">
                <a:solidFill>
                  <a:srgbClr val="556075"/>
                </a:solidFill>
              </a:rPr>
              <a:t>   每套听力约出现3-5次更正陷阱，约占陷阱总量30%</a:t>
            </a:r>
          </a:p>
        </p:txBody>
      </p:sp>
      <p:sp>
        <p:nvSpPr>
          <p:cNvPr id="11" name="Rectangle 10"/>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深圳学生注意：关键：听到更正信号词，立刻在草稿上划掉第一个答案，等待新答案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更正陷阱的变体</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不止"actually"，还有这些更正方式</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直接否定</a:t>
            </a:r>
          </a:p>
          <a:p>
            <a:pPr>
              <a:spcBef>
                <a:spcPts val="100"/>
              </a:spcBef>
            </a:pPr>
            <a:r>
              <a:rPr sz="1500">
                <a:solidFill>
                  <a:srgbClr val="556075"/>
                </a:solidFill>
              </a:rPr>
              <a:t>   No, sorry — that's wrong. It's...</a:t>
            </a:r>
          </a:p>
          <a:p>
            <a:pPr>
              <a:spcBef>
                <a:spcPts val="900"/>
              </a:spcBef>
            </a:pPr>
            <a:r>
              <a:rPr sz="1800" b="1">
                <a:solidFill>
                  <a:srgbClr val="0F4C5C"/>
                </a:solidFill>
              </a:rPr>
              <a:t>• 自我纠正</a:t>
            </a:r>
          </a:p>
          <a:p>
            <a:pPr>
              <a:spcBef>
                <a:spcPts val="100"/>
              </a:spcBef>
            </a:pPr>
            <a:r>
              <a:rPr sz="1500">
                <a:solidFill>
                  <a:srgbClr val="556075"/>
                </a:solidFill>
              </a:rPr>
              <a:t>   Wait, let me check... it's actually...</a:t>
            </a:r>
          </a:p>
          <a:p>
            <a:pPr>
              <a:spcBef>
                <a:spcPts val="900"/>
              </a:spcBef>
            </a:pPr>
            <a:r>
              <a:rPr sz="1800" b="1">
                <a:solidFill>
                  <a:srgbClr val="0F4C5C"/>
                </a:solidFill>
              </a:rPr>
              <a:t>• 他人纠正</a:t>
            </a:r>
          </a:p>
          <a:p>
            <a:pPr>
              <a:spcBef>
                <a:spcPts val="100"/>
              </a:spcBef>
            </a:pPr>
            <a:r>
              <a:rPr sz="1500">
                <a:solidFill>
                  <a:srgbClr val="556075"/>
                </a:solidFill>
              </a:rPr>
              <a:t>   A: Tuesday  B: Don't you mean Wednesday?  A: Oh yes, Wednesday</a:t>
            </a:r>
          </a:p>
          <a:p>
            <a:pPr>
              <a:spcBef>
                <a:spcPts val="900"/>
              </a:spcBef>
            </a:pPr>
            <a:r>
              <a:rPr sz="1800" b="1">
                <a:solidFill>
                  <a:srgbClr val="0F4C5C"/>
                </a:solidFill>
              </a:rPr>
              <a:t>• 延迟更正</a:t>
            </a:r>
          </a:p>
          <a:p>
            <a:pPr>
              <a:spcBef>
                <a:spcPts val="100"/>
              </a:spcBef>
            </a:pPr>
            <a:r>
              <a:rPr sz="1500">
                <a:solidFill>
                  <a:srgbClr val="556075"/>
                </a:solidFill>
              </a:rPr>
              <a:t>   信息A出现→聊别的话题→5句后才更正A（最难辨认）</a:t>
            </a:r>
          </a:p>
          <a:p>
            <a:pPr>
              <a:spcBef>
                <a:spcPts val="900"/>
              </a:spcBef>
            </a:pPr>
            <a:r>
              <a:rPr sz="1800" b="1">
                <a:solidFill>
                  <a:srgbClr val="0F4C5C"/>
                </a:solidFill>
              </a:rPr>
              <a:t>• 书面确认</a:t>
            </a:r>
          </a:p>
          <a:p>
            <a:pPr>
              <a:spcBef>
                <a:spcPts val="100"/>
              </a:spcBef>
            </a:pPr>
            <a:r>
              <a:rPr sz="1500">
                <a:solidFill>
                  <a:srgbClr val="556075"/>
                </a:solidFill>
              </a:rPr>
              <a:t>   "I'll just double-check that... yes, it's the 15th, not the 5th"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更正陷阱的分布规律</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S1最多</a:t>
            </a:r>
          </a:p>
          <a:p>
            <a:pPr>
              <a:spcBef>
                <a:spcPts val="100"/>
              </a:spcBef>
            </a:pPr>
            <a:r>
              <a:rPr sz="1550">
                <a:solidFill>
                  <a:srgbClr val="556075"/>
                </a:solidFill>
              </a:rPr>
              <a:t>   S1预约场景：时间/姓名/价格/地址被更正，约70%的更正陷阱在S1</a:t>
            </a:r>
          </a:p>
          <a:p>
            <a:pPr>
              <a:spcBef>
                <a:spcPts val="1000"/>
              </a:spcBef>
            </a:pPr>
            <a:r>
              <a:rPr sz="1850" b="1">
                <a:solidFill>
                  <a:srgbClr val="0F4C5C"/>
                </a:solidFill>
              </a:rPr>
              <a:t>• S2也有</a:t>
            </a:r>
          </a:p>
          <a:p>
            <a:pPr>
              <a:spcBef>
                <a:spcPts val="100"/>
              </a:spcBef>
            </a:pPr>
            <a:r>
              <a:rPr sz="1550">
                <a:solidFill>
                  <a:srgbClr val="556075"/>
                </a:solidFill>
              </a:rPr>
              <a:t>   S2信息说明时更正：活动时间/地点/价格</a:t>
            </a:r>
          </a:p>
          <a:p>
            <a:pPr>
              <a:spcBef>
                <a:spcPts val="1000"/>
              </a:spcBef>
            </a:pPr>
            <a:r>
              <a:rPr sz="1850" b="1">
                <a:solidFill>
                  <a:srgbClr val="0F4C5C"/>
                </a:solidFill>
              </a:rPr>
              <a:t>• S3最隐蔽</a:t>
            </a:r>
          </a:p>
          <a:p>
            <a:pPr>
              <a:spcBef>
                <a:spcPts val="100"/>
              </a:spcBef>
            </a:pPr>
            <a:r>
              <a:rPr sz="1550">
                <a:solidFill>
                  <a:srgbClr val="556075"/>
                </a:solidFill>
              </a:rPr>
              <a:t>   学术讨论中更正是方案/观点/数据，常用reconsider/revise</a:t>
            </a:r>
          </a:p>
          <a:p>
            <a:pPr>
              <a:spcBef>
                <a:spcPts val="1000"/>
              </a:spcBef>
            </a:pPr>
            <a:r>
              <a:rPr sz="1850" b="1">
                <a:solidFill>
                  <a:srgbClr val="0F4C5C"/>
                </a:solidFill>
              </a:rPr>
              <a:t>• S4最少</a:t>
            </a:r>
          </a:p>
          <a:p>
            <a:pPr>
              <a:spcBef>
                <a:spcPts val="100"/>
              </a:spcBef>
            </a:pPr>
            <a:r>
              <a:rPr sz="1550">
                <a:solidFill>
                  <a:srgbClr val="556075"/>
                </a:solidFill>
              </a:rPr>
              <a:t>   学术讲座更正较少，但有时会出现"corrections to previous research"</a:t>
            </a:r>
          </a:p>
          <a:p>
            <a:pPr>
              <a:spcBef>
                <a:spcPts val="1000"/>
              </a:spcBef>
            </a:pPr>
            <a:r>
              <a:rPr sz="1850" b="1">
                <a:solidFill>
                  <a:srgbClr val="0F4C5C"/>
                </a:solidFill>
              </a:rPr>
              <a:t>• 间隔规律</a:t>
            </a:r>
          </a:p>
          <a:p>
            <a:pPr>
              <a:spcBef>
                <a:spcPts val="100"/>
              </a:spcBef>
            </a:pPr>
            <a:r>
              <a:rPr sz="1550">
                <a:solidFill>
                  <a:srgbClr val="556075"/>
                </a:solidFill>
              </a:rPr>
              <a:t>   两道更正题之间通常间隔3-5题，连续更正较少见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更正草稿操作规范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第一步</a:t>
            </a:r>
          </a:p>
          <a:p>
            <a:pPr>
              <a:spcBef>
                <a:spcPts val="100"/>
              </a:spcBef>
            </a:pPr>
            <a:r>
              <a:rPr sz="1550">
                <a:solidFill>
                  <a:srgbClr val="556075"/>
                </a:solidFill>
              </a:rPr>
              <a:t>   听到关键词（可能是答案）→先在草稿写下</a:t>
            </a:r>
          </a:p>
          <a:p>
            <a:pPr>
              <a:spcBef>
                <a:spcPts val="1000"/>
              </a:spcBef>
            </a:pPr>
            <a:r>
              <a:rPr sz="1850" b="1">
                <a:solidFill>
                  <a:srgbClr val="0F4C5C"/>
                </a:solidFill>
              </a:rPr>
              <a:t>• 第二步</a:t>
            </a:r>
          </a:p>
          <a:p>
            <a:pPr>
              <a:spcBef>
                <a:spcPts val="100"/>
              </a:spcBef>
            </a:pPr>
            <a:r>
              <a:rPr sz="1550">
                <a:solidFill>
                  <a:srgbClr val="556075"/>
                </a:solidFill>
              </a:rPr>
              <a:t>   继续听，特别注意actually/sorry/I mean/wait</a:t>
            </a:r>
          </a:p>
          <a:p>
            <a:pPr>
              <a:spcBef>
                <a:spcPts val="1000"/>
              </a:spcBef>
            </a:pPr>
            <a:r>
              <a:rPr sz="1850" b="1">
                <a:solidFill>
                  <a:srgbClr val="0F4C5C"/>
                </a:solidFill>
              </a:rPr>
              <a:t>• 第三步</a:t>
            </a:r>
          </a:p>
          <a:p>
            <a:pPr>
              <a:spcBef>
                <a:spcPts val="100"/>
              </a:spcBef>
            </a:pPr>
            <a:r>
              <a:rPr sz="1550">
                <a:solidFill>
                  <a:srgbClr val="556075"/>
                </a:solidFill>
              </a:rPr>
              <a:t>   听到更正信号词→立刻横线划掉草稿上的候选答案</a:t>
            </a:r>
          </a:p>
          <a:p>
            <a:pPr>
              <a:spcBef>
                <a:spcPts val="1000"/>
              </a:spcBef>
            </a:pPr>
            <a:r>
              <a:rPr sz="1850" b="1">
                <a:solidFill>
                  <a:srgbClr val="0F4C5C"/>
                </a:solidFill>
              </a:rPr>
              <a:t>• 第四步</a:t>
            </a:r>
          </a:p>
          <a:p>
            <a:pPr>
              <a:spcBef>
                <a:spcPts val="100"/>
              </a:spcBef>
            </a:pPr>
            <a:r>
              <a:rPr sz="1550">
                <a:solidFill>
                  <a:srgbClr val="556075"/>
                </a:solidFill>
              </a:rPr>
              <a:t>   写下更正后的新答案→确认逻辑→誊写</a:t>
            </a:r>
          </a:p>
          <a:p>
            <a:pPr>
              <a:spcBef>
                <a:spcPts val="1000"/>
              </a:spcBef>
            </a:pPr>
            <a:r>
              <a:rPr sz="1850" b="1">
                <a:solidFill>
                  <a:srgbClr val="0F4C5C"/>
                </a:solidFill>
              </a:rPr>
              <a:t>• 机考操作</a:t>
            </a:r>
          </a:p>
          <a:p>
            <a:pPr>
              <a:spcBef>
                <a:spcPts val="100"/>
              </a:spcBef>
            </a:pPr>
            <a:r>
              <a:rPr sz="1550">
                <a:solidFill>
                  <a:srgbClr val="556075"/>
                </a:solidFill>
              </a:rPr>
              <a:t>   先在草稿写，确认后再输入；不要直接修改输入框（可能误触）</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更正陷阱识别练习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以下对话，找出更正陷阱并写出正确答案：
"The session starts at half past six."
"Sorry, I meant half past seven — we moved it back an hour."</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错误答案：6:30（half past six）
正确答案：7:30（half past seven）
信号词：Sorry, I meant
操作：听到"Sorry, I meant"立刻划掉6:30，写7:30</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操作要点：不要等"I meant"说完才反应——听到"Sorry"就准备划掉上一个答案</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S3更正陷阱实战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A: "So we're planning to interview around 50 participants?"
B: "Actually, I think we should increase that to 75 to get a more reliable sample."
A: "Right. And we'll use a questionnaire?"
B: "No, I'd prefer face-to-face interviews — questionnaires have too many limitations."
Q: Number of participants? / Q: Data collection method?</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Q1：75（不是50，B更正了A的提议）
Q2：face-to-face interviews（不是questionnaire，B明确否定了questionnaire）</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S3陷阱规律：A先提出一个方案，B通常会修改或否定→最终方案才是答案</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否定型与条件型陷阱</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Negation &amp; Conditional Traps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否定型陷阱：not/never/don't改变答案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否定词让意思完全反转</a:t>
            </a:r>
          </a:p>
        </p:txBody>
      </p:sp>
      <p:sp>
        <p:nvSpPr>
          <p:cNvPr id="10" name="TextBox 9"/>
          <p:cNvSpPr txBox="1"/>
          <p:nvPr/>
        </p:nvSpPr>
        <p:spPr>
          <a:xfrm>
            <a:off x="640080" y="2240280"/>
            <a:ext cx="10972800" cy="3931920"/>
          </a:xfrm>
          <a:prstGeom prst="rect">
            <a:avLst/>
          </a:prstGeom>
          <a:noFill/>
        </p:spPr>
        <p:txBody>
          <a:bodyPr wrap="square">
            <a:spAutoFit/>
          </a:bodyPr>
          <a:lstStyle/>
          <a:p>
            <a:r>
              <a:rPr sz="1800" b="1">
                <a:solidFill>
                  <a:srgbClr val="0F4C5C"/>
                </a:solidFill>
              </a:rPr>
              <a:t>• 直接否定</a:t>
            </a:r>
          </a:p>
          <a:p>
            <a:pPr>
              <a:spcBef>
                <a:spcPts val="100"/>
              </a:spcBef>
            </a:pPr>
            <a:r>
              <a:rPr sz="1500">
                <a:solidFill>
                  <a:srgbClr val="556075"/>
                </a:solidFill>
              </a:rPr>
              <a:t>   not, never, no, don't, doesn't, can't, won't, isn't, aren't</a:t>
            </a:r>
          </a:p>
          <a:p>
            <a:pPr>
              <a:spcBef>
                <a:spcPts val="900"/>
              </a:spcBef>
            </a:pPr>
            <a:r>
              <a:rPr sz="1800" b="1">
                <a:solidFill>
                  <a:srgbClr val="0F4C5C"/>
                </a:solidFill>
              </a:rPr>
              <a:t>• 间接否定</a:t>
            </a:r>
          </a:p>
          <a:p>
            <a:pPr>
              <a:spcBef>
                <a:spcPts val="100"/>
              </a:spcBef>
            </a:pPr>
            <a:r>
              <a:rPr sz="1500">
                <a:solidFill>
                  <a:srgbClr val="556075"/>
                </a:solidFill>
              </a:rPr>
              <a:t>   without, lack of, fail to, unable to, refuse to</a:t>
            </a:r>
          </a:p>
          <a:p>
            <a:pPr>
              <a:spcBef>
                <a:spcPts val="900"/>
              </a:spcBef>
            </a:pPr>
            <a:r>
              <a:rPr sz="1800" b="1">
                <a:solidFill>
                  <a:srgbClr val="0F4C5C"/>
                </a:solidFill>
              </a:rPr>
              <a:t>• 限制否定</a:t>
            </a:r>
          </a:p>
          <a:p>
            <a:pPr>
              <a:spcBef>
                <a:spcPts val="100"/>
              </a:spcBef>
            </a:pPr>
            <a:r>
              <a:rPr sz="1500">
                <a:solidFill>
                  <a:srgbClr val="556075"/>
                </a:solidFill>
              </a:rPr>
              <a:t>   only, just, merely（限定到其他选项不成立）</a:t>
            </a:r>
          </a:p>
          <a:p>
            <a:pPr>
              <a:spcBef>
                <a:spcPts val="900"/>
              </a:spcBef>
            </a:pPr>
            <a:r>
              <a:rPr sz="1800" b="1">
                <a:solidFill>
                  <a:srgbClr val="0F4C5C"/>
                </a:solidFill>
              </a:rPr>
              <a:t>• 常见错误</a:t>
            </a:r>
          </a:p>
          <a:p>
            <a:pPr>
              <a:spcBef>
                <a:spcPts val="100"/>
              </a:spcBef>
            </a:pPr>
            <a:r>
              <a:rPr sz="1500">
                <a:solidFill>
                  <a:srgbClr val="556075"/>
                </a:solidFill>
              </a:rPr>
              <a:t>   听到关键词就写，没注意到关键词前面有否定词</a:t>
            </a:r>
          </a:p>
          <a:p>
            <a:pPr>
              <a:spcBef>
                <a:spcPts val="900"/>
              </a:spcBef>
            </a:pPr>
            <a:r>
              <a:rPr sz="1800" b="1">
                <a:solidFill>
                  <a:srgbClr val="0F4C5C"/>
                </a:solidFill>
              </a:rPr>
              <a:t>• 应对策略</a:t>
            </a:r>
          </a:p>
          <a:p>
            <a:pPr>
              <a:spcBef>
                <a:spcPts val="100"/>
              </a:spcBef>
            </a:pPr>
            <a:r>
              <a:rPr sz="1500">
                <a:solidFill>
                  <a:srgbClr val="556075"/>
                </a:solidFill>
              </a:rPr>
              <a:t>   每个关键词听到之前先扫描有无否定词，形成习惯</a:t>
            </a:r>
          </a:p>
        </p:txBody>
      </p:sp>
      <p:sp>
        <p:nvSpPr>
          <p:cNvPr id="11" name="Rectangle 10"/>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深圳学生注意："not available on Friday" → 答案不是Friday；"without prior experience" → 答案不是experience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条件型陷阱：if/unless改变答案的有效性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条件不满足时内容不算答案</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条件结构</a:t>
            </a:r>
          </a:p>
          <a:p>
            <a:pPr>
              <a:spcBef>
                <a:spcPts val="100"/>
              </a:spcBef>
            </a:pPr>
            <a:r>
              <a:rPr sz="1500">
                <a:solidFill>
                  <a:srgbClr val="556075"/>
                </a:solidFill>
              </a:rPr>
              <a:t>   if... / unless... / only if... / as long as... / provided that...</a:t>
            </a:r>
          </a:p>
          <a:p>
            <a:pPr>
              <a:spcBef>
                <a:spcPts val="900"/>
              </a:spcBef>
            </a:pPr>
            <a:r>
              <a:rPr sz="1800" b="1">
                <a:solidFill>
                  <a:srgbClr val="0F4C5C"/>
                </a:solidFill>
              </a:rPr>
              <a:t>• 陷阱机制</a:t>
            </a:r>
          </a:p>
          <a:p>
            <a:pPr>
              <a:spcBef>
                <a:spcPts val="100"/>
              </a:spcBef>
            </a:pPr>
            <a:r>
              <a:rPr sz="1500">
                <a:solidFill>
                  <a:srgbClr val="556075"/>
                </a:solidFill>
              </a:rPr>
              <a:t>   录音说"if it rains, we'll move indoors"——条件不一定实现</a:t>
            </a:r>
          </a:p>
          <a:p>
            <a:pPr>
              <a:spcBef>
                <a:spcPts val="900"/>
              </a:spcBef>
            </a:pPr>
            <a:r>
              <a:rPr sz="1800" b="1">
                <a:solidFill>
                  <a:srgbClr val="0F4C5C"/>
                </a:solidFill>
              </a:rPr>
              <a:t>• 应对策略</a:t>
            </a:r>
          </a:p>
          <a:p>
            <a:pPr>
              <a:spcBef>
                <a:spcPts val="100"/>
              </a:spcBef>
            </a:pPr>
            <a:r>
              <a:rPr sz="1500">
                <a:solidFill>
                  <a:srgbClr val="556075"/>
                </a:solidFill>
              </a:rPr>
              <a:t>   听到条件词时，等待确认"条件是否实现"再写答案</a:t>
            </a:r>
          </a:p>
          <a:p>
            <a:pPr>
              <a:spcBef>
                <a:spcPts val="900"/>
              </a:spcBef>
            </a:pPr>
            <a:r>
              <a:rPr sz="1800" b="1">
                <a:solidFill>
                  <a:srgbClr val="0F4C5C"/>
                </a:solidFill>
              </a:rPr>
              <a:t>• 典型错误</a:t>
            </a:r>
          </a:p>
          <a:p>
            <a:pPr>
              <a:spcBef>
                <a:spcPts val="100"/>
              </a:spcBef>
            </a:pPr>
            <a:r>
              <a:rPr sz="1500">
                <a:solidFill>
                  <a:srgbClr val="556075"/>
                </a:solidFill>
              </a:rPr>
              <a:t>   题目问"venue"，录音说"if it rains, indoors"，学生写indoor（条件未必实现）</a:t>
            </a:r>
          </a:p>
          <a:p>
            <a:pPr>
              <a:spcBef>
                <a:spcPts val="900"/>
              </a:spcBef>
            </a:pPr>
            <a:r>
              <a:rPr sz="1800" b="1">
                <a:solidFill>
                  <a:srgbClr val="0F4C5C"/>
                </a:solidFill>
              </a:rPr>
              <a:t>• 识别信号</a:t>
            </a:r>
          </a:p>
          <a:p>
            <a:pPr>
              <a:spcBef>
                <a:spcPts val="100"/>
              </a:spcBef>
            </a:pPr>
            <a:r>
              <a:rPr sz="1500">
                <a:solidFill>
                  <a:srgbClr val="556075"/>
                </a:solidFill>
              </a:rPr>
              <a:t>   听到if/unless后，继续听确认句：确认了才写，没确认画问号</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否定型陷阱的识别难点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not省音</a:t>
            </a:r>
          </a:p>
          <a:p>
            <a:pPr>
              <a:spcBef>
                <a:spcPts val="100"/>
              </a:spcBef>
            </a:pPr>
            <a:r>
              <a:rPr sz="1550">
                <a:solidFill>
                  <a:srgbClr val="556075"/>
                </a:solidFill>
              </a:rPr>
              <a:t>   快速语流中"not"被弱读为/nət/，容易没听到</a:t>
            </a:r>
          </a:p>
          <a:p>
            <a:pPr>
              <a:spcBef>
                <a:spcPts val="1000"/>
              </a:spcBef>
            </a:pPr>
            <a:r>
              <a:rPr sz="1850" b="1">
                <a:solidFill>
                  <a:srgbClr val="0F4C5C"/>
                </a:solidFill>
              </a:rPr>
              <a:t>• 否定形式多样</a:t>
            </a:r>
          </a:p>
          <a:p>
            <a:pPr>
              <a:spcBef>
                <a:spcPts val="100"/>
              </a:spcBef>
            </a:pPr>
            <a:r>
              <a:rPr sz="1550">
                <a:solidFill>
                  <a:srgbClr val="556075"/>
                </a:solidFill>
              </a:rPr>
              <a:t>   can't/cannot/won't/don't/doesn't/didn't——每种都要敏感</a:t>
            </a:r>
          </a:p>
          <a:p>
            <a:pPr>
              <a:spcBef>
                <a:spcPts val="1000"/>
              </a:spcBef>
            </a:pPr>
            <a:r>
              <a:rPr sz="1850" b="1">
                <a:solidFill>
                  <a:srgbClr val="0F4C5C"/>
                </a:solidFill>
              </a:rPr>
              <a:t>• 前置否定</a:t>
            </a:r>
          </a:p>
          <a:p>
            <a:pPr>
              <a:spcBef>
                <a:spcPts val="100"/>
              </a:spcBef>
            </a:pPr>
            <a:r>
              <a:rPr sz="1550">
                <a:solidFill>
                  <a:srgbClr val="556075"/>
                </a:solidFill>
              </a:rPr>
              <a:t>   否定词在句首：Never park here / No students allowed</a:t>
            </a:r>
          </a:p>
          <a:p>
            <a:pPr>
              <a:spcBef>
                <a:spcPts val="1000"/>
              </a:spcBef>
            </a:pPr>
            <a:r>
              <a:rPr sz="1850" b="1">
                <a:solidFill>
                  <a:srgbClr val="0F4C5C"/>
                </a:solidFill>
              </a:rPr>
              <a:t>• 双重否定</a:t>
            </a:r>
          </a:p>
          <a:p>
            <a:pPr>
              <a:spcBef>
                <a:spcPts val="100"/>
              </a:spcBef>
            </a:pPr>
            <a:r>
              <a:rPr sz="1550">
                <a:solidFill>
                  <a:srgbClr val="556075"/>
                </a:solidFill>
              </a:rPr>
              <a:t>   not impossible=possible，not uncommon=common（要理解语义）</a:t>
            </a:r>
          </a:p>
          <a:p>
            <a:pPr>
              <a:spcBef>
                <a:spcPts val="1000"/>
              </a:spcBef>
            </a:pPr>
            <a:r>
              <a:rPr sz="1850" b="1">
                <a:solidFill>
                  <a:srgbClr val="0F4C5C"/>
                </a:solidFill>
              </a:rPr>
              <a:t>• 否定答案类型</a:t>
            </a:r>
          </a:p>
          <a:p>
            <a:pPr>
              <a:spcBef>
                <a:spcPts val="100"/>
              </a:spcBef>
            </a:pPr>
            <a:r>
              <a:rPr sz="1550">
                <a:solidFill>
                  <a:srgbClr val="556075"/>
                </a:solidFill>
              </a:rPr>
              <a:t>   题目问"what can't students do"——答案要符合题目否定方向</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条件型陷阱的深度解析</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条件未实现</a:t>
            </a:r>
          </a:p>
          <a:p>
            <a:pPr>
              <a:spcBef>
                <a:spcPts val="100"/>
              </a:spcBef>
            </a:pPr>
            <a:r>
              <a:rPr sz="1550">
                <a:solidFill>
                  <a:srgbClr val="556075"/>
                </a:solidFill>
              </a:rPr>
              <a:t>   if引导的内容：条件一旦否定，该内容就不是答案</a:t>
            </a:r>
          </a:p>
          <a:p>
            <a:pPr>
              <a:spcBef>
                <a:spcPts val="1000"/>
              </a:spcBef>
            </a:pPr>
            <a:r>
              <a:rPr sz="1850" b="1">
                <a:solidFill>
                  <a:srgbClr val="0F4C5C"/>
                </a:solidFill>
              </a:rPr>
              <a:t>• 确认方式</a:t>
            </a:r>
          </a:p>
          <a:p>
            <a:pPr>
              <a:spcBef>
                <a:spcPts val="100"/>
              </a:spcBef>
            </a:pPr>
            <a:r>
              <a:rPr sz="1550">
                <a:solidFill>
                  <a:srgbClr val="556075"/>
                </a:solidFill>
              </a:rPr>
              <a:t>   "The forecast looks positive"=天气好条件成立；"Unfortunately the funding fell through"=条件不成立</a:t>
            </a:r>
          </a:p>
          <a:p>
            <a:pPr>
              <a:spcBef>
                <a:spcPts val="1000"/>
              </a:spcBef>
            </a:pPr>
            <a:r>
              <a:rPr sz="1850" b="1">
                <a:solidFill>
                  <a:srgbClr val="0F4C5C"/>
                </a:solidFill>
              </a:rPr>
              <a:t>• 双条件</a:t>
            </a:r>
          </a:p>
          <a:p>
            <a:pPr>
              <a:spcBef>
                <a:spcPts val="100"/>
              </a:spcBef>
            </a:pPr>
            <a:r>
              <a:rPr sz="1550">
                <a:solidFill>
                  <a:srgbClr val="556075"/>
                </a:solidFill>
              </a:rPr>
              <a:t>   unless A, B——A不发生则B发生，A发生则不是B</a:t>
            </a:r>
          </a:p>
          <a:p>
            <a:pPr>
              <a:spcBef>
                <a:spcPts val="1000"/>
              </a:spcBef>
            </a:pPr>
            <a:r>
              <a:rPr sz="1850" b="1">
                <a:solidFill>
                  <a:srgbClr val="0F4C5C"/>
                </a:solidFill>
              </a:rPr>
              <a:t>• 计划+条件</a:t>
            </a:r>
          </a:p>
          <a:p>
            <a:pPr>
              <a:spcBef>
                <a:spcPts val="100"/>
              </a:spcBef>
            </a:pPr>
            <a:r>
              <a:rPr sz="1550">
                <a:solidFill>
                  <a:srgbClr val="556075"/>
                </a:solidFill>
              </a:rPr>
              <a:t>   Going to + unless = 最难复合体，需要找最终确认句</a:t>
            </a:r>
          </a:p>
          <a:p>
            <a:pPr>
              <a:spcBef>
                <a:spcPts val="1000"/>
              </a:spcBef>
            </a:pPr>
            <a:r>
              <a:rPr sz="1850" b="1">
                <a:solidFill>
                  <a:srgbClr val="0F4C5C"/>
                </a:solidFill>
              </a:rPr>
              <a:t>• 深圳学生弱点</a:t>
            </a:r>
          </a:p>
          <a:p>
            <a:pPr>
              <a:spcBef>
                <a:spcPts val="100"/>
              </a:spcBef>
            </a:pPr>
            <a:r>
              <a:rPr sz="1550">
                <a:solidFill>
                  <a:srgbClr val="556075"/>
                </a:solidFill>
              </a:rPr>
              <a:t>   条件型是深圳学生识别率最低（约45%）的陷阱类型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否定型陷阱练习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以下句子中，答案是什么？
Q: What is NOT included in the ticket price?
录音："The ticket price covers the main exhibition, the guided tour, and the café visit. However, the gift shop and the special art workshop are not included and must be paid for separately."
Q问的是"不包含的"项目：</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答案：gift shop / (special) art workshop（录音说"not included"的两项）
注意：题目本身就是"what is NOT included"——双重否定要小心
主展览/导览/咖啡馆是包含的（=干扰项）</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"NOT included"类题目是否定题中最难的——题目和录音各有一个否定，逻辑要理清</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条件型陷阱练习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录音："If the weather is good, we'll hold the event outdoors in the park. But if it rains, we'll use the community hall instead. The forecast looks positive, so we're planning for the park."
Q: Where will the event be held?</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答案：(the/a) park（因为forecast looks positive，即天气预报良好，确认了第一个条件成立）
不是：community hall（雨天备用方案，条件未成立）</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条件题解题步骤：①找两个条件分支→②找确认哪个条件成立的句子→③只写已确认的答案</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相似音与未来计划陷阱</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Similar Sound &amp; Future Plan Traps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相似音陷阱：听错了单词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音近词导致写错</a:t>
            </a:r>
          </a:p>
        </p:txBody>
      </p:sp>
      <p:sp>
        <p:nvSpPr>
          <p:cNvPr id="10" name="TextBox 9"/>
          <p:cNvSpPr txBox="1"/>
          <p:nvPr/>
        </p:nvSpPr>
        <p:spPr>
          <a:xfrm>
            <a:off x="640080" y="2240280"/>
            <a:ext cx="10972800" cy="3931920"/>
          </a:xfrm>
          <a:prstGeom prst="rect">
            <a:avLst/>
          </a:prstGeom>
          <a:noFill/>
        </p:spPr>
        <p:txBody>
          <a:bodyPr wrap="square">
            <a:spAutoFit/>
          </a:bodyPr>
          <a:lstStyle/>
          <a:p>
            <a:r>
              <a:rPr sz="1800" b="1">
                <a:solidFill>
                  <a:srgbClr val="0F4C5C"/>
                </a:solidFill>
              </a:rPr>
              <a:t>• 数字音近</a:t>
            </a:r>
          </a:p>
          <a:p>
            <a:pPr>
              <a:spcBef>
                <a:spcPts val="100"/>
              </a:spcBef>
            </a:pPr>
            <a:r>
              <a:rPr sz="1500">
                <a:solidFill>
                  <a:srgbClr val="556075"/>
                </a:solidFill>
              </a:rPr>
              <a:t>   thirteen/thirty, fifteen/fifty, fourteen/forty</a:t>
            </a:r>
          </a:p>
          <a:p>
            <a:pPr>
              <a:spcBef>
                <a:spcPts val="900"/>
              </a:spcBef>
            </a:pPr>
            <a:r>
              <a:rPr sz="1800" b="1">
                <a:solidFill>
                  <a:srgbClr val="0F4C5C"/>
                </a:solidFill>
              </a:rPr>
              <a:t>• 词汇音近</a:t>
            </a:r>
          </a:p>
          <a:p>
            <a:pPr>
              <a:spcBef>
                <a:spcPts val="100"/>
              </a:spcBef>
            </a:pPr>
            <a:r>
              <a:rPr sz="1500">
                <a:solidFill>
                  <a:srgbClr val="556075"/>
                </a:solidFill>
              </a:rPr>
              <a:t>   dessert/desert, affect/effect, principle/principal</a:t>
            </a:r>
          </a:p>
          <a:p>
            <a:pPr>
              <a:spcBef>
                <a:spcPts val="900"/>
              </a:spcBef>
            </a:pPr>
            <a:r>
              <a:rPr sz="1800" b="1">
                <a:solidFill>
                  <a:srgbClr val="0F4C5C"/>
                </a:solidFill>
              </a:rPr>
              <a:t>• 名字音近</a:t>
            </a:r>
          </a:p>
          <a:p>
            <a:pPr>
              <a:spcBef>
                <a:spcPts val="100"/>
              </a:spcBef>
            </a:pPr>
            <a:r>
              <a:rPr sz="1500">
                <a:solidFill>
                  <a:srgbClr val="556075"/>
                </a:solidFill>
              </a:rPr>
              <a:t>   Lee/Li, Brown/Braun, Hall/Haul, Smith/Smyth</a:t>
            </a:r>
          </a:p>
          <a:p>
            <a:pPr>
              <a:spcBef>
                <a:spcPts val="900"/>
              </a:spcBef>
            </a:pPr>
            <a:r>
              <a:rPr sz="1800" b="1">
                <a:solidFill>
                  <a:srgbClr val="0F4C5C"/>
                </a:solidFill>
              </a:rPr>
              <a:t>• 短语音近</a:t>
            </a:r>
          </a:p>
          <a:p>
            <a:pPr>
              <a:spcBef>
                <a:spcPts val="100"/>
              </a:spcBef>
            </a:pPr>
            <a:r>
              <a:rPr sz="1500">
                <a:solidFill>
                  <a:srgbClr val="556075"/>
                </a:solidFill>
              </a:rPr>
              <a:t>   a name/an aim, ice cream/I scream, new key/UK</a:t>
            </a:r>
          </a:p>
          <a:p>
            <a:pPr>
              <a:spcBef>
                <a:spcPts val="900"/>
              </a:spcBef>
            </a:pPr>
            <a:r>
              <a:rPr sz="1800" b="1">
                <a:solidFill>
                  <a:srgbClr val="0F4C5C"/>
                </a:solidFill>
              </a:rPr>
              <a:t>• 应对策略</a:t>
            </a:r>
          </a:p>
          <a:p>
            <a:pPr>
              <a:spcBef>
                <a:spcPts val="100"/>
              </a:spcBef>
            </a:pPr>
            <a:r>
              <a:rPr sz="1500">
                <a:solidFill>
                  <a:srgbClr val="556075"/>
                </a:solidFill>
              </a:rPr>
              <a:t>   数字类：等说完整句再写；人名：等对方拼读确认</a:t>
            </a:r>
          </a:p>
        </p:txBody>
      </p:sp>
      <p:sp>
        <p:nvSpPr>
          <p:cNvPr id="11" name="Rectangle 10"/>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深圳学生注意：相似音陷阱在S1最常见，尤其是预约场景的姓名和数字</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未来计划陷阱：计划≠事实</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提到的计划不一定实现</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计划标志</a:t>
            </a:r>
          </a:p>
          <a:p>
            <a:pPr>
              <a:spcBef>
                <a:spcPts val="100"/>
              </a:spcBef>
            </a:pPr>
            <a:r>
              <a:rPr sz="1500">
                <a:solidFill>
                  <a:srgbClr val="556075"/>
                </a:solidFill>
              </a:rPr>
              <a:t>   plan to, intend to, going to, hope to, thinking of</a:t>
            </a:r>
          </a:p>
          <a:p>
            <a:pPr>
              <a:spcBef>
                <a:spcPts val="900"/>
              </a:spcBef>
            </a:pPr>
            <a:r>
              <a:rPr sz="1800" b="1">
                <a:solidFill>
                  <a:srgbClr val="0F4C5C"/>
                </a:solidFill>
              </a:rPr>
              <a:t>• 未实现标志</a:t>
            </a:r>
          </a:p>
          <a:p>
            <a:pPr>
              <a:spcBef>
                <a:spcPts val="100"/>
              </a:spcBef>
            </a:pPr>
            <a:r>
              <a:rPr sz="1500">
                <a:solidFill>
                  <a:srgbClr val="556075"/>
                </a:solidFill>
              </a:rPr>
              <a:t>   but, however, unfortunately, in the end, actually</a:t>
            </a:r>
          </a:p>
          <a:p>
            <a:pPr>
              <a:spcBef>
                <a:spcPts val="900"/>
              </a:spcBef>
            </a:pPr>
            <a:r>
              <a:rPr sz="1800" b="1">
                <a:solidFill>
                  <a:srgbClr val="0F4C5C"/>
                </a:solidFill>
              </a:rPr>
              <a:t>• 陷阱机制</a:t>
            </a:r>
          </a:p>
          <a:p>
            <a:pPr>
              <a:spcBef>
                <a:spcPts val="100"/>
              </a:spcBef>
            </a:pPr>
            <a:r>
              <a:rPr sz="1500">
                <a:solidFill>
                  <a:srgbClr val="556075"/>
                </a:solidFill>
              </a:rPr>
              <a:t>   录音先说plan，后说plan改变或取消——考实际结果</a:t>
            </a:r>
          </a:p>
          <a:p>
            <a:pPr>
              <a:spcBef>
                <a:spcPts val="900"/>
              </a:spcBef>
            </a:pPr>
            <a:r>
              <a:rPr sz="1800" b="1">
                <a:solidFill>
                  <a:srgbClr val="0F4C5C"/>
                </a:solidFill>
              </a:rPr>
              <a:t>• 应对策略</a:t>
            </a:r>
          </a:p>
          <a:p>
            <a:pPr>
              <a:spcBef>
                <a:spcPts val="100"/>
              </a:spcBef>
            </a:pPr>
            <a:r>
              <a:rPr sz="1500">
                <a:solidFill>
                  <a:srgbClr val="556075"/>
                </a:solidFill>
              </a:rPr>
              <a:t>   听到计划词时打问号，继续听是否有转折更改</a:t>
            </a:r>
          </a:p>
          <a:p>
            <a:pPr>
              <a:spcBef>
                <a:spcPts val="900"/>
              </a:spcBef>
            </a:pPr>
            <a:r>
              <a:rPr sz="1800" b="1">
                <a:solidFill>
                  <a:srgbClr val="0F4C5C"/>
                </a:solidFill>
              </a:rPr>
              <a:t>• 典型场景</a:t>
            </a:r>
          </a:p>
          <a:p>
            <a:pPr>
              <a:spcBef>
                <a:spcPts val="100"/>
              </a:spcBef>
            </a:pPr>
            <a:r>
              <a:rPr sz="1500">
                <a:solidFill>
                  <a:srgbClr val="556075"/>
                </a:solidFill>
              </a:rPr>
              <a:t>   S1：A计划周五送货，但后来改成了周一；答案是周一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相似音陷阱的练习方法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数字专项</a:t>
            </a:r>
          </a:p>
          <a:p>
            <a:pPr>
              <a:spcBef>
                <a:spcPts val="100"/>
              </a:spcBef>
            </a:pPr>
            <a:r>
              <a:rPr sz="1550">
                <a:solidFill>
                  <a:srgbClr val="556075"/>
                </a:solidFill>
              </a:rPr>
              <a:t>   每天练13vs30/14vs40/15vs50：一人报数，一人写，互相核对</a:t>
            </a:r>
          </a:p>
          <a:p>
            <a:pPr>
              <a:spcBef>
                <a:spcPts val="1000"/>
              </a:spcBef>
            </a:pPr>
            <a:r>
              <a:rPr sz="1850" b="1">
                <a:solidFill>
                  <a:srgbClr val="0F4C5C"/>
                </a:solidFill>
              </a:rPr>
              <a:t>• 词汇专项</a:t>
            </a:r>
          </a:p>
          <a:p>
            <a:pPr>
              <a:spcBef>
                <a:spcPts val="100"/>
              </a:spcBef>
            </a:pPr>
            <a:r>
              <a:rPr sz="1550">
                <a:solidFill>
                  <a:srgbClr val="556075"/>
                </a:solidFill>
              </a:rPr>
              <a:t>   affect/effect, dessert/desert, principle/principal音近词配对练习</a:t>
            </a:r>
          </a:p>
          <a:p>
            <a:pPr>
              <a:spcBef>
                <a:spcPts val="1000"/>
              </a:spcBef>
            </a:pPr>
            <a:r>
              <a:rPr sz="1850" b="1">
                <a:solidFill>
                  <a:srgbClr val="0F4C5C"/>
                </a:solidFill>
              </a:rPr>
              <a:t>• 电话专项</a:t>
            </a:r>
          </a:p>
          <a:p>
            <a:pPr>
              <a:spcBef>
                <a:spcPts val="100"/>
              </a:spcBef>
            </a:pPr>
            <a:r>
              <a:rPr sz="1550">
                <a:solidFill>
                  <a:srgbClr val="556075"/>
                </a:solidFill>
              </a:rPr>
              <a:t>   练习"double/treble+digit"格式，听一遍写一遍不回放</a:t>
            </a:r>
          </a:p>
          <a:p>
            <a:pPr>
              <a:spcBef>
                <a:spcPts val="1000"/>
              </a:spcBef>
            </a:pPr>
            <a:r>
              <a:rPr sz="1850" b="1">
                <a:solidFill>
                  <a:srgbClr val="0F4C5C"/>
                </a:solidFill>
              </a:rPr>
              <a:t>• 人名专项</a:t>
            </a:r>
          </a:p>
          <a:p>
            <a:pPr>
              <a:spcBef>
                <a:spcPts val="100"/>
              </a:spcBef>
            </a:pPr>
            <a:r>
              <a:rPr sz="1550">
                <a:solidFill>
                  <a:srgbClr val="556075"/>
                </a:solidFill>
              </a:rPr>
              <a:t>   英式姓名常见：Smith/Smyth, Brown/Braun, Hall/Haul</a:t>
            </a:r>
          </a:p>
          <a:p>
            <a:pPr>
              <a:spcBef>
                <a:spcPts val="1000"/>
              </a:spcBef>
            </a:pPr>
            <a:r>
              <a:rPr sz="1850" b="1">
                <a:solidFill>
                  <a:srgbClr val="0F4C5C"/>
                </a:solidFill>
              </a:rPr>
              <a:t>• 成功标准</a:t>
            </a:r>
          </a:p>
          <a:p>
            <a:pPr>
              <a:spcBef>
                <a:spcPts val="100"/>
              </a:spcBef>
            </a:pPr>
            <a:r>
              <a:rPr sz="1550">
                <a:solidFill>
                  <a:srgbClr val="556075"/>
                </a:solidFill>
              </a:rPr>
              <a:t>   数字听写正确率≥95%；音近词正确率≥90%后方可停止专项训练</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未来计划陷阱的识别训练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训练方法</a:t>
            </a:r>
          </a:p>
          <a:p>
            <a:pPr>
              <a:spcBef>
                <a:spcPts val="100"/>
              </a:spcBef>
            </a:pPr>
            <a:r>
              <a:rPr sz="1550">
                <a:solidFill>
                  <a:srgbClr val="556075"/>
                </a:solidFill>
              </a:rPr>
              <a:t>   在录音听到plan to/going to时，在草稿上画问号(?)，继续听</a:t>
            </a:r>
          </a:p>
          <a:p>
            <a:pPr>
              <a:spcBef>
                <a:spcPts val="1000"/>
              </a:spcBef>
            </a:pPr>
            <a:r>
              <a:rPr sz="1850" b="1">
                <a:solidFill>
                  <a:srgbClr val="0F4C5C"/>
                </a:solidFill>
              </a:rPr>
              <a:t>• 确认标准</a:t>
            </a:r>
          </a:p>
          <a:p>
            <a:pPr>
              <a:spcBef>
                <a:spcPts val="100"/>
              </a:spcBef>
            </a:pPr>
            <a:r>
              <a:rPr sz="1550">
                <a:solidFill>
                  <a:srgbClr val="556075"/>
                </a:solidFill>
              </a:rPr>
              <a:t>   等录音说出确认句（"so we'll"/"it's confirmed"）再写正式答案</a:t>
            </a:r>
          </a:p>
          <a:p>
            <a:pPr>
              <a:spcBef>
                <a:spcPts val="1000"/>
              </a:spcBef>
            </a:pPr>
            <a:r>
              <a:rPr sz="1850" b="1">
                <a:solidFill>
                  <a:srgbClr val="0F4C5C"/>
                </a:solidFill>
              </a:rPr>
              <a:t>• 没有确认的情况</a:t>
            </a:r>
          </a:p>
          <a:p>
            <a:pPr>
              <a:spcBef>
                <a:spcPts val="100"/>
              </a:spcBef>
            </a:pPr>
            <a:r>
              <a:rPr sz="1550">
                <a:solidFill>
                  <a:srgbClr val="556075"/>
                </a:solidFill>
              </a:rPr>
              <a:t>   如果录音说plan to没有后续更改，计划本身就是答案</a:t>
            </a:r>
          </a:p>
          <a:p>
            <a:pPr>
              <a:spcBef>
                <a:spcPts val="1000"/>
              </a:spcBef>
            </a:pPr>
            <a:r>
              <a:rPr sz="1850" b="1">
                <a:solidFill>
                  <a:srgbClr val="0F4C5C"/>
                </a:solidFill>
              </a:rPr>
              <a:t>• 但是转折</a:t>
            </a:r>
          </a:p>
          <a:p>
            <a:pPr>
              <a:spcBef>
                <a:spcPts val="100"/>
              </a:spcBef>
            </a:pPr>
            <a:r>
              <a:rPr sz="1550">
                <a:solidFill>
                  <a:srgbClr val="556075"/>
                </a:solidFill>
              </a:rPr>
              <a:t>   plan to + but = 最终答案在but之后</a:t>
            </a:r>
          </a:p>
          <a:p>
            <a:pPr>
              <a:spcBef>
                <a:spcPts val="1000"/>
              </a:spcBef>
            </a:pPr>
            <a:r>
              <a:rPr sz="1850" b="1">
                <a:solidFill>
                  <a:srgbClr val="0F4C5C"/>
                </a:solidFill>
              </a:rPr>
              <a:t>• unfortunately转折</a:t>
            </a:r>
          </a:p>
          <a:p>
            <a:pPr>
              <a:spcBef>
                <a:spcPts val="100"/>
              </a:spcBef>
            </a:pPr>
            <a:r>
              <a:rPr sz="1550">
                <a:solidFill>
                  <a:srgbClr val="556075"/>
                </a:solidFill>
              </a:rPr>
              <a:t>   plan to + unfortunately = 计划失败，答案是备用方案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相似音陷阱专项练习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以下词对，听老师读一个，用正确词语回答：
① thirteen vs thirty  ② affect vs effect
③ desert vs dessert  ④ principle vs principal
⑤ hall/Hall vs haul
额外挑战：录音说"0800 three double four"——正确号码是？</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① 13=thirteen（重音-teen在后）vs 30=thirty（重音thir-在前）
② affect=动词"影响"；effect=名词"效果"
③ desert=沙漠/遗弃；dessert=甜点（多一个s）
④ principle=原则；principal=校长/主要的
⑤ 0800 344（three double four=344，不是3-4-4-4）</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double X在电话中=两个相同数字（double four=44）；treble=三个相同数字（treble six=666）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未来计划陷阱练习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"We were thinking of having the workshop on Saturday morning, but the room's already booked. So we've had to switch it to Sunday afternoon instead."
Q: When is the workshop?</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答案：Sunday afternoon（最终确认的时间）
不是：Saturday morning（原计划，已被否定）
信号词：but→had to switch→Sunday afternoon</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凡是recording先说A、再说but/however的，考的永远是but之后的内容</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复合陷阱与综合策略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Compound Traps &amp; Integrated Strategy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复合陷阱：多个陷阱叠加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最难的陷阱类型</a:t>
            </a:r>
          </a:p>
        </p:txBody>
      </p:sp>
      <p:sp>
        <p:nvSpPr>
          <p:cNvPr id="10" name="TextBox 9"/>
          <p:cNvSpPr txBox="1"/>
          <p:nvPr/>
        </p:nvSpPr>
        <p:spPr>
          <a:xfrm>
            <a:off x="640080" y="2240280"/>
            <a:ext cx="10972800" cy="3931920"/>
          </a:xfrm>
          <a:prstGeom prst="rect">
            <a:avLst/>
          </a:prstGeom>
          <a:noFill/>
        </p:spPr>
        <p:txBody>
          <a:bodyPr wrap="square">
            <a:spAutoFit/>
          </a:bodyPr>
          <a:lstStyle/>
          <a:p>
            <a:r>
              <a:rPr sz="1800" b="1">
                <a:solidFill>
                  <a:srgbClr val="0F4C5C"/>
                </a:solidFill>
              </a:rPr>
              <a:t>• 更正+否定</a:t>
            </a:r>
          </a:p>
          <a:p>
            <a:pPr>
              <a:spcBef>
                <a:spcPts val="100"/>
              </a:spcBef>
            </a:pPr>
            <a:r>
              <a:rPr sz="1500">
                <a:solidFill>
                  <a:srgbClr val="556075"/>
                </a:solidFill>
              </a:rPr>
              <a:t>   先更正，再加否定："No, sorry — it's not Tuesday, it's Thursday"</a:t>
            </a:r>
          </a:p>
          <a:p>
            <a:pPr>
              <a:spcBef>
                <a:spcPts val="900"/>
              </a:spcBef>
            </a:pPr>
            <a:r>
              <a:rPr sz="1800" b="1">
                <a:solidFill>
                  <a:srgbClr val="0F4C5C"/>
                </a:solidFill>
              </a:rPr>
              <a:t>• 条件+未来</a:t>
            </a:r>
          </a:p>
          <a:p>
            <a:pPr>
              <a:spcBef>
                <a:spcPts val="100"/>
              </a:spcBef>
            </a:pPr>
            <a:r>
              <a:rPr sz="1500">
                <a:solidFill>
                  <a:srgbClr val="556075"/>
                </a:solidFill>
              </a:rPr>
              <a:t>   "If we finish early, we plan to visit the museum"（双重不确定）</a:t>
            </a:r>
          </a:p>
          <a:p>
            <a:pPr>
              <a:spcBef>
                <a:spcPts val="900"/>
              </a:spcBef>
            </a:pPr>
            <a:r>
              <a:rPr sz="1800" b="1">
                <a:solidFill>
                  <a:srgbClr val="0F4C5C"/>
                </a:solidFill>
              </a:rPr>
              <a:t>• 相似音+更正</a:t>
            </a:r>
          </a:p>
          <a:p>
            <a:pPr>
              <a:spcBef>
                <a:spcPts val="100"/>
              </a:spcBef>
            </a:pPr>
            <a:r>
              <a:rPr sz="1500">
                <a:solidFill>
                  <a:srgbClr val="556075"/>
                </a:solidFill>
              </a:rPr>
              <a:t>   先说thirteen，被更正为thirty（音近+更正叠加）</a:t>
            </a:r>
          </a:p>
          <a:p>
            <a:pPr>
              <a:spcBef>
                <a:spcPts val="900"/>
              </a:spcBef>
            </a:pPr>
            <a:r>
              <a:rPr sz="1800" b="1">
                <a:solidFill>
                  <a:srgbClr val="0F4C5C"/>
                </a:solidFill>
              </a:rPr>
              <a:t>• 多人+立场</a:t>
            </a:r>
          </a:p>
          <a:p>
            <a:pPr>
              <a:spcBef>
                <a:spcPts val="100"/>
              </a:spcBef>
            </a:pPr>
            <a:r>
              <a:rPr sz="1500">
                <a:solidFill>
                  <a:srgbClr val="556075"/>
                </a:solidFill>
              </a:rPr>
              <a:t>   S3：A持正面观点，B否定，C提条件——三方观点交织</a:t>
            </a:r>
          </a:p>
          <a:p>
            <a:pPr>
              <a:spcBef>
                <a:spcPts val="900"/>
              </a:spcBef>
            </a:pPr>
            <a:r>
              <a:rPr sz="1800" b="1">
                <a:solidFill>
                  <a:srgbClr val="0F4C5C"/>
                </a:solidFill>
              </a:rPr>
              <a:t>• 识别策略</a:t>
            </a:r>
          </a:p>
          <a:p>
            <a:pPr>
              <a:spcBef>
                <a:spcPts val="100"/>
              </a:spcBef>
            </a:pPr>
            <a:r>
              <a:rPr sz="1500">
                <a:solidFill>
                  <a:srgbClr val="556075"/>
                </a:solidFill>
              </a:rPr>
              <a:t>   碰到复合陷阱时放慢书写速度，等整个逻辑链说完再写答案</a:t>
            </a:r>
          </a:p>
        </p:txBody>
      </p:sp>
      <p:sp>
        <p:nvSpPr>
          <p:cNvPr id="11" name="Rectangle 10"/>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深圳学生注意：复合陷阱是7分→8分的关键——能识别单一陷阱是7分，能识别复合陷阱是8分</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陷阱信号词总览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建立陷阱雷达系统</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更正类</a:t>
            </a:r>
          </a:p>
          <a:p>
            <a:pPr>
              <a:spcBef>
                <a:spcPts val="100"/>
              </a:spcBef>
            </a:pPr>
            <a:r>
              <a:rPr sz="1500">
                <a:solidFill>
                  <a:srgbClr val="556075"/>
                </a:solidFill>
              </a:rPr>
              <a:t>   actually, sorry, I mean, wait, in fact, let me correct that</a:t>
            </a:r>
          </a:p>
          <a:p>
            <a:pPr>
              <a:spcBef>
                <a:spcPts val="900"/>
              </a:spcBef>
            </a:pPr>
            <a:r>
              <a:rPr sz="1800" b="1">
                <a:solidFill>
                  <a:srgbClr val="0F4C5C"/>
                </a:solidFill>
              </a:rPr>
              <a:t>• 否定类</a:t>
            </a:r>
          </a:p>
          <a:p>
            <a:pPr>
              <a:spcBef>
                <a:spcPts val="100"/>
              </a:spcBef>
            </a:pPr>
            <a:r>
              <a:rPr sz="1500">
                <a:solidFill>
                  <a:srgbClr val="556075"/>
                </a:solidFill>
              </a:rPr>
              <a:t>   not, never, no, don't, can't, without, fail to, lack of</a:t>
            </a:r>
          </a:p>
          <a:p>
            <a:pPr>
              <a:spcBef>
                <a:spcPts val="900"/>
              </a:spcBef>
            </a:pPr>
            <a:r>
              <a:rPr sz="1800" b="1">
                <a:solidFill>
                  <a:srgbClr val="0F4C5C"/>
                </a:solidFill>
              </a:rPr>
              <a:t>• 条件类</a:t>
            </a:r>
          </a:p>
          <a:p>
            <a:pPr>
              <a:spcBef>
                <a:spcPts val="100"/>
              </a:spcBef>
            </a:pPr>
            <a:r>
              <a:rPr sz="1500">
                <a:solidFill>
                  <a:srgbClr val="556075"/>
                </a:solidFill>
              </a:rPr>
              <a:t>   if, unless, only if, as long as, provided that, in case</a:t>
            </a:r>
          </a:p>
          <a:p>
            <a:pPr>
              <a:spcBef>
                <a:spcPts val="900"/>
              </a:spcBef>
            </a:pPr>
            <a:r>
              <a:rPr sz="1800" b="1">
                <a:solidFill>
                  <a:srgbClr val="0F4C5C"/>
                </a:solidFill>
              </a:rPr>
              <a:t>• 计划类</a:t>
            </a:r>
          </a:p>
          <a:p>
            <a:pPr>
              <a:spcBef>
                <a:spcPts val="100"/>
              </a:spcBef>
            </a:pPr>
            <a:r>
              <a:rPr sz="1500">
                <a:solidFill>
                  <a:srgbClr val="556075"/>
                </a:solidFill>
              </a:rPr>
              <a:t>   plan to, intend to, going to, thinking of, hope to</a:t>
            </a:r>
          </a:p>
          <a:p>
            <a:pPr>
              <a:spcBef>
                <a:spcPts val="900"/>
              </a:spcBef>
            </a:pPr>
            <a:r>
              <a:rPr sz="1800" b="1">
                <a:solidFill>
                  <a:srgbClr val="0F4C5C"/>
                </a:solidFill>
              </a:rPr>
              <a:t>• 转折类</a:t>
            </a:r>
          </a:p>
          <a:p>
            <a:pPr>
              <a:spcBef>
                <a:spcPts val="100"/>
              </a:spcBef>
            </a:pPr>
            <a:r>
              <a:rPr sz="1500">
                <a:solidFill>
                  <a:srgbClr val="556075"/>
                </a:solidFill>
              </a:rPr>
              <a:t>   but, however, although, yet, on the other hand（答案在转折后）</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复合陷阱识别训练方法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第一步：识别所有信号词</a:t>
            </a:r>
          </a:p>
          <a:p>
            <a:pPr>
              <a:spcBef>
                <a:spcPts val="100"/>
              </a:spcBef>
            </a:pPr>
            <a:r>
              <a:rPr sz="1550">
                <a:solidFill>
                  <a:srgbClr val="556075"/>
                </a:solidFill>
              </a:rPr>
              <a:t>   听到actually/not/if/plan to等任何信号词，脑中标注</a:t>
            </a:r>
          </a:p>
          <a:p>
            <a:pPr>
              <a:spcBef>
                <a:spcPts val="1000"/>
              </a:spcBef>
            </a:pPr>
            <a:r>
              <a:rPr sz="1850" b="1">
                <a:solidFill>
                  <a:srgbClr val="0F4C5C"/>
                </a:solidFill>
              </a:rPr>
              <a:t>• 第二步：画出逻辑链</a:t>
            </a:r>
          </a:p>
          <a:p>
            <a:pPr>
              <a:spcBef>
                <a:spcPts val="100"/>
              </a:spcBef>
            </a:pPr>
            <a:r>
              <a:rPr sz="1550">
                <a:solidFill>
                  <a:srgbClr val="556075"/>
                </a:solidFill>
              </a:rPr>
              <a:t>   在草稿上：计划A→条件C→结果B，梳理清楚</a:t>
            </a:r>
          </a:p>
          <a:p>
            <a:pPr>
              <a:spcBef>
                <a:spcPts val="1000"/>
              </a:spcBef>
            </a:pPr>
            <a:r>
              <a:rPr sz="1850" b="1">
                <a:solidFill>
                  <a:srgbClr val="0F4C5C"/>
                </a:solidFill>
              </a:rPr>
              <a:t>• 第三步：找确认句</a:t>
            </a:r>
          </a:p>
          <a:p>
            <a:pPr>
              <a:spcBef>
                <a:spcPts val="100"/>
              </a:spcBef>
            </a:pPr>
            <a:r>
              <a:rPr sz="1550">
                <a:solidFill>
                  <a:srgbClr val="556075"/>
                </a:solidFill>
              </a:rPr>
              <a:t>   找说话人最后确认的那个选择作为答案</a:t>
            </a:r>
          </a:p>
          <a:p>
            <a:pPr>
              <a:spcBef>
                <a:spcPts val="1000"/>
              </a:spcBef>
            </a:pPr>
            <a:r>
              <a:rPr sz="1850" b="1">
                <a:solidFill>
                  <a:srgbClr val="0F4C5C"/>
                </a:solidFill>
              </a:rPr>
              <a:t>• 时间判断</a:t>
            </a:r>
          </a:p>
          <a:p>
            <a:pPr>
              <a:spcBef>
                <a:spcPts val="100"/>
              </a:spcBef>
            </a:pPr>
            <a:r>
              <a:rPr sz="1550">
                <a:solidFill>
                  <a:srgbClr val="556075"/>
                </a:solidFill>
              </a:rPr>
              <a:t>   复合陷阱通常需要听完整个对话才能确认答案</a:t>
            </a:r>
          </a:p>
          <a:p>
            <a:pPr>
              <a:spcBef>
                <a:spcPts val="1000"/>
              </a:spcBef>
            </a:pPr>
            <a:r>
              <a:rPr sz="1850" b="1">
                <a:solidFill>
                  <a:srgbClr val="0F4C5C"/>
                </a:solidFill>
              </a:rPr>
              <a:t>• 应急策略</a:t>
            </a:r>
          </a:p>
          <a:p>
            <a:pPr>
              <a:spcBef>
                <a:spcPts val="100"/>
              </a:spcBef>
            </a:pPr>
            <a:r>
              <a:rPr sz="1550">
                <a:solidFill>
                  <a:srgbClr val="556075"/>
                </a:solidFill>
              </a:rPr>
              <a:t>   逻辑复杂时：先打问号，继续听，誊写前再判断</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S3复合陷阱的特殊难度</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多人立场</a:t>
            </a:r>
          </a:p>
          <a:p>
            <a:pPr>
              <a:spcBef>
                <a:spcPts val="100"/>
              </a:spcBef>
            </a:pPr>
            <a:r>
              <a:rPr sz="1550">
                <a:solidFill>
                  <a:srgbClr val="556075"/>
                </a:solidFill>
              </a:rPr>
              <a:t>   每个说话人可能持不同意见，需要分别追踪</a:t>
            </a:r>
          </a:p>
          <a:p>
            <a:pPr>
              <a:spcBef>
                <a:spcPts val="1000"/>
              </a:spcBef>
            </a:pPr>
            <a:r>
              <a:rPr sz="1850" b="1">
                <a:solidFill>
                  <a:srgbClr val="0F4C5C"/>
                </a:solidFill>
              </a:rPr>
              <a:t>• 话题转换</a:t>
            </a:r>
          </a:p>
          <a:p>
            <a:pPr>
              <a:spcBef>
                <a:spcPts val="100"/>
              </a:spcBef>
            </a:pPr>
            <a:r>
              <a:rPr sz="1550">
                <a:solidFill>
                  <a:srgbClr val="556075"/>
                </a:solidFill>
              </a:rPr>
              <a:t>   陷阱信号词出现后，话题可能转移，答案出现更晚</a:t>
            </a:r>
          </a:p>
          <a:p>
            <a:pPr>
              <a:spcBef>
                <a:spcPts val="1000"/>
              </a:spcBef>
            </a:pPr>
            <a:r>
              <a:rPr sz="1850" b="1">
                <a:solidFill>
                  <a:srgbClr val="0F4C5C"/>
                </a:solidFill>
              </a:rPr>
              <a:t>• 委婉表达</a:t>
            </a:r>
          </a:p>
          <a:p>
            <a:pPr>
              <a:spcBef>
                <a:spcPts val="100"/>
              </a:spcBef>
            </a:pPr>
            <a:r>
              <a:rPr sz="1550">
                <a:solidFill>
                  <a:srgbClr val="556075"/>
                </a:solidFill>
              </a:rPr>
              <a:t>   学术语境中否定更隐蔽："I'm not entirely convinced"=否定</a:t>
            </a:r>
          </a:p>
          <a:p>
            <a:pPr>
              <a:spcBef>
                <a:spcPts val="1000"/>
              </a:spcBef>
            </a:pPr>
            <a:r>
              <a:rPr sz="1850" b="1">
                <a:solidFill>
                  <a:srgbClr val="0F4C5C"/>
                </a:solidFill>
              </a:rPr>
              <a:t>• 数据更改</a:t>
            </a:r>
          </a:p>
          <a:p>
            <a:pPr>
              <a:spcBef>
                <a:spcPts val="100"/>
              </a:spcBef>
            </a:pPr>
            <a:r>
              <a:rPr sz="1550">
                <a:solidFill>
                  <a:srgbClr val="556075"/>
                </a:solidFill>
              </a:rPr>
              <a:t>   数字类题目在S3也有陷阱：研究数据、百分比、参与者人数</a:t>
            </a:r>
          </a:p>
          <a:p>
            <a:pPr>
              <a:spcBef>
                <a:spcPts val="1000"/>
              </a:spcBef>
            </a:pPr>
            <a:r>
              <a:rPr sz="1850" b="1">
                <a:solidFill>
                  <a:srgbClr val="0F4C5C"/>
                </a:solidFill>
              </a:rPr>
              <a:t>• 深圳学生策略</a:t>
            </a:r>
          </a:p>
          <a:p>
            <a:pPr>
              <a:spcBef>
                <a:spcPts val="100"/>
              </a:spcBef>
            </a:pPr>
            <a:r>
              <a:rPr sz="1550">
                <a:solidFill>
                  <a:srgbClr val="556075"/>
                </a:solidFill>
              </a:rPr>
              <a:t>   S3做完后标注哪些题有陷阱，复盘时分析识别是否成功</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综合陷阱真题实战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S3 Tutorial Discussion:
"A: I was planning to use primary data — interviews.
B: That sounds good, but unless we get ethical approval by Friday,
   we might have to rely on secondary data instead.
A: True. Actually, we haven't even submitted the application yet.
B: So for now, let's assume secondary data, and update if approval comes through."
Q: What type of data will they use?</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答案：secondary data（条件"ethical approval by Friday"未满足，所以退到secondary data）
分析：primary data=计划；unless=条件陷阱；actually+haven't submitted=更正确认条件未满足</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解题步骤：①识别计划（primary data）→②找条件（unless approval）→③确认条件是否满足（haven't submitted=未满足）→④写secondary data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陷阱总结：六大类型速览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快速说出六大陷阱的信号词和应对方法：
① 更正型  ② 否定型  ③ 条件型
④ 相似音型  ⑤ 未来计划型  ⑥ 复合型
2分钟内，每类说出1个信号词+1个应对策略</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① actually/sorry → 划掉前答案
② not/never → 否定后内容不是答案
③ if/unless → 等确认条件成立
④ 数字/音近词 → 等说完整句或拼读
⑤ plan to → 打问号，等转折
⑥ 组合出现 → 放慢节奏，等逻辑链完整</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每次做错题后问自己：是哪类陷阱？信号词是什么？下次能提前预警吗？</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陷阱信号词词汇表</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Trap Signal Words Vocabulary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更正型陷阱信号词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234440"/>
            <a:ext cx="493776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0F4C5C"/>
                </a:solidFill>
                <a:latin typeface="Calibri"/>
              </a:rPr>
              <a:t>actually</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其实/实际上（最常见的更正信号词）</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0F4C5C"/>
                </a:solidFill>
                <a:latin typeface="Calibri"/>
              </a:rPr>
              <a:t>sorry / I'm sorry</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对不起（自我纠正，通常后接更正内容）</a:t>
            </a:r>
          </a:p>
        </p:txBody>
      </p:sp>
      <p:sp>
        <p:nvSpPr>
          <p:cNvPr id="20" name="Rectangle 19"/>
          <p:cNvSpPr/>
          <p:nvPr/>
        </p:nvSpPr>
        <p:spPr>
          <a:xfrm>
            <a:off x="548640" y="2935224"/>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0F4C5C"/>
                </a:solidFill>
                <a:latin typeface="Calibri"/>
              </a:rPr>
              <a:t>I mean / I meant</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我的意思是（自我澄清）</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0F4C5C"/>
                </a:solidFill>
                <a:latin typeface="Calibri"/>
              </a:rPr>
              <a:t>wait / hang on</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等等（表示要修改前面说的内容）</a:t>
            </a:r>
          </a:p>
        </p:txBody>
      </p:sp>
      <p:sp>
        <p:nvSpPr>
          <p:cNvPr id="28" name="Rectangle 27"/>
          <p:cNvSpPr/>
          <p:nvPr/>
        </p:nvSpPr>
        <p:spPr>
          <a:xfrm>
            <a:off x="548640" y="4069080"/>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0F4C5C"/>
                </a:solidFill>
                <a:latin typeface="Calibri"/>
              </a:rPr>
              <a:t>in fact</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事实上（与前面内容形成对比）</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0F4C5C"/>
                </a:solidFill>
                <a:latin typeface="Calibri"/>
              </a:rPr>
              <a:t>let me correct that</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让我更正一下（明确更正表达）</a:t>
            </a:r>
          </a:p>
        </p:txBody>
      </p:sp>
      <p:sp>
        <p:nvSpPr>
          <p:cNvPr id="36" name="Rectangle 35"/>
          <p:cNvSpPr/>
          <p:nvPr/>
        </p:nvSpPr>
        <p:spPr>
          <a:xfrm>
            <a:off x="548640" y="5202936"/>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0F4C5C"/>
                </a:solidFill>
                <a:latin typeface="Calibri"/>
              </a:rPr>
              <a:t>no, it's...</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不，是...（直接否定并更正）</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否定与条件陷阱信号词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234440"/>
            <a:ext cx="493776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0F4C5C"/>
                </a:solidFill>
                <a:latin typeface="Calibri"/>
              </a:rPr>
              <a:t>not / no / never</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否定词（后接内容不是答案或情况不存在）</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0F4C5C"/>
                </a:solidFill>
                <a:latin typeface="Calibri"/>
              </a:rPr>
              <a:t>don't / doesn't / didn't</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否定动词（动作未发生或不成立）</a:t>
            </a:r>
          </a:p>
        </p:txBody>
      </p:sp>
      <p:sp>
        <p:nvSpPr>
          <p:cNvPr id="20" name="Rectangle 19"/>
          <p:cNvSpPr/>
          <p:nvPr/>
        </p:nvSpPr>
        <p:spPr>
          <a:xfrm>
            <a:off x="548640" y="2935224"/>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0F4C5C"/>
                </a:solidFill>
                <a:latin typeface="Calibri"/>
              </a:rPr>
              <a:t>without / lack of</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缺乏（隐性否定）</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0F4C5C"/>
                </a:solidFill>
                <a:latin typeface="Calibri"/>
              </a:rPr>
              <a:t>unless</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除非（条件必须满足才成立）</a:t>
            </a:r>
          </a:p>
        </p:txBody>
      </p:sp>
      <p:sp>
        <p:nvSpPr>
          <p:cNvPr id="28" name="Rectangle 27"/>
          <p:cNvSpPr/>
          <p:nvPr/>
        </p:nvSpPr>
        <p:spPr>
          <a:xfrm>
            <a:off x="548640" y="4069080"/>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0F4C5C"/>
                </a:solidFill>
                <a:latin typeface="Calibri"/>
              </a:rPr>
              <a:t>only if / as long as</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只有当...才（强条件）</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0F4C5C"/>
                </a:solidFill>
                <a:latin typeface="Calibri"/>
              </a:rPr>
              <a:t>if... but...</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如果条件A，但实际是B（条件+更正组合）</a:t>
            </a:r>
          </a:p>
        </p:txBody>
      </p:sp>
      <p:sp>
        <p:nvSpPr>
          <p:cNvPr id="36" name="Rectangle 35"/>
          <p:cNvSpPr/>
          <p:nvPr/>
        </p:nvSpPr>
        <p:spPr>
          <a:xfrm>
            <a:off x="548640" y="5202936"/>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0F4C5C"/>
                </a:solidFill>
                <a:latin typeface="Calibri"/>
              </a:rPr>
              <a:t>provided that</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前提是...（条件词）</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未来计划与转折信号词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234440"/>
            <a:ext cx="493776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0F4C5C"/>
                </a:solidFill>
                <a:latin typeface="Calibri"/>
              </a:rPr>
              <a:t>plan to / planning to</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计划做...（未来意图，未必实现）</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0F4C5C"/>
                </a:solidFill>
                <a:latin typeface="Calibri"/>
              </a:rPr>
              <a:t>intend to / intention</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打算...（意图词）</a:t>
            </a:r>
          </a:p>
        </p:txBody>
      </p:sp>
      <p:sp>
        <p:nvSpPr>
          <p:cNvPr id="20" name="Rectangle 19"/>
          <p:cNvSpPr/>
          <p:nvPr/>
        </p:nvSpPr>
        <p:spPr>
          <a:xfrm>
            <a:off x="548640" y="2935224"/>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0F4C5C"/>
                </a:solidFill>
                <a:latin typeface="Calibri"/>
              </a:rPr>
              <a:t>going to / thinking of</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打算/考虑...（不确定的计划）</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0F4C5C"/>
                </a:solidFill>
                <a:latin typeface="Calibri"/>
              </a:rPr>
              <a:t>hope to / aim to</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希望/旨在...（期望，有不确定性）</a:t>
            </a:r>
          </a:p>
        </p:txBody>
      </p:sp>
      <p:sp>
        <p:nvSpPr>
          <p:cNvPr id="28" name="Rectangle 27"/>
          <p:cNvSpPr/>
          <p:nvPr/>
        </p:nvSpPr>
        <p:spPr>
          <a:xfrm>
            <a:off x="548640" y="4069080"/>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0F4C5C"/>
                </a:solidFill>
                <a:latin typeface="Calibri"/>
              </a:rPr>
              <a:t>but / however</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但是（转折后才是真正答案）</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0F4C5C"/>
                </a:solidFill>
                <a:latin typeface="Calibri"/>
              </a:rPr>
              <a:t>although / even though</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虽然...但...（让步转折）</a:t>
            </a:r>
          </a:p>
        </p:txBody>
      </p:sp>
      <p:sp>
        <p:nvSpPr>
          <p:cNvPr id="36" name="Rectangle 35"/>
          <p:cNvSpPr/>
          <p:nvPr/>
        </p:nvSpPr>
        <p:spPr>
          <a:xfrm>
            <a:off x="548640" y="5202936"/>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0F4C5C"/>
                </a:solidFill>
                <a:latin typeface="Calibri"/>
              </a:rPr>
              <a:t>in the end / eventually</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最终（表示最后的结果，是答案）</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六大陷阱速查表</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Rectangle 6"/>
          <p:cNvSpPr/>
          <p:nvPr/>
        </p:nvSpPr>
        <p:spPr>
          <a:xfrm>
            <a:off x="548640" y="1188720"/>
            <a:ext cx="5486400" cy="4572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陷阱类型 → 信号词</a:t>
            </a:r>
          </a:p>
        </p:txBody>
      </p:sp>
      <p:sp>
        <p:nvSpPr>
          <p:cNvPr id="9" name="TextBox 8"/>
          <p:cNvSpPr txBox="1"/>
          <p:nvPr/>
        </p:nvSpPr>
        <p:spPr>
          <a:xfrm>
            <a:off x="640080" y="1783080"/>
            <a:ext cx="5349240" cy="4480560"/>
          </a:xfrm>
          <a:prstGeom prst="rect">
            <a:avLst/>
          </a:prstGeom>
          <a:noFill/>
        </p:spPr>
        <p:txBody>
          <a:bodyPr wrap="square">
            <a:spAutoFit/>
          </a:bodyPr>
          <a:lstStyle/>
          <a:p>
            <a:r>
              <a:rPr sz="1650" b="1">
                <a:solidFill>
                  <a:srgbClr val="0F4C5C"/>
                </a:solidFill>
              </a:rPr>
              <a:t>• 更正型</a:t>
            </a:r>
          </a:p>
          <a:p>
            <a:pPr>
              <a:spcBef>
                <a:spcPts val="100"/>
              </a:spcBef>
            </a:pPr>
            <a:r>
              <a:rPr sz="1350">
                <a:solidFill>
                  <a:srgbClr val="556075"/>
                </a:solidFill>
              </a:rPr>
              <a:t>   actually/sorry/I mean/wait</a:t>
            </a:r>
          </a:p>
          <a:p>
            <a:pPr>
              <a:spcBef>
                <a:spcPts val="700"/>
              </a:spcBef>
            </a:pPr>
            <a:r>
              <a:rPr sz="1650" b="1">
                <a:solidFill>
                  <a:srgbClr val="0F4C5C"/>
                </a:solidFill>
              </a:rPr>
              <a:t>• 否定型</a:t>
            </a:r>
          </a:p>
          <a:p>
            <a:pPr>
              <a:spcBef>
                <a:spcPts val="100"/>
              </a:spcBef>
            </a:pPr>
            <a:r>
              <a:rPr sz="1350">
                <a:solidFill>
                  <a:srgbClr val="556075"/>
                </a:solidFill>
              </a:rPr>
              <a:t>   not/never/don't/without</a:t>
            </a:r>
          </a:p>
          <a:p>
            <a:pPr>
              <a:spcBef>
                <a:spcPts val="700"/>
              </a:spcBef>
            </a:pPr>
            <a:r>
              <a:rPr sz="1650" b="1">
                <a:solidFill>
                  <a:srgbClr val="0F4C5C"/>
                </a:solidFill>
              </a:rPr>
              <a:t>• 条件型</a:t>
            </a:r>
          </a:p>
          <a:p>
            <a:pPr>
              <a:spcBef>
                <a:spcPts val="100"/>
              </a:spcBef>
            </a:pPr>
            <a:r>
              <a:rPr sz="1350">
                <a:solidFill>
                  <a:srgbClr val="556075"/>
                </a:solidFill>
              </a:rPr>
              <a:t>   if/unless/only if/as long as</a:t>
            </a:r>
          </a:p>
          <a:p>
            <a:pPr>
              <a:spcBef>
                <a:spcPts val="700"/>
              </a:spcBef>
            </a:pPr>
            <a:r>
              <a:rPr sz="1650" b="1">
                <a:solidFill>
                  <a:srgbClr val="0F4C5C"/>
                </a:solidFill>
              </a:rPr>
              <a:t>• 相似音型</a:t>
            </a:r>
          </a:p>
          <a:p>
            <a:pPr>
              <a:spcBef>
                <a:spcPts val="100"/>
              </a:spcBef>
            </a:pPr>
            <a:r>
              <a:rPr sz="1350">
                <a:solidFill>
                  <a:srgbClr val="556075"/>
                </a:solidFill>
              </a:rPr>
              <a:t>   数字对/音近词/人名</a:t>
            </a:r>
          </a:p>
          <a:p>
            <a:pPr>
              <a:spcBef>
                <a:spcPts val="700"/>
              </a:spcBef>
            </a:pPr>
            <a:r>
              <a:rPr sz="1650" b="1">
                <a:solidFill>
                  <a:srgbClr val="0F4C5C"/>
                </a:solidFill>
              </a:rPr>
              <a:t>• 未来计划型</a:t>
            </a:r>
          </a:p>
          <a:p>
            <a:pPr>
              <a:spcBef>
                <a:spcPts val="100"/>
              </a:spcBef>
            </a:pPr>
            <a:r>
              <a:rPr sz="1350">
                <a:solidFill>
                  <a:srgbClr val="556075"/>
                </a:solidFill>
              </a:rPr>
              <a:t>   plan to/intend to/going to</a:t>
            </a:r>
          </a:p>
          <a:p>
            <a:pPr>
              <a:spcBef>
                <a:spcPts val="700"/>
              </a:spcBef>
            </a:pPr>
            <a:r>
              <a:rPr sz="1650" b="1">
                <a:solidFill>
                  <a:srgbClr val="0F4C5C"/>
                </a:solidFill>
              </a:rPr>
              <a:t>• 复合型</a:t>
            </a:r>
          </a:p>
          <a:p>
            <a:pPr>
              <a:spcBef>
                <a:spcPts val="100"/>
              </a:spcBef>
            </a:pPr>
            <a:r>
              <a:rPr sz="1350">
                <a:solidFill>
                  <a:srgbClr val="556075"/>
                </a:solidFill>
              </a:rPr>
              <a:t>   多个信号词同时出现</a:t>
            </a:r>
          </a:p>
        </p:txBody>
      </p:sp>
      <p:sp>
        <p:nvSpPr>
          <p:cNvPr id="10" name="Rectangle 9"/>
          <p:cNvSpPr/>
          <p:nvPr/>
        </p:nvSpPr>
        <p:spPr>
          <a:xfrm>
            <a:off x="6355079" y="1188720"/>
            <a:ext cx="5486400" cy="45720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陷阱类型 → 应对策略</a:t>
            </a:r>
          </a:p>
        </p:txBody>
      </p:sp>
      <p:sp>
        <p:nvSpPr>
          <p:cNvPr id="12" name="TextBox 11"/>
          <p:cNvSpPr txBox="1"/>
          <p:nvPr/>
        </p:nvSpPr>
        <p:spPr>
          <a:xfrm>
            <a:off x="6446519" y="1783080"/>
            <a:ext cx="5349240" cy="4480560"/>
          </a:xfrm>
          <a:prstGeom prst="rect">
            <a:avLst/>
          </a:prstGeom>
          <a:noFill/>
        </p:spPr>
        <p:txBody>
          <a:bodyPr wrap="square">
            <a:spAutoFit/>
          </a:bodyPr>
          <a:lstStyle/>
          <a:p>
            <a:r>
              <a:rPr sz="1650" b="1">
                <a:solidFill>
                  <a:srgbClr val="0F4C5C"/>
                </a:solidFill>
              </a:rPr>
              <a:t>• 更正型</a:t>
            </a:r>
          </a:p>
          <a:p>
            <a:pPr>
              <a:spcBef>
                <a:spcPts val="100"/>
              </a:spcBef>
            </a:pPr>
            <a:r>
              <a:rPr sz="1350">
                <a:solidFill>
                  <a:srgbClr val="556075"/>
                </a:solidFill>
              </a:rPr>
              <a:t>   听到信号词→划掉前答案→写新答案</a:t>
            </a:r>
          </a:p>
          <a:p>
            <a:pPr>
              <a:spcBef>
                <a:spcPts val="700"/>
              </a:spcBef>
            </a:pPr>
            <a:r>
              <a:rPr sz="1650" b="1">
                <a:solidFill>
                  <a:srgbClr val="0F4C5C"/>
                </a:solidFill>
              </a:rPr>
              <a:t>• 否定型</a:t>
            </a:r>
          </a:p>
          <a:p>
            <a:pPr>
              <a:spcBef>
                <a:spcPts val="100"/>
              </a:spcBef>
            </a:pPr>
            <a:r>
              <a:rPr sz="1350">
                <a:solidFill>
                  <a:srgbClr val="556075"/>
                </a:solidFill>
              </a:rPr>
              <a:t>   否定词后内容≠答案，确认正向表达</a:t>
            </a:r>
          </a:p>
          <a:p>
            <a:pPr>
              <a:spcBef>
                <a:spcPts val="700"/>
              </a:spcBef>
            </a:pPr>
            <a:r>
              <a:rPr sz="1650" b="1">
                <a:solidFill>
                  <a:srgbClr val="0F4C5C"/>
                </a:solidFill>
              </a:rPr>
              <a:t>• 条件型</a:t>
            </a:r>
          </a:p>
          <a:p>
            <a:pPr>
              <a:spcBef>
                <a:spcPts val="100"/>
              </a:spcBef>
            </a:pPr>
            <a:r>
              <a:rPr sz="1350">
                <a:solidFill>
                  <a:srgbClr val="556075"/>
                </a:solidFill>
              </a:rPr>
              <a:t>   等待确认条件是否成立再写答案</a:t>
            </a:r>
          </a:p>
          <a:p>
            <a:pPr>
              <a:spcBef>
                <a:spcPts val="700"/>
              </a:spcBef>
            </a:pPr>
            <a:r>
              <a:rPr sz="1650" b="1">
                <a:solidFill>
                  <a:srgbClr val="0F4C5C"/>
                </a:solidFill>
              </a:rPr>
              <a:t>• 相似音型</a:t>
            </a:r>
          </a:p>
          <a:p>
            <a:pPr>
              <a:spcBef>
                <a:spcPts val="100"/>
              </a:spcBef>
            </a:pPr>
            <a:r>
              <a:rPr sz="1350">
                <a:solidFill>
                  <a:srgbClr val="556075"/>
                </a:solidFill>
              </a:rPr>
              <a:t>   等说完整句/拼读再写；区分重音位置</a:t>
            </a:r>
          </a:p>
          <a:p>
            <a:pPr>
              <a:spcBef>
                <a:spcPts val="700"/>
              </a:spcBef>
            </a:pPr>
            <a:r>
              <a:rPr sz="1650" b="1">
                <a:solidFill>
                  <a:srgbClr val="0F4C5C"/>
                </a:solidFill>
              </a:rPr>
              <a:t>• 未来计划型</a:t>
            </a:r>
          </a:p>
          <a:p>
            <a:pPr>
              <a:spcBef>
                <a:spcPts val="100"/>
              </a:spcBef>
            </a:pPr>
            <a:r>
              <a:rPr sz="1350">
                <a:solidFill>
                  <a:srgbClr val="556075"/>
                </a:solidFill>
              </a:rPr>
              <a:t>   听到计划词打问号，等待转折</a:t>
            </a:r>
          </a:p>
          <a:p>
            <a:pPr>
              <a:spcBef>
                <a:spcPts val="700"/>
              </a:spcBef>
            </a:pPr>
            <a:r>
              <a:rPr sz="1650" b="1">
                <a:solidFill>
                  <a:srgbClr val="0F4C5C"/>
                </a:solidFill>
              </a:rPr>
              <a:t>• 复合型</a:t>
            </a:r>
          </a:p>
          <a:p>
            <a:pPr>
              <a:spcBef>
                <a:spcPts val="100"/>
              </a:spcBef>
            </a:pPr>
            <a:r>
              <a:rPr sz="1350">
                <a:solidFill>
                  <a:srgbClr val="556075"/>
                </a:solidFill>
              </a:rPr>
              <a:t>   放慢写字速度，等整个逻辑链完整</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06</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陷阱规避：系统化解题流程</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Trap Avoidance: Systematic Approach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Step 1-3：预防阶段</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8016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0F4C5C"/>
                </a:solidFill>
                <a:latin typeface="Calibri"/>
              </a:rPr>
              <a:t>预读时标注陷阱风险</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S1数字题预设"更正风险"；S3选择题预设"多人陷阱风险"</a:t>
            </a:r>
          </a:p>
        </p:txBody>
      </p:sp>
      <p:sp>
        <p:nvSpPr>
          <p:cNvPr id="13" name="Rounded Rectangle 12"/>
          <p:cNvSpPr/>
          <p:nvPr/>
        </p:nvSpPr>
        <p:spPr>
          <a:xfrm>
            <a:off x="548640" y="233172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0F4C5C"/>
                </a:solidFill>
                <a:latin typeface="Calibri"/>
              </a:rPr>
              <a:t>建立"陷阱雷达"</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听录音时，一旦出现信号词立刻提高警惕，延迟写答案</a:t>
            </a:r>
          </a:p>
        </p:txBody>
      </p:sp>
      <p:sp>
        <p:nvSpPr>
          <p:cNvPr id="18" name="Rounded Rectangle 17"/>
          <p:cNvSpPr/>
          <p:nvPr/>
        </p:nvSpPr>
        <p:spPr>
          <a:xfrm>
            <a:off x="548640" y="3383279"/>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0F4C5C"/>
                </a:solidFill>
                <a:latin typeface="Calibri"/>
              </a:rPr>
              <a:t>双手分工</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左手（或视线）追踪题目，右手（笔）准备随时划掉错误答案</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Step 4-6：应对阶段</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8016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0F4C5C"/>
                </a:solidFill>
                <a:latin typeface="Calibri"/>
              </a:rPr>
              <a:t>听到更正信号词</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立刻在草稿上划掉候选答案，写一个问号，等待新答案</a:t>
            </a:r>
          </a:p>
        </p:txBody>
      </p:sp>
      <p:sp>
        <p:nvSpPr>
          <p:cNvPr id="13" name="Rounded Rectangle 12"/>
          <p:cNvSpPr/>
          <p:nvPr/>
        </p:nvSpPr>
        <p:spPr>
          <a:xfrm>
            <a:off x="548640" y="233172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0F4C5C"/>
                </a:solidFill>
                <a:latin typeface="Calibri"/>
              </a:rPr>
              <a:t>听到否定词</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脑中立刻"反转"：not+[内容]=[内容]不是答案，继续往后听正确表达</a:t>
            </a:r>
          </a:p>
        </p:txBody>
      </p:sp>
      <p:sp>
        <p:nvSpPr>
          <p:cNvPr id="18" name="Rounded Rectangle 17"/>
          <p:cNvSpPr/>
          <p:nvPr/>
        </p:nvSpPr>
        <p:spPr>
          <a:xfrm>
            <a:off x="548640" y="3383279"/>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0F4C5C"/>
                </a:solidFill>
                <a:latin typeface="Calibri"/>
              </a:rPr>
              <a:t>听到条件词</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不急着写，继续听是否有确认条件成立的表述，再决定是否写答案</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Step 7：誊写时检查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8016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0F4C5C"/>
                </a:solidFill>
                <a:latin typeface="Calibri"/>
              </a:rPr>
              <a:t>回顾所有标注问号的题</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誊写时对有问号标注的答案重点核查，是否还有不确定之处</a:t>
            </a:r>
          </a:p>
        </p:txBody>
      </p:sp>
      <p:sp>
        <p:nvSpPr>
          <p:cNvPr id="13" name="Rounded Rectangle 12"/>
          <p:cNvSpPr/>
          <p:nvPr/>
        </p:nvSpPr>
        <p:spPr>
          <a:xfrm>
            <a:off x="548640" y="233172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0F4C5C"/>
                </a:solidFill>
                <a:latin typeface="Calibri"/>
              </a:rPr>
              <a:t>逻辑验证</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答案写下后问：这个答案符合题目和录音的整体逻辑吗？</a:t>
            </a:r>
          </a:p>
        </p:txBody>
      </p:sp>
      <p:sp>
        <p:nvSpPr>
          <p:cNvPr id="18" name="Rounded Rectangle 17"/>
          <p:cNvSpPr/>
          <p:nvPr/>
        </p:nvSpPr>
        <p:spPr>
          <a:xfrm>
            <a:off x="548640" y="3383279"/>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0F4C5C"/>
                </a:solidFill>
                <a:latin typeface="Calibri"/>
              </a:rPr>
              <a:t>错题分类</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做完题后，错题标注"哪类陷阱"——积累个人易错陷阱类型</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满分应对更正陷阱：S1对话</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84048"/>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题目：Q: What time is the appointment?
Script: "So the appointment is at three o'clock on Thursday."
"Wait, sorry — I've just checked, and Dr. Parker isn't available until four.
Can you make it at four?"
"Yes, four o'clock is fine."</a:t>
            </a:r>
          </a:p>
        </p:txBody>
      </p:sp>
      <p:sp>
        <p:nvSpPr>
          <p:cNvPr id="10" name="Rounded Rectangle 9"/>
          <p:cNvSpPr/>
          <p:nvPr/>
        </p:nvSpPr>
        <p:spPr>
          <a:xfrm>
            <a:off x="548640" y="1783080"/>
            <a:ext cx="7040880" cy="416052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Q答案：4 o'clock / 4:00 / 4pm（最终确认时间）
处理过程：
① 听到3 o'clock → 草稿写3:00
② 听到"Wait, sorry" → 立刻划掉3:00
③ 听到"four" → 写4:00
④ 听到"Yes, four o'clock is fine" → 确认，不再改动</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12A594"/>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草稿处理：3:00划掉，写4:00——誊写时直接用4:00，不要带划掉的内容</a:t>
            </a:r>
          </a:p>
          <a:p>
            <a:pPr>
              <a:spcBef>
                <a:spcPts val="700"/>
              </a:spcBef>
            </a:pPr>
            <a:r>
              <a:rPr sz="1200">
                <a:solidFill>
                  <a:srgbClr val="1E293B"/>
                </a:solidFill>
              </a:rPr>
              <a:t>▸ 等待确认：A说4:00，B确认"Yes"→才算最终答案，中间不要急着誊写</a:t>
            </a:r>
          </a:p>
          <a:p>
            <a:pPr>
              <a:spcBef>
                <a:spcPts val="700"/>
              </a:spcBef>
            </a:pPr>
            <a:r>
              <a:rPr sz="1200">
                <a:solidFill>
                  <a:srgbClr val="1E293B"/>
                </a:solidFill>
              </a:rPr>
              <a:t>▸ 更正速度：听到"Sorry"就要反应，不是听完整个更正句才反应</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满分应对否定+条件复合陷阱</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84048"/>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题目：Q: What will the students use to collect data?
Script: "We were thinking of using questionnaires, but actually,
our supervisor said that's not appropriate for this type of study.
He suggested interviews instead — but only if we can recruit at least ten participants."</a:t>
            </a:r>
          </a:p>
        </p:txBody>
      </p:sp>
      <p:sp>
        <p:nvSpPr>
          <p:cNvPr id="10" name="Rounded Rectangle 9"/>
          <p:cNvSpPr/>
          <p:nvPr/>
        </p:nvSpPr>
        <p:spPr>
          <a:xfrm>
            <a:off x="548640" y="1783080"/>
            <a:ext cx="7040880" cy="416052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答案：interviews（条件：recruit at least 10 participants — 假设成立）
否定：questionnaires → "not appropriate"（否定了questionnaire）
更正：but actually（更正了最初计划）
条件：only if recruit 10（条件，假设题目问的是"planned method"则写interviews）</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12A594"/>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这道题包含3个陷阱：更正（but actually）+否定（not appropriate）+条件（only if）</a:t>
            </a:r>
          </a:p>
          <a:p>
            <a:pPr>
              <a:spcBef>
                <a:spcPts val="700"/>
              </a:spcBef>
            </a:pPr>
            <a:r>
              <a:rPr sz="1200">
                <a:solidFill>
                  <a:srgbClr val="1E293B"/>
                </a:solidFill>
              </a:rPr>
              <a:t>▸ 应对策略：questionnaire出现时打问号→听到"but actually"划掉→听到interviews暂时写→听到"only if"再打问号</a:t>
            </a:r>
          </a:p>
          <a:p>
            <a:pPr>
              <a:spcBef>
                <a:spcPts val="700"/>
              </a:spcBef>
            </a:pPr>
            <a:r>
              <a:rPr sz="1200">
                <a:solidFill>
                  <a:srgbClr val="1E293B"/>
                </a:solidFill>
              </a:rPr>
              <a:t>▸ 题目问"will use"，通常以说话人最后确认的计划为答案：interviews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陷阱题：做错 vs 做对的过程对比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做错陷阱题（6分学生）</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做对陷阱题（7.5+分学生）</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听到关键词立刻写，不等整句说完</a:t>
            </a:r>
          </a:p>
          <a:p>
            <a:pPr>
              <a:spcBef>
                <a:spcPts val="700"/>
              </a:spcBef>
            </a:pPr>
            <a:r>
              <a:rPr sz="1350">
                <a:solidFill>
                  <a:srgbClr val="C02A2A"/>
                </a:solidFill>
              </a:rPr>
              <a:t>✗ 没有标注"信号词"的习惯，听到actually不知道要划掉</a:t>
            </a:r>
          </a:p>
          <a:p>
            <a:pPr>
              <a:spcBef>
                <a:spcPts val="700"/>
              </a:spcBef>
            </a:pPr>
            <a:r>
              <a:rPr sz="1350">
                <a:solidFill>
                  <a:srgbClr val="C02A2A"/>
                </a:solidFill>
              </a:rPr>
              <a:t>✗ 听到not但没反应，照样把后面内容写成答案</a:t>
            </a:r>
          </a:p>
          <a:p>
            <a:pPr>
              <a:spcBef>
                <a:spcPts val="700"/>
              </a:spcBef>
            </a:pPr>
            <a:r>
              <a:rPr sz="1350">
                <a:solidFill>
                  <a:srgbClr val="C02A2A"/>
                </a:solidFill>
              </a:rPr>
              <a:t>✗ 听到"plan to"不打问号，把计划当成事实写下</a:t>
            </a:r>
          </a:p>
          <a:p>
            <a:pPr>
              <a:spcBef>
                <a:spcPts val="700"/>
              </a:spcBef>
            </a:pPr>
            <a:r>
              <a:rPr sz="1350">
                <a:solidFill>
                  <a:srgbClr val="C02A2A"/>
                </a:solidFill>
              </a:rPr>
              <a:t>✗ 誊写时直接抄，不检查逻辑</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听到关键词后继续听整句，直到逻辑链完整</a:t>
            </a:r>
          </a:p>
          <a:p>
            <a:pPr>
              <a:spcBef>
                <a:spcPts val="700"/>
              </a:spcBef>
            </a:pPr>
            <a:r>
              <a:rPr sz="1350">
                <a:solidFill>
                  <a:srgbClr val="1B7A3D"/>
                </a:solidFill>
              </a:rPr>
              <a:t>✓ 陷阱信号词=立刻提高警惕，延迟写下答案</a:t>
            </a:r>
          </a:p>
          <a:p>
            <a:pPr>
              <a:spcBef>
                <a:spcPts val="700"/>
              </a:spcBef>
            </a:pPr>
            <a:r>
              <a:rPr sz="1350">
                <a:solidFill>
                  <a:srgbClr val="1B7A3D"/>
                </a:solidFill>
              </a:rPr>
              <a:t>✓ 听到not就在候选词上画×，等待正向表达</a:t>
            </a:r>
          </a:p>
          <a:p>
            <a:pPr>
              <a:spcBef>
                <a:spcPts val="700"/>
              </a:spcBef>
            </a:pPr>
            <a:r>
              <a:rPr sz="1350">
                <a:solidFill>
                  <a:srgbClr val="1B7A3D"/>
                </a:solidFill>
              </a:rPr>
              <a:t>✓ 听到"plan to"打问号，继续听是否有转折或确认</a:t>
            </a:r>
          </a:p>
          <a:p>
            <a:pPr>
              <a:spcBef>
                <a:spcPts val="700"/>
              </a:spcBef>
            </a:pPr>
            <a:r>
              <a:rPr sz="1350">
                <a:solidFill>
                  <a:srgbClr val="1B7A3D"/>
                </a:solidFill>
              </a:rPr>
              <a:t>✓ 誊写时检查有问号标注的答案，判断最终确认了什么</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否定陷阱：两种学生的反应时间</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慢反应（错误）</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快反应（正确）</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录音：not available on Thursday</a:t>
            </a:r>
          </a:p>
          <a:p>
            <a:pPr>
              <a:spcBef>
                <a:spcPts val="700"/>
              </a:spcBef>
            </a:pPr>
            <a:r>
              <a:rPr sz="1350">
                <a:solidFill>
                  <a:srgbClr val="C02A2A"/>
                </a:solidFill>
              </a:rPr>
              <a:t>✗ 学生反应：...Thursday！写下Thursday</a:t>
            </a:r>
          </a:p>
          <a:p>
            <a:pPr>
              <a:spcBef>
                <a:spcPts val="700"/>
              </a:spcBef>
            </a:pPr>
            <a:r>
              <a:rPr sz="1350">
                <a:solidFill>
                  <a:srgbClr val="C02A2A"/>
                </a:solidFill>
              </a:rPr>
              <a:t>✗ （忽略了not，把Thursday写成了答案）</a:t>
            </a:r>
          </a:p>
          <a:p>
            <a:pPr>
              <a:spcBef>
                <a:spcPts val="700"/>
              </a:spcBef>
            </a:pPr>
            <a:r>
              <a:rPr sz="1350">
                <a:solidFill>
                  <a:srgbClr val="C02A2A"/>
                </a:solidFill>
              </a:rPr>
              <a:t>✗ 同类错误：听到"no change to the schedule"→写"schedule changes"</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录音：not available on Thursday</a:t>
            </a:r>
          </a:p>
          <a:p>
            <a:pPr>
              <a:spcBef>
                <a:spcPts val="700"/>
              </a:spcBef>
            </a:pPr>
            <a:r>
              <a:rPr sz="1350">
                <a:solidFill>
                  <a:srgbClr val="1B7A3D"/>
                </a:solidFill>
              </a:rPr>
              <a:t>✓ 学生反应：not → 划掉候选词Thursday，继续听</a:t>
            </a:r>
          </a:p>
          <a:p>
            <a:pPr>
              <a:spcBef>
                <a:spcPts val="700"/>
              </a:spcBef>
            </a:pPr>
            <a:r>
              <a:rPr sz="1350">
                <a:solidFill>
                  <a:srgbClr val="1B7A3D"/>
                </a:solidFill>
              </a:rPr>
              <a:t>✓ 下一句：available on Friday → 写Friday</a:t>
            </a:r>
          </a:p>
          <a:p>
            <a:pPr>
              <a:spcBef>
                <a:spcPts val="700"/>
              </a:spcBef>
            </a:pPr>
            <a:r>
              <a:rPr sz="1350">
                <a:solidFill>
                  <a:srgbClr val="1B7A3D"/>
                </a:solidFill>
              </a:rPr>
              <a:t>✓ 同类训练：把否定词单独标记，防止遗漏not/never/no</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07</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课堂练习：陷阱识别</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Trap Identification Drills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练习1：更正陷阱识别（5组）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听对话，找出更正信号词，写出最终正确答案</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"The meeting's on the 5th... wait, I mean the 15th."</a:t>
            </a:r>
          </a:p>
          <a:p>
            <a:pPr>
              <a:spcBef>
                <a:spcPts val="1100"/>
              </a:spcBef>
            </a:pPr>
            <a:r>
              <a:rPr sz="1500">
                <a:solidFill>
                  <a:srgbClr val="1E293B"/>
                </a:solidFill>
              </a:rPr>
              <a:t>▢ "It costs £35. Oh sorry, that's the old price — it's £42 now."</a:t>
            </a:r>
          </a:p>
          <a:p>
            <a:pPr>
              <a:spcBef>
                <a:spcPts val="1100"/>
              </a:spcBef>
            </a:pPr>
            <a:r>
              <a:rPr sz="1500">
                <a:solidFill>
                  <a:srgbClr val="1E293B"/>
                </a:solidFill>
              </a:rPr>
              <a:t>▢ "She's from Melbourne. Actually no, she's from Sydney."</a:t>
            </a:r>
          </a:p>
          <a:p>
            <a:pPr>
              <a:spcBef>
                <a:spcPts val="1100"/>
              </a:spcBef>
            </a:pPr>
            <a:r>
              <a:rPr sz="1500">
                <a:solidFill>
                  <a:srgbClr val="1E293B"/>
                </a:solidFill>
              </a:rPr>
              <a:t>▢ "Three floors up — in fact, let me check — it's the fourth floor."</a:t>
            </a:r>
          </a:p>
          <a:p>
            <a:pPr>
              <a:spcBef>
                <a:spcPts val="1100"/>
              </a:spcBef>
            </a:pPr>
            <a:r>
              <a:rPr sz="1500">
                <a:solidFill>
                  <a:srgbClr val="1E293B"/>
                </a:solidFill>
              </a:rPr>
              <a:t>▢ "Ring extension 204. Hmm, I mean 240 — easy to mix up."</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练习2：否定陷阱识别（5组）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以下句子，答案是什么？（注意否定词）</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"Parking is not available on weekdays."→ Q: When can you park?</a:t>
            </a:r>
          </a:p>
          <a:p>
            <a:pPr>
              <a:spcBef>
                <a:spcPts val="1100"/>
              </a:spcBef>
            </a:pPr>
            <a:r>
              <a:rPr sz="1500">
                <a:solidFill>
                  <a:srgbClr val="1E293B"/>
                </a:solidFill>
              </a:rPr>
              <a:t>▢ "The fee does NOT include equipment rental."→ Q: What's excluded?</a:t>
            </a:r>
          </a:p>
          <a:p>
            <a:pPr>
              <a:spcBef>
                <a:spcPts val="1100"/>
              </a:spcBef>
            </a:pPr>
            <a:r>
              <a:rPr sz="1500">
                <a:solidFill>
                  <a:srgbClr val="1E293B"/>
                </a:solidFill>
              </a:rPr>
              <a:t>▢ "Students without prior experience are NOT eligible."→ Q: Who can apply?</a:t>
            </a:r>
          </a:p>
          <a:p>
            <a:pPr>
              <a:spcBef>
                <a:spcPts val="1100"/>
              </a:spcBef>
            </a:pPr>
            <a:r>
              <a:rPr sz="1500">
                <a:solidFill>
                  <a:srgbClr val="1E293B"/>
                </a:solidFill>
              </a:rPr>
              <a:t>▢ "Never use the back entrance after 6pm."→ Q: When can you use back entrance?</a:t>
            </a:r>
          </a:p>
          <a:p>
            <a:pPr>
              <a:spcBef>
                <a:spcPts val="1100"/>
              </a:spcBef>
            </a:pPr>
            <a:r>
              <a:rPr sz="1500">
                <a:solidFill>
                  <a:srgbClr val="1E293B"/>
                </a:solidFill>
              </a:rPr>
              <a:t>▢ "The café is closed on Sundays and Mondays."→ Q: When is it open?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练习3：条件陷阱识别（3组）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以下对话，最终答案是什么？（注意条件是否成立）</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"If demand is high, we'll add a second session. Last year we had 200 applicants." → Q: How many sessions?</a:t>
            </a:r>
          </a:p>
          <a:p>
            <a:pPr>
              <a:spcBef>
                <a:spcPts val="1100"/>
              </a:spcBef>
            </a:pPr>
            <a:r>
              <a:rPr sz="1500">
                <a:solidFill>
                  <a:srgbClr val="1E293B"/>
                </a:solidFill>
              </a:rPr>
              <a:t>▢ "Unless the funding is approved, we'll hold the event online." (Funding was approved.) → Q: Venue?</a:t>
            </a:r>
          </a:p>
          <a:p>
            <a:pPr>
              <a:spcBef>
                <a:spcPts val="1100"/>
              </a:spcBef>
            </a:pPr>
            <a:r>
              <a:rPr sz="1500">
                <a:solidFill>
                  <a:srgbClr val="1E293B"/>
                </a:solidFill>
              </a:rPr>
              <a:t>▢ "We'll use the sports hall, provided that the basketball team finishes by 5pm." (They finish at 6pm.) → Q: Venue?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练习4：相似音陷阱专项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写出你听到的词，并判断是哪类相似音陷阱</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① 14 vs 40 → 听老师读，写下数字</a:t>
            </a:r>
          </a:p>
          <a:p>
            <a:pPr>
              <a:spcBef>
                <a:spcPts val="1100"/>
              </a:spcBef>
            </a:pPr>
            <a:r>
              <a:rPr sz="1500">
                <a:solidFill>
                  <a:srgbClr val="1E293B"/>
                </a:solidFill>
              </a:rPr>
              <a:t>▢ ② Smith vs Smyth → 这是人名，有没有区别？</a:t>
            </a:r>
          </a:p>
          <a:p>
            <a:pPr>
              <a:spcBef>
                <a:spcPts val="1100"/>
              </a:spcBef>
            </a:pPr>
            <a:r>
              <a:rPr sz="1500">
                <a:solidFill>
                  <a:srgbClr val="1E293B"/>
                </a:solidFill>
              </a:rPr>
              <a:t>▢ ③ effect vs affect → 音近但词性不同，如何区分？</a:t>
            </a:r>
          </a:p>
          <a:p>
            <a:pPr>
              <a:spcBef>
                <a:spcPts val="1100"/>
              </a:spcBef>
            </a:pPr>
            <a:r>
              <a:rPr sz="1500">
                <a:solidFill>
                  <a:srgbClr val="1E293B"/>
                </a:solidFill>
              </a:rPr>
              <a:t>▢ ④ 0800-three-treble-two → 完整号码是多少？</a:t>
            </a:r>
          </a:p>
          <a:p>
            <a:pPr>
              <a:spcBef>
                <a:spcPts val="1100"/>
              </a:spcBef>
            </a:pPr>
            <a:r>
              <a:rPr sz="1500">
                <a:solidFill>
                  <a:srgbClr val="1E293B"/>
                </a:solidFill>
              </a:rPr>
              <a:t>▢ ⑤ dessert vs desert → 在S1餐厅场景中，更可能是哪个？</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练习5：综合陷阱实战（真题改编）</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以下S3对话包含多个陷阱，找出所有陷阱并写出每道题的正确答案</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A: "So we're submitting on the 20th, right?"
B: "Actually, the deadline's been extended to the 25th."
A: "Great. Will we include the appendix?"
B: "Only if it's under 10 pages. Ours is 15, so no."</a:t>
            </a:r>
          </a:p>
          <a:p>
            <a:pPr>
              <a:spcBef>
                <a:spcPts val="1100"/>
              </a:spcBef>
            </a:pPr>
            <a:r>
              <a:rPr sz="1500">
                <a:solidFill>
                  <a:srgbClr val="1E293B"/>
                </a:solidFill>
              </a:rPr>
              <a:t>▢ 陷阱1：日期（20th→25th，更正陷阱）</a:t>
            </a:r>
          </a:p>
          <a:p>
            <a:pPr>
              <a:spcBef>
                <a:spcPts val="1100"/>
              </a:spcBef>
            </a:pPr>
            <a:r>
              <a:rPr sz="1500">
                <a:solidFill>
                  <a:srgbClr val="1E293B"/>
                </a:solidFill>
              </a:rPr>
              <a:t>▢ 陷阱2：appendix（条件：&lt;10页，但实际15页&gt;10页，条件不成立→不包含）</a:t>
            </a:r>
          </a:p>
          <a:p>
            <a:pPr>
              <a:spcBef>
                <a:spcPts val="1100"/>
              </a:spcBef>
            </a:pPr>
            <a:r>
              <a:rPr sz="1500">
                <a:solidFill>
                  <a:srgbClr val="1E293B"/>
                </a:solidFill>
              </a:rPr>
              <a:t>▢ Q1答案：25th / Q2答案：no（不包含appendix）</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08</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陷阱误区与防范</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Common Mistakes in Trap Avoidance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应对陷阱时的三大新误区</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过度怀疑：听到所有内容都不敢写，等啊等，结果什么都没写——考试变成了纯等待</a:t>
            </a:r>
          </a:p>
          <a:p>
            <a:pPr>
              <a:spcBef>
                <a:spcPts val="800"/>
              </a:spcBef>
            </a:pPr>
            <a:r>
              <a:rPr sz="1400">
                <a:solidFill>
                  <a:srgbClr val="C02A2A"/>
                </a:solidFill>
              </a:rPr>
              <a:t>✗ 划掉太快：听到任何稍有变化的词就划掉之前答案，结果把正确答案也划掉了</a:t>
            </a:r>
          </a:p>
          <a:p>
            <a:pPr>
              <a:spcBef>
                <a:spcPts val="800"/>
              </a:spcBef>
            </a:pPr>
            <a:r>
              <a:rPr sz="1400">
                <a:solidFill>
                  <a:srgbClr val="C02A2A"/>
                </a:solidFill>
              </a:rPr>
              <a:t>✗ 信号词背诵不够熟：知道陷阱存在，但听到"in fact"时还是没有立刻反应</a:t>
            </a:r>
          </a:p>
        </p:txBody>
      </p:sp>
      <p:sp>
        <p:nvSpPr>
          <p:cNvPr id="8" name="Rectangle 7"/>
          <p:cNvSpPr/>
          <p:nvPr/>
        </p:nvSpPr>
        <p:spPr>
          <a:xfrm>
            <a:off x="6108192" y="1097280"/>
            <a:ext cx="36576" cy="5212080"/>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平衡策略：只在听到明确信号词时才延迟/划掉——不是怀疑每个答案</a:t>
            </a:r>
          </a:p>
          <a:p>
            <a:pPr>
              <a:spcBef>
                <a:spcPts val="800"/>
              </a:spcBef>
            </a:pPr>
            <a:r>
              <a:rPr sz="1400">
                <a:solidFill>
                  <a:srgbClr val="1B7A3D"/>
                </a:solidFill>
              </a:rPr>
              <a:t>✓ 划掉前先确认：确实听到了更正/否定信号词才划，不是因为"感觉要变了"就划</a:t>
            </a:r>
          </a:p>
          <a:p>
            <a:pPr>
              <a:spcBef>
                <a:spcPts val="800"/>
              </a:spcBef>
            </a:pPr>
            <a:r>
              <a:rPr sz="1400">
                <a:solidFill>
                  <a:srgbClr val="1B7A3D"/>
                </a:solidFill>
              </a:rPr>
              <a:t>✓ 信号词反复训练：把更正/否定/条件信号词做成词卡，每天看5分钟，形成条件反射</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建立陷阱雷达：系统练习计划</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0F4C5C"/>
                </a:solidFill>
              </a:rPr>
              <a:t>• Week 1：识别阶段</a:t>
            </a:r>
          </a:p>
          <a:p>
            <a:pPr>
              <a:spcBef>
                <a:spcPts val="100"/>
              </a:spcBef>
            </a:pPr>
            <a:r>
              <a:rPr sz="1550">
                <a:solidFill>
                  <a:srgbClr val="556075"/>
                </a:solidFill>
              </a:rPr>
              <a:t>   做完真题后，将所有错题分类：是哪类陷阱？信号词是什么？</a:t>
            </a:r>
          </a:p>
          <a:p>
            <a:pPr>
              <a:spcBef>
                <a:spcPts val="1000"/>
              </a:spcBef>
            </a:pPr>
            <a:r>
              <a:rPr sz="1850" b="1">
                <a:solidFill>
                  <a:srgbClr val="0F4C5C"/>
                </a:solidFill>
              </a:rPr>
              <a:t>• Week 2：强化阶段</a:t>
            </a:r>
          </a:p>
          <a:p>
            <a:pPr>
              <a:spcBef>
                <a:spcPts val="100"/>
              </a:spcBef>
            </a:pPr>
            <a:r>
              <a:rPr sz="1550">
                <a:solidFill>
                  <a:srgbClr val="556075"/>
                </a:solidFill>
              </a:rPr>
              <a:t>   专项练习：每次只练一类陷阱，S1全套只关注更正陷阱</a:t>
            </a:r>
          </a:p>
          <a:p>
            <a:pPr>
              <a:spcBef>
                <a:spcPts val="1000"/>
              </a:spcBef>
            </a:pPr>
            <a:r>
              <a:rPr sz="1850" b="1">
                <a:solidFill>
                  <a:srgbClr val="0F4C5C"/>
                </a:solidFill>
              </a:rPr>
              <a:t>• Week 3：整合阶段</a:t>
            </a:r>
          </a:p>
          <a:p>
            <a:pPr>
              <a:spcBef>
                <a:spcPts val="100"/>
              </a:spcBef>
            </a:pPr>
            <a:r>
              <a:rPr sz="1550">
                <a:solidFill>
                  <a:srgbClr val="556075"/>
                </a:solidFill>
              </a:rPr>
              <a:t>   综合练习，模拟考场环境，所有陷阱类型混合出现</a:t>
            </a:r>
          </a:p>
          <a:p>
            <a:pPr>
              <a:spcBef>
                <a:spcPts val="1000"/>
              </a:spcBef>
            </a:pPr>
            <a:r>
              <a:rPr sz="1850" b="1">
                <a:solidFill>
                  <a:srgbClr val="0F4C5C"/>
                </a:solidFill>
              </a:rPr>
              <a:t>• Week 4：自动化</a:t>
            </a:r>
          </a:p>
          <a:p>
            <a:pPr>
              <a:spcBef>
                <a:spcPts val="100"/>
              </a:spcBef>
            </a:pPr>
            <a:r>
              <a:rPr sz="1550">
                <a:solidFill>
                  <a:srgbClr val="556075"/>
                </a:solidFill>
              </a:rPr>
              <a:t>   做完题后，不需要特别关注信号词——陷阱意识已自动化</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深圳学生注意：目标：4周后，陷阱题正确率从约50%提升到85%以上</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深圳学生陷阱失分统计</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0F4C5C"/>
                </a:solidFill>
              </a:rPr>
              <a:t>• 更正型</a:t>
            </a:r>
          </a:p>
          <a:p>
            <a:pPr>
              <a:spcBef>
                <a:spcPts val="100"/>
              </a:spcBef>
            </a:pPr>
            <a:r>
              <a:rPr sz="1550">
                <a:solidFill>
                  <a:srgbClr val="556075"/>
                </a:solidFill>
              </a:rPr>
              <a:t>   失分率最高（35%）——深圳学生反应速度快但容易不等后续更正</a:t>
            </a:r>
          </a:p>
          <a:p>
            <a:pPr>
              <a:spcBef>
                <a:spcPts val="1000"/>
              </a:spcBef>
            </a:pPr>
            <a:r>
              <a:rPr sz="1850" b="1">
                <a:solidFill>
                  <a:srgbClr val="0F4C5C"/>
                </a:solidFill>
              </a:rPr>
              <a:t>• 否定型</a:t>
            </a:r>
          </a:p>
          <a:p>
            <a:pPr>
              <a:spcBef>
                <a:spcPts val="100"/>
              </a:spcBef>
            </a:pPr>
            <a:r>
              <a:rPr sz="1550">
                <a:solidFill>
                  <a:srgbClr val="556075"/>
                </a:solidFill>
              </a:rPr>
              <a:t>   失分率第二（28%）——not/never在快速语流中容易被忽视</a:t>
            </a:r>
          </a:p>
          <a:p>
            <a:pPr>
              <a:spcBef>
                <a:spcPts val="1000"/>
              </a:spcBef>
            </a:pPr>
            <a:r>
              <a:rPr sz="1850" b="1">
                <a:solidFill>
                  <a:srgbClr val="0F4C5C"/>
                </a:solidFill>
              </a:rPr>
              <a:t>• 相似音型</a:t>
            </a:r>
          </a:p>
          <a:p>
            <a:pPr>
              <a:spcBef>
                <a:spcPts val="100"/>
              </a:spcBef>
            </a:pPr>
            <a:r>
              <a:rPr sz="1550">
                <a:solidFill>
                  <a:srgbClr val="556075"/>
                </a:solidFill>
              </a:rPr>
              <a:t>   失分率第三（20%）——13/30等数字混淆，与中式英语听感有关</a:t>
            </a:r>
          </a:p>
          <a:p>
            <a:pPr>
              <a:spcBef>
                <a:spcPts val="1000"/>
              </a:spcBef>
            </a:pPr>
            <a:r>
              <a:rPr sz="1850" b="1">
                <a:solidFill>
                  <a:srgbClr val="0F4C5C"/>
                </a:solidFill>
              </a:rPr>
              <a:t>• 条件型</a:t>
            </a:r>
          </a:p>
          <a:p>
            <a:pPr>
              <a:spcBef>
                <a:spcPts val="100"/>
              </a:spcBef>
            </a:pPr>
            <a:r>
              <a:rPr sz="1550">
                <a:solidFill>
                  <a:srgbClr val="556075"/>
                </a:solidFill>
              </a:rPr>
              <a:t>   失分率第四（12%）——逻辑理解难度较高，需要完整理解语境</a:t>
            </a:r>
          </a:p>
          <a:p>
            <a:pPr>
              <a:spcBef>
                <a:spcPts val="1000"/>
              </a:spcBef>
            </a:pPr>
            <a:r>
              <a:rPr sz="1850" b="1">
                <a:solidFill>
                  <a:srgbClr val="0F4C5C"/>
                </a:solidFill>
              </a:rPr>
              <a:t>• 未来计划型</a:t>
            </a:r>
          </a:p>
          <a:p>
            <a:pPr>
              <a:spcBef>
                <a:spcPts val="100"/>
              </a:spcBef>
            </a:pPr>
            <a:r>
              <a:rPr sz="1550">
                <a:solidFill>
                  <a:srgbClr val="556075"/>
                </a:solidFill>
              </a:rPr>
              <a:t>   失分率第五（5%）——相对明显，大多数学生能识别</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深圳学生注意：根据以上数据，本课优先训练更正型和否定型陷阱，投入80%的练习时间</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六大陷阱即时参考卡</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3444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0F4C5C"/>
                </a:solidFill>
                <a:latin typeface="Calibri"/>
              </a:rPr>
              <a:t>更正型</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听到 actually/sorry/I mean → 立刻划掉草稿上的候选答案，等新答案</a:t>
            </a:r>
          </a:p>
        </p:txBody>
      </p:sp>
      <p:sp>
        <p:nvSpPr>
          <p:cNvPr id="12" name="Rounded Rectangle 11"/>
          <p:cNvSpPr/>
          <p:nvPr/>
        </p:nvSpPr>
        <p:spPr>
          <a:xfrm>
            <a:off x="6355079" y="123444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0F4C5C"/>
                </a:solidFill>
                <a:latin typeface="Calibri"/>
              </a:rPr>
              <a:t>否定型</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听到 not/never/without → 脑中"反转"，后接内容不是答案</a:t>
            </a:r>
          </a:p>
        </p:txBody>
      </p:sp>
      <p:sp>
        <p:nvSpPr>
          <p:cNvPr id="16" name="Rounded Rectangle 15"/>
          <p:cNvSpPr/>
          <p:nvPr/>
        </p:nvSpPr>
        <p:spPr>
          <a:xfrm>
            <a:off x="548640" y="286512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0F4C5C"/>
                </a:solidFill>
                <a:latin typeface="Calibri"/>
              </a:rPr>
              <a:t>条件型</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听到 if/unless/only if → 打问号，继续听确认条件是否成立</a:t>
            </a:r>
          </a:p>
        </p:txBody>
      </p:sp>
      <p:sp>
        <p:nvSpPr>
          <p:cNvPr id="20" name="Rounded Rectangle 19"/>
          <p:cNvSpPr/>
          <p:nvPr/>
        </p:nvSpPr>
        <p:spPr>
          <a:xfrm>
            <a:off x="6355079" y="286512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0F4C5C"/>
                </a:solidFill>
                <a:latin typeface="Calibri"/>
              </a:rPr>
              <a:t>相似音型</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数字/音近词 → 等整句/等拼读再写，不要听到一半就下笔</a:t>
            </a:r>
          </a:p>
        </p:txBody>
      </p:sp>
      <p:sp>
        <p:nvSpPr>
          <p:cNvPr id="24" name="Rounded Rectangle 23"/>
          <p:cNvSpPr/>
          <p:nvPr/>
        </p:nvSpPr>
        <p:spPr>
          <a:xfrm>
            <a:off x="548640" y="449580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0F4C5C"/>
                </a:solidFill>
                <a:latin typeface="Calibri"/>
              </a:rPr>
              <a:t>计划型</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听到 plan/intend/going to → 打问号，等但是/转折/确认</a:t>
            </a:r>
          </a:p>
        </p:txBody>
      </p:sp>
      <p:sp>
        <p:nvSpPr>
          <p:cNvPr id="28" name="Rounded Rectangle 27"/>
          <p:cNvSpPr/>
          <p:nvPr/>
        </p:nvSpPr>
        <p:spPr>
          <a:xfrm>
            <a:off x="6355079" y="449580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55079" y="449580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399" y="4587240"/>
            <a:ext cx="5029200" cy="411480"/>
          </a:xfrm>
          <a:prstGeom prst="rect">
            <a:avLst/>
          </a:prstGeom>
          <a:noFill/>
        </p:spPr>
        <p:txBody>
          <a:bodyPr wrap="square" anchor="t">
            <a:spAutoFit/>
          </a:bodyPr>
          <a:lstStyle/>
          <a:p>
            <a:pPr algn="l"/>
            <a:r>
              <a:rPr sz="1400" b="1" i="0">
                <a:solidFill>
                  <a:srgbClr val="0F4C5C"/>
                </a:solidFill>
                <a:latin typeface="Calibri"/>
              </a:rPr>
              <a:t>复合型</a:t>
            </a:r>
          </a:p>
        </p:txBody>
      </p:sp>
      <p:sp>
        <p:nvSpPr>
          <p:cNvPr id="31" name="TextBox 30"/>
          <p:cNvSpPr txBox="1"/>
          <p:nvPr/>
        </p:nvSpPr>
        <p:spPr>
          <a:xfrm>
            <a:off x="6629399" y="4998720"/>
            <a:ext cx="5029200" cy="853440"/>
          </a:xfrm>
          <a:prstGeom prst="rect">
            <a:avLst/>
          </a:prstGeom>
          <a:noFill/>
        </p:spPr>
        <p:txBody>
          <a:bodyPr wrap="square" anchor="t">
            <a:spAutoFit/>
          </a:bodyPr>
          <a:lstStyle/>
          <a:p>
            <a:pPr algn="l"/>
            <a:r>
              <a:rPr sz="1250" b="0" i="0">
                <a:solidFill>
                  <a:srgbClr val="556075"/>
                </a:solidFill>
                <a:latin typeface="Calibri"/>
              </a:rPr>
              <a:t>多个信号词叠加 → 放慢节奏，等完整逻辑链结束再写答案</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陷阱草稿操作规范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3444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0F4C5C"/>
                </a:solidFill>
                <a:latin typeface="Calibri"/>
              </a:rPr>
              <a:t>标注问号</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对不确定的答案，在旁边写"?"——提醒自己此处有风险</a:t>
            </a:r>
          </a:p>
        </p:txBody>
      </p:sp>
      <p:sp>
        <p:nvSpPr>
          <p:cNvPr id="12" name="Rounded Rectangle 11"/>
          <p:cNvSpPr/>
          <p:nvPr/>
        </p:nvSpPr>
        <p:spPr>
          <a:xfrm>
            <a:off x="6355079" y="123444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0F4C5C"/>
                </a:solidFill>
                <a:latin typeface="Calibri"/>
              </a:rPr>
              <a:t>划掉动作</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用横线划掉（不是涂抹）：一眼就能看出"之前的"和"更正后的"</a:t>
            </a:r>
          </a:p>
        </p:txBody>
      </p:sp>
      <p:sp>
        <p:nvSpPr>
          <p:cNvPr id="16" name="Rounded Rectangle 15"/>
          <p:cNvSpPr/>
          <p:nvPr/>
        </p:nvSpPr>
        <p:spPr>
          <a:xfrm>
            <a:off x="548640" y="286512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0F4C5C"/>
                </a:solidFill>
                <a:latin typeface="Calibri"/>
              </a:rPr>
              <a:t>延迟策略</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听到信号词后，笔停0.5-1秒，等待后续更正或确认</a:t>
            </a:r>
          </a:p>
        </p:txBody>
      </p:sp>
      <p:sp>
        <p:nvSpPr>
          <p:cNvPr id="20" name="Rounded Rectangle 19"/>
          <p:cNvSpPr/>
          <p:nvPr/>
        </p:nvSpPr>
        <p:spPr>
          <a:xfrm>
            <a:off x="6355079" y="286512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0F4C5C"/>
                </a:solidFill>
                <a:latin typeface="Calibri"/>
              </a:rPr>
              <a:t>机考操作</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机考：先在草稿纸上写，确认后再输入；不要急着输入第一个听到的词</a:t>
            </a:r>
          </a:p>
        </p:txBody>
      </p:sp>
      <p:sp>
        <p:nvSpPr>
          <p:cNvPr id="24" name="Rounded Rectangle 23"/>
          <p:cNvSpPr/>
          <p:nvPr/>
        </p:nvSpPr>
        <p:spPr>
          <a:xfrm>
            <a:off x="548640" y="449580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0F4C5C"/>
                </a:solidFill>
                <a:latin typeface="Calibri"/>
              </a:rPr>
              <a:t>誊写核查</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誊写时，所有有"?"标注的题，重新确认逻辑再誊写</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L08课后自检清单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做2套真题听力，专项标注所有陷阱类型（更正/否定/条件/相似音/计划）</a:t>
            </a:r>
          </a:p>
          <a:p>
            <a:pPr>
              <a:spcBef>
                <a:spcPts val="1200"/>
              </a:spcBef>
            </a:pPr>
            <a:r>
              <a:rPr sz="1600">
                <a:solidFill>
                  <a:srgbClr val="1E293B"/>
                </a:solidFill>
              </a:rPr>
              <a:t>☐ 统计每类陷阱的识别成功率，找出最弱的陷阱类型</a:t>
            </a:r>
          </a:p>
          <a:p>
            <a:pPr>
              <a:spcBef>
                <a:spcPts val="1200"/>
              </a:spcBef>
            </a:pPr>
            <a:r>
              <a:rPr sz="1600">
                <a:solidFill>
                  <a:srgbClr val="1E293B"/>
                </a:solidFill>
              </a:rPr>
              <a:t>☐ 做S3选择题专项：每道题说出"是哪类陷阱+信号词是什么"</a:t>
            </a:r>
          </a:p>
          <a:p>
            <a:pPr>
              <a:spcBef>
                <a:spcPts val="1200"/>
              </a:spcBef>
            </a:pPr>
            <a:r>
              <a:rPr sz="1600">
                <a:solidFill>
                  <a:srgbClr val="1E293B"/>
                </a:solidFill>
              </a:rPr>
              <a:t>☐ 建立个人错题陷阱档案：记录自己最常掉入的陷阱</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L08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12A594"/>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六大陷阱：更正型/否定型/条件型/相似音型/未来计划型/复合型</a:t>
            </a:r>
          </a:p>
          <a:p>
            <a:pPr>
              <a:spcBef>
                <a:spcPts val="1100"/>
              </a:spcBef>
            </a:pPr>
            <a:r>
              <a:rPr sz="1550">
                <a:solidFill>
                  <a:srgbClr val="FFFFFF"/>
                </a:solidFill>
              </a:rPr>
              <a:t>✓  信号词是关键：actually/not/if/unless/plan to——形成条件反射</a:t>
            </a:r>
          </a:p>
          <a:p>
            <a:pPr>
              <a:spcBef>
                <a:spcPts val="1100"/>
              </a:spcBef>
            </a:pPr>
            <a:r>
              <a:rPr sz="1550">
                <a:solidFill>
                  <a:srgbClr val="FFFFFF"/>
                </a:solidFill>
              </a:rPr>
              <a:t>✓  陷阱应对三步：识别信号词→延迟写答案→等逻辑链完整再写</a:t>
            </a:r>
          </a:p>
          <a:p>
            <a:pPr>
              <a:spcBef>
                <a:spcPts val="1100"/>
              </a:spcBef>
            </a:pPr>
            <a:r>
              <a:rPr sz="1550">
                <a:solidFill>
                  <a:srgbClr val="FFFFFF"/>
                </a:solidFill>
              </a:rPr>
              <a:t>✓  不要过度怀疑：只在明确信号词出现时才延迟，不是怀疑每个答案</a:t>
            </a:r>
          </a:p>
          <a:p>
            <a:pPr>
              <a:spcBef>
                <a:spcPts val="1100"/>
              </a:spcBef>
            </a:pPr>
            <a:r>
              <a:rPr sz="1550">
                <a:solidFill>
                  <a:srgbClr val="FFFFFF"/>
                </a:solidFill>
              </a:rPr>
              <a:t>✓  陷阱是可训练的：专项练习4周后，陷阱识别率目标≥85%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L08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12A594"/>
                </a:solidFill>
                <a:latin typeface="Calibri"/>
              </a:rPr>
              <a:t>⏱ 建议用时：约75分钟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做剑桥真题3套，专项标注所有陷阱（颜色区分：红=更正，蓝=否定，绿=条件）</a:t>
            </a:r>
          </a:p>
          <a:p>
            <a:pPr>
              <a:spcBef>
                <a:spcPts val="1300"/>
              </a:spcBef>
            </a:pPr>
            <a:r>
              <a:rPr sz="1550" b="1">
                <a:solidFill>
                  <a:srgbClr val="1E293B"/>
                </a:solidFill>
              </a:rPr>
              <a:t>作业 2　统计个人最弱陷阱类型，下周针对该类型做专项练习</a:t>
            </a:r>
          </a:p>
          <a:p>
            <a:pPr>
              <a:spcBef>
                <a:spcPts val="1300"/>
              </a:spcBef>
            </a:pPr>
            <a:r>
              <a:rPr sz="1550" b="1">
                <a:solidFill>
                  <a:srgbClr val="1E293B"/>
                </a:solidFill>
              </a:rPr>
              <a:t>作业 3　背诵信号词表：更正（6个）+否定（8个）+条件（5个）</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12A594"/>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L09 · 口音适应与连读</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英式vs澳式：深圳学生最不熟悉的两种口音特征</a:t>
            </a:r>
          </a:p>
          <a:p>
            <a:pPr>
              <a:spcBef>
                <a:spcPts val="1000"/>
              </a:spcBef>
            </a:pPr>
            <a:r>
              <a:rPr sz="1600">
                <a:solidFill>
                  <a:srgbClr val="CFDCF2"/>
                </a:solidFill>
              </a:rPr>
              <a:t>→ 连读规则：链接音/省略音/弱读——让"听不懂"变"听懂了"</a:t>
            </a:r>
          </a:p>
          <a:p>
            <a:pPr>
              <a:spcBef>
                <a:spcPts val="1000"/>
              </a:spcBef>
            </a:pPr>
            <a:r>
              <a:rPr sz="1600">
                <a:solidFill>
                  <a:srgbClr val="CFDCF2"/>
                </a:solidFill>
              </a:rPr>
              <a:t>→ 元音变化：英式元音与美式元音的系统对比</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