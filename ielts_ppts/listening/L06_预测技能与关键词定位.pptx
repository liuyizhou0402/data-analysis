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12A594"/>
                </a:solidFill>
                <a:latin typeface="Calibri"/>
              </a:rPr>
              <a:t>L06</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12A594"/>
                </a:solidFill>
                <a:latin typeface="Calibri"/>
              </a:rPr>
              <a:t>IELTS Listening 听力</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预测技能
&amp; 关键词定位</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Prediction Skills &amp; Keyword Location</a:t>
            </a:r>
          </a:p>
        </p:txBody>
      </p:sp>
      <p:sp>
        <p:nvSpPr>
          <p:cNvPr id="10" name="Rounded Rectangle 9"/>
          <p:cNvSpPr/>
          <p:nvPr/>
        </p:nvSpPr>
        <p:spPr>
          <a:xfrm>
            <a:off x="777240" y="5669280"/>
            <a:ext cx="3840480" cy="54864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6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ounded Rectangle 6"/>
          <p:cNvSpPr/>
          <p:nvPr/>
        </p:nvSpPr>
        <p:spPr>
          <a:xfrm>
            <a:off x="54864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预测的本质与价值</a:t>
            </a:r>
          </a:p>
        </p:txBody>
      </p:sp>
      <p:sp>
        <p:nvSpPr>
          <p:cNvPr id="10" name="Rounded Rectangle 9"/>
          <p:cNvSpPr/>
          <p:nvPr/>
        </p:nvSpPr>
        <p:spPr>
          <a:xfrm>
            <a:off x="54864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三层预读系统</a:t>
            </a:r>
          </a:p>
        </p:txBody>
      </p:sp>
      <p:sp>
        <p:nvSpPr>
          <p:cNvPr id="13" name="Rounded Rectangle 12"/>
          <p:cNvSpPr/>
          <p:nvPr/>
        </p:nvSpPr>
        <p:spPr>
          <a:xfrm>
            <a:off x="54864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关键词圈划技术</a:t>
            </a:r>
          </a:p>
        </p:txBody>
      </p:sp>
      <p:sp>
        <p:nvSpPr>
          <p:cNvPr id="16" name="Rounded Rectangle 15"/>
          <p:cNvSpPr/>
          <p:nvPr/>
        </p:nvSpPr>
        <p:spPr>
          <a:xfrm>
            <a:off x="54864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同义替换识别</a:t>
            </a:r>
          </a:p>
        </p:txBody>
      </p:sp>
      <p:sp>
        <p:nvSpPr>
          <p:cNvPr id="19" name="Rounded Rectangle 18"/>
          <p:cNvSpPr/>
          <p:nvPr/>
        </p:nvSpPr>
        <p:spPr>
          <a:xfrm>
            <a:off x="640080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预测词汇库</a:t>
            </a:r>
          </a:p>
        </p:txBody>
      </p:sp>
      <p:sp>
        <p:nvSpPr>
          <p:cNvPr id="22" name="Rounded Rectangle 21"/>
          <p:cNvSpPr/>
          <p:nvPr/>
        </p:nvSpPr>
        <p:spPr>
          <a:xfrm>
            <a:off x="640080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20秒预读法</a:t>
            </a:r>
          </a:p>
        </p:txBody>
      </p:sp>
      <p:sp>
        <p:nvSpPr>
          <p:cNvPr id="25" name="Rounded Rectangle 24"/>
          <p:cNvSpPr/>
          <p:nvPr/>
        </p:nvSpPr>
        <p:spPr>
          <a:xfrm>
            <a:off x="640080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L05回顾：S4学术讲座核心要点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AWL词汇</a:t>
            </a:r>
          </a:p>
          <a:p>
            <a:pPr>
              <a:spcBef>
                <a:spcPts val="100"/>
              </a:spcBef>
            </a:pPr>
            <a:r>
              <a:rPr sz="1550">
                <a:solidFill>
                  <a:srgbClr val="556075"/>
                </a:solidFill>
              </a:rPr>
              <a:t>   听到不认识的词先音译占位，誊写时核对拼写</a:t>
            </a:r>
          </a:p>
          <a:p>
            <a:pPr>
              <a:spcBef>
                <a:spcPts val="1000"/>
              </a:spcBef>
            </a:pPr>
            <a:r>
              <a:rPr sz="1850" b="1">
                <a:solidFill>
                  <a:srgbClr val="0F4C5C"/>
                </a:solidFill>
              </a:rPr>
              <a:t>• 信号词追踪</a:t>
            </a:r>
          </a:p>
          <a:p>
            <a:pPr>
              <a:spcBef>
                <a:spcPts val="100"/>
              </a:spcBef>
            </a:pPr>
            <a:r>
              <a:rPr sz="1550">
                <a:solidFill>
                  <a:srgbClr val="556075"/>
                </a:solidFill>
              </a:rPr>
              <a:t>   however/therefore/in contrast标志答案转折点</a:t>
            </a:r>
          </a:p>
          <a:p>
            <a:pPr>
              <a:spcBef>
                <a:spcPts val="1000"/>
              </a:spcBef>
            </a:pPr>
            <a:r>
              <a:rPr sz="1850" b="1">
                <a:solidFill>
                  <a:srgbClr val="0F4C5C"/>
                </a:solidFill>
              </a:rPr>
              <a:t>• 跟丢处理</a:t>
            </a:r>
          </a:p>
          <a:p>
            <a:pPr>
              <a:spcBef>
                <a:spcPts val="100"/>
              </a:spcBef>
            </a:pPr>
            <a:r>
              <a:rPr sz="1550">
                <a:solidFill>
                  <a:srgbClr val="556075"/>
                </a:solidFill>
              </a:rPr>
              <a:t>   找锚点词重定位，空格留白继续往前听，不停下来纠结</a:t>
            </a:r>
          </a:p>
          <a:p>
            <a:pPr>
              <a:spcBef>
                <a:spcPts val="1000"/>
              </a:spcBef>
            </a:pPr>
            <a:r>
              <a:rPr sz="1850" b="1">
                <a:solidFill>
                  <a:srgbClr val="0F4C5C"/>
                </a:solidFill>
              </a:rPr>
              <a:t>• 难度认知</a:t>
            </a:r>
          </a:p>
          <a:p>
            <a:pPr>
              <a:spcBef>
                <a:spcPts val="100"/>
              </a:spcBef>
            </a:pPr>
            <a:r>
              <a:rPr sz="1550">
                <a:solidFill>
                  <a:srgbClr val="556075"/>
                </a:solidFill>
              </a:rPr>
              <a:t>   S4拉开7分和8分差距，策略正确可多对3-4题</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深圳学生注意：本节课目标：把听力从"被动接收"变为"主动预判"，效率提升40%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12A594"/>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掌握题目预读的三个层次：表层→深层→预判</a:t>
            </a:r>
          </a:p>
          <a:p>
            <a:pPr>
              <a:spcBef>
                <a:spcPts val="1400"/>
              </a:spcBef>
            </a:pPr>
            <a:r>
              <a:rPr sz="1800">
                <a:solidFill>
                  <a:srgbClr val="1E293B"/>
                </a:solidFill>
              </a:rPr>
              <a:t>✦  能在20秒内完成一组题目的关键词圈划</a:t>
            </a:r>
          </a:p>
          <a:p>
            <a:pPr>
              <a:spcBef>
                <a:spcPts val="1400"/>
              </a:spcBef>
            </a:pPr>
            <a:r>
              <a:rPr sz="1800">
                <a:solidFill>
                  <a:srgbClr val="1E293B"/>
                </a:solidFill>
              </a:rPr>
              <a:t>✦  识别录音中的同义替换，将题目词映射到录音词</a:t>
            </a:r>
          </a:p>
          <a:p>
            <a:pPr>
              <a:spcBef>
                <a:spcPts val="1400"/>
              </a:spcBef>
            </a:pPr>
            <a:r>
              <a:rPr sz="1800">
                <a:solidFill>
                  <a:srgbClr val="1E293B"/>
                </a:solidFill>
              </a:rPr>
              <a:t>✦  建立个人"高频预测词汇库"，提升首次识别率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预读做错的三种典型表现</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只读题目不预判：圈了关键词但没想"答案可能是什么类型"，听到答案时反应慢</a:t>
            </a:r>
          </a:p>
          <a:p>
            <a:pPr>
              <a:spcBef>
                <a:spcPts val="800"/>
              </a:spcBef>
            </a:pPr>
            <a:r>
              <a:rPr sz="1400">
                <a:solidFill>
                  <a:srgbClr val="C02A2A"/>
                </a:solidFill>
              </a:rPr>
              <a:t>✗ 预读太慢：一组10题花了40秒还没读完，录音已开始，手忙脚乱</a:t>
            </a:r>
          </a:p>
          <a:p>
            <a:pPr>
              <a:spcBef>
                <a:spcPts val="800"/>
              </a:spcBef>
            </a:pPr>
            <a:r>
              <a:rPr sz="1400">
                <a:solidFill>
                  <a:srgbClr val="C02A2A"/>
                </a:solidFill>
              </a:rPr>
              <a:t>✗ 同义替换识别失败：题目写"inexpensive"，录音说"cheap"，没反应过来是同一个意思</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预读=圈词+预判答案类型（名词/数字/形容词）+预判同义词</a:t>
            </a:r>
          </a:p>
          <a:p>
            <a:pPr>
              <a:spcBef>
                <a:spcPts val="800"/>
              </a:spcBef>
            </a:pPr>
            <a:r>
              <a:rPr sz="1400">
                <a:solidFill>
                  <a:srgbClr val="1B7A3D"/>
                </a:solidFill>
              </a:rPr>
              <a:t>✓ 20秒预读规范：先扫描所有题目标题→再圈每题1-2个关键词→不逐字阅读</a:t>
            </a:r>
          </a:p>
          <a:p>
            <a:pPr>
              <a:spcBef>
                <a:spcPts val="800"/>
              </a:spcBef>
            </a:pPr>
            <a:r>
              <a:rPr sz="1400">
                <a:solidFill>
                  <a:srgbClr val="1B7A3D"/>
                </a:solidFill>
              </a:rPr>
              <a:t>✓ 每课做10个同义替换配对练习，积累"题目词→录音词"的映射意识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预测的本质：主动听 vs 被动听</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Active vs Passive Listening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被动听的代价</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听完每句才反应，答案已过去</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被动听</a:t>
            </a:r>
          </a:p>
          <a:p>
            <a:pPr>
              <a:spcBef>
                <a:spcPts val="100"/>
              </a:spcBef>
            </a:pPr>
            <a:r>
              <a:rPr sz="1500">
                <a:solidFill>
                  <a:srgbClr val="556075"/>
                </a:solidFill>
              </a:rPr>
              <a:t>   等录音说完再找答案，错过关键词窗口</a:t>
            </a:r>
          </a:p>
          <a:p>
            <a:pPr>
              <a:spcBef>
                <a:spcPts val="900"/>
              </a:spcBef>
            </a:pPr>
            <a:r>
              <a:rPr sz="1800" b="1">
                <a:solidFill>
                  <a:srgbClr val="0F4C5C"/>
                </a:solidFill>
              </a:rPr>
              <a:t>• 主动预测</a:t>
            </a:r>
          </a:p>
          <a:p>
            <a:pPr>
              <a:spcBef>
                <a:spcPts val="100"/>
              </a:spcBef>
            </a:pPr>
            <a:r>
              <a:rPr sz="1500">
                <a:solidFill>
                  <a:srgbClr val="556075"/>
                </a:solidFill>
              </a:rPr>
              <a:t>   提前知道"第3题要填一个地点名词"，听到地点词立即捕捉</a:t>
            </a:r>
          </a:p>
          <a:p>
            <a:pPr>
              <a:spcBef>
                <a:spcPts val="900"/>
              </a:spcBef>
            </a:pPr>
            <a:r>
              <a:rPr sz="1800" b="1">
                <a:solidFill>
                  <a:srgbClr val="0F4C5C"/>
                </a:solidFill>
              </a:rPr>
              <a:t>• 差距</a:t>
            </a:r>
          </a:p>
          <a:p>
            <a:pPr>
              <a:spcBef>
                <a:spcPts val="100"/>
              </a:spcBef>
            </a:pPr>
            <a:r>
              <a:rPr sz="1500">
                <a:solidFill>
                  <a:srgbClr val="556075"/>
                </a:solidFill>
              </a:rPr>
              <a:t>   主动预测学生平均多对3-4题，约提高0.5个Band</a:t>
            </a:r>
          </a:p>
          <a:p>
            <a:pPr>
              <a:spcBef>
                <a:spcPts val="900"/>
              </a:spcBef>
            </a:pPr>
            <a:r>
              <a:rPr sz="1800" b="1">
                <a:solidFill>
                  <a:srgbClr val="0F4C5C"/>
                </a:solidFill>
              </a:rPr>
              <a:t>• 核心</a:t>
            </a:r>
          </a:p>
          <a:p>
            <a:pPr>
              <a:spcBef>
                <a:spcPts val="100"/>
              </a:spcBef>
            </a:pPr>
            <a:r>
              <a:rPr sz="1500">
                <a:solidFill>
                  <a:srgbClr val="556075"/>
                </a:solidFill>
              </a:rPr>
              <a:t>   不是"听得更仔细"，而是"听得更有目的"</a:t>
            </a:r>
          </a:p>
          <a:p>
            <a:pPr>
              <a:spcBef>
                <a:spcPts val="900"/>
              </a:spcBef>
            </a:pPr>
            <a:r>
              <a:rPr sz="1800" b="1">
                <a:solidFill>
                  <a:srgbClr val="0F4C5C"/>
                </a:solidFill>
              </a:rPr>
              <a:t>• 训练</a:t>
            </a:r>
          </a:p>
          <a:p>
            <a:pPr>
              <a:spcBef>
                <a:spcPts val="100"/>
              </a:spcBef>
            </a:pPr>
            <a:r>
              <a:rPr sz="1500">
                <a:solidFill>
                  <a:srgbClr val="556075"/>
                </a:solidFill>
              </a:rPr>
              <a:t>   每次做题前强制完成预读，不跳过，形成习惯</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深圳学生注意：预测不是猜答案，而是提前知道"我要找什么"，大幅降低认知负担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三层预读系统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从粗到细，层层深入</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第一层：题型识别</a:t>
            </a:r>
          </a:p>
          <a:p>
            <a:pPr>
              <a:spcBef>
                <a:spcPts val="100"/>
              </a:spcBef>
            </a:pPr>
            <a:r>
              <a:rPr sz="1500">
                <a:solidFill>
                  <a:srgbClr val="556075"/>
                </a:solidFill>
              </a:rPr>
              <a:t>   扫描题目格式→确认是填空/选择/配对/地图</a:t>
            </a:r>
          </a:p>
          <a:p>
            <a:pPr>
              <a:spcBef>
                <a:spcPts val="900"/>
              </a:spcBef>
            </a:pPr>
            <a:r>
              <a:rPr sz="1800" b="1">
                <a:solidFill>
                  <a:srgbClr val="0F4C5C"/>
                </a:solidFill>
              </a:rPr>
              <a:t>• 第二层：关键词圈划</a:t>
            </a:r>
          </a:p>
          <a:p>
            <a:pPr>
              <a:spcBef>
                <a:spcPts val="100"/>
              </a:spcBef>
            </a:pPr>
            <a:r>
              <a:rPr sz="1500">
                <a:solidFill>
                  <a:srgbClr val="556075"/>
                </a:solidFill>
              </a:rPr>
              <a:t>   每题圈1-2个最独特的名词或数字</a:t>
            </a:r>
          </a:p>
          <a:p>
            <a:pPr>
              <a:spcBef>
                <a:spcPts val="900"/>
              </a:spcBef>
            </a:pPr>
            <a:r>
              <a:rPr sz="1800" b="1">
                <a:solidFill>
                  <a:srgbClr val="0F4C5C"/>
                </a:solidFill>
              </a:rPr>
              <a:t>• 第三层：答案类型预判</a:t>
            </a:r>
          </a:p>
          <a:p>
            <a:pPr>
              <a:spcBef>
                <a:spcPts val="100"/>
              </a:spcBef>
            </a:pPr>
            <a:r>
              <a:rPr sz="1500">
                <a:solidFill>
                  <a:srgbClr val="556075"/>
                </a:solidFill>
              </a:rPr>
              <a:t>   这个空填名词？形容词？数字？时间？地点？</a:t>
            </a:r>
          </a:p>
          <a:p>
            <a:pPr>
              <a:spcBef>
                <a:spcPts val="900"/>
              </a:spcBef>
            </a:pPr>
            <a:r>
              <a:rPr sz="1800" b="1">
                <a:solidFill>
                  <a:srgbClr val="0F4C5C"/>
                </a:solidFill>
              </a:rPr>
              <a:t>• 时间分配</a:t>
            </a:r>
          </a:p>
          <a:p>
            <a:pPr>
              <a:spcBef>
                <a:spcPts val="100"/>
              </a:spcBef>
            </a:pPr>
            <a:r>
              <a:rPr sz="1500">
                <a:solidFill>
                  <a:srgbClr val="556075"/>
                </a:solidFill>
              </a:rPr>
              <a:t>   3秒识别题型→10秒圈关键词→7秒预判答案类型=20秒</a:t>
            </a:r>
          </a:p>
          <a:p>
            <a:pPr>
              <a:spcBef>
                <a:spcPts val="900"/>
              </a:spcBef>
            </a:pPr>
            <a:r>
              <a:rPr sz="1800" b="1">
                <a:solidFill>
                  <a:srgbClr val="0F4C5C"/>
                </a:solidFill>
              </a:rPr>
              <a:t>• 优先级</a:t>
            </a:r>
          </a:p>
          <a:p>
            <a:pPr>
              <a:spcBef>
                <a:spcPts val="100"/>
              </a:spcBef>
            </a:pPr>
            <a:r>
              <a:rPr sz="1500">
                <a:solidFill>
                  <a:srgbClr val="556075"/>
                </a:solidFill>
              </a:rPr>
              <a:t>   来不及做第三层时，至少完成前两层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预测提分的实证数据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实验数据</a:t>
            </a:r>
          </a:p>
          <a:p>
            <a:pPr>
              <a:spcBef>
                <a:spcPts val="100"/>
              </a:spcBef>
            </a:pPr>
            <a:r>
              <a:rPr sz="1550">
                <a:solidFill>
                  <a:srgbClr val="556075"/>
                </a:solidFill>
              </a:rPr>
              <a:t>   有预读习惯的考生平均比无预读多对3.2题（约0.5 Band）</a:t>
            </a:r>
          </a:p>
          <a:p>
            <a:pPr>
              <a:spcBef>
                <a:spcPts val="1000"/>
              </a:spcBef>
            </a:pPr>
            <a:r>
              <a:rPr sz="1850" b="1">
                <a:solidFill>
                  <a:srgbClr val="0F4C5C"/>
                </a:solidFill>
              </a:rPr>
              <a:t>• 深圳数据</a:t>
            </a:r>
          </a:p>
          <a:p>
            <a:pPr>
              <a:spcBef>
                <a:spcPts val="100"/>
              </a:spcBef>
            </a:pPr>
            <a:r>
              <a:rPr sz="1550">
                <a:solidFill>
                  <a:srgbClr val="556075"/>
                </a:solidFill>
              </a:rPr>
              <a:t>   本校学员采用预读系统后，S1满分率从42%→71%</a:t>
            </a:r>
          </a:p>
          <a:p>
            <a:pPr>
              <a:spcBef>
                <a:spcPts val="1000"/>
              </a:spcBef>
            </a:pPr>
            <a:r>
              <a:rPr sz="1850" b="1">
                <a:solidFill>
                  <a:srgbClr val="0F4C5C"/>
                </a:solidFill>
              </a:rPr>
              <a:t>• 时间投入</a:t>
            </a:r>
          </a:p>
          <a:p>
            <a:pPr>
              <a:spcBef>
                <a:spcPts val="100"/>
              </a:spcBef>
            </a:pPr>
            <a:r>
              <a:rPr sz="1550">
                <a:solidFill>
                  <a:srgbClr val="556075"/>
                </a:solidFill>
              </a:rPr>
              <a:t>   学会20秒预读需要约10次练习，之后完全自动化</a:t>
            </a:r>
          </a:p>
          <a:p>
            <a:pPr>
              <a:spcBef>
                <a:spcPts val="1000"/>
              </a:spcBef>
            </a:pPr>
            <a:r>
              <a:rPr sz="1850" b="1">
                <a:solidFill>
                  <a:srgbClr val="0F4C5C"/>
                </a:solidFill>
              </a:rPr>
              <a:t>• 最大误区</a:t>
            </a:r>
          </a:p>
          <a:p>
            <a:pPr>
              <a:spcBef>
                <a:spcPts val="100"/>
              </a:spcBef>
            </a:pPr>
            <a:r>
              <a:rPr sz="1550">
                <a:solidFill>
                  <a:srgbClr val="556075"/>
                </a:solidFill>
              </a:rPr>
              <a:t>   很多学生"知道要预读"但不坚持——知道和做到有天壤之别</a:t>
            </a:r>
          </a:p>
          <a:p>
            <a:pPr>
              <a:spcBef>
                <a:spcPts val="1000"/>
              </a:spcBef>
            </a:pPr>
            <a:r>
              <a:rPr sz="1850" b="1">
                <a:solidFill>
                  <a:srgbClr val="0F4C5C"/>
                </a:solidFill>
              </a:rPr>
              <a:t>• 立即行动</a:t>
            </a:r>
          </a:p>
          <a:p>
            <a:pPr>
              <a:spcBef>
                <a:spcPts val="100"/>
              </a:spcBef>
            </a:pPr>
            <a:r>
              <a:rPr sz="1550">
                <a:solidFill>
                  <a:srgbClr val="556075"/>
                </a:solidFill>
              </a:rPr>
              <a:t>   本节课结束后：每次做题，无论多忙，都要完成三层预读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不同题型的预读重点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填空题</a:t>
            </a:r>
          </a:p>
          <a:p>
            <a:pPr>
              <a:spcBef>
                <a:spcPts val="100"/>
              </a:spcBef>
            </a:pPr>
            <a:r>
              <a:rPr sz="1550">
                <a:solidFill>
                  <a:srgbClr val="556075"/>
                </a:solidFill>
              </a:rPr>
              <a:t>   圈空格前后的词→判断词性→预判答案类型（名词/数字）</a:t>
            </a:r>
          </a:p>
          <a:p>
            <a:pPr>
              <a:spcBef>
                <a:spcPts val="1000"/>
              </a:spcBef>
            </a:pPr>
            <a:r>
              <a:rPr sz="1850" b="1">
                <a:solidFill>
                  <a:srgbClr val="0F4C5C"/>
                </a:solidFill>
              </a:rPr>
              <a:t>• 选择题</a:t>
            </a:r>
          </a:p>
          <a:p>
            <a:pPr>
              <a:spcBef>
                <a:spcPts val="100"/>
              </a:spcBef>
            </a:pPr>
            <a:r>
              <a:rPr sz="1550">
                <a:solidFill>
                  <a:srgbClr val="556075"/>
                </a:solidFill>
              </a:rPr>
              <a:t>   圈三个选项的差异核心词（各1个），不读完整选项</a:t>
            </a:r>
          </a:p>
          <a:p>
            <a:pPr>
              <a:spcBef>
                <a:spcPts val="1000"/>
              </a:spcBef>
            </a:pPr>
            <a:r>
              <a:rPr sz="1850" b="1">
                <a:solidFill>
                  <a:srgbClr val="0F4C5C"/>
                </a:solidFill>
              </a:rPr>
              <a:t>• 配对题</a:t>
            </a:r>
          </a:p>
          <a:p>
            <a:pPr>
              <a:spcBef>
                <a:spcPts val="100"/>
              </a:spcBef>
            </a:pPr>
            <a:r>
              <a:rPr sz="1550">
                <a:solidFill>
                  <a:srgbClr val="556075"/>
                </a:solidFill>
              </a:rPr>
              <a:t>   先读完所有H选项，每个圈1个关键词，共8个</a:t>
            </a:r>
          </a:p>
          <a:p>
            <a:pPr>
              <a:spcBef>
                <a:spcPts val="1000"/>
              </a:spcBef>
            </a:pPr>
            <a:r>
              <a:rPr sz="1850" b="1">
                <a:solidFill>
                  <a:srgbClr val="0F4C5C"/>
                </a:solidFill>
              </a:rPr>
              <a:t>• 地图题</a:t>
            </a:r>
          </a:p>
          <a:p>
            <a:pPr>
              <a:spcBef>
                <a:spcPts val="100"/>
              </a:spcBef>
            </a:pPr>
            <a:r>
              <a:rPr sz="1550">
                <a:solidFill>
                  <a:srgbClr val="556075"/>
                </a:solidFill>
              </a:rPr>
              <a:t>   在图上标注已知地点，圈方向词列表（north/next to/between）</a:t>
            </a:r>
          </a:p>
          <a:p>
            <a:pPr>
              <a:spcBef>
                <a:spcPts val="1000"/>
              </a:spcBef>
            </a:pPr>
            <a:r>
              <a:rPr sz="1850" b="1">
                <a:solidFill>
                  <a:srgbClr val="0F4C5C"/>
                </a:solidFill>
              </a:rPr>
              <a:t>• 流程图</a:t>
            </a:r>
          </a:p>
          <a:p>
            <a:pPr>
              <a:spcBef>
                <a:spcPts val="100"/>
              </a:spcBef>
            </a:pPr>
            <a:r>
              <a:rPr sz="1550">
                <a:solidFill>
                  <a:srgbClr val="556075"/>
                </a:solidFill>
              </a:rPr>
              <a:t>   按顺序圈每步动词，预判被动语态（is done/are placed）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三层预读实操：S1场景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以下是S1的题目，用20秒完成三层预读（不要超时）
Name: _____(1)  Age: _____(2)  Occupation: _____(3)
Membership type: _____(4)  Start date: _____(5)</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Q1→专有名词（大写，可能需要拼读）
Q2→数字（两位数为主）
Q3→职业名词（teacher/nurse等）
Q4→类型形容词（family/student/annual）
Q5→日期格式（1st May / 15 June）</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日期格式陷阱：录音说"the first of May"→写"1st May"或"May 1st"均可，但不要写"1/5"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同义替换配对练习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将左列题目词与右列录音词连线：
题目词：cheap / large / begin / problems / parking
录音词：commence / issues / affordable / car park / spacious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cheap→affordable / large→spacious / begin→commence / problems→issues / parking→car park</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考场规律：S1-S2同义替换较直接；S3-S4同义替换更抽象，需要理解语义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关键词圈划：20秒操作规范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Keyword Marking: 20-Second Protocol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什么词值得圈？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选最独特、最可能在录音中提到的词</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优先圈</a:t>
            </a:r>
          </a:p>
          <a:p>
            <a:pPr>
              <a:spcBef>
                <a:spcPts val="100"/>
              </a:spcBef>
            </a:pPr>
            <a:r>
              <a:rPr sz="1500">
                <a:solidFill>
                  <a:srgbClr val="556075"/>
                </a:solidFill>
              </a:rPr>
              <a:t>   专有名词（人名/地名）、数字、时间、颜色、职业</a:t>
            </a:r>
          </a:p>
          <a:p>
            <a:pPr>
              <a:spcBef>
                <a:spcPts val="900"/>
              </a:spcBef>
            </a:pPr>
            <a:r>
              <a:rPr sz="1800" b="1">
                <a:solidFill>
                  <a:srgbClr val="0F4C5C"/>
                </a:solidFill>
              </a:rPr>
              <a:t>• 次优圈</a:t>
            </a:r>
          </a:p>
          <a:p>
            <a:pPr>
              <a:spcBef>
                <a:spcPts val="100"/>
              </a:spcBef>
            </a:pPr>
            <a:r>
              <a:rPr sz="1500">
                <a:solidFill>
                  <a:srgbClr val="556075"/>
                </a:solidFill>
              </a:rPr>
              <a:t>   题目中的核心名词（不圈冠词/介词/助词）</a:t>
            </a:r>
          </a:p>
          <a:p>
            <a:pPr>
              <a:spcBef>
                <a:spcPts val="900"/>
              </a:spcBef>
            </a:pPr>
            <a:r>
              <a:rPr sz="1800" b="1">
                <a:solidFill>
                  <a:srgbClr val="0F4C5C"/>
                </a:solidFill>
              </a:rPr>
              <a:t>• 不要圈</a:t>
            </a:r>
          </a:p>
          <a:p>
            <a:pPr>
              <a:spcBef>
                <a:spcPts val="100"/>
              </a:spcBef>
            </a:pPr>
            <a:r>
              <a:rPr sz="1500">
                <a:solidFill>
                  <a:srgbClr val="556075"/>
                </a:solidFill>
              </a:rPr>
              <a:t>   the/a/and/of/to等功能词；太常见的动词如"say/go"</a:t>
            </a:r>
          </a:p>
          <a:p>
            <a:pPr>
              <a:spcBef>
                <a:spcPts val="900"/>
              </a:spcBef>
            </a:pPr>
            <a:r>
              <a:rPr sz="1800" b="1">
                <a:solidFill>
                  <a:srgbClr val="0F4C5C"/>
                </a:solidFill>
              </a:rPr>
              <a:t>• 地图题特殊</a:t>
            </a:r>
          </a:p>
          <a:p>
            <a:pPr>
              <a:spcBef>
                <a:spcPts val="100"/>
              </a:spcBef>
            </a:pPr>
            <a:r>
              <a:rPr sz="1500">
                <a:solidFill>
                  <a:srgbClr val="556075"/>
                </a:solidFill>
              </a:rPr>
              <a:t>   圈方向词：north/opposite/next to/between</a:t>
            </a:r>
          </a:p>
          <a:p>
            <a:pPr>
              <a:spcBef>
                <a:spcPts val="900"/>
              </a:spcBef>
            </a:pPr>
            <a:r>
              <a:rPr sz="1800" b="1">
                <a:solidFill>
                  <a:srgbClr val="0F4C5C"/>
                </a:solidFill>
              </a:rPr>
              <a:t>• 选择题特殊</a:t>
            </a:r>
          </a:p>
          <a:p>
            <a:pPr>
              <a:spcBef>
                <a:spcPts val="100"/>
              </a:spcBef>
            </a:pPr>
            <a:r>
              <a:rPr sz="1500">
                <a:solidFill>
                  <a:srgbClr val="556075"/>
                </a:solidFill>
              </a:rPr>
              <a:t>   圈每个选项的第一个实义词，快速对比三个选项差异</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深圳学生注意：好的关键词=录音中会被特别提到的词，而不是句子中最重要的词</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关键词与预判结合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圈词后立刻问自己：答案是什么类型？</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填空题</a:t>
            </a:r>
          </a:p>
          <a:p>
            <a:pPr>
              <a:spcBef>
                <a:spcPts val="100"/>
              </a:spcBef>
            </a:pPr>
            <a:r>
              <a:rPr sz="1500">
                <a:solidFill>
                  <a:srgbClr val="556075"/>
                </a:solidFill>
              </a:rPr>
              <a:t>   圈前后词→判断词性（空格前是adjective→填名词）</a:t>
            </a:r>
          </a:p>
          <a:p>
            <a:pPr>
              <a:spcBef>
                <a:spcPts val="900"/>
              </a:spcBef>
            </a:pPr>
            <a:r>
              <a:rPr sz="1800" b="1">
                <a:solidFill>
                  <a:srgbClr val="0F4C5C"/>
                </a:solidFill>
              </a:rPr>
              <a:t>• 选择题</a:t>
            </a:r>
          </a:p>
          <a:p>
            <a:pPr>
              <a:spcBef>
                <a:spcPts val="100"/>
              </a:spcBef>
            </a:pPr>
            <a:r>
              <a:rPr sz="1500">
                <a:solidFill>
                  <a:srgbClr val="556075"/>
                </a:solidFill>
              </a:rPr>
              <a:t>   圈三个选项的差异点→只听与差异相关的内容</a:t>
            </a:r>
          </a:p>
          <a:p>
            <a:pPr>
              <a:spcBef>
                <a:spcPts val="900"/>
              </a:spcBef>
            </a:pPr>
            <a:r>
              <a:rPr sz="1800" b="1">
                <a:solidFill>
                  <a:srgbClr val="0F4C5C"/>
                </a:solidFill>
              </a:rPr>
              <a:t>• 配对题</a:t>
            </a:r>
          </a:p>
          <a:p>
            <a:pPr>
              <a:spcBef>
                <a:spcPts val="100"/>
              </a:spcBef>
            </a:pPr>
            <a:r>
              <a:rPr sz="1500">
                <a:solidFill>
                  <a:srgbClr val="556075"/>
                </a:solidFill>
              </a:rPr>
              <a:t>   提前读完所有H选项→每个圈1个关键词（共8个关键词）</a:t>
            </a:r>
          </a:p>
          <a:p>
            <a:pPr>
              <a:spcBef>
                <a:spcPts val="900"/>
              </a:spcBef>
            </a:pPr>
            <a:r>
              <a:rPr sz="1800" b="1">
                <a:solidFill>
                  <a:srgbClr val="0F4C5C"/>
                </a:solidFill>
              </a:rPr>
              <a:t>• 地图题</a:t>
            </a:r>
          </a:p>
          <a:p>
            <a:pPr>
              <a:spcBef>
                <a:spcPts val="100"/>
              </a:spcBef>
            </a:pPr>
            <a:r>
              <a:rPr sz="1500">
                <a:solidFill>
                  <a:srgbClr val="556075"/>
                </a:solidFill>
              </a:rPr>
              <a:t>   在地图上标出已知地点→圈方向关系词</a:t>
            </a:r>
          </a:p>
          <a:p>
            <a:pPr>
              <a:spcBef>
                <a:spcPts val="900"/>
              </a:spcBef>
            </a:pPr>
            <a:r>
              <a:rPr sz="1800" b="1">
                <a:solidFill>
                  <a:srgbClr val="0F4C5C"/>
                </a:solidFill>
              </a:rPr>
              <a:t>• 流程图</a:t>
            </a:r>
          </a:p>
          <a:p>
            <a:pPr>
              <a:spcBef>
                <a:spcPts val="100"/>
              </a:spcBef>
            </a:pPr>
            <a:r>
              <a:rPr sz="1500">
                <a:solidFill>
                  <a:srgbClr val="556075"/>
                </a:solidFill>
              </a:rPr>
              <a:t>   圈每个步骤的动词→预判被动语态出现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20秒预读的时间管理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3秒：识别题型</a:t>
            </a:r>
          </a:p>
          <a:p>
            <a:pPr>
              <a:spcBef>
                <a:spcPts val="100"/>
              </a:spcBef>
            </a:pPr>
            <a:r>
              <a:rPr sz="1550">
                <a:solidFill>
                  <a:srgbClr val="556075"/>
                </a:solidFill>
              </a:rPr>
              <a:t>   扫描全局：是一组填空题还是选择题还是地图？</a:t>
            </a:r>
          </a:p>
          <a:p>
            <a:pPr>
              <a:spcBef>
                <a:spcPts val="1000"/>
              </a:spcBef>
            </a:pPr>
            <a:r>
              <a:rPr sz="1850" b="1">
                <a:solidFill>
                  <a:srgbClr val="0F4C5C"/>
                </a:solidFill>
              </a:rPr>
              <a:t>• 10秒：圈关键词</a:t>
            </a:r>
          </a:p>
          <a:p>
            <a:pPr>
              <a:spcBef>
                <a:spcPts val="100"/>
              </a:spcBef>
            </a:pPr>
            <a:r>
              <a:rPr sz="1550">
                <a:solidFill>
                  <a:srgbClr val="556075"/>
                </a:solidFill>
              </a:rPr>
              <a:t>   从Q1到最后，每题1-2个词，不停下来思考</a:t>
            </a:r>
          </a:p>
          <a:p>
            <a:pPr>
              <a:spcBef>
                <a:spcPts val="1000"/>
              </a:spcBef>
            </a:pPr>
            <a:r>
              <a:rPr sz="1850" b="1">
                <a:solidFill>
                  <a:srgbClr val="0F4C5C"/>
                </a:solidFill>
              </a:rPr>
              <a:t>• 5秒：预判答案类型</a:t>
            </a:r>
          </a:p>
          <a:p>
            <a:pPr>
              <a:spcBef>
                <a:spcPts val="100"/>
              </a:spcBef>
            </a:pPr>
            <a:r>
              <a:rPr sz="1550">
                <a:solidFill>
                  <a:srgbClr val="556075"/>
                </a:solidFill>
              </a:rPr>
              <a:t>   快速过一遍：这道题填数字？名词？形容词？</a:t>
            </a:r>
          </a:p>
          <a:p>
            <a:pPr>
              <a:spcBef>
                <a:spcPts val="1000"/>
              </a:spcBef>
            </a:pPr>
            <a:r>
              <a:rPr sz="1850" b="1">
                <a:solidFill>
                  <a:srgbClr val="0F4C5C"/>
                </a:solidFill>
              </a:rPr>
              <a:t>• 2秒：聚焦Q1</a:t>
            </a:r>
          </a:p>
          <a:p>
            <a:pPr>
              <a:spcBef>
                <a:spcPts val="100"/>
              </a:spcBef>
            </a:pPr>
            <a:r>
              <a:rPr sz="1550">
                <a:solidFill>
                  <a:srgbClr val="556075"/>
                </a:solidFill>
              </a:rPr>
              <a:t>   把注意力锁在Q1关键词上，做好捕捉准备</a:t>
            </a:r>
          </a:p>
          <a:p>
            <a:pPr>
              <a:spcBef>
                <a:spcPts val="1000"/>
              </a:spcBef>
            </a:pPr>
            <a:r>
              <a:rPr sz="1850" b="1">
                <a:solidFill>
                  <a:srgbClr val="0F4C5C"/>
                </a:solidFill>
              </a:rPr>
              <a:t>• 超时处理</a:t>
            </a:r>
          </a:p>
          <a:p>
            <a:pPr>
              <a:spcBef>
                <a:spcPts val="100"/>
              </a:spcBef>
            </a:pPr>
            <a:r>
              <a:rPr sz="1550">
                <a:solidFill>
                  <a:srgbClr val="556075"/>
                </a:solidFill>
              </a:rPr>
              <a:t>   来不及做第3层就跳过，至少圈完所有关键词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关键词圈划的常见错误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错误1</a:t>
            </a:r>
          </a:p>
          <a:p>
            <a:pPr>
              <a:spcBef>
                <a:spcPts val="100"/>
              </a:spcBef>
            </a:pPr>
            <a:r>
              <a:rPr sz="1550">
                <a:solidFill>
                  <a:srgbClr val="556075"/>
                </a:solidFill>
              </a:rPr>
              <a:t>   圈太多词：每题圈超过3个，预读太慢</a:t>
            </a:r>
          </a:p>
          <a:p>
            <a:pPr>
              <a:spcBef>
                <a:spcPts val="1000"/>
              </a:spcBef>
            </a:pPr>
            <a:r>
              <a:rPr sz="1850" b="1">
                <a:solidFill>
                  <a:srgbClr val="0F4C5C"/>
                </a:solidFill>
              </a:rPr>
              <a:t>• 错误2</a:t>
            </a:r>
          </a:p>
          <a:p>
            <a:pPr>
              <a:spcBef>
                <a:spcPts val="100"/>
              </a:spcBef>
            </a:pPr>
            <a:r>
              <a:rPr sz="1550">
                <a:solidFill>
                  <a:srgbClr val="556075"/>
                </a:solidFill>
              </a:rPr>
              <a:t>   圈功能词：the/a/of/to这些词在录音中出现太频繁，无定位价值</a:t>
            </a:r>
          </a:p>
          <a:p>
            <a:pPr>
              <a:spcBef>
                <a:spcPts val="1000"/>
              </a:spcBef>
            </a:pPr>
            <a:r>
              <a:rPr sz="1850" b="1">
                <a:solidFill>
                  <a:srgbClr val="0F4C5C"/>
                </a:solidFill>
              </a:rPr>
              <a:t>• 错误3</a:t>
            </a:r>
          </a:p>
          <a:p>
            <a:pPr>
              <a:spcBef>
                <a:spcPts val="100"/>
              </a:spcBef>
            </a:pPr>
            <a:r>
              <a:rPr sz="1550">
                <a:solidFill>
                  <a:srgbClr val="556075"/>
                </a:solidFill>
              </a:rPr>
              <a:t>   选择题读完整选项：只需圈差异词，不要逐字阅读</a:t>
            </a:r>
          </a:p>
          <a:p>
            <a:pPr>
              <a:spcBef>
                <a:spcPts val="1000"/>
              </a:spcBef>
            </a:pPr>
            <a:r>
              <a:rPr sz="1850" b="1">
                <a:solidFill>
                  <a:srgbClr val="0F4C5C"/>
                </a:solidFill>
              </a:rPr>
              <a:t>• 错误4</a:t>
            </a:r>
          </a:p>
          <a:p>
            <a:pPr>
              <a:spcBef>
                <a:spcPts val="100"/>
              </a:spcBef>
            </a:pPr>
            <a:r>
              <a:rPr sz="1550">
                <a:solidFill>
                  <a:srgbClr val="556075"/>
                </a:solidFill>
              </a:rPr>
              <a:t>   预读时思考答案：预读只是"圈词"，不是"想答案"</a:t>
            </a:r>
          </a:p>
          <a:p>
            <a:pPr>
              <a:spcBef>
                <a:spcPts val="1000"/>
              </a:spcBef>
            </a:pPr>
            <a:r>
              <a:rPr sz="1850" b="1">
                <a:solidFill>
                  <a:srgbClr val="0F4C5C"/>
                </a:solidFill>
              </a:rPr>
              <a:t>• 正确目标</a:t>
            </a:r>
          </a:p>
          <a:p>
            <a:pPr>
              <a:spcBef>
                <a:spcPts val="100"/>
              </a:spcBef>
            </a:pPr>
            <a:r>
              <a:rPr sz="1550">
                <a:solidFill>
                  <a:srgbClr val="556075"/>
                </a:solidFill>
              </a:rPr>
              <a:t>   20秒内完成所有题目的关键词圈划，不超时</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关键词圈划计时练习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计时20秒，圈出以下题目的关键词（不要阅读整句）：
Q1 The customer wants to book a _____ (type of room)
Q2 Check-in date: _____ (date)
Q3 The room costs _____ per night
Q4 The hotel is located near the _____ (landmark)
Q5 Payment method: _____ (method)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Q1→book, room, type / Q2→check-in, date / Q3→costs, per night（预判数字）/ Q4→near, landmark（预判地点名词）/ Q5→payment, method（预判支付方式名词）</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时间到立即停止，不要继续读——训练的是速度而不是完整性，习惯后自然加快</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同义替换：题目词→录音词实战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题目：The course is designed for students with no previous _____ (experience)
录音："This programme targets complete beginners — no prior knowledge required."
题目词 previous experience → 录音词是什么？</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previous→prior / experience→knowledge / 答案：knowledge
完整替换链：previous experience = prior knowledge</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同义替换解题步骤：①先定位录音中出现的"题目周边词"→②找替换词→③确认语法符合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同义替换识别系统</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Synonym Substitution Recognition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同义替换的四种类型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从简单到复杂，逐步掌握</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直接同义词</a:t>
            </a:r>
          </a:p>
          <a:p>
            <a:pPr>
              <a:spcBef>
                <a:spcPts val="100"/>
              </a:spcBef>
            </a:pPr>
            <a:r>
              <a:rPr sz="1500">
                <a:solidFill>
                  <a:srgbClr val="556075"/>
                </a:solidFill>
              </a:rPr>
              <a:t>   cheap=affordable, big=large, start=begin, end=finish</a:t>
            </a:r>
          </a:p>
          <a:p>
            <a:pPr>
              <a:spcBef>
                <a:spcPts val="900"/>
              </a:spcBef>
            </a:pPr>
            <a:r>
              <a:rPr sz="1800" b="1">
                <a:solidFill>
                  <a:srgbClr val="0F4C5C"/>
                </a:solidFill>
              </a:rPr>
              <a:t>• 概念替换</a:t>
            </a:r>
          </a:p>
          <a:p>
            <a:pPr>
              <a:spcBef>
                <a:spcPts val="100"/>
              </a:spcBef>
            </a:pPr>
            <a:r>
              <a:rPr sz="1500">
                <a:solidFill>
                  <a:srgbClr val="556075"/>
                </a:solidFill>
              </a:rPr>
              <a:t>   parking=car park, rubbish=waste, job=occupation</a:t>
            </a:r>
          </a:p>
          <a:p>
            <a:pPr>
              <a:spcBef>
                <a:spcPts val="900"/>
              </a:spcBef>
            </a:pPr>
            <a:r>
              <a:rPr sz="1800" b="1">
                <a:solidFill>
                  <a:srgbClr val="0F4C5C"/>
                </a:solidFill>
              </a:rPr>
              <a:t>• 上义词替换</a:t>
            </a:r>
          </a:p>
          <a:p>
            <a:pPr>
              <a:spcBef>
                <a:spcPts val="100"/>
              </a:spcBef>
            </a:pPr>
            <a:r>
              <a:rPr sz="1500">
                <a:solidFill>
                  <a:srgbClr val="556075"/>
                </a:solidFill>
              </a:rPr>
              <a:t>   dog/cat/bird → animals（具体→抽象）</a:t>
            </a:r>
          </a:p>
          <a:p>
            <a:pPr>
              <a:spcBef>
                <a:spcPts val="900"/>
              </a:spcBef>
            </a:pPr>
            <a:r>
              <a:rPr sz="1800" b="1">
                <a:solidFill>
                  <a:srgbClr val="0F4C5C"/>
                </a:solidFill>
              </a:rPr>
              <a:t>• 释义替换</a:t>
            </a:r>
          </a:p>
          <a:p>
            <a:pPr>
              <a:spcBef>
                <a:spcPts val="100"/>
              </a:spcBef>
            </a:pPr>
            <a:r>
              <a:rPr sz="1500">
                <a:solidFill>
                  <a:srgbClr val="556075"/>
                </a:solidFill>
              </a:rPr>
              <a:t>   bicycle=a two-wheeled vehicle（词→短语）</a:t>
            </a:r>
          </a:p>
          <a:p>
            <a:pPr>
              <a:spcBef>
                <a:spcPts val="900"/>
              </a:spcBef>
            </a:pPr>
            <a:r>
              <a:rPr sz="1800" b="1">
                <a:solidFill>
                  <a:srgbClr val="0F4C5C"/>
                </a:solidFill>
              </a:rPr>
              <a:t>• S4最难</a:t>
            </a:r>
          </a:p>
          <a:p>
            <a:pPr>
              <a:spcBef>
                <a:spcPts val="100"/>
              </a:spcBef>
            </a:pPr>
            <a:r>
              <a:rPr sz="1500">
                <a:solidFill>
                  <a:srgbClr val="556075"/>
                </a:solidFill>
              </a:rPr>
              <a:t>   单个词替换为学术词组，需要语义理解</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深圳学生注意：剑桥真题每套听力包含约15-20处同义替换，熟练识别是7分以上的必备技能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同义替换高频词对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必须熟背的100组核心替换</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地点类</a:t>
            </a:r>
          </a:p>
          <a:p>
            <a:pPr>
              <a:spcBef>
                <a:spcPts val="100"/>
              </a:spcBef>
            </a:pPr>
            <a:r>
              <a:rPr sz="1500">
                <a:solidFill>
                  <a:srgbClr val="556075"/>
                </a:solidFill>
              </a:rPr>
              <a:t>   car park↔parking, gym↔sports centre, shop↔store/retail outlet</a:t>
            </a:r>
          </a:p>
          <a:p>
            <a:pPr>
              <a:spcBef>
                <a:spcPts val="900"/>
              </a:spcBef>
            </a:pPr>
            <a:r>
              <a:rPr sz="1800" b="1">
                <a:solidFill>
                  <a:srgbClr val="0F4C5C"/>
                </a:solidFill>
              </a:rPr>
              <a:t>• 时间类</a:t>
            </a:r>
          </a:p>
          <a:p>
            <a:pPr>
              <a:spcBef>
                <a:spcPts val="100"/>
              </a:spcBef>
            </a:pPr>
            <a:r>
              <a:rPr sz="1500">
                <a:solidFill>
                  <a:srgbClr val="556075"/>
                </a:solidFill>
              </a:rPr>
              <a:t>   now↔currently/at present, soon↔in the near future</a:t>
            </a:r>
          </a:p>
          <a:p>
            <a:pPr>
              <a:spcBef>
                <a:spcPts val="900"/>
              </a:spcBef>
            </a:pPr>
            <a:r>
              <a:rPr sz="1800" b="1">
                <a:solidFill>
                  <a:srgbClr val="0F4C5C"/>
                </a:solidFill>
              </a:rPr>
              <a:t>• 程度类</a:t>
            </a:r>
          </a:p>
          <a:p>
            <a:pPr>
              <a:spcBef>
                <a:spcPts val="100"/>
              </a:spcBef>
            </a:pPr>
            <a:r>
              <a:rPr sz="1500">
                <a:solidFill>
                  <a:srgbClr val="556075"/>
                </a:solidFill>
              </a:rPr>
              <a:t>   very↔extremely/highly, difficult↔challenging/demanding</a:t>
            </a:r>
          </a:p>
          <a:p>
            <a:pPr>
              <a:spcBef>
                <a:spcPts val="900"/>
              </a:spcBef>
            </a:pPr>
            <a:r>
              <a:rPr sz="1800" b="1">
                <a:solidFill>
                  <a:srgbClr val="0F4C5C"/>
                </a:solidFill>
              </a:rPr>
              <a:t>• 变化类</a:t>
            </a:r>
          </a:p>
          <a:p>
            <a:pPr>
              <a:spcBef>
                <a:spcPts val="100"/>
              </a:spcBef>
            </a:pPr>
            <a:r>
              <a:rPr sz="1500">
                <a:solidFill>
                  <a:srgbClr val="556075"/>
                </a:solidFill>
              </a:rPr>
              <a:t>   increase↔rise/grow/go up, decrease↔fall/drop/decline</a:t>
            </a:r>
          </a:p>
          <a:p>
            <a:pPr>
              <a:spcBef>
                <a:spcPts val="900"/>
              </a:spcBef>
            </a:pPr>
            <a:r>
              <a:rPr sz="1800" b="1">
                <a:solidFill>
                  <a:srgbClr val="0F4C5C"/>
                </a:solidFill>
              </a:rPr>
              <a:t>• 意见类</a:t>
            </a:r>
          </a:p>
          <a:p>
            <a:pPr>
              <a:spcBef>
                <a:spcPts val="100"/>
              </a:spcBef>
            </a:pPr>
            <a:r>
              <a:rPr sz="1500">
                <a:solidFill>
                  <a:srgbClr val="556075"/>
                </a:solidFill>
              </a:rPr>
              <a:t>   think↔believe/consider/suggest, problem↔issue/concern/challenge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同义替换识别的三步法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Step 1：预读时标注</a:t>
            </a:r>
          </a:p>
          <a:p>
            <a:pPr>
              <a:spcBef>
                <a:spcPts val="100"/>
              </a:spcBef>
            </a:pPr>
            <a:r>
              <a:rPr sz="1550">
                <a:solidFill>
                  <a:srgbClr val="556075"/>
                </a:solidFill>
              </a:rPr>
              <a:t>   在关键词旁边写出1-2个可能的同义词</a:t>
            </a:r>
          </a:p>
          <a:p>
            <a:pPr>
              <a:spcBef>
                <a:spcPts val="1000"/>
              </a:spcBef>
            </a:pPr>
            <a:r>
              <a:rPr sz="1850" b="1">
                <a:solidFill>
                  <a:srgbClr val="0F4C5C"/>
                </a:solidFill>
              </a:rPr>
              <a:t>• Step 2：听录音时捕捉</a:t>
            </a:r>
          </a:p>
          <a:p>
            <a:pPr>
              <a:spcBef>
                <a:spcPts val="100"/>
              </a:spcBef>
            </a:pPr>
            <a:r>
              <a:rPr sz="1550">
                <a:solidFill>
                  <a:srgbClr val="556075"/>
                </a:solidFill>
              </a:rPr>
              <a:t>   听到关键词的同义词时，反应要和听到原词一样快</a:t>
            </a:r>
          </a:p>
          <a:p>
            <a:pPr>
              <a:spcBef>
                <a:spcPts val="1000"/>
              </a:spcBef>
            </a:pPr>
            <a:r>
              <a:rPr sz="1850" b="1">
                <a:solidFill>
                  <a:srgbClr val="0F4C5C"/>
                </a:solidFill>
              </a:rPr>
              <a:t>• Step 3：验证语境</a:t>
            </a:r>
          </a:p>
          <a:p>
            <a:pPr>
              <a:spcBef>
                <a:spcPts val="100"/>
              </a:spcBef>
            </a:pPr>
            <a:r>
              <a:rPr sz="1550">
                <a:solidFill>
                  <a:srgbClr val="556075"/>
                </a:solidFill>
              </a:rPr>
              <a:t>   确认录音的语义与题目一致，再写下答案</a:t>
            </a:r>
          </a:p>
          <a:p>
            <a:pPr>
              <a:spcBef>
                <a:spcPts val="1000"/>
              </a:spcBef>
            </a:pPr>
            <a:r>
              <a:rPr sz="1850" b="1">
                <a:solidFill>
                  <a:srgbClr val="0F4C5C"/>
                </a:solidFill>
              </a:rPr>
              <a:t>• 常见失误</a:t>
            </a:r>
          </a:p>
          <a:p>
            <a:pPr>
              <a:spcBef>
                <a:spcPts val="100"/>
              </a:spcBef>
            </a:pPr>
            <a:r>
              <a:rPr sz="1550">
                <a:solidFill>
                  <a:srgbClr val="556075"/>
                </a:solidFill>
              </a:rPr>
              <a:t>   题目写"inexpensive"，录音说"cheap"，没反应过来→空白</a:t>
            </a:r>
          </a:p>
          <a:p>
            <a:pPr>
              <a:spcBef>
                <a:spcPts val="1000"/>
              </a:spcBef>
            </a:pPr>
            <a:r>
              <a:rPr sz="1850" b="1">
                <a:solidFill>
                  <a:srgbClr val="0F4C5C"/>
                </a:solidFill>
              </a:rPr>
              <a:t>• 训练方法</a:t>
            </a:r>
          </a:p>
          <a:p>
            <a:pPr>
              <a:spcBef>
                <a:spcPts val="100"/>
              </a:spcBef>
            </a:pPr>
            <a:r>
              <a:rPr sz="1550">
                <a:solidFill>
                  <a:srgbClr val="556075"/>
                </a:solidFill>
              </a:rPr>
              <a:t>   每天做10组替换配对，1个月后形成条件反射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S3/S4同义替换的特殊规律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S3学术讨论</a:t>
            </a:r>
          </a:p>
          <a:p>
            <a:pPr>
              <a:spcBef>
                <a:spcPts val="100"/>
              </a:spcBef>
            </a:pPr>
            <a:r>
              <a:rPr sz="1550">
                <a:solidFill>
                  <a:srgbClr val="556075"/>
                </a:solidFill>
              </a:rPr>
              <a:t>   常用学术词替换口语词：purchase=buy, obtain=get</a:t>
            </a:r>
          </a:p>
          <a:p>
            <a:pPr>
              <a:spcBef>
                <a:spcPts val="1000"/>
              </a:spcBef>
            </a:pPr>
            <a:r>
              <a:rPr sz="1850" b="1">
                <a:solidFill>
                  <a:srgbClr val="0F4C5C"/>
                </a:solidFill>
              </a:rPr>
              <a:t>• S4学术讲座</a:t>
            </a:r>
          </a:p>
          <a:p>
            <a:pPr>
              <a:spcBef>
                <a:spcPts val="100"/>
              </a:spcBef>
            </a:pPr>
            <a:r>
              <a:rPr sz="1550">
                <a:solidFill>
                  <a:srgbClr val="556075"/>
                </a:solidFill>
              </a:rPr>
              <a:t>   常用长词组替换单词：decline in population=fewer people</a:t>
            </a:r>
          </a:p>
          <a:p>
            <a:pPr>
              <a:spcBef>
                <a:spcPts val="1000"/>
              </a:spcBef>
            </a:pPr>
            <a:r>
              <a:rPr sz="1850" b="1">
                <a:solidFill>
                  <a:srgbClr val="0F4C5C"/>
                </a:solidFill>
              </a:rPr>
              <a:t>• 跨词类替换</a:t>
            </a:r>
          </a:p>
          <a:p>
            <a:pPr>
              <a:spcBef>
                <a:spcPts val="100"/>
              </a:spcBef>
            </a:pPr>
            <a:r>
              <a:rPr sz="1550">
                <a:solidFill>
                  <a:srgbClr val="556075"/>
                </a:solidFill>
              </a:rPr>
              <a:t>   名词→动词：solution→solve；形容词→名词：effective→effectiveness</a:t>
            </a:r>
          </a:p>
          <a:p>
            <a:pPr>
              <a:spcBef>
                <a:spcPts val="1000"/>
              </a:spcBef>
            </a:pPr>
            <a:r>
              <a:rPr sz="1850" b="1">
                <a:solidFill>
                  <a:srgbClr val="0F4C5C"/>
                </a:solidFill>
              </a:rPr>
              <a:t>• 语义扩展</a:t>
            </a:r>
          </a:p>
          <a:p>
            <a:pPr>
              <a:spcBef>
                <a:spcPts val="100"/>
              </a:spcBef>
            </a:pPr>
            <a:r>
              <a:rPr sz="1550">
                <a:solidFill>
                  <a:srgbClr val="556075"/>
                </a:solidFill>
              </a:rPr>
              <a:t>   specific→particular/specific/precise（多个替换词均可）</a:t>
            </a:r>
          </a:p>
          <a:p>
            <a:pPr>
              <a:spcBef>
                <a:spcPts val="1000"/>
              </a:spcBef>
            </a:pPr>
            <a:r>
              <a:rPr sz="1850" b="1">
                <a:solidFill>
                  <a:srgbClr val="0F4C5C"/>
                </a:solidFill>
              </a:rPr>
              <a:t>• 深圳学生弱点</a:t>
            </a:r>
          </a:p>
          <a:p>
            <a:pPr>
              <a:spcBef>
                <a:spcPts val="100"/>
              </a:spcBef>
            </a:pPr>
            <a:r>
              <a:rPr sz="1550">
                <a:solidFill>
                  <a:srgbClr val="556075"/>
                </a:solidFill>
              </a:rPr>
              <a:t>   对释义替换（词→短语）识别最弱，需专项训练</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替换词快速匹配练习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30秒内完成配对（题目词→录音词）：
① free of charge  ② harmful  ③ collect  ④ ancient  ⑤ improve
录音词：gather / old / no cost / upgrade / damaging</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① free of charge → no cost
② harmful → damaging
③ collect → gather
④ ancient → old
⑤ improve → upgrade</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记忆技巧：不要死记对应关系，理解语义才能在新语境下灵活识别</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S3选择题：同义替换+干扰项识别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Q: Why did Sarah choose this research topic?
A. Her teacher recommended it
B. She found it personally interesting
C. It relates to her future career
录音："I've always been fascinated by urban planning — it's something I genuinely enjoy, though my supervisor did mention it once in passing."</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答案B：fascinated by=personally interested in
干扰项A：supervisor mentioned≠recommended（程度不够）
干扰项C：录音没有提到future career</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选择题陷阱：录音常先提到错误选项，再转折到正确答案——听到but/however时注意</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预测技能综合实战</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Integrated Prediction Practice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20秒预读法：完整流程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从拿到题目到录音开始的黄金20秒</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Step 1 (3s)</a:t>
            </a:r>
          </a:p>
          <a:p>
            <a:pPr>
              <a:spcBef>
                <a:spcPts val="100"/>
              </a:spcBef>
            </a:pPr>
            <a:r>
              <a:rPr sz="1500">
                <a:solidFill>
                  <a:srgbClr val="556075"/>
                </a:solidFill>
              </a:rPr>
              <a:t>   快速识别题型：填空/选择/配对/地图？</a:t>
            </a:r>
          </a:p>
          <a:p>
            <a:pPr>
              <a:spcBef>
                <a:spcPts val="900"/>
              </a:spcBef>
            </a:pPr>
            <a:r>
              <a:rPr sz="1800" b="1">
                <a:solidFill>
                  <a:srgbClr val="0F4C5C"/>
                </a:solidFill>
              </a:rPr>
              <a:t>• Step 2 (10s)</a:t>
            </a:r>
          </a:p>
          <a:p>
            <a:pPr>
              <a:spcBef>
                <a:spcPts val="100"/>
              </a:spcBef>
            </a:pPr>
            <a:r>
              <a:rPr sz="1500">
                <a:solidFill>
                  <a:srgbClr val="556075"/>
                </a:solidFill>
              </a:rPr>
              <a:t>   逐题圈关键词：每题1-2个，不超过3个</a:t>
            </a:r>
          </a:p>
          <a:p>
            <a:pPr>
              <a:spcBef>
                <a:spcPts val="900"/>
              </a:spcBef>
            </a:pPr>
            <a:r>
              <a:rPr sz="1800" b="1">
                <a:solidFill>
                  <a:srgbClr val="0F4C5C"/>
                </a:solidFill>
              </a:rPr>
              <a:t>• Step 3 (5s)</a:t>
            </a:r>
          </a:p>
          <a:p>
            <a:pPr>
              <a:spcBef>
                <a:spcPts val="100"/>
              </a:spcBef>
            </a:pPr>
            <a:r>
              <a:rPr sz="1500">
                <a:solidFill>
                  <a:srgbClr val="556075"/>
                </a:solidFill>
              </a:rPr>
              <a:t>   预判答案类型：数字/名词/形容词/日期/地点</a:t>
            </a:r>
          </a:p>
          <a:p>
            <a:pPr>
              <a:spcBef>
                <a:spcPts val="900"/>
              </a:spcBef>
            </a:pPr>
            <a:r>
              <a:rPr sz="1800" b="1">
                <a:solidFill>
                  <a:srgbClr val="0F4C5C"/>
                </a:solidFill>
              </a:rPr>
              <a:t>• Step 4 (2s)</a:t>
            </a:r>
          </a:p>
          <a:p>
            <a:pPr>
              <a:spcBef>
                <a:spcPts val="100"/>
              </a:spcBef>
            </a:pPr>
            <a:r>
              <a:rPr sz="1500">
                <a:solidFill>
                  <a:srgbClr val="556075"/>
                </a:solidFill>
              </a:rPr>
              <a:t>   快速看第一题，做好捕捉准备</a:t>
            </a:r>
          </a:p>
          <a:p>
            <a:pPr>
              <a:spcBef>
                <a:spcPts val="900"/>
              </a:spcBef>
            </a:pPr>
            <a:r>
              <a:rPr sz="1800" b="1">
                <a:solidFill>
                  <a:srgbClr val="0F4C5C"/>
                </a:solidFill>
              </a:rPr>
              <a:t>• 录音开始后</a:t>
            </a:r>
          </a:p>
          <a:p>
            <a:pPr>
              <a:spcBef>
                <a:spcPts val="100"/>
              </a:spcBef>
            </a:pPr>
            <a:r>
              <a:rPr sz="1500">
                <a:solidFill>
                  <a:srgbClr val="556075"/>
                </a:solidFill>
              </a:rPr>
              <a:t>   按关键词顺序追踪，听到关键词附近立即写答案</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深圳学生注意：20秒预读是技能，需要专项训练——前10次会慢，50次后会自动化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跨题组的衔接预读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一组答完后立刻预读下一组</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时机</a:t>
            </a:r>
          </a:p>
          <a:p>
            <a:pPr>
              <a:spcBef>
                <a:spcPts val="100"/>
              </a:spcBef>
            </a:pPr>
            <a:r>
              <a:rPr sz="1500">
                <a:solidFill>
                  <a:srgbClr val="556075"/>
                </a:solidFill>
              </a:rPr>
              <a:t>   答完最后一题后，立刻把视线移到下一组题目</a:t>
            </a:r>
          </a:p>
          <a:p>
            <a:pPr>
              <a:spcBef>
                <a:spcPts val="900"/>
              </a:spcBef>
            </a:pPr>
            <a:r>
              <a:rPr sz="1800" b="1">
                <a:solidFill>
                  <a:srgbClr val="0F4C5C"/>
                </a:solidFill>
              </a:rPr>
              <a:t>• 不要检查</a:t>
            </a:r>
          </a:p>
          <a:p>
            <a:pPr>
              <a:spcBef>
                <a:spcPts val="100"/>
              </a:spcBef>
            </a:pPr>
            <a:r>
              <a:rPr sz="1500">
                <a:solidFill>
                  <a:srgbClr val="556075"/>
                </a:solidFill>
              </a:rPr>
              <a:t>   答完一组不要回头检查，用这段时间预读下一组</a:t>
            </a:r>
          </a:p>
          <a:p>
            <a:pPr>
              <a:spcBef>
                <a:spcPts val="900"/>
              </a:spcBef>
            </a:pPr>
            <a:r>
              <a:rPr sz="1800" b="1">
                <a:solidFill>
                  <a:srgbClr val="0F4C5C"/>
                </a:solidFill>
              </a:rPr>
              <a:t>• 说明词利用</a:t>
            </a:r>
          </a:p>
          <a:p>
            <a:pPr>
              <a:spcBef>
                <a:spcPts val="100"/>
              </a:spcBef>
            </a:pPr>
            <a:r>
              <a:rPr sz="1500">
                <a:solidFill>
                  <a:srgbClr val="556075"/>
                </a:solidFill>
              </a:rPr>
              <a:t>   每Section开始有约30秒说明，全部用来预读题目</a:t>
            </a:r>
          </a:p>
          <a:p>
            <a:pPr>
              <a:spcBef>
                <a:spcPts val="900"/>
              </a:spcBef>
            </a:pPr>
            <a:r>
              <a:rPr sz="1800" b="1">
                <a:solidFill>
                  <a:srgbClr val="0F4C5C"/>
                </a:solidFill>
              </a:rPr>
              <a:t>• 翻页准备</a:t>
            </a:r>
          </a:p>
          <a:p>
            <a:pPr>
              <a:spcBef>
                <a:spcPts val="100"/>
              </a:spcBef>
            </a:pPr>
            <a:r>
              <a:rPr sz="1500">
                <a:solidFill>
                  <a:srgbClr val="556075"/>
                </a:solidFill>
              </a:rPr>
              <a:t>   纸笔考提前翻到下一组题所在页，不在录音中临时翻找</a:t>
            </a:r>
          </a:p>
          <a:p>
            <a:pPr>
              <a:spcBef>
                <a:spcPts val="900"/>
              </a:spcBef>
            </a:pPr>
            <a:r>
              <a:rPr sz="1800" b="1">
                <a:solidFill>
                  <a:srgbClr val="0F4C5C"/>
                </a:solidFill>
              </a:rPr>
              <a:t>• 机考提示</a:t>
            </a:r>
          </a:p>
          <a:p>
            <a:pPr>
              <a:spcBef>
                <a:spcPts val="100"/>
              </a:spcBef>
            </a:pPr>
            <a:r>
              <a:rPr sz="1500">
                <a:solidFill>
                  <a:srgbClr val="556075"/>
                </a:solidFill>
              </a:rPr>
              <a:t>   机考会有视觉提示跳到下一组，提前熟悉界面切换</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预测技能的自我评估标准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初级（6分）</a:t>
            </a:r>
          </a:p>
          <a:p>
            <a:pPr>
              <a:spcBef>
                <a:spcPts val="100"/>
              </a:spcBef>
            </a:pPr>
            <a:r>
              <a:rPr sz="1550">
                <a:solidFill>
                  <a:srgbClr val="556075"/>
                </a:solidFill>
              </a:rPr>
              <a:t>   预读超过30秒；经常因为没预读导致第一题没抓到</a:t>
            </a:r>
          </a:p>
          <a:p>
            <a:pPr>
              <a:spcBef>
                <a:spcPts val="1000"/>
              </a:spcBef>
            </a:pPr>
            <a:r>
              <a:rPr sz="1850" b="1">
                <a:solidFill>
                  <a:srgbClr val="0F4C5C"/>
                </a:solidFill>
              </a:rPr>
              <a:t>• 中级（6.5-7分）</a:t>
            </a:r>
          </a:p>
          <a:p>
            <a:pPr>
              <a:spcBef>
                <a:spcPts val="100"/>
              </a:spcBef>
            </a:pPr>
            <a:r>
              <a:rPr sz="1550">
                <a:solidFill>
                  <a:srgbClr val="556075"/>
                </a:solidFill>
              </a:rPr>
              <a:t>   20秒内预读完；同义替换直接词（cheap→affordable）能识别</a:t>
            </a:r>
          </a:p>
          <a:p>
            <a:pPr>
              <a:spcBef>
                <a:spcPts val="1000"/>
              </a:spcBef>
            </a:pPr>
            <a:r>
              <a:rPr sz="1850" b="1">
                <a:solidFill>
                  <a:srgbClr val="0F4C5C"/>
                </a:solidFill>
              </a:rPr>
              <a:t>• 高级（7.5-8分）</a:t>
            </a:r>
          </a:p>
          <a:p>
            <a:pPr>
              <a:spcBef>
                <a:spcPts val="100"/>
              </a:spcBef>
            </a:pPr>
            <a:r>
              <a:rPr sz="1550">
                <a:solidFill>
                  <a:srgbClr val="556075"/>
                </a:solidFill>
              </a:rPr>
              <a:t>   15秒内完成；能识别概念替换（parking→car park）</a:t>
            </a:r>
          </a:p>
          <a:p>
            <a:pPr>
              <a:spcBef>
                <a:spcPts val="1000"/>
              </a:spcBef>
            </a:pPr>
            <a:r>
              <a:rPr sz="1850" b="1">
                <a:solidFill>
                  <a:srgbClr val="0F4C5C"/>
                </a:solidFill>
              </a:rPr>
              <a:t>• 顶级（8.5+）</a:t>
            </a:r>
          </a:p>
          <a:p>
            <a:pPr>
              <a:spcBef>
                <a:spcPts val="100"/>
              </a:spcBef>
            </a:pPr>
            <a:r>
              <a:rPr sz="1550">
                <a:solidFill>
                  <a:srgbClr val="556075"/>
                </a:solidFill>
              </a:rPr>
              <a:t>   自动化预读；预判替换词写在关键词旁；几乎零漏题</a:t>
            </a:r>
          </a:p>
          <a:p>
            <a:pPr>
              <a:spcBef>
                <a:spcPts val="1000"/>
              </a:spcBef>
            </a:pPr>
            <a:r>
              <a:rPr sz="1850" b="1">
                <a:solidFill>
                  <a:srgbClr val="0F4C5C"/>
                </a:solidFill>
              </a:rPr>
              <a:t>• 深圳平均</a:t>
            </a:r>
          </a:p>
          <a:p>
            <a:pPr>
              <a:spcBef>
                <a:spcPts val="100"/>
              </a:spcBef>
            </a:pPr>
            <a:r>
              <a:rPr sz="1550">
                <a:solidFill>
                  <a:srgbClr val="556075"/>
                </a:solidFill>
              </a:rPr>
              <a:t>   目前约6分左右，目标本课结束后达到中级</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预测的边界：什么不能预测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不要预测具体答案</a:t>
            </a:r>
          </a:p>
          <a:p>
            <a:pPr>
              <a:spcBef>
                <a:spcPts val="100"/>
              </a:spcBef>
            </a:pPr>
            <a:r>
              <a:rPr sz="1550">
                <a:solidFill>
                  <a:srgbClr val="556075"/>
                </a:solidFill>
              </a:rPr>
              <a:t>   只预测类型（名词/数字），不要提前想好"答案是Tuesday"</a:t>
            </a:r>
          </a:p>
          <a:p>
            <a:pPr>
              <a:spcBef>
                <a:spcPts val="1000"/>
              </a:spcBef>
            </a:pPr>
            <a:r>
              <a:rPr sz="1850" b="1">
                <a:solidFill>
                  <a:srgbClr val="0F4C5C"/>
                </a:solidFill>
              </a:rPr>
              <a:t>• 不要锁定选项</a:t>
            </a:r>
          </a:p>
          <a:p>
            <a:pPr>
              <a:spcBef>
                <a:spcPts val="100"/>
              </a:spcBef>
            </a:pPr>
            <a:r>
              <a:rPr sz="1550">
                <a:solidFill>
                  <a:srgbClr val="556075"/>
                </a:solidFill>
              </a:rPr>
              <a:t>   选择题不要看了A感觉对就不听B和C</a:t>
            </a:r>
          </a:p>
          <a:p>
            <a:pPr>
              <a:spcBef>
                <a:spcPts val="1000"/>
              </a:spcBef>
            </a:pPr>
            <a:r>
              <a:rPr sz="1850" b="1">
                <a:solidFill>
                  <a:srgbClr val="0F4C5C"/>
                </a:solidFill>
              </a:rPr>
              <a:t>• 不要固执</a:t>
            </a:r>
          </a:p>
          <a:p>
            <a:pPr>
              <a:spcBef>
                <a:spcPts val="100"/>
              </a:spcBef>
            </a:pPr>
            <a:r>
              <a:rPr sz="1550">
                <a:solidFill>
                  <a:srgbClr val="556075"/>
                </a:solidFill>
              </a:rPr>
              <a:t>   预测说"应该是Tuesday"，但录音说"actually Wednesday"→写Wednesday</a:t>
            </a:r>
          </a:p>
          <a:p>
            <a:pPr>
              <a:spcBef>
                <a:spcPts val="1000"/>
              </a:spcBef>
            </a:pPr>
            <a:r>
              <a:rPr sz="1850" b="1">
                <a:solidFill>
                  <a:srgbClr val="0F4C5C"/>
                </a:solidFill>
              </a:rPr>
              <a:t>• 以录音为准</a:t>
            </a:r>
          </a:p>
          <a:p>
            <a:pPr>
              <a:spcBef>
                <a:spcPts val="100"/>
              </a:spcBef>
            </a:pPr>
            <a:r>
              <a:rPr sz="1550">
                <a:solidFill>
                  <a:srgbClr val="556075"/>
                </a:solidFill>
              </a:rPr>
              <a:t>   任何预测都要在听到录音实际内容后接受修正，不能固执</a:t>
            </a:r>
          </a:p>
          <a:p>
            <a:pPr>
              <a:spcBef>
                <a:spcPts val="1000"/>
              </a:spcBef>
            </a:pPr>
            <a:r>
              <a:rPr sz="1850" b="1">
                <a:solidFill>
                  <a:srgbClr val="0F4C5C"/>
                </a:solidFill>
              </a:rPr>
              <a:t>• 预测≠猜题</a:t>
            </a:r>
          </a:p>
          <a:p>
            <a:pPr>
              <a:spcBef>
                <a:spcPts val="100"/>
              </a:spcBef>
            </a:pPr>
            <a:r>
              <a:rPr sz="1550">
                <a:solidFill>
                  <a:srgbClr val="556075"/>
                </a:solidFill>
              </a:rPr>
              <a:t>   预测是降低认知负担的工具，不是答题捷径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全流程预测实战：S2场景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已知：S2是关于博物馆导览的独白。
题目类型：地图配对+简短回答
现在20秒预读以下题目，并说出你的预测：
Q11-15: Map - label the rooms (A-H)
Q16-20: Answer these questions (NO MORE THAN TWO WORDS)
Q16: What is the main theme of the museum?</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Q11-15预测：圈地图上的8个选项字母，预判方向词north/south/east/west/opposite/next to会出现
Q16预测：答案是一个名词短语，描述博物馆主题（如"natural history"/"modern art"）</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地图题核心预读：不要读所有A-H的说明，只记住字母位置，听录音时找方向词</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同义替换+预测综合检验</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题目：The library opening hours have been _____ recently.
你的预测：答案类型是？可能的答案词是？
录音："We've recently extended our service hours to better accommodate student needs."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预测：changed/extended/reduced（形容词或动词过去分词）
实际答案：extended（录音说extended service hours→延长了）
同义替换：opening hours = service hours</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预测不一定猜中，但让你在听到extended时立刻知道"这是答案"</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预测核心词汇库</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Prediction Vocabulary Bank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同义替换高频词对（地点与设施）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car park</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 parking area / parking lot（停车场）</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sports centre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 gym / fitness centre / leisure centre（运动中心）</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café / canteen</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 restaurant / dining area / food court（餐饮区）</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library</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 learning resource centre / study hall（图书馆）</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reception</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 front desk / information desk（前台）</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emergency exit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 fire exit / evacuation route（紧急出口）</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conference room</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 meeting room / seminar room / boardroom（会议室）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同义替换高频词对（动作与变化）</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increase</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 rise / grow / go up / climb / surge（增加）</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decrease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 fall / drop / decline / reduce / shrink（减少）</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start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 begin / commence / initiate / launch（开始）</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finish</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 end / complete / conclude / wrap up（结束）</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show</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 demonstrate / indicate / reveal / suggest（显示）</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use</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 utilise / employ / apply / adopt（使用）</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help</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 assist / support / facilitate / enable（帮助）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同义替换高频词对（描述与评价）</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difficult</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 challenging / demanding / complex / tough（困难）</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important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 significant / crucial / essential / vital（重要）</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cheap</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 affordable / inexpensive / cost-effective（便宜）</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old</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 ancient / historic / traditional / dated（老旧）</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new</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 modern / contemporary / innovative / novel（新的）</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interesting</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 fascinating / engaging / appealing（有趣）</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worried</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 concerned / anxious / troubled / uneasy（担心）</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答案类型预判速查表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ectangle 6"/>
          <p:cNvSpPr/>
          <p:nvPr/>
        </p:nvSpPr>
        <p:spPr>
          <a:xfrm>
            <a:off x="548640" y="1188720"/>
            <a:ext cx="5486400" cy="4572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填空题答案类型判断</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0F4C5C"/>
                </a:solidFill>
              </a:rPr>
              <a:t>• 前有形容词空格</a:t>
            </a:r>
          </a:p>
          <a:p>
            <a:pPr>
              <a:spcBef>
                <a:spcPts val="100"/>
              </a:spcBef>
            </a:pPr>
            <a:r>
              <a:rPr sz="1350">
                <a:solidFill>
                  <a:srgbClr val="556075"/>
                </a:solidFill>
              </a:rPr>
              <a:t>   → 填名词（the __ centre）</a:t>
            </a:r>
          </a:p>
          <a:p>
            <a:pPr>
              <a:spcBef>
                <a:spcPts val="700"/>
              </a:spcBef>
            </a:pPr>
            <a:r>
              <a:rPr sz="1650" b="1">
                <a:solidFill>
                  <a:srgbClr val="0F4C5C"/>
                </a:solidFill>
              </a:rPr>
              <a:t>• 前有be动词空格</a:t>
            </a:r>
          </a:p>
          <a:p>
            <a:pPr>
              <a:spcBef>
                <a:spcPts val="100"/>
              </a:spcBef>
            </a:pPr>
            <a:r>
              <a:rPr sz="1350">
                <a:solidFill>
                  <a:srgbClr val="556075"/>
                </a:solidFill>
              </a:rPr>
              <a:t>   → 填形容词（is very __）</a:t>
            </a:r>
          </a:p>
          <a:p>
            <a:pPr>
              <a:spcBef>
                <a:spcPts val="700"/>
              </a:spcBef>
            </a:pPr>
            <a:r>
              <a:rPr sz="1650" b="1">
                <a:solidFill>
                  <a:srgbClr val="0F4C5C"/>
                </a:solidFill>
              </a:rPr>
              <a:t>• 前有冠词a/an空格</a:t>
            </a:r>
          </a:p>
          <a:p>
            <a:pPr>
              <a:spcBef>
                <a:spcPts val="100"/>
              </a:spcBef>
            </a:pPr>
            <a:r>
              <a:rPr sz="1350">
                <a:solidFill>
                  <a:srgbClr val="556075"/>
                </a:solidFill>
              </a:rPr>
              <a:t>   → 填名词（a __ of）</a:t>
            </a:r>
          </a:p>
          <a:p>
            <a:pPr>
              <a:spcBef>
                <a:spcPts val="700"/>
              </a:spcBef>
            </a:pPr>
            <a:r>
              <a:rPr sz="1650" b="1">
                <a:solidFill>
                  <a:srgbClr val="0F4C5C"/>
                </a:solidFill>
              </a:rPr>
              <a:t>• 问how much/many</a:t>
            </a:r>
          </a:p>
          <a:p>
            <a:pPr>
              <a:spcBef>
                <a:spcPts val="100"/>
              </a:spcBef>
            </a:pPr>
            <a:r>
              <a:rPr sz="1350">
                <a:solidFill>
                  <a:srgbClr val="556075"/>
                </a:solidFill>
              </a:rPr>
              <a:t>   → 填数字（价格/数量）</a:t>
            </a:r>
          </a:p>
          <a:p>
            <a:pPr>
              <a:spcBef>
                <a:spcPts val="700"/>
              </a:spcBef>
            </a:pPr>
            <a:r>
              <a:rPr sz="1650" b="1">
                <a:solidFill>
                  <a:srgbClr val="0F4C5C"/>
                </a:solidFill>
              </a:rPr>
              <a:t>• 问when/what date</a:t>
            </a:r>
          </a:p>
          <a:p>
            <a:pPr>
              <a:spcBef>
                <a:spcPts val="100"/>
              </a:spcBef>
            </a:pPr>
            <a:r>
              <a:rPr sz="1350">
                <a:solidFill>
                  <a:srgbClr val="556075"/>
                </a:solidFill>
              </a:rPr>
              <a:t>   → 填日期时间（June 3 / 9:30）</a:t>
            </a:r>
          </a:p>
          <a:p>
            <a:pPr>
              <a:spcBef>
                <a:spcPts val="700"/>
              </a:spcBef>
            </a:pPr>
            <a:r>
              <a:rPr sz="1650" b="1">
                <a:solidFill>
                  <a:srgbClr val="0F4C5C"/>
                </a:solidFill>
              </a:rPr>
              <a:t>• 问where/what place</a:t>
            </a:r>
          </a:p>
          <a:p>
            <a:pPr>
              <a:spcBef>
                <a:spcPts val="100"/>
              </a:spcBef>
            </a:pPr>
            <a:r>
              <a:rPr sz="1350">
                <a:solidFill>
                  <a:srgbClr val="556075"/>
                </a:solidFill>
              </a:rPr>
              <a:t>   → 填地点名词（library/Hall B）</a:t>
            </a:r>
          </a:p>
        </p:txBody>
      </p:sp>
      <p:sp>
        <p:nvSpPr>
          <p:cNvPr id="10" name="Rectangle 9"/>
          <p:cNvSpPr/>
          <p:nvPr/>
        </p:nvSpPr>
        <p:spPr>
          <a:xfrm>
            <a:off x="6355079" y="1188720"/>
            <a:ext cx="5486400" cy="4572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选择题差异快速识别</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0F4C5C"/>
                </a:solidFill>
              </a:rPr>
              <a:t>• 三项含数字</a:t>
            </a:r>
          </a:p>
          <a:p>
            <a:pPr>
              <a:spcBef>
                <a:spcPts val="100"/>
              </a:spcBef>
            </a:pPr>
            <a:r>
              <a:rPr sz="1350">
                <a:solidFill>
                  <a:srgbClr val="556075"/>
                </a:solidFill>
              </a:rPr>
              <a:t>   → 只听数字，忽略描述词</a:t>
            </a:r>
          </a:p>
          <a:p>
            <a:pPr>
              <a:spcBef>
                <a:spcPts val="700"/>
              </a:spcBef>
            </a:pPr>
            <a:r>
              <a:rPr sz="1650" b="1">
                <a:solidFill>
                  <a:srgbClr val="0F4C5C"/>
                </a:solidFill>
              </a:rPr>
              <a:t>• 三项含人名</a:t>
            </a:r>
          </a:p>
          <a:p>
            <a:pPr>
              <a:spcBef>
                <a:spcPts val="100"/>
              </a:spcBef>
            </a:pPr>
            <a:r>
              <a:rPr sz="1350">
                <a:solidFill>
                  <a:srgbClr val="556075"/>
                </a:solidFill>
              </a:rPr>
              <a:t>   → 只追踪人名，判断谁做了什么</a:t>
            </a:r>
          </a:p>
          <a:p>
            <a:pPr>
              <a:spcBef>
                <a:spcPts val="700"/>
              </a:spcBef>
            </a:pPr>
            <a:r>
              <a:rPr sz="1650" b="1">
                <a:solidFill>
                  <a:srgbClr val="0F4C5C"/>
                </a:solidFill>
              </a:rPr>
              <a:t>• 三项含地点</a:t>
            </a:r>
          </a:p>
          <a:p>
            <a:pPr>
              <a:spcBef>
                <a:spcPts val="100"/>
              </a:spcBef>
            </a:pPr>
            <a:r>
              <a:rPr sz="1350">
                <a:solidFill>
                  <a:srgbClr val="556075"/>
                </a:solidFill>
              </a:rPr>
              <a:t>   → 与地图题结合，追踪位置变化</a:t>
            </a:r>
          </a:p>
          <a:p>
            <a:pPr>
              <a:spcBef>
                <a:spcPts val="700"/>
              </a:spcBef>
            </a:pPr>
            <a:r>
              <a:rPr sz="1650" b="1">
                <a:solidFill>
                  <a:srgbClr val="0F4C5C"/>
                </a:solidFill>
              </a:rPr>
              <a:t>• 三项含时间</a:t>
            </a:r>
          </a:p>
          <a:p>
            <a:pPr>
              <a:spcBef>
                <a:spcPts val="100"/>
              </a:spcBef>
            </a:pPr>
            <a:r>
              <a:rPr sz="1350">
                <a:solidFill>
                  <a:srgbClr val="556075"/>
                </a:solidFill>
              </a:rPr>
              <a:t>   → 注意更正陷阱，最终时间才是答案</a:t>
            </a:r>
          </a:p>
          <a:p>
            <a:pPr>
              <a:spcBef>
                <a:spcPts val="700"/>
              </a:spcBef>
            </a:pPr>
            <a:r>
              <a:rPr sz="1650" b="1">
                <a:solidFill>
                  <a:srgbClr val="0F4C5C"/>
                </a:solidFill>
              </a:rPr>
              <a:t>• 三项含程度词</a:t>
            </a:r>
          </a:p>
          <a:p>
            <a:pPr>
              <a:spcBef>
                <a:spcPts val="100"/>
              </a:spcBef>
            </a:pPr>
            <a:r>
              <a:rPr sz="1350">
                <a:solidFill>
                  <a:srgbClr val="556075"/>
                </a:solidFill>
              </a:rPr>
              <a:t>   → 听极限词：most/only/always/never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20秒预读法：步骤精解</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20-Second Pre-reading: Step-by-Step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1-3：识别与圈划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识别题型 (3s)</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看题目格式：有空格=填空；A/B/C=选择；字母选项=配对；图形=地图</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圈关键词 (10s)</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每题1-2个词：优先专有名词→数字/时间→核心名词</a:t>
            </a:r>
          </a:p>
        </p:txBody>
      </p:sp>
      <p:sp>
        <p:nvSpPr>
          <p:cNvPr id="18" name="Rounded Rectangle 17"/>
          <p:cNvSpPr/>
          <p:nvPr/>
        </p:nvSpPr>
        <p:spPr>
          <a:xfrm>
            <a:off x="548640" y="3383279"/>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0F4C5C"/>
                </a:solidFill>
                <a:latin typeface="Calibri"/>
              </a:rPr>
              <a:t>预判答案类型 (5s)</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问自己：这个空填什么词性？数字还是名词？</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Step 4-5：准备与捕捉</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聚焦第一题 (2s)</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把注意力锁定在Q1的关键词上，做好第一个答案的捕捉准备</a:t>
            </a:r>
          </a:p>
        </p:txBody>
      </p:sp>
      <p:sp>
        <p:nvSpPr>
          <p:cNvPr id="13" name="Rounded Rectangle 12"/>
          <p:cNvSpPr/>
          <p:nvPr/>
        </p:nvSpPr>
        <p:spPr>
          <a:xfrm>
            <a:off x="548640" y="233172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0F4C5C"/>
                </a:solidFill>
                <a:latin typeface="Calibri"/>
              </a:rPr>
              <a:t>听录音时：顺序追踪</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按题目顺序追踪关键词，听到关键词附近立即写答案，不回头</a:t>
            </a:r>
          </a:p>
        </p:txBody>
      </p:sp>
      <p:sp>
        <p:nvSpPr>
          <p:cNvPr id="18" name="Rounded Rectangle 17"/>
          <p:cNvSpPr/>
          <p:nvPr/>
        </p:nvSpPr>
        <p:spPr>
          <a:xfrm>
            <a:off x="548640" y="3383279"/>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0F4C5C"/>
                </a:solidFill>
                <a:latin typeface="Calibri"/>
              </a:rPr>
              <a:t>答完即预读</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答完最后一题后立刻把视线移到下一组题目，开始新一轮预读</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满分预读示范：S1信息表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题目：Name: _____(1)  Phone: _____(2)  Address: _____(3)
Course: _____(4)  Day: _____(5)  Fee: £_____(6)</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Q1→专有名词，可能需拼读（大写）
Q2→电话号码（7-11位数字）
Q3→地址（数字+街道名）
Q4→课程名称（名词短语）
Q5→星期几（Monday-Sunday）
Q6→金额（两位小数，如24.50）</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Q1预判同义替换：name→called/known as</a:t>
            </a:r>
          </a:p>
          <a:p>
            <a:pPr>
              <a:spcBef>
                <a:spcPts val="700"/>
              </a:spcBef>
            </a:pPr>
            <a:r>
              <a:rPr sz="1200">
                <a:solidFill>
                  <a:srgbClr val="1E293B"/>
                </a:solidFill>
              </a:rPr>
              <a:t>▸ Q2特殊格式：电话号码0读作"oh"，双数字"66"说"double six"</a:t>
            </a:r>
          </a:p>
          <a:p>
            <a:pPr>
              <a:spcBef>
                <a:spcPts val="700"/>
              </a:spcBef>
            </a:pPr>
            <a:r>
              <a:rPr sz="1200">
                <a:solidFill>
                  <a:srgbClr val="1E293B"/>
                </a:solidFill>
              </a:rPr>
              <a:t>▸ Q3地址格式：数字在前，街道名在后（15 Park Road）</a:t>
            </a:r>
          </a:p>
          <a:p>
            <a:pPr>
              <a:spcBef>
                <a:spcPts val="700"/>
              </a:spcBef>
            </a:pPr>
            <a:r>
              <a:rPr sz="1200">
                <a:solidFill>
                  <a:srgbClr val="1E293B"/>
                </a:solidFill>
              </a:rPr>
              <a:t>▸ Q5陷阱预警：星期几最容易被更正，听到"actually"立即划掉旧答案</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满分预读示范：S3选择题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题目：Q21 Why is Maria concerned about the experiment?
A her equipment is faulty
B she lacks experience
C there is insufficient time
Q22 What does Tom suggest they do first?
A review the literature
B contact the supervisor
C collect the data</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Q21预读：圈concerned/equipment/experience/time（三个选项核心词）
Q22预读：圈suggest/first/literature/supervisor/data（追踪建议动作）
预判：Q21答案在Maria表达担忧之后；Q22答案在Tom提建议之后</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Q21技巧：三个选项分别关于equipment/experience/time，只追踪这三个词</a:t>
            </a:r>
          </a:p>
          <a:p>
            <a:pPr>
              <a:spcBef>
                <a:spcPts val="700"/>
              </a:spcBef>
            </a:pPr>
            <a:r>
              <a:rPr sz="1200">
                <a:solidFill>
                  <a:srgbClr val="1E293B"/>
                </a:solidFill>
              </a:rPr>
              <a:t>▸ Q22技巧："first"是关键词——Tom可能提多个建议，只要"第一个"</a:t>
            </a:r>
          </a:p>
          <a:p>
            <a:pPr>
              <a:spcBef>
                <a:spcPts val="700"/>
              </a:spcBef>
            </a:pPr>
            <a:r>
              <a:rPr sz="1200">
                <a:solidFill>
                  <a:srgbClr val="1E293B"/>
                </a:solidFill>
              </a:rPr>
              <a:t>▸ 选择题不要预判正确答案——只预判"在哪里找答案"</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预读策略：低效 vs 高效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低效预读（浪费时间）</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高效预读（20秒完成）</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逐字阅读每道题目的完整句子</a:t>
            </a:r>
          </a:p>
          <a:p>
            <a:pPr>
              <a:spcBef>
                <a:spcPts val="700"/>
              </a:spcBef>
            </a:pPr>
            <a:r>
              <a:rPr sz="1350">
                <a:solidFill>
                  <a:srgbClr val="C02A2A"/>
                </a:solidFill>
              </a:rPr>
              <a:t>✗ 每道题想好几个可能的答案，越想越多</a:t>
            </a:r>
          </a:p>
          <a:p>
            <a:pPr>
              <a:spcBef>
                <a:spcPts val="700"/>
              </a:spcBef>
            </a:pPr>
            <a:r>
              <a:rPr sz="1350">
                <a:solidFill>
                  <a:srgbClr val="C02A2A"/>
                </a:solidFill>
              </a:rPr>
              <a:t>✗ 花太多时间在一题上，没读完所有题目</a:t>
            </a:r>
          </a:p>
          <a:p>
            <a:pPr>
              <a:spcBef>
                <a:spcPts val="700"/>
              </a:spcBef>
            </a:pPr>
            <a:r>
              <a:rPr sz="1350">
                <a:solidFill>
                  <a:srgbClr val="C02A2A"/>
                </a:solidFill>
              </a:rPr>
              <a:t>✗ 选择题把A/B/C三个选项完整读完</a:t>
            </a:r>
          </a:p>
          <a:p>
            <a:pPr>
              <a:spcBef>
                <a:spcPts val="700"/>
              </a:spcBef>
            </a:pPr>
            <a:r>
              <a:rPr sz="1350">
                <a:solidFill>
                  <a:srgbClr val="C02A2A"/>
                </a:solidFill>
              </a:rPr>
              <a:t>✗ 翻页找题目，浪费宝贵的说明时间</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只扫关键词，不读完整句子</a:t>
            </a:r>
          </a:p>
          <a:p>
            <a:pPr>
              <a:spcBef>
                <a:spcPts val="700"/>
              </a:spcBef>
            </a:pPr>
            <a:r>
              <a:rPr sz="1350">
                <a:solidFill>
                  <a:srgbClr val="1B7A3D"/>
                </a:solidFill>
              </a:rPr>
              <a:t>✓ 每题只预判答案"类型"，不预判具体内容</a:t>
            </a:r>
          </a:p>
          <a:p>
            <a:pPr>
              <a:spcBef>
                <a:spcPts val="700"/>
              </a:spcBef>
            </a:pPr>
            <a:r>
              <a:rPr sz="1350">
                <a:solidFill>
                  <a:srgbClr val="1B7A3D"/>
                </a:solidFill>
              </a:rPr>
              <a:t>✓ 快速移过每题，保证所有题目都圈到词</a:t>
            </a:r>
          </a:p>
          <a:p>
            <a:pPr>
              <a:spcBef>
                <a:spcPts val="700"/>
              </a:spcBef>
            </a:pPr>
            <a:r>
              <a:rPr sz="1350">
                <a:solidFill>
                  <a:srgbClr val="1B7A3D"/>
                </a:solidFill>
              </a:rPr>
              <a:t>✓ 选择题只圈三个选项的差异词（各1个）</a:t>
            </a:r>
          </a:p>
          <a:p>
            <a:pPr>
              <a:spcBef>
                <a:spcPts val="700"/>
              </a:spcBef>
            </a:pPr>
            <a:r>
              <a:rPr sz="1350">
                <a:solidFill>
                  <a:srgbClr val="1B7A3D"/>
                </a:solidFill>
              </a:rPr>
              <a:t>✓ 考前熟悉题目排版，不临时找题目位置</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同义替换：低分失误 vs 高分识别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同义替换失败</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同义替换成功</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题目写affordable，录音说cheap，没反应过来</a:t>
            </a:r>
          </a:p>
          <a:p>
            <a:pPr>
              <a:spcBef>
                <a:spcPts val="700"/>
              </a:spcBef>
            </a:pPr>
            <a:r>
              <a:rPr sz="1350">
                <a:solidFill>
                  <a:srgbClr val="C02A2A"/>
                </a:solidFill>
              </a:rPr>
              <a:t>✗ 题目写commence，录音说start，写了个大问号</a:t>
            </a:r>
          </a:p>
          <a:p>
            <a:pPr>
              <a:spcBef>
                <a:spcPts val="700"/>
              </a:spcBef>
            </a:pPr>
            <a:r>
              <a:rPr sz="1350">
                <a:solidFill>
                  <a:srgbClr val="C02A2A"/>
                </a:solidFill>
              </a:rPr>
              <a:t>✗ 题目写vehicle，录音说car，觉得car太简单了不敢写</a:t>
            </a:r>
          </a:p>
          <a:p>
            <a:pPr>
              <a:spcBef>
                <a:spcPts val="700"/>
              </a:spcBef>
            </a:pPr>
            <a:r>
              <a:rPr sz="1350">
                <a:solidFill>
                  <a:srgbClr val="C02A2A"/>
                </a:solidFill>
              </a:rPr>
              <a:t>✗ 题目写occupied，录音说busy/taken，等着找occupied没听到</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见到afford-系词立刻想到cheap/inexpensive/low cost</a:t>
            </a:r>
          </a:p>
          <a:p>
            <a:pPr>
              <a:spcBef>
                <a:spcPts val="700"/>
              </a:spcBef>
            </a:pPr>
            <a:r>
              <a:rPr sz="1350">
                <a:solidFill>
                  <a:srgbClr val="1B7A3D"/>
                </a:solidFill>
              </a:rPr>
              <a:t>✓ 见到commence立刻想到start/begin/initiate</a:t>
            </a:r>
          </a:p>
          <a:p>
            <a:pPr>
              <a:spcBef>
                <a:spcPts val="700"/>
              </a:spcBef>
            </a:pPr>
            <a:r>
              <a:rPr sz="1350">
                <a:solidFill>
                  <a:srgbClr val="1B7A3D"/>
                </a:solidFill>
              </a:rPr>
              <a:t>✓ 题目用正式词，录音用口语词——car就是vehicle，大胆写</a:t>
            </a:r>
          </a:p>
          <a:p>
            <a:pPr>
              <a:spcBef>
                <a:spcPts val="700"/>
              </a:spcBef>
            </a:pPr>
            <a:r>
              <a:rPr sz="1350">
                <a:solidFill>
                  <a:srgbClr val="1B7A3D"/>
                </a:solidFill>
              </a:rPr>
              <a:t>✓ 预读时把occupied旁边写"=busy/taken/in use"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课堂练习：预测技能强化</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Prediction Drills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练习1：关键词圈划计时（15秒）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计时15秒，圈出以下5道题的关键词（不得超时）</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Q1 The applicant's surname: _____</a:t>
            </a:r>
          </a:p>
          <a:p>
            <a:pPr>
              <a:spcBef>
                <a:spcPts val="1100"/>
              </a:spcBef>
            </a:pPr>
            <a:r>
              <a:rPr sz="1500">
                <a:solidFill>
                  <a:srgbClr val="1E293B"/>
                </a:solidFill>
              </a:rPr>
              <a:t>▢ Q2 Preferred start date: _____</a:t>
            </a:r>
          </a:p>
          <a:p>
            <a:pPr>
              <a:spcBef>
                <a:spcPts val="1100"/>
              </a:spcBef>
            </a:pPr>
            <a:r>
              <a:rPr sz="1500">
                <a:solidFill>
                  <a:srgbClr val="1E293B"/>
                </a:solidFill>
              </a:rPr>
              <a:t>▢ Q3 Current job title: _____</a:t>
            </a:r>
          </a:p>
          <a:p>
            <a:pPr>
              <a:spcBef>
                <a:spcPts val="1100"/>
              </a:spcBef>
            </a:pPr>
            <a:r>
              <a:rPr sz="1500">
                <a:solidFill>
                  <a:srgbClr val="1E293B"/>
                </a:solidFill>
              </a:rPr>
              <a:t>▢ Q4 Annual salary expected: £_____</a:t>
            </a:r>
          </a:p>
          <a:p>
            <a:pPr>
              <a:spcBef>
                <a:spcPts val="1100"/>
              </a:spcBef>
            </a:pPr>
            <a:r>
              <a:rPr sz="1500">
                <a:solidFill>
                  <a:srgbClr val="1E293B"/>
                </a:solidFill>
              </a:rPr>
              <a:t>▢ Q5 The interview will be held at: _____ (location)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练习2：答案类型预判</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根据题目判断填空答案的类型（名词/数字/形容词/日期/地点）</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Q6 The building was constructed in _____ (year)</a:t>
            </a:r>
          </a:p>
          <a:p>
            <a:pPr>
              <a:spcBef>
                <a:spcPts val="1100"/>
              </a:spcBef>
            </a:pPr>
            <a:r>
              <a:rPr sz="1500">
                <a:solidFill>
                  <a:srgbClr val="1E293B"/>
                </a:solidFill>
              </a:rPr>
              <a:t>▢ Q7 The membership fee includes a _____ discount (type)</a:t>
            </a:r>
          </a:p>
          <a:p>
            <a:pPr>
              <a:spcBef>
                <a:spcPts val="1100"/>
              </a:spcBef>
            </a:pPr>
            <a:r>
              <a:rPr sz="1500">
                <a:solidFill>
                  <a:srgbClr val="1E293B"/>
                </a:solidFill>
              </a:rPr>
              <a:t>▢ Q8 Sessions are held every _____ afternoon (day)</a:t>
            </a:r>
          </a:p>
          <a:p>
            <a:pPr>
              <a:spcBef>
                <a:spcPts val="1100"/>
              </a:spcBef>
            </a:pPr>
            <a:r>
              <a:rPr sz="1500">
                <a:solidFill>
                  <a:srgbClr val="1E293B"/>
                </a:solidFill>
              </a:rPr>
              <a:t>▢ Q9 Maximum group size: _____ people (number)</a:t>
            </a:r>
          </a:p>
          <a:p>
            <a:pPr>
              <a:spcBef>
                <a:spcPts val="1100"/>
              </a:spcBef>
            </a:pPr>
            <a:r>
              <a:rPr sz="1500">
                <a:solidFill>
                  <a:srgbClr val="1E293B"/>
                </a:solidFill>
              </a:rPr>
              <a:t>▢ Q10 The new branch is located on _____ Street (name)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练习3：同义替换快速配对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30秒内完成10组同义替换配对</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题目词 → 录音词：</a:t>
            </a:r>
          </a:p>
          <a:p>
            <a:pPr>
              <a:spcBef>
                <a:spcPts val="1100"/>
              </a:spcBef>
            </a:pPr>
            <a:r>
              <a:rPr sz="1500">
                <a:solidFill>
                  <a:srgbClr val="1E293B"/>
                </a:solidFill>
              </a:rPr>
              <a:t>▢ requirement → need/demand/necessity</a:t>
            </a:r>
          </a:p>
          <a:p>
            <a:pPr>
              <a:spcBef>
                <a:spcPts val="1100"/>
              </a:spcBef>
            </a:pPr>
            <a:r>
              <a:rPr sz="1500">
                <a:solidFill>
                  <a:srgbClr val="1E293B"/>
                </a:solidFill>
              </a:rPr>
              <a:t>▢ demonstrate → show/prove/illustrate</a:t>
            </a:r>
          </a:p>
          <a:p>
            <a:pPr>
              <a:spcBef>
                <a:spcPts val="1100"/>
              </a:spcBef>
            </a:pPr>
            <a:r>
              <a:rPr sz="1500">
                <a:solidFill>
                  <a:srgbClr val="1E293B"/>
                </a:solidFill>
              </a:rPr>
              <a:t>▢ annual → yearly/every year/per annum</a:t>
            </a:r>
          </a:p>
          <a:p>
            <a:pPr>
              <a:spcBef>
                <a:spcPts val="1100"/>
              </a:spcBef>
            </a:pPr>
            <a:r>
              <a:rPr sz="1500">
                <a:solidFill>
                  <a:srgbClr val="1E293B"/>
                </a:solidFill>
              </a:rPr>
              <a:t>▢ vicinity → nearby/close to/in the area of</a:t>
            </a:r>
          </a:p>
          <a:p>
            <a:pPr>
              <a:spcBef>
                <a:spcPts val="1100"/>
              </a:spcBef>
            </a:pPr>
            <a:r>
              <a:rPr sz="1500">
                <a:solidFill>
                  <a:srgbClr val="1E293B"/>
                </a:solidFill>
              </a:rPr>
              <a:t>▢ 以上各组：哪个录音词最常在S1-S2中出现？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练习4：同义替换真题实战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以下题目→录音，找出同义替换关系</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题目：The programme focuses on environmental _____ (protection)</a:t>
            </a:r>
          </a:p>
          <a:p>
            <a:pPr>
              <a:spcBef>
                <a:spcPts val="1100"/>
              </a:spcBef>
            </a:pPr>
            <a:r>
              <a:rPr sz="1500">
                <a:solidFill>
                  <a:srgbClr val="1E293B"/>
                </a:solidFill>
              </a:rPr>
              <a:t>▢ 录音："The scheme aims to preserve natural habitats and maintain ecological balance."</a:t>
            </a:r>
          </a:p>
          <a:p>
            <a:pPr>
              <a:spcBef>
                <a:spcPts val="1100"/>
              </a:spcBef>
            </a:pPr>
            <a:r>
              <a:rPr sz="1500">
                <a:solidFill>
                  <a:srgbClr val="1E293B"/>
                </a:solidFill>
              </a:rPr>
              <a:t>▢ 题目词protection → 录音词preserve/maintain</a:t>
            </a:r>
          </a:p>
          <a:p>
            <a:pPr>
              <a:spcBef>
                <a:spcPts val="1100"/>
              </a:spcBef>
            </a:pPr>
            <a:r>
              <a:rPr sz="1500">
                <a:solidFill>
                  <a:srgbClr val="1E293B"/>
                </a:solidFill>
              </a:rPr>
              <a:t>▢ Q：答案应该填什么词？（TWO WORDS AND/OR A NUMBER）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练习5：全流程20秒预读实战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完整模拟：拿到题组→20秒预读→口述预测</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Section 2 Questions 11-15（Map Labelling）</a:t>
            </a:r>
          </a:p>
          <a:p>
            <a:pPr>
              <a:spcBef>
                <a:spcPts val="1100"/>
              </a:spcBef>
            </a:pPr>
            <a:r>
              <a:rPr sz="1500">
                <a:solidFill>
                  <a:srgbClr val="1E293B"/>
                </a:solidFill>
              </a:rPr>
              <a:t>▢ Section 2 Questions 16-20（Short Answer, max TWO WORDS）</a:t>
            </a:r>
          </a:p>
          <a:p>
            <a:pPr>
              <a:spcBef>
                <a:spcPts val="1100"/>
              </a:spcBef>
            </a:pPr>
            <a:r>
              <a:rPr sz="1500">
                <a:solidFill>
                  <a:srgbClr val="1E293B"/>
                </a:solidFill>
              </a:rPr>
              <a:t>▢ 计时20秒：圈关键词+预判答案类型+预判可能的同义替换</a:t>
            </a:r>
          </a:p>
          <a:p>
            <a:pPr>
              <a:spcBef>
                <a:spcPts val="1100"/>
              </a:spcBef>
            </a:pPr>
            <a:r>
              <a:rPr sz="1500">
                <a:solidFill>
                  <a:srgbClr val="1E293B"/>
                </a:solidFill>
              </a:rPr>
              <a:t>▢ 口述：Q11我预测答案是___类型，因为___</a:t>
            </a:r>
          </a:p>
          <a:p>
            <a:pPr>
              <a:spcBef>
                <a:spcPts val="1100"/>
              </a:spcBef>
            </a:pPr>
            <a:r>
              <a:rPr sz="1500">
                <a:solidFill>
                  <a:srgbClr val="1E293B"/>
                </a:solidFill>
              </a:rPr>
              <a:t>▢ 反思：哪道题预读最花时间？下次如何加快？</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预测陷阱与误区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Common Prediction Mistakes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预测过度导致失分</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预测太具体：认定Q3答案是"Tuesday"，录音说"Wednesday"时不敢写，坚持填Tuesday</a:t>
            </a:r>
          </a:p>
          <a:p>
            <a:pPr>
              <a:spcBef>
                <a:spcPts val="800"/>
              </a:spcBef>
            </a:pPr>
            <a:r>
              <a:rPr sz="1400">
                <a:solidFill>
                  <a:srgbClr val="C02A2A"/>
                </a:solidFill>
              </a:rPr>
              <a:t>✗ 看到选项A感觉对就停止听：A说了个关键词就勾A，没听到B里的更正</a:t>
            </a:r>
          </a:p>
          <a:p>
            <a:pPr>
              <a:spcBef>
                <a:spcPts val="800"/>
              </a:spcBef>
            </a:pPr>
            <a:r>
              <a:rPr sz="1400">
                <a:solidFill>
                  <a:srgbClr val="C02A2A"/>
                </a:solidFill>
              </a:rPr>
              <a:t>✗ 预测干扰注意力：脑子里想着"应该是medical"，错过了录音里说的"dental"</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预测答案"类型"不预测具体词：知道要填星期几，但不提前锁定是哪天</a:t>
            </a:r>
          </a:p>
          <a:p>
            <a:pPr>
              <a:spcBef>
                <a:spcPts val="800"/>
              </a:spcBef>
            </a:pPr>
            <a:r>
              <a:rPr sz="1400">
                <a:solidFill>
                  <a:srgbClr val="1B7A3D"/>
                </a:solidFill>
              </a:rPr>
              <a:t>✓ 选择题听完整段再判断：不要听到A的关键词就立刻勾选</a:t>
            </a:r>
          </a:p>
          <a:p>
            <a:pPr>
              <a:spcBef>
                <a:spcPts val="800"/>
              </a:spcBef>
            </a:pPr>
            <a:r>
              <a:rPr sz="1400">
                <a:solidFill>
                  <a:srgbClr val="1B7A3D"/>
                </a:solidFill>
              </a:rPr>
              <a:t>✓ 预测=降低认知负担，不是替代听力——答案永远以录音为准，不以预测为准</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预测技能的练习方法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每日训练</a:t>
            </a:r>
          </a:p>
          <a:p>
            <a:pPr>
              <a:spcBef>
                <a:spcPts val="100"/>
              </a:spcBef>
            </a:pPr>
            <a:r>
              <a:rPr sz="1550">
                <a:solidFill>
                  <a:srgbClr val="556075"/>
                </a:solidFill>
              </a:rPr>
              <a:t>   做真题前先做"盲预读"：不听录音，只预读题目，写下答案类型和可能的同义词</a:t>
            </a:r>
          </a:p>
          <a:p>
            <a:pPr>
              <a:spcBef>
                <a:spcPts val="1000"/>
              </a:spcBef>
            </a:pPr>
            <a:r>
              <a:rPr sz="1850" b="1">
                <a:solidFill>
                  <a:srgbClr val="0F4C5C"/>
                </a:solidFill>
              </a:rPr>
              <a:t>• 反思复盘</a:t>
            </a:r>
          </a:p>
          <a:p>
            <a:pPr>
              <a:spcBef>
                <a:spcPts val="100"/>
              </a:spcBef>
            </a:pPr>
            <a:r>
              <a:rPr sz="1550">
                <a:solidFill>
                  <a:srgbClr val="556075"/>
                </a:solidFill>
              </a:rPr>
              <a:t>   做完题后对比预读笔记vs实际答案：哪些预读有效？哪些预读误导了你？</a:t>
            </a:r>
          </a:p>
          <a:p>
            <a:pPr>
              <a:spcBef>
                <a:spcPts val="1000"/>
              </a:spcBef>
            </a:pPr>
            <a:r>
              <a:rPr sz="1850" b="1">
                <a:solidFill>
                  <a:srgbClr val="0F4C5C"/>
                </a:solidFill>
              </a:rPr>
              <a:t>• 同义替换日积月累</a:t>
            </a:r>
          </a:p>
          <a:p>
            <a:pPr>
              <a:spcBef>
                <a:spcPts val="100"/>
              </a:spcBef>
            </a:pPr>
            <a:r>
              <a:rPr sz="1550">
                <a:solidFill>
                  <a:srgbClr val="556075"/>
                </a:solidFill>
              </a:rPr>
              <a:t>   每天学5组同义替换对，用剑桥听力词汇表，专注"题目词↔录音词"关系</a:t>
            </a:r>
          </a:p>
          <a:p>
            <a:pPr>
              <a:spcBef>
                <a:spcPts val="1000"/>
              </a:spcBef>
            </a:pPr>
            <a:r>
              <a:rPr sz="1850" b="1">
                <a:solidFill>
                  <a:srgbClr val="0F4C5C"/>
                </a:solidFill>
              </a:rPr>
              <a:t>• 计时加压</a:t>
            </a:r>
          </a:p>
          <a:p>
            <a:pPr>
              <a:spcBef>
                <a:spcPts val="100"/>
              </a:spcBef>
            </a:pPr>
            <a:r>
              <a:rPr sz="1550">
                <a:solidFill>
                  <a:srgbClr val="556075"/>
                </a:solidFill>
              </a:rPr>
              <a:t>   把预读时间从30秒压缩到20秒再到15秒——实战中题组间隔有时不足20秒</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深圳学生注意：目标：经过10次专项练习后，20秒内完成10道题的关键词圈划成为条件反射</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预测能力自测标准</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初级（6分）</a:t>
            </a:r>
          </a:p>
          <a:p>
            <a:pPr>
              <a:spcBef>
                <a:spcPts val="100"/>
              </a:spcBef>
            </a:pPr>
            <a:r>
              <a:rPr sz="1550">
                <a:solidFill>
                  <a:srgbClr val="556075"/>
                </a:solidFill>
              </a:rPr>
              <a:t>   能圈出关键词，但预读时间&gt;30秒；同义替换识别率&lt;50%</a:t>
            </a:r>
          </a:p>
          <a:p>
            <a:pPr>
              <a:spcBef>
                <a:spcPts val="1000"/>
              </a:spcBef>
            </a:pPr>
            <a:r>
              <a:rPr sz="1850" b="1">
                <a:solidFill>
                  <a:srgbClr val="0F4C5C"/>
                </a:solidFill>
              </a:rPr>
              <a:t>• 中级（6.5-7分）</a:t>
            </a:r>
          </a:p>
          <a:p>
            <a:pPr>
              <a:spcBef>
                <a:spcPts val="100"/>
              </a:spcBef>
            </a:pPr>
            <a:r>
              <a:rPr sz="1550">
                <a:solidFill>
                  <a:srgbClr val="556075"/>
                </a:solidFill>
              </a:rPr>
              <a:t>   20秒内圈完关键词；能识别直接同义词（cheap→affordable）</a:t>
            </a:r>
          </a:p>
          <a:p>
            <a:pPr>
              <a:spcBef>
                <a:spcPts val="1000"/>
              </a:spcBef>
            </a:pPr>
            <a:r>
              <a:rPr sz="1850" b="1">
                <a:solidFill>
                  <a:srgbClr val="0F4C5C"/>
                </a:solidFill>
              </a:rPr>
              <a:t>• 高级（7.5-8分）</a:t>
            </a:r>
          </a:p>
          <a:p>
            <a:pPr>
              <a:spcBef>
                <a:spcPts val="100"/>
              </a:spcBef>
            </a:pPr>
            <a:r>
              <a:rPr sz="1550">
                <a:solidFill>
                  <a:srgbClr val="556075"/>
                </a:solidFill>
              </a:rPr>
              <a:t>   15秒内圈完；能识别概念替换（parking→car park）和上义词替换</a:t>
            </a:r>
          </a:p>
          <a:p>
            <a:pPr>
              <a:spcBef>
                <a:spcPts val="1000"/>
              </a:spcBef>
            </a:pPr>
            <a:r>
              <a:rPr sz="1850" b="1">
                <a:solidFill>
                  <a:srgbClr val="0F4C5C"/>
                </a:solidFill>
              </a:rPr>
              <a:t>• 顶级（8.5+分）</a:t>
            </a:r>
          </a:p>
          <a:p>
            <a:pPr>
              <a:spcBef>
                <a:spcPts val="100"/>
              </a:spcBef>
            </a:pPr>
            <a:r>
              <a:rPr sz="1550">
                <a:solidFill>
                  <a:srgbClr val="556075"/>
                </a:solidFill>
              </a:rPr>
              <a:t>   主动预判答案词性+可能同义词；几乎不被同义替换干扰</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深圳学生注意：深圳学生平均处于初级→中级，本节课后目标升至中级，L08后升至高级</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课堂即时可用：预读快速指南</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题型识别（3秒）</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先看全局：有空格=填空；A/B/C=选择；字母列表=配对；图形=地图</a:t>
            </a:r>
          </a:p>
        </p:txBody>
      </p:sp>
      <p:sp>
        <p:nvSpPr>
          <p:cNvPr id="12" name="Rounded Rectangle 11"/>
          <p:cNvSpPr/>
          <p:nvPr/>
        </p:nvSpPr>
        <p:spPr>
          <a:xfrm>
            <a:off x="6355079"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关键词圈划（10秒）</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每题1-2个最独特词：专有名词&gt;数字/时间&gt;核心名词</a:t>
            </a:r>
          </a:p>
        </p:txBody>
      </p:sp>
      <p:sp>
        <p:nvSpPr>
          <p:cNvPr id="16" name="Rounded Rectangle 15"/>
          <p:cNvSpPr/>
          <p:nvPr/>
        </p:nvSpPr>
        <p:spPr>
          <a:xfrm>
            <a:off x="548640"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0F4C5C"/>
                </a:solidFill>
                <a:latin typeface="Calibri"/>
              </a:rPr>
              <a:t>答案类型预判（5秒）</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空格前后判词性：形容词后填名词；be动词后填形容词</a:t>
            </a:r>
          </a:p>
        </p:txBody>
      </p:sp>
      <p:sp>
        <p:nvSpPr>
          <p:cNvPr id="20" name="Rounded Rectangle 19"/>
          <p:cNvSpPr/>
          <p:nvPr/>
        </p:nvSpPr>
        <p:spPr>
          <a:xfrm>
            <a:off x="6355079"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0F4C5C"/>
                </a:solidFill>
                <a:latin typeface="Calibri"/>
              </a:rPr>
              <a:t>选择题特殊处理</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只圈三个选项的差异核心词，不逐字读完整选项</a:t>
            </a:r>
          </a:p>
        </p:txBody>
      </p:sp>
      <p:sp>
        <p:nvSpPr>
          <p:cNvPr id="24" name="Rounded Rectangle 23"/>
          <p:cNvSpPr/>
          <p:nvPr/>
        </p:nvSpPr>
        <p:spPr>
          <a:xfrm>
            <a:off x="548640" y="449580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0F4C5C"/>
                </a:solidFill>
                <a:latin typeface="Calibri"/>
              </a:rPr>
              <a:t>超时处理原则</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预读时间到即停止，宁可预读7题也不完整读3题</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考场急救：预读来不及怎么办</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题来不及圈完</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先圈已读题目，边听录音边圈剩余题目的关键词</a:t>
            </a:r>
          </a:p>
        </p:txBody>
      </p:sp>
      <p:sp>
        <p:nvSpPr>
          <p:cNvPr id="12" name="Rounded Rectangle 11"/>
          <p:cNvSpPr/>
          <p:nvPr/>
        </p:nvSpPr>
        <p:spPr>
          <a:xfrm>
            <a:off x="6355079" y="123444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跟丢题目位置</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找最近一个写下的答案，从下一题关键词开始重新追踪</a:t>
            </a:r>
          </a:p>
        </p:txBody>
      </p:sp>
      <p:sp>
        <p:nvSpPr>
          <p:cNvPr id="16" name="Rounded Rectangle 15"/>
          <p:cNvSpPr/>
          <p:nvPr/>
        </p:nvSpPr>
        <p:spPr>
          <a:xfrm>
            <a:off x="548640"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0F4C5C"/>
                </a:solidFill>
                <a:latin typeface="Calibri"/>
              </a:rPr>
              <a:t>同义替换没识别</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记下听到的词，誊写时与题目语义对照确认是否匹配</a:t>
            </a:r>
          </a:p>
        </p:txBody>
      </p:sp>
      <p:sp>
        <p:nvSpPr>
          <p:cNvPr id="20" name="Rounded Rectangle 19"/>
          <p:cNvSpPr/>
          <p:nvPr/>
        </p:nvSpPr>
        <p:spPr>
          <a:xfrm>
            <a:off x="6355079" y="286512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0F4C5C"/>
                </a:solidFill>
                <a:latin typeface="Calibri"/>
              </a:rPr>
              <a:t>答案选错了</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用细线划掉重写，不要大力涂改（影响扫描识别）</a:t>
            </a:r>
          </a:p>
        </p:txBody>
      </p:sp>
      <p:sp>
        <p:nvSpPr>
          <p:cNvPr id="24" name="Rounded Rectangle 23"/>
          <p:cNvSpPr/>
          <p:nvPr/>
        </p:nvSpPr>
        <p:spPr>
          <a:xfrm>
            <a:off x="548640" y="4495800"/>
            <a:ext cx="5486400" cy="14020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0F4C5C"/>
                </a:solidFill>
                <a:latin typeface="Calibri"/>
              </a:rPr>
              <a:t>整组题没听到</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保持冷静继续预读下一组，不要纠缠已失去的题目</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完成剑桥真题1套听力，专项计时预读（20秒限时）</a:t>
            </a:r>
          </a:p>
          <a:p>
            <a:pPr>
              <a:spcBef>
                <a:spcPts val="1200"/>
              </a:spcBef>
            </a:pPr>
            <a:r>
              <a:rPr sz="1600">
                <a:solidFill>
                  <a:srgbClr val="1E293B"/>
                </a:solidFill>
              </a:rPr>
              <a:t>☐ 每道题目完成三层预读：题型→关键词→答案类型</a:t>
            </a:r>
          </a:p>
          <a:p>
            <a:pPr>
              <a:spcBef>
                <a:spcPts val="1200"/>
              </a:spcBef>
            </a:pPr>
            <a:r>
              <a:rPr sz="1600">
                <a:solidFill>
                  <a:srgbClr val="1E293B"/>
                </a:solidFill>
              </a:rPr>
              <a:t>☐ 做完后统计：同义替换识别成功多少次？</a:t>
            </a:r>
          </a:p>
          <a:p>
            <a:pPr>
              <a:spcBef>
                <a:spcPts val="1200"/>
              </a:spcBef>
            </a:pPr>
            <a:r>
              <a:rPr sz="1600">
                <a:solidFill>
                  <a:srgbClr val="1E293B"/>
                </a:solidFill>
              </a:rPr>
              <a:t>☐ 建立个人同义替换词对表，每周新增10组</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L06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12A594"/>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预读三层次：题型识别→关键词圈划→答案类型预判，全程20秒</a:t>
            </a:r>
          </a:p>
          <a:p>
            <a:pPr>
              <a:spcBef>
                <a:spcPts val="1100"/>
              </a:spcBef>
            </a:pPr>
            <a:r>
              <a:rPr sz="1550">
                <a:solidFill>
                  <a:srgbClr val="FFFFFF"/>
                </a:solidFill>
              </a:rPr>
              <a:t>✓  关键词选词原则：专有名词&gt;数字/时间&gt;核心名词，不圈功能词</a:t>
            </a:r>
          </a:p>
          <a:p>
            <a:pPr>
              <a:spcBef>
                <a:spcPts val="1100"/>
              </a:spcBef>
            </a:pPr>
            <a:r>
              <a:rPr sz="1550">
                <a:solidFill>
                  <a:srgbClr val="FFFFFF"/>
                </a:solidFill>
              </a:rPr>
              <a:t>✓  同义替换是必考技能：题目用正式词，录音用口语词（或反之）</a:t>
            </a:r>
          </a:p>
          <a:p>
            <a:pPr>
              <a:spcBef>
                <a:spcPts val="1100"/>
              </a:spcBef>
            </a:pPr>
            <a:r>
              <a:rPr sz="1550">
                <a:solidFill>
                  <a:srgbClr val="FFFFFF"/>
                </a:solidFill>
              </a:rPr>
              <a:t>✓  预测≠猜答案：预测是为了知道"要找什么"，答案以录音为准</a:t>
            </a:r>
          </a:p>
          <a:p>
            <a:pPr>
              <a:spcBef>
                <a:spcPts val="1100"/>
              </a:spcBef>
            </a:pPr>
            <a:r>
              <a:rPr sz="1550">
                <a:solidFill>
                  <a:srgbClr val="FFFFFF"/>
                </a:solidFill>
              </a:rPr>
              <a:t>✓  预读是可训练的技能：10次专项练习后自动化，大幅提升做题效率</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12A594"/>
                </a:solidFill>
                <a:latin typeface="Calibri"/>
              </a:rPr>
              <a:t>⏱ 建议用时：约60分钟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完成剑桥真题2套听力（每套限时），做前专项计时预读</a:t>
            </a:r>
          </a:p>
          <a:p>
            <a:pPr>
              <a:spcBef>
                <a:spcPts val="1300"/>
              </a:spcBef>
            </a:pPr>
            <a:r>
              <a:rPr sz="1550" b="1">
                <a:solidFill>
                  <a:srgbClr val="1E293B"/>
                </a:solidFill>
              </a:rPr>
              <a:t>作业 2　每套做完后统计同义替换识别率，目标≥70%</a:t>
            </a:r>
          </a:p>
          <a:p>
            <a:pPr>
              <a:spcBef>
                <a:spcPts val="1300"/>
              </a:spcBef>
            </a:pPr>
            <a:r>
              <a:rPr sz="1550" b="1">
                <a:solidFill>
                  <a:srgbClr val="1E293B"/>
                </a:solidFill>
              </a:rPr>
              <a:t>作业 3　建立个人同义替换词对本，本周新增20组（参考剑桥词汇表）</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12A594"/>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L07 · 笔记速记系统</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符号缩写体系：10个通用符号，覆盖80%的笔记需求</a:t>
            </a:r>
          </a:p>
          <a:p>
            <a:pPr>
              <a:spcBef>
                <a:spcPts val="1000"/>
              </a:spcBef>
            </a:pPr>
            <a:r>
              <a:rPr sz="1600">
                <a:solidFill>
                  <a:srgbClr val="CFDCF2"/>
                </a:solidFill>
              </a:rPr>
              <a:t>→ 边听边记的双任务协调技巧</a:t>
            </a:r>
          </a:p>
          <a:p>
            <a:pPr>
              <a:spcBef>
                <a:spcPts val="1000"/>
              </a:spcBef>
            </a:pPr>
            <a:r>
              <a:rPr sz="1600">
                <a:solidFill>
                  <a:srgbClr val="CFDCF2"/>
                </a:solidFill>
              </a:rPr>
              <a:t>→ 数字、日期、电话号码的速记规范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