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1463040"/>
            <a:ext cx="34134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0" b="1" i="0">
                <a:solidFill>
                  <a:srgbClr val="12A594"/>
                </a:solidFill>
                <a:latin typeface="Calibri"/>
              </a:rPr>
              <a:t>L04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3566160"/>
            <a:ext cx="34134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2A594"/>
                </a:solidFill>
                <a:latin typeface="Calibri"/>
              </a:rPr>
              <a:t>IELTS Listening 听力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7680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Section 3
学术对话攻略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749807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FDCF2"/>
                </a:solidFill>
                <a:latin typeface="Calibri"/>
              </a:rPr>
              <a:t>Section 3: Academic Discussion Mastery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669280"/>
            <a:ext cx="3840480" cy="54864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4243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第 4 节课 · 课时 90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本课流程  Lesson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44168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上节回顾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67128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85416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S3结构与特点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08376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5409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26664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MCQ多选题系统解法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9624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9534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67911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多人追踪技术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25880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344168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态度词识别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167128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21284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185416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例题精讲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008376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05409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026664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课堂练习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849624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89534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867911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小结作业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WARM-UP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上节回顾  Quick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493776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↺ S2地图题：方位词条件反射+铅笔追踪，跟丢找地标重定位</a:t>
            </a:r>
          </a:p>
          <a:p>
            <a:pPr>
              <a:spcBef>
                <a:spcPts val="1200"/>
              </a:spcBef>
            </a:pPr>
            <a:r>
              <a:rPr sz="1650">
                <a:solidFill>
                  <a:srgbClr val="1E293B"/>
                </a:solidFill>
              </a:rPr>
              <a:t>↺ S2匹配题：预读建词库+识别同义替换，整句说完再确认</a:t>
            </a:r>
          </a:p>
          <a:p>
            <a:pPr>
              <a:spcBef>
                <a:spcPts val="1200"/>
              </a:spcBef>
            </a:pPr>
            <a:r>
              <a:rPr sz="1650">
                <a:solidFill>
                  <a:srgbClr val="1E293B"/>
                </a:solidFill>
              </a:rPr>
              <a:t>↺ 信号词=话题转换：Moving on to/Before I finish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学习目标  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2A594"/>
                </a:solidFill>
                <a:latin typeface="Calibri"/>
              </a:rPr>
              <a:t>完成本课后，你将能够：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E293B"/>
                </a:solidFill>
              </a:rPr>
              <a:t>✦  掌握S3多选题(Choose TWO)的五步系统解法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建立2-4人说话人观点追踪的标注系统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识别S3最高频陷阱：观点归属混乱和条件限定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实现Section 3稳定6-7/10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A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🎯 深圳学生高频痛点 · S3失分最常见的三类原因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2A2A"/>
                </a:solidFill>
                <a:latin typeface="Calibri"/>
              </a:rPr>
              <a:t>❌ 常见误区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02A2A"/>
                </a:solidFill>
              </a:rPr>
              <a:t>✗ 多选题只选了一个(Choose TWO却只填一个)，或者填了三个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Amy说的观点写成了Tom的，说话人切换时张冠李戴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听到选项词就选，没等说完——是否定句或条件限定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192" y="1097280"/>
            <a:ext cx="36576" cy="521208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7A3D"/>
                </a:solidFill>
                <a:latin typeface="Calibri"/>
              </a:rPr>
              <a:t>✅ 正确做法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✓ 多选题做完立刻数：必须是两个字母才算完成，1个或3个都是0分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用T/A/S标注说话人，每人发言时边听边记缩写，观点分别追踪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选择题三步法：听到候选词→继续听→特别注意but/however→等整句确认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S3结构与特点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S3 Structure &amp;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Section 3的本质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2-4人学术讨论，最难的Section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参与人数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通常2人（学生+导师）或3-4人（小组讨论）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内容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项目讨论/实验设计/论文修改/小组作业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难度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深圳学生失分最多的Section；均分约5-6/10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题型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MCQ多选35%+单选30%+匹配20%+其他15%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最大难点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多人对话中观点归属混乱——是谁说的？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深圳学生注意：S3考的不是语言能力，是信息追踪能力——可以训练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S3典型题型：Choose 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最让深圳学生苦恼的题型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基本要求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从A/B/C/D/E中选两个；两个都对才得分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选项数量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通常5个选项选2个；有3个干扰选项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判断方式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每个选项单独判断；不靠感觉，不成组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常见失误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凭感觉选A和E；听到A词就选A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正确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每选项：录音支持→✓；录音否定→✗；未知→?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S3讨论内容的规律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段落一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介绍研究主题/项目背景；通常有填空或单选题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段落二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讨论研究方法；常考MCQ——哪些方法同意/不同意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段落三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结果讨论；常考态度题——对结果各有什么评价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段落四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未来计划/改进；常考配对——谁建议做什么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关键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题目通常按对话顺序出现——不会倒序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S3vs其他Section的核心差异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vs S1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S1是填空为主；S3是选择和配对为主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vs S2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S2是独白；S3有2-4人说话——追踪难度大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vs S4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S4是单人讲座；S3的难点在多人+态度判断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失分来源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S3约30%失分来自"听懂了但选错"——策略问题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提分策略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追踪技能训练比大量刷题更有效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例题：S3 Choose TWO基础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Q21-22: Choose TWO letters A-E.
Which TWO problems did they identify?
A.sample size  B.survey questions  C.data errors  D.time management  E.lit review
Script: "The main issue was the sample size — way too few participants.
And our literature review wasn't thorough enough."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Q21&amp;22: A and E
A: sample size✓(too few participants=small sample)
E: lit review✓(not thorough=incomplete)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每个选项单独判断：A→明确支持；E→明确支持；B/C/D→未提及→?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例题：S3观点配对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What does each student say about the methods?
A.needs more time  B.appropriate  C.too expensive  D.should be changed  E.well-designed
Q23:Tom→?  Q24:Amy→?
T:"The interviews were well-structured."
A:"I'm not sure about the surveys — we need to reconsider."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Q23:Tom→E(well-structured=well-designed)
Q24:Amy→D(reconsider=should be changed)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配对关键：明确谁在说话？Tom→Q23，Amy→Q24——说话人追踪决定配对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MCQ多选题系统解法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MCQ: Complete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Choose TWO五步解法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每步都必须，不能跳跃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Step1 预读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读完A-E；圈每选项最独特的词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Step2 分离判断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把A-E当成5道独立是/否题，不成组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Step3 标注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每选项旁写✓(支持)/✗(否定)/?(不确定)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Step4 确认两个✓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等两个选项都有明确✓才写答案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Step5 数量检查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最终：写了两个字母吗？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深圳学生注意：最大陷阱：选了两个≠对了——两个都需要有明确的录音支持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排除法策略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通过排除提高准确率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录音否定了某选项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立刻打✗，完全排除不再考虑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一个✓一个?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等待，?的答案可能后面还会提到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录音说"didn't change..."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涉及的选项全打✗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时间不够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从?中选概率最高的；绝不留空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数量铁律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做完立刻数：必须是2个字母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排除法实战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W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: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W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f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p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v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p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j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?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.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g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p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B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.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v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q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u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.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x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p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f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b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k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.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f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u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g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.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x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"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x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p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y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p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u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p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v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g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.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x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b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g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f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f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—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g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v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u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y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.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W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'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g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p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z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q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u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.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深圳学生注意：C: expert feedback✓
E: extended deadline✓
A,B: "didn't change"→✗
D: 未提→?
答案: C, 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Choose TWO常见失误详解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失误1 成组思考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A和E看起来"配"→错；每个选项独立判断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失误2 早下结论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听到C的词就选C，后面来了but否定→选错了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失误3 数量错误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最终写了3个字母→只计前2个；或写了1个→0分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失误4 未排除干扰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没有打✗的选项干扰最终判断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正确习惯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做完立刻数：2个字母？用✗划掉确定错误的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Choose TWO完整练习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Q25-26: Choose TWO: What do they agree needs improvement?
A.introduction  B.methodology  C.data analysis  D.conclusion  E.references
T:"The introduction is fine." A:"Agreed. But our methodology needs work."
A:"And the references aren't complete." T:"Yes — definitely."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A: Tom说fine→✗
B: Amy说needs work→✓; Tom没直接评论→?
E: Amy提references→✓; Tom同意→✓
答案: B, 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B: Amy✓, Tom?→但题目问"they agree"→B需要两人都同意→继续听Tom对B的反应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排除法：哪个选项被明确否定？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Q27-28: Choose TWO: What problems did they encounter?
A.time pressure  B.unclear instructions  C.sample size  D.budget  E.ethics approval
"We had a very tight deadline — really struggled with time.
The ethics approval process took much longer than expected too.
Budget wasn't an issue and instructions were perfectly clear."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A: time pressure✓(tight deadline)
E: ethics approval✓(took longer)
B: "perfectly clear"→✗
D: "wasn't an issue"→✗
C: 未提→?
答案: A, 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排除B(clear)和D(not an issue)后只剩A和E被明确支持→答案直接确定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多人对话追踪系统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Multi-Speaker Tracking 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说话人识别与标注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不知道谁在说=无法追踪观点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识别方式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名字+声音特征；说话人通常会互称名字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标注系统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草稿纸：T=Tom, A=Amy, S=Susan/导师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观点追踪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每人说话时：在对应字母旁记关键词/态度(+/-/?)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切换信号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Yeah.../Right.../But.../Actually... = 可能换说话人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实战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表格追踪：横轴=选项A-E，纵轴=说话人T/A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深圳学生注意：多人对话=信息追踪游戏；谁说了什么比说了什么更重要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观点vs事实vs态度的区分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S3的核心考察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事实陈述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数据/时间/结果——客观，无个人态度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观点表达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I think/I believe/It seems to me/In my view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强烈赞同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definitely/absolutely/exactly/couldn't agree more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部分赞同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to some extent/I see your point but.../it depends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明确反对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I disagree/That's not right/I'm not so sure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多人追踪表格练习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在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纸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上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建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追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踪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表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，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读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对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话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后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填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入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✓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✗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?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：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y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研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究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设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计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?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?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B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样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本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大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小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?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?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数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据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分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析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?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?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: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"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k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g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.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"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: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"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g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.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B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u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p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z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.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"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: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"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y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f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.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"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: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"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'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u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b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u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.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深圳学生注意：研究设计: A✓ T✓
样本大小: A? T✗
数据分析: A✓ T✗
Q: 两人都同意的? → 研究设计(A)
Q: 只有Amy同意的? → 数据分析(C)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导师vs学生的话语模式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导师说话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更权威；评价学生工作；用"have you considered/what about"提问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学生说话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更谦虚；用"I think/maybe/possibly"；会请教导师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讨论规律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学生提观点→导师评价→学生修正/坚持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观点归属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导师建议≠学生采纳；要听学生的回应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陷阱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导师否定学生的原始观点，原观点不是答案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导师-学生对话追踪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Q27:What does the tutor suggest?
Q28:What do students agree to change?
Tutor:"Your methodology is sound, but have you considered a focus group?"
Student A:"We hadn't thought of that — could work." B:"Yes, let's include it."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Q27: Using a focus group（导师建议）
Q28: Including a focus group（学生同意采纳）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导师建议≠学生行动；Q28问的是学生决定做什么——他们同意了→include 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态度词快速识别：练习判断真实态度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判断以下发言者的真实态度（+赞同/-反对/~中立）：
1. "That's an interesting idea, but I'm not sure it would work."
2. "Absolutely, I couldn't agree more — this is the right approach."
3. "It depends on how you look at it — there are pros and cons."
4. "I see your point, but the evidence doesn't really support that."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1. ~→- (That's interesting=礼貌；but后才是真态度=不确定/反对)
2. +(Absolutely+couldn't agree more=强烈赞同)
3. ~(中立/不确定)
4. -(I see your point=礼貌；but后=实际反对)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S3关键：礼貌语气后面的but/however才是真实态度——不要被礼貌迷惑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态度词与S3综合策略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Attitude Words &amp; S3 Strategy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态度识别词汇体系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不认识态度词=无法判断观点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强烈支持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definitely/certainly/absolutely/without doubt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部分支持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to some extent/fairly/reasonably/I suppose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中立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it depends/hard to say/could go either way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部分反对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not entirely convinced/not necessarily/I see your point but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强烈反对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definitely not/absolutely not/strongly disagree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深圳学生注意：听到态度词：立刻在选项旁标注+/-/~ (positive/negative/neutral)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S3时间管理与综合策略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S3的时间压力最大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预读时间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说明+间隙：读完所有选项，MCQ圈每选项关键词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每题时间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每道题最多2分钟；超时=跳过，不回头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Choose TWO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预留额外30秒确认第二个选项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配对题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先做确定的；不确定的最后统一处理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S3结束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立即翻S4；用20秒预读S4全部题目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S3综合陷阱识别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陷阱1 说话人混淆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未确认谁说的→用说话人缩写T/A/S标注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陷阱2 条件限定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"only if we have time"=不是确定计划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陷阱3 改变主意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先说A后说"actually B"→以B为准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陷阱4 礼貌语气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"That's interesting"≠同意——仅是礼貌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陷阱5 否定+选项词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"not really helpful"→选项有helpful→不能选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S3提分最快3个方法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方法1 说话人标注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做S3强制标注每个说话人缩写和态度，训练3周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方法2 MCQ排除法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每次：先打✗录音否定的，再从剩余中选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方法3 精析原文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每道错题：找原文→分析为何听错→分类失分原因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时间投入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这3个方法每周2-3小时，坚持4周→S3提升约2题/套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目标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均分5题→稳定7题：4-6周针对性训练即可实现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S3综合练习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Q29-30(Choose TWO): Which aspects do BOTH students find challenging?
A.data collection  B.writing style  C.referencing  D.time management  E.peer review
T:"I've struggled a lot with data collection." A:"Yes, same here."
T:"Referencing has been tricky for me." A:"I'm fine with that — writing style is my issue."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A: T✓ A✓ → 两人都同意 ✓
B: A✓ T? → 只有Amy
C: T✓ A✗ → 只有Tom
→ 只有A(data collection)两人都同意
题目问"BOTH find challenging"→只有A符合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注意：题目说BOTH——必须两个说话人都明确支持才算；只有一人支持不够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S3综合策略演练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Q31(Choose ONE): What is the main purpose of the focus group?
A.to test the survey  B.to collect additional data  C.to replace the interviews
T:"The focus group will let us verify whether the survey results hold up."
A:"Exactly — it's really a way of cross-checking what we already have."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Answer: A — to test/verify the survey
B: "additional data"不准确；C: 未提替代；A: verify=test(cross-checking=testing)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单选题：排除B(未提)和C(未提)后只剩A；verify=test是同义替换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高频词汇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Key Vocabulary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态度词：赞同类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definitely / certainly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肯定（强烈赞同）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absolutely / exactly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完全正确（强烈赞同）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I couldn't agree more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再同意不过了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that's a good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这是个好点（礼貌，未必真同意）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fair enough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好吧/合理（勉强接受）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to some extent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在某种程度上（部分赞同）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I think you're right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你说得对（赞同）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态度词：反对与中立类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I'm not sure about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我不确定（轻度反对）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I see your point, but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我理解，但...（转折=反对）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that's not quite right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不太对（直接反对）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I strongly disagree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我强烈不同意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it depends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要看情况（中立）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could go either 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两边都有可能（中立）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actually / in fact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实际上（通常引出不同意见）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S3学术讨论高频词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methodology /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研究方法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findings /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发现/结果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hypothesis / assumption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假设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validity / reliability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效度/信度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sample / participants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样本/参与者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implication / 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含义/影响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peer review / feedback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同行评审/反馈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S3题型对比：MCQ vs 配对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Choose TWO（5选2）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• 每选项独立判断✓✗?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两个✓才写答案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最后数：写了2个吗？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排除✗提高确信度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预读圈每选项关键词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每题预留2.5分钟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题目词≠录音词（同义替换）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79" y="1188720"/>
            <a:ext cx="5486400" cy="4572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配对题（观点归属）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19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• 建说话人追踪表格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每说话人一列(T/A/S)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每个选项旁标谁说的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态度词决定+/-/~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等整段说完再最终标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注意：礼貌赞同≠真同意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改主意=以后说的为准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方法精讲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Methods &amp; Models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Choose TWO五步满分解法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预读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读完A-E；圈每选项关键词；心中建词库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31135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85999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889503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231135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分离判断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596895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把5个选项当5道独立是/否题处理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82111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36975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3840479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182111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实时标注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547871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每选项旁写✓(录音明确支持)/✗(录音否定)/?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33087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87951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4791455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33087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等两个✓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498848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不要一个✓就急着写；等第二个确认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84063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138927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084063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数量检查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449823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最终：确认写了两个字母；一个或三个都是错的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多说话人观点追踪5步法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确认说话人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录音开始：确认几个人？各叫什么名字？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31135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85999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889503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231135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建追踪表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596895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草稿纸画：选项横轴 + 说话人纵轴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82111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36975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3840479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182111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实时标注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547871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每人发言：在对应格写✓✗?和关键词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33087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87951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4791455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33087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态度词警报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498848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听到definitely/not sure等→提高关注度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84063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138927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084063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题目对照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449823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填答案前：用追踪表核对"谁+什么观点"与题目匹配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S3 Choose TWO满分示范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题目：Q21-22: What problems did they identify?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追踪笔记：
A.样本: T:"too small"✓ A:"agreed"✓ → 两人支持 ✓
B.问题设计: T:? A:"questions were fine"✗ → Amy否定
C.数据: T:"data looked clean"✗ A:✗ → 两人否定
D.时间: T:? A:? → 不确定
E.文献: T:"not thorough"✓ A:✓ → 两人支持 ✓
Answer: A and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A594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A和E: 两人都✓→确认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C: 两人都✗→排除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B: Amy否定→排除; D: 两人都?→继续听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已有A和E两个✓→答案确定，不需要等D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S3配对题满分示范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题目：Q23-25: What does each person say?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说话人追踪：
Tom(T): "The timeline is too tight."
        → 时间紧张 → C.time constraints
Amy(A): "I think the research question is clear."
        → 研究问题好 → A.research question clear
Tutor(S): "The structure could be improved."
          → 结构需改进 → E.structure needs work
Q23 Tom→C  Q24 Amy→A  Q25 Tutor→E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A594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每说话人发言时立刻在姓名旁写关键词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Tom=时间→找"timeline/time constraint"选项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导师"could be improved"=需改进，不是赞扬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每人只有一个配对；配完后检查无重复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对比示范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MCQ: 直觉选 vs 系统选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靠直觉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486400" cy="45720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系统选法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5486400" cy="44805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86400" cy="448056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02A2A"/>
                </a:solidFill>
              </a:rPr>
              <a:t>✗ A和E看起来像答案，凭感觉选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听到A的词就选A，没继续听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选了两个字母，以为做对了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一个选项纠结超过2分钟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不知道已排除了哪些选项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7A3D"/>
                </a:solidFill>
              </a:rPr>
              <a:t>✓ 每选项独立判断，不联合思考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听到候选词→继续听→等完整句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两个✓都有明确录音支持才写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超时立刻标?继续，先做其他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排除✗选项，有效缩小范围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对比示范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追踪: 混乱 vs 清晰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不追踪说话人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486400" cy="45720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建立追踪系统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5486400" cy="44805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86400" cy="448056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02A2A"/>
                </a:solidFill>
              </a:rPr>
              <a:t>✗ 不确定这个观点是谁说的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听到观点就填，不管归属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两人态度相反时选错方向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导师和学生的说法混在一起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配对题全靠猜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7A3D"/>
                </a:solidFill>
              </a:rPr>
              <a:t>✓ 边听边在草稿纸写T:/A: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每个观点明确归属说话人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表格：选项×说话人=态度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导师建议vs学生采纳分开记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配对题用追踪表核对后填写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Practice Drills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练习1：态度词快速识别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听/读以下句子，判断说话人态度是+（正面）-（负面）还是~（中立）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"I definitely think the sample size needs to be increased." → 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"That's an interesting suggestion, but I'm not convinced." → 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"It depends on how you look at it." → 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"The data analysis is clearly flawed." → 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"I see your point — that could work, to some extent." → 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练习2：Choose TWO标注训练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用✓✗?标注每个选项，最后写两个答案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Choose TWO: What improvements did they make?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A.larger sample  B.better questions  C.focus group  D.extended time  E.expert review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T:"We added a focus group." A:"And we got an expert to check our analysis."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T:"We didn't change the sample size or the questions."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参考：A✗ B✗ C✓ D? E✓ → 答案=C, 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练习3：说话人追踪表格练习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建表格，边读边追踪Amy(A)和Tom(T)的态度（✓✗?）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A:"I think the methodology is solid." T:"I have some doubts about that."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A:"The sample size seems adequate." T:"Actually, it's too small."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A:"The findings are interesting." T:"Absolutely — I agree on that."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Q: 两人都同意的? → findings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Q: 只有Amy同意的? → methodology and sample size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练习4：MCQ排除法练习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先排除被录音否定的，再从剩余中选最佳答案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Choose ONE: Why did they change the research topic?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A.tutor suggestion  B.data unavailable  C.personal interest  D.time pressure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"We had plenty of time. And our original interest was still there."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"The tutor thought the original topic was too broad — we followed the advice."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排除D(plenty of time)和C(interest still there)→剩A和B→A✓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练习5：S3完整模拟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完整S3模拟：预读→追踪→MCQ三位一体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预读30秒：读完全部选项，MCQ圈关键词，配对确认说话人数量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听题时：同步建说话人追踪表格；MCQ用✓✗?实时标注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做完后：Choose TWO数量核对(必须2个)；配对核对(每人一个)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对照原文：每道错题找到答案句，分析失分原因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总结：MCQ/配对各对几题——找到弱项，下周专练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避坑指南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Pitfall Prevention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A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🎯 深圳学生高频痛点 · S3最典型的4类失分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2A2A"/>
                </a:solidFill>
                <a:latin typeface="Calibri"/>
              </a:rPr>
              <a:t>❌ 常见误区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02A2A"/>
                </a:solidFill>
              </a:rPr>
              <a:t>✗ Choose TWO只选了一个：题目要求两个，填一个=0分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Amy的观点写成Tom的：对话追踪混乱，张冠李戴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听到选项词立刻选：没等整句说完，后面来了否定词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导师建议=学生答案：导师建议不一定是学生会执行的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192" y="1097280"/>
            <a:ext cx="36576" cy="521208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7A3D"/>
                </a:solidFill>
                <a:latin typeface="Calibri"/>
              </a:rPr>
              <a:t>✅ 正确做法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✓ 做完Choose TWO立刻数：纸上写了几个字母？必须是2个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建说话人追踪表：草稿纸画T/A/S列，每个观点归属明确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三步确认：听到候选→继续听→整句说完无否定→写答案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配对题：问的是学生做什么→找学生的回应，不是导师建议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S3陷阱词汇速查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礼貌但不同意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"That's a good point" + but = 实际不同意，but后才是真观点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改变主意标志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actually/in fact/wait/I've changed my mind → 以后说的为准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条件限定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"only if..." / "as long as..." → 条件成立才成立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最终决定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"so we've decided to..." / "in the end..." → 这才是答案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否定+选项词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"not really helpful" → 不选"helpful"选项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深圳学生注意：遇到这5类信号词：立刻停止书写，继续听，等完整句子结束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S3备考策略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题型统计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做完S3统计MCQ/配对/填空各题型正确率，找最弱的专攻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说话人练习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每次练习强制标注说话人，形成习惯后提升速度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态度词积累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建立100个态度词词表：赞同/反对/中立各分类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精析优先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每错1题精析比多做2套更有价值：找原文→分析失分原因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目标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S3从均分5题→7题：需4-6周针对性训练，不是靠刷题量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S3 MCQ速记卡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Choose TWO铁律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每选项独立✓✗?标注；两个✓才写答案；最后数：必须是2个字母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排除法提效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录音明确否定的选项立刻打✗；从剩余中选，减少干扰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等整句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听到候选词→继续听→整句说完无否定→写；不要早下结论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92608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92608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数量第一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Choose TWO做完第一件事：数一下，写了几个字母？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S3说话人追踪速记卡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草稿纸建表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横轴=选项A-E；纵轴=说话人T/A/S；每格写✓✗?和关键词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态度词敏感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听到definitely/not sure/actually立刻提高警觉——态度词后是关键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礼貌≠同意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"That's interesting"不是赞同；等但是/补充才是真实态度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92608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92608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改变主意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先说A后说"actually B"→以B为准；actually是更正信号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自检清单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L04 自检清单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E293B"/>
                </a:solidFill>
              </a:rPr>
              <a:t>☐ 我知道Choose TWO的五步解法，且做完会数是否写了两个字母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我练习了说话人追踪表格，能区分Tom和Amy的不同观点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我识别了态度词：definitely/I'm not sure/that's interesting but...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我知道"导师建议"≠"学生答案"，配对时看学生的回应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我理解S3为什么难：是追踪技能问题，不是语言能力问题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L04 课堂小结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2A594"/>
                </a:solidFill>
                <a:latin typeface="Calibri"/>
              </a:rPr>
              <a:t>📌 本课核心要点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>
                <a:solidFill>
                  <a:srgbClr val="FFFFFF"/>
                </a:solidFill>
              </a:rPr>
              <a:t>✓  S3核心：说话人追踪+MCQ系统判断——两个技能同时运用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Choose TWO：每选项独立✓✗?；两个都明确支持才写；必须2个字母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说话人追踪：建表格；态度词=警报；礼貌≠同意；改变主意以后为准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96128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2A594"/>
                </a:solidFill>
                <a:latin typeface="Calibri"/>
              </a:rPr>
              <a:t>💎 一句话记住：S3不是语言能力，是追踪技能——从5→7分需要3-4周系统追踪训练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练习巩固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L04 课后作业  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A594"/>
                </a:solidFill>
                <a:latin typeface="Calibri"/>
              </a:rPr>
              <a:t>⏱ 建议用时：约55分钟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1E293B"/>
                </a:solidFill>
              </a:rPr>
              <a:t>作业 1　完成剑桥真题2套S3，强制建说话人追踪表格，统计正确率</a:t>
            </a:r>
          </a:p>
          <a:p>
            <a:pPr>
              <a:spcBef>
                <a:spcPts val="1300"/>
              </a:spcBef>
            </a:pPr>
            <a:r>
              <a:rPr sz="1550" b="1">
                <a:solidFill>
                  <a:srgbClr val="1E293B"/>
                </a:solidFill>
              </a:rPr>
              <a:t>作业 2　积累30个态度词（赞同/反对/中立各10个），制作闪卡</a:t>
            </a:r>
          </a:p>
          <a:p>
            <a:pPr>
              <a:spcBef>
                <a:spcPts val="1300"/>
              </a:spcBef>
            </a:pPr>
            <a:r>
              <a:rPr sz="1550" b="1">
                <a:solidFill>
                  <a:srgbClr val="1E293B"/>
                </a:solidFill>
              </a:rPr>
              <a:t>作业 3　精析本次S3所有错题：每题找原文句，分析是MCQ还是追踪失分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2A594"/>
                </a:solidFill>
                <a:latin typeface="Calibri"/>
              </a:rPr>
              <a:t>下节预告 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L05 · Section 4 学术讲座攻略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FDCF2"/>
                </a:solidFill>
              </a:rPr>
              <a:t>→ 笔记填空与摘要填空的专项技法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FDCF2"/>
                </a:solidFill>
              </a:rPr>
              <a:t>→ AWL学术词汇300个核心词的听辨策略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FDCF2"/>
                </a:solidFill>
              </a:rPr>
              <a:t>→ S4"跟丢后"的心理调适与追踪恢复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