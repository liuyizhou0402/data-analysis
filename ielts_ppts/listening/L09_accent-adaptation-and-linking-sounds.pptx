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778240" y="0"/>
            <a:ext cx="341345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0" y="1463040"/>
            <a:ext cx="3413455" cy="1828800"/>
          </a:xfrm>
          <a:prstGeom prst="rect">
            <a:avLst/>
          </a:prstGeom>
          <a:noFill/>
        </p:spPr>
        <p:txBody>
          <a:bodyPr wrap="square" anchor="t">
            <a:spAutoFit/>
          </a:bodyPr>
          <a:lstStyle/>
          <a:p>
            <a:pPr algn="ctr"/>
            <a:r>
              <a:rPr sz="12000" b="1" i="0">
                <a:solidFill>
                  <a:srgbClr val="12A594"/>
                </a:solidFill>
                <a:latin typeface="Calibri"/>
              </a:rPr>
              <a:t>L09</a:t>
            </a:r>
          </a:p>
        </p:txBody>
      </p:sp>
      <p:sp>
        <p:nvSpPr>
          <p:cNvPr id="6" name="TextBox 5"/>
          <p:cNvSpPr txBox="1"/>
          <p:nvPr/>
        </p:nvSpPr>
        <p:spPr>
          <a:xfrm>
            <a:off x="8778240" y="3566160"/>
            <a:ext cx="3413455" cy="731520"/>
          </a:xfrm>
          <a:prstGeom prst="rect">
            <a:avLst/>
          </a:prstGeom>
          <a:noFill/>
        </p:spPr>
        <p:txBody>
          <a:bodyPr wrap="square" anchor="t">
            <a:spAutoFit/>
          </a:bodyPr>
          <a:lstStyle/>
          <a:p>
            <a:pPr algn="ctr"/>
            <a:r>
              <a:rPr sz="3000" b="1" i="0">
                <a:solidFill>
                  <a:srgbClr val="FFFFFF"/>
                </a:solidFill>
                <a:latin typeface="Calibri"/>
              </a:rPr>
              <a:t>/ 10</a:t>
            </a:r>
          </a:p>
        </p:txBody>
      </p:sp>
      <p:sp>
        <p:nvSpPr>
          <p:cNvPr id="7" name="TextBox 6"/>
          <p:cNvSpPr txBox="1"/>
          <p:nvPr/>
        </p:nvSpPr>
        <p:spPr>
          <a:xfrm>
            <a:off x="777240" y="1280160"/>
            <a:ext cx="7680960" cy="640080"/>
          </a:xfrm>
          <a:prstGeom prst="rect">
            <a:avLst/>
          </a:prstGeom>
          <a:noFill/>
        </p:spPr>
        <p:txBody>
          <a:bodyPr wrap="square" anchor="t">
            <a:spAutoFit/>
          </a:bodyPr>
          <a:lstStyle/>
          <a:p>
            <a:pPr algn="l"/>
            <a:r>
              <a:rPr sz="2000" b="1" i="0">
                <a:solidFill>
                  <a:srgbClr val="12A594"/>
                </a:solidFill>
                <a:latin typeface="Calibri"/>
              </a:rPr>
              <a:t>IELTS Listening 听力</a:t>
            </a:r>
          </a:p>
        </p:txBody>
      </p:sp>
      <p:sp>
        <p:nvSpPr>
          <p:cNvPr id="8" name="TextBox 7"/>
          <p:cNvSpPr txBox="1"/>
          <p:nvPr/>
        </p:nvSpPr>
        <p:spPr>
          <a:xfrm>
            <a:off x="777240" y="1920240"/>
            <a:ext cx="7680960" cy="2194560"/>
          </a:xfrm>
          <a:prstGeom prst="rect">
            <a:avLst/>
          </a:prstGeom>
          <a:noFill/>
        </p:spPr>
        <p:txBody>
          <a:bodyPr wrap="square" anchor="t">
            <a:spAutoFit/>
          </a:bodyPr>
          <a:lstStyle/>
          <a:p>
            <a:pPr algn="l"/>
            <a:r>
              <a:rPr sz="4200" b="1" i="0">
                <a:solidFill>
                  <a:srgbClr val="FFFFFF"/>
                </a:solidFill>
                <a:latin typeface="Calibri"/>
              </a:rPr>
              <a:t>口音适应与连读</a:t>
            </a:r>
          </a:p>
        </p:txBody>
      </p:sp>
      <p:sp>
        <p:nvSpPr>
          <p:cNvPr id="9" name="TextBox 8"/>
          <p:cNvSpPr txBox="1"/>
          <p:nvPr/>
        </p:nvSpPr>
        <p:spPr>
          <a:xfrm>
            <a:off x="777240" y="4206240"/>
            <a:ext cx="7498079" cy="1097280"/>
          </a:xfrm>
          <a:prstGeom prst="rect">
            <a:avLst/>
          </a:prstGeom>
          <a:noFill/>
        </p:spPr>
        <p:txBody>
          <a:bodyPr wrap="square" anchor="t">
            <a:spAutoFit/>
          </a:bodyPr>
          <a:lstStyle/>
          <a:p>
            <a:pPr algn="l"/>
            <a:r>
              <a:rPr sz="1800" b="0" i="0">
                <a:solidFill>
                  <a:srgbClr val="CFDCF2"/>
                </a:solidFill>
                <a:latin typeface="Calibri"/>
              </a:rPr>
              <a:t>Accent Adaptation &amp; Linking</a:t>
            </a:r>
          </a:p>
        </p:txBody>
      </p:sp>
      <p:sp>
        <p:nvSpPr>
          <p:cNvPr id="10" name="Rounded Rectangle 9"/>
          <p:cNvSpPr/>
          <p:nvPr/>
        </p:nvSpPr>
        <p:spPr>
          <a:xfrm>
            <a:off x="777240" y="5669280"/>
            <a:ext cx="3840480" cy="54864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742432"/>
            <a:ext cx="3657600" cy="411480"/>
          </a:xfrm>
          <a:prstGeom prst="rect">
            <a:avLst/>
          </a:prstGeom>
          <a:noFill/>
        </p:spPr>
        <p:txBody>
          <a:bodyPr wrap="square" anchor="t">
            <a:spAutoFit/>
          </a:bodyPr>
          <a:lstStyle/>
          <a:p>
            <a:pPr algn="l"/>
            <a:r>
              <a:rPr sz="1300" b="1" i="0">
                <a:solidFill>
                  <a:srgbClr val="FFFFFF"/>
                </a:solidFill>
                <a:latin typeface="Calibri"/>
              </a:rPr>
              <a:t>第 9 节课 · 课时 90 分钟</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本课流程  Lesson Roadmap</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Rounded Rectangle 6"/>
          <p:cNvSpPr/>
          <p:nvPr/>
        </p:nvSpPr>
        <p:spPr>
          <a:xfrm>
            <a:off x="548640" y="1325880"/>
            <a:ext cx="566928" cy="566928"/>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566928" cy="457200"/>
          </a:xfrm>
          <a:prstGeom prst="rect">
            <a:avLst/>
          </a:prstGeom>
          <a:noFill/>
        </p:spPr>
        <p:txBody>
          <a:bodyPr wrap="square" anchor="t">
            <a:spAutoFit/>
          </a:bodyPr>
          <a:lstStyle/>
          <a:p>
            <a:pPr algn="ctr"/>
            <a:r>
              <a:rPr sz="2000" b="1" i="0">
                <a:solidFill>
                  <a:srgbClr val="FFFFFF"/>
                </a:solidFill>
                <a:latin typeface="Calibri"/>
              </a:rPr>
              <a:t>1</a:t>
            </a:r>
          </a:p>
        </p:txBody>
      </p:sp>
      <p:sp>
        <p:nvSpPr>
          <p:cNvPr id="9" name="TextBox 8"/>
          <p:cNvSpPr txBox="1"/>
          <p:nvPr/>
        </p:nvSpPr>
        <p:spPr>
          <a:xfrm>
            <a:off x="1280160" y="1344168"/>
            <a:ext cx="4937760" cy="731520"/>
          </a:xfrm>
          <a:prstGeom prst="rect">
            <a:avLst/>
          </a:prstGeom>
          <a:noFill/>
        </p:spPr>
        <p:txBody>
          <a:bodyPr wrap="square" anchor="ctr">
            <a:spAutoFit/>
          </a:bodyPr>
          <a:lstStyle/>
          <a:p>
            <a:pPr algn="l"/>
            <a:r>
              <a:rPr sz="1450" b="1" i="0">
                <a:solidFill>
                  <a:srgbClr val="1E293B"/>
                </a:solidFill>
                <a:latin typeface="Calibri"/>
              </a:rPr>
              <a:t>英式/澳式口音特征</a:t>
            </a:r>
          </a:p>
        </p:txBody>
      </p:sp>
      <p:sp>
        <p:nvSpPr>
          <p:cNvPr id="10" name="Rounded Rectangle 9"/>
          <p:cNvSpPr/>
          <p:nvPr/>
        </p:nvSpPr>
        <p:spPr>
          <a:xfrm>
            <a:off x="548640" y="2167128"/>
            <a:ext cx="566928" cy="566928"/>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212848"/>
            <a:ext cx="566928" cy="457200"/>
          </a:xfrm>
          <a:prstGeom prst="rect">
            <a:avLst/>
          </a:prstGeom>
          <a:noFill/>
        </p:spPr>
        <p:txBody>
          <a:bodyPr wrap="square" anchor="t">
            <a:spAutoFit/>
          </a:bodyPr>
          <a:lstStyle/>
          <a:p>
            <a:pPr algn="ctr"/>
            <a:r>
              <a:rPr sz="2000" b="1" i="0">
                <a:solidFill>
                  <a:srgbClr val="FFFFFF"/>
                </a:solidFill>
                <a:latin typeface="Calibri"/>
              </a:rPr>
              <a:t>2</a:t>
            </a:r>
          </a:p>
        </p:txBody>
      </p:sp>
      <p:sp>
        <p:nvSpPr>
          <p:cNvPr id="12" name="TextBox 11"/>
          <p:cNvSpPr txBox="1"/>
          <p:nvPr/>
        </p:nvSpPr>
        <p:spPr>
          <a:xfrm>
            <a:off x="1280160" y="2185416"/>
            <a:ext cx="4937760" cy="731520"/>
          </a:xfrm>
          <a:prstGeom prst="rect">
            <a:avLst/>
          </a:prstGeom>
          <a:noFill/>
        </p:spPr>
        <p:txBody>
          <a:bodyPr wrap="square" anchor="ctr">
            <a:spAutoFit/>
          </a:bodyPr>
          <a:lstStyle/>
          <a:p>
            <a:pPr algn="l"/>
            <a:r>
              <a:rPr sz="1450" b="1" i="0">
                <a:solidFill>
                  <a:srgbClr val="1E293B"/>
                </a:solidFill>
                <a:latin typeface="Calibri"/>
              </a:rPr>
              <a:t>元音系统对比</a:t>
            </a:r>
          </a:p>
        </p:txBody>
      </p:sp>
      <p:sp>
        <p:nvSpPr>
          <p:cNvPr id="13" name="Rounded Rectangle 12"/>
          <p:cNvSpPr/>
          <p:nvPr/>
        </p:nvSpPr>
        <p:spPr>
          <a:xfrm>
            <a:off x="548640" y="3008376"/>
            <a:ext cx="566928" cy="566928"/>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054096"/>
            <a:ext cx="566928" cy="457200"/>
          </a:xfrm>
          <a:prstGeom prst="rect">
            <a:avLst/>
          </a:prstGeom>
          <a:noFill/>
        </p:spPr>
        <p:txBody>
          <a:bodyPr wrap="square" anchor="t">
            <a:spAutoFit/>
          </a:bodyPr>
          <a:lstStyle/>
          <a:p>
            <a:pPr algn="ctr"/>
            <a:r>
              <a:rPr sz="2000" b="1" i="0">
                <a:solidFill>
                  <a:srgbClr val="FFFFFF"/>
                </a:solidFill>
                <a:latin typeface="Calibri"/>
              </a:rPr>
              <a:t>3</a:t>
            </a:r>
          </a:p>
        </p:txBody>
      </p:sp>
      <p:sp>
        <p:nvSpPr>
          <p:cNvPr id="15" name="TextBox 14"/>
          <p:cNvSpPr txBox="1"/>
          <p:nvPr/>
        </p:nvSpPr>
        <p:spPr>
          <a:xfrm>
            <a:off x="1280160" y="3026664"/>
            <a:ext cx="4937760" cy="731520"/>
          </a:xfrm>
          <a:prstGeom prst="rect">
            <a:avLst/>
          </a:prstGeom>
          <a:noFill/>
        </p:spPr>
        <p:txBody>
          <a:bodyPr wrap="square" anchor="ctr">
            <a:spAutoFit/>
          </a:bodyPr>
          <a:lstStyle/>
          <a:p>
            <a:pPr algn="l"/>
            <a:r>
              <a:rPr sz="1450" b="1" i="0">
                <a:solidFill>
                  <a:srgbClr val="1E293B"/>
                </a:solidFill>
                <a:latin typeface="Calibri"/>
              </a:rPr>
              <a:t>连读规则</a:t>
            </a:r>
          </a:p>
        </p:txBody>
      </p:sp>
      <p:sp>
        <p:nvSpPr>
          <p:cNvPr id="16" name="Rounded Rectangle 15"/>
          <p:cNvSpPr/>
          <p:nvPr/>
        </p:nvSpPr>
        <p:spPr>
          <a:xfrm>
            <a:off x="548640" y="3849624"/>
            <a:ext cx="566928" cy="566928"/>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895344"/>
            <a:ext cx="566928" cy="457200"/>
          </a:xfrm>
          <a:prstGeom prst="rect">
            <a:avLst/>
          </a:prstGeom>
          <a:noFill/>
        </p:spPr>
        <p:txBody>
          <a:bodyPr wrap="square" anchor="t">
            <a:spAutoFit/>
          </a:bodyPr>
          <a:lstStyle/>
          <a:p>
            <a:pPr algn="ctr"/>
            <a:r>
              <a:rPr sz="2000" b="1" i="0">
                <a:solidFill>
                  <a:srgbClr val="FFFFFF"/>
                </a:solidFill>
                <a:latin typeface="Calibri"/>
              </a:rPr>
              <a:t>4</a:t>
            </a:r>
          </a:p>
        </p:txBody>
      </p:sp>
      <p:sp>
        <p:nvSpPr>
          <p:cNvPr id="18" name="TextBox 17"/>
          <p:cNvSpPr txBox="1"/>
          <p:nvPr/>
        </p:nvSpPr>
        <p:spPr>
          <a:xfrm>
            <a:off x="1280160" y="3867911"/>
            <a:ext cx="4937760" cy="731520"/>
          </a:xfrm>
          <a:prstGeom prst="rect">
            <a:avLst/>
          </a:prstGeom>
          <a:noFill/>
        </p:spPr>
        <p:txBody>
          <a:bodyPr wrap="square" anchor="ctr">
            <a:spAutoFit/>
          </a:bodyPr>
          <a:lstStyle/>
          <a:p>
            <a:pPr algn="l"/>
            <a:r>
              <a:rPr sz="1450" b="1" i="0">
                <a:solidFill>
                  <a:srgbClr val="1E293B"/>
                </a:solidFill>
                <a:latin typeface="Calibri"/>
              </a:rPr>
              <a:t>弱读与吞音</a:t>
            </a:r>
          </a:p>
        </p:txBody>
      </p:sp>
      <p:sp>
        <p:nvSpPr>
          <p:cNvPr id="19" name="Rounded Rectangle 18"/>
          <p:cNvSpPr/>
          <p:nvPr/>
        </p:nvSpPr>
        <p:spPr>
          <a:xfrm>
            <a:off x="6400800" y="1325880"/>
            <a:ext cx="566928" cy="566928"/>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1371600"/>
            <a:ext cx="566928" cy="457200"/>
          </a:xfrm>
          <a:prstGeom prst="rect">
            <a:avLst/>
          </a:prstGeom>
          <a:noFill/>
        </p:spPr>
        <p:txBody>
          <a:bodyPr wrap="square" anchor="t">
            <a:spAutoFit/>
          </a:bodyPr>
          <a:lstStyle/>
          <a:p>
            <a:pPr algn="ctr"/>
            <a:r>
              <a:rPr sz="2000" b="1" i="0">
                <a:solidFill>
                  <a:srgbClr val="FFFFFF"/>
                </a:solidFill>
                <a:latin typeface="Calibri"/>
              </a:rPr>
              <a:t>5</a:t>
            </a:r>
          </a:p>
        </p:txBody>
      </p:sp>
      <p:sp>
        <p:nvSpPr>
          <p:cNvPr id="21" name="TextBox 20"/>
          <p:cNvSpPr txBox="1"/>
          <p:nvPr/>
        </p:nvSpPr>
        <p:spPr>
          <a:xfrm>
            <a:off x="7132320" y="1344168"/>
            <a:ext cx="4937760" cy="731520"/>
          </a:xfrm>
          <a:prstGeom prst="rect">
            <a:avLst/>
          </a:prstGeom>
          <a:noFill/>
        </p:spPr>
        <p:txBody>
          <a:bodyPr wrap="square" anchor="ctr">
            <a:spAutoFit/>
          </a:bodyPr>
          <a:lstStyle/>
          <a:p>
            <a:pPr algn="l"/>
            <a:r>
              <a:rPr sz="1450" b="1" i="0">
                <a:solidFill>
                  <a:srgbClr val="1E293B"/>
                </a:solidFill>
                <a:latin typeface="Calibri"/>
              </a:rPr>
              <a:t>口音词汇表</a:t>
            </a:r>
          </a:p>
        </p:txBody>
      </p:sp>
      <p:sp>
        <p:nvSpPr>
          <p:cNvPr id="22" name="Rounded Rectangle 21"/>
          <p:cNvSpPr/>
          <p:nvPr/>
        </p:nvSpPr>
        <p:spPr>
          <a:xfrm>
            <a:off x="6400800" y="2167128"/>
            <a:ext cx="566928" cy="566928"/>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2212848"/>
            <a:ext cx="566928" cy="457200"/>
          </a:xfrm>
          <a:prstGeom prst="rect">
            <a:avLst/>
          </a:prstGeom>
          <a:noFill/>
        </p:spPr>
        <p:txBody>
          <a:bodyPr wrap="square" anchor="t">
            <a:spAutoFit/>
          </a:bodyPr>
          <a:lstStyle/>
          <a:p>
            <a:pPr algn="ctr"/>
            <a:r>
              <a:rPr sz="2000" b="1" i="0">
                <a:solidFill>
                  <a:srgbClr val="FFFFFF"/>
                </a:solidFill>
                <a:latin typeface="Calibri"/>
              </a:rPr>
              <a:t>6</a:t>
            </a:r>
          </a:p>
        </p:txBody>
      </p:sp>
      <p:sp>
        <p:nvSpPr>
          <p:cNvPr id="24" name="TextBox 23"/>
          <p:cNvSpPr txBox="1"/>
          <p:nvPr/>
        </p:nvSpPr>
        <p:spPr>
          <a:xfrm>
            <a:off x="7132320" y="2185416"/>
            <a:ext cx="4937760" cy="731520"/>
          </a:xfrm>
          <a:prstGeom prst="rect">
            <a:avLst/>
          </a:prstGeom>
          <a:noFill/>
        </p:spPr>
        <p:txBody>
          <a:bodyPr wrap="square" anchor="ctr">
            <a:spAutoFit/>
          </a:bodyPr>
          <a:lstStyle/>
          <a:p>
            <a:pPr algn="l"/>
            <a:r>
              <a:rPr sz="1450" b="1" i="0">
                <a:solidFill>
                  <a:srgbClr val="1E293B"/>
                </a:solidFill>
                <a:latin typeface="Calibri"/>
              </a:rPr>
              <a:t>口音训练步骤</a:t>
            </a:r>
          </a:p>
        </p:txBody>
      </p:sp>
      <p:sp>
        <p:nvSpPr>
          <p:cNvPr id="25" name="Rounded Rectangle 24"/>
          <p:cNvSpPr/>
          <p:nvPr/>
        </p:nvSpPr>
        <p:spPr>
          <a:xfrm>
            <a:off x="6400800" y="3008376"/>
            <a:ext cx="566928" cy="566928"/>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3054096"/>
            <a:ext cx="566928" cy="457200"/>
          </a:xfrm>
          <a:prstGeom prst="rect">
            <a:avLst/>
          </a:prstGeom>
          <a:noFill/>
        </p:spPr>
        <p:txBody>
          <a:bodyPr wrap="square" anchor="t">
            <a:spAutoFit/>
          </a:bodyPr>
          <a:lstStyle/>
          <a:p>
            <a:pPr algn="ctr"/>
            <a:r>
              <a:rPr sz="2000" b="1" i="0">
                <a:solidFill>
                  <a:srgbClr val="FFFFFF"/>
                </a:solidFill>
                <a:latin typeface="Calibri"/>
              </a:rPr>
              <a:t>7</a:t>
            </a:r>
          </a:p>
        </p:txBody>
      </p:sp>
      <p:sp>
        <p:nvSpPr>
          <p:cNvPr id="27" name="TextBox 26"/>
          <p:cNvSpPr txBox="1"/>
          <p:nvPr/>
        </p:nvSpPr>
        <p:spPr>
          <a:xfrm>
            <a:off x="7132320" y="3026664"/>
            <a:ext cx="4937760" cy="731520"/>
          </a:xfrm>
          <a:prstGeom prst="rect">
            <a:avLst/>
          </a:prstGeom>
          <a:noFill/>
        </p:spPr>
        <p:txBody>
          <a:bodyPr wrap="square" anchor="ctr">
            <a:spAutoFit/>
          </a:bodyPr>
          <a:lstStyle/>
          <a:p>
            <a:pPr algn="l"/>
            <a:r>
              <a:rPr sz="1450" b="1" i="0">
                <a:solidFill>
                  <a:srgbClr val="1E293B"/>
                </a:solidFill>
                <a:latin typeface="Calibri"/>
              </a:rPr>
              <a:t>课堂练习</a:t>
            </a:r>
          </a:p>
        </p:txBody>
      </p:sp>
      <p:sp>
        <p:nvSpPr>
          <p:cNvPr id="28" name="Rounded Rectangle 27"/>
          <p:cNvSpPr/>
          <p:nvPr/>
        </p:nvSpPr>
        <p:spPr>
          <a:xfrm>
            <a:off x="6400800" y="3849624"/>
            <a:ext cx="566928" cy="566928"/>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0" y="3895344"/>
            <a:ext cx="566928" cy="457200"/>
          </a:xfrm>
          <a:prstGeom prst="rect">
            <a:avLst/>
          </a:prstGeom>
          <a:noFill/>
        </p:spPr>
        <p:txBody>
          <a:bodyPr wrap="square" anchor="t">
            <a:spAutoFit/>
          </a:bodyPr>
          <a:lstStyle/>
          <a:p>
            <a:pPr algn="ctr"/>
            <a:r>
              <a:rPr sz="2000" b="1" i="0">
                <a:solidFill>
                  <a:srgbClr val="FFFFFF"/>
                </a:solidFill>
                <a:latin typeface="Calibri"/>
              </a:rPr>
              <a:t>8</a:t>
            </a:r>
          </a:p>
        </p:txBody>
      </p:sp>
      <p:sp>
        <p:nvSpPr>
          <p:cNvPr id="30" name="TextBox 29"/>
          <p:cNvSpPr txBox="1"/>
          <p:nvPr/>
        </p:nvSpPr>
        <p:spPr>
          <a:xfrm>
            <a:off x="7132320" y="3867911"/>
            <a:ext cx="4937760" cy="731520"/>
          </a:xfrm>
          <a:prstGeom prst="rect">
            <a:avLst/>
          </a:prstGeom>
          <a:noFill/>
        </p:spPr>
        <p:txBody>
          <a:bodyPr wrap="square" anchor="ctr">
            <a:spAutoFit/>
          </a:bodyPr>
          <a:lstStyle/>
          <a:p>
            <a:pPr algn="l"/>
            <a:r>
              <a:rPr sz="1450" b="1" i="0">
                <a:solidFill>
                  <a:srgbClr val="1E293B"/>
                </a:solidFill>
                <a:latin typeface="Calibri"/>
              </a:rPr>
              <a:t>小结作业</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L08回顾：六大陷阱核心要点</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4572000"/>
          </a:xfrm>
          <a:prstGeom prst="rect">
            <a:avLst/>
          </a:prstGeom>
          <a:noFill/>
        </p:spPr>
        <p:txBody>
          <a:bodyPr wrap="square">
            <a:spAutoFit/>
          </a:bodyPr>
          <a:lstStyle/>
          <a:p>
            <a:r>
              <a:rPr sz="1850" b="1">
                <a:solidFill>
                  <a:srgbClr val="0F4C5C"/>
                </a:solidFill>
              </a:rPr>
              <a:t>• 更正型</a:t>
            </a:r>
          </a:p>
          <a:p>
            <a:pPr>
              <a:spcBef>
                <a:spcPts val="100"/>
              </a:spcBef>
            </a:pPr>
            <a:r>
              <a:rPr sz="1550">
                <a:solidFill>
                  <a:srgbClr val="556075"/>
                </a:solidFill>
              </a:rPr>
              <a:t>   actually/sorry/I mean → 听到信号词立刻划掉前答案</a:t>
            </a:r>
          </a:p>
          <a:p>
            <a:pPr>
              <a:spcBef>
                <a:spcPts val="1000"/>
              </a:spcBef>
            </a:pPr>
            <a:r>
              <a:rPr sz="1850" b="1">
                <a:solidFill>
                  <a:srgbClr val="0F4C5C"/>
                </a:solidFill>
              </a:rPr>
              <a:t>• 否定型</a:t>
            </a:r>
          </a:p>
          <a:p>
            <a:pPr>
              <a:spcBef>
                <a:spcPts val="100"/>
              </a:spcBef>
            </a:pPr>
            <a:r>
              <a:rPr sz="1550">
                <a:solidFill>
                  <a:srgbClr val="556075"/>
                </a:solidFill>
              </a:rPr>
              <a:t>   not/never/without → 否定词后内容不是答案</a:t>
            </a:r>
          </a:p>
          <a:p>
            <a:pPr>
              <a:spcBef>
                <a:spcPts val="1000"/>
              </a:spcBef>
            </a:pPr>
            <a:r>
              <a:rPr sz="1850" b="1">
                <a:solidFill>
                  <a:srgbClr val="0F4C5C"/>
                </a:solidFill>
              </a:rPr>
              <a:t>• 条件型</a:t>
            </a:r>
          </a:p>
          <a:p>
            <a:pPr>
              <a:spcBef>
                <a:spcPts val="100"/>
              </a:spcBef>
            </a:pPr>
            <a:r>
              <a:rPr sz="1550">
                <a:solidFill>
                  <a:srgbClr val="556075"/>
                </a:solidFill>
              </a:rPr>
              <a:t>   if/unless/only if → 等条件确认再写答案</a:t>
            </a:r>
          </a:p>
          <a:p>
            <a:pPr>
              <a:spcBef>
                <a:spcPts val="1000"/>
              </a:spcBef>
            </a:pPr>
            <a:r>
              <a:rPr sz="1850" b="1">
                <a:solidFill>
                  <a:srgbClr val="0F4C5C"/>
                </a:solidFill>
              </a:rPr>
              <a:t>• 复合型</a:t>
            </a:r>
          </a:p>
          <a:p>
            <a:pPr>
              <a:spcBef>
                <a:spcPts val="100"/>
              </a:spcBef>
            </a:pPr>
            <a:r>
              <a:rPr sz="1550">
                <a:solidFill>
                  <a:srgbClr val="556075"/>
                </a:solidFill>
              </a:rPr>
              <a:t>   多信号词叠加 → 等完整逻辑链说完再写</a:t>
            </a:r>
          </a:p>
        </p:txBody>
      </p:sp>
      <p:sp>
        <p:nvSpPr>
          <p:cNvPr id="8" name="Rectangle 7"/>
          <p:cNvSpPr/>
          <p:nvPr/>
        </p:nvSpPr>
        <p:spPr>
          <a:xfrm>
            <a:off x="548640" y="5989320"/>
            <a:ext cx="11064240" cy="548640"/>
          </a:xfrm>
          <a:prstGeom prst="rect">
            <a:avLst/>
          </a:prstGeom>
          <a:solidFill>
            <a:srgbClr val="FD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035040"/>
            <a:ext cx="10698480" cy="457200"/>
          </a:xfrm>
          <a:prstGeom prst="rect">
            <a:avLst/>
          </a:prstGeom>
          <a:noFill/>
        </p:spPr>
        <p:txBody>
          <a:bodyPr wrap="square" anchor="ctr">
            <a:spAutoFit/>
          </a:bodyPr>
          <a:lstStyle/>
          <a:p>
            <a:pPr algn="l"/>
            <a:r>
              <a:rPr sz="1250" b="0" i="1">
                <a:solidFill>
                  <a:srgbClr val="C02A2A"/>
                </a:solidFill>
                <a:latin typeface="Calibri"/>
              </a:rPr>
              <a:t>⚠ 深圳学生注意：本节课目标：适应英式/澳式口音，掌握连读规则，让"听不懂"变为"听得清"</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学习目标  Learning Objectives</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548640" y="1188720"/>
            <a:ext cx="10972800" cy="457200"/>
          </a:xfrm>
          <a:prstGeom prst="rect">
            <a:avLst/>
          </a:prstGeom>
          <a:noFill/>
        </p:spPr>
        <p:txBody>
          <a:bodyPr wrap="square" anchor="t">
            <a:spAutoFit/>
          </a:bodyPr>
          <a:lstStyle/>
          <a:p>
            <a:pPr algn="l"/>
            <a:r>
              <a:rPr sz="1600" b="1" i="0">
                <a:solidFill>
                  <a:srgbClr val="12A594"/>
                </a:solidFill>
                <a:latin typeface="Calibri"/>
              </a:rPr>
              <a:t>完成本课后，你将能够：</a:t>
            </a:r>
          </a:p>
        </p:txBody>
      </p:sp>
      <p:sp>
        <p:nvSpPr>
          <p:cNvPr id="8" name="TextBox 7"/>
          <p:cNvSpPr txBox="1"/>
          <p:nvPr/>
        </p:nvSpPr>
        <p:spPr>
          <a:xfrm>
            <a:off x="640080" y="1828800"/>
            <a:ext cx="10972800" cy="4572000"/>
          </a:xfrm>
          <a:prstGeom prst="rect">
            <a:avLst/>
          </a:prstGeom>
          <a:noFill/>
        </p:spPr>
        <p:txBody>
          <a:bodyPr wrap="square">
            <a:spAutoFit/>
          </a:bodyPr>
          <a:lstStyle/>
          <a:p>
            <a:r>
              <a:rPr sz="1800">
                <a:solidFill>
                  <a:srgbClr val="1E293B"/>
                </a:solidFill>
              </a:rPr>
              <a:t>✦  识别英式和澳式口音的5大核心特征</a:t>
            </a:r>
          </a:p>
          <a:p>
            <a:pPr>
              <a:spcBef>
                <a:spcPts val="1400"/>
              </a:spcBef>
            </a:pPr>
            <a:r>
              <a:rPr sz="1800">
                <a:solidFill>
                  <a:srgbClr val="1E293B"/>
                </a:solidFill>
              </a:rPr>
              <a:t>✦  掌握5种连读规则及其在雅思听力中的应用</a:t>
            </a:r>
          </a:p>
          <a:p>
            <a:pPr>
              <a:spcBef>
                <a:spcPts val="1400"/>
              </a:spcBef>
            </a:pPr>
            <a:r>
              <a:rPr sz="1800">
                <a:solidFill>
                  <a:srgbClr val="1E293B"/>
                </a:solidFill>
              </a:rPr>
              <a:t>✦  能辨认弱读形式（schwa音/辅音省略）</a:t>
            </a:r>
          </a:p>
          <a:p>
            <a:pPr>
              <a:spcBef>
                <a:spcPts val="1400"/>
              </a:spcBef>
            </a:pPr>
            <a:r>
              <a:rPr sz="1800">
                <a:solidFill>
                  <a:srgbClr val="1E293B"/>
                </a:solidFill>
              </a:rPr>
              <a:t>✦  建立200个口音适应词汇的认知库</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7A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000" b="1" i="0">
                <a:solidFill>
                  <a:srgbClr val="FFFFFF"/>
                </a:solidFill>
                <a:latin typeface="Calibri"/>
              </a:rPr>
              <a:t>🎯 深圳学生高频痛点 · 深圳学生的口音适应三大痛点</a:t>
            </a:r>
          </a:p>
        </p:txBody>
      </p:sp>
      <p:sp>
        <p:nvSpPr>
          <p:cNvPr id="6" name="TextBox 5"/>
          <p:cNvSpPr txBox="1"/>
          <p:nvPr/>
        </p:nvSpPr>
        <p:spPr>
          <a:xfrm>
            <a:off x="548640" y="1143000"/>
            <a:ext cx="5486400" cy="411480"/>
          </a:xfrm>
          <a:prstGeom prst="rect">
            <a:avLst/>
          </a:prstGeom>
          <a:noFill/>
        </p:spPr>
        <p:txBody>
          <a:bodyPr wrap="square" anchor="t">
            <a:spAutoFit/>
          </a:bodyPr>
          <a:lstStyle/>
          <a:p>
            <a:pPr algn="l"/>
            <a:r>
              <a:rPr sz="1500" b="1" i="0">
                <a:solidFill>
                  <a:srgbClr val="C02A2A"/>
                </a:solidFill>
                <a:latin typeface="Calibri"/>
              </a:rPr>
              <a:t>❌ 常见误区</a:t>
            </a:r>
          </a:p>
        </p:txBody>
      </p:sp>
      <p:sp>
        <p:nvSpPr>
          <p:cNvPr id="7" name="TextBox 6"/>
          <p:cNvSpPr txBox="1"/>
          <p:nvPr/>
        </p:nvSpPr>
        <p:spPr>
          <a:xfrm>
            <a:off x="548640" y="1645920"/>
            <a:ext cx="5486400" cy="4572000"/>
          </a:xfrm>
          <a:prstGeom prst="rect">
            <a:avLst/>
          </a:prstGeom>
          <a:noFill/>
        </p:spPr>
        <p:txBody>
          <a:bodyPr wrap="square">
            <a:spAutoFit/>
          </a:bodyPr>
          <a:lstStyle/>
          <a:p>
            <a:r>
              <a:rPr sz="1400">
                <a:solidFill>
                  <a:srgbClr val="C02A2A"/>
                </a:solidFill>
              </a:rPr>
              <a:t>✗ 美式耳朵听英式口音：学了多年美式英语，雅思却考英式+澳式，/ɑː/听成/æ/，/ɒ/听成/ɑː/</a:t>
            </a:r>
          </a:p>
          <a:p>
            <a:pPr>
              <a:spcBef>
                <a:spcPts val="800"/>
              </a:spcBef>
            </a:pPr>
            <a:r>
              <a:rPr sz="1400">
                <a:solidFill>
                  <a:srgbClr val="C02A2A"/>
                </a:solidFill>
              </a:rPr>
              <a:t>✗ 连读导致词边界消失："want to"→"wanna"/"did you"→"didja"，分不出是几个词</a:t>
            </a:r>
          </a:p>
          <a:p>
            <a:pPr>
              <a:spcBef>
                <a:spcPts val="800"/>
              </a:spcBef>
            </a:pPr>
            <a:r>
              <a:rPr sz="1400">
                <a:solidFill>
                  <a:srgbClr val="C02A2A"/>
                </a:solidFill>
              </a:rPr>
              <a:t>✗ 弱读被跳过：虚词被弱读到几乎消失（a/the/of），核心词前的这些词听不清导致误判答案</a:t>
            </a:r>
          </a:p>
        </p:txBody>
      </p:sp>
      <p:sp>
        <p:nvSpPr>
          <p:cNvPr id="8" name="Rectangle 7"/>
          <p:cNvSpPr/>
          <p:nvPr/>
        </p:nvSpPr>
        <p:spPr>
          <a:xfrm>
            <a:off x="6108192" y="1097280"/>
            <a:ext cx="36576" cy="5212080"/>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143000"/>
            <a:ext cx="5486400" cy="411480"/>
          </a:xfrm>
          <a:prstGeom prst="rect">
            <a:avLst/>
          </a:prstGeom>
          <a:noFill/>
        </p:spPr>
        <p:txBody>
          <a:bodyPr wrap="square" anchor="t">
            <a:spAutoFit/>
          </a:bodyPr>
          <a:lstStyle/>
          <a:p>
            <a:pPr algn="l"/>
            <a:r>
              <a:rPr sz="1500" b="1" i="0">
                <a:solidFill>
                  <a:srgbClr val="1B7A3D"/>
                </a:solidFill>
                <a:latin typeface="Calibri"/>
              </a:rPr>
              <a:t>✅ 正确做法</a:t>
            </a:r>
          </a:p>
        </p:txBody>
      </p:sp>
      <p:sp>
        <p:nvSpPr>
          <p:cNvPr id="10" name="TextBox 9"/>
          <p:cNvSpPr txBox="1"/>
          <p:nvPr/>
        </p:nvSpPr>
        <p:spPr>
          <a:xfrm>
            <a:off x="6309360" y="1645920"/>
            <a:ext cx="5394960" cy="4572000"/>
          </a:xfrm>
          <a:prstGeom prst="rect">
            <a:avLst/>
          </a:prstGeom>
          <a:noFill/>
        </p:spPr>
        <p:txBody>
          <a:bodyPr wrap="square">
            <a:spAutoFit/>
          </a:bodyPr>
          <a:lstStyle/>
          <a:p>
            <a:r>
              <a:rPr sz="1400">
                <a:solidFill>
                  <a:srgbClr val="1B7A3D"/>
                </a:solidFill>
              </a:rPr>
              <a:t>✓ 英式口音特征表：/ɑː/（英）vs /æ/（美），/ɒ/（英）vs /ɑː/（美），每天听BBC 10分钟</a:t>
            </a:r>
          </a:p>
          <a:p>
            <a:pPr>
              <a:spcBef>
                <a:spcPts val="800"/>
              </a:spcBef>
            </a:pPr>
            <a:r>
              <a:rPr sz="1400">
                <a:solidFill>
                  <a:srgbClr val="1B7A3D"/>
                </a:solidFill>
              </a:rPr>
              <a:t>✓ 连读训练：把"want to"/"going to"/"kind of"等超高频连读词组专项训练，直到能秒识</a:t>
            </a:r>
          </a:p>
          <a:p>
            <a:pPr>
              <a:spcBef>
                <a:spcPts val="800"/>
              </a:spcBef>
            </a:pPr>
            <a:r>
              <a:rPr sz="1400">
                <a:solidFill>
                  <a:srgbClr val="1B7A3D"/>
                </a:solidFill>
              </a:rPr>
              <a:t>✓ 弱读脱敏：主动忽略虚词，只追踪实义词——a/the/of/to不是答案，不需要听清</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12A594"/>
                </a:solidFill>
                <a:latin typeface="Calibri"/>
              </a:rPr>
              <a:t>PART 01</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英式口音：五大核心特征</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British Accent: Five Core Features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元音差异：英式 vs 美式</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43000"/>
            <a:ext cx="11064240" cy="8686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0F4C5C"/>
                </a:solidFill>
                <a:latin typeface="Calibri"/>
              </a:rPr>
              <a:t>雅思主要考英式和澳式，深圳学生更熟悉美式</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0F4C5C"/>
                </a:solidFill>
              </a:rPr>
              <a:t>• /ɑː/ vs /æ/</a:t>
            </a:r>
          </a:p>
          <a:p>
            <a:pPr>
              <a:spcBef>
                <a:spcPts val="100"/>
              </a:spcBef>
            </a:pPr>
            <a:r>
              <a:rPr sz="1500">
                <a:solidFill>
                  <a:srgbClr val="556075"/>
                </a:solidFill>
              </a:rPr>
              <a:t>   英式：bath/can't/last/fast → /bɑːθ/ ; 美式：/bæθ/</a:t>
            </a:r>
          </a:p>
          <a:p>
            <a:pPr>
              <a:spcBef>
                <a:spcPts val="900"/>
              </a:spcBef>
            </a:pPr>
            <a:r>
              <a:rPr sz="1800" b="1">
                <a:solidFill>
                  <a:srgbClr val="0F4C5C"/>
                </a:solidFill>
              </a:rPr>
              <a:t>• /ɒ/ vs /ɑː/</a:t>
            </a:r>
          </a:p>
          <a:p>
            <a:pPr>
              <a:spcBef>
                <a:spcPts val="100"/>
              </a:spcBef>
            </a:pPr>
            <a:r>
              <a:rPr sz="1500">
                <a:solidFill>
                  <a:srgbClr val="556075"/>
                </a:solidFill>
              </a:rPr>
              <a:t>   英式：lot/hot/stop/body → /lɒt/ ; 美式：/lɑːt/</a:t>
            </a:r>
          </a:p>
          <a:p>
            <a:pPr>
              <a:spcBef>
                <a:spcPts val="900"/>
              </a:spcBef>
            </a:pPr>
            <a:r>
              <a:rPr sz="1800" b="1">
                <a:solidFill>
                  <a:srgbClr val="0F4C5C"/>
                </a:solidFill>
              </a:rPr>
              <a:t>• /əʊ/ vs /oʊ/</a:t>
            </a:r>
          </a:p>
          <a:p>
            <a:pPr>
              <a:spcBef>
                <a:spcPts val="100"/>
              </a:spcBef>
            </a:pPr>
            <a:r>
              <a:rPr sz="1500">
                <a:solidFill>
                  <a:srgbClr val="556075"/>
                </a:solidFill>
              </a:rPr>
              <a:t>   英式：go/home/phone → /gəʊ/ ; 美式：/goʊ/</a:t>
            </a:r>
          </a:p>
          <a:p>
            <a:pPr>
              <a:spcBef>
                <a:spcPts val="900"/>
              </a:spcBef>
            </a:pPr>
            <a:r>
              <a:rPr sz="1800" b="1">
                <a:solidFill>
                  <a:srgbClr val="0F4C5C"/>
                </a:solidFill>
              </a:rPr>
              <a:t>• /ɪə/ vs /ɪr/</a:t>
            </a:r>
          </a:p>
          <a:p>
            <a:pPr>
              <a:spcBef>
                <a:spcPts val="100"/>
              </a:spcBef>
            </a:pPr>
            <a:r>
              <a:rPr sz="1500">
                <a:solidFill>
                  <a:srgbClr val="556075"/>
                </a:solidFill>
              </a:rPr>
              <a:t>   英式：here/near/beer → /hɪə/ ; 美式：/hɪr/（r音化）</a:t>
            </a:r>
          </a:p>
          <a:p>
            <a:pPr>
              <a:spcBef>
                <a:spcPts val="900"/>
              </a:spcBef>
            </a:pPr>
            <a:r>
              <a:rPr sz="1800" b="1">
                <a:solidFill>
                  <a:srgbClr val="0F4C5C"/>
                </a:solidFill>
              </a:rPr>
              <a:t>• /eə/ vs /er/</a:t>
            </a:r>
          </a:p>
          <a:p>
            <a:pPr>
              <a:spcBef>
                <a:spcPts val="100"/>
              </a:spcBef>
            </a:pPr>
            <a:r>
              <a:rPr sz="1500">
                <a:solidFill>
                  <a:srgbClr val="556075"/>
                </a:solidFill>
              </a:rPr>
              <a:t>   英式：there/hair/care → /ðeə/ ; 美式：/ðer/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辅音差异与发音特点</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43000"/>
            <a:ext cx="11064240" cy="8686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0F4C5C"/>
                </a:solidFill>
                <a:latin typeface="Calibri"/>
              </a:rPr>
              <a:t>英式特有的辅音规律</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0F4C5C"/>
                </a:solidFill>
              </a:rPr>
              <a:t>• 非卷舌r</a:t>
            </a:r>
          </a:p>
          <a:p>
            <a:pPr>
              <a:spcBef>
                <a:spcPts val="100"/>
              </a:spcBef>
            </a:pPr>
            <a:r>
              <a:rPr sz="1500">
                <a:solidFill>
                  <a:srgbClr val="556075"/>
                </a:solidFill>
              </a:rPr>
              <a:t>   英式r在词中不发音：car /kɑː/ ; 美式 /kɑːr/（卷舌）</a:t>
            </a:r>
          </a:p>
          <a:p>
            <a:pPr>
              <a:spcBef>
                <a:spcPts val="900"/>
              </a:spcBef>
            </a:pPr>
            <a:r>
              <a:rPr sz="1800" b="1">
                <a:solidFill>
                  <a:srgbClr val="0F4C5C"/>
                </a:solidFill>
              </a:rPr>
              <a:t>• T的发音</a:t>
            </a:r>
          </a:p>
          <a:p>
            <a:pPr>
              <a:spcBef>
                <a:spcPts val="100"/>
              </a:spcBef>
            </a:pPr>
            <a:r>
              <a:rPr sz="1500">
                <a:solidFill>
                  <a:srgbClr val="556075"/>
                </a:solidFill>
              </a:rPr>
              <a:t>   英式t更清晰：water/butter/city ; 美式常弱化为/d/（flap T）</a:t>
            </a:r>
          </a:p>
          <a:p>
            <a:pPr>
              <a:spcBef>
                <a:spcPts val="900"/>
              </a:spcBef>
            </a:pPr>
            <a:r>
              <a:rPr sz="1800" b="1">
                <a:solidFill>
                  <a:srgbClr val="0F4C5C"/>
                </a:solidFill>
              </a:rPr>
              <a:t>• yod coalescence</a:t>
            </a:r>
          </a:p>
          <a:p>
            <a:pPr>
              <a:spcBef>
                <a:spcPts val="100"/>
              </a:spcBef>
            </a:pPr>
            <a:r>
              <a:rPr sz="1500">
                <a:solidFill>
                  <a:srgbClr val="556075"/>
                </a:solidFill>
              </a:rPr>
              <a:t>   英式：Tuesday→/ˈtjuːzdɪ/ ; 澳式类似英式</a:t>
            </a:r>
          </a:p>
          <a:p>
            <a:pPr>
              <a:spcBef>
                <a:spcPts val="900"/>
              </a:spcBef>
            </a:pPr>
            <a:r>
              <a:rPr sz="1800" b="1">
                <a:solidFill>
                  <a:srgbClr val="0F4C5C"/>
                </a:solidFill>
              </a:rPr>
              <a:t>• 不打嗝的h</a:t>
            </a:r>
          </a:p>
          <a:p>
            <a:pPr>
              <a:spcBef>
                <a:spcPts val="100"/>
              </a:spcBef>
            </a:pPr>
            <a:r>
              <a:rPr sz="1500">
                <a:solidFill>
                  <a:srgbClr val="556075"/>
                </a:solidFill>
              </a:rPr>
              <a:t>   英式h音清晰：have/hotel，美式有时弱化</a:t>
            </a:r>
          </a:p>
          <a:p>
            <a:pPr>
              <a:spcBef>
                <a:spcPts val="900"/>
              </a:spcBef>
            </a:pPr>
            <a:r>
              <a:rPr sz="1800" b="1">
                <a:solidFill>
                  <a:srgbClr val="0F4C5C"/>
                </a:solidFill>
              </a:rPr>
              <a:t>• 词尾-ary</a:t>
            </a:r>
          </a:p>
          <a:p>
            <a:pPr>
              <a:spcBef>
                <a:spcPts val="100"/>
              </a:spcBef>
            </a:pPr>
            <a:r>
              <a:rPr sz="1500">
                <a:solidFill>
                  <a:srgbClr val="556075"/>
                </a:solidFill>
              </a:rPr>
              <a:t>   英式：secretary /ˈsekrɪtri/ ; 美式 /ˈsekrɪteri/（多一个音节）</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英式口音适应策略</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0F4C5C"/>
                </a:solidFill>
              </a:rPr>
              <a:t>• 被动接触</a:t>
            </a:r>
          </a:p>
          <a:p>
            <a:pPr>
              <a:spcBef>
                <a:spcPts val="100"/>
              </a:spcBef>
            </a:pPr>
            <a:r>
              <a:rPr sz="1550">
                <a:solidFill>
                  <a:srgbClr val="556075"/>
                </a:solidFill>
              </a:rPr>
              <a:t>   每天30分钟BBC Radio 4/BBC World Service，不需要精听，大量接触</a:t>
            </a:r>
          </a:p>
          <a:p>
            <a:pPr>
              <a:spcBef>
                <a:spcPts val="1000"/>
              </a:spcBef>
            </a:pPr>
            <a:r>
              <a:rPr sz="1850" b="1">
                <a:solidFill>
                  <a:srgbClr val="0F4C5C"/>
                </a:solidFill>
              </a:rPr>
              <a:t>• 主动训练</a:t>
            </a:r>
          </a:p>
          <a:p>
            <a:pPr>
              <a:spcBef>
                <a:spcPts val="100"/>
              </a:spcBef>
            </a:pPr>
            <a:r>
              <a:rPr sz="1550">
                <a:solidFill>
                  <a:srgbClr val="556075"/>
                </a:solidFill>
              </a:rPr>
              <a:t>   影子跟读：选一段S1/S2英式录音，延迟0.5秒跟读，模仿元音</a:t>
            </a:r>
          </a:p>
          <a:p>
            <a:pPr>
              <a:spcBef>
                <a:spcPts val="1000"/>
              </a:spcBef>
            </a:pPr>
            <a:r>
              <a:rPr sz="1850" b="1">
                <a:solidFill>
                  <a:srgbClr val="0F4C5C"/>
                </a:solidFill>
              </a:rPr>
              <a:t>• /ɑː/专项</a:t>
            </a:r>
          </a:p>
          <a:p>
            <a:pPr>
              <a:spcBef>
                <a:spcPts val="100"/>
              </a:spcBef>
            </a:pPr>
            <a:r>
              <a:rPr sz="1550">
                <a:solidFill>
                  <a:srgbClr val="556075"/>
                </a:solidFill>
              </a:rPr>
              <a:t>   把can't/bath/last/fast/dance等/ɑː/词组写成卡片，每天朗读5遍</a:t>
            </a:r>
          </a:p>
          <a:p>
            <a:pPr>
              <a:spcBef>
                <a:spcPts val="1000"/>
              </a:spcBef>
            </a:pPr>
            <a:r>
              <a:rPr sz="1850" b="1">
                <a:solidFill>
                  <a:srgbClr val="0F4C5C"/>
                </a:solidFill>
              </a:rPr>
              <a:t>• 对比训练</a:t>
            </a:r>
          </a:p>
          <a:p>
            <a:pPr>
              <a:spcBef>
                <a:spcPts val="100"/>
              </a:spcBef>
            </a:pPr>
            <a:r>
              <a:rPr sz="1550">
                <a:solidFill>
                  <a:srgbClr val="556075"/>
                </a:solidFill>
              </a:rPr>
              <a:t>   同时找美式和英式录音朗读同一段文字，比较元音差异</a:t>
            </a:r>
          </a:p>
          <a:p>
            <a:pPr>
              <a:spcBef>
                <a:spcPts val="1000"/>
              </a:spcBef>
            </a:pPr>
            <a:r>
              <a:rPr sz="1850" b="1">
                <a:solidFill>
                  <a:srgbClr val="0F4C5C"/>
                </a:solidFill>
              </a:rPr>
              <a:t>• 目标</a:t>
            </a:r>
          </a:p>
          <a:p>
            <a:pPr>
              <a:spcBef>
                <a:spcPts val="100"/>
              </a:spcBef>
            </a:pPr>
            <a:r>
              <a:rPr sz="1550">
                <a:solidFill>
                  <a:srgbClr val="556075"/>
                </a:solidFill>
              </a:rPr>
              <a:t>   2周后听到can't即可区分/ɑː/和can的/ə/弱读</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英式口音听力误区</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0F4C5C"/>
                </a:solidFill>
              </a:rPr>
              <a:t>• 最常见误区</a:t>
            </a:r>
          </a:p>
          <a:p>
            <a:pPr>
              <a:spcBef>
                <a:spcPts val="100"/>
              </a:spcBef>
            </a:pPr>
            <a:r>
              <a:rPr sz="1550">
                <a:solidFill>
                  <a:srgbClr val="556075"/>
                </a:solidFill>
              </a:rPr>
              <a:t>   把/ɑː/误听成其他音：can't听成了can，bath听成了bat</a:t>
            </a:r>
          </a:p>
          <a:p>
            <a:pPr>
              <a:spcBef>
                <a:spcPts val="1000"/>
              </a:spcBef>
            </a:pPr>
            <a:r>
              <a:rPr sz="1850" b="1">
                <a:solidFill>
                  <a:srgbClr val="0F4C5C"/>
                </a:solidFill>
              </a:rPr>
              <a:t>• r音误区</a:t>
            </a:r>
          </a:p>
          <a:p>
            <a:pPr>
              <a:spcBef>
                <a:spcPts val="100"/>
              </a:spcBef>
            </a:pPr>
            <a:r>
              <a:rPr sz="1550">
                <a:solidFill>
                  <a:srgbClr val="556075"/>
                </a:solidFill>
              </a:rPr>
              <a:t>   听到car/park/here时等待r的发音，但英式r不发音，等不来</a:t>
            </a:r>
          </a:p>
          <a:p>
            <a:pPr>
              <a:spcBef>
                <a:spcPts val="1000"/>
              </a:spcBef>
            </a:pPr>
            <a:r>
              <a:rPr sz="1850" b="1">
                <a:solidFill>
                  <a:srgbClr val="0F4C5C"/>
                </a:solidFill>
              </a:rPr>
              <a:t>• T音误区</a:t>
            </a:r>
          </a:p>
          <a:p>
            <a:pPr>
              <a:spcBef>
                <a:spcPts val="100"/>
              </a:spcBef>
            </a:pPr>
            <a:r>
              <a:rPr sz="1550">
                <a:solidFill>
                  <a:srgbClr val="556075"/>
                </a:solidFill>
              </a:rPr>
              <a:t>   英式t很清晰，不要把butter/water听成butter/wader</a:t>
            </a:r>
          </a:p>
          <a:p>
            <a:pPr>
              <a:spcBef>
                <a:spcPts val="1000"/>
              </a:spcBef>
            </a:pPr>
            <a:r>
              <a:rPr sz="1850" b="1">
                <a:solidFill>
                  <a:srgbClr val="0F4C5C"/>
                </a:solidFill>
              </a:rPr>
              <a:t>• 字节数误区</a:t>
            </a:r>
          </a:p>
          <a:p>
            <a:pPr>
              <a:spcBef>
                <a:spcPts val="100"/>
              </a:spcBef>
            </a:pPr>
            <a:r>
              <a:rPr sz="1550">
                <a:solidFill>
                  <a:srgbClr val="556075"/>
                </a:solidFill>
              </a:rPr>
              <a:t>   secretary英式3音节，美式4音节，听觉长度不同</a:t>
            </a:r>
          </a:p>
          <a:p>
            <a:pPr>
              <a:spcBef>
                <a:spcPts val="1000"/>
              </a:spcBef>
            </a:pPr>
            <a:r>
              <a:rPr sz="1850" b="1">
                <a:solidFill>
                  <a:srgbClr val="0F4C5C"/>
                </a:solidFill>
              </a:rPr>
              <a:t>• 解决方案</a:t>
            </a:r>
          </a:p>
          <a:p>
            <a:pPr>
              <a:spcBef>
                <a:spcPts val="100"/>
              </a:spcBef>
            </a:pPr>
            <a:r>
              <a:rPr sz="1550">
                <a:solidFill>
                  <a:srgbClr val="556075"/>
                </a:solidFill>
              </a:rPr>
              <a:t>   建立"英式音素预期"：主动期待/ɑː/和/ɒ/，而非美式对应音</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英美口音对比辨音练习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657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老师读以下词语，判断是英式还是美式口音：
① can't  ② water  ③ car  ④ secretary  ⑤ dance
⑥ tomorrow  ⑦ butter  ⑧ either  ⑨ schedule  ⑩ leisure</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英式标志：①/kɑːnt/（长元音）③/kɑː/（r不发音）④/ˈsekrɪtri/（少音节）⑤/dɑːns/
⑧either英式/ˈaɪðə/，美式/ˈiːðər/
⑨schedule英式/ˈʃedjuːl/，美式/ˈskedjuːl/
⑩leisure英式/ˈleʒə/，美式/ˈliːʒər/</a:t>
            </a:r>
          </a:p>
        </p:txBody>
      </p:sp>
      <p:sp>
        <p:nvSpPr>
          <p:cNvPr id="14" name="Rectangle 13"/>
          <p:cNvSpPr/>
          <p:nvPr/>
        </p:nvSpPr>
        <p:spPr>
          <a:xfrm>
            <a:off x="548640" y="5669279"/>
            <a:ext cx="11064240" cy="36576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每天听10分钟BBC Radio 4，大脑会在2周内自动适应英式元音系统</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英式口音真题场景识别</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657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以下词语在S1-S4真题中出现，用英式发音写出/ɑː/音的词：
plant / answer / bath / chance / class / demand / example
fast / last / past / staff / after / advantage / can't</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以上全部词在英式英语中含/ɑː/（a在某些辅音前）：
plant /plɑːnt/, answer /ˈɑːnsə/, bath /bɑːθ/, can't /kɑːnt/
深圳学生常把这些听成/æ/音，导致识别不出来</a:t>
            </a:r>
          </a:p>
        </p:txBody>
      </p:sp>
      <p:sp>
        <p:nvSpPr>
          <p:cNvPr id="14" name="Rectangle 13"/>
          <p:cNvSpPr/>
          <p:nvPr/>
        </p:nvSpPr>
        <p:spPr>
          <a:xfrm>
            <a:off x="548640" y="5669279"/>
            <a:ext cx="11064240" cy="36576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规律：英式英语中，a在f/s/th/n/m等辅音前常读/ɑː/而非/æ/——这个规律覆盖约80个常用词</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12A594"/>
                </a:solidFill>
                <a:latin typeface="Calibri"/>
              </a:rPr>
              <a:t>PART 02</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澳式口音与连读规则</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Australian Accent &amp; Linking Rules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澳式口音：雅思第二主要口音</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43000"/>
            <a:ext cx="11064240" cy="8686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0F4C5C"/>
                </a:solidFill>
                <a:latin typeface="Calibri"/>
              </a:rPr>
              <a:t>澳式与英式相似但有差异</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0F4C5C"/>
                </a:solidFill>
              </a:rPr>
              <a:t>• /eɪ/ → /aɪ/</a:t>
            </a:r>
          </a:p>
          <a:p>
            <a:pPr>
              <a:spcBef>
                <a:spcPts val="100"/>
              </a:spcBef>
            </a:pPr>
            <a:r>
              <a:rPr sz="1500">
                <a:solidFill>
                  <a:srgbClr val="556075"/>
                </a:solidFill>
              </a:rPr>
              <a:t>   澳式：day/say/name → /daɪ/ /saɪ/ /naɪm/（与英式/eɪ/不同）</a:t>
            </a:r>
          </a:p>
          <a:p>
            <a:pPr>
              <a:spcBef>
                <a:spcPts val="900"/>
              </a:spcBef>
            </a:pPr>
            <a:r>
              <a:rPr sz="1800" b="1">
                <a:solidFill>
                  <a:srgbClr val="0F4C5C"/>
                </a:solidFill>
              </a:rPr>
              <a:t>• /aɪ/ → /ɔɪ/</a:t>
            </a:r>
          </a:p>
          <a:p>
            <a:pPr>
              <a:spcBef>
                <a:spcPts val="100"/>
              </a:spcBef>
            </a:pPr>
            <a:r>
              <a:rPr sz="1500">
                <a:solidFill>
                  <a:srgbClr val="556075"/>
                </a:solidFill>
              </a:rPr>
              <a:t>   澳式：time/wine/right → /tɔɪm/ /wɔɪn/（高化，较少见）</a:t>
            </a:r>
          </a:p>
          <a:p>
            <a:pPr>
              <a:spcBef>
                <a:spcPts val="900"/>
              </a:spcBef>
            </a:pPr>
            <a:r>
              <a:rPr sz="1800" b="1">
                <a:solidFill>
                  <a:srgbClr val="0F4C5C"/>
                </a:solidFill>
              </a:rPr>
              <a:t>• /iː/ 末尾音</a:t>
            </a:r>
          </a:p>
          <a:p>
            <a:pPr>
              <a:spcBef>
                <a:spcPts val="100"/>
              </a:spcBef>
            </a:pPr>
            <a:r>
              <a:rPr sz="1500">
                <a:solidFill>
                  <a:srgbClr val="556075"/>
                </a:solidFill>
              </a:rPr>
              <a:t>   澳式happy/city末尾/iː/较紧，英式较松</a:t>
            </a:r>
          </a:p>
          <a:p>
            <a:pPr>
              <a:spcBef>
                <a:spcPts val="900"/>
              </a:spcBef>
            </a:pPr>
            <a:r>
              <a:rPr sz="1800" b="1">
                <a:solidFill>
                  <a:srgbClr val="0F4C5C"/>
                </a:solidFill>
              </a:rPr>
              <a:t>• 鼻腔共鸣</a:t>
            </a:r>
          </a:p>
          <a:p>
            <a:pPr>
              <a:spcBef>
                <a:spcPts val="100"/>
              </a:spcBef>
            </a:pPr>
            <a:r>
              <a:rPr sz="1500">
                <a:solidFill>
                  <a:srgbClr val="556075"/>
                </a:solidFill>
              </a:rPr>
              <a:t>   澳式鼻腔共鸣强，整体音调上扬</a:t>
            </a:r>
          </a:p>
          <a:p>
            <a:pPr>
              <a:spcBef>
                <a:spcPts val="900"/>
              </a:spcBef>
            </a:pPr>
            <a:r>
              <a:rPr sz="1800" b="1">
                <a:solidFill>
                  <a:srgbClr val="0F4C5C"/>
                </a:solidFill>
              </a:rPr>
              <a:t>• 与英式共同点</a:t>
            </a:r>
          </a:p>
          <a:p>
            <a:pPr>
              <a:spcBef>
                <a:spcPts val="100"/>
              </a:spcBef>
            </a:pPr>
            <a:r>
              <a:rPr sz="1500">
                <a:solidFill>
                  <a:srgbClr val="556075"/>
                </a:solidFill>
              </a:rPr>
              <a:t>   非卷舌r，/ɑː/类似英式，/ɒ/与英式类似</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五大连读规则</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43000"/>
            <a:ext cx="11064240" cy="8686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0F4C5C"/>
                </a:solidFill>
                <a:latin typeface="Calibri"/>
              </a:rPr>
              <a:t>让"听不懂"变"听懂了"的核心规则</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0F4C5C"/>
                </a:solidFill>
              </a:rPr>
              <a:t>• 连音(Linking)</a:t>
            </a:r>
          </a:p>
          <a:p>
            <a:pPr>
              <a:spcBef>
                <a:spcPts val="100"/>
              </a:spcBef>
            </a:pPr>
            <a:r>
              <a:rPr sz="1500">
                <a:solidFill>
                  <a:srgbClr val="556075"/>
                </a:solidFill>
              </a:rPr>
              <a:t>   辅音结尾+元音开头：want it→wan-tit, take out→ta-kout</a:t>
            </a:r>
          </a:p>
          <a:p>
            <a:pPr>
              <a:spcBef>
                <a:spcPts val="900"/>
              </a:spcBef>
            </a:pPr>
            <a:r>
              <a:rPr sz="1800" b="1">
                <a:solidFill>
                  <a:srgbClr val="0F4C5C"/>
                </a:solidFill>
              </a:rPr>
              <a:t>• 省略(Elision)</a:t>
            </a:r>
          </a:p>
          <a:p>
            <a:pPr>
              <a:spcBef>
                <a:spcPts val="100"/>
              </a:spcBef>
            </a:pPr>
            <a:r>
              <a:rPr sz="1500">
                <a:solidFill>
                  <a:srgbClr val="556075"/>
                </a:solidFill>
              </a:rPr>
              <a:t>   相邻辅音省略：next day→nex-day, most students→mos-students</a:t>
            </a:r>
          </a:p>
          <a:p>
            <a:pPr>
              <a:spcBef>
                <a:spcPts val="900"/>
              </a:spcBef>
            </a:pPr>
            <a:r>
              <a:rPr sz="1800" b="1">
                <a:solidFill>
                  <a:srgbClr val="0F4C5C"/>
                </a:solidFill>
              </a:rPr>
              <a:t>• 同化(Assimilation)</a:t>
            </a:r>
          </a:p>
          <a:p>
            <a:pPr>
              <a:spcBef>
                <a:spcPts val="100"/>
              </a:spcBef>
            </a:pPr>
            <a:r>
              <a:rPr sz="1500">
                <a:solidFill>
                  <a:srgbClr val="556075"/>
                </a:solidFill>
              </a:rPr>
              <a:t>   音变：did you→didja, can you→kanja, meet you→meetcha</a:t>
            </a:r>
          </a:p>
          <a:p>
            <a:pPr>
              <a:spcBef>
                <a:spcPts val="900"/>
              </a:spcBef>
            </a:pPr>
            <a:r>
              <a:rPr sz="1800" b="1">
                <a:solidFill>
                  <a:srgbClr val="0F4C5C"/>
                </a:solidFill>
              </a:rPr>
              <a:t>• 弱读(Reduction)</a:t>
            </a:r>
          </a:p>
          <a:p>
            <a:pPr>
              <a:spcBef>
                <a:spcPts val="100"/>
              </a:spcBef>
            </a:pPr>
            <a:r>
              <a:rPr sz="1500">
                <a:solidFill>
                  <a:srgbClr val="556075"/>
                </a:solidFill>
              </a:rPr>
              <a:t>   虚词弱化：and→n, of→ov, to→tə, the→ðə, for→fə</a:t>
            </a:r>
          </a:p>
          <a:p>
            <a:pPr>
              <a:spcBef>
                <a:spcPts val="900"/>
              </a:spcBef>
            </a:pPr>
            <a:r>
              <a:rPr sz="1800" b="1">
                <a:solidFill>
                  <a:srgbClr val="0F4C5C"/>
                </a:solidFill>
              </a:rPr>
              <a:t>• 连续发音(Intrusion)</a:t>
            </a:r>
          </a:p>
          <a:p>
            <a:pPr>
              <a:spcBef>
                <a:spcPts val="100"/>
              </a:spcBef>
            </a:pPr>
            <a:r>
              <a:rPr sz="1500">
                <a:solidFill>
                  <a:srgbClr val="556075"/>
                </a:solidFill>
              </a:rPr>
              <a:t>   元音之间插入/w/或/j/：go on→go-won, see it→see-jit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澳式口音识别策略</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0F4C5C"/>
                </a:solidFill>
              </a:rPr>
              <a:t>• 元音重映射</a:t>
            </a:r>
          </a:p>
          <a:p>
            <a:pPr>
              <a:spcBef>
                <a:spcPts val="100"/>
              </a:spcBef>
            </a:pPr>
            <a:r>
              <a:rPr sz="1550">
                <a:solidFill>
                  <a:srgbClr val="556075"/>
                </a:solidFill>
              </a:rPr>
              <a:t>   听到/aɪ/时多联想/eɪ/对应词：die可能是day，sigh可能是say</a:t>
            </a:r>
          </a:p>
          <a:p>
            <a:pPr>
              <a:spcBef>
                <a:spcPts val="1000"/>
              </a:spcBef>
            </a:pPr>
            <a:r>
              <a:rPr sz="1850" b="1">
                <a:solidFill>
                  <a:srgbClr val="0F4C5C"/>
                </a:solidFill>
              </a:rPr>
              <a:t>• 上扬语调</a:t>
            </a:r>
          </a:p>
          <a:p>
            <a:pPr>
              <a:spcBef>
                <a:spcPts val="100"/>
              </a:spcBef>
            </a:pPr>
            <a:r>
              <a:rPr sz="1550">
                <a:solidFill>
                  <a:srgbClr val="556075"/>
                </a:solidFill>
              </a:rPr>
              <a:t>   澳式语调末尾上扬，疑问句和陈述句末尾都可能上扬</a:t>
            </a:r>
          </a:p>
          <a:p>
            <a:pPr>
              <a:spcBef>
                <a:spcPts val="1000"/>
              </a:spcBef>
            </a:pPr>
            <a:r>
              <a:rPr sz="1850" b="1">
                <a:solidFill>
                  <a:srgbClr val="0F4C5C"/>
                </a:solidFill>
              </a:rPr>
              <a:t>• 与英式对比</a:t>
            </a:r>
          </a:p>
          <a:p>
            <a:pPr>
              <a:spcBef>
                <a:spcPts val="100"/>
              </a:spcBef>
            </a:pPr>
            <a:r>
              <a:rPr sz="1550">
                <a:solidFill>
                  <a:srgbClr val="556075"/>
                </a:solidFill>
              </a:rPr>
              <a:t>   澳式/ɑː/与英式相似，/ɒ/也相近——主要区别是/eɪ/→/aɪ/</a:t>
            </a:r>
          </a:p>
          <a:p>
            <a:pPr>
              <a:spcBef>
                <a:spcPts val="1000"/>
              </a:spcBef>
            </a:pPr>
            <a:r>
              <a:rPr sz="1850" b="1">
                <a:solidFill>
                  <a:srgbClr val="0F4C5C"/>
                </a:solidFill>
              </a:rPr>
              <a:t>• 真题比例</a:t>
            </a:r>
          </a:p>
          <a:p>
            <a:pPr>
              <a:spcBef>
                <a:spcPts val="100"/>
              </a:spcBef>
            </a:pPr>
            <a:r>
              <a:rPr sz="1550">
                <a:solidFill>
                  <a:srgbClr val="556075"/>
                </a:solidFill>
              </a:rPr>
              <a:t>   雅思听力约30%澳式口音，集中于S2和S4</a:t>
            </a:r>
          </a:p>
          <a:p>
            <a:pPr>
              <a:spcBef>
                <a:spcPts val="1000"/>
              </a:spcBef>
            </a:pPr>
            <a:r>
              <a:rPr sz="1850" b="1">
                <a:solidFill>
                  <a:srgbClr val="0F4C5C"/>
                </a:solidFill>
              </a:rPr>
              <a:t>• 适应方法</a:t>
            </a:r>
          </a:p>
          <a:p>
            <a:pPr>
              <a:spcBef>
                <a:spcPts val="100"/>
              </a:spcBef>
            </a:pPr>
            <a:r>
              <a:rPr sz="1550">
                <a:solidFill>
                  <a:srgbClr val="556075"/>
                </a:solidFill>
              </a:rPr>
              <a:t>   听ABC Radio或澳式雅思真题，每天10分钟即可</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连读在雅思真题中的分布</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0F4C5C"/>
                </a:solidFill>
              </a:rPr>
              <a:t>• S1出现率</a:t>
            </a:r>
          </a:p>
          <a:p>
            <a:pPr>
              <a:spcBef>
                <a:spcPts val="100"/>
              </a:spcBef>
            </a:pPr>
            <a:r>
              <a:rPr sz="1550">
                <a:solidFill>
                  <a:srgbClr val="556075"/>
                </a:solidFill>
              </a:rPr>
              <a:t>   S1日常对话：连读密度最高，gonna/wanna/kinda最常见</a:t>
            </a:r>
          </a:p>
          <a:p>
            <a:pPr>
              <a:spcBef>
                <a:spcPts val="1000"/>
              </a:spcBef>
            </a:pPr>
            <a:r>
              <a:rPr sz="1850" b="1">
                <a:solidFill>
                  <a:srgbClr val="0F4C5C"/>
                </a:solidFill>
              </a:rPr>
              <a:t>• S2出现率</a:t>
            </a:r>
          </a:p>
          <a:p>
            <a:pPr>
              <a:spcBef>
                <a:spcPts val="100"/>
              </a:spcBef>
            </a:pPr>
            <a:r>
              <a:rPr sz="1550">
                <a:solidFill>
                  <a:srgbClr val="556075"/>
                </a:solidFill>
              </a:rPr>
              <a:t>   S2独白：弱读多于连读，虚词大量弱化</a:t>
            </a:r>
          </a:p>
          <a:p>
            <a:pPr>
              <a:spcBef>
                <a:spcPts val="1000"/>
              </a:spcBef>
            </a:pPr>
            <a:r>
              <a:rPr sz="1850" b="1">
                <a:solidFill>
                  <a:srgbClr val="0F4C5C"/>
                </a:solidFill>
              </a:rPr>
              <a:t>• S3出现率</a:t>
            </a:r>
          </a:p>
          <a:p>
            <a:pPr>
              <a:spcBef>
                <a:spcPts val="100"/>
              </a:spcBef>
            </a:pPr>
            <a:r>
              <a:rPr sz="1550">
                <a:solidFill>
                  <a:srgbClr val="556075"/>
                </a:solidFill>
              </a:rPr>
              <a:t>   S3学术讨论：正式语气略多，但could have/should have仍有连读</a:t>
            </a:r>
          </a:p>
          <a:p>
            <a:pPr>
              <a:spcBef>
                <a:spcPts val="1000"/>
              </a:spcBef>
            </a:pPr>
            <a:r>
              <a:rPr sz="1850" b="1">
                <a:solidFill>
                  <a:srgbClr val="0F4C5C"/>
                </a:solidFill>
              </a:rPr>
              <a:t>• S4出现率</a:t>
            </a:r>
          </a:p>
          <a:p>
            <a:pPr>
              <a:spcBef>
                <a:spcPts val="100"/>
              </a:spcBef>
            </a:pPr>
            <a:r>
              <a:rPr sz="1550">
                <a:solidFill>
                  <a:srgbClr val="556075"/>
                </a:solidFill>
              </a:rPr>
              <a:t>   S4讲座：最正式，连读最少，但仍有to/of/and等弱读</a:t>
            </a:r>
          </a:p>
          <a:p>
            <a:pPr>
              <a:spcBef>
                <a:spcPts val="1000"/>
              </a:spcBef>
            </a:pPr>
            <a:r>
              <a:rPr sz="1850" b="1">
                <a:solidFill>
                  <a:srgbClr val="0F4C5C"/>
                </a:solidFill>
              </a:rPr>
              <a:t>• 备考重点</a:t>
            </a:r>
          </a:p>
          <a:p>
            <a:pPr>
              <a:spcBef>
                <a:spcPts val="100"/>
              </a:spcBef>
            </a:pPr>
            <a:r>
              <a:rPr sz="1550">
                <a:solidFill>
                  <a:srgbClr val="556075"/>
                </a:solidFill>
              </a:rPr>
              <a:t>   S1连读最多：wanna/gonna/kinda/didja是S1必考连读形式</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连读识别练习：速读版</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657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以下短语的快速口语版本是什么？（写出发音）
① want to  ② going to  ③ kind of  ④ a lot of  ⑤ I don't know
⑥ let me  ⑦ did you  ⑧ could have  ⑨ have to  ⑩ out of</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① wanna  ② gonna  ③ kinda  ④ a lotta  ⑤ dunno
⑥ lemme  ⑦ didja  ⑧ coulda  ⑨ hafta  ⑩ outta
这10个是考场最高频连读形式，深圳学生必须能秒识</a:t>
            </a:r>
          </a:p>
        </p:txBody>
      </p:sp>
      <p:sp>
        <p:nvSpPr>
          <p:cNvPr id="14" name="Rectangle 13"/>
          <p:cNvSpPr/>
          <p:nvPr/>
        </p:nvSpPr>
        <p:spPr>
          <a:xfrm>
            <a:off x="548640" y="5669279"/>
            <a:ext cx="11064240" cy="36576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雅思听力不会考这些非正式形式的拼写，但考生需要能听懂——这是被动技能而非主动技能</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澳式口音真题辨音</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657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以下场景来自澳式S2，听老师用澳式口音朗读并判断词义：
"Toiday we're going to teik a look at the fecilities of this greight building."
（澳式：Today=Toiday, take=teik, great=greight）
翻译这句话并写出标准英式拼写</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"Today we're going to take a look at the facilities of this great building."
澳式特征：/eɪ/→/aɪ/（take/great/today中的a音上移）
/æ/→/eɪ/（facilities中有时出现）</a:t>
            </a:r>
          </a:p>
        </p:txBody>
      </p:sp>
      <p:sp>
        <p:nvSpPr>
          <p:cNvPr id="14" name="Rectangle 13"/>
          <p:cNvSpPr/>
          <p:nvPr/>
        </p:nvSpPr>
        <p:spPr>
          <a:xfrm>
            <a:off x="548640" y="5669279"/>
            <a:ext cx="11064240" cy="36576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应对澳式口音：提前知道/eɪ/会变/aɪ/，听到/aɪ/时多考虑是否是/eɪ/词</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12A594"/>
                </a:solidFill>
                <a:latin typeface="Calibri"/>
              </a:rPr>
              <a:t>PART 03</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弱读与吞音</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Weak Forms &amp; Sound Dropping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弱读：虚词的变身</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43000"/>
            <a:ext cx="11064240" cy="8686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0F4C5C"/>
                </a:solidFill>
                <a:latin typeface="Calibri"/>
              </a:rPr>
              <a:t>功能词在快速语流中被弱化</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0F4C5C"/>
                </a:solidFill>
              </a:rPr>
              <a:t>• and → /n/</a:t>
            </a:r>
          </a:p>
          <a:p>
            <a:pPr>
              <a:spcBef>
                <a:spcPts val="100"/>
              </a:spcBef>
            </a:pPr>
            <a:r>
              <a:rPr sz="1500">
                <a:solidFill>
                  <a:srgbClr val="556075"/>
                </a:solidFill>
              </a:rPr>
              <a:t>   bread and butter → bread n butter</a:t>
            </a:r>
          </a:p>
          <a:p>
            <a:pPr>
              <a:spcBef>
                <a:spcPts val="900"/>
              </a:spcBef>
            </a:pPr>
            <a:r>
              <a:rPr sz="1800" b="1">
                <a:solidFill>
                  <a:srgbClr val="0F4C5C"/>
                </a:solidFill>
              </a:rPr>
              <a:t>• of → /ə/</a:t>
            </a:r>
          </a:p>
          <a:p>
            <a:pPr>
              <a:spcBef>
                <a:spcPts val="100"/>
              </a:spcBef>
            </a:pPr>
            <a:r>
              <a:rPr sz="1500">
                <a:solidFill>
                  <a:srgbClr val="556075"/>
                </a:solidFill>
              </a:rPr>
              <a:t>   a lot of → a lotta / aloto</a:t>
            </a:r>
          </a:p>
          <a:p>
            <a:pPr>
              <a:spcBef>
                <a:spcPts val="900"/>
              </a:spcBef>
            </a:pPr>
            <a:r>
              <a:rPr sz="1800" b="1">
                <a:solidFill>
                  <a:srgbClr val="0F4C5C"/>
                </a:solidFill>
              </a:rPr>
              <a:t>• to → /tə/</a:t>
            </a:r>
          </a:p>
          <a:p>
            <a:pPr>
              <a:spcBef>
                <a:spcPts val="100"/>
              </a:spcBef>
            </a:pPr>
            <a:r>
              <a:rPr sz="1500">
                <a:solidFill>
                  <a:srgbClr val="556075"/>
                </a:solidFill>
              </a:rPr>
              <a:t>   go to school → go tə school</a:t>
            </a:r>
          </a:p>
          <a:p>
            <a:pPr>
              <a:spcBef>
                <a:spcPts val="900"/>
              </a:spcBef>
            </a:pPr>
            <a:r>
              <a:rPr sz="1800" b="1">
                <a:solidFill>
                  <a:srgbClr val="0F4C5C"/>
                </a:solidFill>
              </a:rPr>
              <a:t>• the → /ðə/</a:t>
            </a:r>
          </a:p>
          <a:p>
            <a:pPr>
              <a:spcBef>
                <a:spcPts val="100"/>
              </a:spcBef>
            </a:pPr>
            <a:r>
              <a:rPr sz="1500">
                <a:solidFill>
                  <a:srgbClr val="556075"/>
                </a:solidFill>
              </a:rPr>
              <a:t>   the answer → ðə answer（辅音前）/ ðɪ answer（元音前）</a:t>
            </a:r>
          </a:p>
          <a:p>
            <a:pPr>
              <a:spcBef>
                <a:spcPts val="900"/>
              </a:spcBef>
            </a:pPr>
            <a:r>
              <a:rPr sz="1800" b="1">
                <a:solidFill>
                  <a:srgbClr val="0F4C5C"/>
                </a:solidFill>
              </a:rPr>
              <a:t>• for → /fə/</a:t>
            </a:r>
          </a:p>
          <a:p>
            <a:pPr>
              <a:spcBef>
                <a:spcPts val="100"/>
              </a:spcBef>
            </a:pPr>
            <a:r>
              <a:rPr sz="1500">
                <a:solidFill>
                  <a:srgbClr val="556075"/>
                </a:solidFill>
              </a:rPr>
              <a:t>   waiting for you → waiting fə you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吞音：辅音的消失</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43000"/>
            <a:ext cx="11064240" cy="8686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0F4C5C"/>
                </a:solidFill>
                <a:latin typeface="Calibri"/>
              </a:rPr>
              <a:t>相邻辅音中较弱的那个消失</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0F4C5C"/>
                </a:solidFill>
              </a:rPr>
              <a:t>• t在辅音前消失</a:t>
            </a:r>
          </a:p>
          <a:p>
            <a:pPr>
              <a:spcBef>
                <a:spcPts val="100"/>
              </a:spcBef>
            </a:pPr>
            <a:r>
              <a:rPr sz="1500">
                <a:solidFill>
                  <a:srgbClr val="556075"/>
                </a:solidFill>
              </a:rPr>
              <a:t>   next week → nex week, last night → las night</a:t>
            </a:r>
          </a:p>
          <a:p>
            <a:pPr>
              <a:spcBef>
                <a:spcPts val="900"/>
              </a:spcBef>
            </a:pPr>
            <a:r>
              <a:rPr sz="1800" b="1">
                <a:solidFill>
                  <a:srgbClr val="0F4C5C"/>
                </a:solidFill>
              </a:rPr>
              <a:t>• d在辅音前消失</a:t>
            </a:r>
          </a:p>
          <a:p>
            <a:pPr>
              <a:spcBef>
                <a:spcPts val="100"/>
              </a:spcBef>
            </a:pPr>
            <a:r>
              <a:rPr sz="1500">
                <a:solidFill>
                  <a:srgbClr val="556075"/>
                </a:solidFill>
              </a:rPr>
              <a:t>   old man → ol man, kind of → kina of → kinda</a:t>
            </a:r>
          </a:p>
          <a:p>
            <a:pPr>
              <a:spcBef>
                <a:spcPts val="900"/>
              </a:spcBef>
            </a:pPr>
            <a:r>
              <a:rPr sz="1800" b="1">
                <a:solidFill>
                  <a:srgbClr val="0F4C5C"/>
                </a:solidFill>
              </a:rPr>
              <a:t>• h在词中消失</a:t>
            </a:r>
          </a:p>
          <a:p>
            <a:pPr>
              <a:spcBef>
                <a:spcPts val="100"/>
              </a:spcBef>
            </a:pPr>
            <a:r>
              <a:rPr sz="1500">
                <a:solidFill>
                  <a:srgbClr val="556075"/>
                </a:solidFill>
              </a:rPr>
              <a:t>   tell him → tell-im, give her → give-er</a:t>
            </a:r>
          </a:p>
          <a:p>
            <a:pPr>
              <a:spcBef>
                <a:spcPts val="900"/>
              </a:spcBef>
            </a:pPr>
            <a:r>
              <a:rPr sz="1800" b="1">
                <a:solidFill>
                  <a:srgbClr val="0F4C5C"/>
                </a:solidFill>
              </a:rPr>
              <a:t>• g在-ing词尾</a:t>
            </a:r>
          </a:p>
          <a:p>
            <a:pPr>
              <a:spcBef>
                <a:spcPts val="100"/>
              </a:spcBef>
            </a:pPr>
            <a:r>
              <a:rPr sz="1500">
                <a:solidFill>
                  <a:srgbClr val="556075"/>
                </a:solidFill>
              </a:rPr>
              <a:t>   running/talking → runnin/talkin（口语快速语流）</a:t>
            </a:r>
          </a:p>
          <a:p>
            <a:pPr>
              <a:spcBef>
                <a:spcPts val="900"/>
              </a:spcBef>
            </a:pPr>
            <a:r>
              <a:rPr sz="1800" b="1">
                <a:solidFill>
                  <a:srgbClr val="0F4C5C"/>
                </a:solidFill>
              </a:rPr>
              <a:t>• l在特定词</a:t>
            </a:r>
          </a:p>
          <a:p>
            <a:pPr>
              <a:spcBef>
                <a:spcPts val="100"/>
              </a:spcBef>
            </a:pPr>
            <a:r>
              <a:rPr sz="1500">
                <a:solidFill>
                  <a:srgbClr val="556075"/>
                </a:solidFill>
              </a:rPr>
              <a:t>   always/already/alright → ol-ways/ol-ready/ol-right（英式）</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弱读训练方法</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0F4C5C"/>
                </a:solidFill>
              </a:rPr>
              <a:t>• Step 1：识别虚词</a:t>
            </a:r>
          </a:p>
          <a:p>
            <a:pPr>
              <a:spcBef>
                <a:spcPts val="100"/>
              </a:spcBef>
            </a:pPr>
            <a:r>
              <a:rPr sz="1550">
                <a:solidFill>
                  <a:srgbClr val="556075"/>
                </a:solidFill>
              </a:rPr>
              <a:t>   先确认哪些词是虚词（冠词/介词/连词/助动词），这些是弱读候选</a:t>
            </a:r>
          </a:p>
          <a:p>
            <a:pPr>
              <a:spcBef>
                <a:spcPts val="1000"/>
              </a:spcBef>
            </a:pPr>
            <a:r>
              <a:rPr sz="1850" b="1">
                <a:solidFill>
                  <a:srgbClr val="0F4C5C"/>
                </a:solidFill>
              </a:rPr>
              <a:t>• Step 2：不追踪虚词</a:t>
            </a:r>
          </a:p>
          <a:p>
            <a:pPr>
              <a:spcBef>
                <a:spcPts val="100"/>
              </a:spcBef>
            </a:pPr>
            <a:r>
              <a:rPr sz="1550">
                <a:solidFill>
                  <a:srgbClr val="556075"/>
                </a:solidFill>
              </a:rPr>
              <a:t>   做题时主动"放弃"追踪弱读虚词，只追踪实义词</a:t>
            </a:r>
          </a:p>
          <a:p>
            <a:pPr>
              <a:spcBef>
                <a:spcPts val="1000"/>
              </a:spcBef>
            </a:pPr>
            <a:r>
              <a:rPr sz="1850" b="1">
                <a:solidFill>
                  <a:srgbClr val="0F4C5C"/>
                </a:solidFill>
              </a:rPr>
              <a:t>• Step 3：语流练习</a:t>
            </a:r>
          </a:p>
          <a:p>
            <a:pPr>
              <a:spcBef>
                <a:spcPts val="100"/>
              </a:spcBef>
            </a:pPr>
            <a:r>
              <a:rPr sz="1550">
                <a:solidFill>
                  <a:srgbClr val="556075"/>
                </a:solidFill>
              </a:rPr>
              <a:t>   用"a lot of / kind of / sort of"等含弱读的短语大量跟读</a:t>
            </a:r>
          </a:p>
          <a:p>
            <a:pPr>
              <a:spcBef>
                <a:spcPts val="1000"/>
              </a:spcBef>
            </a:pPr>
            <a:r>
              <a:rPr sz="1850" b="1">
                <a:solidFill>
                  <a:srgbClr val="0F4C5C"/>
                </a:solidFill>
              </a:rPr>
              <a:t>• Step 4：真题验证</a:t>
            </a:r>
          </a:p>
          <a:p>
            <a:pPr>
              <a:spcBef>
                <a:spcPts val="100"/>
              </a:spcBef>
            </a:pPr>
            <a:r>
              <a:rPr sz="1550">
                <a:solidFill>
                  <a:srgbClr val="556075"/>
                </a:solidFill>
              </a:rPr>
              <a:t>   做完题后，统计弱读失分题数——目标：弱读不是失分原因</a:t>
            </a:r>
          </a:p>
          <a:p>
            <a:pPr>
              <a:spcBef>
                <a:spcPts val="1000"/>
              </a:spcBef>
            </a:pPr>
            <a:r>
              <a:rPr sz="1850" b="1">
                <a:solidFill>
                  <a:srgbClr val="0F4C5C"/>
                </a:solidFill>
              </a:rPr>
              <a:t>• 最终目标</a:t>
            </a:r>
          </a:p>
          <a:p>
            <a:pPr>
              <a:spcBef>
                <a:spcPts val="100"/>
              </a:spcBef>
            </a:pPr>
            <a:r>
              <a:rPr sz="1550">
                <a:solidFill>
                  <a:srgbClr val="556075"/>
                </a:solidFill>
              </a:rPr>
              <a:t>   弱读虚词自动过滤，注意力100%在实义词上</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吞音高发场景</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0F4C5C"/>
                </a:solidFill>
              </a:rPr>
              <a:t>• 辅音群</a:t>
            </a:r>
          </a:p>
          <a:p>
            <a:pPr>
              <a:spcBef>
                <a:spcPts val="100"/>
              </a:spcBef>
            </a:pPr>
            <a:r>
              <a:rPr sz="1550">
                <a:solidFill>
                  <a:srgbClr val="556075"/>
                </a:solidFill>
              </a:rPr>
              <a:t>   next door→nex door（t省略），last night→las night（t省略）</a:t>
            </a:r>
          </a:p>
          <a:p>
            <a:pPr>
              <a:spcBef>
                <a:spcPts val="1000"/>
              </a:spcBef>
            </a:pPr>
            <a:r>
              <a:rPr sz="1850" b="1">
                <a:solidFill>
                  <a:srgbClr val="0F4C5C"/>
                </a:solidFill>
              </a:rPr>
              <a:t>• h的省略</a:t>
            </a:r>
          </a:p>
          <a:p>
            <a:pPr>
              <a:spcBef>
                <a:spcPts val="100"/>
              </a:spcBef>
            </a:pPr>
            <a:r>
              <a:rPr sz="1550">
                <a:solidFill>
                  <a:srgbClr val="556075"/>
                </a:solidFill>
              </a:rPr>
              <a:t>   tell him→tell im，give her→give er（h省略）</a:t>
            </a:r>
          </a:p>
          <a:p>
            <a:pPr>
              <a:spcBef>
                <a:spcPts val="1000"/>
              </a:spcBef>
            </a:pPr>
            <a:r>
              <a:rPr sz="1850" b="1">
                <a:solidFill>
                  <a:srgbClr val="0F4C5C"/>
                </a:solidFill>
              </a:rPr>
              <a:t>• -ing结尾</a:t>
            </a:r>
          </a:p>
          <a:p>
            <a:pPr>
              <a:spcBef>
                <a:spcPts val="100"/>
              </a:spcBef>
            </a:pPr>
            <a:r>
              <a:rPr sz="1550">
                <a:solidFill>
                  <a:srgbClr val="556075"/>
                </a:solidFill>
              </a:rPr>
              <a:t>   running/talking→runnin/talkin（g省略，口语快速语流）</a:t>
            </a:r>
          </a:p>
          <a:p>
            <a:pPr>
              <a:spcBef>
                <a:spcPts val="1000"/>
              </a:spcBef>
            </a:pPr>
            <a:r>
              <a:rPr sz="1850" b="1">
                <a:solidFill>
                  <a:srgbClr val="0F4C5C"/>
                </a:solidFill>
              </a:rPr>
              <a:t>• 真题中的吞音</a:t>
            </a:r>
          </a:p>
          <a:p>
            <a:pPr>
              <a:spcBef>
                <a:spcPts val="100"/>
              </a:spcBef>
            </a:pPr>
            <a:r>
              <a:rPr sz="1550">
                <a:solidFill>
                  <a:srgbClr val="556075"/>
                </a:solidFill>
              </a:rPr>
              <a:t>   Section 1中的吞音最多——日常对话语速快，吞音密度高</a:t>
            </a:r>
          </a:p>
          <a:p>
            <a:pPr>
              <a:spcBef>
                <a:spcPts val="1000"/>
              </a:spcBef>
            </a:pPr>
            <a:r>
              <a:rPr sz="1850" b="1">
                <a:solidFill>
                  <a:srgbClr val="0F4C5C"/>
                </a:solidFill>
              </a:rPr>
              <a:t>• 应对策略</a:t>
            </a:r>
          </a:p>
          <a:p>
            <a:pPr>
              <a:spcBef>
                <a:spcPts val="100"/>
              </a:spcBef>
            </a:pPr>
            <a:r>
              <a:rPr sz="1550">
                <a:solidFill>
                  <a:srgbClr val="556075"/>
                </a:solidFill>
              </a:rPr>
              <a:t>   不要期待每个辅音都发音完整——允许"不完整"是关键心态</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弱读辨音练习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657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以下句子，老师正常语速朗读，请写出你听到的内容（接受连读/弱读形式）：
"Could you tell me what time the last train to London is?"
"I'd like to book a room for a couple of nights."</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"Could you tell me what time the last train to London is?"
快速口语版：/kəd jə tel mi wɒt taɪm ðə lɑːs treɪn tə ˈlʌndən ɪz/
弱读：Could→/kəd/, you→/jə/, the→/ðə/, to→/tə/
吞音：last→las（t省略，因后接辅音tr）</a:t>
            </a:r>
          </a:p>
        </p:txBody>
      </p:sp>
      <p:sp>
        <p:nvSpPr>
          <p:cNvPr id="14" name="Rectangle 13"/>
          <p:cNvSpPr/>
          <p:nvPr/>
        </p:nvSpPr>
        <p:spPr>
          <a:xfrm>
            <a:off x="548640" y="5669279"/>
            <a:ext cx="11064240" cy="36576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训练目标：听到/kəd jə/立刻反应是"Could you"——这是被动识别，不是主动发音</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吞音识别真题练习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657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以下S1对话，找出所有吞音/弱读并标注：
"So you'd like to sign up for the erm... next available slot?
That would be on the 15th of March, at half past two in the afternoon."
请标出：① 弱读词  ② 吞音位置</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弱读：you'd→/jəd/, to→/tə/, the→/ðə/, of→/əv/, at→/ət/
吞音：next（t在av前省略）→/neks/; past（t后接two的t省略）→/pɑːs/
半连读：half past two→/hɑːf pɑːs tuː/</a:t>
            </a:r>
          </a:p>
        </p:txBody>
      </p:sp>
      <p:sp>
        <p:nvSpPr>
          <p:cNvPr id="14" name="Rectangle 13"/>
          <p:cNvSpPr/>
          <p:nvPr/>
        </p:nvSpPr>
        <p:spPr>
          <a:xfrm>
            <a:off x="548640" y="5669279"/>
            <a:ext cx="11064240" cy="36576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关键认知：弱读/吞音不是错误发音——这是英式口语的正常形式，真题就是这么录的</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12A594"/>
                </a:solidFill>
                <a:latin typeface="Calibri"/>
              </a:rPr>
              <a:t>PART 04</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口音综合适应策略</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Integrated Accent Adaptation Strategy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口音适应的科学原理</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43000"/>
            <a:ext cx="11064240" cy="8686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0F4C5C"/>
                </a:solidFill>
                <a:latin typeface="Calibri"/>
              </a:rPr>
              <a:t>大脑需要"重新校准"音素认知</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0F4C5C"/>
                </a:solidFill>
              </a:rPr>
              <a:t>• 音素期待</a:t>
            </a:r>
          </a:p>
          <a:p>
            <a:pPr>
              <a:spcBef>
                <a:spcPts val="100"/>
              </a:spcBef>
            </a:pPr>
            <a:r>
              <a:rPr sz="1500">
                <a:solidFill>
                  <a:srgbClr val="556075"/>
                </a:solidFill>
              </a:rPr>
              <a:t>   大脑会预测接下来的音，口音不同会打破预测，导致"没听到"</a:t>
            </a:r>
          </a:p>
          <a:p>
            <a:pPr>
              <a:spcBef>
                <a:spcPts val="900"/>
              </a:spcBef>
            </a:pPr>
            <a:r>
              <a:rPr sz="1800" b="1">
                <a:solidFill>
                  <a:srgbClr val="0F4C5C"/>
                </a:solidFill>
              </a:rPr>
              <a:t>• 适应机制</a:t>
            </a:r>
          </a:p>
          <a:p>
            <a:pPr>
              <a:spcBef>
                <a:spcPts val="100"/>
              </a:spcBef>
            </a:pPr>
            <a:r>
              <a:rPr sz="1500">
                <a:solidFill>
                  <a:srgbClr val="556075"/>
                </a:solidFill>
              </a:rPr>
              <a:t>   大量接触→大脑建立新的音素预测模型→自动适应</a:t>
            </a:r>
          </a:p>
          <a:p>
            <a:pPr>
              <a:spcBef>
                <a:spcPts val="900"/>
              </a:spcBef>
            </a:pPr>
            <a:r>
              <a:rPr sz="1800" b="1">
                <a:solidFill>
                  <a:srgbClr val="0F4C5C"/>
                </a:solidFill>
              </a:rPr>
              <a:t>• 时间框架</a:t>
            </a:r>
          </a:p>
          <a:p>
            <a:pPr>
              <a:spcBef>
                <a:spcPts val="100"/>
              </a:spcBef>
            </a:pPr>
            <a:r>
              <a:rPr sz="1500">
                <a:solidFill>
                  <a:srgbClr val="556075"/>
                </a:solidFill>
              </a:rPr>
              <a:t>   每天30分钟英式/澳式输入，2-3周后明显改善</a:t>
            </a:r>
          </a:p>
          <a:p>
            <a:pPr>
              <a:spcBef>
                <a:spcPts val="900"/>
              </a:spcBef>
            </a:pPr>
            <a:r>
              <a:rPr sz="1800" b="1">
                <a:solidFill>
                  <a:srgbClr val="0F4C5C"/>
                </a:solidFill>
              </a:rPr>
              <a:t>• 输入质量</a:t>
            </a:r>
          </a:p>
          <a:p>
            <a:pPr>
              <a:spcBef>
                <a:spcPts val="100"/>
              </a:spcBef>
            </a:pPr>
            <a:r>
              <a:rPr sz="1500">
                <a:solidFill>
                  <a:srgbClr val="556075"/>
                </a:solidFill>
              </a:rPr>
              <a:t>   真题录音质量最高；BBC Podcasts/ABC Radio也是优质输入源</a:t>
            </a:r>
          </a:p>
          <a:p>
            <a:pPr>
              <a:spcBef>
                <a:spcPts val="900"/>
              </a:spcBef>
            </a:pPr>
            <a:r>
              <a:rPr sz="1800" b="1">
                <a:solidFill>
                  <a:srgbClr val="0F4C5C"/>
                </a:solidFill>
              </a:rPr>
              <a:t>• 主动vs被动</a:t>
            </a:r>
          </a:p>
          <a:p>
            <a:pPr>
              <a:spcBef>
                <a:spcPts val="100"/>
              </a:spcBef>
            </a:pPr>
            <a:r>
              <a:rPr sz="1500">
                <a:solidFill>
                  <a:srgbClr val="556075"/>
                </a:solidFill>
              </a:rPr>
              <a:t>   被动听效果差；主动影子跟读（shadowing）效果最好</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影子跟读法：口音适应最快技术</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43000"/>
            <a:ext cx="11064240" cy="8686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0F4C5C"/>
                </a:solidFill>
                <a:latin typeface="Calibri"/>
              </a:rPr>
              <a:t>shadowing是公认最快的口音适应训练</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0F4C5C"/>
                </a:solidFill>
              </a:rPr>
              <a:t>• 什么是影子跟读</a:t>
            </a:r>
          </a:p>
          <a:p>
            <a:pPr>
              <a:spcBef>
                <a:spcPts val="100"/>
              </a:spcBef>
            </a:pPr>
            <a:r>
              <a:rPr sz="1500">
                <a:solidFill>
                  <a:srgbClr val="556075"/>
                </a:solidFill>
              </a:rPr>
              <a:t>   听到录音就立刻跟着读，延迟约0.5秒，尽量模仿语音语调</a:t>
            </a:r>
          </a:p>
          <a:p>
            <a:pPr>
              <a:spcBef>
                <a:spcPts val="900"/>
              </a:spcBef>
            </a:pPr>
            <a:r>
              <a:rPr sz="1800" b="1">
                <a:solidFill>
                  <a:srgbClr val="0F4C5C"/>
                </a:solidFill>
              </a:rPr>
              <a:t>• 重点</a:t>
            </a:r>
          </a:p>
          <a:p>
            <a:pPr>
              <a:spcBef>
                <a:spcPts val="100"/>
              </a:spcBef>
            </a:pPr>
            <a:r>
              <a:rPr sz="1500">
                <a:solidFill>
                  <a:srgbClr val="556075"/>
                </a:solidFill>
              </a:rPr>
              <a:t>   不是模仿得完美，而是逼迫大脑实时处理口音输入</a:t>
            </a:r>
          </a:p>
          <a:p>
            <a:pPr>
              <a:spcBef>
                <a:spcPts val="900"/>
              </a:spcBef>
            </a:pPr>
            <a:r>
              <a:rPr sz="1800" b="1">
                <a:solidFill>
                  <a:srgbClr val="0F4C5C"/>
                </a:solidFill>
              </a:rPr>
              <a:t>• 材料</a:t>
            </a:r>
          </a:p>
          <a:p>
            <a:pPr>
              <a:spcBef>
                <a:spcPts val="100"/>
              </a:spcBef>
            </a:pPr>
            <a:r>
              <a:rPr sz="1500">
                <a:solidFill>
                  <a:srgbClr val="556075"/>
                </a:solidFill>
              </a:rPr>
              <a:t>   用雅思真题S1-S2的英式/澳式段落，每段1-2分钟</a:t>
            </a:r>
          </a:p>
          <a:p>
            <a:pPr>
              <a:spcBef>
                <a:spcPts val="900"/>
              </a:spcBef>
            </a:pPr>
            <a:r>
              <a:rPr sz="1800" b="1">
                <a:solidFill>
                  <a:srgbClr val="0F4C5C"/>
                </a:solidFill>
              </a:rPr>
              <a:t>• 时间</a:t>
            </a:r>
          </a:p>
          <a:p>
            <a:pPr>
              <a:spcBef>
                <a:spcPts val="100"/>
              </a:spcBef>
            </a:pPr>
            <a:r>
              <a:rPr sz="1500">
                <a:solidFill>
                  <a:srgbClr val="556075"/>
                </a:solidFill>
              </a:rPr>
              <a:t>   每天10-15分钟，不要超过20分钟（高强度）</a:t>
            </a:r>
          </a:p>
          <a:p>
            <a:pPr>
              <a:spcBef>
                <a:spcPts val="900"/>
              </a:spcBef>
            </a:pPr>
            <a:r>
              <a:rPr sz="1800" b="1">
                <a:solidFill>
                  <a:srgbClr val="0F4C5C"/>
                </a:solidFill>
              </a:rPr>
              <a:t>• 频率</a:t>
            </a:r>
          </a:p>
          <a:p>
            <a:pPr>
              <a:spcBef>
                <a:spcPts val="100"/>
              </a:spcBef>
            </a:pPr>
            <a:r>
              <a:rPr sz="1500">
                <a:solidFill>
                  <a:srgbClr val="556075"/>
                </a:solidFill>
              </a:rPr>
              <a:t>   每天进行，连续14天，口音适应效果最为显著</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影子跟读进阶方法</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0F4C5C"/>
                </a:solidFill>
              </a:rPr>
              <a:t>• 入门阶段</a:t>
            </a:r>
          </a:p>
          <a:p>
            <a:pPr>
              <a:spcBef>
                <a:spcPts val="100"/>
              </a:spcBef>
            </a:pPr>
            <a:r>
              <a:rPr sz="1550">
                <a:solidFill>
                  <a:srgbClr val="556075"/>
                </a:solidFill>
              </a:rPr>
              <a:t>   先听一遍不跟读，了解内容；第二遍才开始跟读（降低认知负荷）</a:t>
            </a:r>
          </a:p>
          <a:p>
            <a:pPr>
              <a:spcBef>
                <a:spcPts val="1000"/>
              </a:spcBef>
            </a:pPr>
            <a:r>
              <a:rPr sz="1850" b="1">
                <a:solidFill>
                  <a:srgbClr val="0F4C5C"/>
                </a:solidFill>
              </a:rPr>
              <a:t>• 延迟控制</a:t>
            </a:r>
          </a:p>
          <a:p>
            <a:pPr>
              <a:spcBef>
                <a:spcPts val="100"/>
              </a:spcBef>
            </a:pPr>
            <a:r>
              <a:rPr sz="1550">
                <a:solidFill>
                  <a:srgbClr val="556075"/>
                </a:solidFill>
              </a:rPr>
              <a:t>   延迟0.5秒（而非即时）：留时间预测下一个音，不是直接回音</a:t>
            </a:r>
          </a:p>
          <a:p>
            <a:pPr>
              <a:spcBef>
                <a:spcPts val="1000"/>
              </a:spcBef>
            </a:pPr>
            <a:r>
              <a:rPr sz="1850" b="1">
                <a:solidFill>
                  <a:srgbClr val="0F4C5C"/>
                </a:solidFill>
              </a:rPr>
              <a:t>• 重点放大</a:t>
            </a:r>
          </a:p>
          <a:p>
            <a:pPr>
              <a:spcBef>
                <a:spcPts val="100"/>
              </a:spcBef>
            </a:pPr>
            <a:r>
              <a:rPr sz="1550">
                <a:solidFill>
                  <a:srgbClr val="556075"/>
                </a:solidFill>
              </a:rPr>
              <a:t>   跟读完后，专门重复/ɑː/和/ɒ/音的词，不需要重复整句</a:t>
            </a:r>
          </a:p>
          <a:p>
            <a:pPr>
              <a:spcBef>
                <a:spcPts val="1000"/>
              </a:spcBef>
            </a:pPr>
            <a:r>
              <a:rPr sz="1850" b="1">
                <a:solidFill>
                  <a:srgbClr val="0F4C5C"/>
                </a:solidFill>
              </a:rPr>
              <a:t>• 进阶挑战</a:t>
            </a:r>
          </a:p>
          <a:p>
            <a:pPr>
              <a:spcBef>
                <a:spcPts val="100"/>
              </a:spcBef>
            </a:pPr>
            <a:r>
              <a:rPr sz="1550">
                <a:solidFill>
                  <a:srgbClr val="556075"/>
                </a:solidFill>
              </a:rPr>
              <a:t>   能做到：听到录音的同时跟读，且理解内容——这是流利阈值</a:t>
            </a:r>
          </a:p>
          <a:p>
            <a:pPr>
              <a:spcBef>
                <a:spcPts val="1000"/>
              </a:spcBef>
            </a:pPr>
            <a:r>
              <a:rPr sz="1850" b="1">
                <a:solidFill>
                  <a:srgbClr val="0F4C5C"/>
                </a:solidFill>
              </a:rPr>
              <a:t>• 材料难度</a:t>
            </a:r>
          </a:p>
          <a:p>
            <a:pPr>
              <a:spcBef>
                <a:spcPts val="100"/>
              </a:spcBef>
            </a:pPr>
            <a:r>
              <a:rPr sz="1550">
                <a:solidFill>
                  <a:srgbClr val="556075"/>
                </a:solidFill>
              </a:rPr>
              <a:t>   从S2独白开始（最清晰），稳定后再转S4学术讲座</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口音适应的常见误区</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0F4C5C"/>
                </a:solidFill>
              </a:rPr>
              <a:t>• 误区1</a:t>
            </a:r>
          </a:p>
          <a:p>
            <a:pPr>
              <a:spcBef>
                <a:spcPts val="100"/>
              </a:spcBef>
            </a:pPr>
            <a:r>
              <a:rPr sz="1550">
                <a:solidFill>
                  <a:srgbClr val="556075"/>
                </a:solidFill>
              </a:rPr>
              <a:t>   只听不跟读：被动听30分钟不如主动跟读10分钟有效</a:t>
            </a:r>
          </a:p>
          <a:p>
            <a:pPr>
              <a:spcBef>
                <a:spcPts val="1000"/>
              </a:spcBef>
            </a:pPr>
            <a:r>
              <a:rPr sz="1850" b="1">
                <a:solidFill>
                  <a:srgbClr val="0F4C5C"/>
                </a:solidFill>
              </a:rPr>
              <a:t>• 误区2</a:t>
            </a:r>
          </a:p>
          <a:p>
            <a:pPr>
              <a:spcBef>
                <a:spcPts val="100"/>
              </a:spcBef>
            </a:pPr>
            <a:r>
              <a:rPr sz="1550">
                <a:solidFill>
                  <a:srgbClr val="556075"/>
                </a:solidFill>
              </a:rPr>
              <a:t>   追求每个音完美：口音适应是识别不是发音，不追求完美复制</a:t>
            </a:r>
          </a:p>
          <a:p>
            <a:pPr>
              <a:spcBef>
                <a:spcPts val="1000"/>
              </a:spcBef>
            </a:pPr>
            <a:r>
              <a:rPr sz="1850" b="1">
                <a:solidFill>
                  <a:srgbClr val="0F4C5C"/>
                </a:solidFill>
              </a:rPr>
              <a:t>• 误区3：太难的材料</a:t>
            </a:r>
          </a:p>
          <a:p>
            <a:pPr>
              <a:spcBef>
                <a:spcPts val="100"/>
              </a:spcBef>
            </a:pPr>
            <a:r>
              <a:rPr sz="1550">
                <a:solidFill>
                  <a:srgbClr val="556075"/>
                </a:solidFill>
              </a:rPr>
              <a:t>   从S2单人独白开始，不要上来就听S4学术讲座</a:t>
            </a:r>
          </a:p>
          <a:p>
            <a:pPr>
              <a:spcBef>
                <a:spcPts val="1000"/>
              </a:spcBef>
            </a:pPr>
            <a:r>
              <a:rPr sz="1850" b="1">
                <a:solidFill>
                  <a:srgbClr val="0F4C5C"/>
                </a:solidFill>
              </a:rPr>
              <a:t>• 误区4</a:t>
            </a:r>
          </a:p>
          <a:p>
            <a:pPr>
              <a:spcBef>
                <a:spcPts val="100"/>
              </a:spcBef>
            </a:pPr>
            <a:r>
              <a:rPr sz="1550">
                <a:solidFill>
                  <a:srgbClr val="556075"/>
                </a:solidFill>
              </a:rPr>
              <a:t>   间歇训练：隔2-3天一次的影子跟读效果远不如每天10分钟</a:t>
            </a:r>
          </a:p>
          <a:p>
            <a:pPr>
              <a:spcBef>
                <a:spcPts val="1000"/>
              </a:spcBef>
            </a:pPr>
            <a:r>
              <a:rPr sz="1850" b="1">
                <a:solidFill>
                  <a:srgbClr val="0F4C5C"/>
                </a:solidFill>
              </a:rPr>
              <a:t>• 正确预期</a:t>
            </a:r>
          </a:p>
          <a:p>
            <a:pPr>
              <a:spcBef>
                <a:spcPts val="100"/>
              </a:spcBef>
            </a:pPr>
            <a:r>
              <a:rPr sz="1550">
                <a:solidFill>
                  <a:srgbClr val="556075"/>
                </a:solidFill>
              </a:rPr>
              <a:t>   2周后：识别率提升；4周后：口音不再是听力障碍</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影子跟读实操演示</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657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以下S2英式独白，先听一遍，再跟读（延迟0.5秒）：
"Welcome to Greenfield Nature Reserve. Today we'll be exploring three main trails.
The first trail starts near the car park and takes approximately forty-five minutes.
Along the way, you'll pass the bird-watching hide and the ancient oak tree."</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跟读重点：
① car park /kɑː pɑːk/（r不发音）
② approximately /əˈprɒksɪmɪtli/（/ɒ/音）
③ forty-five /ˌfɔːti ˈfaɪv/（/ɔː/非/oʊ/）
④ ancient /ˈeɪnʃənt/（/eɪ/非/eɪ/区别不大）
⑤ watching /ˈwɒtʃɪŋ/（/ɒ/非/ɑː/）</a:t>
            </a:r>
          </a:p>
        </p:txBody>
      </p:sp>
      <p:sp>
        <p:nvSpPr>
          <p:cNvPr id="14" name="Rectangle 13"/>
          <p:cNvSpPr/>
          <p:nvPr/>
        </p:nvSpPr>
        <p:spPr>
          <a:xfrm>
            <a:off x="548640" y="5669279"/>
            <a:ext cx="11064240" cy="36576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跟读不需要发音完美——重点是逼迫大脑实时识别英式元音，建立新的音素预测库</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口音适应自测：4周进度检查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657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按以下标准自测口音适应程度：
① 听BBC新闻播报，能理解80%以上？（是/否）
② 听到/ɑː/音，能立刻反应对应的词？（是/否）
③ 听连读"going to"，能立刻识别为"gonna"？（是/否）
④ 做真题时，因口音问题漏题&lt;3题？（是/否）</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4个"是"：口音适应优秀，可进入冲刺阶段
3个"是"：良好，继续保持输入密度
2个"是"：需要加强，每天影子跟读增加到20分钟
1个以下：重点加强，专门做英式/澳式口音专项训练</a:t>
            </a:r>
          </a:p>
        </p:txBody>
      </p:sp>
      <p:sp>
        <p:nvSpPr>
          <p:cNvPr id="14" name="Rectangle 13"/>
          <p:cNvSpPr/>
          <p:nvPr/>
        </p:nvSpPr>
        <p:spPr>
          <a:xfrm>
            <a:off x="548640" y="5669279"/>
            <a:ext cx="11064240" cy="36576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自测结果诚实记录，不要自我安慰——知道弱点在哪才能有针对性地提高</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12A594"/>
                </a:solidFill>
                <a:latin typeface="Calibri"/>
              </a:rPr>
              <a:t>PART 05</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口音核心词汇表</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Accent Vocabulary Bank</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英式/澳式发音特殊词（vs美式）</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234440"/>
            <a:ext cx="4937760" cy="56692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0F4C5C"/>
                </a:solidFill>
                <a:latin typeface="Calibri"/>
              </a:rPr>
              <a:t>/ɑː/系列</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bath/can't/last/fast/dance/example /ɑː/（英）vs /æ/（美）</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0F4C5C"/>
                </a:solidFill>
                <a:latin typeface="Calibri"/>
              </a:rPr>
              <a:t>/ɒ/系列</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lot/hot/stop/got/body /ɒ/（英）vs /ɑː/（美）</a:t>
            </a:r>
          </a:p>
        </p:txBody>
      </p:sp>
      <p:sp>
        <p:nvSpPr>
          <p:cNvPr id="20" name="Rectangle 19"/>
          <p:cNvSpPr/>
          <p:nvPr/>
        </p:nvSpPr>
        <p:spPr>
          <a:xfrm>
            <a:off x="548640" y="2935224"/>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0F4C5C"/>
                </a:solidFill>
                <a:latin typeface="Calibri"/>
              </a:rPr>
              <a:t>schedule</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英/ˈʃedjuːl/ vs 美/ˈskedjuːl/（sh vs sk）</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0F4C5C"/>
                </a:solidFill>
                <a:latin typeface="Calibri"/>
              </a:rPr>
              <a:t>either</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英/ˈaɪðə/ vs 美/ˈiːðər/（ai vs ee）</a:t>
            </a:r>
          </a:p>
        </p:txBody>
      </p:sp>
      <p:sp>
        <p:nvSpPr>
          <p:cNvPr id="28" name="Rectangle 27"/>
          <p:cNvSpPr/>
          <p:nvPr/>
        </p:nvSpPr>
        <p:spPr>
          <a:xfrm>
            <a:off x="548640" y="4069080"/>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0F4C5C"/>
                </a:solidFill>
                <a:latin typeface="Calibri"/>
              </a:rPr>
              <a:t>leisure</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英/ˈleʒə/ vs 美/ˈliːʒər/（e vs ee）</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0F4C5C"/>
                </a:solidFill>
                <a:latin typeface="Calibri"/>
              </a:rPr>
              <a:t>laboratory</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英/ləˈbɒrətri/ vs 美/ˈlæbrətɔːri/（重音位置不同）</a:t>
            </a:r>
          </a:p>
        </p:txBody>
      </p:sp>
      <p:sp>
        <p:nvSpPr>
          <p:cNvPr id="36" name="Rectangle 35"/>
          <p:cNvSpPr/>
          <p:nvPr/>
        </p:nvSpPr>
        <p:spPr>
          <a:xfrm>
            <a:off x="548640" y="5202936"/>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0F4C5C"/>
                </a:solidFill>
                <a:latin typeface="Calibri"/>
              </a:rPr>
              <a:t>advertisement</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英/ədˈvɜːtɪsmənt/ vs 美/ˌædvərˈtaɪzmənt/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高频连读形式（必须秒识）</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234440"/>
            <a:ext cx="4937760" cy="56692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0F4C5C"/>
                </a:solidFill>
                <a:latin typeface="Calibri"/>
              </a:rPr>
              <a:t>want to</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 wanna /ˈwɒnə/（最高频，几乎每套真题出现）</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0F4C5C"/>
                </a:solidFill>
                <a:latin typeface="Calibri"/>
              </a:rPr>
              <a:t>going to</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 gonna /ˈɡɒnə/（未来时标志，连读后易误判）</a:t>
            </a:r>
          </a:p>
        </p:txBody>
      </p:sp>
      <p:sp>
        <p:nvSpPr>
          <p:cNvPr id="20" name="Rectangle 19"/>
          <p:cNvSpPr/>
          <p:nvPr/>
        </p:nvSpPr>
        <p:spPr>
          <a:xfrm>
            <a:off x="548640" y="2935224"/>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0F4C5C"/>
                </a:solidFill>
                <a:latin typeface="Calibri"/>
              </a:rPr>
              <a:t>kind of</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 kinda /ˈkaɪndə/（S3学术讨论常见）</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0F4C5C"/>
                </a:solidFill>
                <a:latin typeface="Calibri"/>
              </a:rPr>
              <a:t>a lot of</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 a lotta /əˈlɒtə/（数量表达）</a:t>
            </a:r>
          </a:p>
        </p:txBody>
      </p:sp>
      <p:sp>
        <p:nvSpPr>
          <p:cNvPr id="28" name="Rectangle 27"/>
          <p:cNvSpPr/>
          <p:nvPr/>
        </p:nvSpPr>
        <p:spPr>
          <a:xfrm>
            <a:off x="548640" y="4069080"/>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0F4C5C"/>
                </a:solidFill>
                <a:latin typeface="Calibri"/>
              </a:rPr>
              <a:t>did you</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 didja /ˈdɪdʒə/（疑问句）</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0F4C5C"/>
                </a:solidFill>
                <a:latin typeface="Calibri"/>
              </a:rPr>
              <a:t>could have</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 coulda /ˈkʊdə/（虚拟语气，S3常见）</a:t>
            </a:r>
          </a:p>
        </p:txBody>
      </p:sp>
      <p:sp>
        <p:nvSpPr>
          <p:cNvPr id="36" name="Rectangle 35"/>
          <p:cNvSpPr/>
          <p:nvPr/>
        </p:nvSpPr>
        <p:spPr>
          <a:xfrm>
            <a:off x="548640" y="5202936"/>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0F4C5C"/>
                </a:solidFill>
                <a:latin typeface="Calibri"/>
              </a:rPr>
              <a:t>out of</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 outta /ˈaʊtə/（位置/数量关系）</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弱读核心词（不需要听清的虚词）</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234440"/>
            <a:ext cx="4937760" cy="56692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0F4C5C"/>
                </a:solidFill>
                <a:latin typeface="Calibri"/>
              </a:rPr>
              <a:t>and</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弱读 /n/ 或 /ənd/（这些词不是答案，不需要清晰听到）</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0F4C5C"/>
                </a:solidFill>
                <a:latin typeface="Calibri"/>
              </a:rPr>
              <a:t>of</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弱读 /ə/ 或 /əv/（非重读位置几乎消失）</a:t>
            </a:r>
          </a:p>
        </p:txBody>
      </p:sp>
      <p:sp>
        <p:nvSpPr>
          <p:cNvPr id="20" name="Rectangle 19"/>
          <p:cNvSpPr/>
          <p:nvPr/>
        </p:nvSpPr>
        <p:spPr>
          <a:xfrm>
            <a:off x="548640" y="2935224"/>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0F4C5C"/>
                </a:solidFill>
                <a:latin typeface="Calibri"/>
              </a:rPr>
              <a:t>to</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弱读 /tə/（方向/目的介词，非答案）</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0F4C5C"/>
                </a:solidFill>
                <a:latin typeface="Calibri"/>
              </a:rPr>
              <a:t>the</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弱读 /ðə/（辅音前）/ /ðɪ/（元音前）</a:t>
            </a:r>
          </a:p>
        </p:txBody>
      </p:sp>
      <p:sp>
        <p:nvSpPr>
          <p:cNvPr id="28" name="Rectangle 27"/>
          <p:cNvSpPr/>
          <p:nvPr/>
        </p:nvSpPr>
        <p:spPr>
          <a:xfrm>
            <a:off x="548640" y="4069080"/>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0F4C5C"/>
                </a:solidFill>
                <a:latin typeface="Calibri"/>
              </a:rPr>
              <a:t>for</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弱读 /fə/（介词，通常非答案）</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0F4C5C"/>
                </a:solidFill>
                <a:latin typeface="Calibri"/>
              </a:rPr>
              <a:t>at</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弱读 /ət/（时间/地点介词）</a:t>
            </a:r>
          </a:p>
        </p:txBody>
      </p:sp>
      <p:sp>
        <p:nvSpPr>
          <p:cNvPr id="36" name="Rectangle 35"/>
          <p:cNvSpPr/>
          <p:nvPr/>
        </p:nvSpPr>
        <p:spPr>
          <a:xfrm>
            <a:off x="548640" y="5202936"/>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0F4C5C"/>
                </a:solidFill>
                <a:latin typeface="Calibri"/>
              </a:rPr>
              <a:t>can</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弱读 /kən/（注意：can't弱读时仍有/ɑː/，用于区分can vs can't）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英式vs美式口音核心对比</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Rectangle 6"/>
          <p:cNvSpPr/>
          <p:nvPr/>
        </p:nvSpPr>
        <p:spPr>
          <a:xfrm>
            <a:off x="548640" y="1188720"/>
            <a:ext cx="5486400" cy="4572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元音差异（影响识别）</a:t>
            </a:r>
          </a:p>
        </p:txBody>
      </p:sp>
      <p:sp>
        <p:nvSpPr>
          <p:cNvPr id="9" name="TextBox 8"/>
          <p:cNvSpPr txBox="1"/>
          <p:nvPr/>
        </p:nvSpPr>
        <p:spPr>
          <a:xfrm>
            <a:off x="640080" y="1783080"/>
            <a:ext cx="5349240" cy="4480560"/>
          </a:xfrm>
          <a:prstGeom prst="rect">
            <a:avLst/>
          </a:prstGeom>
          <a:noFill/>
        </p:spPr>
        <p:txBody>
          <a:bodyPr wrap="square">
            <a:spAutoFit/>
          </a:bodyPr>
          <a:lstStyle/>
          <a:p>
            <a:r>
              <a:rPr sz="1650" b="1">
                <a:solidFill>
                  <a:srgbClr val="0F4C5C"/>
                </a:solidFill>
              </a:rPr>
              <a:t>• /ɑː/ vs /æ/</a:t>
            </a:r>
          </a:p>
          <a:p>
            <a:pPr>
              <a:spcBef>
                <a:spcPts val="100"/>
              </a:spcBef>
            </a:pPr>
            <a:r>
              <a:rPr sz="1350">
                <a:solidFill>
                  <a:srgbClr val="556075"/>
                </a:solidFill>
              </a:rPr>
              <a:t>   can't/bath/dance/fast/last</a:t>
            </a:r>
          </a:p>
          <a:p>
            <a:pPr>
              <a:spcBef>
                <a:spcPts val="700"/>
              </a:spcBef>
            </a:pPr>
            <a:r>
              <a:rPr sz="1650" b="1">
                <a:solidFill>
                  <a:srgbClr val="0F4C5C"/>
                </a:solidFill>
              </a:rPr>
              <a:t>• /ɒ/ vs /ɑː/</a:t>
            </a:r>
          </a:p>
          <a:p>
            <a:pPr>
              <a:spcBef>
                <a:spcPts val="100"/>
              </a:spcBef>
            </a:pPr>
            <a:r>
              <a:rPr sz="1350">
                <a:solidFill>
                  <a:srgbClr val="556075"/>
                </a:solidFill>
              </a:rPr>
              <a:t>   lot/hot/stop/not/body</a:t>
            </a:r>
          </a:p>
          <a:p>
            <a:pPr>
              <a:spcBef>
                <a:spcPts val="700"/>
              </a:spcBef>
            </a:pPr>
            <a:r>
              <a:rPr sz="1650" b="1">
                <a:solidFill>
                  <a:srgbClr val="0F4C5C"/>
                </a:solidFill>
              </a:rPr>
              <a:t>• /əʊ/ vs /oʊ/</a:t>
            </a:r>
          </a:p>
          <a:p>
            <a:pPr>
              <a:spcBef>
                <a:spcPts val="100"/>
              </a:spcBef>
            </a:pPr>
            <a:r>
              <a:rPr sz="1350">
                <a:solidFill>
                  <a:srgbClr val="556075"/>
                </a:solidFill>
              </a:rPr>
              <a:t>   go/home/phone/know</a:t>
            </a:r>
          </a:p>
          <a:p>
            <a:pPr>
              <a:spcBef>
                <a:spcPts val="700"/>
              </a:spcBef>
            </a:pPr>
            <a:r>
              <a:rPr sz="1650" b="1">
                <a:solidFill>
                  <a:srgbClr val="0F4C5C"/>
                </a:solidFill>
              </a:rPr>
              <a:t>• /ɪə/ vs /ɪr/</a:t>
            </a:r>
          </a:p>
          <a:p>
            <a:pPr>
              <a:spcBef>
                <a:spcPts val="100"/>
              </a:spcBef>
            </a:pPr>
            <a:r>
              <a:rPr sz="1350">
                <a:solidFill>
                  <a:srgbClr val="556075"/>
                </a:solidFill>
              </a:rPr>
              <a:t>   here/near/beer/clear</a:t>
            </a:r>
          </a:p>
          <a:p>
            <a:pPr>
              <a:spcBef>
                <a:spcPts val="700"/>
              </a:spcBef>
            </a:pPr>
            <a:r>
              <a:rPr sz="1650" b="1">
                <a:solidFill>
                  <a:srgbClr val="0F4C5C"/>
                </a:solidFill>
              </a:rPr>
              <a:t>• /eɪ/ → /aɪ/</a:t>
            </a:r>
          </a:p>
          <a:p>
            <a:pPr>
              <a:spcBef>
                <a:spcPts val="100"/>
              </a:spcBef>
            </a:pPr>
            <a:r>
              <a:rPr sz="1350">
                <a:solidFill>
                  <a:srgbClr val="556075"/>
                </a:solidFill>
              </a:rPr>
              <a:t>   澳式：day/say/name/place</a:t>
            </a:r>
          </a:p>
        </p:txBody>
      </p:sp>
      <p:sp>
        <p:nvSpPr>
          <p:cNvPr id="10" name="Rectangle 9"/>
          <p:cNvSpPr/>
          <p:nvPr/>
        </p:nvSpPr>
        <p:spPr>
          <a:xfrm>
            <a:off x="6355079" y="1188720"/>
            <a:ext cx="5486400" cy="45720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辅音差异（影响识别）</a:t>
            </a:r>
          </a:p>
        </p:txBody>
      </p:sp>
      <p:sp>
        <p:nvSpPr>
          <p:cNvPr id="12" name="TextBox 11"/>
          <p:cNvSpPr txBox="1"/>
          <p:nvPr/>
        </p:nvSpPr>
        <p:spPr>
          <a:xfrm>
            <a:off x="6446519" y="1783080"/>
            <a:ext cx="5349240" cy="4480560"/>
          </a:xfrm>
          <a:prstGeom prst="rect">
            <a:avLst/>
          </a:prstGeom>
          <a:noFill/>
        </p:spPr>
        <p:txBody>
          <a:bodyPr wrap="square">
            <a:spAutoFit/>
          </a:bodyPr>
          <a:lstStyle/>
          <a:p>
            <a:r>
              <a:rPr sz="1650" b="1">
                <a:solidFill>
                  <a:srgbClr val="0F4C5C"/>
                </a:solidFill>
              </a:rPr>
              <a:t>• 卷舌r</a:t>
            </a:r>
          </a:p>
          <a:p>
            <a:pPr>
              <a:spcBef>
                <a:spcPts val="100"/>
              </a:spcBef>
            </a:pPr>
            <a:r>
              <a:rPr sz="1350">
                <a:solidFill>
                  <a:srgbClr val="556075"/>
                </a:solidFill>
              </a:rPr>
              <a:t>   美式词尾r卷舌，英式/澳式不卷</a:t>
            </a:r>
          </a:p>
          <a:p>
            <a:pPr>
              <a:spcBef>
                <a:spcPts val="700"/>
              </a:spcBef>
            </a:pPr>
            <a:r>
              <a:rPr sz="1650" b="1">
                <a:solidFill>
                  <a:srgbClr val="0F4C5C"/>
                </a:solidFill>
              </a:rPr>
              <a:t>• Flap T</a:t>
            </a:r>
          </a:p>
          <a:p>
            <a:pPr>
              <a:spcBef>
                <a:spcPts val="100"/>
              </a:spcBef>
            </a:pPr>
            <a:r>
              <a:rPr sz="1350">
                <a:solidFill>
                  <a:srgbClr val="556075"/>
                </a:solidFill>
              </a:rPr>
              <a:t>   美式water=/ˈwɑːdər/，英式/ˈwɔːtə/</a:t>
            </a:r>
          </a:p>
          <a:p>
            <a:pPr>
              <a:spcBef>
                <a:spcPts val="700"/>
              </a:spcBef>
            </a:pPr>
            <a:r>
              <a:rPr sz="1650" b="1">
                <a:solidFill>
                  <a:srgbClr val="0F4C5C"/>
                </a:solidFill>
              </a:rPr>
              <a:t>• T+Y合并</a:t>
            </a:r>
          </a:p>
          <a:p>
            <a:pPr>
              <a:spcBef>
                <a:spcPts val="100"/>
              </a:spcBef>
            </a:pPr>
            <a:r>
              <a:rPr sz="1350">
                <a:solidFill>
                  <a:srgbClr val="556075"/>
                </a:solidFill>
              </a:rPr>
              <a:t>   英式Tuesday=/ˈtjuːzdɪ/（tyoo不分离）</a:t>
            </a:r>
          </a:p>
          <a:p>
            <a:pPr>
              <a:spcBef>
                <a:spcPts val="700"/>
              </a:spcBef>
            </a:pPr>
            <a:r>
              <a:rPr sz="1650" b="1">
                <a:solidFill>
                  <a:srgbClr val="0F4C5C"/>
                </a:solidFill>
              </a:rPr>
              <a:t>• ng结尾</a:t>
            </a:r>
          </a:p>
          <a:p>
            <a:pPr>
              <a:spcBef>
                <a:spcPts val="100"/>
              </a:spcBef>
            </a:pPr>
            <a:r>
              <a:rPr sz="1350">
                <a:solidFill>
                  <a:srgbClr val="556075"/>
                </a:solidFill>
              </a:rPr>
              <a:t>   口语-ing常省略g：running→runnin</a:t>
            </a:r>
          </a:p>
          <a:p>
            <a:pPr>
              <a:spcBef>
                <a:spcPts val="700"/>
              </a:spcBef>
            </a:pPr>
            <a:r>
              <a:rPr sz="1650" b="1">
                <a:solidFill>
                  <a:srgbClr val="0F4C5C"/>
                </a:solidFill>
              </a:rPr>
              <a:t>• h弱化</a:t>
            </a:r>
          </a:p>
          <a:p>
            <a:pPr>
              <a:spcBef>
                <a:spcPts val="100"/>
              </a:spcBef>
            </a:pPr>
            <a:r>
              <a:rPr sz="1350">
                <a:solidFill>
                  <a:srgbClr val="556075"/>
                </a:solidFill>
              </a:rPr>
              <a:t>   him/her/have在快速语流中h常省略</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12A594"/>
                </a:solidFill>
                <a:latin typeface="Calibri"/>
              </a:rPr>
              <a:t>PART 06</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口音适应：系统训练步骤</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Accent Adaptation: Training Steps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Step 1-3：认知建立阶段（Week 1）</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280160"/>
            <a:ext cx="640080" cy="6400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393191"/>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0F4C5C"/>
                </a:solidFill>
                <a:latin typeface="Calibri"/>
              </a:rPr>
              <a:t>建立口音特征认知</a:t>
            </a:r>
          </a:p>
        </p:txBody>
      </p:sp>
      <p:sp>
        <p:nvSpPr>
          <p:cNvPr id="12" name="TextBox 11"/>
          <p:cNvSpPr txBox="1"/>
          <p:nvPr/>
        </p:nvSpPr>
        <p:spPr>
          <a:xfrm>
            <a:off x="1417320" y="1645919"/>
            <a:ext cx="10058400" cy="685799"/>
          </a:xfrm>
          <a:prstGeom prst="rect">
            <a:avLst/>
          </a:prstGeom>
          <a:noFill/>
        </p:spPr>
        <p:txBody>
          <a:bodyPr wrap="square" anchor="t">
            <a:spAutoFit/>
          </a:bodyPr>
          <a:lstStyle/>
          <a:p>
            <a:pPr algn="l"/>
            <a:r>
              <a:rPr sz="1350" b="0" i="0">
                <a:solidFill>
                  <a:srgbClr val="556075"/>
                </a:solidFill>
                <a:latin typeface="Calibri"/>
              </a:rPr>
              <a:t>学习英式/澳式5大元音特征，知道"会有什么不同"</a:t>
            </a:r>
          </a:p>
        </p:txBody>
      </p:sp>
      <p:sp>
        <p:nvSpPr>
          <p:cNvPr id="13" name="Rounded Rectangle 12"/>
          <p:cNvSpPr/>
          <p:nvPr/>
        </p:nvSpPr>
        <p:spPr>
          <a:xfrm>
            <a:off x="548640" y="2331720"/>
            <a:ext cx="640080" cy="6400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38658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990087"/>
            <a:ext cx="45720" cy="393191"/>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331720"/>
            <a:ext cx="10058400" cy="411480"/>
          </a:xfrm>
          <a:prstGeom prst="rect">
            <a:avLst/>
          </a:prstGeom>
          <a:noFill/>
        </p:spPr>
        <p:txBody>
          <a:bodyPr wrap="square" anchor="t">
            <a:spAutoFit/>
          </a:bodyPr>
          <a:lstStyle/>
          <a:p>
            <a:pPr algn="l"/>
            <a:r>
              <a:rPr sz="1600" b="1" i="0">
                <a:solidFill>
                  <a:srgbClr val="0F4C5C"/>
                </a:solidFill>
                <a:latin typeface="Calibri"/>
              </a:rPr>
              <a:t>被动接触</a:t>
            </a:r>
          </a:p>
        </p:txBody>
      </p:sp>
      <p:sp>
        <p:nvSpPr>
          <p:cNvPr id="17" name="TextBox 16"/>
          <p:cNvSpPr txBox="1"/>
          <p:nvPr/>
        </p:nvSpPr>
        <p:spPr>
          <a:xfrm>
            <a:off x="1417320" y="2697479"/>
            <a:ext cx="10058400" cy="685799"/>
          </a:xfrm>
          <a:prstGeom prst="rect">
            <a:avLst/>
          </a:prstGeom>
          <a:noFill/>
        </p:spPr>
        <p:txBody>
          <a:bodyPr wrap="square" anchor="t">
            <a:spAutoFit/>
          </a:bodyPr>
          <a:lstStyle/>
          <a:p>
            <a:pPr algn="l"/>
            <a:r>
              <a:rPr sz="1350" b="0" i="0">
                <a:solidFill>
                  <a:srgbClr val="556075"/>
                </a:solidFill>
                <a:latin typeface="Calibri"/>
              </a:rPr>
              <a:t>每天30分钟：BBC Radio 4 / 雅思真题录音，不需要精听</a:t>
            </a:r>
          </a:p>
        </p:txBody>
      </p:sp>
      <p:sp>
        <p:nvSpPr>
          <p:cNvPr id="18" name="Rounded Rectangle 17"/>
          <p:cNvSpPr/>
          <p:nvPr/>
        </p:nvSpPr>
        <p:spPr>
          <a:xfrm>
            <a:off x="548640" y="3383279"/>
            <a:ext cx="640080" cy="6400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438144"/>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TextBox 19"/>
          <p:cNvSpPr txBox="1"/>
          <p:nvPr/>
        </p:nvSpPr>
        <p:spPr>
          <a:xfrm>
            <a:off x="1417320" y="3383279"/>
            <a:ext cx="10058400" cy="411480"/>
          </a:xfrm>
          <a:prstGeom prst="rect">
            <a:avLst/>
          </a:prstGeom>
          <a:noFill/>
        </p:spPr>
        <p:txBody>
          <a:bodyPr wrap="square" anchor="t">
            <a:spAutoFit/>
          </a:bodyPr>
          <a:lstStyle/>
          <a:p>
            <a:pPr algn="l"/>
            <a:r>
              <a:rPr sz="1600" b="1" i="0">
                <a:solidFill>
                  <a:srgbClr val="0F4C5C"/>
                </a:solidFill>
                <a:latin typeface="Calibri"/>
              </a:rPr>
              <a:t>特征词圈划</a:t>
            </a:r>
          </a:p>
        </p:txBody>
      </p:sp>
      <p:sp>
        <p:nvSpPr>
          <p:cNvPr id="21" name="TextBox 20"/>
          <p:cNvSpPr txBox="1"/>
          <p:nvPr/>
        </p:nvSpPr>
        <p:spPr>
          <a:xfrm>
            <a:off x="1417320" y="3749039"/>
            <a:ext cx="10058400" cy="685799"/>
          </a:xfrm>
          <a:prstGeom prst="rect">
            <a:avLst/>
          </a:prstGeom>
          <a:noFill/>
        </p:spPr>
        <p:txBody>
          <a:bodyPr wrap="square" anchor="t">
            <a:spAutoFit/>
          </a:bodyPr>
          <a:lstStyle/>
          <a:p>
            <a:pPr algn="l"/>
            <a:r>
              <a:rPr sz="1350" b="0" i="0">
                <a:solidFill>
                  <a:srgbClr val="556075"/>
                </a:solidFill>
                <a:latin typeface="Calibri"/>
              </a:rPr>
              <a:t>做真题时，遇到英式特殊发音词，圈出并注音</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Step 4-6：主动训练阶段（Week 2-3）</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280160"/>
            <a:ext cx="640080" cy="6400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393191"/>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0F4C5C"/>
                </a:solidFill>
                <a:latin typeface="Calibri"/>
              </a:rPr>
              <a:t>影子跟读（每天15分钟）</a:t>
            </a:r>
          </a:p>
        </p:txBody>
      </p:sp>
      <p:sp>
        <p:nvSpPr>
          <p:cNvPr id="12" name="TextBox 11"/>
          <p:cNvSpPr txBox="1"/>
          <p:nvPr/>
        </p:nvSpPr>
        <p:spPr>
          <a:xfrm>
            <a:off x="1417320" y="1645919"/>
            <a:ext cx="10058400" cy="685799"/>
          </a:xfrm>
          <a:prstGeom prst="rect">
            <a:avLst/>
          </a:prstGeom>
          <a:noFill/>
        </p:spPr>
        <p:txBody>
          <a:bodyPr wrap="square" anchor="t">
            <a:spAutoFit/>
          </a:bodyPr>
          <a:lstStyle/>
          <a:p>
            <a:pPr algn="l"/>
            <a:r>
              <a:rPr sz="1350" b="0" i="0">
                <a:solidFill>
                  <a:srgbClr val="556075"/>
                </a:solidFill>
                <a:latin typeface="Calibri"/>
              </a:rPr>
              <a:t>用雅思S2独白进行影子跟读，重点模仿/ɑː/和/ɒ/</a:t>
            </a:r>
          </a:p>
        </p:txBody>
      </p:sp>
      <p:sp>
        <p:nvSpPr>
          <p:cNvPr id="13" name="Rounded Rectangle 12"/>
          <p:cNvSpPr/>
          <p:nvPr/>
        </p:nvSpPr>
        <p:spPr>
          <a:xfrm>
            <a:off x="548640" y="2331720"/>
            <a:ext cx="640080" cy="6400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38658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990087"/>
            <a:ext cx="45720" cy="393191"/>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331720"/>
            <a:ext cx="10058400" cy="411480"/>
          </a:xfrm>
          <a:prstGeom prst="rect">
            <a:avLst/>
          </a:prstGeom>
          <a:noFill/>
        </p:spPr>
        <p:txBody>
          <a:bodyPr wrap="square" anchor="t">
            <a:spAutoFit/>
          </a:bodyPr>
          <a:lstStyle/>
          <a:p>
            <a:pPr algn="l"/>
            <a:r>
              <a:rPr sz="1600" b="1" i="0">
                <a:solidFill>
                  <a:srgbClr val="0F4C5C"/>
                </a:solidFill>
                <a:latin typeface="Calibri"/>
              </a:rPr>
              <a:t>连读专项</a:t>
            </a:r>
          </a:p>
        </p:txBody>
      </p:sp>
      <p:sp>
        <p:nvSpPr>
          <p:cNvPr id="17" name="TextBox 16"/>
          <p:cNvSpPr txBox="1"/>
          <p:nvPr/>
        </p:nvSpPr>
        <p:spPr>
          <a:xfrm>
            <a:off x="1417320" y="2697479"/>
            <a:ext cx="10058400" cy="685799"/>
          </a:xfrm>
          <a:prstGeom prst="rect">
            <a:avLst/>
          </a:prstGeom>
          <a:noFill/>
        </p:spPr>
        <p:txBody>
          <a:bodyPr wrap="square" anchor="t">
            <a:spAutoFit/>
          </a:bodyPr>
          <a:lstStyle/>
          <a:p>
            <a:pPr algn="l"/>
            <a:r>
              <a:rPr sz="1350" b="0" i="0">
                <a:solidFill>
                  <a:srgbClr val="556075"/>
                </a:solidFill>
                <a:latin typeface="Calibri"/>
              </a:rPr>
              <a:t>10个高频连读词组：wanna/gonna/kinda/didja等，每天默读5遍</a:t>
            </a:r>
          </a:p>
        </p:txBody>
      </p:sp>
      <p:sp>
        <p:nvSpPr>
          <p:cNvPr id="18" name="Rounded Rectangle 17"/>
          <p:cNvSpPr/>
          <p:nvPr/>
        </p:nvSpPr>
        <p:spPr>
          <a:xfrm>
            <a:off x="548640" y="3383279"/>
            <a:ext cx="640080" cy="6400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438144"/>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TextBox 19"/>
          <p:cNvSpPr txBox="1"/>
          <p:nvPr/>
        </p:nvSpPr>
        <p:spPr>
          <a:xfrm>
            <a:off x="1417320" y="3383279"/>
            <a:ext cx="10058400" cy="411480"/>
          </a:xfrm>
          <a:prstGeom prst="rect">
            <a:avLst/>
          </a:prstGeom>
          <a:noFill/>
        </p:spPr>
        <p:txBody>
          <a:bodyPr wrap="square" anchor="t">
            <a:spAutoFit/>
          </a:bodyPr>
          <a:lstStyle/>
          <a:p>
            <a:pPr algn="l"/>
            <a:r>
              <a:rPr sz="1600" b="1" i="0">
                <a:solidFill>
                  <a:srgbClr val="0F4C5C"/>
                </a:solidFill>
                <a:latin typeface="Calibri"/>
              </a:rPr>
              <a:t>做题检验</a:t>
            </a:r>
          </a:p>
        </p:txBody>
      </p:sp>
      <p:sp>
        <p:nvSpPr>
          <p:cNvPr id="21" name="TextBox 20"/>
          <p:cNvSpPr txBox="1"/>
          <p:nvPr/>
        </p:nvSpPr>
        <p:spPr>
          <a:xfrm>
            <a:off x="1417320" y="3749039"/>
            <a:ext cx="10058400" cy="685799"/>
          </a:xfrm>
          <a:prstGeom prst="rect">
            <a:avLst/>
          </a:prstGeom>
          <a:noFill/>
        </p:spPr>
        <p:txBody>
          <a:bodyPr wrap="square" anchor="t">
            <a:spAutoFit/>
          </a:bodyPr>
          <a:lstStyle/>
          <a:p>
            <a:pPr algn="l"/>
            <a:r>
              <a:rPr sz="1350" b="0" i="0">
                <a:solidFill>
                  <a:srgbClr val="556075"/>
                </a:solidFill>
                <a:latin typeface="Calibri"/>
              </a:rPr>
              <a:t>做完真题后，标注因口音问题做错的题，分析是哪个音素出了问题</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Step 7-8：巩固阶段（Week 4）</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280160"/>
            <a:ext cx="640080" cy="6400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393191"/>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0F4C5C"/>
                </a:solidFill>
                <a:latin typeface="Calibri"/>
              </a:rPr>
              <a:t>口音自测</a:t>
            </a:r>
          </a:p>
        </p:txBody>
      </p:sp>
      <p:sp>
        <p:nvSpPr>
          <p:cNvPr id="12" name="TextBox 11"/>
          <p:cNvSpPr txBox="1"/>
          <p:nvPr/>
        </p:nvSpPr>
        <p:spPr>
          <a:xfrm>
            <a:off x="1417320" y="1645919"/>
            <a:ext cx="10058400" cy="685799"/>
          </a:xfrm>
          <a:prstGeom prst="rect">
            <a:avLst/>
          </a:prstGeom>
          <a:noFill/>
        </p:spPr>
        <p:txBody>
          <a:bodyPr wrap="square" anchor="t">
            <a:spAutoFit/>
          </a:bodyPr>
          <a:lstStyle/>
          <a:p>
            <a:pPr algn="l"/>
            <a:r>
              <a:rPr sz="1350" b="0" i="0">
                <a:solidFill>
                  <a:srgbClr val="556075"/>
                </a:solidFill>
                <a:latin typeface="Calibri"/>
              </a:rPr>
              <a:t>4周自测：BBC新闻理解率≥80%；真题口音失分&lt;3题/套</a:t>
            </a:r>
          </a:p>
        </p:txBody>
      </p:sp>
      <p:sp>
        <p:nvSpPr>
          <p:cNvPr id="13" name="Rounded Rectangle 12"/>
          <p:cNvSpPr/>
          <p:nvPr/>
        </p:nvSpPr>
        <p:spPr>
          <a:xfrm>
            <a:off x="548640" y="2331720"/>
            <a:ext cx="640080" cy="6400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38658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TextBox 14"/>
          <p:cNvSpPr txBox="1"/>
          <p:nvPr/>
        </p:nvSpPr>
        <p:spPr>
          <a:xfrm>
            <a:off x="1417320" y="2331720"/>
            <a:ext cx="10058400" cy="411480"/>
          </a:xfrm>
          <a:prstGeom prst="rect">
            <a:avLst/>
          </a:prstGeom>
          <a:noFill/>
        </p:spPr>
        <p:txBody>
          <a:bodyPr wrap="square" anchor="t">
            <a:spAutoFit/>
          </a:bodyPr>
          <a:lstStyle/>
          <a:p>
            <a:pPr algn="l"/>
            <a:r>
              <a:rPr sz="1600" b="1" i="0">
                <a:solidFill>
                  <a:srgbClr val="0F4C5C"/>
                </a:solidFill>
                <a:latin typeface="Calibri"/>
              </a:rPr>
              <a:t>维持输入</a:t>
            </a:r>
          </a:p>
        </p:txBody>
      </p:sp>
      <p:sp>
        <p:nvSpPr>
          <p:cNvPr id="16" name="TextBox 15"/>
          <p:cNvSpPr txBox="1"/>
          <p:nvPr/>
        </p:nvSpPr>
        <p:spPr>
          <a:xfrm>
            <a:off x="1417320" y="2697479"/>
            <a:ext cx="10058400" cy="685799"/>
          </a:xfrm>
          <a:prstGeom prst="rect">
            <a:avLst/>
          </a:prstGeom>
          <a:noFill/>
        </p:spPr>
        <p:txBody>
          <a:bodyPr wrap="square" anchor="t">
            <a:spAutoFit/>
          </a:bodyPr>
          <a:lstStyle/>
          <a:p>
            <a:pPr algn="l"/>
            <a:r>
              <a:rPr sz="1350" b="0" i="0">
                <a:solidFill>
                  <a:srgbClr val="556075"/>
                </a:solidFill>
                <a:latin typeface="Calibri"/>
              </a:rPr>
              <a:t>每天10分钟英式/澳式输入维持——停止输入后大脑会"漂移"回美式习惯</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口音适应训练：30天计划</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84048"/>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题目：Week 1：认知
Week 2：接触（被动输入为主）
Week 3：主动训练（影子跟读+连读专项）
Week 4：检验+巩固</a:t>
            </a:r>
          </a:p>
        </p:txBody>
      </p:sp>
      <p:sp>
        <p:nvSpPr>
          <p:cNvPr id="10" name="Rounded Rectangle 9"/>
          <p:cNvSpPr/>
          <p:nvPr/>
        </p:nvSpPr>
        <p:spPr>
          <a:xfrm>
            <a:off x="548640" y="1783080"/>
            <a:ext cx="7040880" cy="416052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Day 1-7：每天30分钟BBC，不追求听懂，只"泡"在英式输入中
Day 8-14：开始影子跟读，每天15分钟；同时学10个连读词组
Day 15-21：做2套真题，专项标注口音失分题，针对性补课
Day 22-30：全流程模考，口音问题应已基本消除</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12A594"/>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30天不是指30天就能完全适应——而是口音不再是做题瓶颈所需的最少天数</a:t>
            </a:r>
          </a:p>
          <a:p>
            <a:pPr>
              <a:spcBef>
                <a:spcPts val="700"/>
              </a:spcBef>
            </a:pPr>
            <a:r>
              <a:rPr sz="1200">
                <a:solidFill>
                  <a:srgbClr val="1E293B"/>
                </a:solidFill>
              </a:rPr>
              <a:t>▸ 深圳学生英语基础好，口音适应通常比其他地区考生更快（约2-3周显效）</a:t>
            </a:r>
          </a:p>
          <a:p>
            <a:pPr>
              <a:spcBef>
                <a:spcPts val="700"/>
              </a:spcBef>
            </a:pPr>
            <a:r>
              <a:rPr sz="1200">
                <a:solidFill>
                  <a:srgbClr val="1E293B"/>
                </a:solidFill>
              </a:rPr>
              <a:t>▸ 维持阶段：考试前每天继续10分钟英式输入，防止"漂移"</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口音真题分析：S2英式独白典型例子</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84048"/>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题目：Script (British): "The car park is situated to the north of the building,
accessible via the back entrance. It can't accommodate more than
fifty vehicles at any one time, and staff passes are not valid after six."</a:t>
            </a:r>
          </a:p>
        </p:txBody>
      </p:sp>
      <p:sp>
        <p:nvSpPr>
          <p:cNvPr id="10" name="Rounded Rectangle 9"/>
          <p:cNvSpPr/>
          <p:nvPr/>
        </p:nvSpPr>
        <p:spPr>
          <a:xfrm>
            <a:off x="548640" y="1783080"/>
            <a:ext cx="7040880" cy="416052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口音陷阱分析：
① car /kɑː/ → r不发音（英式），不要听成美式/kɑːr/
② can't /kɑːnt/ → /ɑː/，不要误听成can /kən/（弱读）
③ fifty /ˈfɪfti/ → 注意vs fifteen /fɪfˈtiːn/（重音位置区分）
④ valid /ˈvælɪd/ → /æ/（这个词美英发音相同）</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12A594"/>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car/park/can't都含英式/ɑː/——统一处理，不要每个词单独分析</a:t>
            </a:r>
          </a:p>
          <a:p>
            <a:pPr>
              <a:spcBef>
                <a:spcPts val="700"/>
              </a:spcBef>
            </a:pPr>
            <a:r>
              <a:rPr sz="1200">
                <a:solidFill>
                  <a:srgbClr val="1E293B"/>
                </a:solidFill>
              </a:rPr>
              <a:t>▸ can't识别关键：重读+/ɑː/长元音；can弱读为/kən/（短促）</a:t>
            </a:r>
          </a:p>
          <a:p>
            <a:pPr>
              <a:spcBef>
                <a:spcPts val="700"/>
              </a:spcBef>
            </a:pPr>
            <a:r>
              <a:rPr sz="1200">
                <a:solidFill>
                  <a:srgbClr val="1E293B"/>
                </a:solidFill>
              </a:rPr>
              <a:t>▸ 这类S2独白是口音适应练习的最佳材料——单人、清晰、实用词汇</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口音适应：训练前 vs 训练后</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 训练前（6分常见困境）</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 训练后（7.5+分目标）</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听到/ɑː/误判为/æ/：can't听成can，写错答案</a:t>
            </a:r>
          </a:p>
          <a:p>
            <a:pPr>
              <a:spcBef>
                <a:spcPts val="700"/>
              </a:spcBef>
            </a:pPr>
            <a:r>
              <a:rPr sz="1350">
                <a:solidFill>
                  <a:srgbClr val="C02A2A"/>
                </a:solidFill>
              </a:rPr>
              <a:t>✗ 连读没反应：gonna/wanna听不出是going to/want to</a:t>
            </a:r>
          </a:p>
          <a:p>
            <a:pPr>
              <a:spcBef>
                <a:spcPts val="700"/>
              </a:spcBef>
            </a:pPr>
            <a:r>
              <a:rPr sz="1350">
                <a:solidFill>
                  <a:srgbClr val="C02A2A"/>
                </a:solidFill>
              </a:rPr>
              <a:t>✗ 澳式口音感觉"奇怪"，做澳式题正确率明显低于英式</a:t>
            </a:r>
          </a:p>
          <a:p>
            <a:pPr>
              <a:spcBef>
                <a:spcPts val="700"/>
              </a:spcBef>
            </a:pPr>
            <a:r>
              <a:rPr sz="1350">
                <a:solidFill>
                  <a:srgbClr val="C02A2A"/>
                </a:solidFill>
              </a:rPr>
              <a:t>✗ 每套真题因口音问题丢失3-5题</a:t>
            </a:r>
          </a:p>
          <a:p>
            <a:pPr>
              <a:spcBef>
                <a:spcPts val="700"/>
              </a:spcBef>
            </a:pPr>
            <a:r>
              <a:rPr sz="1350">
                <a:solidFill>
                  <a:srgbClr val="C02A2A"/>
                </a:solidFill>
              </a:rPr>
              <a:t>✗ 做真题时频繁暂停，尝试"听清楚"——浪费注意力</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听到/ɑː/立刻反应：can't，不需要停下来思考</a:t>
            </a:r>
          </a:p>
          <a:p>
            <a:pPr>
              <a:spcBef>
                <a:spcPts val="700"/>
              </a:spcBef>
            </a:pPr>
            <a:r>
              <a:rPr sz="1350">
                <a:solidFill>
                  <a:srgbClr val="1B7A3D"/>
                </a:solidFill>
              </a:rPr>
              <a:t>✓ 连读自动识别：gonna=going to，大脑自动解码</a:t>
            </a:r>
          </a:p>
          <a:p>
            <a:pPr>
              <a:spcBef>
                <a:spcPts val="700"/>
              </a:spcBef>
            </a:pPr>
            <a:r>
              <a:rPr sz="1350">
                <a:solidFill>
                  <a:srgbClr val="1B7A3D"/>
                </a:solidFill>
              </a:rPr>
              <a:t>✓ 英式/澳式题正确率无明显差异（已适应两种口音）</a:t>
            </a:r>
          </a:p>
          <a:p>
            <a:pPr>
              <a:spcBef>
                <a:spcPts val="700"/>
              </a:spcBef>
            </a:pPr>
            <a:r>
              <a:rPr sz="1350">
                <a:solidFill>
                  <a:srgbClr val="1B7A3D"/>
                </a:solidFill>
              </a:rPr>
              <a:t>✓ 每套真题因口音问题丢失&lt;1题</a:t>
            </a:r>
          </a:p>
          <a:p>
            <a:pPr>
              <a:spcBef>
                <a:spcPts val="700"/>
              </a:spcBef>
            </a:pPr>
            <a:r>
              <a:rPr sz="1350">
                <a:solidFill>
                  <a:srgbClr val="1B7A3D"/>
                </a:solidFill>
              </a:rPr>
              <a:t>✓ 做真题时全程流畅，不因口音分神</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连读误区：识别失败 vs 成功</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 连读识别失败</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 连读识别成功</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"going to visit" → 听到"gonna visit"，不知道是什么词</a:t>
            </a:r>
          </a:p>
          <a:p>
            <a:pPr>
              <a:spcBef>
                <a:spcPts val="700"/>
              </a:spcBef>
            </a:pPr>
            <a:r>
              <a:rPr sz="1350">
                <a:solidFill>
                  <a:srgbClr val="C02A2A"/>
                </a:solidFill>
              </a:rPr>
              <a:t>✗ "did you" → 听到"didja"，认为录音质量差</a:t>
            </a:r>
          </a:p>
          <a:p>
            <a:pPr>
              <a:spcBef>
                <a:spcPts val="700"/>
              </a:spcBef>
            </a:pPr>
            <a:r>
              <a:rPr sz="1350">
                <a:solidFill>
                  <a:srgbClr val="C02A2A"/>
                </a:solidFill>
              </a:rPr>
              <a:t>✗ "kind of" → 听到"kinda"，停下来纠结</a:t>
            </a:r>
          </a:p>
          <a:p>
            <a:pPr>
              <a:spcBef>
                <a:spcPts val="700"/>
              </a:spcBef>
            </a:pPr>
            <a:r>
              <a:rPr sz="1350">
                <a:solidFill>
                  <a:srgbClr val="C02A2A"/>
                </a:solidFill>
              </a:rPr>
              <a:t>✗ "could have" → 听到"coulda"，误判为"cold"</a:t>
            </a:r>
          </a:p>
          <a:p>
            <a:pPr>
              <a:spcBef>
                <a:spcPts val="700"/>
              </a:spcBef>
            </a:pPr>
            <a:r>
              <a:rPr sz="1350">
                <a:solidFill>
                  <a:srgbClr val="C02A2A"/>
                </a:solidFill>
              </a:rPr>
              <a:t>✗ "want to" → 听到"wanna"，认为是人名</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"gonna visit" → 立刻识别为"going to visit"</a:t>
            </a:r>
          </a:p>
          <a:p>
            <a:pPr>
              <a:spcBef>
                <a:spcPts val="700"/>
              </a:spcBef>
            </a:pPr>
            <a:r>
              <a:rPr sz="1350">
                <a:solidFill>
                  <a:srgbClr val="1B7A3D"/>
                </a:solidFill>
              </a:rPr>
              <a:t>✓ "didja" → 立刻识别为"did you"，这是正常口语</a:t>
            </a:r>
          </a:p>
          <a:p>
            <a:pPr>
              <a:spcBef>
                <a:spcPts val="700"/>
              </a:spcBef>
            </a:pPr>
            <a:r>
              <a:rPr sz="1350">
                <a:solidFill>
                  <a:srgbClr val="1B7A3D"/>
                </a:solidFill>
              </a:rPr>
              <a:t>✓ "kinda" → 立刻识别为"kind of"，继续追踪内容词</a:t>
            </a:r>
          </a:p>
          <a:p>
            <a:pPr>
              <a:spcBef>
                <a:spcPts val="700"/>
              </a:spcBef>
            </a:pPr>
            <a:r>
              <a:rPr sz="1350">
                <a:solidFill>
                  <a:srgbClr val="1B7A3D"/>
                </a:solidFill>
              </a:rPr>
              <a:t>✓ "coulda" → 立刻识别为"could have"，判断虚拟语气</a:t>
            </a:r>
          </a:p>
          <a:p>
            <a:pPr>
              <a:spcBef>
                <a:spcPts val="700"/>
              </a:spcBef>
            </a:pPr>
            <a:r>
              <a:rPr sz="1350">
                <a:solidFill>
                  <a:srgbClr val="1B7A3D"/>
                </a:solidFill>
              </a:rPr>
              <a:t>✓ "wanna" → 立刻识别为"want to"，追踪动作内容</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12A594"/>
                </a:solidFill>
                <a:latin typeface="Calibri"/>
              </a:rPr>
              <a:t>PART 07</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课堂练习：口音辨识</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Accent Recognition Drills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练习1：英美口音对比辨音</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88720"/>
            <a:ext cx="11064240" cy="640080"/>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老师分别用英式和美式发音读以下词，写出你听到的音标特征</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① can't（区分/ɑː/ vs /æ/）</a:t>
            </a:r>
          </a:p>
          <a:p>
            <a:pPr>
              <a:spcBef>
                <a:spcPts val="1100"/>
              </a:spcBef>
            </a:pPr>
            <a:r>
              <a:rPr sz="1500">
                <a:solidFill>
                  <a:srgbClr val="1E293B"/>
                </a:solidFill>
              </a:rPr>
              <a:t>▢ ② water（区分/ˈwɔːtə/ vs /ˈwɑːdər/）</a:t>
            </a:r>
          </a:p>
          <a:p>
            <a:pPr>
              <a:spcBef>
                <a:spcPts val="1100"/>
              </a:spcBef>
            </a:pPr>
            <a:r>
              <a:rPr sz="1500">
                <a:solidFill>
                  <a:srgbClr val="1E293B"/>
                </a:solidFill>
              </a:rPr>
              <a:t>▢ ③ hot（区分/hɒt/ vs /hɑːt/）</a:t>
            </a:r>
          </a:p>
          <a:p>
            <a:pPr>
              <a:spcBef>
                <a:spcPts val="1100"/>
              </a:spcBef>
            </a:pPr>
            <a:r>
              <a:rPr sz="1500">
                <a:solidFill>
                  <a:srgbClr val="1E293B"/>
                </a:solidFill>
              </a:rPr>
              <a:t>▢ ④ here（区分/hɪə/ vs /hɪr/）</a:t>
            </a:r>
          </a:p>
          <a:p>
            <a:pPr>
              <a:spcBef>
                <a:spcPts val="1100"/>
              </a:spcBef>
            </a:pPr>
            <a:r>
              <a:rPr sz="1500">
                <a:solidFill>
                  <a:srgbClr val="1E293B"/>
                </a:solidFill>
              </a:rPr>
              <a:t>▢ ⑤ schedule（区分/ˈʃedjuːl/ vs /ˈskedjuːl/）</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练习2：连读解码（10组）</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88720"/>
            <a:ext cx="11064240" cy="640080"/>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听老师读以下连读形式，写出完整的标准英文</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① wanna  ② gonna  ③ kinda  ④ didja  ⑤ coulda</a:t>
            </a:r>
          </a:p>
          <a:p>
            <a:pPr>
              <a:spcBef>
                <a:spcPts val="1100"/>
              </a:spcBef>
            </a:pPr>
            <a:r>
              <a:rPr sz="1500">
                <a:solidFill>
                  <a:srgbClr val="1E293B"/>
                </a:solidFill>
              </a:rPr>
              <a:t>▢ ⑥ hafta  ⑦ lemme  ⑧ outta  ⑨ dunno  ⑩ shoulda</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练习3：弱读虚词识别</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88720"/>
            <a:ext cx="11064240" cy="640080"/>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听句子，标出弱读的虚词（and/of/to/the/for/at等）</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"A lot of students are waiting for the bus at the stop."</a:t>
            </a:r>
          </a:p>
          <a:p>
            <a:pPr>
              <a:spcBef>
                <a:spcPts val="1100"/>
              </a:spcBef>
            </a:pPr>
            <a:r>
              <a:rPr sz="1500">
                <a:solidFill>
                  <a:srgbClr val="1E293B"/>
                </a:solidFill>
              </a:rPr>
              <a:t>▢ "She's going to apply for a place at the university."</a:t>
            </a:r>
          </a:p>
          <a:p>
            <a:pPr>
              <a:spcBef>
                <a:spcPts val="1100"/>
              </a:spcBef>
            </a:pPr>
            <a:r>
              <a:rPr sz="1500">
                <a:solidFill>
                  <a:srgbClr val="1E293B"/>
                </a:solidFill>
              </a:rPr>
              <a:t>▢ "Can you tell me what time the lecture starts and ends?"</a:t>
            </a:r>
          </a:p>
          <a:p>
            <a:pPr>
              <a:spcBef>
                <a:spcPts val="1100"/>
              </a:spcBef>
            </a:pPr>
            <a:r>
              <a:rPr sz="1500">
                <a:solidFill>
                  <a:srgbClr val="1E293B"/>
                </a:solidFill>
              </a:rPr>
              <a:t>▢ 目标：弱读虚词在实际语速中几乎听不清——这是正常现象</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练习4：澳式口音辨识</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88720"/>
            <a:ext cx="11064240" cy="640080"/>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以下句子用澳式口音朗读，写出标准拼写</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"Toiday's session will be on the moin topic of climate chynge."</a:t>
            </a:r>
          </a:p>
          <a:p>
            <a:pPr>
              <a:spcBef>
                <a:spcPts val="1100"/>
              </a:spcBef>
            </a:pPr>
            <a:r>
              <a:rPr sz="1500">
                <a:solidFill>
                  <a:srgbClr val="1E293B"/>
                </a:solidFill>
              </a:rPr>
              <a:t>▢ "We're going to teik a luk at the reizons behind this triend."</a:t>
            </a:r>
          </a:p>
          <a:p>
            <a:pPr>
              <a:spcBef>
                <a:spcPts val="1100"/>
              </a:spcBef>
            </a:pPr>
            <a:r>
              <a:rPr sz="1500">
                <a:solidFill>
                  <a:srgbClr val="1E293B"/>
                </a:solidFill>
              </a:rPr>
              <a:t>▢ （澳式：today/take/look/reasons/trend中的元音上移）</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练习5：口音综合真题实战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88720"/>
            <a:ext cx="11064240" cy="640080"/>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以下S2英式录音（节选），完整听写并标注3处口音特征</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"The nature reserve covers approximately 200 hectares of woodland
and is home to over 150 species of birds. Visitors can't park
inside the reserve, but there's a free car park half a mile away."</a:t>
            </a:r>
          </a:p>
          <a:p>
            <a:pPr>
              <a:spcBef>
                <a:spcPts val="1100"/>
              </a:spcBef>
            </a:pPr>
            <a:r>
              <a:rPr sz="1500">
                <a:solidFill>
                  <a:srgbClr val="1E293B"/>
                </a:solidFill>
              </a:rPr>
              <a:t>▢ 口音特征标注：① can't的/ɑː/ ② car park的r省略 ③ hectares的重音</a:t>
            </a:r>
          </a:p>
          <a:p>
            <a:pPr>
              <a:spcBef>
                <a:spcPts val="1100"/>
              </a:spcBef>
            </a:pPr>
            <a:r>
              <a:rPr sz="1500">
                <a:solidFill>
                  <a:srgbClr val="1E293B"/>
                </a:solidFill>
              </a:rPr>
              <a:t>▢ 注意：approximately/species/reserve中的英式元音</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12A594"/>
                </a:solidFill>
                <a:latin typeface="Calibri"/>
              </a:rPr>
              <a:t>PART 08</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口音适应误区</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Accent Adaptation Pitfalls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7A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000" b="1" i="0">
                <a:solidFill>
                  <a:srgbClr val="FFFFFF"/>
                </a:solidFill>
                <a:latin typeface="Calibri"/>
              </a:rPr>
              <a:t>🎯 深圳学生高频痛点 · 口音适应的三大误区</a:t>
            </a:r>
          </a:p>
        </p:txBody>
      </p:sp>
      <p:sp>
        <p:nvSpPr>
          <p:cNvPr id="6" name="TextBox 5"/>
          <p:cNvSpPr txBox="1"/>
          <p:nvPr/>
        </p:nvSpPr>
        <p:spPr>
          <a:xfrm>
            <a:off x="548640" y="1143000"/>
            <a:ext cx="5486400" cy="411480"/>
          </a:xfrm>
          <a:prstGeom prst="rect">
            <a:avLst/>
          </a:prstGeom>
          <a:noFill/>
        </p:spPr>
        <p:txBody>
          <a:bodyPr wrap="square" anchor="t">
            <a:spAutoFit/>
          </a:bodyPr>
          <a:lstStyle/>
          <a:p>
            <a:pPr algn="l"/>
            <a:r>
              <a:rPr sz="1500" b="1" i="0">
                <a:solidFill>
                  <a:srgbClr val="C02A2A"/>
                </a:solidFill>
                <a:latin typeface="Calibri"/>
              </a:rPr>
              <a:t>❌ 常见误区</a:t>
            </a:r>
          </a:p>
        </p:txBody>
      </p:sp>
      <p:sp>
        <p:nvSpPr>
          <p:cNvPr id="7" name="TextBox 6"/>
          <p:cNvSpPr txBox="1"/>
          <p:nvPr/>
        </p:nvSpPr>
        <p:spPr>
          <a:xfrm>
            <a:off x="548640" y="1645920"/>
            <a:ext cx="5486400" cy="4572000"/>
          </a:xfrm>
          <a:prstGeom prst="rect">
            <a:avLst/>
          </a:prstGeom>
          <a:noFill/>
        </p:spPr>
        <p:txBody>
          <a:bodyPr wrap="square">
            <a:spAutoFit/>
          </a:bodyPr>
          <a:lstStyle/>
          <a:p>
            <a:r>
              <a:rPr sz="1400">
                <a:solidFill>
                  <a:srgbClr val="C02A2A"/>
                </a:solidFill>
              </a:rPr>
              <a:t>✗ 只靠做题适应：每套真题做完就结束，没有专项口音训练——做100套题口音还是没适应</a:t>
            </a:r>
          </a:p>
          <a:p>
            <a:pPr>
              <a:spcBef>
                <a:spcPts val="800"/>
              </a:spcBef>
            </a:pPr>
            <a:r>
              <a:rPr sz="1400">
                <a:solidFill>
                  <a:srgbClr val="C02A2A"/>
                </a:solidFill>
              </a:rPr>
              <a:t>✗ 只听美式材料：平时听美式播客/美剧，考前才发现口音不适应——太晚了</a:t>
            </a:r>
          </a:p>
          <a:p>
            <a:pPr>
              <a:spcBef>
                <a:spcPts val="800"/>
              </a:spcBef>
            </a:pPr>
            <a:r>
              <a:rPr sz="1400">
                <a:solidFill>
                  <a:srgbClr val="C02A2A"/>
                </a:solidFill>
              </a:rPr>
              <a:t>✗ 追求"听懂每个词"：在口语快速语流中，母语者本身也听不清每个虚词——这是正常现象</a:t>
            </a:r>
          </a:p>
        </p:txBody>
      </p:sp>
      <p:sp>
        <p:nvSpPr>
          <p:cNvPr id="8" name="Rectangle 7"/>
          <p:cNvSpPr/>
          <p:nvPr/>
        </p:nvSpPr>
        <p:spPr>
          <a:xfrm>
            <a:off x="6108192" y="1097280"/>
            <a:ext cx="36576" cy="5212080"/>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143000"/>
            <a:ext cx="5486400" cy="411480"/>
          </a:xfrm>
          <a:prstGeom prst="rect">
            <a:avLst/>
          </a:prstGeom>
          <a:noFill/>
        </p:spPr>
        <p:txBody>
          <a:bodyPr wrap="square" anchor="t">
            <a:spAutoFit/>
          </a:bodyPr>
          <a:lstStyle/>
          <a:p>
            <a:pPr algn="l"/>
            <a:r>
              <a:rPr sz="1500" b="1" i="0">
                <a:solidFill>
                  <a:srgbClr val="1B7A3D"/>
                </a:solidFill>
                <a:latin typeface="Calibri"/>
              </a:rPr>
              <a:t>✅ 正确做法</a:t>
            </a:r>
          </a:p>
        </p:txBody>
      </p:sp>
      <p:sp>
        <p:nvSpPr>
          <p:cNvPr id="10" name="TextBox 9"/>
          <p:cNvSpPr txBox="1"/>
          <p:nvPr/>
        </p:nvSpPr>
        <p:spPr>
          <a:xfrm>
            <a:off x="6309360" y="1645920"/>
            <a:ext cx="5394960" cy="4572000"/>
          </a:xfrm>
          <a:prstGeom prst="rect">
            <a:avLst/>
          </a:prstGeom>
          <a:noFill/>
        </p:spPr>
        <p:txBody>
          <a:bodyPr wrap="square">
            <a:spAutoFit/>
          </a:bodyPr>
          <a:lstStyle/>
          <a:p>
            <a:r>
              <a:rPr sz="1400">
                <a:solidFill>
                  <a:srgbClr val="1B7A3D"/>
                </a:solidFill>
              </a:rPr>
              <a:t>✓ 专项输入：每天10分钟BBC/ABC，不需要特别精听，大量接触本身就是训练</a:t>
            </a:r>
          </a:p>
          <a:p>
            <a:pPr>
              <a:spcBef>
                <a:spcPts val="800"/>
              </a:spcBef>
            </a:pPr>
            <a:r>
              <a:rPr sz="1400">
                <a:solidFill>
                  <a:srgbClr val="1B7A3D"/>
                </a:solidFill>
              </a:rPr>
              <a:t>✓ 提前准备：至少提前4周开始英式/澳式输入，不要到备考最后阶段才意识到口音问题</a:t>
            </a:r>
          </a:p>
          <a:p>
            <a:pPr>
              <a:spcBef>
                <a:spcPts val="800"/>
              </a:spcBef>
            </a:pPr>
            <a:r>
              <a:rPr sz="1400">
                <a:solidFill>
                  <a:srgbClr val="1B7A3D"/>
                </a:solidFill>
              </a:rPr>
              <a:t>✓ 调整预期：不追求听清虚词，只追踪实义词——答案永远在实义词中，不在虚词里</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口音适应与做题策略的结合</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4572000"/>
          </a:xfrm>
          <a:prstGeom prst="rect">
            <a:avLst/>
          </a:prstGeom>
          <a:noFill/>
        </p:spPr>
        <p:txBody>
          <a:bodyPr wrap="square">
            <a:spAutoFit/>
          </a:bodyPr>
          <a:lstStyle/>
          <a:p>
            <a:r>
              <a:rPr sz="1850" b="1">
                <a:solidFill>
                  <a:srgbClr val="0F4C5C"/>
                </a:solidFill>
              </a:rPr>
              <a:t>• 预读期间</a:t>
            </a:r>
          </a:p>
          <a:p>
            <a:pPr>
              <a:spcBef>
                <a:spcPts val="100"/>
              </a:spcBef>
            </a:pPr>
            <a:r>
              <a:rPr sz="1550">
                <a:solidFill>
                  <a:srgbClr val="556075"/>
                </a:solidFill>
              </a:rPr>
              <a:t>   不受口音影响——预读是看题目，不是听录音</a:t>
            </a:r>
          </a:p>
          <a:p>
            <a:pPr>
              <a:spcBef>
                <a:spcPts val="1000"/>
              </a:spcBef>
            </a:pPr>
            <a:r>
              <a:rPr sz="1850" b="1">
                <a:solidFill>
                  <a:srgbClr val="0F4C5C"/>
                </a:solidFill>
              </a:rPr>
              <a:t>• 听题期间</a:t>
            </a:r>
          </a:p>
          <a:p>
            <a:pPr>
              <a:spcBef>
                <a:spcPts val="100"/>
              </a:spcBef>
            </a:pPr>
            <a:r>
              <a:rPr sz="1550">
                <a:solidFill>
                  <a:srgbClr val="556075"/>
                </a:solidFill>
              </a:rPr>
              <a:t>   已知口音特征→自动解码→不需要特别注意</a:t>
            </a:r>
          </a:p>
          <a:p>
            <a:pPr>
              <a:spcBef>
                <a:spcPts val="1000"/>
              </a:spcBef>
            </a:pPr>
            <a:r>
              <a:rPr sz="1850" b="1">
                <a:solidFill>
                  <a:srgbClr val="0F4C5C"/>
                </a:solidFill>
              </a:rPr>
              <a:t>• 跟丢后重定位</a:t>
            </a:r>
          </a:p>
          <a:p>
            <a:pPr>
              <a:spcBef>
                <a:spcPts val="100"/>
              </a:spcBef>
            </a:pPr>
            <a:r>
              <a:rPr sz="1550">
                <a:solidFill>
                  <a:srgbClr val="556075"/>
                </a:solidFill>
              </a:rPr>
              <a:t>   用题目中的关键词（书面形式）重新定位，不靠音感</a:t>
            </a:r>
          </a:p>
          <a:p>
            <a:pPr>
              <a:spcBef>
                <a:spcPts val="1000"/>
              </a:spcBef>
            </a:pPr>
            <a:r>
              <a:rPr sz="1850" b="1">
                <a:solidFill>
                  <a:srgbClr val="0F4C5C"/>
                </a:solidFill>
              </a:rPr>
              <a:t>• 誊写期间</a:t>
            </a:r>
          </a:p>
          <a:p>
            <a:pPr>
              <a:spcBef>
                <a:spcPts val="100"/>
              </a:spcBef>
            </a:pPr>
            <a:r>
              <a:rPr sz="1550">
                <a:solidFill>
                  <a:srgbClr val="556075"/>
                </a:solidFill>
              </a:rPr>
              <a:t>   拼写靠题目意义判断，不靠"听起来怎么写"</a:t>
            </a:r>
          </a:p>
          <a:p>
            <a:pPr>
              <a:spcBef>
                <a:spcPts val="1000"/>
              </a:spcBef>
            </a:pPr>
            <a:r>
              <a:rPr sz="1850" b="1">
                <a:solidFill>
                  <a:srgbClr val="0F4C5C"/>
                </a:solidFill>
              </a:rPr>
              <a:t>• 口音失分补救</a:t>
            </a:r>
          </a:p>
          <a:p>
            <a:pPr>
              <a:spcBef>
                <a:spcPts val="100"/>
              </a:spcBef>
            </a:pPr>
            <a:r>
              <a:rPr sz="1550">
                <a:solidFill>
                  <a:srgbClr val="556075"/>
                </a:solidFill>
              </a:rPr>
              <a:t>   做错因口音的题：标注音素→专项输入→下次真题重测</a:t>
            </a:r>
          </a:p>
        </p:txBody>
      </p:sp>
      <p:sp>
        <p:nvSpPr>
          <p:cNvPr id="8" name="Rectangle 7"/>
          <p:cNvSpPr/>
          <p:nvPr/>
        </p:nvSpPr>
        <p:spPr>
          <a:xfrm>
            <a:off x="548640" y="5989320"/>
            <a:ext cx="11064240" cy="548640"/>
          </a:xfrm>
          <a:prstGeom prst="rect">
            <a:avLst/>
          </a:prstGeom>
          <a:solidFill>
            <a:srgbClr val="FD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035040"/>
            <a:ext cx="10698480" cy="457200"/>
          </a:xfrm>
          <a:prstGeom prst="rect">
            <a:avLst/>
          </a:prstGeom>
          <a:noFill/>
        </p:spPr>
        <p:txBody>
          <a:bodyPr wrap="square" anchor="ctr">
            <a:spAutoFit/>
          </a:bodyPr>
          <a:lstStyle/>
          <a:p>
            <a:pPr algn="l"/>
            <a:r>
              <a:rPr sz="1250" b="0" i="1">
                <a:solidFill>
                  <a:srgbClr val="C02A2A"/>
                </a:solidFill>
                <a:latin typeface="Calibri"/>
              </a:rPr>
              <a:t>⚠ 深圳学生注意：口音适应是背景能力，做好后无需再思考——让精力集中在策略和预读上</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深圳学生口音适应特殊建议</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4572000"/>
          </a:xfrm>
          <a:prstGeom prst="rect">
            <a:avLst/>
          </a:prstGeom>
          <a:noFill/>
        </p:spPr>
        <p:txBody>
          <a:bodyPr wrap="square">
            <a:spAutoFit/>
          </a:bodyPr>
          <a:lstStyle/>
          <a:p>
            <a:r>
              <a:rPr sz="1850" b="1">
                <a:solidFill>
                  <a:srgbClr val="0F4C5C"/>
                </a:solidFill>
              </a:rPr>
              <a:t>• 优势</a:t>
            </a:r>
          </a:p>
          <a:p>
            <a:pPr>
              <a:spcBef>
                <a:spcPts val="100"/>
              </a:spcBef>
            </a:pPr>
            <a:r>
              <a:rPr sz="1550">
                <a:solidFill>
                  <a:srgbClr val="556075"/>
                </a:solidFill>
              </a:rPr>
              <a:t>   深圳学生普遍英语基础好，音素认知能力强，口音适应更快</a:t>
            </a:r>
          </a:p>
          <a:p>
            <a:pPr>
              <a:spcBef>
                <a:spcPts val="1000"/>
              </a:spcBef>
            </a:pPr>
            <a:r>
              <a:rPr sz="1850" b="1">
                <a:solidFill>
                  <a:srgbClr val="0F4C5C"/>
                </a:solidFill>
              </a:rPr>
              <a:t>• 劣势</a:t>
            </a:r>
          </a:p>
          <a:p>
            <a:pPr>
              <a:spcBef>
                <a:spcPts val="100"/>
              </a:spcBef>
            </a:pPr>
            <a:r>
              <a:rPr sz="1550">
                <a:solidFill>
                  <a:srgbClr val="556075"/>
                </a:solidFill>
              </a:rPr>
              <a:t>   大量美式英语输入（美剧/美式教材）导致美式口音"优势假设"</a:t>
            </a:r>
          </a:p>
          <a:p>
            <a:pPr>
              <a:spcBef>
                <a:spcPts val="1000"/>
              </a:spcBef>
            </a:pPr>
            <a:r>
              <a:rPr sz="1850" b="1">
                <a:solidFill>
                  <a:srgbClr val="0F4C5C"/>
                </a:solidFill>
              </a:rPr>
              <a:t>• 核心建议</a:t>
            </a:r>
          </a:p>
          <a:p>
            <a:pPr>
              <a:spcBef>
                <a:spcPts val="100"/>
              </a:spcBef>
            </a:pPr>
            <a:r>
              <a:rPr sz="1550">
                <a:solidFill>
                  <a:srgbClr val="556075"/>
                </a:solidFill>
              </a:rPr>
              <a:t>   备考期间暂停美式输入，全面切换到英式/澳式材料</a:t>
            </a:r>
          </a:p>
          <a:p>
            <a:pPr>
              <a:spcBef>
                <a:spcPts val="1000"/>
              </a:spcBef>
            </a:pPr>
            <a:r>
              <a:rPr sz="1850" b="1">
                <a:solidFill>
                  <a:srgbClr val="0F4C5C"/>
                </a:solidFill>
              </a:rPr>
              <a:t>• 时间要求</a:t>
            </a:r>
          </a:p>
          <a:p>
            <a:pPr>
              <a:spcBef>
                <a:spcPts val="100"/>
              </a:spcBef>
            </a:pPr>
            <a:r>
              <a:rPr sz="1550">
                <a:solidFill>
                  <a:srgbClr val="556075"/>
                </a:solidFill>
              </a:rPr>
              <a:t>   至少4周，最好8周——神经可塑性需要时间</a:t>
            </a:r>
          </a:p>
          <a:p>
            <a:pPr>
              <a:spcBef>
                <a:spcPts val="1000"/>
              </a:spcBef>
            </a:pPr>
            <a:r>
              <a:rPr sz="1850" b="1">
                <a:solidFill>
                  <a:srgbClr val="0F4C5C"/>
                </a:solidFill>
              </a:rPr>
              <a:t>• 考前一周</a:t>
            </a:r>
          </a:p>
          <a:p>
            <a:pPr>
              <a:spcBef>
                <a:spcPts val="100"/>
              </a:spcBef>
            </a:pPr>
            <a:r>
              <a:rPr sz="1550">
                <a:solidFill>
                  <a:srgbClr val="556075"/>
                </a:solidFill>
              </a:rPr>
              <a:t>   每天听2-3段雅思真题录音，保持英式/澳式"热身"状态</a:t>
            </a:r>
          </a:p>
        </p:txBody>
      </p:sp>
      <p:sp>
        <p:nvSpPr>
          <p:cNvPr id="8" name="Rectangle 7"/>
          <p:cNvSpPr/>
          <p:nvPr/>
        </p:nvSpPr>
        <p:spPr>
          <a:xfrm>
            <a:off x="548640" y="5989320"/>
            <a:ext cx="11064240" cy="548640"/>
          </a:xfrm>
          <a:prstGeom prst="rect">
            <a:avLst/>
          </a:prstGeom>
          <a:solidFill>
            <a:srgbClr val="FD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035040"/>
            <a:ext cx="10698480" cy="457200"/>
          </a:xfrm>
          <a:prstGeom prst="rect">
            <a:avLst/>
          </a:prstGeom>
          <a:noFill/>
        </p:spPr>
        <p:txBody>
          <a:bodyPr wrap="square" anchor="ctr">
            <a:spAutoFit/>
          </a:bodyPr>
          <a:lstStyle/>
          <a:p>
            <a:pPr algn="l"/>
            <a:r>
              <a:rPr sz="1250" b="0" i="1">
                <a:solidFill>
                  <a:srgbClr val="C02A2A"/>
                </a:solidFill>
                <a:latin typeface="Calibri"/>
              </a:rPr>
              <a:t>⚠ 深圳学生注意：口音适应一旦建立就不容易丢失——考后继续接触英式输入效果会持续</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口音适应即时技巧</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234440"/>
            <a:ext cx="5486400" cy="14020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0F4C5C"/>
                </a:solidFill>
                <a:latin typeface="Calibri"/>
              </a:rPr>
              <a:t>/ɑː/系列</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听到/æ/感觉"不对"时，试试/ɑː/解读：can't/bath/fast/last</a:t>
            </a:r>
          </a:p>
        </p:txBody>
      </p:sp>
      <p:sp>
        <p:nvSpPr>
          <p:cNvPr id="12" name="Rounded Rectangle 11"/>
          <p:cNvSpPr/>
          <p:nvPr/>
        </p:nvSpPr>
        <p:spPr>
          <a:xfrm>
            <a:off x="6355079" y="1234440"/>
            <a:ext cx="5486400" cy="14020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0F4C5C"/>
                </a:solidFill>
                <a:latin typeface="Calibri"/>
              </a:rPr>
              <a:t>/ɒ/系列</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听到/ɑː/感觉不是答案时，试试/ɒ/解读：lot/hot/stop</a:t>
            </a:r>
          </a:p>
        </p:txBody>
      </p:sp>
      <p:sp>
        <p:nvSpPr>
          <p:cNvPr id="16" name="Rounded Rectangle 15"/>
          <p:cNvSpPr/>
          <p:nvPr/>
        </p:nvSpPr>
        <p:spPr>
          <a:xfrm>
            <a:off x="548640" y="2865120"/>
            <a:ext cx="5486400" cy="14020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0F4C5C"/>
                </a:solidFill>
                <a:latin typeface="Calibri"/>
              </a:rPr>
              <a:t>连读识别</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听到"gonna/wanna/kinda"立刻解码为标准英文，不停顿</a:t>
            </a:r>
          </a:p>
        </p:txBody>
      </p:sp>
      <p:sp>
        <p:nvSpPr>
          <p:cNvPr id="20" name="Rounded Rectangle 19"/>
          <p:cNvSpPr/>
          <p:nvPr/>
        </p:nvSpPr>
        <p:spPr>
          <a:xfrm>
            <a:off x="6355079" y="2865120"/>
            <a:ext cx="5486400" cy="14020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0F4C5C"/>
                </a:solidFill>
                <a:latin typeface="Calibri"/>
              </a:rPr>
              <a:t>弱读策略</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听不清虚词是正常的——只追踪实义词（名词/动词/数字）</a:t>
            </a:r>
          </a:p>
        </p:txBody>
      </p:sp>
      <p:sp>
        <p:nvSpPr>
          <p:cNvPr id="24" name="Rounded Rectangle 23"/>
          <p:cNvSpPr/>
          <p:nvPr/>
        </p:nvSpPr>
        <p:spPr>
          <a:xfrm>
            <a:off x="548640" y="4495800"/>
            <a:ext cx="5486400" cy="14020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0F4C5C"/>
                </a:solidFill>
                <a:latin typeface="Calibri"/>
              </a:rPr>
              <a:t>澳式应对</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澳式/eɪ/→/aɪ/：听到"dye"可能是"day"；"sigh"可能是"say"</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30天口音适应计划速查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234440"/>
            <a:ext cx="5486400" cy="14020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0F4C5C"/>
                </a:solidFill>
                <a:latin typeface="Calibri"/>
              </a:rPr>
              <a:t>Week 1（认知）</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学习英式/澳式5大特征；每天30min被动输入（BBC/ABC）</a:t>
            </a:r>
          </a:p>
        </p:txBody>
      </p:sp>
      <p:sp>
        <p:nvSpPr>
          <p:cNvPr id="12" name="Rounded Rectangle 11"/>
          <p:cNvSpPr/>
          <p:nvPr/>
        </p:nvSpPr>
        <p:spPr>
          <a:xfrm>
            <a:off x="6355079" y="1234440"/>
            <a:ext cx="5486400" cy="14020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0F4C5C"/>
                </a:solidFill>
                <a:latin typeface="Calibri"/>
              </a:rPr>
              <a:t>Week 2（接触）</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继续被动输入；开始学10个连读词组；听真题不看脚本</a:t>
            </a:r>
          </a:p>
        </p:txBody>
      </p:sp>
      <p:sp>
        <p:nvSpPr>
          <p:cNvPr id="16" name="Rounded Rectangle 15"/>
          <p:cNvSpPr/>
          <p:nvPr/>
        </p:nvSpPr>
        <p:spPr>
          <a:xfrm>
            <a:off x="548640" y="2865120"/>
            <a:ext cx="5486400" cy="14020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0F4C5C"/>
                </a:solidFill>
                <a:latin typeface="Calibri"/>
              </a:rPr>
              <a:t>Week 3（训练）</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影子跟读每天15min；做真题标注口音失分题；专项补课</a:t>
            </a:r>
          </a:p>
        </p:txBody>
      </p:sp>
      <p:sp>
        <p:nvSpPr>
          <p:cNvPr id="20" name="Rounded Rectangle 19"/>
          <p:cNvSpPr/>
          <p:nvPr/>
        </p:nvSpPr>
        <p:spPr>
          <a:xfrm>
            <a:off x="6355079" y="2865120"/>
            <a:ext cx="5486400" cy="14020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0F4C5C"/>
                </a:solidFill>
                <a:latin typeface="Calibri"/>
              </a:rPr>
              <a:t>Week 4（检验）</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口音自测；真题口音失分目标&lt;3题；维持10min/天输入</a:t>
            </a:r>
          </a:p>
        </p:txBody>
      </p:sp>
      <p:sp>
        <p:nvSpPr>
          <p:cNvPr id="24" name="Rounded Rectangle 23"/>
          <p:cNvSpPr/>
          <p:nvPr/>
        </p:nvSpPr>
        <p:spPr>
          <a:xfrm>
            <a:off x="548640" y="4495800"/>
            <a:ext cx="5486400" cy="14020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0F4C5C"/>
                </a:solidFill>
                <a:latin typeface="Calibri"/>
              </a:rPr>
              <a:t>考前维持</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每天10min英式/澳式输入，保持"校准"状态直到考试当天</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自检清单</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L09课后自检清单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TextBox 7"/>
          <p:cNvSpPr txBox="1"/>
          <p:nvPr/>
        </p:nvSpPr>
        <p:spPr>
          <a:xfrm>
            <a:off x="731520" y="1371600"/>
            <a:ext cx="10789920" cy="4846320"/>
          </a:xfrm>
          <a:prstGeom prst="rect">
            <a:avLst/>
          </a:prstGeom>
          <a:noFill/>
        </p:spPr>
        <p:txBody>
          <a:bodyPr wrap="square">
            <a:spAutoFit/>
          </a:bodyPr>
          <a:lstStyle/>
          <a:p>
            <a:r>
              <a:rPr sz="1600">
                <a:solidFill>
                  <a:srgbClr val="1E293B"/>
                </a:solidFill>
              </a:rPr>
              <a:t>☐ 开始每天30分钟英式输入（BBC Radio 4 / 雅思真题）</a:t>
            </a:r>
          </a:p>
          <a:p>
            <a:pPr>
              <a:spcBef>
                <a:spcPts val="1200"/>
              </a:spcBef>
            </a:pPr>
            <a:r>
              <a:rPr sz="1600">
                <a:solidFill>
                  <a:srgbClr val="1E293B"/>
                </a:solidFill>
              </a:rPr>
              <a:t>☐ 掌握10个高频连读形式，能秒识wanna/gonna/kinda/didja等</a:t>
            </a:r>
          </a:p>
          <a:p>
            <a:pPr>
              <a:spcBef>
                <a:spcPts val="1200"/>
              </a:spcBef>
            </a:pPr>
            <a:r>
              <a:rPr sz="1600">
                <a:solidFill>
                  <a:srgbClr val="1E293B"/>
                </a:solidFill>
              </a:rPr>
              <a:t>☐ 做1套真题，标注所有因口音问题做错的题</a:t>
            </a:r>
          </a:p>
          <a:p>
            <a:pPr>
              <a:spcBef>
                <a:spcPts val="1200"/>
              </a:spcBef>
            </a:pPr>
            <a:r>
              <a:rPr sz="1600">
                <a:solidFill>
                  <a:srgbClr val="1E293B"/>
                </a:solidFill>
              </a:rPr>
              <a:t>☐ 建立"口音失分词汇表"，每周回顾</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058400" cy="731520"/>
          </a:xfrm>
          <a:prstGeom prst="rect">
            <a:avLst/>
          </a:prstGeom>
          <a:noFill/>
        </p:spPr>
        <p:txBody>
          <a:bodyPr wrap="square" anchor="t">
            <a:spAutoFit/>
          </a:bodyPr>
          <a:lstStyle/>
          <a:p>
            <a:pPr algn="l"/>
            <a:r>
              <a:rPr sz="3000" b="1" i="0">
                <a:solidFill>
                  <a:srgbClr val="FFFFFF"/>
                </a:solidFill>
                <a:latin typeface="Calibri"/>
              </a:rPr>
              <a:t>L09 课堂小结</a:t>
            </a:r>
          </a:p>
        </p:txBody>
      </p:sp>
      <p:sp>
        <p:nvSpPr>
          <p:cNvPr id="5" name="TextBox 4"/>
          <p:cNvSpPr txBox="1"/>
          <p:nvPr/>
        </p:nvSpPr>
        <p:spPr>
          <a:xfrm>
            <a:off x="731520" y="1325880"/>
            <a:ext cx="10058400" cy="457200"/>
          </a:xfrm>
          <a:prstGeom prst="rect">
            <a:avLst/>
          </a:prstGeom>
          <a:noFill/>
        </p:spPr>
        <p:txBody>
          <a:bodyPr wrap="square" anchor="t">
            <a:spAutoFit/>
          </a:bodyPr>
          <a:lstStyle/>
          <a:p>
            <a:pPr algn="l"/>
            <a:r>
              <a:rPr sz="1600" b="1" i="0">
                <a:solidFill>
                  <a:srgbClr val="12A594"/>
                </a:solidFill>
                <a:latin typeface="Calibri"/>
              </a:rPr>
              <a:t>📌 本课核心要点</a:t>
            </a:r>
          </a:p>
        </p:txBody>
      </p:sp>
      <p:sp>
        <p:nvSpPr>
          <p:cNvPr id="6" name="TextBox 5"/>
          <p:cNvSpPr txBox="1"/>
          <p:nvPr/>
        </p:nvSpPr>
        <p:spPr>
          <a:xfrm>
            <a:off x="731520" y="1874519"/>
            <a:ext cx="10698480" cy="3474720"/>
          </a:xfrm>
          <a:prstGeom prst="rect">
            <a:avLst/>
          </a:prstGeom>
          <a:noFill/>
        </p:spPr>
        <p:txBody>
          <a:bodyPr wrap="square">
            <a:spAutoFit/>
          </a:bodyPr>
          <a:lstStyle/>
          <a:p>
            <a:r>
              <a:rPr sz="1550">
                <a:solidFill>
                  <a:srgbClr val="FFFFFF"/>
                </a:solidFill>
              </a:rPr>
              <a:t>✓  英式口音5大特征：/ɑː/vs/æ/、/ɒ/vs/ɑː/、非卷舌r、清晰t、词尾音变</a:t>
            </a:r>
          </a:p>
          <a:p>
            <a:pPr>
              <a:spcBef>
                <a:spcPts val="1100"/>
              </a:spcBef>
            </a:pPr>
            <a:r>
              <a:rPr sz="1550">
                <a:solidFill>
                  <a:srgbClr val="FFFFFF"/>
                </a:solidFill>
              </a:rPr>
              <a:t>✓  澳式口音：/eɪ/上移为/aɪ/（day听成die），整体与英式相近</a:t>
            </a:r>
          </a:p>
          <a:p>
            <a:pPr>
              <a:spcBef>
                <a:spcPts val="1100"/>
              </a:spcBef>
            </a:pPr>
            <a:r>
              <a:rPr sz="1550">
                <a:solidFill>
                  <a:srgbClr val="FFFFFF"/>
                </a:solidFill>
              </a:rPr>
              <a:t>✓  5种连读规则：连音/省略/同化/弱读/插入——必须能自动识别</a:t>
            </a:r>
          </a:p>
          <a:p>
            <a:pPr>
              <a:spcBef>
                <a:spcPts val="1100"/>
              </a:spcBef>
            </a:pPr>
            <a:r>
              <a:rPr sz="1550">
                <a:solidFill>
                  <a:srgbClr val="FFFFFF"/>
                </a:solidFill>
              </a:rPr>
              <a:t>✓  10个高频连读形式：wanna/gonna/kinda/didja/coulda等必须秒识</a:t>
            </a:r>
          </a:p>
          <a:p>
            <a:pPr>
              <a:spcBef>
                <a:spcPts val="1100"/>
              </a:spcBef>
            </a:pPr>
            <a:r>
              <a:rPr sz="1550">
                <a:solidFill>
                  <a:srgbClr val="FFFFFF"/>
                </a:solidFill>
              </a:rPr>
              <a:t>✓  30天训练计划：认知→接触→主动训练→检验，每天坚持</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练习巩固</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L09 课后作业  Homework</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TextBox 7"/>
          <p:cNvSpPr txBox="1"/>
          <p:nvPr/>
        </p:nvSpPr>
        <p:spPr>
          <a:xfrm>
            <a:off x="548640" y="1143000"/>
            <a:ext cx="10058400" cy="365760"/>
          </a:xfrm>
          <a:prstGeom prst="rect">
            <a:avLst/>
          </a:prstGeom>
          <a:noFill/>
        </p:spPr>
        <p:txBody>
          <a:bodyPr wrap="square" anchor="t">
            <a:spAutoFit/>
          </a:bodyPr>
          <a:lstStyle/>
          <a:p>
            <a:pPr algn="l"/>
            <a:r>
              <a:rPr sz="1300" b="1" i="0">
                <a:solidFill>
                  <a:srgbClr val="12A594"/>
                </a:solidFill>
                <a:latin typeface="Calibri"/>
              </a:rPr>
              <a:t>⏱ 建议用时：约50分钟</a:t>
            </a:r>
          </a:p>
        </p:txBody>
      </p:sp>
      <p:sp>
        <p:nvSpPr>
          <p:cNvPr id="9" name="TextBox 8"/>
          <p:cNvSpPr txBox="1"/>
          <p:nvPr/>
        </p:nvSpPr>
        <p:spPr>
          <a:xfrm>
            <a:off x="640080" y="1645920"/>
            <a:ext cx="10972800" cy="4572000"/>
          </a:xfrm>
          <a:prstGeom prst="rect">
            <a:avLst/>
          </a:prstGeom>
          <a:noFill/>
        </p:spPr>
        <p:txBody>
          <a:bodyPr wrap="square">
            <a:spAutoFit/>
          </a:bodyPr>
          <a:lstStyle/>
          <a:p>
            <a:r>
              <a:rPr sz="1550" b="1">
                <a:solidFill>
                  <a:srgbClr val="1E293B"/>
                </a:solidFill>
              </a:rPr>
              <a:t>作业 1　开始30天口音适应计划，今天第1天：听BBC新闻30分钟</a:t>
            </a:r>
          </a:p>
          <a:p>
            <a:pPr>
              <a:spcBef>
                <a:spcPts val="1300"/>
              </a:spcBef>
            </a:pPr>
            <a:r>
              <a:rPr sz="1550" b="1">
                <a:solidFill>
                  <a:srgbClr val="1E293B"/>
                </a:solidFill>
              </a:rPr>
              <a:t>作业 2　做剑桥真题1套，专项标注口音失分题（有哪个音没听清楚？）</a:t>
            </a:r>
          </a:p>
          <a:p>
            <a:pPr>
              <a:spcBef>
                <a:spcPts val="1300"/>
              </a:spcBef>
            </a:pPr>
            <a:r>
              <a:rPr sz="1550" b="1">
                <a:solidFill>
                  <a:srgbClr val="1E293B"/>
                </a:solidFill>
              </a:rPr>
              <a:t>作业 3　建立连读词组卡片，今天背前5个：wanna/gonna/kinda/didja/coulda</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058400" cy="548640"/>
          </a:xfrm>
          <a:prstGeom prst="rect">
            <a:avLst/>
          </a:prstGeom>
          <a:noFill/>
        </p:spPr>
        <p:txBody>
          <a:bodyPr wrap="square" anchor="t">
            <a:spAutoFit/>
          </a:bodyPr>
          <a:lstStyle/>
          <a:p>
            <a:pPr algn="l"/>
            <a:r>
              <a:rPr sz="1800" b="1" i="0">
                <a:solidFill>
                  <a:srgbClr val="12A594"/>
                </a:solidFill>
                <a:latin typeface="Calibri"/>
              </a:rPr>
              <a:t>下节预告  Next Lesson</a:t>
            </a:r>
          </a:p>
        </p:txBody>
      </p:sp>
      <p:sp>
        <p:nvSpPr>
          <p:cNvPr id="4" name="TextBox 3"/>
          <p:cNvSpPr txBox="1"/>
          <p:nvPr/>
        </p:nvSpPr>
        <p:spPr>
          <a:xfrm>
            <a:off x="914400" y="1920240"/>
            <a:ext cx="10332720" cy="914400"/>
          </a:xfrm>
          <a:prstGeom prst="rect">
            <a:avLst/>
          </a:prstGeom>
          <a:noFill/>
        </p:spPr>
        <p:txBody>
          <a:bodyPr wrap="square" anchor="t">
            <a:spAutoFit/>
          </a:bodyPr>
          <a:lstStyle/>
          <a:p>
            <a:pPr algn="l"/>
            <a:r>
              <a:rPr sz="3000" b="1" i="0">
                <a:solidFill>
                  <a:srgbClr val="FFFFFF"/>
                </a:solidFill>
                <a:latin typeface="Calibri"/>
              </a:rPr>
              <a:t>L10 · 全真模考与查漏补缺</a:t>
            </a:r>
          </a:p>
        </p:txBody>
      </p:sp>
      <p:sp>
        <p:nvSpPr>
          <p:cNvPr id="5" name="TextBox 4"/>
          <p:cNvSpPr txBox="1"/>
          <p:nvPr/>
        </p:nvSpPr>
        <p:spPr>
          <a:xfrm>
            <a:off x="914400" y="3200400"/>
            <a:ext cx="10332720" cy="2743200"/>
          </a:xfrm>
          <a:prstGeom prst="rect">
            <a:avLst/>
          </a:prstGeom>
          <a:noFill/>
        </p:spPr>
        <p:txBody>
          <a:bodyPr wrap="square">
            <a:spAutoFit/>
          </a:bodyPr>
          <a:lstStyle/>
          <a:p>
            <a:r>
              <a:rPr sz="1600">
                <a:solidFill>
                  <a:srgbClr val="CFDCF2"/>
                </a:solidFill>
              </a:rPr>
              <a:t>→ 标准模考流程：从考场入座到10分钟誊写的全程规范</a:t>
            </a:r>
          </a:p>
          <a:p>
            <a:pPr>
              <a:spcBef>
                <a:spcPts val="1000"/>
              </a:spcBef>
            </a:pPr>
            <a:r>
              <a:rPr sz="1600">
                <a:solidFill>
                  <a:srgbClr val="CFDCF2"/>
                </a:solidFill>
              </a:rPr>
              <a:t>→ 错题分类诊断系统：把40道错题分成6类，找到提分最快的突破口</a:t>
            </a:r>
          </a:p>
          <a:p>
            <a:pPr>
              <a:spcBef>
                <a:spcPts val="1000"/>
              </a:spcBef>
            </a:pPr>
            <a:r>
              <a:rPr sz="1600">
                <a:solidFill>
                  <a:srgbClr val="CFDCF2"/>
                </a:solidFill>
              </a:rPr>
              <a:t>→ 冲刺计划制定：根据目标分数制定最后2周的备考方案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