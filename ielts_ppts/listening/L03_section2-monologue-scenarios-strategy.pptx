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778240" y="0"/>
            <a:ext cx="3413455" cy="6858000"/>
          </a:xfrm>
          <a:prstGeom prst="rect">
            <a:avLst/>
          </a:prstGeom>
          <a:solidFill>
            <a:srgbClr val="072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78240" y="1463040"/>
            <a:ext cx="3413455" cy="1828800"/>
          </a:xfrm>
          <a:prstGeom prst="rect">
            <a:avLst/>
          </a:prstGeom>
          <a:noFill/>
        </p:spPr>
        <p:txBody>
          <a:bodyPr wrap="square" anchor="t">
            <a:spAutoFit/>
          </a:bodyPr>
          <a:lstStyle/>
          <a:p>
            <a:pPr algn="ctr"/>
            <a:r>
              <a:rPr sz="12000" b="1" i="0">
                <a:solidFill>
                  <a:srgbClr val="12A594"/>
                </a:solidFill>
                <a:latin typeface="Calibri"/>
              </a:rPr>
              <a:t>L03</a:t>
            </a:r>
          </a:p>
        </p:txBody>
      </p:sp>
      <p:sp>
        <p:nvSpPr>
          <p:cNvPr id="6" name="TextBox 5"/>
          <p:cNvSpPr txBox="1"/>
          <p:nvPr/>
        </p:nvSpPr>
        <p:spPr>
          <a:xfrm>
            <a:off x="8778240" y="3566160"/>
            <a:ext cx="3413455" cy="731520"/>
          </a:xfrm>
          <a:prstGeom prst="rect">
            <a:avLst/>
          </a:prstGeom>
          <a:noFill/>
        </p:spPr>
        <p:txBody>
          <a:bodyPr wrap="square" anchor="t">
            <a:spAutoFit/>
          </a:bodyPr>
          <a:lstStyle/>
          <a:p>
            <a:pPr algn="ctr"/>
            <a:r>
              <a:rPr sz="3000" b="1" i="0">
                <a:solidFill>
                  <a:srgbClr val="FFFFFF"/>
                </a:solidFill>
                <a:latin typeface="Calibri"/>
              </a:rPr>
              <a:t>/ 10</a:t>
            </a:r>
          </a:p>
        </p:txBody>
      </p:sp>
      <p:sp>
        <p:nvSpPr>
          <p:cNvPr id="7" name="TextBox 6"/>
          <p:cNvSpPr txBox="1"/>
          <p:nvPr/>
        </p:nvSpPr>
        <p:spPr>
          <a:xfrm>
            <a:off x="777240" y="1280160"/>
            <a:ext cx="7680960" cy="640080"/>
          </a:xfrm>
          <a:prstGeom prst="rect">
            <a:avLst/>
          </a:prstGeom>
          <a:noFill/>
        </p:spPr>
        <p:txBody>
          <a:bodyPr wrap="square" anchor="t">
            <a:spAutoFit/>
          </a:bodyPr>
          <a:lstStyle/>
          <a:p>
            <a:pPr algn="l"/>
            <a:r>
              <a:rPr sz="2000" b="1" i="0">
                <a:solidFill>
                  <a:srgbClr val="12A594"/>
                </a:solidFill>
                <a:latin typeface="Calibri"/>
              </a:rPr>
              <a:t>IELTS Listening 听力</a:t>
            </a:r>
          </a:p>
        </p:txBody>
      </p:sp>
      <p:sp>
        <p:nvSpPr>
          <p:cNvPr id="8" name="TextBox 7"/>
          <p:cNvSpPr txBox="1"/>
          <p:nvPr/>
        </p:nvSpPr>
        <p:spPr>
          <a:xfrm>
            <a:off x="777240" y="1920240"/>
            <a:ext cx="7680960" cy="2194560"/>
          </a:xfrm>
          <a:prstGeom prst="rect">
            <a:avLst/>
          </a:prstGeom>
          <a:noFill/>
        </p:spPr>
        <p:txBody>
          <a:bodyPr wrap="square" anchor="t">
            <a:spAutoFit/>
          </a:bodyPr>
          <a:lstStyle/>
          <a:p>
            <a:pPr algn="l"/>
            <a:r>
              <a:rPr sz="4200" b="1" i="0">
                <a:solidFill>
                  <a:srgbClr val="FFFFFF"/>
                </a:solidFill>
                <a:latin typeface="Calibri"/>
              </a:rPr>
              <a:t>Section 2
独白场景攻略</a:t>
            </a:r>
          </a:p>
        </p:txBody>
      </p:sp>
      <p:sp>
        <p:nvSpPr>
          <p:cNvPr id="9" name="TextBox 8"/>
          <p:cNvSpPr txBox="1"/>
          <p:nvPr/>
        </p:nvSpPr>
        <p:spPr>
          <a:xfrm>
            <a:off x="777240" y="4206240"/>
            <a:ext cx="7498079" cy="1097280"/>
          </a:xfrm>
          <a:prstGeom prst="rect">
            <a:avLst/>
          </a:prstGeom>
          <a:noFill/>
        </p:spPr>
        <p:txBody>
          <a:bodyPr wrap="square" anchor="t">
            <a:spAutoFit/>
          </a:bodyPr>
          <a:lstStyle/>
          <a:p>
            <a:pPr algn="l"/>
            <a:r>
              <a:rPr sz="1800" b="0" i="0">
                <a:solidFill>
                  <a:srgbClr val="CFDCF2"/>
                </a:solidFill>
                <a:latin typeface="Calibri"/>
              </a:rPr>
              <a:t>Section 2: Monologue Mastery</a:t>
            </a:r>
          </a:p>
        </p:txBody>
      </p:sp>
      <p:sp>
        <p:nvSpPr>
          <p:cNvPr id="10" name="Rounded Rectangle 9"/>
          <p:cNvSpPr/>
          <p:nvPr/>
        </p:nvSpPr>
        <p:spPr>
          <a:xfrm>
            <a:off x="777240" y="5669280"/>
            <a:ext cx="3840480" cy="548640"/>
          </a:xfrm>
          <a:prstGeom prst="round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742432"/>
            <a:ext cx="3657600" cy="411480"/>
          </a:xfrm>
          <a:prstGeom prst="rect">
            <a:avLst/>
          </a:prstGeom>
          <a:noFill/>
        </p:spPr>
        <p:txBody>
          <a:bodyPr wrap="square" anchor="t">
            <a:spAutoFit/>
          </a:bodyPr>
          <a:lstStyle/>
          <a:p>
            <a:pPr algn="l"/>
            <a:r>
              <a:rPr sz="1300" b="1" i="0">
                <a:solidFill>
                  <a:srgbClr val="FFFFFF"/>
                </a:solidFill>
                <a:latin typeface="Calibri"/>
              </a:rPr>
              <a:t>第 3 节课 · 课时 90 分钟</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本课流程  Lesson Roadmap</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7" name="Rounded Rectangle 6"/>
          <p:cNvSpPr/>
          <p:nvPr/>
        </p:nvSpPr>
        <p:spPr>
          <a:xfrm>
            <a:off x="548640" y="1325880"/>
            <a:ext cx="566928" cy="566928"/>
          </a:xfrm>
          <a:prstGeom prst="round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371600"/>
            <a:ext cx="566928" cy="457200"/>
          </a:xfrm>
          <a:prstGeom prst="rect">
            <a:avLst/>
          </a:prstGeom>
          <a:noFill/>
        </p:spPr>
        <p:txBody>
          <a:bodyPr wrap="square" anchor="t">
            <a:spAutoFit/>
          </a:bodyPr>
          <a:lstStyle/>
          <a:p>
            <a:pPr algn="ctr"/>
            <a:r>
              <a:rPr sz="2000" b="1" i="0">
                <a:solidFill>
                  <a:srgbClr val="FFFFFF"/>
                </a:solidFill>
                <a:latin typeface="Calibri"/>
              </a:rPr>
              <a:t>1</a:t>
            </a:r>
          </a:p>
        </p:txBody>
      </p:sp>
      <p:sp>
        <p:nvSpPr>
          <p:cNvPr id="9" name="TextBox 8"/>
          <p:cNvSpPr txBox="1"/>
          <p:nvPr/>
        </p:nvSpPr>
        <p:spPr>
          <a:xfrm>
            <a:off x="1280160" y="1344168"/>
            <a:ext cx="4937760" cy="731520"/>
          </a:xfrm>
          <a:prstGeom prst="rect">
            <a:avLst/>
          </a:prstGeom>
          <a:noFill/>
        </p:spPr>
        <p:txBody>
          <a:bodyPr wrap="square" anchor="ctr">
            <a:spAutoFit/>
          </a:bodyPr>
          <a:lstStyle/>
          <a:p>
            <a:pPr algn="l"/>
            <a:r>
              <a:rPr sz="1450" b="1" i="0">
                <a:solidFill>
                  <a:srgbClr val="1E293B"/>
                </a:solidFill>
                <a:latin typeface="Calibri"/>
              </a:rPr>
              <a:t>上节回顾</a:t>
            </a:r>
          </a:p>
        </p:txBody>
      </p:sp>
      <p:sp>
        <p:nvSpPr>
          <p:cNvPr id="10" name="Rounded Rectangle 9"/>
          <p:cNvSpPr/>
          <p:nvPr/>
        </p:nvSpPr>
        <p:spPr>
          <a:xfrm>
            <a:off x="548640" y="2167128"/>
            <a:ext cx="566928" cy="566928"/>
          </a:xfrm>
          <a:prstGeom prst="round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212848"/>
            <a:ext cx="566928" cy="457200"/>
          </a:xfrm>
          <a:prstGeom prst="rect">
            <a:avLst/>
          </a:prstGeom>
          <a:noFill/>
        </p:spPr>
        <p:txBody>
          <a:bodyPr wrap="square" anchor="t">
            <a:spAutoFit/>
          </a:bodyPr>
          <a:lstStyle/>
          <a:p>
            <a:pPr algn="ctr"/>
            <a:r>
              <a:rPr sz="2000" b="1" i="0">
                <a:solidFill>
                  <a:srgbClr val="FFFFFF"/>
                </a:solidFill>
                <a:latin typeface="Calibri"/>
              </a:rPr>
              <a:t>2</a:t>
            </a:r>
          </a:p>
        </p:txBody>
      </p:sp>
      <p:sp>
        <p:nvSpPr>
          <p:cNvPr id="12" name="TextBox 11"/>
          <p:cNvSpPr txBox="1"/>
          <p:nvPr/>
        </p:nvSpPr>
        <p:spPr>
          <a:xfrm>
            <a:off x="1280160" y="2185416"/>
            <a:ext cx="4937760" cy="731520"/>
          </a:xfrm>
          <a:prstGeom prst="rect">
            <a:avLst/>
          </a:prstGeom>
          <a:noFill/>
        </p:spPr>
        <p:txBody>
          <a:bodyPr wrap="square" anchor="ctr">
            <a:spAutoFit/>
          </a:bodyPr>
          <a:lstStyle/>
          <a:p>
            <a:pPr algn="l"/>
            <a:r>
              <a:rPr sz="1450" b="1" i="0">
                <a:solidFill>
                  <a:srgbClr val="1E293B"/>
                </a:solidFill>
                <a:latin typeface="Calibri"/>
              </a:rPr>
              <a:t>S2独白结构与场景</a:t>
            </a:r>
          </a:p>
        </p:txBody>
      </p:sp>
      <p:sp>
        <p:nvSpPr>
          <p:cNvPr id="13" name="Rounded Rectangle 12"/>
          <p:cNvSpPr/>
          <p:nvPr/>
        </p:nvSpPr>
        <p:spPr>
          <a:xfrm>
            <a:off x="548640" y="3008376"/>
            <a:ext cx="566928" cy="566928"/>
          </a:xfrm>
          <a:prstGeom prst="round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054096"/>
            <a:ext cx="566928" cy="457200"/>
          </a:xfrm>
          <a:prstGeom prst="rect">
            <a:avLst/>
          </a:prstGeom>
          <a:noFill/>
        </p:spPr>
        <p:txBody>
          <a:bodyPr wrap="square" anchor="t">
            <a:spAutoFit/>
          </a:bodyPr>
          <a:lstStyle/>
          <a:p>
            <a:pPr algn="ctr"/>
            <a:r>
              <a:rPr sz="2000" b="1" i="0">
                <a:solidFill>
                  <a:srgbClr val="FFFFFF"/>
                </a:solidFill>
                <a:latin typeface="Calibri"/>
              </a:rPr>
              <a:t>3</a:t>
            </a:r>
          </a:p>
        </p:txBody>
      </p:sp>
      <p:sp>
        <p:nvSpPr>
          <p:cNvPr id="15" name="TextBox 14"/>
          <p:cNvSpPr txBox="1"/>
          <p:nvPr/>
        </p:nvSpPr>
        <p:spPr>
          <a:xfrm>
            <a:off x="1280160" y="3026664"/>
            <a:ext cx="4937760" cy="731520"/>
          </a:xfrm>
          <a:prstGeom prst="rect">
            <a:avLst/>
          </a:prstGeom>
          <a:noFill/>
        </p:spPr>
        <p:txBody>
          <a:bodyPr wrap="square" anchor="ctr">
            <a:spAutoFit/>
          </a:bodyPr>
          <a:lstStyle/>
          <a:p>
            <a:pPr algn="l"/>
            <a:r>
              <a:rPr sz="1450" b="1" i="0">
                <a:solidFill>
                  <a:srgbClr val="1E293B"/>
                </a:solidFill>
                <a:latin typeface="Calibri"/>
              </a:rPr>
              <a:t>地图/平面图题攻略</a:t>
            </a:r>
          </a:p>
        </p:txBody>
      </p:sp>
      <p:sp>
        <p:nvSpPr>
          <p:cNvPr id="16" name="Rounded Rectangle 15"/>
          <p:cNvSpPr/>
          <p:nvPr/>
        </p:nvSpPr>
        <p:spPr>
          <a:xfrm>
            <a:off x="548640" y="3849624"/>
            <a:ext cx="566928" cy="566928"/>
          </a:xfrm>
          <a:prstGeom prst="round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895344"/>
            <a:ext cx="566928" cy="457200"/>
          </a:xfrm>
          <a:prstGeom prst="rect">
            <a:avLst/>
          </a:prstGeom>
          <a:noFill/>
        </p:spPr>
        <p:txBody>
          <a:bodyPr wrap="square" anchor="t">
            <a:spAutoFit/>
          </a:bodyPr>
          <a:lstStyle/>
          <a:p>
            <a:pPr algn="ctr"/>
            <a:r>
              <a:rPr sz="2000" b="1" i="0">
                <a:solidFill>
                  <a:srgbClr val="FFFFFF"/>
                </a:solidFill>
                <a:latin typeface="Calibri"/>
              </a:rPr>
              <a:t>4</a:t>
            </a:r>
          </a:p>
        </p:txBody>
      </p:sp>
      <p:sp>
        <p:nvSpPr>
          <p:cNvPr id="18" name="TextBox 17"/>
          <p:cNvSpPr txBox="1"/>
          <p:nvPr/>
        </p:nvSpPr>
        <p:spPr>
          <a:xfrm>
            <a:off x="1280160" y="3867911"/>
            <a:ext cx="4937760" cy="731520"/>
          </a:xfrm>
          <a:prstGeom prst="rect">
            <a:avLst/>
          </a:prstGeom>
          <a:noFill/>
        </p:spPr>
        <p:txBody>
          <a:bodyPr wrap="square" anchor="ctr">
            <a:spAutoFit/>
          </a:bodyPr>
          <a:lstStyle/>
          <a:p>
            <a:pPr algn="l"/>
            <a:r>
              <a:rPr sz="1450" b="1" i="0">
                <a:solidFill>
                  <a:srgbClr val="1E293B"/>
                </a:solidFill>
                <a:latin typeface="Calibri"/>
              </a:rPr>
              <a:t>匹配题系统解法</a:t>
            </a:r>
          </a:p>
        </p:txBody>
      </p:sp>
      <p:sp>
        <p:nvSpPr>
          <p:cNvPr id="19" name="Rounded Rectangle 18"/>
          <p:cNvSpPr/>
          <p:nvPr/>
        </p:nvSpPr>
        <p:spPr>
          <a:xfrm>
            <a:off x="6400800" y="1325880"/>
            <a:ext cx="566928" cy="566928"/>
          </a:xfrm>
          <a:prstGeom prst="round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1371600"/>
            <a:ext cx="566928" cy="457200"/>
          </a:xfrm>
          <a:prstGeom prst="rect">
            <a:avLst/>
          </a:prstGeom>
          <a:noFill/>
        </p:spPr>
        <p:txBody>
          <a:bodyPr wrap="square" anchor="t">
            <a:spAutoFit/>
          </a:bodyPr>
          <a:lstStyle/>
          <a:p>
            <a:pPr algn="ctr"/>
            <a:r>
              <a:rPr sz="2000" b="1" i="0">
                <a:solidFill>
                  <a:srgbClr val="FFFFFF"/>
                </a:solidFill>
                <a:latin typeface="Calibri"/>
              </a:rPr>
              <a:t>5</a:t>
            </a:r>
          </a:p>
        </p:txBody>
      </p:sp>
      <p:sp>
        <p:nvSpPr>
          <p:cNvPr id="21" name="TextBox 20"/>
          <p:cNvSpPr txBox="1"/>
          <p:nvPr/>
        </p:nvSpPr>
        <p:spPr>
          <a:xfrm>
            <a:off x="7132320" y="1344168"/>
            <a:ext cx="4937760" cy="731520"/>
          </a:xfrm>
          <a:prstGeom prst="rect">
            <a:avLst/>
          </a:prstGeom>
          <a:noFill/>
        </p:spPr>
        <p:txBody>
          <a:bodyPr wrap="square" anchor="ctr">
            <a:spAutoFit/>
          </a:bodyPr>
          <a:lstStyle/>
          <a:p>
            <a:pPr algn="l"/>
            <a:r>
              <a:rPr sz="1450" b="1" i="0">
                <a:solidFill>
                  <a:srgbClr val="1E293B"/>
                </a:solidFill>
                <a:latin typeface="Calibri"/>
              </a:rPr>
              <a:t>信号词与追踪</a:t>
            </a:r>
          </a:p>
        </p:txBody>
      </p:sp>
      <p:sp>
        <p:nvSpPr>
          <p:cNvPr id="22" name="Rounded Rectangle 21"/>
          <p:cNvSpPr/>
          <p:nvPr/>
        </p:nvSpPr>
        <p:spPr>
          <a:xfrm>
            <a:off x="6400800" y="2167128"/>
            <a:ext cx="566928" cy="566928"/>
          </a:xfrm>
          <a:prstGeom prst="round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2212848"/>
            <a:ext cx="566928" cy="457200"/>
          </a:xfrm>
          <a:prstGeom prst="rect">
            <a:avLst/>
          </a:prstGeom>
          <a:noFill/>
        </p:spPr>
        <p:txBody>
          <a:bodyPr wrap="square" anchor="t">
            <a:spAutoFit/>
          </a:bodyPr>
          <a:lstStyle/>
          <a:p>
            <a:pPr algn="ctr"/>
            <a:r>
              <a:rPr sz="2000" b="1" i="0">
                <a:solidFill>
                  <a:srgbClr val="FFFFFF"/>
                </a:solidFill>
                <a:latin typeface="Calibri"/>
              </a:rPr>
              <a:t>6</a:t>
            </a:r>
          </a:p>
        </p:txBody>
      </p:sp>
      <p:sp>
        <p:nvSpPr>
          <p:cNvPr id="24" name="TextBox 23"/>
          <p:cNvSpPr txBox="1"/>
          <p:nvPr/>
        </p:nvSpPr>
        <p:spPr>
          <a:xfrm>
            <a:off x="7132320" y="2185416"/>
            <a:ext cx="4937760" cy="731520"/>
          </a:xfrm>
          <a:prstGeom prst="rect">
            <a:avLst/>
          </a:prstGeom>
          <a:noFill/>
        </p:spPr>
        <p:txBody>
          <a:bodyPr wrap="square" anchor="ctr">
            <a:spAutoFit/>
          </a:bodyPr>
          <a:lstStyle/>
          <a:p>
            <a:pPr algn="l"/>
            <a:r>
              <a:rPr sz="1450" b="1" i="0">
                <a:solidFill>
                  <a:srgbClr val="1E293B"/>
                </a:solidFill>
                <a:latin typeface="Calibri"/>
              </a:rPr>
              <a:t>例题精讲</a:t>
            </a:r>
          </a:p>
        </p:txBody>
      </p:sp>
      <p:sp>
        <p:nvSpPr>
          <p:cNvPr id="25" name="Rounded Rectangle 24"/>
          <p:cNvSpPr/>
          <p:nvPr/>
        </p:nvSpPr>
        <p:spPr>
          <a:xfrm>
            <a:off x="6400800" y="3008376"/>
            <a:ext cx="566928" cy="566928"/>
          </a:xfrm>
          <a:prstGeom prst="round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0" y="3054096"/>
            <a:ext cx="566928" cy="457200"/>
          </a:xfrm>
          <a:prstGeom prst="rect">
            <a:avLst/>
          </a:prstGeom>
          <a:noFill/>
        </p:spPr>
        <p:txBody>
          <a:bodyPr wrap="square" anchor="t">
            <a:spAutoFit/>
          </a:bodyPr>
          <a:lstStyle/>
          <a:p>
            <a:pPr algn="ctr"/>
            <a:r>
              <a:rPr sz="2000" b="1" i="0">
                <a:solidFill>
                  <a:srgbClr val="FFFFFF"/>
                </a:solidFill>
                <a:latin typeface="Calibri"/>
              </a:rPr>
              <a:t>7</a:t>
            </a:r>
          </a:p>
        </p:txBody>
      </p:sp>
      <p:sp>
        <p:nvSpPr>
          <p:cNvPr id="27" name="TextBox 26"/>
          <p:cNvSpPr txBox="1"/>
          <p:nvPr/>
        </p:nvSpPr>
        <p:spPr>
          <a:xfrm>
            <a:off x="7132320" y="3026664"/>
            <a:ext cx="4937760" cy="731520"/>
          </a:xfrm>
          <a:prstGeom prst="rect">
            <a:avLst/>
          </a:prstGeom>
          <a:noFill/>
        </p:spPr>
        <p:txBody>
          <a:bodyPr wrap="square" anchor="ctr">
            <a:spAutoFit/>
          </a:bodyPr>
          <a:lstStyle/>
          <a:p>
            <a:pPr algn="l"/>
            <a:r>
              <a:rPr sz="1450" b="1" i="0">
                <a:solidFill>
                  <a:srgbClr val="1E293B"/>
                </a:solidFill>
                <a:latin typeface="Calibri"/>
              </a:rPr>
              <a:t>课堂练习</a:t>
            </a:r>
          </a:p>
        </p:txBody>
      </p:sp>
      <p:sp>
        <p:nvSpPr>
          <p:cNvPr id="28" name="Rounded Rectangle 27"/>
          <p:cNvSpPr/>
          <p:nvPr/>
        </p:nvSpPr>
        <p:spPr>
          <a:xfrm>
            <a:off x="6400800" y="3849624"/>
            <a:ext cx="566928" cy="566928"/>
          </a:xfrm>
          <a:prstGeom prst="round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0" y="3895344"/>
            <a:ext cx="566928" cy="457200"/>
          </a:xfrm>
          <a:prstGeom prst="rect">
            <a:avLst/>
          </a:prstGeom>
          <a:noFill/>
        </p:spPr>
        <p:txBody>
          <a:bodyPr wrap="square" anchor="t">
            <a:spAutoFit/>
          </a:bodyPr>
          <a:lstStyle/>
          <a:p>
            <a:pPr algn="ctr"/>
            <a:r>
              <a:rPr sz="2000" b="1" i="0">
                <a:solidFill>
                  <a:srgbClr val="FFFFFF"/>
                </a:solidFill>
                <a:latin typeface="Calibri"/>
              </a:rPr>
              <a:t>8</a:t>
            </a:r>
          </a:p>
        </p:txBody>
      </p:sp>
      <p:sp>
        <p:nvSpPr>
          <p:cNvPr id="30" name="TextBox 29"/>
          <p:cNvSpPr txBox="1"/>
          <p:nvPr/>
        </p:nvSpPr>
        <p:spPr>
          <a:xfrm>
            <a:off x="7132320" y="3867911"/>
            <a:ext cx="4937760" cy="731520"/>
          </a:xfrm>
          <a:prstGeom prst="rect">
            <a:avLst/>
          </a:prstGeom>
          <a:noFill/>
        </p:spPr>
        <p:txBody>
          <a:bodyPr wrap="square" anchor="ctr">
            <a:spAutoFit/>
          </a:bodyPr>
          <a:lstStyle/>
          <a:p>
            <a:pPr algn="l"/>
            <a:r>
              <a:rPr sz="1450" b="1" i="0">
                <a:solidFill>
                  <a:srgbClr val="1E293B"/>
                </a:solidFill>
                <a:latin typeface="Calibri"/>
              </a:rPr>
              <a:t>小结作业</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WARM-UP</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上节回顾  Quick Review</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188720"/>
            <a:ext cx="11064240" cy="493776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54480"/>
            <a:ext cx="10332720" cy="4389120"/>
          </a:xfrm>
          <a:prstGeom prst="rect">
            <a:avLst/>
          </a:prstGeom>
          <a:noFill/>
        </p:spPr>
        <p:txBody>
          <a:bodyPr wrap="square">
            <a:spAutoFit/>
          </a:bodyPr>
          <a:lstStyle/>
          <a:p>
            <a:r>
              <a:rPr sz="1650">
                <a:solidFill>
                  <a:srgbClr val="1E293B"/>
                </a:solidFill>
              </a:rPr>
              <a:t>↺ S1四大场景：预约/租房/旅游/社区——30秒预读决定成败</a:t>
            </a:r>
          </a:p>
          <a:p>
            <a:pPr>
              <a:spcBef>
                <a:spcPts val="1200"/>
              </a:spcBef>
            </a:pPr>
            <a:r>
              <a:rPr sz="1650">
                <a:solidFill>
                  <a:srgbClr val="1E293B"/>
                </a:solidFill>
              </a:rPr>
              <a:t>↺ 数字陷阱：13vs30靠重音；更正陷阱听actually/sorry</a:t>
            </a:r>
          </a:p>
          <a:p>
            <a:pPr>
              <a:spcBef>
                <a:spcPts val="1200"/>
              </a:spcBef>
            </a:pPr>
            <a:r>
              <a:rPr sz="1650">
                <a:solidFill>
                  <a:srgbClr val="1E293B"/>
                </a:solidFill>
              </a:rPr>
              <a:t>↺ 字母拼读同步书写：每字母一格，边听边写</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学习目标  Learning Objectives</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7" name="TextBox 6"/>
          <p:cNvSpPr txBox="1"/>
          <p:nvPr/>
        </p:nvSpPr>
        <p:spPr>
          <a:xfrm>
            <a:off x="548640" y="1188720"/>
            <a:ext cx="10972800" cy="457200"/>
          </a:xfrm>
          <a:prstGeom prst="rect">
            <a:avLst/>
          </a:prstGeom>
          <a:noFill/>
        </p:spPr>
        <p:txBody>
          <a:bodyPr wrap="square" anchor="t">
            <a:spAutoFit/>
          </a:bodyPr>
          <a:lstStyle/>
          <a:p>
            <a:pPr algn="l"/>
            <a:r>
              <a:rPr sz="1600" b="1" i="0">
                <a:solidFill>
                  <a:srgbClr val="12A594"/>
                </a:solidFill>
                <a:latin typeface="Calibri"/>
              </a:rPr>
              <a:t>完成本课后，你将能够：</a:t>
            </a:r>
          </a:p>
        </p:txBody>
      </p:sp>
      <p:sp>
        <p:nvSpPr>
          <p:cNvPr id="8" name="TextBox 7"/>
          <p:cNvSpPr txBox="1"/>
          <p:nvPr/>
        </p:nvSpPr>
        <p:spPr>
          <a:xfrm>
            <a:off x="640080" y="1828800"/>
            <a:ext cx="10972800" cy="4572000"/>
          </a:xfrm>
          <a:prstGeom prst="rect">
            <a:avLst/>
          </a:prstGeom>
          <a:noFill/>
        </p:spPr>
        <p:txBody>
          <a:bodyPr wrap="square">
            <a:spAutoFit/>
          </a:bodyPr>
          <a:lstStyle/>
          <a:p>
            <a:r>
              <a:rPr sz="1800">
                <a:solidFill>
                  <a:srgbClr val="1E293B"/>
                </a:solidFill>
              </a:rPr>
              <a:t>✦  掌握S2地图/平面图题20个核心方向词</a:t>
            </a:r>
          </a:p>
          <a:p>
            <a:pPr>
              <a:spcBef>
                <a:spcPts val="1400"/>
              </a:spcBef>
            </a:pPr>
            <a:r>
              <a:rPr sz="1800">
                <a:solidFill>
                  <a:srgbClr val="1E293B"/>
                </a:solidFill>
              </a:rPr>
              <a:t>✦  建立匹配题预读选项关键词的操作习惯</a:t>
            </a:r>
          </a:p>
          <a:p>
            <a:pPr>
              <a:spcBef>
                <a:spcPts val="1400"/>
              </a:spcBef>
            </a:pPr>
            <a:r>
              <a:rPr sz="1800">
                <a:solidFill>
                  <a:srgbClr val="1E293B"/>
                </a:solidFill>
              </a:rPr>
              <a:t>✦  识别独白中的话题转换信号词</a:t>
            </a:r>
          </a:p>
          <a:p>
            <a:pPr>
              <a:spcBef>
                <a:spcPts val="1400"/>
              </a:spcBef>
            </a:pPr>
            <a:r>
              <a:rPr sz="1800">
                <a:solidFill>
                  <a:srgbClr val="1E293B"/>
                </a:solidFill>
              </a:rPr>
              <a:t>✦  实现Section 2稳定8/10以上</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7A16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000" b="1" i="0">
                <a:solidFill>
                  <a:srgbClr val="FFFFFF"/>
                </a:solidFill>
                <a:latin typeface="Calibri"/>
              </a:rPr>
              <a:t>🎯 深圳学生高频痛点 · S2最常见的3种失分</a:t>
            </a:r>
          </a:p>
        </p:txBody>
      </p:sp>
      <p:sp>
        <p:nvSpPr>
          <p:cNvPr id="6" name="TextBox 5"/>
          <p:cNvSpPr txBox="1"/>
          <p:nvPr/>
        </p:nvSpPr>
        <p:spPr>
          <a:xfrm>
            <a:off x="548640" y="1143000"/>
            <a:ext cx="5486400" cy="411480"/>
          </a:xfrm>
          <a:prstGeom prst="rect">
            <a:avLst/>
          </a:prstGeom>
          <a:noFill/>
        </p:spPr>
        <p:txBody>
          <a:bodyPr wrap="square" anchor="t">
            <a:spAutoFit/>
          </a:bodyPr>
          <a:lstStyle/>
          <a:p>
            <a:pPr algn="l"/>
            <a:r>
              <a:rPr sz="1500" b="1" i="0">
                <a:solidFill>
                  <a:srgbClr val="C02A2A"/>
                </a:solidFill>
                <a:latin typeface="Calibri"/>
              </a:rPr>
              <a:t>❌ 常见误区</a:t>
            </a:r>
          </a:p>
        </p:txBody>
      </p:sp>
      <p:sp>
        <p:nvSpPr>
          <p:cNvPr id="7" name="TextBox 6"/>
          <p:cNvSpPr txBox="1"/>
          <p:nvPr/>
        </p:nvSpPr>
        <p:spPr>
          <a:xfrm>
            <a:off x="548640" y="1645920"/>
            <a:ext cx="5486400" cy="4572000"/>
          </a:xfrm>
          <a:prstGeom prst="rect">
            <a:avLst/>
          </a:prstGeom>
          <a:noFill/>
        </p:spPr>
        <p:txBody>
          <a:bodyPr wrap="square">
            <a:spAutoFit/>
          </a:bodyPr>
          <a:lstStyle/>
          <a:p>
            <a:r>
              <a:rPr sz="1400">
                <a:solidFill>
                  <a:srgbClr val="C02A2A"/>
                </a:solidFill>
              </a:rPr>
              <a:t>✗ 地图题跟丢：left/right反应慢，一个路口没跟上，后面全错</a:t>
            </a:r>
          </a:p>
          <a:p>
            <a:pPr>
              <a:spcBef>
                <a:spcPts val="800"/>
              </a:spcBef>
            </a:pPr>
            <a:r>
              <a:rPr sz="1400">
                <a:solidFill>
                  <a:srgbClr val="C02A2A"/>
                </a:solidFill>
              </a:rPr>
              <a:t>✗ 匹配题临时读选项：Q16出来才开始读A-H，录音已过大半</a:t>
            </a:r>
          </a:p>
          <a:p>
            <a:pPr>
              <a:spcBef>
                <a:spcPts val="800"/>
              </a:spcBef>
            </a:pPr>
            <a:r>
              <a:rPr sz="1400">
                <a:solidFill>
                  <a:srgbClr val="C02A2A"/>
                </a:solidFill>
              </a:rPr>
              <a:t>✗ 话题转换没听到信号词，从Q16开始后面全部跟丢</a:t>
            </a:r>
          </a:p>
        </p:txBody>
      </p:sp>
      <p:sp>
        <p:nvSpPr>
          <p:cNvPr id="8" name="Rectangle 7"/>
          <p:cNvSpPr/>
          <p:nvPr/>
        </p:nvSpPr>
        <p:spPr>
          <a:xfrm>
            <a:off x="6108192" y="1097280"/>
            <a:ext cx="36576" cy="5212080"/>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143000"/>
            <a:ext cx="5486400" cy="411480"/>
          </a:xfrm>
          <a:prstGeom prst="rect">
            <a:avLst/>
          </a:prstGeom>
          <a:noFill/>
        </p:spPr>
        <p:txBody>
          <a:bodyPr wrap="square" anchor="t">
            <a:spAutoFit/>
          </a:bodyPr>
          <a:lstStyle/>
          <a:p>
            <a:pPr algn="l"/>
            <a:r>
              <a:rPr sz="1500" b="1" i="0">
                <a:solidFill>
                  <a:srgbClr val="1B7A3D"/>
                </a:solidFill>
                <a:latin typeface="Calibri"/>
              </a:rPr>
              <a:t>✅ 正确做法</a:t>
            </a:r>
          </a:p>
        </p:txBody>
      </p:sp>
      <p:sp>
        <p:nvSpPr>
          <p:cNvPr id="10" name="TextBox 9"/>
          <p:cNvSpPr txBox="1"/>
          <p:nvPr/>
        </p:nvSpPr>
        <p:spPr>
          <a:xfrm>
            <a:off x="6309360" y="1645920"/>
            <a:ext cx="5394960" cy="4572000"/>
          </a:xfrm>
          <a:prstGeom prst="rect">
            <a:avLst/>
          </a:prstGeom>
          <a:noFill/>
        </p:spPr>
        <p:txBody>
          <a:bodyPr wrap="square">
            <a:spAutoFit/>
          </a:bodyPr>
          <a:lstStyle/>
          <a:p>
            <a:r>
              <a:rPr sz="1400">
                <a:solidFill>
                  <a:srgbClr val="1B7A3D"/>
                </a:solidFill>
              </a:rPr>
              <a:t>✓ 方位词必须形成条件反射：opposite=对面；adjacent=旁边；beyond=更远处</a:t>
            </a:r>
          </a:p>
          <a:p>
            <a:pPr>
              <a:spcBef>
                <a:spcPts val="800"/>
              </a:spcBef>
            </a:pPr>
            <a:r>
              <a:rPr sz="1400">
                <a:solidFill>
                  <a:srgbClr val="1B7A3D"/>
                </a:solidFill>
              </a:rPr>
              <a:t>✓ 匹配题铁律：录音开始前读完A-H全部选项，每个圈1个关键词</a:t>
            </a:r>
          </a:p>
          <a:p>
            <a:pPr>
              <a:spcBef>
                <a:spcPts val="800"/>
              </a:spcBef>
            </a:pPr>
            <a:r>
              <a:rPr sz="1400">
                <a:solidFill>
                  <a:srgbClr val="1B7A3D"/>
                </a:solidFill>
              </a:rPr>
              <a:t>✓ 信号词=话题转换提示：听到"Now let's move on to"→下一道题来了</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2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12A594"/>
                </a:solidFill>
                <a:latin typeface="Calibri"/>
              </a:rPr>
              <a:t>PART 01</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S2结构与高频场景</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S2 Structure &amp; Common Scenes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S2独白的特点</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143000"/>
            <a:ext cx="11064240" cy="86868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0F4C5C"/>
                </a:solidFill>
                <a:latin typeface="Calibri"/>
              </a:rPr>
              <a:t>单人介绍，无对话，语速适中</a:t>
            </a:r>
          </a:p>
        </p:txBody>
      </p:sp>
      <p:sp>
        <p:nvSpPr>
          <p:cNvPr id="10" name="TextBox 9"/>
          <p:cNvSpPr txBox="1"/>
          <p:nvPr/>
        </p:nvSpPr>
        <p:spPr>
          <a:xfrm>
            <a:off x="640080" y="2240280"/>
            <a:ext cx="10972800" cy="3931920"/>
          </a:xfrm>
          <a:prstGeom prst="rect">
            <a:avLst/>
          </a:prstGeom>
          <a:noFill/>
        </p:spPr>
        <p:txBody>
          <a:bodyPr wrap="square">
            <a:spAutoFit/>
          </a:bodyPr>
          <a:lstStyle/>
          <a:p>
            <a:r>
              <a:rPr sz="1800" b="1">
                <a:solidFill>
                  <a:srgbClr val="0F4C5C"/>
                </a:solidFill>
              </a:rPr>
              <a:t>• 说话人</a:t>
            </a:r>
          </a:p>
          <a:p>
            <a:pPr>
              <a:spcBef>
                <a:spcPts val="100"/>
              </a:spcBef>
            </a:pPr>
            <a:r>
              <a:rPr sz="1500">
                <a:solidFill>
                  <a:srgbClr val="556075"/>
                </a:solidFill>
              </a:rPr>
              <a:t>   社区官员/导游/工作人员，口吻正式礼貌</a:t>
            </a:r>
          </a:p>
          <a:p>
            <a:pPr>
              <a:spcBef>
                <a:spcPts val="900"/>
              </a:spcBef>
            </a:pPr>
            <a:r>
              <a:rPr sz="1800" b="1">
                <a:solidFill>
                  <a:srgbClr val="0F4C5C"/>
                </a:solidFill>
              </a:rPr>
              <a:t>• 题型</a:t>
            </a:r>
          </a:p>
          <a:p>
            <a:pPr>
              <a:spcBef>
                <a:spcPts val="100"/>
              </a:spcBef>
            </a:pPr>
            <a:r>
              <a:rPr sz="1500">
                <a:solidFill>
                  <a:srgbClr val="556075"/>
                </a:solidFill>
              </a:rPr>
              <a:t>   地图题30%+匹配题40%+填空20%+其他10%</a:t>
            </a:r>
          </a:p>
          <a:p>
            <a:pPr>
              <a:spcBef>
                <a:spcPts val="900"/>
              </a:spcBef>
            </a:pPr>
            <a:r>
              <a:rPr sz="1800" b="1">
                <a:solidFill>
                  <a:srgbClr val="0F4C5C"/>
                </a:solidFill>
              </a:rPr>
              <a:t>• 语速</a:t>
            </a:r>
          </a:p>
          <a:p>
            <a:pPr>
              <a:spcBef>
                <a:spcPts val="100"/>
              </a:spcBef>
            </a:pPr>
            <a:r>
              <a:rPr sz="1500">
                <a:solidFill>
                  <a:srgbClr val="556075"/>
                </a:solidFill>
              </a:rPr>
              <a:t>   比S1快10%；专业词较多但不及S4</a:t>
            </a:r>
          </a:p>
          <a:p>
            <a:pPr>
              <a:spcBef>
                <a:spcPts val="900"/>
              </a:spcBef>
            </a:pPr>
            <a:r>
              <a:rPr sz="1800" b="1">
                <a:solidFill>
                  <a:srgbClr val="0F4C5C"/>
                </a:solidFill>
              </a:rPr>
              <a:t>• 陷阱</a:t>
            </a:r>
          </a:p>
          <a:p>
            <a:pPr>
              <a:spcBef>
                <a:spcPts val="100"/>
              </a:spcBef>
            </a:pPr>
            <a:r>
              <a:rPr sz="1500">
                <a:solidFill>
                  <a:srgbClr val="556075"/>
                </a:solidFill>
              </a:rPr>
              <a:t>   独白中的自我修正；条件限定词（only/except）</a:t>
            </a:r>
          </a:p>
          <a:p>
            <a:pPr>
              <a:spcBef>
                <a:spcPts val="900"/>
              </a:spcBef>
            </a:pPr>
            <a:r>
              <a:rPr sz="1800" b="1">
                <a:solidFill>
                  <a:srgbClr val="0F4C5C"/>
                </a:solidFill>
              </a:rPr>
              <a:t>• 目标分</a:t>
            </a:r>
          </a:p>
          <a:p>
            <a:pPr>
              <a:spcBef>
                <a:spcPts val="100"/>
              </a:spcBef>
            </a:pPr>
            <a:r>
              <a:rPr sz="1500">
                <a:solidFill>
                  <a:srgbClr val="556075"/>
                </a:solidFill>
              </a:rPr>
              <a:t>   稳定8/10；10/10需要地图零失误</a:t>
            </a:r>
          </a:p>
        </p:txBody>
      </p:sp>
      <p:sp>
        <p:nvSpPr>
          <p:cNvPr id="11" name="Rectangle 10"/>
          <p:cNvSpPr/>
          <p:nvPr/>
        </p:nvSpPr>
        <p:spPr>
          <a:xfrm>
            <a:off x="548640" y="5989320"/>
            <a:ext cx="11064240" cy="548640"/>
          </a:xfrm>
          <a:prstGeom prst="rect">
            <a:avLst/>
          </a:prstGeom>
          <a:solidFill>
            <a:srgbClr val="FDF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6035040"/>
            <a:ext cx="10698480" cy="457200"/>
          </a:xfrm>
          <a:prstGeom prst="rect">
            <a:avLst/>
          </a:prstGeom>
          <a:noFill/>
        </p:spPr>
        <p:txBody>
          <a:bodyPr wrap="square" anchor="ctr">
            <a:spAutoFit/>
          </a:bodyPr>
          <a:lstStyle/>
          <a:p>
            <a:pPr algn="l"/>
            <a:r>
              <a:rPr sz="1250" b="0" i="1">
                <a:solidFill>
                  <a:srgbClr val="C02A2A"/>
                </a:solidFill>
                <a:latin typeface="Calibri"/>
              </a:rPr>
              <a:t>⚠ 深圳学生注意：S2有内在结构：引言→设施介绍→注意事项→结尾；听到结构=不跟丢</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S2三大高频场景</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143000"/>
            <a:ext cx="11064240" cy="86868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0F4C5C"/>
                </a:solidFill>
                <a:latin typeface="Calibri"/>
              </a:rPr>
              <a:t>旅游/社区/设施是S2主战场</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0F4C5C"/>
                </a:solidFill>
              </a:rPr>
              <a:t>• 旅游景点</a:t>
            </a:r>
          </a:p>
          <a:p>
            <a:pPr>
              <a:spcBef>
                <a:spcPts val="100"/>
              </a:spcBef>
            </a:pPr>
            <a:r>
              <a:rPr sz="1500">
                <a:solidFill>
                  <a:srgbClr val="556075"/>
                </a:solidFill>
              </a:rPr>
              <a:t>   museum/gallery/exhibition；admission/guided tour/audio guide</a:t>
            </a:r>
          </a:p>
          <a:p>
            <a:pPr>
              <a:spcBef>
                <a:spcPts val="900"/>
              </a:spcBef>
            </a:pPr>
            <a:r>
              <a:rPr sz="1800" b="1">
                <a:solidFill>
                  <a:srgbClr val="0F4C5C"/>
                </a:solidFill>
              </a:rPr>
              <a:t>• 社区设施</a:t>
            </a:r>
          </a:p>
          <a:p>
            <a:pPr>
              <a:spcBef>
                <a:spcPts val="100"/>
              </a:spcBef>
            </a:pPr>
            <a:r>
              <a:rPr sz="1500">
                <a:solidFill>
                  <a:srgbClr val="556075"/>
                </a:solidFill>
              </a:rPr>
              <a:t>   leisure centre/library；membership/booking/peak hours</a:t>
            </a:r>
          </a:p>
          <a:p>
            <a:pPr>
              <a:spcBef>
                <a:spcPts val="900"/>
              </a:spcBef>
            </a:pPr>
            <a:r>
              <a:rPr sz="1800" b="1">
                <a:solidFill>
                  <a:srgbClr val="0F4C5C"/>
                </a:solidFill>
              </a:rPr>
              <a:t>• 活动安排</a:t>
            </a:r>
          </a:p>
          <a:p>
            <a:pPr>
              <a:spcBef>
                <a:spcPts val="100"/>
              </a:spcBef>
            </a:pPr>
            <a:r>
              <a:rPr sz="1500">
                <a:solidFill>
                  <a:srgbClr val="556075"/>
                </a:solidFill>
              </a:rPr>
              <a:t>   event/workshop/festival；register/deadline/eligibility</a:t>
            </a:r>
          </a:p>
          <a:p>
            <a:pPr>
              <a:spcBef>
                <a:spcPts val="900"/>
              </a:spcBef>
            </a:pPr>
            <a:r>
              <a:rPr sz="1800" b="1">
                <a:solidFill>
                  <a:srgbClr val="0F4C5C"/>
                </a:solidFill>
              </a:rPr>
              <a:t>• 关键差异</a:t>
            </a:r>
          </a:p>
          <a:p>
            <a:pPr>
              <a:spcBef>
                <a:spcPts val="100"/>
              </a:spcBef>
            </a:pPr>
            <a:r>
              <a:rPr sz="1500">
                <a:solidFill>
                  <a:srgbClr val="556075"/>
                </a:solidFill>
              </a:rPr>
              <a:t>   旅游场景地图题多；社区场景匹配题多</a:t>
            </a:r>
          </a:p>
          <a:p>
            <a:pPr>
              <a:spcBef>
                <a:spcPts val="900"/>
              </a:spcBef>
            </a:pPr>
            <a:r>
              <a:rPr sz="1800" b="1">
                <a:solidFill>
                  <a:srgbClr val="0F4C5C"/>
                </a:solidFill>
              </a:rPr>
              <a:t>• 词汇策略</a:t>
            </a:r>
          </a:p>
          <a:p>
            <a:pPr>
              <a:spcBef>
                <a:spcPts val="100"/>
              </a:spcBef>
            </a:pPr>
            <a:r>
              <a:rPr sz="1500">
                <a:solidFill>
                  <a:srgbClr val="556075"/>
                </a:solidFill>
              </a:rPr>
              <a:t>   这3类词汇熟悉后S2填空题几乎全拿</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地图/平面图三大类型</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850" b="1">
                <a:solidFill>
                  <a:srgbClr val="0F4C5C"/>
                </a:solidFill>
              </a:rPr>
              <a:t>• 建筑平面图</a:t>
            </a:r>
          </a:p>
          <a:p>
            <a:pPr>
              <a:spcBef>
                <a:spcPts val="100"/>
              </a:spcBef>
            </a:pPr>
            <a:r>
              <a:rPr sz="1550">
                <a:solidFill>
                  <a:srgbClr val="556075"/>
                </a:solidFill>
              </a:rPr>
              <a:t>   从入口追踪室内房间；注意楼层变化</a:t>
            </a:r>
          </a:p>
          <a:p>
            <a:pPr>
              <a:spcBef>
                <a:spcPts val="1000"/>
              </a:spcBef>
            </a:pPr>
            <a:r>
              <a:rPr sz="1850" b="1">
                <a:solidFill>
                  <a:srgbClr val="0F4C5C"/>
                </a:solidFill>
              </a:rPr>
              <a:t>• 室外区域图</a:t>
            </a:r>
          </a:p>
          <a:p>
            <a:pPr>
              <a:spcBef>
                <a:spcPts val="100"/>
              </a:spcBef>
            </a:pPr>
            <a:r>
              <a:rPr sz="1550">
                <a:solidFill>
                  <a:srgbClr val="556075"/>
                </a:solidFill>
              </a:rPr>
              <a:t>   公园/校园；有字母标记(A-E)要填入题目</a:t>
            </a:r>
          </a:p>
          <a:p>
            <a:pPr>
              <a:spcBef>
                <a:spcPts val="1000"/>
              </a:spcBef>
            </a:pPr>
            <a:r>
              <a:rPr sz="1850" b="1">
                <a:solidFill>
                  <a:srgbClr val="0F4C5C"/>
                </a:solidFill>
              </a:rPr>
              <a:t>• 路线追踪图</a:t>
            </a:r>
          </a:p>
          <a:p>
            <a:pPr>
              <a:spcBef>
                <a:spcPts val="100"/>
              </a:spcBef>
            </a:pPr>
            <a:r>
              <a:rPr sz="1550">
                <a:solidFill>
                  <a:srgbClr val="556075"/>
                </a:solidFill>
              </a:rPr>
              <a:t>   从A→B的方向描述；按箭头追踪即可</a:t>
            </a:r>
          </a:p>
          <a:p>
            <a:pPr>
              <a:spcBef>
                <a:spcPts val="1000"/>
              </a:spcBef>
            </a:pPr>
            <a:r>
              <a:rPr sz="1850" b="1">
                <a:solidFill>
                  <a:srgbClr val="0F4C5C"/>
                </a:solidFill>
              </a:rPr>
              <a:t>• 共同核心</a:t>
            </a:r>
          </a:p>
          <a:p>
            <a:pPr>
              <a:spcBef>
                <a:spcPts val="100"/>
              </a:spcBef>
            </a:pPr>
            <a:r>
              <a:rPr sz="1550">
                <a:solidFill>
                  <a:srgbClr val="556075"/>
                </a:solidFill>
              </a:rPr>
              <a:t>   方向词(left/right/opposite)是核心；不需要背景知识</a:t>
            </a:r>
          </a:p>
          <a:p>
            <a:pPr>
              <a:spcBef>
                <a:spcPts val="1000"/>
              </a:spcBef>
            </a:pPr>
            <a:r>
              <a:rPr sz="1850" b="1">
                <a:solidFill>
                  <a:srgbClr val="0F4C5C"/>
                </a:solidFill>
              </a:rPr>
              <a:t>• 预读要点</a:t>
            </a:r>
          </a:p>
          <a:p>
            <a:pPr>
              <a:spcBef>
                <a:spcPts val="100"/>
              </a:spcBef>
            </a:pPr>
            <a:r>
              <a:rPr sz="1550">
                <a:solidFill>
                  <a:srgbClr val="556075"/>
                </a:solidFill>
              </a:rPr>
              <a:t>   先找入口位置；标注已有地标；确认指北针方向</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匹配题核心结构</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850" b="1">
                <a:solidFill>
                  <a:srgbClr val="0F4C5C"/>
                </a:solidFill>
              </a:rPr>
              <a:t>• 题目数量</a:t>
            </a:r>
          </a:p>
          <a:p>
            <a:pPr>
              <a:spcBef>
                <a:spcPts val="100"/>
              </a:spcBef>
            </a:pPr>
            <a:r>
              <a:rPr sz="1550">
                <a:solidFill>
                  <a:srgbClr val="556075"/>
                </a:solidFill>
              </a:rPr>
              <a:t>   通常5-8道匹配题在Q11-20中</a:t>
            </a:r>
          </a:p>
          <a:p>
            <a:pPr>
              <a:spcBef>
                <a:spcPts val="1000"/>
              </a:spcBef>
            </a:pPr>
            <a:r>
              <a:rPr sz="1850" b="1">
                <a:solidFill>
                  <a:srgbClr val="0F4C5C"/>
                </a:solidFill>
              </a:rPr>
              <a:t>• 选项设计</a:t>
            </a:r>
          </a:p>
          <a:p>
            <a:pPr>
              <a:spcBef>
                <a:spcPts val="100"/>
              </a:spcBef>
            </a:pPr>
            <a:r>
              <a:rPr sz="1550">
                <a:solidFill>
                  <a:srgbClr val="556075"/>
                </a:solidFill>
              </a:rPr>
              <a:t>   通常8个选项，比题目多2-3个（干扰项）</a:t>
            </a:r>
          </a:p>
          <a:p>
            <a:pPr>
              <a:spcBef>
                <a:spcPts val="1000"/>
              </a:spcBef>
            </a:pPr>
            <a:r>
              <a:rPr sz="1850" b="1">
                <a:solidFill>
                  <a:srgbClr val="0F4C5C"/>
                </a:solidFill>
              </a:rPr>
              <a:t>• 配对类型</a:t>
            </a:r>
          </a:p>
          <a:p>
            <a:pPr>
              <a:spcBef>
                <a:spcPts val="100"/>
              </a:spcBef>
            </a:pPr>
            <a:r>
              <a:rPr sz="1550">
                <a:solidFill>
                  <a:srgbClr val="556075"/>
                </a:solidFill>
              </a:rPr>
              <a:t>   设施名↔特点；人名↔意见；时间↔活动</a:t>
            </a:r>
          </a:p>
          <a:p>
            <a:pPr>
              <a:spcBef>
                <a:spcPts val="1000"/>
              </a:spcBef>
            </a:pPr>
            <a:r>
              <a:rPr sz="1850" b="1">
                <a:solidFill>
                  <a:srgbClr val="0F4C5C"/>
                </a:solidFill>
              </a:rPr>
              <a:t>• 预读必要</a:t>
            </a:r>
          </a:p>
          <a:p>
            <a:pPr>
              <a:spcBef>
                <a:spcPts val="100"/>
              </a:spcBef>
            </a:pPr>
            <a:r>
              <a:rPr sz="1550">
                <a:solidFill>
                  <a:srgbClr val="556075"/>
                </a:solidFill>
              </a:rPr>
              <a:t>   8个选项必须全读；只读当前题=自杀</a:t>
            </a:r>
          </a:p>
          <a:p>
            <a:pPr>
              <a:spcBef>
                <a:spcPts val="1000"/>
              </a:spcBef>
            </a:pPr>
            <a:r>
              <a:rPr sz="1850" b="1">
                <a:solidFill>
                  <a:srgbClr val="0F4C5C"/>
                </a:solidFill>
              </a:rPr>
              <a:t>• 同义替换</a:t>
            </a:r>
          </a:p>
          <a:p>
            <a:pPr>
              <a:spcBef>
                <a:spcPts val="100"/>
              </a:spcBef>
            </a:pPr>
            <a:r>
              <a:rPr sz="1550">
                <a:solidFill>
                  <a:srgbClr val="556075"/>
                </a:solidFill>
              </a:rPr>
              <a:t>   选项词≠录音词；refurbished=renovated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例题：S2地图基础</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ectangle 7"/>
          <p:cNvSpPr/>
          <p:nvPr/>
        </p:nvSpPr>
        <p:spPr>
          <a:xfrm>
            <a:off x="548640" y="1188720"/>
            <a:ext cx="11064240" cy="36576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Label the map using letters A-E.
Q11:Café Q12:Disabled toilet Q13:Gift shop
"From the main entrance, go straight ahead. The information desk is right in front.
The café is on your left, just past the gift shop.
Disabled toilets are opposite the information desk on the right."</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Q11:Café=左侧(past gift shop)
Q12:Disabled toilet=右侧(opposite info desk)
Q13:Gift shop=left(before café)</a:t>
            </a:r>
          </a:p>
        </p:txBody>
      </p:sp>
      <p:sp>
        <p:nvSpPr>
          <p:cNvPr id="14" name="Rectangle 13"/>
          <p:cNvSpPr/>
          <p:nvPr/>
        </p:nvSpPr>
        <p:spPr>
          <a:xfrm>
            <a:off x="548640" y="5669279"/>
            <a:ext cx="11064240" cy="36576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先找主入口→追踪"straight ahead"→再追踪left/right；用铅笔实时标注</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例题：S2匹配题</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ectangle 7"/>
          <p:cNvSpPr/>
          <p:nvPr/>
        </p:nvSpPr>
        <p:spPr>
          <a:xfrm>
            <a:off x="548640" y="1188720"/>
            <a:ext cx="11064240" cy="36576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Match each facility with feature A-F.
A.recently renovated B.members only C.booking required D.free E.24hrs F.closed Mondays
"The pool was completely refurbished last month.
Tennis courts need advance booking.
The library operates around the clock, seven days a week."</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Q16:Pool→A(refurbished=renovated)
Q17:Tennis→C(booking required)
Q18:Library→E(around the clock=24hrs)</a:t>
            </a:r>
          </a:p>
        </p:txBody>
      </p:sp>
      <p:sp>
        <p:nvSpPr>
          <p:cNvPr id="14" name="Rectangle 13"/>
          <p:cNvSpPr/>
          <p:nvPr/>
        </p:nvSpPr>
        <p:spPr>
          <a:xfrm>
            <a:off x="548640" y="5669279"/>
            <a:ext cx="11064240" cy="36576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关键：refurbished=renovated; around the clock=24hrs——同义替换识别是匹配题核心</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2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12A594"/>
                </a:solidFill>
                <a:latin typeface="Calibri"/>
              </a:rPr>
              <a:t>PART 02</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地图题20个核心方向词</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20 Essential Direction Words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位置类方向词（必须5秒反应）</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143000"/>
            <a:ext cx="11064240" cy="86868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0F4C5C"/>
                </a:solidFill>
                <a:latin typeface="Calibri"/>
              </a:rPr>
              <a:t>方位词条件反射是地图题零失误的前提</a:t>
            </a:r>
          </a:p>
        </p:txBody>
      </p:sp>
      <p:sp>
        <p:nvSpPr>
          <p:cNvPr id="10" name="TextBox 9"/>
          <p:cNvSpPr txBox="1"/>
          <p:nvPr/>
        </p:nvSpPr>
        <p:spPr>
          <a:xfrm>
            <a:off x="640080" y="2240280"/>
            <a:ext cx="10972800" cy="3931920"/>
          </a:xfrm>
          <a:prstGeom prst="rect">
            <a:avLst/>
          </a:prstGeom>
          <a:noFill/>
        </p:spPr>
        <p:txBody>
          <a:bodyPr wrap="square">
            <a:spAutoFit/>
          </a:bodyPr>
          <a:lstStyle/>
          <a:p>
            <a:r>
              <a:rPr sz="1800" b="1">
                <a:solidFill>
                  <a:srgbClr val="0F4C5C"/>
                </a:solidFill>
              </a:rPr>
              <a:t>• opposite / facing</a:t>
            </a:r>
          </a:p>
          <a:p>
            <a:pPr>
              <a:spcBef>
                <a:spcPts val="100"/>
              </a:spcBef>
            </a:pPr>
            <a:r>
              <a:rPr sz="1500">
                <a:solidFill>
                  <a:srgbClr val="556075"/>
                </a:solidFill>
              </a:rPr>
              <a:t>   对面（正对着的位置）</a:t>
            </a:r>
          </a:p>
          <a:p>
            <a:pPr>
              <a:spcBef>
                <a:spcPts val="900"/>
              </a:spcBef>
            </a:pPr>
            <a:r>
              <a:rPr sz="1800" b="1">
                <a:solidFill>
                  <a:srgbClr val="0F4C5C"/>
                </a:solidFill>
              </a:rPr>
              <a:t>• adjacent to / next to</a:t>
            </a:r>
          </a:p>
          <a:p>
            <a:pPr>
              <a:spcBef>
                <a:spcPts val="100"/>
              </a:spcBef>
            </a:pPr>
            <a:r>
              <a:rPr sz="1500">
                <a:solidFill>
                  <a:srgbClr val="556075"/>
                </a:solidFill>
              </a:rPr>
              <a:t>   紧邻（左右相接）</a:t>
            </a:r>
          </a:p>
          <a:p>
            <a:pPr>
              <a:spcBef>
                <a:spcPts val="900"/>
              </a:spcBef>
            </a:pPr>
            <a:r>
              <a:rPr sz="1800" b="1">
                <a:solidFill>
                  <a:srgbClr val="0F4C5C"/>
                </a:solidFill>
              </a:rPr>
              <a:t>• between A and B</a:t>
            </a:r>
          </a:p>
          <a:p>
            <a:pPr>
              <a:spcBef>
                <a:spcPts val="100"/>
              </a:spcBef>
            </a:pPr>
            <a:r>
              <a:rPr sz="1500">
                <a:solidFill>
                  <a:srgbClr val="556075"/>
                </a:solidFill>
              </a:rPr>
              <a:t>   在A和B之间</a:t>
            </a:r>
          </a:p>
          <a:p>
            <a:pPr>
              <a:spcBef>
                <a:spcPts val="900"/>
              </a:spcBef>
            </a:pPr>
            <a:r>
              <a:rPr sz="1800" b="1">
                <a:solidFill>
                  <a:srgbClr val="0F4C5C"/>
                </a:solidFill>
              </a:rPr>
              <a:t>• at the end of</a:t>
            </a:r>
          </a:p>
          <a:p>
            <a:pPr>
              <a:spcBef>
                <a:spcPts val="100"/>
              </a:spcBef>
            </a:pPr>
            <a:r>
              <a:rPr sz="1500">
                <a:solidFill>
                  <a:srgbClr val="556075"/>
                </a:solidFill>
              </a:rPr>
              <a:t>   在...的尽头</a:t>
            </a:r>
          </a:p>
          <a:p>
            <a:pPr>
              <a:spcBef>
                <a:spcPts val="900"/>
              </a:spcBef>
            </a:pPr>
            <a:r>
              <a:rPr sz="1800" b="1">
                <a:solidFill>
                  <a:srgbClr val="0F4C5C"/>
                </a:solidFill>
              </a:rPr>
              <a:t>• in front of / behind</a:t>
            </a:r>
          </a:p>
          <a:p>
            <a:pPr>
              <a:spcBef>
                <a:spcPts val="100"/>
              </a:spcBef>
            </a:pPr>
            <a:r>
              <a:rPr sz="1500">
                <a:solidFill>
                  <a:srgbClr val="556075"/>
                </a:solidFill>
              </a:rPr>
              <a:t>   在...前面/后面</a:t>
            </a:r>
          </a:p>
          <a:p>
            <a:pPr>
              <a:spcBef>
                <a:spcPts val="900"/>
              </a:spcBef>
            </a:pPr>
            <a:r>
              <a:rPr sz="1800" b="1">
                <a:solidFill>
                  <a:srgbClr val="0F4C5C"/>
                </a:solidFill>
              </a:rPr>
              <a:t>• on your left/right</a:t>
            </a:r>
          </a:p>
          <a:p>
            <a:pPr>
              <a:spcBef>
                <a:spcPts val="100"/>
              </a:spcBef>
            </a:pPr>
            <a:r>
              <a:rPr sz="1500">
                <a:solidFill>
                  <a:srgbClr val="556075"/>
                </a:solidFill>
              </a:rPr>
              <a:t>   行进方向的左/右侧</a:t>
            </a:r>
          </a:p>
        </p:txBody>
      </p:sp>
      <p:sp>
        <p:nvSpPr>
          <p:cNvPr id="11" name="Rectangle 10"/>
          <p:cNvSpPr/>
          <p:nvPr/>
        </p:nvSpPr>
        <p:spPr>
          <a:xfrm>
            <a:off x="548640" y="5989320"/>
            <a:ext cx="11064240" cy="548640"/>
          </a:xfrm>
          <a:prstGeom prst="rect">
            <a:avLst/>
          </a:prstGeom>
          <a:solidFill>
            <a:srgbClr val="FDF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6035040"/>
            <a:ext cx="10698480" cy="457200"/>
          </a:xfrm>
          <a:prstGeom prst="rect">
            <a:avLst/>
          </a:prstGeom>
          <a:noFill/>
        </p:spPr>
        <p:txBody>
          <a:bodyPr wrap="square" anchor="ctr">
            <a:spAutoFit/>
          </a:bodyPr>
          <a:lstStyle/>
          <a:p>
            <a:pPr algn="l"/>
            <a:r>
              <a:rPr sz="1250" b="0" i="1">
                <a:solidFill>
                  <a:srgbClr val="C02A2A"/>
                </a:solidFill>
                <a:latin typeface="Calibri"/>
              </a:rPr>
              <a:t>⚠ 深圳学生注意：opposite和next to是最高频的两个；确保5秒内画出空间关系</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移动类方向词（追踪路线用）</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143000"/>
            <a:ext cx="11064240" cy="86868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0F4C5C"/>
                </a:solidFill>
                <a:latin typeface="Calibri"/>
              </a:rPr>
              <a:t>从A到B需要这些词</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0F4C5C"/>
                </a:solidFill>
              </a:rPr>
              <a:t>• go straight ahead / continue</a:t>
            </a:r>
          </a:p>
          <a:p>
            <a:pPr>
              <a:spcBef>
                <a:spcPts val="100"/>
              </a:spcBef>
            </a:pPr>
            <a:r>
              <a:rPr sz="1500">
                <a:solidFill>
                  <a:srgbClr val="556075"/>
                </a:solidFill>
              </a:rPr>
              <a:t>   直行</a:t>
            </a:r>
          </a:p>
          <a:p>
            <a:pPr>
              <a:spcBef>
                <a:spcPts val="900"/>
              </a:spcBef>
            </a:pPr>
            <a:r>
              <a:rPr sz="1800" b="1">
                <a:solidFill>
                  <a:srgbClr val="0F4C5C"/>
                </a:solidFill>
              </a:rPr>
              <a:t>• turn left/right</a:t>
            </a:r>
          </a:p>
          <a:p>
            <a:pPr>
              <a:spcBef>
                <a:spcPts val="100"/>
              </a:spcBef>
            </a:pPr>
            <a:r>
              <a:rPr sz="1500">
                <a:solidFill>
                  <a:srgbClr val="556075"/>
                </a:solidFill>
              </a:rPr>
              <a:t>   左转/右转</a:t>
            </a:r>
          </a:p>
          <a:p>
            <a:pPr>
              <a:spcBef>
                <a:spcPts val="900"/>
              </a:spcBef>
            </a:pPr>
            <a:r>
              <a:rPr sz="1800" b="1">
                <a:solidFill>
                  <a:srgbClr val="0F4C5C"/>
                </a:solidFill>
              </a:rPr>
              <a:t>• take the first/second turning</a:t>
            </a:r>
          </a:p>
          <a:p>
            <a:pPr>
              <a:spcBef>
                <a:spcPts val="100"/>
              </a:spcBef>
            </a:pPr>
            <a:r>
              <a:rPr sz="1500">
                <a:solidFill>
                  <a:srgbClr val="556075"/>
                </a:solidFill>
              </a:rPr>
              <a:t>   第一/二个路口转弯</a:t>
            </a:r>
          </a:p>
          <a:p>
            <a:pPr>
              <a:spcBef>
                <a:spcPts val="900"/>
              </a:spcBef>
            </a:pPr>
            <a:r>
              <a:rPr sz="1800" b="1">
                <a:solidFill>
                  <a:srgbClr val="0F4C5C"/>
                </a:solidFill>
              </a:rPr>
              <a:t>• just past / immediately after</a:t>
            </a:r>
          </a:p>
          <a:p>
            <a:pPr>
              <a:spcBef>
                <a:spcPts val="100"/>
              </a:spcBef>
            </a:pPr>
            <a:r>
              <a:rPr sz="1500">
                <a:solidFill>
                  <a:srgbClr val="556075"/>
                </a:solidFill>
              </a:rPr>
              <a:t>   经过...之后紧接着</a:t>
            </a:r>
          </a:p>
          <a:p>
            <a:pPr>
              <a:spcBef>
                <a:spcPts val="900"/>
              </a:spcBef>
            </a:pPr>
            <a:r>
              <a:rPr sz="1800" b="1">
                <a:solidFill>
                  <a:srgbClr val="0F4C5C"/>
                </a:solidFill>
              </a:rPr>
              <a:t>• at the junction / at the corner</a:t>
            </a:r>
          </a:p>
          <a:p>
            <a:pPr>
              <a:spcBef>
                <a:spcPts val="100"/>
              </a:spcBef>
            </a:pPr>
            <a:r>
              <a:rPr sz="1500">
                <a:solidFill>
                  <a:srgbClr val="556075"/>
                </a:solidFill>
              </a:rPr>
              <a:t>   在路口/在拐角</a:t>
            </a:r>
          </a:p>
          <a:p>
            <a:pPr>
              <a:spcBef>
                <a:spcPts val="900"/>
              </a:spcBef>
            </a:pPr>
            <a:r>
              <a:rPr sz="1800" b="1">
                <a:solidFill>
                  <a:srgbClr val="0F4C5C"/>
                </a:solidFill>
              </a:rPr>
              <a:t>• bear left/right</a:t>
            </a:r>
          </a:p>
          <a:p>
            <a:pPr>
              <a:spcBef>
                <a:spcPts val="100"/>
              </a:spcBef>
            </a:pPr>
            <a:r>
              <a:rPr sz="1500">
                <a:solidFill>
                  <a:srgbClr val="556075"/>
                </a:solidFill>
              </a:rPr>
              <a:t>   微微偏左/右（不是直角转弯）</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方向词空间转换：行进方向决定left/right</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850" b="1">
                <a:solidFill>
                  <a:srgbClr val="0F4C5C"/>
                </a:solidFill>
              </a:rPr>
              <a:t>• 基本原则</a:t>
            </a:r>
          </a:p>
          <a:p>
            <a:pPr>
              <a:spcBef>
                <a:spcPts val="100"/>
              </a:spcBef>
            </a:pPr>
            <a:r>
              <a:rPr sz="1550">
                <a:solidFill>
                  <a:srgbClr val="556075"/>
                </a:solidFill>
              </a:rPr>
              <a:t>   left/right是相对行进方向，不是地图绝对方位</a:t>
            </a:r>
          </a:p>
          <a:p>
            <a:pPr>
              <a:spcBef>
                <a:spcPts val="1000"/>
              </a:spcBef>
            </a:pPr>
            <a:r>
              <a:rPr sz="1850" b="1">
                <a:solidFill>
                  <a:srgbClr val="0F4C5C"/>
                </a:solidFill>
              </a:rPr>
              <a:t>• 面向北行走</a:t>
            </a:r>
          </a:p>
          <a:p>
            <a:pPr>
              <a:spcBef>
                <a:spcPts val="100"/>
              </a:spcBef>
            </a:pPr>
            <a:r>
              <a:rPr sz="1550">
                <a:solidFill>
                  <a:srgbClr val="556075"/>
                </a:solidFill>
              </a:rPr>
              <a:t>   left=西；right=东；on your left=地图左侧</a:t>
            </a:r>
          </a:p>
          <a:p>
            <a:pPr>
              <a:spcBef>
                <a:spcPts val="1000"/>
              </a:spcBef>
            </a:pPr>
            <a:r>
              <a:rPr sz="1850" b="1">
                <a:solidFill>
                  <a:srgbClr val="0F4C5C"/>
                </a:solidFill>
              </a:rPr>
              <a:t>• 面向南行走</a:t>
            </a:r>
          </a:p>
          <a:p>
            <a:pPr>
              <a:spcBef>
                <a:spcPts val="100"/>
              </a:spcBef>
            </a:pPr>
            <a:r>
              <a:rPr sz="1550">
                <a:solidFill>
                  <a:srgbClr val="556075"/>
                </a:solidFill>
              </a:rPr>
              <a:t>   left=东；right=西；on your left=地图右侧！</a:t>
            </a:r>
          </a:p>
          <a:p>
            <a:pPr>
              <a:spcBef>
                <a:spcPts val="1000"/>
              </a:spcBef>
            </a:pPr>
            <a:r>
              <a:rPr sz="1850" b="1">
                <a:solidFill>
                  <a:srgbClr val="0F4C5C"/>
                </a:solidFill>
              </a:rPr>
              <a:t>• 实战技巧</a:t>
            </a:r>
          </a:p>
          <a:p>
            <a:pPr>
              <a:spcBef>
                <a:spcPts val="100"/>
              </a:spcBef>
            </a:pPr>
            <a:r>
              <a:rPr sz="1550">
                <a:solidFill>
                  <a:srgbClr val="556075"/>
                </a:solidFill>
              </a:rPr>
              <a:t>   用铅笔箭头标出行进方向；每次转弯更新方向感</a:t>
            </a:r>
          </a:p>
          <a:p>
            <a:pPr>
              <a:spcBef>
                <a:spcPts val="1000"/>
              </a:spcBef>
            </a:pPr>
            <a:r>
              <a:rPr sz="1850" b="1">
                <a:solidFill>
                  <a:srgbClr val="0F4C5C"/>
                </a:solidFill>
              </a:rPr>
              <a:t>• 入口通常</a:t>
            </a:r>
          </a:p>
          <a:p>
            <a:pPr>
              <a:spcBef>
                <a:spcPts val="100"/>
              </a:spcBef>
            </a:pPr>
            <a:r>
              <a:rPr sz="1550">
                <a:solidFill>
                  <a:srgbClr val="556075"/>
                </a:solidFill>
              </a:rPr>
              <a:t>   面向地图上方（北）进入；一开始left=地图left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地图题预读三步法</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850" b="1">
                <a:solidFill>
                  <a:srgbClr val="0F4C5C"/>
                </a:solidFill>
              </a:rPr>
              <a:t>• 第1步</a:t>
            </a:r>
          </a:p>
          <a:p>
            <a:pPr>
              <a:spcBef>
                <a:spcPts val="100"/>
              </a:spcBef>
            </a:pPr>
            <a:r>
              <a:rPr sz="1550">
                <a:solidFill>
                  <a:srgbClr val="556075"/>
                </a:solidFill>
              </a:rPr>
              <a:t>   找入口：标注✱或START，确定追踪起点</a:t>
            </a:r>
          </a:p>
          <a:p>
            <a:pPr>
              <a:spcBef>
                <a:spcPts val="1000"/>
              </a:spcBef>
            </a:pPr>
            <a:r>
              <a:rPr sz="1850" b="1">
                <a:solidFill>
                  <a:srgbClr val="0F4C5C"/>
                </a:solidFill>
              </a:rPr>
              <a:t>• 第2步</a:t>
            </a:r>
          </a:p>
          <a:p>
            <a:pPr>
              <a:spcBef>
                <a:spcPts val="100"/>
              </a:spcBef>
            </a:pPr>
            <a:r>
              <a:rPr sz="1550">
                <a:solidFill>
                  <a:srgbClr val="556075"/>
                </a:solidFill>
              </a:rPr>
              <a:t>   数标记：地图上有几个字母(A/B/C)需要填入？</a:t>
            </a:r>
          </a:p>
          <a:p>
            <a:pPr>
              <a:spcBef>
                <a:spcPts val="1000"/>
              </a:spcBef>
            </a:pPr>
            <a:r>
              <a:rPr sz="1850" b="1">
                <a:solidFill>
                  <a:srgbClr val="0F4C5C"/>
                </a:solidFill>
              </a:rPr>
              <a:t>• 第3步</a:t>
            </a:r>
          </a:p>
          <a:p>
            <a:pPr>
              <a:spcBef>
                <a:spcPts val="100"/>
              </a:spcBef>
            </a:pPr>
            <a:r>
              <a:rPr sz="1550">
                <a:solidFill>
                  <a:srgbClr val="556075"/>
                </a:solidFill>
              </a:rPr>
              <a:t>   找地标：已知地标（car park/reception）在哪里？</a:t>
            </a:r>
          </a:p>
          <a:p>
            <a:pPr>
              <a:spcBef>
                <a:spcPts val="1000"/>
              </a:spcBef>
            </a:pPr>
            <a:r>
              <a:rPr sz="1850" b="1">
                <a:solidFill>
                  <a:srgbClr val="0F4C5C"/>
                </a:solidFill>
              </a:rPr>
              <a:t>• 时间</a:t>
            </a:r>
          </a:p>
          <a:p>
            <a:pPr>
              <a:spcBef>
                <a:spcPts val="100"/>
              </a:spcBef>
            </a:pPr>
            <a:r>
              <a:rPr sz="1550">
                <a:solidFill>
                  <a:srgbClr val="556075"/>
                </a:solidFill>
              </a:rPr>
              <a:t>   15秒完成预读；剩余5秒确认方向</a:t>
            </a:r>
          </a:p>
          <a:p>
            <a:pPr>
              <a:spcBef>
                <a:spcPts val="1000"/>
              </a:spcBef>
            </a:pPr>
            <a:r>
              <a:rPr sz="1850" b="1">
                <a:solidFill>
                  <a:srgbClr val="0F4C5C"/>
                </a:solidFill>
              </a:rPr>
              <a:t>• 禁忌</a:t>
            </a:r>
          </a:p>
          <a:p>
            <a:pPr>
              <a:spcBef>
                <a:spcPts val="100"/>
              </a:spcBef>
            </a:pPr>
            <a:r>
              <a:rPr sz="1550">
                <a:solidFill>
                  <a:srgbClr val="556075"/>
                </a:solidFill>
              </a:rPr>
              <a:t>   不要试图记住地图——实时追踪比记忆更可靠</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方向词5秒闪认练习</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ectangle 7"/>
          <p:cNvSpPr/>
          <p:nvPr/>
        </p:nvSpPr>
        <p:spPr>
          <a:xfrm>
            <a:off x="548640" y="1188720"/>
            <a:ext cx="11064240" cy="36576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老师说方向词，学生立即在白纸上画空间关系（每词5秒）：
1."The café is adjacent to the gift shop."
2."Turn left at the junction, the library is at the far end."
3."The gym is opposite the swimming pool, between café and entrance."
4."Just past the reception on your right, you'll find the toilets."</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1.相邻 2.左转→尽头 3.对面+在两者之间 4.经过reception右侧</a:t>
            </a:r>
          </a:p>
        </p:txBody>
      </p:sp>
      <p:sp>
        <p:nvSpPr>
          <p:cNvPr id="14" name="Rectangle 13"/>
          <p:cNvSpPr/>
          <p:nvPr/>
        </p:nvSpPr>
        <p:spPr>
          <a:xfrm>
            <a:off x="548640" y="5669279"/>
            <a:ext cx="11064240" cy="36576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画图而非文字描述：方向词触发空间图像，比文字转换快3倍</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地图追踪实战（口述画图）</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ectangle 7"/>
          <p:cNvSpPr/>
          <p:nvPr/>
        </p:nvSpPr>
        <p:spPr>
          <a:xfrm>
            <a:off x="548640" y="1188720"/>
            <a:ext cx="11064240" cy="36576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在白纸中央画矩形代表建筑，底部中间标ENTRANCE：
"From the entrance, go straight ahead to the main hall (Q11).
Turn left. The classroom is the first door on your right (Q12).
Continue and turn right at the end. The office is on your left (Q13)."</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Q11:直走=建筑中央/上方
Q12:左转第一门右侧
Q13:继续右转后左侧</a:t>
            </a:r>
          </a:p>
        </p:txBody>
      </p:sp>
      <p:sp>
        <p:nvSpPr>
          <p:cNvPr id="14" name="Rectangle 13"/>
          <p:cNvSpPr/>
          <p:nvPr/>
        </p:nvSpPr>
        <p:spPr>
          <a:xfrm>
            <a:off x="548640" y="5669279"/>
            <a:ext cx="11064240" cy="36576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用箭头标出每次转弯；先追路线，再写答案字母；不要等全部听完再标</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2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12A594"/>
                </a:solidFill>
                <a:latin typeface="Calibri"/>
              </a:rPr>
              <a:t>PART 03</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匹配题系统解法</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Matching Questions: Complete System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匹配题三重压力</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143000"/>
            <a:ext cx="11064240" cy="86868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0F4C5C"/>
                </a:solidFill>
                <a:latin typeface="Calibri"/>
              </a:rPr>
              <a:t>为什么匹配题难</a:t>
            </a:r>
          </a:p>
        </p:txBody>
      </p:sp>
      <p:sp>
        <p:nvSpPr>
          <p:cNvPr id="10" name="TextBox 9"/>
          <p:cNvSpPr txBox="1"/>
          <p:nvPr/>
        </p:nvSpPr>
        <p:spPr>
          <a:xfrm>
            <a:off x="640080" y="2240280"/>
            <a:ext cx="10972800" cy="3931920"/>
          </a:xfrm>
          <a:prstGeom prst="rect">
            <a:avLst/>
          </a:prstGeom>
          <a:noFill/>
        </p:spPr>
        <p:txBody>
          <a:bodyPr wrap="square">
            <a:spAutoFit/>
          </a:bodyPr>
          <a:lstStyle/>
          <a:p>
            <a:r>
              <a:rPr sz="1800" b="1">
                <a:solidFill>
                  <a:srgbClr val="0F4C5C"/>
                </a:solidFill>
              </a:rPr>
              <a:t>• 压力1</a:t>
            </a:r>
          </a:p>
          <a:p>
            <a:pPr>
              <a:spcBef>
                <a:spcPts val="100"/>
              </a:spcBef>
            </a:pPr>
            <a:r>
              <a:rPr sz="1500">
                <a:solidFill>
                  <a:srgbClr val="556075"/>
                </a:solidFill>
              </a:rPr>
              <a:t>   8个选项同时在面前，不知道关注哪个</a:t>
            </a:r>
          </a:p>
          <a:p>
            <a:pPr>
              <a:spcBef>
                <a:spcPts val="900"/>
              </a:spcBef>
            </a:pPr>
            <a:r>
              <a:rPr sz="1800" b="1">
                <a:solidFill>
                  <a:srgbClr val="0F4C5C"/>
                </a:solidFill>
              </a:rPr>
              <a:t>• 压力2</a:t>
            </a:r>
          </a:p>
          <a:p>
            <a:pPr>
              <a:spcBef>
                <a:spcPts val="100"/>
              </a:spcBef>
            </a:pPr>
            <a:r>
              <a:rPr sz="1500">
                <a:solidFill>
                  <a:srgbClr val="556075"/>
                </a:solidFill>
              </a:rPr>
              <a:t>   录音提到选项词，但整句话可能否定它（干扰）</a:t>
            </a:r>
          </a:p>
          <a:p>
            <a:pPr>
              <a:spcBef>
                <a:spcPts val="900"/>
              </a:spcBef>
            </a:pPr>
            <a:r>
              <a:rPr sz="1800" b="1">
                <a:solidFill>
                  <a:srgbClr val="0F4C5C"/>
                </a:solidFill>
              </a:rPr>
              <a:t>• 压力3</a:t>
            </a:r>
          </a:p>
          <a:p>
            <a:pPr>
              <a:spcBef>
                <a:spcPts val="100"/>
              </a:spcBef>
            </a:pPr>
            <a:r>
              <a:rPr sz="1500">
                <a:solidFill>
                  <a:srgbClr val="556075"/>
                </a:solidFill>
              </a:rPr>
              <a:t>   一边听一边在8个选项中扫描——脑力负荷极大</a:t>
            </a:r>
          </a:p>
          <a:p>
            <a:pPr>
              <a:spcBef>
                <a:spcPts val="900"/>
              </a:spcBef>
            </a:pPr>
            <a:r>
              <a:rPr sz="1800" b="1">
                <a:solidFill>
                  <a:srgbClr val="0F4C5C"/>
                </a:solidFill>
              </a:rPr>
              <a:t>• 根本解法</a:t>
            </a:r>
          </a:p>
          <a:p>
            <a:pPr>
              <a:spcBef>
                <a:spcPts val="100"/>
              </a:spcBef>
            </a:pPr>
            <a:r>
              <a:rPr sz="1500">
                <a:solidFill>
                  <a:srgbClr val="556075"/>
                </a:solidFill>
              </a:rPr>
              <a:t>   预读圈词→脑中建关键词库→听时用库匹配，不靠扫描</a:t>
            </a:r>
          </a:p>
          <a:p>
            <a:pPr>
              <a:spcBef>
                <a:spcPts val="900"/>
              </a:spcBef>
            </a:pPr>
            <a:r>
              <a:rPr sz="1800" b="1">
                <a:solidFill>
                  <a:srgbClr val="0F4C5C"/>
                </a:solidFill>
              </a:rPr>
              <a:t>• 训练目标</a:t>
            </a:r>
          </a:p>
          <a:p>
            <a:pPr>
              <a:spcBef>
                <a:spcPts val="100"/>
              </a:spcBef>
            </a:pPr>
            <a:r>
              <a:rPr sz="1500">
                <a:solidFill>
                  <a:srgbClr val="556075"/>
                </a:solidFill>
              </a:rPr>
              <a:t>   听到"refurbished"→0.5秒联系到"renovated"（B选项）</a:t>
            </a:r>
          </a:p>
        </p:txBody>
      </p:sp>
      <p:sp>
        <p:nvSpPr>
          <p:cNvPr id="11" name="Rectangle 10"/>
          <p:cNvSpPr/>
          <p:nvPr/>
        </p:nvSpPr>
        <p:spPr>
          <a:xfrm>
            <a:off x="548640" y="5989320"/>
            <a:ext cx="11064240" cy="548640"/>
          </a:xfrm>
          <a:prstGeom prst="rect">
            <a:avLst/>
          </a:prstGeom>
          <a:solidFill>
            <a:srgbClr val="FDF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6035040"/>
            <a:ext cx="10698480" cy="457200"/>
          </a:xfrm>
          <a:prstGeom prst="rect">
            <a:avLst/>
          </a:prstGeom>
          <a:noFill/>
        </p:spPr>
        <p:txBody>
          <a:bodyPr wrap="square" anchor="ctr">
            <a:spAutoFit/>
          </a:bodyPr>
          <a:lstStyle/>
          <a:p>
            <a:pPr algn="l"/>
            <a:r>
              <a:rPr sz="1250" b="0" i="1">
                <a:solidFill>
                  <a:srgbClr val="C02A2A"/>
                </a:solidFill>
                <a:latin typeface="Calibri"/>
              </a:rPr>
              <a:t>⚠ 深圳学生注意：匹配题=速记关键词+识别同义替换；不是语言能力的测试</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预读操作规范（录音前完成）</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143000"/>
            <a:ext cx="11064240" cy="86868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0F4C5C"/>
                </a:solidFill>
                <a:latin typeface="Calibri"/>
              </a:rPr>
              <a:t>这一步决定匹配题成败</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0F4C5C"/>
                </a:solidFill>
              </a:rPr>
              <a:t>• 时机</a:t>
            </a:r>
          </a:p>
          <a:p>
            <a:pPr>
              <a:spcBef>
                <a:spcPts val="100"/>
              </a:spcBef>
            </a:pPr>
            <a:r>
              <a:rPr sz="1500">
                <a:solidFill>
                  <a:srgbClr val="556075"/>
                </a:solidFill>
              </a:rPr>
              <a:t>   S2说明时间或S1→S2间隙的20秒</a:t>
            </a:r>
          </a:p>
          <a:p>
            <a:pPr>
              <a:spcBef>
                <a:spcPts val="900"/>
              </a:spcBef>
            </a:pPr>
            <a:r>
              <a:rPr sz="1800" b="1">
                <a:solidFill>
                  <a:srgbClr val="0F4C5C"/>
                </a:solidFill>
              </a:rPr>
              <a:t>• 操作</a:t>
            </a:r>
          </a:p>
          <a:p>
            <a:pPr>
              <a:spcBef>
                <a:spcPts val="100"/>
              </a:spcBef>
            </a:pPr>
            <a:r>
              <a:rPr sz="1500">
                <a:solidFill>
                  <a:srgbClr val="556075"/>
                </a:solidFill>
              </a:rPr>
              <a:t>   从A到H逐个圈出最独特的1-2个词</a:t>
            </a:r>
          </a:p>
          <a:p>
            <a:pPr>
              <a:spcBef>
                <a:spcPts val="900"/>
              </a:spcBef>
            </a:pPr>
            <a:r>
              <a:rPr sz="1800" b="1">
                <a:solidFill>
                  <a:srgbClr val="0F4C5C"/>
                </a:solidFill>
              </a:rPr>
              <a:t>• 标注</a:t>
            </a:r>
          </a:p>
          <a:p>
            <a:pPr>
              <a:spcBef>
                <a:spcPts val="100"/>
              </a:spcBef>
            </a:pPr>
            <a:r>
              <a:rPr sz="1500">
                <a:solidFill>
                  <a:srgbClr val="556075"/>
                </a:solidFill>
              </a:rPr>
              <a:t>   在每个选项编号旁写圈词：A=free, B=renovated...</a:t>
            </a:r>
          </a:p>
          <a:p>
            <a:pPr>
              <a:spcBef>
                <a:spcPts val="900"/>
              </a:spcBef>
            </a:pPr>
            <a:r>
              <a:rPr sz="1800" b="1">
                <a:solidFill>
                  <a:srgbClr val="0F4C5C"/>
                </a:solidFill>
              </a:rPr>
              <a:t>• 脑中建库</a:t>
            </a:r>
          </a:p>
          <a:p>
            <a:pPr>
              <a:spcBef>
                <a:spcPts val="100"/>
              </a:spcBef>
            </a:pPr>
            <a:r>
              <a:rPr sz="1500">
                <a:solidFill>
                  <a:srgbClr val="556075"/>
                </a:solidFill>
              </a:rPr>
              <a:t>   不需要记全句，只记住关键词与选项字母的对应</a:t>
            </a:r>
          </a:p>
          <a:p>
            <a:pPr>
              <a:spcBef>
                <a:spcPts val="900"/>
              </a:spcBef>
            </a:pPr>
            <a:r>
              <a:rPr sz="1800" b="1">
                <a:solidFill>
                  <a:srgbClr val="0F4C5C"/>
                </a:solidFill>
              </a:rPr>
              <a:t>• 速度</a:t>
            </a:r>
          </a:p>
          <a:p>
            <a:pPr>
              <a:spcBef>
                <a:spcPts val="100"/>
              </a:spcBef>
            </a:pPr>
            <a:r>
              <a:rPr sz="1500">
                <a:solidFill>
                  <a:srgbClr val="556075"/>
                </a:solidFill>
              </a:rPr>
              <a:t>   8个选项应在30秒内圈完；每个选项最多3-4秒</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识别干扰选项三步法</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850" b="1">
                <a:solidFill>
                  <a:srgbClr val="0F4C5C"/>
                </a:solidFill>
              </a:rPr>
              <a:t>• Step1 听到关键词</a:t>
            </a:r>
          </a:p>
          <a:p>
            <a:pPr>
              <a:spcBef>
                <a:spcPts val="100"/>
              </a:spcBef>
            </a:pPr>
            <a:r>
              <a:rPr sz="1550">
                <a:solidFill>
                  <a:srgbClr val="556075"/>
                </a:solidFill>
              </a:rPr>
              <a:t>   听到"free"→tentatively标A(free of charge)</a:t>
            </a:r>
          </a:p>
          <a:p>
            <a:pPr>
              <a:spcBef>
                <a:spcPts val="1000"/>
              </a:spcBef>
            </a:pPr>
            <a:r>
              <a:rPr sz="1850" b="1">
                <a:solidFill>
                  <a:srgbClr val="0F4C5C"/>
                </a:solidFill>
              </a:rPr>
              <a:t>• Step2 验证整句</a:t>
            </a:r>
          </a:p>
          <a:p>
            <a:pPr>
              <a:spcBef>
                <a:spcPts val="100"/>
              </a:spcBef>
            </a:pPr>
            <a:r>
              <a:rPr sz="1550">
                <a:solidFill>
                  <a:srgbClr val="556075"/>
                </a:solidFill>
              </a:rPr>
              <a:t>   确认整句话是"免费"含义，不是"曾经免费"或否定</a:t>
            </a:r>
          </a:p>
          <a:p>
            <a:pPr>
              <a:spcBef>
                <a:spcPts val="1000"/>
              </a:spcBef>
            </a:pPr>
            <a:r>
              <a:rPr sz="1850" b="1">
                <a:solidFill>
                  <a:srgbClr val="0F4C5C"/>
                </a:solidFill>
              </a:rPr>
              <a:t>• Step3 确认最终</a:t>
            </a:r>
          </a:p>
          <a:p>
            <a:pPr>
              <a:spcBef>
                <a:spcPts val="100"/>
              </a:spcBef>
            </a:pPr>
            <a:r>
              <a:rPr sz="1550">
                <a:solidFill>
                  <a:srgbClr val="556075"/>
                </a:solidFill>
              </a:rPr>
              <a:t>   等说完整个关于该设施的段落再写答案</a:t>
            </a:r>
          </a:p>
          <a:p>
            <a:pPr>
              <a:spcBef>
                <a:spcPts val="1000"/>
              </a:spcBef>
            </a:pPr>
            <a:r>
              <a:rPr sz="1850" b="1">
                <a:solidFill>
                  <a:srgbClr val="0F4C5C"/>
                </a:solidFill>
              </a:rPr>
              <a:t>• 常见干扰</a:t>
            </a:r>
          </a:p>
          <a:p>
            <a:pPr>
              <a:spcBef>
                <a:spcPts val="100"/>
              </a:spcBef>
            </a:pPr>
            <a:r>
              <a:rPr sz="1550">
                <a:solidFill>
                  <a:srgbClr val="556075"/>
                </a:solidFill>
              </a:rPr>
              <a:t>   先说"used to be free"再说现在收费→选现在状态</a:t>
            </a:r>
          </a:p>
          <a:p>
            <a:pPr>
              <a:spcBef>
                <a:spcPts val="1000"/>
              </a:spcBef>
            </a:pPr>
            <a:r>
              <a:rPr sz="1850" b="1">
                <a:solidFill>
                  <a:srgbClr val="0F4C5C"/>
                </a:solidFill>
              </a:rPr>
              <a:t>• 否定陷阱</a:t>
            </a:r>
          </a:p>
          <a:p>
            <a:pPr>
              <a:spcBef>
                <a:spcPts val="100"/>
              </a:spcBef>
            </a:pPr>
            <a:r>
              <a:rPr sz="1550">
                <a:solidFill>
                  <a:srgbClr val="556075"/>
                </a:solidFill>
              </a:rPr>
              <a:t>   "NOT available for members"→不选members only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高频同义替换词对（必记）</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850" b="1">
                <a:solidFill>
                  <a:srgbClr val="0F4C5C"/>
                </a:solidFill>
              </a:rPr>
              <a:t>• renovated = refurbished</a:t>
            </a:r>
          </a:p>
          <a:p>
            <a:pPr>
              <a:spcBef>
                <a:spcPts val="100"/>
              </a:spcBef>
            </a:pPr>
            <a:r>
              <a:rPr sz="1550">
                <a:solidFill>
                  <a:srgbClr val="556075"/>
                </a:solidFill>
              </a:rPr>
              <a:t>   翻新（最高频）</a:t>
            </a:r>
          </a:p>
          <a:p>
            <a:pPr>
              <a:spcBef>
                <a:spcPts val="1000"/>
              </a:spcBef>
            </a:pPr>
            <a:r>
              <a:rPr sz="1850" b="1">
                <a:solidFill>
                  <a:srgbClr val="0F4C5C"/>
                </a:solidFill>
              </a:rPr>
              <a:t>• exclusively for members = members only</a:t>
            </a:r>
          </a:p>
          <a:p>
            <a:pPr>
              <a:spcBef>
                <a:spcPts val="100"/>
              </a:spcBef>
            </a:pPr>
            <a:r>
              <a:rPr sz="1550">
                <a:solidFill>
                  <a:srgbClr val="556075"/>
                </a:solidFill>
              </a:rPr>
              <a:t>   仅限会员</a:t>
            </a:r>
          </a:p>
          <a:p>
            <a:pPr>
              <a:spcBef>
                <a:spcPts val="1000"/>
              </a:spcBef>
            </a:pPr>
            <a:r>
              <a:rPr sz="1850" b="1">
                <a:solidFill>
                  <a:srgbClr val="0F4C5C"/>
                </a:solidFill>
              </a:rPr>
              <a:t>• must book in advance = booking required</a:t>
            </a:r>
          </a:p>
          <a:p>
            <a:pPr>
              <a:spcBef>
                <a:spcPts val="100"/>
              </a:spcBef>
            </a:pPr>
            <a:r>
              <a:rPr sz="1550">
                <a:solidFill>
                  <a:srgbClr val="556075"/>
                </a:solidFill>
              </a:rPr>
              <a:t>   需要预约</a:t>
            </a:r>
          </a:p>
          <a:p>
            <a:pPr>
              <a:spcBef>
                <a:spcPts val="1000"/>
              </a:spcBef>
            </a:pPr>
            <a:r>
              <a:rPr sz="1850" b="1">
                <a:solidFill>
                  <a:srgbClr val="0F4C5C"/>
                </a:solidFill>
              </a:rPr>
              <a:t>• round the clock / 24hrs = open 24 hours</a:t>
            </a:r>
          </a:p>
          <a:p>
            <a:pPr>
              <a:spcBef>
                <a:spcPts val="100"/>
              </a:spcBef>
            </a:pPr>
            <a:r>
              <a:rPr sz="1550">
                <a:solidFill>
                  <a:srgbClr val="556075"/>
                </a:solidFill>
              </a:rPr>
              <a:t>   全天开放</a:t>
            </a:r>
          </a:p>
          <a:p>
            <a:pPr>
              <a:spcBef>
                <a:spcPts val="1000"/>
              </a:spcBef>
            </a:pPr>
            <a:r>
              <a:rPr sz="1850" b="1">
                <a:solidFill>
                  <a:srgbClr val="0F4C5C"/>
                </a:solidFill>
              </a:rPr>
              <a:t>• free of charge / no cost = free</a:t>
            </a:r>
          </a:p>
          <a:p>
            <a:pPr>
              <a:spcBef>
                <a:spcPts val="100"/>
              </a:spcBef>
            </a:pPr>
            <a:r>
              <a:rPr sz="1550">
                <a:solidFill>
                  <a:srgbClr val="556075"/>
                </a:solidFill>
              </a:rPr>
              <a:t>   免费</a:t>
            </a:r>
          </a:p>
          <a:p>
            <a:pPr>
              <a:spcBef>
                <a:spcPts val="1000"/>
              </a:spcBef>
            </a:pPr>
            <a:r>
              <a:rPr sz="1850" b="1">
                <a:solidFill>
                  <a:srgbClr val="0F4C5C"/>
                </a:solidFill>
              </a:rPr>
              <a:t>• recently launched / opened = newly opened</a:t>
            </a:r>
          </a:p>
          <a:p>
            <a:pPr>
              <a:spcBef>
                <a:spcPts val="100"/>
              </a:spcBef>
            </a:pPr>
            <a:r>
              <a:rPr sz="1550">
                <a:solidFill>
                  <a:srgbClr val="556075"/>
                </a:solidFill>
              </a:rPr>
              <a:t>   新开</a:t>
            </a:r>
          </a:p>
          <a:p>
            <a:pPr>
              <a:spcBef>
                <a:spcPts val="1000"/>
              </a:spcBef>
            </a:pPr>
            <a:r>
              <a:rPr sz="1850" b="1">
                <a:solidFill>
                  <a:srgbClr val="0F4C5C"/>
                </a:solidFill>
              </a:rPr>
              <a:t>• situated outdoors = outdoor only</a:t>
            </a:r>
          </a:p>
          <a:p>
            <a:pPr>
              <a:spcBef>
                <a:spcPts val="100"/>
              </a:spcBef>
            </a:pPr>
            <a:r>
              <a:rPr sz="1550">
                <a:solidFill>
                  <a:srgbClr val="556075"/>
                </a:solidFill>
              </a:rPr>
              <a:t>   在室外</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匹配题同义替换练习</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ectangle 7"/>
          <p:cNvSpPr/>
          <p:nvPr/>
        </p:nvSpPr>
        <p:spPr>
          <a:xfrm>
            <a:off x="548640" y="1188720"/>
            <a:ext cx="11064240" cy="36576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Match录音描述词(LEFT)与IELTS选项(RIGHT)：
"refurbished" / "exclusively for members" / "must book in advance"
"open every hour of the day" / "at no cost" / "launched recently"
Options: A.free  B.members only  C.recently opened  D.booking required  E.24hrs  F.renovated</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refurbished→F / exclusively→B / must book→D / every hour→E / no cost→A / recently→C</a:t>
            </a:r>
          </a:p>
        </p:txBody>
      </p:sp>
      <p:sp>
        <p:nvSpPr>
          <p:cNvPr id="14" name="Rectangle 13"/>
          <p:cNvSpPr/>
          <p:nvPr/>
        </p:nvSpPr>
        <p:spPr>
          <a:xfrm>
            <a:off x="548640" y="5669279"/>
            <a:ext cx="11064240" cy="36576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建立个人高频替换词对列表；每周增加5组；考场遇到立即联想</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匹配题完整实战</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ectangle 7"/>
          <p:cNvSpPr/>
          <p:nvPr/>
        </p:nvSpPr>
        <p:spPr>
          <a:xfrm>
            <a:off x="548640" y="1188720"/>
            <a:ext cx="11064240" cy="36576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Q16-20: Match each facility with feature A-G (2 extra options)
A.free  B.booking required  C.members only  D.newly opened  E.closed Mondays  F.renovated  G.outdoor only
"Pool: just opened last week. Gym: members-only. Library: prior reservation needed.
Courts: situated in the open air. Café: undergoing renovation now."</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Q16Pool→D(last week=newly opened)
Q17Gym→C(members-only)
Q18Library→B(prior reservation=booking)
Q19Courts→G(open air=outdoor)
Q20Café→F(undergoing renovation)</a:t>
            </a:r>
          </a:p>
        </p:txBody>
      </p:sp>
      <p:sp>
        <p:nvSpPr>
          <p:cNvPr id="14" name="Rectangle 13"/>
          <p:cNvSpPr/>
          <p:nvPr/>
        </p:nvSpPr>
        <p:spPr>
          <a:xfrm>
            <a:off x="548640" y="5669279"/>
            <a:ext cx="11064240" cy="36576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Q20注意：Café正在装修(undergoing renovation)=F选项(renovated)；时态不同但含义匹配</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2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12A594"/>
                </a:solidFill>
                <a:latin typeface="Calibri"/>
              </a:rPr>
              <a:t>PART 04</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信号词与话题追踪</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Signal Words &amp; Topic Tracking</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独白结构信号词体系</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143000"/>
            <a:ext cx="11064240" cy="86868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0F4C5C"/>
                </a:solidFill>
                <a:latin typeface="Calibri"/>
              </a:rPr>
              <a:t>掌握信号词=永远不跟丢</a:t>
            </a:r>
          </a:p>
        </p:txBody>
      </p:sp>
      <p:sp>
        <p:nvSpPr>
          <p:cNvPr id="10" name="TextBox 9"/>
          <p:cNvSpPr txBox="1"/>
          <p:nvPr/>
        </p:nvSpPr>
        <p:spPr>
          <a:xfrm>
            <a:off x="640080" y="2240280"/>
            <a:ext cx="10972800" cy="3931920"/>
          </a:xfrm>
          <a:prstGeom prst="rect">
            <a:avLst/>
          </a:prstGeom>
          <a:noFill/>
        </p:spPr>
        <p:txBody>
          <a:bodyPr wrap="square">
            <a:spAutoFit/>
          </a:bodyPr>
          <a:lstStyle/>
          <a:p>
            <a:r>
              <a:rPr sz="1800" b="1">
                <a:solidFill>
                  <a:srgbClr val="0F4C5C"/>
                </a:solidFill>
              </a:rPr>
              <a:t>• 开场类</a:t>
            </a:r>
          </a:p>
          <a:p>
            <a:pPr>
              <a:spcBef>
                <a:spcPts val="100"/>
              </a:spcBef>
            </a:pPr>
            <a:r>
              <a:rPr sz="1500">
                <a:solidFill>
                  <a:srgbClr val="556075"/>
                </a:solidFill>
              </a:rPr>
              <a:t>   Welcome to... / Let me start with... / Today I'll tell you about...</a:t>
            </a:r>
          </a:p>
          <a:p>
            <a:pPr>
              <a:spcBef>
                <a:spcPts val="900"/>
              </a:spcBef>
            </a:pPr>
            <a:r>
              <a:rPr sz="1800" b="1">
                <a:solidFill>
                  <a:srgbClr val="0F4C5C"/>
                </a:solidFill>
              </a:rPr>
              <a:t>• 转换类</a:t>
            </a:r>
          </a:p>
          <a:p>
            <a:pPr>
              <a:spcBef>
                <a:spcPts val="100"/>
              </a:spcBef>
            </a:pPr>
            <a:r>
              <a:rPr sz="1500">
                <a:solidFill>
                  <a:srgbClr val="556075"/>
                </a:solidFill>
              </a:rPr>
              <a:t>   Now let's move on to... / Turning to... / Next up we have...</a:t>
            </a:r>
          </a:p>
          <a:p>
            <a:pPr>
              <a:spcBef>
                <a:spcPts val="900"/>
              </a:spcBef>
            </a:pPr>
            <a:r>
              <a:rPr sz="1800" b="1">
                <a:solidFill>
                  <a:srgbClr val="0F4C5C"/>
                </a:solidFill>
              </a:rPr>
              <a:t>• 强调类</a:t>
            </a:r>
          </a:p>
          <a:p>
            <a:pPr>
              <a:spcBef>
                <a:spcPts val="100"/>
              </a:spcBef>
            </a:pPr>
            <a:r>
              <a:rPr sz="1500">
                <a:solidFill>
                  <a:srgbClr val="556075"/>
                </a:solidFill>
              </a:rPr>
              <a:t>   It's worth noting... / The key point here is... / Please remember...</a:t>
            </a:r>
          </a:p>
          <a:p>
            <a:pPr>
              <a:spcBef>
                <a:spcPts val="900"/>
              </a:spcBef>
            </a:pPr>
            <a:r>
              <a:rPr sz="1800" b="1">
                <a:solidFill>
                  <a:srgbClr val="0F4C5C"/>
                </a:solidFill>
              </a:rPr>
              <a:t>• 结尾类</a:t>
            </a:r>
          </a:p>
          <a:p>
            <a:pPr>
              <a:spcBef>
                <a:spcPts val="100"/>
              </a:spcBef>
            </a:pPr>
            <a:r>
              <a:rPr sz="1500">
                <a:solidFill>
                  <a:srgbClr val="556075"/>
                </a:solidFill>
              </a:rPr>
              <a:t>   To summarise... / Before I finish... / Finally, I'd like to...</a:t>
            </a:r>
          </a:p>
        </p:txBody>
      </p:sp>
      <p:sp>
        <p:nvSpPr>
          <p:cNvPr id="11" name="Rectangle 10"/>
          <p:cNvSpPr/>
          <p:nvPr/>
        </p:nvSpPr>
        <p:spPr>
          <a:xfrm>
            <a:off x="548640" y="5989320"/>
            <a:ext cx="11064240" cy="548640"/>
          </a:xfrm>
          <a:prstGeom prst="rect">
            <a:avLst/>
          </a:prstGeom>
          <a:solidFill>
            <a:srgbClr val="FDF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6035040"/>
            <a:ext cx="10698480" cy="457200"/>
          </a:xfrm>
          <a:prstGeom prst="rect">
            <a:avLst/>
          </a:prstGeom>
          <a:noFill/>
        </p:spPr>
        <p:txBody>
          <a:bodyPr wrap="square" anchor="ctr">
            <a:spAutoFit/>
          </a:bodyPr>
          <a:lstStyle/>
          <a:p>
            <a:pPr algn="l"/>
            <a:r>
              <a:rPr sz="1250" b="0" i="1">
                <a:solidFill>
                  <a:srgbClr val="C02A2A"/>
                </a:solidFill>
                <a:latin typeface="Calibri"/>
              </a:rPr>
              <a:t>⚠ 深圳学生注意：话题转换信号=下一道题即将开始；听到信号词→立刻准备好下一道题</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跟丢后的重定位策略</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143000"/>
            <a:ext cx="11064240" cy="86868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0F4C5C"/>
                </a:solidFill>
                <a:latin typeface="Calibri"/>
              </a:rPr>
              <a:t>跟丢不等于放弃</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0F4C5C"/>
                </a:solidFill>
              </a:rPr>
              <a:t>• 立即动作</a:t>
            </a:r>
          </a:p>
          <a:p>
            <a:pPr>
              <a:spcBef>
                <a:spcPts val="100"/>
              </a:spcBef>
            </a:pPr>
            <a:r>
              <a:rPr sz="1500">
                <a:solidFill>
                  <a:srgbClr val="556075"/>
                </a:solidFill>
              </a:rPr>
              <a:t>   停止回想已过内容；眼睛移到下一道未答的题目</a:t>
            </a:r>
          </a:p>
          <a:p>
            <a:pPr>
              <a:spcBef>
                <a:spcPts val="900"/>
              </a:spcBef>
            </a:pPr>
            <a:r>
              <a:rPr sz="1800" b="1">
                <a:solidFill>
                  <a:srgbClr val="0F4C5C"/>
                </a:solidFill>
              </a:rPr>
              <a:t>• 关键词锚点</a:t>
            </a:r>
          </a:p>
          <a:p>
            <a:pPr>
              <a:spcBef>
                <a:spcPts val="100"/>
              </a:spcBef>
            </a:pPr>
            <a:r>
              <a:rPr sz="1500">
                <a:solidFill>
                  <a:srgbClr val="556075"/>
                </a:solidFill>
              </a:rPr>
              <a:t>   看下一题关键词；等录音中出现该词</a:t>
            </a:r>
          </a:p>
          <a:p>
            <a:pPr>
              <a:spcBef>
                <a:spcPts val="900"/>
              </a:spcBef>
            </a:pPr>
            <a:r>
              <a:rPr sz="1800" b="1">
                <a:solidFill>
                  <a:srgbClr val="0F4C5C"/>
                </a:solidFill>
              </a:rPr>
              <a:t>• 地图重定位</a:t>
            </a:r>
          </a:p>
          <a:p>
            <a:pPr>
              <a:spcBef>
                <a:spcPts val="100"/>
              </a:spcBef>
            </a:pPr>
            <a:r>
              <a:rPr sz="1500">
                <a:solidFill>
                  <a:srgbClr val="556075"/>
                </a:solidFill>
              </a:rPr>
              <a:t>   找地图上唯一未标记的区域，配合下一个设施名</a:t>
            </a:r>
          </a:p>
          <a:p>
            <a:pPr>
              <a:spcBef>
                <a:spcPts val="900"/>
              </a:spcBef>
            </a:pPr>
            <a:r>
              <a:rPr sz="1800" b="1">
                <a:solidFill>
                  <a:srgbClr val="0F4C5C"/>
                </a:solidFill>
              </a:rPr>
              <a:t>• 估算填写</a:t>
            </a:r>
          </a:p>
          <a:p>
            <a:pPr>
              <a:spcBef>
                <a:spcPts val="100"/>
              </a:spcBef>
            </a:pPr>
            <a:r>
              <a:rPr sz="1500">
                <a:solidFill>
                  <a:srgbClr val="556075"/>
                </a:solidFill>
              </a:rPr>
              <a:t>   实在不会：从未使用选项中选，绝不留空</a:t>
            </a:r>
          </a:p>
          <a:p>
            <a:pPr>
              <a:spcBef>
                <a:spcPts val="900"/>
              </a:spcBef>
            </a:pPr>
            <a:r>
              <a:rPr sz="1800" b="1">
                <a:solidFill>
                  <a:srgbClr val="0F4C5C"/>
                </a:solidFill>
              </a:rPr>
              <a:t>• 自我安慰</a:t>
            </a:r>
          </a:p>
          <a:p>
            <a:pPr>
              <a:spcBef>
                <a:spcPts val="100"/>
              </a:spcBef>
            </a:pPr>
            <a:r>
              <a:rPr sz="1500">
                <a:solidFill>
                  <a:srgbClr val="556075"/>
                </a:solidFill>
              </a:rPr>
              <a:t>   跟丢了一题≠整Section放弃；后面4题还来得及</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S2录音内容顺序规律</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850" b="1">
                <a:solidFill>
                  <a:srgbClr val="0F4C5C"/>
                </a:solidFill>
              </a:rPr>
              <a:t>• 规律1</a:t>
            </a:r>
          </a:p>
          <a:p>
            <a:pPr>
              <a:spcBef>
                <a:spcPts val="100"/>
              </a:spcBef>
            </a:pPr>
            <a:r>
              <a:rPr sz="1550">
                <a:solidFill>
                  <a:srgbClr val="556075"/>
                </a:solidFill>
              </a:rPr>
              <a:t>   按地理路线介绍设施：入口→大厅→各区域→出口</a:t>
            </a:r>
          </a:p>
          <a:p>
            <a:pPr>
              <a:spcBef>
                <a:spcPts val="1000"/>
              </a:spcBef>
            </a:pPr>
            <a:r>
              <a:rPr sz="1850" b="1">
                <a:solidFill>
                  <a:srgbClr val="0F4C5C"/>
                </a:solidFill>
              </a:rPr>
              <a:t>• 规律2</a:t>
            </a:r>
          </a:p>
          <a:p>
            <a:pPr>
              <a:spcBef>
                <a:spcPts val="100"/>
              </a:spcBef>
            </a:pPr>
            <a:r>
              <a:rPr sz="1550">
                <a:solidFill>
                  <a:srgbClr val="556075"/>
                </a:solidFill>
              </a:rPr>
              <a:t>   按重要性排序：最主要设施先介绍</a:t>
            </a:r>
          </a:p>
          <a:p>
            <a:pPr>
              <a:spcBef>
                <a:spcPts val="1000"/>
              </a:spcBef>
            </a:pPr>
            <a:r>
              <a:rPr sz="1850" b="1">
                <a:solidFill>
                  <a:srgbClr val="0F4C5C"/>
                </a:solidFill>
              </a:rPr>
              <a:t>• 规律3</a:t>
            </a:r>
          </a:p>
          <a:p>
            <a:pPr>
              <a:spcBef>
                <a:spcPts val="100"/>
              </a:spcBef>
            </a:pPr>
            <a:r>
              <a:rPr sz="1550">
                <a:solidFill>
                  <a:srgbClr val="556075"/>
                </a:solidFill>
              </a:rPr>
              <a:t>   实用信息集中在末尾：价格/时间/预订方式</a:t>
            </a:r>
          </a:p>
          <a:p>
            <a:pPr>
              <a:spcBef>
                <a:spcPts val="1000"/>
              </a:spcBef>
            </a:pPr>
            <a:r>
              <a:rPr sz="1850" b="1">
                <a:solidFill>
                  <a:srgbClr val="0F4C5C"/>
                </a:solidFill>
              </a:rPr>
              <a:t>• 利用规律</a:t>
            </a:r>
          </a:p>
          <a:p>
            <a:pPr>
              <a:spcBef>
                <a:spcPts val="100"/>
              </a:spcBef>
            </a:pPr>
            <a:r>
              <a:rPr sz="1550">
                <a:solidFill>
                  <a:srgbClr val="556075"/>
                </a:solidFill>
              </a:rPr>
              <a:t>   填空题通常对应末尾实用信息段落</a:t>
            </a:r>
          </a:p>
          <a:p>
            <a:pPr>
              <a:spcBef>
                <a:spcPts val="1000"/>
              </a:spcBef>
            </a:pPr>
            <a:r>
              <a:rPr sz="1850" b="1">
                <a:solidFill>
                  <a:srgbClr val="0F4C5C"/>
                </a:solidFill>
              </a:rPr>
              <a:t>• 例外</a:t>
            </a:r>
          </a:p>
          <a:p>
            <a:pPr>
              <a:spcBef>
                <a:spcPts val="100"/>
              </a:spcBef>
            </a:pPr>
            <a:r>
              <a:rPr sz="1550">
                <a:solidFill>
                  <a:srgbClr val="556075"/>
                </a:solidFill>
              </a:rPr>
              <a:t>   偶尔乱序：靠关键词定位，不依赖顺序</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S2精析与进步追踪</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850" b="1">
                <a:solidFill>
                  <a:srgbClr val="0F4C5C"/>
                </a:solidFill>
              </a:rPr>
              <a:t>• 精析方法</a:t>
            </a:r>
          </a:p>
          <a:p>
            <a:pPr>
              <a:spcBef>
                <a:spcPts val="100"/>
              </a:spcBef>
            </a:pPr>
            <a:r>
              <a:rPr sz="1550">
                <a:solidFill>
                  <a:srgbClr val="556075"/>
                </a:solidFill>
              </a:rPr>
              <a:t>   每道错题找到答案所在的具体句子</a:t>
            </a:r>
          </a:p>
          <a:p>
            <a:pPr>
              <a:spcBef>
                <a:spcPts val="1000"/>
              </a:spcBef>
            </a:pPr>
            <a:r>
              <a:rPr sz="1850" b="1">
                <a:solidFill>
                  <a:srgbClr val="0F4C5C"/>
                </a:solidFill>
              </a:rPr>
              <a:t>• 分类错误</a:t>
            </a:r>
          </a:p>
          <a:p>
            <a:pPr>
              <a:spcBef>
                <a:spcPts val="100"/>
              </a:spcBef>
            </a:pPr>
            <a:r>
              <a:rPr sz="1550">
                <a:solidFill>
                  <a:srgbClr val="556075"/>
                </a:solidFill>
              </a:rPr>
              <a:t>   跟丢失分？方位词反应慢？同义替换没识别？</a:t>
            </a:r>
          </a:p>
          <a:p>
            <a:pPr>
              <a:spcBef>
                <a:spcPts val="1000"/>
              </a:spcBef>
            </a:pPr>
            <a:r>
              <a:rPr sz="1850" b="1">
                <a:solidFill>
                  <a:srgbClr val="0F4C5C"/>
                </a:solidFill>
              </a:rPr>
              <a:t>• 目标提升</a:t>
            </a:r>
          </a:p>
          <a:p>
            <a:pPr>
              <a:spcBef>
                <a:spcPts val="100"/>
              </a:spcBef>
            </a:pPr>
            <a:r>
              <a:rPr sz="1550">
                <a:solidFill>
                  <a:srgbClr val="556075"/>
                </a:solidFill>
              </a:rPr>
              <a:t>   地图错2题→专练方位词；匹配错3题→专练预读</a:t>
            </a:r>
          </a:p>
          <a:p>
            <a:pPr>
              <a:spcBef>
                <a:spcPts val="1000"/>
              </a:spcBef>
            </a:pPr>
            <a:r>
              <a:rPr sz="1850" b="1">
                <a:solidFill>
                  <a:srgbClr val="0F4C5C"/>
                </a:solidFill>
              </a:rPr>
              <a:t>• 时间投入</a:t>
            </a:r>
          </a:p>
          <a:p>
            <a:pPr>
              <a:spcBef>
                <a:spcPts val="100"/>
              </a:spcBef>
            </a:pPr>
            <a:r>
              <a:rPr sz="1550">
                <a:solidFill>
                  <a:srgbClr val="556075"/>
                </a:solidFill>
              </a:rPr>
              <a:t>   每次S2精析20分钟比重做5套更有价值</a:t>
            </a:r>
          </a:p>
          <a:p>
            <a:pPr>
              <a:spcBef>
                <a:spcPts val="1000"/>
              </a:spcBef>
            </a:pPr>
            <a:r>
              <a:rPr sz="1850" b="1">
                <a:solidFill>
                  <a:srgbClr val="0F4C5C"/>
                </a:solidFill>
              </a:rPr>
              <a:t>• 记录进步</a:t>
            </a:r>
          </a:p>
          <a:p>
            <a:pPr>
              <a:spcBef>
                <a:spcPts val="100"/>
              </a:spcBef>
            </a:pPr>
            <a:r>
              <a:rPr sz="1550">
                <a:solidFill>
                  <a:srgbClr val="556075"/>
                </a:solidFill>
              </a:rPr>
              <a:t>   用本子记录每次S2正确题数；看到上升就是进步</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信号词听力训练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ectangle 7"/>
          <p:cNvSpPr/>
          <p:nvPr/>
        </p:nvSpPr>
        <p:spPr>
          <a:xfrm>
            <a:off x="548640" y="1188720"/>
            <a:ext cx="11064240" cy="36576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读以下独白，标出所有话题转换信号词：
"Welcome to Greenfield Sports Centre. Let me start with the facilities.
Starting with the ground floor, we have a gym and café.
Now, moving on to the first floor, you'll find meeting rooms.
Before I finish, I'd like to mention some important booking rules."</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信号词1："Now, moving on to"→第一层内容
信号词2："Before I finish"→预订规则
共2次话题转换</a:t>
            </a:r>
          </a:p>
        </p:txBody>
      </p:sp>
      <p:sp>
        <p:nvSpPr>
          <p:cNvPr id="14" name="Rectangle 13"/>
          <p:cNvSpPr/>
          <p:nvPr/>
        </p:nvSpPr>
        <p:spPr>
          <a:xfrm>
            <a:off x="548640" y="5669279"/>
            <a:ext cx="11064240" cy="36576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练习目标：听到信号词时脑中"警报"响起，自动准备好下一道题</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S2综合模拟流程演练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ectangle 7"/>
          <p:cNvSpPr/>
          <p:nvPr/>
        </p:nvSpPr>
        <p:spPr>
          <a:xfrm>
            <a:off x="548640" y="1188720"/>
            <a:ext cx="11064240" cy="36576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S2完整模拟三阶段：
① 预读30秒：判断题型（地图/匹配/填空）→圈选项关键词→找地图入口
② 听题：地图铅笔追踪→匹配关键词库扫描→填空原词记录
③ 跟丢时：找下一题关键词→重定位→猜填已过题→继续</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S2结束：立刻翻S3，利用20秒间隙预读S3全部题（含MCQ选项A-E）</a:t>
            </a:r>
          </a:p>
        </p:txBody>
      </p:sp>
      <p:sp>
        <p:nvSpPr>
          <p:cNvPr id="14" name="Rectangle 13"/>
          <p:cNvSpPr/>
          <p:nvPr/>
        </p:nvSpPr>
        <p:spPr>
          <a:xfrm>
            <a:off x="548640" y="5669279"/>
            <a:ext cx="11064240" cy="36576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自我评估：统计地图/匹配/填空各对几题→找到弱项→下周专项练习</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2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12A594"/>
                </a:solidFill>
                <a:latin typeface="Calibri"/>
              </a:rPr>
              <a:t>PART 05</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高频词汇</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Key Vocabulary</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方位词必备（位置类）</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ectangle 7"/>
          <p:cNvSpPr/>
          <p:nvPr/>
        </p:nvSpPr>
        <p:spPr>
          <a:xfrm>
            <a:off x="548640" y="1234440"/>
            <a:ext cx="4937760" cy="566928"/>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566928"/>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56692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56692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801368"/>
            <a:ext cx="493776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801368"/>
            <a:ext cx="612648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801368"/>
            <a:ext cx="4754880" cy="566928"/>
          </a:xfrm>
          <a:prstGeom prst="rect">
            <a:avLst/>
          </a:prstGeom>
          <a:noFill/>
        </p:spPr>
        <p:txBody>
          <a:bodyPr wrap="square" anchor="ctr">
            <a:spAutoFit/>
          </a:bodyPr>
          <a:lstStyle/>
          <a:p>
            <a:pPr algn="l"/>
            <a:r>
              <a:rPr sz="1250" b="1" i="0">
                <a:solidFill>
                  <a:srgbClr val="0F4C5C"/>
                </a:solidFill>
                <a:latin typeface="Calibri"/>
              </a:rPr>
              <a:t>opposite / facing</a:t>
            </a:r>
          </a:p>
        </p:txBody>
      </p:sp>
      <p:sp>
        <p:nvSpPr>
          <p:cNvPr id="15" name="TextBox 14"/>
          <p:cNvSpPr txBox="1"/>
          <p:nvPr/>
        </p:nvSpPr>
        <p:spPr>
          <a:xfrm>
            <a:off x="5623560" y="1801368"/>
            <a:ext cx="5852160" cy="566928"/>
          </a:xfrm>
          <a:prstGeom prst="rect">
            <a:avLst/>
          </a:prstGeom>
          <a:noFill/>
        </p:spPr>
        <p:txBody>
          <a:bodyPr wrap="square" anchor="ctr">
            <a:spAutoFit/>
          </a:bodyPr>
          <a:lstStyle/>
          <a:p>
            <a:pPr algn="l"/>
            <a:r>
              <a:rPr sz="1250" b="0" i="0">
                <a:solidFill>
                  <a:srgbClr val="1E293B"/>
                </a:solidFill>
                <a:latin typeface="Calibri"/>
              </a:rPr>
              <a:t>正对面</a:t>
            </a:r>
          </a:p>
        </p:txBody>
      </p:sp>
      <p:sp>
        <p:nvSpPr>
          <p:cNvPr id="16" name="Rectangle 15"/>
          <p:cNvSpPr/>
          <p:nvPr/>
        </p:nvSpPr>
        <p:spPr>
          <a:xfrm>
            <a:off x="548640" y="2368296"/>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368296"/>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368296"/>
            <a:ext cx="4754880" cy="566928"/>
          </a:xfrm>
          <a:prstGeom prst="rect">
            <a:avLst/>
          </a:prstGeom>
          <a:noFill/>
        </p:spPr>
        <p:txBody>
          <a:bodyPr wrap="square" anchor="ctr">
            <a:spAutoFit/>
          </a:bodyPr>
          <a:lstStyle/>
          <a:p>
            <a:pPr algn="l"/>
            <a:r>
              <a:rPr sz="1250" b="1" i="0">
                <a:solidFill>
                  <a:srgbClr val="0F4C5C"/>
                </a:solidFill>
                <a:latin typeface="Calibri"/>
              </a:rPr>
              <a:t>adjacent to / next to</a:t>
            </a:r>
          </a:p>
        </p:txBody>
      </p:sp>
      <p:sp>
        <p:nvSpPr>
          <p:cNvPr id="19" name="TextBox 18"/>
          <p:cNvSpPr txBox="1"/>
          <p:nvPr/>
        </p:nvSpPr>
        <p:spPr>
          <a:xfrm>
            <a:off x="5623560" y="2368296"/>
            <a:ext cx="5852160" cy="566928"/>
          </a:xfrm>
          <a:prstGeom prst="rect">
            <a:avLst/>
          </a:prstGeom>
          <a:noFill/>
        </p:spPr>
        <p:txBody>
          <a:bodyPr wrap="square" anchor="ctr">
            <a:spAutoFit/>
          </a:bodyPr>
          <a:lstStyle/>
          <a:p>
            <a:pPr algn="l"/>
            <a:r>
              <a:rPr sz="1250" b="0" i="0">
                <a:solidFill>
                  <a:srgbClr val="1E293B"/>
                </a:solidFill>
                <a:latin typeface="Calibri"/>
              </a:rPr>
              <a:t>紧邻</a:t>
            </a:r>
          </a:p>
        </p:txBody>
      </p:sp>
      <p:sp>
        <p:nvSpPr>
          <p:cNvPr id="20" name="Rectangle 19"/>
          <p:cNvSpPr/>
          <p:nvPr/>
        </p:nvSpPr>
        <p:spPr>
          <a:xfrm>
            <a:off x="548640" y="2935224"/>
            <a:ext cx="493776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935224"/>
            <a:ext cx="612648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35224"/>
            <a:ext cx="4754880" cy="566928"/>
          </a:xfrm>
          <a:prstGeom prst="rect">
            <a:avLst/>
          </a:prstGeom>
          <a:noFill/>
        </p:spPr>
        <p:txBody>
          <a:bodyPr wrap="square" anchor="ctr">
            <a:spAutoFit/>
          </a:bodyPr>
          <a:lstStyle/>
          <a:p>
            <a:pPr algn="l"/>
            <a:r>
              <a:rPr sz="1250" b="1" i="0">
                <a:solidFill>
                  <a:srgbClr val="0F4C5C"/>
                </a:solidFill>
                <a:latin typeface="Calibri"/>
              </a:rPr>
              <a:t>between ... and ...</a:t>
            </a:r>
          </a:p>
        </p:txBody>
      </p:sp>
      <p:sp>
        <p:nvSpPr>
          <p:cNvPr id="23" name="TextBox 22"/>
          <p:cNvSpPr txBox="1"/>
          <p:nvPr/>
        </p:nvSpPr>
        <p:spPr>
          <a:xfrm>
            <a:off x="5623560" y="2935224"/>
            <a:ext cx="5852160" cy="566928"/>
          </a:xfrm>
          <a:prstGeom prst="rect">
            <a:avLst/>
          </a:prstGeom>
          <a:noFill/>
        </p:spPr>
        <p:txBody>
          <a:bodyPr wrap="square" anchor="ctr">
            <a:spAutoFit/>
          </a:bodyPr>
          <a:lstStyle/>
          <a:p>
            <a:pPr algn="l"/>
            <a:r>
              <a:rPr sz="1250" b="0" i="0">
                <a:solidFill>
                  <a:srgbClr val="1E293B"/>
                </a:solidFill>
                <a:latin typeface="Calibri"/>
              </a:rPr>
              <a:t>在...之间</a:t>
            </a:r>
          </a:p>
        </p:txBody>
      </p:sp>
      <p:sp>
        <p:nvSpPr>
          <p:cNvPr id="24" name="Rectangle 23"/>
          <p:cNvSpPr/>
          <p:nvPr/>
        </p:nvSpPr>
        <p:spPr>
          <a:xfrm>
            <a:off x="548640" y="3502152"/>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3502152"/>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502152"/>
            <a:ext cx="4754880" cy="566928"/>
          </a:xfrm>
          <a:prstGeom prst="rect">
            <a:avLst/>
          </a:prstGeom>
          <a:noFill/>
        </p:spPr>
        <p:txBody>
          <a:bodyPr wrap="square" anchor="ctr">
            <a:spAutoFit/>
          </a:bodyPr>
          <a:lstStyle/>
          <a:p>
            <a:pPr algn="l"/>
            <a:r>
              <a:rPr sz="1250" b="1" i="0">
                <a:solidFill>
                  <a:srgbClr val="0F4C5C"/>
                </a:solidFill>
                <a:latin typeface="Calibri"/>
              </a:rPr>
              <a:t>at the end of</a:t>
            </a:r>
          </a:p>
        </p:txBody>
      </p:sp>
      <p:sp>
        <p:nvSpPr>
          <p:cNvPr id="27" name="TextBox 26"/>
          <p:cNvSpPr txBox="1"/>
          <p:nvPr/>
        </p:nvSpPr>
        <p:spPr>
          <a:xfrm>
            <a:off x="5623560" y="3502152"/>
            <a:ext cx="5852160" cy="566928"/>
          </a:xfrm>
          <a:prstGeom prst="rect">
            <a:avLst/>
          </a:prstGeom>
          <a:noFill/>
        </p:spPr>
        <p:txBody>
          <a:bodyPr wrap="square" anchor="ctr">
            <a:spAutoFit/>
          </a:bodyPr>
          <a:lstStyle/>
          <a:p>
            <a:pPr algn="l"/>
            <a:r>
              <a:rPr sz="1250" b="0" i="0">
                <a:solidFill>
                  <a:srgbClr val="1E293B"/>
                </a:solidFill>
                <a:latin typeface="Calibri"/>
              </a:rPr>
              <a:t>在...尽头</a:t>
            </a:r>
          </a:p>
        </p:txBody>
      </p:sp>
      <p:sp>
        <p:nvSpPr>
          <p:cNvPr id="28" name="Rectangle 27"/>
          <p:cNvSpPr/>
          <p:nvPr/>
        </p:nvSpPr>
        <p:spPr>
          <a:xfrm>
            <a:off x="548640" y="4069080"/>
            <a:ext cx="493776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4069080"/>
            <a:ext cx="612648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069080"/>
            <a:ext cx="4754880" cy="566928"/>
          </a:xfrm>
          <a:prstGeom prst="rect">
            <a:avLst/>
          </a:prstGeom>
          <a:noFill/>
        </p:spPr>
        <p:txBody>
          <a:bodyPr wrap="square" anchor="ctr">
            <a:spAutoFit/>
          </a:bodyPr>
          <a:lstStyle/>
          <a:p>
            <a:pPr algn="l"/>
            <a:r>
              <a:rPr sz="1250" b="1" i="0">
                <a:solidFill>
                  <a:srgbClr val="0F4C5C"/>
                </a:solidFill>
                <a:latin typeface="Calibri"/>
              </a:rPr>
              <a:t>in front of / behind</a:t>
            </a:r>
          </a:p>
        </p:txBody>
      </p:sp>
      <p:sp>
        <p:nvSpPr>
          <p:cNvPr id="31" name="TextBox 30"/>
          <p:cNvSpPr txBox="1"/>
          <p:nvPr/>
        </p:nvSpPr>
        <p:spPr>
          <a:xfrm>
            <a:off x="5623560" y="4069080"/>
            <a:ext cx="5852160" cy="566928"/>
          </a:xfrm>
          <a:prstGeom prst="rect">
            <a:avLst/>
          </a:prstGeom>
          <a:noFill/>
        </p:spPr>
        <p:txBody>
          <a:bodyPr wrap="square" anchor="ctr">
            <a:spAutoFit/>
          </a:bodyPr>
          <a:lstStyle/>
          <a:p>
            <a:pPr algn="l"/>
            <a:r>
              <a:rPr sz="1250" b="0" i="0">
                <a:solidFill>
                  <a:srgbClr val="1E293B"/>
                </a:solidFill>
                <a:latin typeface="Calibri"/>
              </a:rPr>
              <a:t>在...前面/后面</a:t>
            </a:r>
          </a:p>
        </p:txBody>
      </p:sp>
      <p:sp>
        <p:nvSpPr>
          <p:cNvPr id="32" name="Rectangle 31"/>
          <p:cNvSpPr/>
          <p:nvPr/>
        </p:nvSpPr>
        <p:spPr>
          <a:xfrm>
            <a:off x="548640" y="4636008"/>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4636008"/>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636008"/>
            <a:ext cx="4754880" cy="566928"/>
          </a:xfrm>
          <a:prstGeom prst="rect">
            <a:avLst/>
          </a:prstGeom>
          <a:noFill/>
        </p:spPr>
        <p:txBody>
          <a:bodyPr wrap="square" anchor="ctr">
            <a:spAutoFit/>
          </a:bodyPr>
          <a:lstStyle/>
          <a:p>
            <a:pPr algn="l"/>
            <a:r>
              <a:rPr sz="1250" b="1" i="0">
                <a:solidFill>
                  <a:srgbClr val="0F4C5C"/>
                </a:solidFill>
                <a:latin typeface="Calibri"/>
              </a:rPr>
              <a:t>on your left/right</a:t>
            </a:r>
          </a:p>
        </p:txBody>
      </p:sp>
      <p:sp>
        <p:nvSpPr>
          <p:cNvPr id="35" name="TextBox 34"/>
          <p:cNvSpPr txBox="1"/>
          <p:nvPr/>
        </p:nvSpPr>
        <p:spPr>
          <a:xfrm>
            <a:off x="5623560" y="4636008"/>
            <a:ext cx="5852160" cy="566928"/>
          </a:xfrm>
          <a:prstGeom prst="rect">
            <a:avLst/>
          </a:prstGeom>
          <a:noFill/>
        </p:spPr>
        <p:txBody>
          <a:bodyPr wrap="square" anchor="ctr">
            <a:spAutoFit/>
          </a:bodyPr>
          <a:lstStyle/>
          <a:p>
            <a:pPr algn="l"/>
            <a:r>
              <a:rPr sz="1250" b="0" i="0">
                <a:solidFill>
                  <a:srgbClr val="1E293B"/>
                </a:solidFill>
                <a:latin typeface="Calibri"/>
              </a:rPr>
              <a:t>行进方向的左/右</a:t>
            </a:r>
          </a:p>
        </p:txBody>
      </p:sp>
      <p:sp>
        <p:nvSpPr>
          <p:cNvPr id="36" name="Rectangle 35"/>
          <p:cNvSpPr/>
          <p:nvPr/>
        </p:nvSpPr>
        <p:spPr>
          <a:xfrm>
            <a:off x="548640" y="5202936"/>
            <a:ext cx="493776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5202936"/>
            <a:ext cx="612648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5202936"/>
            <a:ext cx="4754880" cy="566928"/>
          </a:xfrm>
          <a:prstGeom prst="rect">
            <a:avLst/>
          </a:prstGeom>
          <a:noFill/>
        </p:spPr>
        <p:txBody>
          <a:bodyPr wrap="square" anchor="ctr">
            <a:spAutoFit/>
          </a:bodyPr>
          <a:lstStyle/>
          <a:p>
            <a:pPr algn="l"/>
            <a:r>
              <a:rPr sz="1250" b="1" i="0">
                <a:solidFill>
                  <a:srgbClr val="0F4C5C"/>
                </a:solidFill>
                <a:latin typeface="Calibri"/>
              </a:rPr>
              <a:t>just past</a:t>
            </a:r>
          </a:p>
        </p:txBody>
      </p:sp>
      <p:sp>
        <p:nvSpPr>
          <p:cNvPr id="39" name="TextBox 38"/>
          <p:cNvSpPr txBox="1"/>
          <p:nvPr/>
        </p:nvSpPr>
        <p:spPr>
          <a:xfrm>
            <a:off x="5623560" y="5202936"/>
            <a:ext cx="5852160" cy="566928"/>
          </a:xfrm>
          <a:prstGeom prst="rect">
            <a:avLst/>
          </a:prstGeom>
          <a:noFill/>
        </p:spPr>
        <p:txBody>
          <a:bodyPr wrap="square" anchor="ctr">
            <a:spAutoFit/>
          </a:bodyPr>
          <a:lstStyle/>
          <a:p>
            <a:pPr algn="l"/>
            <a:r>
              <a:rPr sz="1250" b="0" i="0">
                <a:solidFill>
                  <a:srgbClr val="1E293B"/>
                </a:solidFill>
                <a:latin typeface="Calibri"/>
              </a:rPr>
              <a:t>经过...之后紧接着</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方位词必备（移动类）</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ectangle 7"/>
          <p:cNvSpPr/>
          <p:nvPr/>
        </p:nvSpPr>
        <p:spPr>
          <a:xfrm>
            <a:off x="548640" y="1234440"/>
            <a:ext cx="4937760" cy="566928"/>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566928"/>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56692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56692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801368"/>
            <a:ext cx="493776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801368"/>
            <a:ext cx="612648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801368"/>
            <a:ext cx="4754880" cy="566928"/>
          </a:xfrm>
          <a:prstGeom prst="rect">
            <a:avLst/>
          </a:prstGeom>
          <a:noFill/>
        </p:spPr>
        <p:txBody>
          <a:bodyPr wrap="square" anchor="ctr">
            <a:spAutoFit/>
          </a:bodyPr>
          <a:lstStyle/>
          <a:p>
            <a:pPr algn="l"/>
            <a:r>
              <a:rPr sz="1250" b="1" i="0">
                <a:solidFill>
                  <a:srgbClr val="0F4C5C"/>
                </a:solidFill>
                <a:latin typeface="Calibri"/>
              </a:rPr>
              <a:t>straight ahead</a:t>
            </a:r>
          </a:p>
        </p:txBody>
      </p:sp>
      <p:sp>
        <p:nvSpPr>
          <p:cNvPr id="15" name="TextBox 14"/>
          <p:cNvSpPr txBox="1"/>
          <p:nvPr/>
        </p:nvSpPr>
        <p:spPr>
          <a:xfrm>
            <a:off x="5623560" y="1801368"/>
            <a:ext cx="5852160" cy="566928"/>
          </a:xfrm>
          <a:prstGeom prst="rect">
            <a:avLst/>
          </a:prstGeom>
          <a:noFill/>
        </p:spPr>
        <p:txBody>
          <a:bodyPr wrap="square" anchor="ctr">
            <a:spAutoFit/>
          </a:bodyPr>
          <a:lstStyle/>
          <a:p>
            <a:pPr algn="l"/>
            <a:r>
              <a:rPr sz="1250" b="0" i="0">
                <a:solidFill>
                  <a:srgbClr val="1E293B"/>
                </a:solidFill>
                <a:latin typeface="Calibri"/>
              </a:rPr>
              <a:t>直走</a:t>
            </a:r>
          </a:p>
        </p:txBody>
      </p:sp>
      <p:sp>
        <p:nvSpPr>
          <p:cNvPr id="16" name="Rectangle 15"/>
          <p:cNvSpPr/>
          <p:nvPr/>
        </p:nvSpPr>
        <p:spPr>
          <a:xfrm>
            <a:off x="548640" y="2368296"/>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368296"/>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368296"/>
            <a:ext cx="4754880" cy="566928"/>
          </a:xfrm>
          <a:prstGeom prst="rect">
            <a:avLst/>
          </a:prstGeom>
          <a:noFill/>
        </p:spPr>
        <p:txBody>
          <a:bodyPr wrap="square" anchor="ctr">
            <a:spAutoFit/>
          </a:bodyPr>
          <a:lstStyle/>
          <a:p>
            <a:pPr algn="l"/>
            <a:r>
              <a:rPr sz="1250" b="1" i="0">
                <a:solidFill>
                  <a:srgbClr val="0F4C5C"/>
                </a:solidFill>
                <a:latin typeface="Calibri"/>
              </a:rPr>
              <a:t>turn left/right</a:t>
            </a:r>
          </a:p>
        </p:txBody>
      </p:sp>
      <p:sp>
        <p:nvSpPr>
          <p:cNvPr id="19" name="TextBox 18"/>
          <p:cNvSpPr txBox="1"/>
          <p:nvPr/>
        </p:nvSpPr>
        <p:spPr>
          <a:xfrm>
            <a:off x="5623560" y="2368296"/>
            <a:ext cx="5852160" cy="566928"/>
          </a:xfrm>
          <a:prstGeom prst="rect">
            <a:avLst/>
          </a:prstGeom>
          <a:noFill/>
        </p:spPr>
        <p:txBody>
          <a:bodyPr wrap="square" anchor="ctr">
            <a:spAutoFit/>
          </a:bodyPr>
          <a:lstStyle/>
          <a:p>
            <a:pPr algn="l"/>
            <a:r>
              <a:rPr sz="1250" b="0" i="0">
                <a:solidFill>
                  <a:srgbClr val="1E293B"/>
                </a:solidFill>
                <a:latin typeface="Calibri"/>
              </a:rPr>
              <a:t>左/右转</a:t>
            </a:r>
          </a:p>
        </p:txBody>
      </p:sp>
      <p:sp>
        <p:nvSpPr>
          <p:cNvPr id="20" name="Rectangle 19"/>
          <p:cNvSpPr/>
          <p:nvPr/>
        </p:nvSpPr>
        <p:spPr>
          <a:xfrm>
            <a:off x="548640" y="2935224"/>
            <a:ext cx="493776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935224"/>
            <a:ext cx="612648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35224"/>
            <a:ext cx="4754880" cy="566928"/>
          </a:xfrm>
          <a:prstGeom prst="rect">
            <a:avLst/>
          </a:prstGeom>
          <a:noFill/>
        </p:spPr>
        <p:txBody>
          <a:bodyPr wrap="square" anchor="ctr">
            <a:spAutoFit/>
          </a:bodyPr>
          <a:lstStyle/>
          <a:p>
            <a:pPr algn="l"/>
            <a:r>
              <a:rPr sz="1250" b="1" i="0">
                <a:solidFill>
                  <a:srgbClr val="0F4C5C"/>
                </a:solidFill>
                <a:latin typeface="Calibri"/>
              </a:rPr>
              <a:t>take the first turning</a:t>
            </a:r>
          </a:p>
        </p:txBody>
      </p:sp>
      <p:sp>
        <p:nvSpPr>
          <p:cNvPr id="23" name="TextBox 22"/>
          <p:cNvSpPr txBox="1"/>
          <p:nvPr/>
        </p:nvSpPr>
        <p:spPr>
          <a:xfrm>
            <a:off x="5623560" y="2935224"/>
            <a:ext cx="5852160" cy="566928"/>
          </a:xfrm>
          <a:prstGeom prst="rect">
            <a:avLst/>
          </a:prstGeom>
          <a:noFill/>
        </p:spPr>
        <p:txBody>
          <a:bodyPr wrap="square" anchor="ctr">
            <a:spAutoFit/>
          </a:bodyPr>
          <a:lstStyle/>
          <a:p>
            <a:pPr algn="l"/>
            <a:r>
              <a:rPr sz="1250" b="0" i="0">
                <a:solidFill>
                  <a:srgbClr val="1E293B"/>
                </a:solidFill>
                <a:latin typeface="Calibri"/>
              </a:rPr>
              <a:t>走第一个路口转弯</a:t>
            </a:r>
          </a:p>
        </p:txBody>
      </p:sp>
      <p:sp>
        <p:nvSpPr>
          <p:cNvPr id="24" name="Rectangle 23"/>
          <p:cNvSpPr/>
          <p:nvPr/>
        </p:nvSpPr>
        <p:spPr>
          <a:xfrm>
            <a:off x="548640" y="3502152"/>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3502152"/>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502152"/>
            <a:ext cx="4754880" cy="566928"/>
          </a:xfrm>
          <a:prstGeom prst="rect">
            <a:avLst/>
          </a:prstGeom>
          <a:noFill/>
        </p:spPr>
        <p:txBody>
          <a:bodyPr wrap="square" anchor="ctr">
            <a:spAutoFit/>
          </a:bodyPr>
          <a:lstStyle/>
          <a:p>
            <a:pPr algn="l"/>
            <a:r>
              <a:rPr sz="1250" b="1" i="0">
                <a:solidFill>
                  <a:srgbClr val="0F4C5C"/>
                </a:solidFill>
                <a:latin typeface="Calibri"/>
              </a:rPr>
              <a:t>bear left/right</a:t>
            </a:r>
          </a:p>
        </p:txBody>
      </p:sp>
      <p:sp>
        <p:nvSpPr>
          <p:cNvPr id="27" name="TextBox 26"/>
          <p:cNvSpPr txBox="1"/>
          <p:nvPr/>
        </p:nvSpPr>
        <p:spPr>
          <a:xfrm>
            <a:off x="5623560" y="3502152"/>
            <a:ext cx="5852160" cy="566928"/>
          </a:xfrm>
          <a:prstGeom prst="rect">
            <a:avLst/>
          </a:prstGeom>
          <a:noFill/>
        </p:spPr>
        <p:txBody>
          <a:bodyPr wrap="square" anchor="ctr">
            <a:spAutoFit/>
          </a:bodyPr>
          <a:lstStyle/>
          <a:p>
            <a:pPr algn="l"/>
            <a:r>
              <a:rPr sz="1250" b="0" i="0">
                <a:solidFill>
                  <a:srgbClr val="1E293B"/>
                </a:solidFill>
                <a:latin typeface="Calibri"/>
              </a:rPr>
              <a:t>微偏左/右</a:t>
            </a:r>
          </a:p>
        </p:txBody>
      </p:sp>
      <p:sp>
        <p:nvSpPr>
          <p:cNvPr id="28" name="Rectangle 27"/>
          <p:cNvSpPr/>
          <p:nvPr/>
        </p:nvSpPr>
        <p:spPr>
          <a:xfrm>
            <a:off x="548640" y="4069080"/>
            <a:ext cx="493776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4069080"/>
            <a:ext cx="612648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069080"/>
            <a:ext cx="4754880" cy="566928"/>
          </a:xfrm>
          <a:prstGeom prst="rect">
            <a:avLst/>
          </a:prstGeom>
          <a:noFill/>
        </p:spPr>
        <p:txBody>
          <a:bodyPr wrap="square" anchor="ctr">
            <a:spAutoFit/>
          </a:bodyPr>
          <a:lstStyle/>
          <a:p>
            <a:pPr algn="l"/>
            <a:r>
              <a:rPr sz="1250" b="1" i="0">
                <a:solidFill>
                  <a:srgbClr val="0F4C5C"/>
                </a:solidFill>
                <a:latin typeface="Calibri"/>
              </a:rPr>
              <a:t>at the junction/corner</a:t>
            </a:r>
          </a:p>
        </p:txBody>
      </p:sp>
      <p:sp>
        <p:nvSpPr>
          <p:cNvPr id="31" name="TextBox 30"/>
          <p:cNvSpPr txBox="1"/>
          <p:nvPr/>
        </p:nvSpPr>
        <p:spPr>
          <a:xfrm>
            <a:off x="5623560" y="4069080"/>
            <a:ext cx="5852160" cy="566928"/>
          </a:xfrm>
          <a:prstGeom prst="rect">
            <a:avLst/>
          </a:prstGeom>
          <a:noFill/>
        </p:spPr>
        <p:txBody>
          <a:bodyPr wrap="square" anchor="ctr">
            <a:spAutoFit/>
          </a:bodyPr>
          <a:lstStyle/>
          <a:p>
            <a:pPr algn="l"/>
            <a:r>
              <a:rPr sz="1250" b="0" i="0">
                <a:solidFill>
                  <a:srgbClr val="1E293B"/>
                </a:solidFill>
                <a:latin typeface="Calibri"/>
              </a:rPr>
              <a:t>在路口/拐角处</a:t>
            </a:r>
          </a:p>
        </p:txBody>
      </p:sp>
      <p:sp>
        <p:nvSpPr>
          <p:cNvPr id="32" name="Rectangle 31"/>
          <p:cNvSpPr/>
          <p:nvPr/>
        </p:nvSpPr>
        <p:spPr>
          <a:xfrm>
            <a:off x="548640" y="4636008"/>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4636008"/>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636008"/>
            <a:ext cx="4754880" cy="566928"/>
          </a:xfrm>
          <a:prstGeom prst="rect">
            <a:avLst/>
          </a:prstGeom>
          <a:noFill/>
        </p:spPr>
        <p:txBody>
          <a:bodyPr wrap="square" anchor="ctr">
            <a:spAutoFit/>
          </a:bodyPr>
          <a:lstStyle/>
          <a:p>
            <a:pPr algn="l"/>
            <a:r>
              <a:rPr sz="1250" b="1" i="0">
                <a:solidFill>
                  <a:srgbClr val="0F4C5C"/>
                </a:solidFill>
                <a:latin typeface="Calibri"/>
              </a:rPr>
              <a:t>beyond / further along</a:t>
            </a:r>
          </a:p>
        </p:txBody>
      </p:sp>
      <p:sp>
        <p:nvSpPr>
          <p:cNvPr id="35" name="TextBox 34"/>
          <p:cNvSpPr txBox="1"/>
          <p:nvPr/>
        </p:nvSpPr>
        <p:spPr>
          <a:xfrm>
            <a:off x="5623560" y="4636008"/>
            <a:ext cx="5852160" cy="566928"/>
          </a:xfrm>
          <a:prstGeom prst="rect">
            <a:avLst/>
          </a:prstGeom>
          <a:noFill/>
        </p:spPr>
        <p:txBody>
          <a:bodyPr wrap="square" anchor="ctr">
            <a:spAutoFit/>
          </a:bodyPr>
          <a:lstStyle/>
          <a:p>
            <a:pPr algn="l"/>
            <a:r>
              <a:rPr sz="1250" b="0" i="0">
                <a:solidFill>
                  <a:srgbClr val="1E293B"/>
                </a:solidFill>
                <a:latin typeface="Calibri"/>
              </a:rPr>
              <a:t>更远处</a:t>
            </a:r>
          </a:p>
        </p:txBody>
      </p:sp>
      <p:sp>
        <p:nvSpPr>
          <p:cNvPr id="36" name="Rectangle 35"/>
          <p:cNvSpPr/>
          <p:nvPr/>
        </p:nvSpPr>
        <p:spPr>
          <a:xfrm>
            <a:off x="548640" y="5202936"/>
            <a:ext cx="493776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5202936"/>
            <a:ext cx="612648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5202936"/>
            <a:ext cx="4754880" cy="566928"/>
          </a:xfrm>
          <a:prstGeom prst="rect">
            <a:avLst/>
          </a:prstGeom>
          <a:noFill/>
        </p:spPr>
        <p:txBody>
          <a:bodyPr wrap="square" anchor="ctr">
            <a:spAutoFit/>
          </a:bodyPr>
          <a:lstStyle/>
          <a:p>
            <a:pPr algn="l"/>
            <a:r>
              <a:rPr sz="1250" b="1" i="0">
                <a:solidFill>
                  <a:srgbClr val="0F4C5C"/>
                </a:solidFill>
                <a:latin typeface="Calibri"/>
              </a:rPr>
              <a:t>directly opposite</a:t>
            </a:r>
          </a:p>
        </p:txBody>
      </p:sp>
      <p:sp>
        <p:nvSpPr>
          <p:cNvPr id="39" name="TextBox 38"/>
          <p:cNvSpPr txBox="1"/>
          <p:nvPr/>
        </p:nvSpPr>
        <p:spPr>
          <a:xfrm>
            <a:off x="5623560" y="5202936"/>
            <a:ext cx="5852160" cy="566928"/>
          </a:xfrm>
          <a:prstGeom prst="rect">
            <a:avLst/>
          </a:prstGeom>
          <a:noFill/>
        </p:spPr>
        <p:txBody>
          <a:bodyPr wrap="square" anchor="ctr">
            <a:spAutoFit/>
          </a:bodyPr>
          <a:lstStyle/>
          <a:p>
            <a:pPr algn="l"/>
            <a:r>
              <a:rPr sz="1250" b="0" i="0">
                <a:solidFill>
                  <a:srgbClr val="1E293B"/>
                </a:solidFill>
                <a:latin typeface="Calibri"/>
              </a:rPr>
              <a:t>正对面（强调版）</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匹配题高频同义词</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ectangle 7"/>
          <p:cNvSpPr/>
          <p:nvPr/>
        </p:nvSpPr>
        <p:spPr>
          <a:xfrm>
            <a:off x="548640" y="1234440"/>
            <a:ext cx="4937760" cy="566928"/>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566928"/>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56692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56692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801368"/>
            <a:ext cx="493776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801368"/>
            <a:ext cx="612648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801368"/>
            <a:ext cx="4754880" cy="566928"/>
          </a:xfrm>
          <a:prstGeom prst="rect">
            <a:avLst/>
          </a:prstGeom>
          <a:noFill/>
        </p:spPr>
        <p:txBody>
          <a:bodyPr wrap="square" anchor="ctr">
            <a:spAutoFit/>
          </a:bodyPr>
          <a:lstStyle/>
          <a:p>
            <a:pPr algn="l"/>
            <a:r>
              <a:rPr sz="1250" b="1" i="0">
                <a:solidFill>
                  <a:srgbClr val="0F4C5C"/>
                </a:solidFill>
                <a:latin typeface="Calibri"/>
              </a:rPr>
              <a:t>renovated = refurbished</a:t>
            </a:r>
          </a:p>
        </p:txBody>
      </p:sp>
      <p:sp>
        <p:nvSpPr>
          <p:cNvPr id="15" name="TextBox 14"/>
          <p:cNvSpPr txBox="1"/>
          <p:nvPr/>
        </p:nvSpPr>
        <p:spPr>
          <a:xfrm>
            <a:off x="5623560" y="1801368"/>
            <a:ext cx="5852160" cy="566928"/>
          </a:xfrm>
          <a:prstGeom prst="rect">
            <a:avLst/>
          </a:prstGeom>
          <a:noFill/>
        </p:spPr>
        <p:txBody>
          <a:bodyPr wrap="square" anchor="ctr">
            <a:spAutoFit/>
          </a:bodyPr>
          <a:lstStyle/>
          <a:p>
            <a:pPr algn="l"/>
            <a:r>
              <a:rPr sz="1250" b="0" i="0">
                <a:solidFill>
                  <a:srgbClr val="1E293B"/>
                </a:solidFill>
                <a:latin typeface="Calibri"/>
              </a:rPr>
              <a:t>翻新</a:t>
            </a:r>
          </a:p>
        </p:txBody>
      </p:sp>
      <p:sp>
        <p:nvSpPr>
          <p:cNvPr id="16" name="Rectangle 15"/>
          <p:cNvSpPr/>
          <p:nvPr/>
        </p:nvSpPr>
        <p:spPr>
          <a:xfrm>
            <a:off x="548640" y="2368296"/>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368296"/>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368296"/>
            <a:ext cx="4754880" cy="566928"/>
          </a:xfrm>
          <a:prstGeom prst="rect">
            <a:avLst/>
          </a:prstGeom>
          <a:noFill/>
        </p:spPr>
        <p:txBody>
          <a:bodyPr wrap="square" anchor="ctr">
            <a:spAutoFit/>
          </a:bodyPr>
          <a:lstStyle/>
          <a:p>
            <a:pPr algn="l"/>
            <a:r>
              <a:rPr sz="1250" b="1" i="0">
                <a:solidFill>
                  <a:srgbClr val="0F4C5C"/>
                </a:solidFill>
                <a:latin typeface="Calibri"/>
              </a:rPr>
              <a:t>members only = exclusive</a:t>
            </a:r>
          </a:p>
        </p:txBody>
      </p:sp>
      <p:sp>
        <p:nvSpPr>
          <p:cNvPr id="19" name="TextBox 18"/>
          <p:cNvSpPr txBox="1"/>
          <p:nvPr/>
        </p:nvSpPr>
        <p:spPr>
          <a:xfrm>
            <a:off x="5623560" y="2368296"/>
            <a:ext cx="5852160" cy="566928"/>
          </a:xfrm>
          <a:prstGeom prst="rect">
            <a:avLst/>
          </a:prstGeom>
          <a:noFill/>
        </p:spPr>
        <p:txBody>
          <a:bodyPr wrap="square" anchor="ctr">
            <a:spAutoFit/>
          </a:bodyPr>
          <a:lstStyle/>
          <a:p>
            <a:pPr algn="l"/>
            <a:r>
              <a:rPr sz="1250" b="0" i="0">
                <a:solidFill>
                  <a:srgbClr val="1E293B"/>
                </a:solidFill>
                <a:latin typeface="Calibri"/>
              </a:rPr>
              <a:t>仅限会员</a:t>
            </a:r>
          </a:p>
        </p:txBody>
      </p:sp>
      <p:sp>
        <p:nvSpPr>
          <p:cNvPr id="20" name="Rectangle 19"/>
          <p:cNvSpPr/>
          <p:nvPr/>
        </p:nvSpPr>
        <p:spPr>
          <a:xfrm>
            <a:off x="548640" y="2935224"/>
            <a:ext cx="493776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935224"/>
            <a:ext cx="612648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35224"/>
            <a:ext cx="4754880" cy="566928"/>
          </a:xfrm>
          <a:prstGeom prst="rect">
            <a:avLst/>
          </a:prstGeom>
          <a:noFill/>
        </p:spPr>
        <p:txBody>
          <a:bodyPr wrap="square" anchor="ctr">
            <a:spAutoFit/>
          </a:bodyPr>
          <a:lstStyle/>
          <a:p>
            <a:pPr algn="l"/>
            <a:r>
              <a:rPr sz="1250" b="1" i="0">
                <a:solidFill>
                  <a:srgbClr val="0F4C5C"/>
                </a:solidFill>
                <a:latin typeface="Calibri"/>
              </a:rPr>
              <a:t>booking required = must book</a:t>
            </a:r>
          </a:p>
        </p:txBody>
      </p:sp>
      <p:sp>
        <p:nvSpPr>
          <p:cNvPr id="23" name="TextBox 22"/>
          <p:cNvSpPr txBox="1"/>
          <p:nvPr/>
        </p:nvSpPr>
        <p:spPr>
          <a:xfrm>
            <a:off x="5623560" y="2935224"/>
            <a:ext cx="5852160" cy="566928"/>
          </a:xfrm>
          <a:prstGeom prst="rect">
            <a:avLst/>
          </a:prstGeom>
          <a:noFill/>
        </p:spPr>
        <p:txBody>
          <a:bodyPr wrap="square" anchor="ctr">
            <a:spAutoFit/>
          </a:bodyPr>
          <a:lstStyle/>
          <a:p>
            <a:pPr algn="l"/>
            <a:r>
              <a:rPr sz="1250" b="0" i="0">
                <a:solidFill>
                  <a:srgbClr val="1E293B"/>
                </a:solidFill>
                <a:latin typeface="Calibri"/>
              </a:rPr>
              <a:t>需要预约</a:t>
            </a:r>
          </a:p>
        </p:txBody>
      </p:sp>
      <p:sp>
        <p:nvSpPr>
          <p:cNvPr id="24" name="Rectangle 23"/>
          <p:cNvSpPr/>
          <p:nvPr/>
        </p:nvSpPr>
        <p:spPr>
          <a:xfrm>
            <a:off x="548640" y="3502152"/>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3502152"/>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502152"/>
            <a:ext cx="4754880" cy="566928"/>
          </a:xfrm>
          <a:prstGeom prst="rect">
            <a:avLst/>
          </a:prstGeom>
          <a:noFill/>
        </p:spPr>
        <p:txBody>
          <a:bodyPr wrap="square" anchor="ctr">
            <a:spAutoFit/>
          </a:bodyPr>
          <a:lstStyle/>
          <a:p>
            <a:pPr algn="l"/>
            <a:r>
              <a:rPr sz="1250" b="1" i="0">
                <a:solidFill>
                  <a:srgbClr val="0F4C5C"/>
                </a:solidFill>
                <a:latin typeface="Calibri"/>
              </a:rPr>
              <a:t>free = no charge</a:t>
            </a:r>
          </a:p>
        </p:txBody>
      </p:sp>
      <p:sp>
        <p:nvSpPr>
          <p:cNvPr id="27" name="TextBox 26"/>
          <p:cNvSpPr txBox="1"/>
          <p:nvPr/>
        </p:nvSpPr>
        <p:spPr>
          <a:xfrm>
            <a:off x="5623560" y="3502152"/>
            <a:ext cx="5852160" cy="566928"/>
          </a:xfrm>
          <a:prstGeom prst="rect">
            <a:avLst/>
          </a:prstGeom>
          <a:noFill/>
        </p:spPr>
        <p:txBody>
          <a:bodyPr wrap="square" anchor="ctr">
            <a:spAutoFit/>
          </a:bodyPr>
          <a:lstStyle/>
          <a:p>
            <a:pPr algn="l"/>
            <a:r>
              <a:rPr sz="1250" b="0" i="0">
                <a:solidFill>
                  <a:srgbClr val="1E293B"/>
                </a:solidFill>
                <a:latin typeface="Calibri"/>
              </a:rPr>
              <a:t>免费</a:t>
            </a:r>
          </a:p>
        </p:txBody>
      </p:sp>
      <p:sp>
        <p:nvSpPr>
          <p:cNvPr id="28" name="Rectangle 27"/>
          <p:cNvSpPr/>
          <p:nvPr/>
        </p:nvSpPr>
        <p:spPr>
          <a:xfrm>
            <a:off x="548640" y="4069080"/>
            <a:ext cx="493776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4069080"/>
            <a:ext cx="612648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069080"/>
            <a:ext cx="4754880" cy="566928"/>
          </a:xfrm>
          <a:prstGeom prst="rect">
            <a:avLst/>
          </a:prstGeom>
          <a:noFill/>
        </p:spPr>
        <p:txBody>
          <a:bodyPr wrap="square" anchor="ctr">
            <a:spAutoFit/>
          </a:bodyPr>
          <a:lstStyle/>
          <a:p>
            <a:pPr algn="l"/>
            <a:r>
              <a:rPr sz="1250" b="1" i="0">
                <a:solidFill>
                  <a:srgbClr val="0F4C5C"/>
                </a:solidFill>
                <a:latin typeface="Calibri"/>
              </a:rPr>
              <a:t>newly opened = just launched</a:t>
            </a:r>
          </a:p>
        </p:txBody>
      </p:sp>
      <p:sp>
        <p:nvSpPr>
          <p:cNvPr id="31" name="TextBox 30"/>
          <p:cNvSpPr txBox="1"/>
          <p:nvPr/>
        </p:nvSpPr>
        <p:spPr>
          <a:xfrm>
            <a:off x="5623560" y="4069080"/>
            <a:ext cx="5852160" cy="566928"/>
          </a:xfrm>
          <a:prstGeom prst="rect">
            <a:avLst/>
          </a:prstGeom>
          <a:noFill/>
        </p:spPr>
        <p:txBody>
          <a:bodyPr wrap="square" anchor="ctr">
            <a:spAutoFit/>
          </a:bodyPr>
          <a:lstStyle/>
          <a:p>
            <a:pPr algn="l"/>
            <a:r>
              <a:rPr sz="1250" b="0" i="0">
                <a:solidFill>
                  <a:srgbClr val="1E293B"/>
                </a:solidFill>
                <a:latin typeface="Calibri"/>
              </a:rPr>
              <a:t>新开</a:t>
            </a:r>
          </a:p>
        </p:txBody>
      </p:sp>
      <p:sp>
        <p:nvSpPr>
          <p:cNvPr id="32" name="Rectangle 31"/>
          <p:cNvSpPr/>
          <p:nvPr/>
        </p:nvSpPr>
        <p:spPr>
          <a:xfrm>
            <a:off x="548640" y="4636008"/>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4636008"/>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636008"/>
            <a:ext cx="4754880" cy="566928"/>
          </a:xfrm>
          <a:prstGeom prst="rect">
            <a:avLst/>
          </a:prstGeom>
          <a:noFill/>
        </p:spPr>
        <p:txBody>
          <a:bodyPr wrap="square" anchor="ctr">
            <a:spAutoFit/>
          </a:bodyPr>
          <a:lstStyle/>
          <a:p>
            <a:pPr algn="l"/>
            <a:r>
              <a:rPr sz="1250" b="1" i="0">
                <a:solidFill>
                  <a:srgbClr val="0F4C5C"/>
                </a:solidFill>
                <a:latin typeface="Calibri"/>
              </a:rPr>
              <a:t>24hrs = round the clock</a:t>
            </a:r>
          </a:p>
        </p:txBody>
      </p:sp>
      <p:sp>
        <p:nvSpPr>
          <p:cNvPr id="35" name="TextBox 34"/>
          <p:cNvSpPr txBox="1"/>
          <p:nvPr/>
        </p:nvSpPr>
        <p:spPr>
          <a:xfrm>
            <a:off x="5623560" y="4636008"/>
            <a:ext cx="5852160" cy="566928"/>
          </a:xfrm>
          <a:prstGeom prst="rect">
            <a:avLst/>
          </a:prstGeom>
          <a:noFill/>
        </p:spPr>
        <p:txBody>
          <a:bodyPr wrap="square" anchor="ctr">
            <a:spAutoFit/>
          </a:bodyPr>
          <a:lstStyle/>
          <a:p>
            <a:pPr algn="l"/>
            <a:r>
              <a:rPr sz="1250" b="0" i="0">
                <a:solidFill>
                  <a:srgbClr val="1E293B"/>
                </a:solidFill>
                <a:latin typeface="Calibri"/>
              </a:rPr>
              <a:t>全天</a:t>
            </a:r>
          </a:p>
        </p:txBody>
      </p:sp>
      <p:sp>
        <p:nvSpPr>
          <p:cNvPr id="36" name="Rectangle 35"/>
          <p:cNvSpPr/>
          <p:nvPr/>
        </p:nvSpPr>
        <p:spPr>
          <a:xfrm>
            <a:off x="548640" y="5202936"/>
            <a:ext cx="493776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5202936"/>
            <a:ext cx="6126480" cy="566928"/>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5202936"/>
            <a:ext cx="4754880" cy="566928"/>
          </a:xfrm>
          <a:prstGeom prst="rect">
            <a:avLst/>
          </a:prstGeom>
          <a:noFill/>
        </p:spPr>
        <p:txBody>
          <a:bodyPr wrap="square" anchor="ctr">
            <a:spAutoFit/>
          </a:bodyPr>
          <a:lstStyle/>
          <a:p>
            <a:pPr algn="l"/>
            <a:r>
              <a:rPr sz="1250" b="1" i="0">
                <a:solidFill>
                  <a:srgbClr val="0F4C5C"/>
                </a:solidFill>
                <a:latin typeface="Calibri"/>
              </a:rPr>
              <a:t>outdoor = open air</a:t>
            </a:r>
          </a:p>
        </p:txBody>
      </p:sp>
      <p:sp>
        <p:nvSpPr>
          <p:cNvPr id="39" name="TextBox 38"/>
          <p:cNvSpPr txBox="1"/>
          <p:nvPr/>
        </p:nvSpPr>
        <p:spPr>
          <a:xfrm>
            <a:off x="5623560" y="5202936"/>
            <a:ext cx="5852160" cy="566928"/>
          </a:xfrm>
          <a:prstGeom prst="rect">
            <a:avLst/>
          </a:prstGeom>
          <a:noFill/>
        </p:spPr>
        <p:txBody>
          <a:bodyPr wrap="square" anchor="ctr">
            <a:spAutoFit/>
          </a:bodyPr>
          <a:lstStyle/>
          <a:p>
            <a:pPr algn="l"/>
            <a:r>
              <a:rPr sz="1250" b="0" i="0">
                <a:solidFill>
                  <a:srgbClr val="1E293B"/>
                </a:solidFill>
                <a:latin typeface="Calibri"/>
              </a:rPr>
              <a:t>室外</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S2场景词汇对照</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7" name="Rectangle 6"/>
          <p:cNvSpPr/>
          <p:nvPr/>
        </p:nvSpPr>
        <p:spPr>
          <a:xfrm>
            <a:off x="548640" y="1188720"/>
            <a:ext cx="5486400" cy="4572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旅游景点（Tourism）</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guided tour / self-guided</a:t>
            </a:r>
          </a:p>
          <a:p>
            <a:pPr>
              <a:spcBef>
                <a:spcPts val="700"/>
              </a:spcBef>
            </a:pPr>
            <a:r>
              <a:rPr sz="1450">
                <a:solidFill>
                  <a:srgbClr val="1E293B"/>
                </a:solidFill>
              </a:rPr>
              <a:t>• admission fee / entrance charge</a:t>
            </a:r>
          </a:p>
          <a:p>
            <a:pPr>
              <a:spcBef>
                <a:spcPts val="700"/>
              </a:spcBef>
            </a:pPr>
            <a:r>
              <a:rPr sz="1450">
                <a:solidFill>
                  <a:srgbClr val="1E293B"/>
                </a:solidFill>
              </a:rPr>
              <a:t>• audio guide / headset</a:t>
            </a:r>
          </a:p>
          <a:p>
            <a:pPr>
              <a:spcBef>
                <a:spcPts val="700"/>
              </a:spcBef>
            </a:pPr>
            <a:r>
              <a:rPr sz="1450">
                <a:solidFill>
                  <a:srgbClr val="1E293B"/>
                </a:solidFill>
              </a:rPr>
              <a:t>• gift shop / souvenir store</a:t>
            </a:r>
          </a:p>
          <a:p>
            <a:pPr>
              <a:spcBef>
                <a:spcPts val="700"/>
              </a:spcBef>
            </a:pPr>
            <a:r>
              <a:rPr sz="1450">
                <a:solidFill>
                  <a:srgbClr val="1E293B"/>
                </a:solidFill>
              </a:rPr>
              <a:t>• photography allowed/prohibited</a:t>
            </a:r>
          </a:p>
          <a:p>
            <a:pPr>
              <a:spcBef>
                <a:spcPts val="700"/>
              </a:spcBef>
            </a:pPr>
            <a:r>
              <a:rPr sz="1450">
                <a:solidFill>
                  <a:srgbClr val="1E293B"/>
                </a:solidFill>
              </a:rPr>
              <a:t>• opening times / visiting hours</a:t>
            </a:r>
          </a:p>
          <a:p>
            <a:pPr>
              <a:spcBef>
                <a:spcPts val="700"/>
              </a:spcBef>
            </a:pPr>
            <a:r>
              <a:rPr sz="1450">
                <a:solidFill>
                  <a:srgbClr val="1E293B"/>
                </a:solidFill>
              </a:rPr>
              <a:t>• disabled access / wheelchair ramp</a:t>
            </a:r>
          </a:p>
        </p:txBody>
      </p:sp>
      <p:sp>
        <p:nvSpPr>
          <p:cNvPr id="10" name="Rectangle 9"/>
          <p:cNvSpPr/>
          <p:nvPr/>
        </p:nvSpPr>
        <p:spPr>
          <a:xfrm>
            <a:off x="6355079" y="1188720"/>
            <a:ext cx="5486400" cy="45720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社区设施（Community）</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membership card / annual pass</a:t>
            </a:r>
          </a:p>
          <a:p>
            <a:pPr>
              <a:spcBef>
                <a:spcPts val="700"/>
              </a:spcBef>
            </a:pPr>
            <a:r>
              <a:rPr sz="1450">
                <a:solidFill>
                  <a:srgbClr val="1E293B"/>
                </a:solidFill>
              </a:rPr>
              <a:t>• peak / off-peak hours</a:t>
            </a:r>
          </a:p>
          <a:p>
            <a:pPr>
              <a:spcBef>
                <a:spcPts val="700"/>
              </a:spcBef>
            </a:pPr>
            <a:r>
              <a:rPr sz="1450">
                <a:solidFill>
                  <a:srgbClr val="1E293B"/>
                </a:solidFill>
              </a:rPr>
              <a:t>• booking / reservation in advance</a:t>
            </a:r>
          </a:p>
          <a:p>
            <a:pPr>
              <a:spcBef>
                <a:spcPts val="700"/>
              </a:spcBef>
            </a:pPr>
            <a:r>
              <a:rPr sz="1450">
                <a:solidFill>
                  <a:srgbClr val="1E293B"/>
                </a:solidFill>
              </a:rPr>
              <a:t>• concession / student discount</a:t>
            </a:r>
          </a:p>
          <a:p>
            <a:pPr>
              <a:spcBef>
                <a:spcPts val="700"/>
              </a:spcBef>
            </a:pPr>
            <a:r>
              <a:rPr sz="1450">
                <a:solidFill>
                  <a:srgbClr val="1E293B"/>
                </a:solidFill>
              </a:rPr>
              <a:t>• sports hall / leisure centre</a:t>
            </a:r>
          </a:p>
          <a:p>
            <a:pPr>
              <a:spcBef>
                <a:spcPts val="700"/>
              </a:spcBef>
            </a:pPr>
            <a:r>
              <a:rPr sz="1450">
                <a:solidFill>
                  <a:srgbClr val="1E293B"/>
                </a:solidFill>
              </a:rPr>
              <a:t>• car park / parking facilities</a:t>
            </a:r>
          </a:p>
          <a:p>
            <a:pPr>
              <a:spcBef>
                <a:spcPts val="700"/>
              </a:spcBef>
            </a:pPr>
            <a:r>
              <a:rPr sz="1450">
                <a:solidFill>
                  <a:srgbClr val="1E293B"/>
                </a:solidFill>
              </a:rPr>
              <a:t>• reception / front desk</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2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12A594"/>
                </a:solidFill>
                <a:latin typeface="Calibri"/>
              </a:rPr>
              <a:t>PART 06</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方法精讲</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Methods &amp; Models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方法步骤</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地图题满分5步操作</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280160"/>
            <a:ext cx="640080" cy="640080"/>
          </a:xfrm>
          <a:prstGeom prst="round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335024"/>
            <a:ext cx="640080" cy="502920"/>
          </a:xfrm>
          <a:prstGeom prst="rect">
            <a:avLst/>
          </a:prstGeom>
          <a:noFill/>
        </p:spPr>
        <p:txBody>
          <a:bodyPr wrap="square" anchor="t">
            <a:spAutoFit/>
          </a:bodyPr>
          <a:lstStyle/>
          <a:p>
            <a:pPr algn="ctr"/>
            <a:r>
              <a:rPr sz="2200" b="1" i="0">
                <a:solidFill>
                  <a:srgbClr val="FFFFFF"/>
                </a:solidFill>
                <a:latin typeface="Calibri"/>
              </a:rPr>
              <a:t>1</a:t>
            </a:r>
          </a:p>
        </p:txBody>
      </p:sp>
      <p:sp>
        <p:nvSpPr>
          <p:cNvPr id="10" name="Rectangle 9"/>
          <p:cNvSpPr/>
          <p:nvPr/>
        </p:nvSpPr>
        <p:spPr>
          <a:xfrm>
            <a:off x="841248" y="1938528"/>
            <a:ext cx="45720" cy="292607"/>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17320" y="1280160"/>
            <a:ext cx="10058400" cy="411480"/>
          </a:xfrm>
          <a:prstGeom prst="rect">
            <a:avLst/>
          </a:prstGeom>
          <a:noFill/>
        </p:spPr>
        <p:txBody>
          <a:bodyPr wrap="square" anchor="t">
            <a:spAutoFit/>
          </a:bodyPr>
          <a:lstStyle/>
          <a:p>
            <a:pPr algn="l"/>
            <a:r>
              <a:rPr sz="1600" b="1" i="0">
                <a:solidFill>
                  <a:srgbClr val="0F4C5C"/>
                </a:solidFill>
                <a:latin typeface="Calibri"/>
              </a:rPr>
              <a:t>预读(15s)</a:t>
            </a:r>
          </a:p>
        </p:txBody>
      </p:sp>
      <p:sp>
        <p:nvSpPr>
          <p:cNvPr id="12" name="TextBox 11"/>
          <p:cNvSpPr txBox="1"/>
          <p:nvPr/>
        </p:nvSpPr>
        <p:spPr>
          <a:xfrm>
            <a:off x="1417320" y="1645919"/>
            <a:ext cx="10058400" cy="585215"/>
          </a:xfrm>
          <a:prstGeom prst="rect">
            <a:avLst/>
          </a:prstGeom>
          <a:noFill/>
        </p:spPr>
        <p:txBody>
          <a:bodyPr wrap="square" anchor="t">
            <a:spAutoFit/>
          </a:bodyPr>
          <a:lstStyle/>
          <a:p>
            <a:pPr algn="l"/>
            <a:r>
              <a:rPr sz="1350" b="0" i="0">
                <a:solidFill>
                  <a:srgbClr val="556075"/>
                </a:solidFill>
                <a:latin typeface="Calibri"/>
              </a:rPr>
              <a:t>找入口标✱；数字母标记数量；找已知地标</a:t>
            </a:r>
          </a:p>
        </p:txBody>
      </p:sp>
      <p:sp>
        <p:nvSpPr>
          <p:cNvPr id="13" name="Rounded Rectangle 12"/>
          <p:cNvSpPr/>
          <p:nvPr/>
        </p:nvSpPr>
        <p:spPr>
          <a:xfrm>
            <a:off x="548640" y="2231135"/>
            <a:ext cx="640080" cy="640080"/>
          </a:xfrm>
          <a:prstGeom prst="round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285999"/>
            <a:ext cx="640080" cy="502920"/>
          </a:xfrm>
          <a:prstGeom prst="rect">
            <a:avLst/>
          </a:prstGeom>
          <a:noFill/>
        </p:spPr>
        <p:txBody>
          <a:bodyPr wrap="square" anchor="t">
            <a:spAutoFit/>
          </a:bodyPr>
          <a:lstStyle/>
          <a:p>
            <a:pPr algn="ctr"/>
            <a:r>
              <a:rPr sz="2200" b="1" i="0">
                <a:solidFill>
                  <a:srgbClr val="FFFFFF"/>
                </a:solidFill>
                <a:latin typeface="Calibri"/>
              </a:rPr>
              <a:t>2</a:t>
            </a:r>
          </a:p>
        </p:txBody>
      </p:sp>
      <p:sp>
        <p:nvSpPr>
          <p:cNvPr id="15" name="Rectangle 14"/>
          <p:cNvSpPr/>
          <p:nvPr/>
        </p:nvSpPr>
        <p:spPr>
          <a:xfrm>
            <a:off x="841248" y="2889503"/>
            <a:ext cx="45720" cy="292607"/>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2231135"/>
            <a:ext cx="10058400" cy="411480"/>
          </a:xfrm>
          <a:prstGeom prst="rect">
            <a:avLst/>
          </a:prstGeom>
          <a:noFill/>
        </p:spPr>
        <p:txBody>
          <a:bodyPr wrap="square" anchor="t">
            <a:spAutoFit/>
          </a:bodyPr>
          <a:lstStyle/>
          <a:p>
            <a:pPr algn="l"/>
            <a:r>
              <a:rPr sz="1600" b="1" i="0">
                <a:solidFill>
                  <a:srgbClr val="0F4C5C"/>
                </a:solidFill>
                <a:latin typeface="Calibri"/>
              </a:rPr>
              <a:t>定起点</a:t>
            </a:r>
          </a:p>
        </p:txBody>
      </p:sp>
      <p:sp>
        <p:nvSpPr>
          <p:cNvPr id="17" name="TextBox 16"/>
          <p:cNvSpPr txBox="1"/>
          <p:nvPr/>
        </p:nvSpPr>
        <p:spPr>
          <a:xfrm>
            <a:off x="1417320" y="2596895"/>
            <a:ext cx="10058400" cy="585215"/>
          </a:xfrm>
          <a:prstGeom prst="rect">
            <a:avLst/>
          </a:prstGeom>
          <a:noFill/>
        </p:spPr>
        <p:txBody>
          <a:bodyPr wrap="square" anchor="t">
            <a:spAutoFit/>
          </a:bodyPr>
          <a:lstStyle/>
          <a:p>
            <a:pPr algn="l"/>
            <a:r>
              <a:rPr sz="1350" b="0" i="0">
                <a:solidFill>
                  <a:srgbClr val="556075"/>
                </a:solidFill>
                <a:latin typeface="Calibri"/>
              </a:rPr>
              <a:t>录音说"As you enter/from the entrance"→铅笔放到✱</a:t>
            </a:r>
          </a:p>
        </p:txBody>
      </p:sp>
      <p:sp>
        <p:nvSpPr>
          <p:cNvPr id="18" name="Rounded Rectangle 17"/>
          <p:cNvSpPr/>
          <p:nvPr/>
        </p:nvSpPr>
        <p:spPr>
          <a:xfrm>
            <a:off x="548640" y="3182111"/>
            <a:ext cx="640080" cy="640080"/>
          </a:xfrm>
          <a:prstGeom prst="round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236975"/>
            <a:ext cx="640080" cy="502920"/>
          </a:xfrm>
          <a:prstGeom prst="rect">
            <a:avLst/>
          </a:prstGeom>
          <a:noFill/>
        </p:spPr>
        <p:txBody>
          <a:bodyPr wrap="square" anchor="t">
            <a:spAutoFit/>
          </a:bodyPr>
          <a:lstStyle/>
          <a:p>
            <a:pPr algn="ctr"/>
            <a:r>
              <a:rPr sz="2200" b="1" i="0">
                <a:solidFill>
                  <a:srgbClr val="FFFFFF"/>
                </a:solidFill>
                <a:latin typeface="Calibri"/>
              </a:rPr>
              <a:t>3</a:t>
            </a:r>
          </a:p>
        </p:txBody>
      </p:sp>
      <p:sp>
        <p:nvSpPr>
          <p:cNvPr id="20" name="Rectangle 19"/>
          <p:cNvSpPr/>
          <p:nvPr/>
        </p:nvSpPr>
        <p:spPr>
          <a:xfrm>
            <a:off x="841248" y="3840479"/>
            <a:ext cx="45720" cy="292607"/>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17320" y="3182111"/>
            <a:ext cx="10058400" cy="411480"/>
          </a:xfrm>
          <a:prstGeom prst="rect">
            <a:avLst/>
          </a:prstGeom>
          <a:noFill/>
        </p:spPr>
        <p:txBody>
          <a:bodyPr wrap="square" anchor="t">
            <a:spAutoFit/>
          </a:bodyPr>
          <a:lstStyle/>
          <a:p>
            <a:pPr algn="l"/>
            <a:r>
              <a:rPr sz="1600" b="1" i="0">
                <a:solidFill>
                  <a:srgbClr val="0F4C5C"/>
                </a:solidFill>
                <a:latin typeface="Calibri"/>
              </a:rPr>
              <a:t>追路线</a:t>
            </a:r>
          </a:p>
        </p:txBody>
      </p:sp>
      <p:sp>
        <p:nvSpPr>
          <p:cNvPr id="22" name="TextBox 21"/>
          <p:cNvSpPr txBox="1"/>
          <p:nvPr/>
        </p:nvSpPr>
        <p:spPr>
          <a:xfrm>
            <a:off x="1417320" y="3547871"/>
            <a:ext cx="10058400" cy="585215"/>
          </a:xfrm>
          <a:prstGeom prst="rect">
            <a:avLst/>
          </a:prstGeom>
          <a:noFill/>
        </p:spPr>
        <p:txBody>
          <a:bodyPr wrap="square" anchor="t">
            <a:spAutoFit/>
          </a:bodyPr>
          <a:lstStyle/>
          <a:p>
            <a:pPr algn="l"/>
            <a:r>
              <a:rPr sz="1350" b="0" i="0">
                <a:solidFill>
                  <a:srgbClr val="556075"/>
                </a:solidFill>
                <a:latin typeface="Calibri"/>
              </a:rPr>
              <a:t>每听到方向词→铅笔移动；一步一步，不跳跃</a:t>
            </a:r>
          </a:p>
        </p:txBody>
      </p:sp>
      <p:sp>
        <p:nvSpPr>
          <p:cNvPr id="23" name="Rounded Rectangle 22"/>
          <p:cNvSpPr/>
          <p:nvPr/>
        </p:nvSpPr>
        <p:spPr>
          <a:xfrm>
            <a:off x="548640" y="4133087"/>
            <a:ext cx="640080" cy="640080"/>
          </a:xfrm>
          <a:prstGeom prst="round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4187951"/>
            <a:ext cx="640080" cy="502920"/>
          </a:xfrm>
          <a:prstGeom prst="rect">
            <a:avLst/>
          </a:prstGeom>
          <a:noFill/>
        </p:spPr>
        <p:txBody>
          <a:bodyPr wrap="square" anchor="t">
            <a:spAutoFit/>
          </a:bodyPr>
          <a:lstStyle/>
          <a:p>
            <a:pPr algn="ctr"/>
            <a:r>
              <a:rPr sz="2200" b="1" i="0">
                <a:solidFill>
                  <a:srgbClr val="FFFFFF"/>
                </a:solidFill>
                <a:latin typeface="Calibri"/>
              </a:rPr>
              <a:t>4</a:t>
            </a:r>
          </a:p>
        </p:txBody>
      </p:sp>
      <p:sp>
        <p:nvSpPr>
          <p:cNvPr id="25" name="Rectangle 24"/>
          <p:cNvSpPr/>
          <p:nvPr/>
        </p:nvSpPr>
        <p:spPr>
          <a:xfrm>
            <a:off x="841248" y="4791455"/>
            <a:ext cx="45720" cy="292607"/>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417320" y="4133087"/>
            <a:ext cx="10058400" cy="411480"/>
          </a:xfrm>
          <a:prstGeom prst="rect">
            <a:avLst/>
          </a:prstGeom>
          <a:noFill/>
        </p:spPr>
        <p:txBody>
          <a:bodyPr wrap="square" anchor="t">
            <a:spAutoFit/>
          </a:bodyPr>
          <a:lstStyle/>
          <a:p>
            <a:pPr algn="l"/>
            <a:r>
              <a:rPr sz="1600" b="1" i="0">
                <a:solidFill>
                  <a:srgbClr val="0F4C5C"/>
                </a:solidFill>
                <a:latin typeface="Calibri"/>
              </a:rPr>
              <a:t>标答案</a:t>
            </a:r>
          </a:p>
        </p:txBody>
      </p:sp>
      <p:sp>
        <p:nvSpPr>
          <p:cNvPr id="27" name="TextBox 26"/>
          <p:cNvSpPr txBox="1"/>
          <p:nvPr/>
        </p:nvSpPr>
        <p:spPr>
          <a:xfrm>
            <a:off x="1417320" y="4498848"/>
            <a:ext cx="10058400" cy="585215"/>
          </a:xfrm>
          <a:prstGeom prst="rect">
            <a:avLst/>
          </a:prstGeom>
          <a:noFill/>
        </p:spPr>
        <p:txBody>
          <a:bodyPr wrap="square" anchor="t">
            <a:spAutoFit/>
          </a:bodyPr>
          <a:lstStyle/>
          <a:p>
            <a:pPr algn="l"/>
            <a:r>
              <a:rPr sz="1350" b="0" i="0">
                <a:solidFill>
                  <a:srgbClr val="556075"/>
                </a:solidFill>
                <a:latin typeface="Calibri"/>
              </a:rPr>
              <a:t>说出设施名时→立即在铅笔位置写题目答案字母</a:t>
            </a:r>
          </a:p>
        </p:txBody>
      </p:sp>
      <p:sp>
        <p:nvSpPr>
          <p:cNvPr id="28" name="Rounded Rectangle 27"/>
          <p:cNvSpPr/>
          <p:nvPr/>
        </p:nvSpPr>
        <p:spPr>
          <a:xfrm>
            <a:off x="548640" y="5084063"/>
            <a:ext cx="640080" cy="640080"/>
          </a:xfrm>
          <a:prstGeom prst="round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5138927"/>
            <a:ext cx="640080" cy="502920"/>
          </a:xfrm>
          <a:prstGeom prst="rect">
            <a:avLst/>
          </a:prstGeom>
          <a:noFill/>
        </p:spPr>
        <p:txBody>
          <a:bodyPr wrap="square" anchor="t">
            <a:spAutoFit/>
          </a:bodyPr>
          <a:lstStyle/>
          <a:p>
            <a:pPr algn="ctr"/>
            <a:r>
              <a:rPr sz="2200" b="1" i="0">
                <a:solidFill>
                  <a:srgbClr val="FFFFFF"/>
                </a:solidFill>
                <a:latin typeface="Calibri"/>
              </a:rPr>
              <a:t>5</a:t>
            </a:r>
          </a:p>
        </p:txBody>
      </p:sp>
      <p:sp>
        <p:nvSpPr>
          <p:cNvPr id="30" name="TextBox 29"/>
          <p:cNvSpPr txBox="1"/>
          <p:nvPr/>
        </p:nvSpPr>
        <p:spPr>
          <a:xfrm>
            <a:off x="1417320" y="5084063"/>
            <a:ext cx="10058400" cy="411480"/>
          </a:xfrm>
          <a:prstGeom prst="rect">
            <a:avLst/>
          </a:prstGeom>
          <a:noFill/>
        </p:spPr>
        <p:txBody>
          <a:bodyPr wrap="square" anchor="t">
            <a:spAutoFit/>
          </a:bodyPr>
          <a:lstStyle/>
          <a:p>
            <a:pPr algn="l"/>
            <a:r>
              <a:rPr sz="1600" b="1" i="0">
                <a:solidFill>
                  <a:srgbClr val="0F4C5C"/>
                </a:solidFill>
                <a:latin typeface="Calibri"/>
              </a:rPr>
              <a:t>验证</a:t>
            </a:r>
          </a:p>
        </p:txBody>
      </p:sp>
      <p:sp>
        <p:nvSpPr>
          <p:cNvPr id="31" name="TextBox 30"/>
          <p:cNvSpPr txBox="1"/>
          <p:nvPr/>
        </p:nvSpPr>
        <p:spPr>
          <a:xfrm>
            <a:off x="1417320" y="5449823"/>
            <a:ext cx="10058400" cy="585215"/>
          </a:xfrm>
          <a:prstGeom prst="rect">
            <a:avLst/>
          </a:prstGeom>
          <a:noFill/>
        </p:spPr>
        <p:txBody>
          <a:bodyPr wrap="square" anchor="t">
            <a:spAutoFit/>
          </a:bodyPr>
          <a:lstStyle/>
          <a:p>
            <a:pPr algn="l"/>
            <a:r>
              <a:rPr sz="1350" b="0" i="0">
                <a:solidFill>
                  <a:srgbClr val="556075"/>
                </a:solidFill>
                <a:latin typeface="Calibri"/>
              </a:rPr>
              <a:t>全部标完：检查地图每个位置是否合理、有无遗漏</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方法步骤</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匹配题满分5步操作</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280160"/>
            <a:ext cx="640080" cy="640080"/>
          </a:xfrm>
          <a:prstGeom prst="round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335024"/>
            <a:ext cx="640080" cy="502920"/>
          </a:xfrm>
          <a:prstGeom prst="rect">
            <a:avLst/>
          </a:prstGeom>
          <a:noFill/>
        </p:spPr>
        <p:txBody>
          <a:bodyPr wrap="square" anchor="t">
            <a:spAutoFit/>
          </a:bodyPr>
          <a:lstStyle/>
          <a:p>
            <a:pPr algn="ctr"/>
            <a:r>
              <a:rPr sz="2200" b="1" i="0">
                <a:solidFill>
                  <a:srgbClr val="FFFFFF"/>
                </a:solidFill>
                <a:latin typeface="Calibri"/>
              </a:rPr>
              <a:t>1</a:t>
            </a:r>
          </a:p>
        </p:txBody>
      </p:sp>
      <p:sp>
        <p:nvSpPr>
          <p:cNvPr id="10" name="Rectangle 9"/>
          <p:cNvSpPr/>
          <p:nvPr/>
        </p:nvSpPr>
        <p:spPr>
          <a:xfrm>
            <a:off x="841248" y="1938528"/>
            <a:ext cx="45720" cy="292607"/>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17320" y="1280160"/>
            <a:ext cx="10058400" cy="411480"/>
          </a:xfrm>
          <a:prstGeom prst="rect">
            <a:avLst/>
          </a:prstGeom>
          <a:noFill/>
        </p:spPr>
        <p:txBody>
          <a:bodyPr wrap="square" anchor="t">
            <a:spAutoFit/>
          </a:bodyPr>
          <a:lstStyle/>
          <a:p>
            <a:pPr algn="l"/>
            <a:r>
              <a:rPr sz="1600" b="1" i="0">
                <a:solidFill>
                  <a:srgbClr val="0F4C5C"/>
                </a:solidFill>
                <a:latin typeface="Calibri"/>
              </a:rPr>
              <a:t>预读选项</a:t>
            </a:r>
          </a:p>
        </p:txBody>
      </p:sp>
      <p:sp>
        <p:nvSpPr>
          <p:cNvPr id="12" name="TextBox 11"/>
          <p:cNvSpPr txBox="1"/>
          <p:nvPr/>
        </p:nvSpPr>
        <p:spPr>
          <a:xfrm>
            <a:off x="1417320" y="1645919"/>
            <a:ext cx="10058400" cy="585215"/>
          </a:xfrm>
          <a:prstGeom prst="rect">
            <a:avLst/>
          </a:prstGeom>
          <a:noFill/>
        </p:spPr>
        <p:txBody>
          <a:bodyPr wrap="square" anchor="t">
            <a:spAutoFit/>
          </a:bodyPr>
          <a:lstStyle/>
          <a:p>
            <a:pPr algn="l"/>
            <a:r>
              <a:rPr sz="1350" b="0" i="0">
                <a:solidFill>
                  <a:srgbClr val="556075"/>
                </a:solidFill>
                <a:latin typeface="Calibri"/>
              </a:rPr>
              <a:t>在录音开始前，A→H逐个圈关键词；每选项≤3秒</a:t>
            </a:r>
          </a:p>
        </p:txBody>
      </p:sp>
      <p:sp>
        <p:nvSpPr>
          <p:cNvPr id="13" name="Rounded Rectangle 12"/>
          <p:cNvSpPr/>
          <p:nvPr/>
        </p:nvSpPr>
        <p:spPr>
          <a:xfrm>
            <a:off x="548640" y="2231135"/>
            <a:ext cx="640080" cy="640080"/>
          </a:xfrm>
          <a:prstGeom prst="round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285999"/>
            <a:ext cx="640080" cy="502920"/>
          </a:xfrm>
          <a:prstGeom prst="rect">
            <a:avLst/>
          </a:prstGeom>
          <a:noFill/>
        </p:spPr>
        <p:txBody>
          <a:bodyPr wrap="square" anchor="t">
            <a:spAutoFit/>
          </a:bodyPr>
          <a:lstStyle/>
          <a:p>
            <a:pPr algn="ctr"/>
            <a:r>
              <a:rPr sz="2200" b="1" i="0">
                <a:solidFill>
                  <a:srgbClr val="FFFFFF"/>
                </a:solidFill>
                <a:latin typeface="Calibri"/>
              </a:rPr>
              <a:t>2</a:t>
            </a:r>
          </a:p>
        </p:txBody>
      </p:sp>
      <p:sp>
        <p:nvSpPr>
          <p:cNvPr id="15" name="Rectangle 14"/>
          <p:cNvSpPr/>
          <p:nvPr/>
        </p:nvSpPr>
        <p:spPr>
          <a:xfrm>
            <a:off x="841248" y="2889503"/>
            <a:ext cx="45720" cy="292607"/>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2231135"/>
            <a:ext cx="10058400" cy="411480"/>
          </a:xfrm>
          <a:prstGeom prst="rect">
            <a:avLst/>
          </a:prstGeom>
          <a:noFill/>
        </p:spPr>
        <p:txBody>
          <a:bodyPr wrap="square" anchor="t">
            <a:spAutoFit/>
          </a:bodyPr>
          <a:lstStyle/>
          <a:p>
            <a:pPr algn="l"/>
            <a:r>
              <a:rPr sz="1600" b="1" i="0">
                <a:solidFill>
                  <a:srgbClr val="0F4C5C"/>
                </a:solidFill>
                <a:latin typeface="Calibri"/>
              </a:rPr>
              <a:t>建词库</a:t>
            </a:r>
          </a:p>
        </p:txBody>
      </p:sp>
      <p:sp>
        <p:nvSpPr>
          <p:cNvPr id="17" name="TextBox 16"/>
          <p:cNvSpPr txBox="1"/>
          <p:nvPr/>
        </p:nvSpPr>
        <p:spPr>
          <a:xfrm>
            <a:off x="1417320" y="2596895"/>
            <a:ext cx="10058400" cy="585215"/>
          </a:xfrm>
          <a:prstGeom prst="rect">
            <a:avLst/>
          </a:prstGeom>
          <a:noFill/>
        </p:spPr>
        <p:txBody>
          <a:bodyPr wrap="square" anchor="t">
            <a:spAutoFit/>
          </a:bodyPr>
          <a:lstStyle/>
          <a:p>
            <a:pPr algn="l"/>
            <a:r>
              <a:rPr sz="1350" b="0" i="0">
                <a:solidFill>
                  <a:srgbClr val="556075"/>
                </a:solidFill>
                <a:latin typeface="Calibri"/>
              </a:rPr>
              <a:t>脑中记住：A=free, B=renovated, C=booking...</a:t>
            </a:r>
          </a:p>
        </p:txBody>
      </p:sp>
      <p:sp>
        <p:nvSpPr>
          <p:cNvPr id="18" name="Rounded Rectangle 17"/>
          <p:cNvSpPr/>
          <p:nvPr/>
        </p:nvSpPr>
        <p:spPr>
          <a:xfrm>
            <a:off x="548640" y="3182111"/>
            <a:ext cx="640080" cy="640080"/>
          </a:xfrm>
          <a:prstGeom prst="round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236975"/>
            <a:ext cx="640080" cy="502920"/>
          </a:xfrm>
          <a:prstGeom prst="rect">
            <a:avLst/>
          </a:prstGeom>
          <a:noFill/>
        </p:spPr>
        <p:txBody>
          <a:bodyPr wrap="square" anchor="t">
            <a:spAutoFit/>
          </a:bodyPr>
          <a:lstStyle/>
          <a:p>
            <a:pPr algn="ctr"/>
            <a:r>
              <a:rPr sz="2200" b="1" i="0">
                <a:solidFill>
                  <a:srgbClr val="FFFFFF"/>
                </a:solidFill>
                <a:latin typeface="Calibri"/>
              </a:rPr>
              <a:t>3</a:t>
            </a:r>
          </a:p>
        </p:txBody>
      </p:sp>
      <p:sp>
        <p:nvSpPr>
          <p:cNvPr id="20" name="Rectangle 19"/>
          <p:cNvSpPr/>
          <p:nvPr/>
        </p:nvSpPr>
        <p:spPr>
          <a:xfrm>
            <a:off x="841248" y="3840479"/>
            <a:ext cx="45720" cy="292607"/>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17320" y="3182111"/>
            <a:ext cx="10058400" cy="411480"/>
          </a:xfrm>
          <a:prstGeom prst="rect">
            <a:avLst/>
          </a:prstGeom>
          <a:noFill/>
        </p:spPr>
        <p:txBody>
          <a:bodyPr wrap="square" anchor="t">
            <a:spAutoFit/>
          </a:bodyPr>
          <a:lstStyle/>
          <a:p>
            <a:pPr algn="l"/>
            <a:r>
              <a:rPr sz="1600" b="1" i="0">
                <a:solidFill>
                  <a:srgbClr val="0F4C5C"/>
                </a:solidFill>
                <a:latin typeface="Calibri"/>
              </a:rPr>
              <a:t>听到设施名</a:t>
            </a:r>
          </a:p>
        </p:txBody>
      </p:sp>
      <p:sp>
        <p:nvSpPr>
          <p:cNvPr id="22" name="TextBox 21"/>
          <p:cNvSpPr txBox="1"/>
          <p:nvPr/>
        </p:nvSpPr>
        <p:spPr>
          <a:xfrm>
            <a:off x="1417320" y="3547871"/>
            <a:ext cx="10058400" cy="585215"/>
          </a:xfrm>
          <a:prstGeom prst="rect">
            <a:avLst/>
          </a:prstGeom>
          <a:noFill/>
        </p:spPr>
        <p:txBody>
          <a:bodyPr wrap="square" anchor="t">
            <a:spAutoFit/>
          </a:bodyPr>
          <a:lstStyle/>
          <a:p>
            <a:pPr algn="l"/>
            <a:r>
              <a:rPr sz="1350" b="0" i="0">
                <a:solidFill>
                  <a:srgbClr val="556075"/>
                </a:solidFill>
                <a:latin typeface="Calibri"/>
              </a:rPr>
              <a:t>立即在脑中激活词库；等说话人描述该设施</a:t>
            </a:r>
          </a:p>
        </p:txBody>
      </p:sp>
      <p:sp>
        <p:nvSpPr>
          <p:cNvPr id="23" name="Rounded Rectangle 22"/>
          <p:cNvSpPr/>
          <p:nvPr/>
        </p:nvSpPr>
        <p:spPr>
          <a:xfrm>
            <a:off x="548640" y="4133087"/>
            <a:ext cx="640080" cy="640080"/>
          </a:xfrm>
          <a:prstGeom prst="round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4187951"/>
            <a:ext cx="640080" cy="502920"/>
          </a:xfrm>
          <a:prstGeom prst="rect">
            <a:avLst/>
          </a:prstGeom>
          <a:noFill/>
        </p:spPr>
        <p:txBody>
          <a:bodyPr wrap="square" anchor="t">
            <a:spAutoFit/>
          </a:bodyPr>
          <a:lstStyle/>
          <a:p>
            <a:pPr algn="ctr"/>
            <a:r>
              <a:rPr sz="2200" b="1" i="0">
                <a:solidFill>
                  <a:srgbClr val="FFFFFF"/>
                </a:solidFill>
                <a:latin typeface="Calibri"/>
              </a:rPr>
              <a:t>4</a:t>
            </a:r>
          </a:p>
        </p:txBody>
      </p:sp>
      <p:sp>
        <p:nvSpPr>
          <p:cNvPr id="25" name="Rectangle 24"/>
          <p:cNvSpPr/>
          <p:nvPr/>
        </p:nvSpPr>
        <p:spPr>
          <a:xfrm>
            <a:off x="841248" y="4791455"/>
            <a:ext cx="45720" cy="292607"/>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417320" y="4133087"/>
            <a:ext cx="10058400" cy="411480"/>
          </a:xfrm>
          <a:prstGeom prst="rect">
            <a:avLst/>
          </a:prstGeom>
          <a:noFill/>
        </p:spPr>
        <p:txBody>
          <a:bodyPr wrap="square" anchor="t">
            <a:spAutoFit/>
          </a:bodyPr>
          <a:lstStyle/>
          <a:p>
            <a:pPr algn="l"/>
            <a:r>
              <a:rPr sz="1600" b="1" i="0">
                <a:solidFill>
                  <a:srgbClr val="0F4C5C"/>
                </a:solidFill>
                <a:latin typeface="Calibri"/>
              </a:rPr>
              <a:t>匹配关键词</a:t>
            </a:r>
          </a:p>
        </p:txBody>
      </p:sp>
      <p:sp>
        <p:nvSpPr>
          <p:cNvPr id="27" name="TextBox 26"/>
          <p:cNvSpPr txBox="1"/>
          <p:nvPr/>
        </p:nvSpPr>
        <p:spPr>
          <a:xfrm>
            <a:off x="1417320" y="4498848"/>
            <a:ext cx="10058400" cy="585215"/>
          </a:xfrm>
          <a:prstGeom prst="rect">
            <a:avLst/>
          </a:prstGeom>
          <a:noFill/>
        </p:spPr>
        <p:txBody>
          <a:bodyPr wrap="square" anchor="t">
            <a:spAutoFit/>
          </a:bodyPr>
          <a:lstStyle/>
          <a:p>
            <a:pPr algn="l"/>
            <a:r>
              <a:rPr sz="1350" b="0" i="0">
                <a:solidFill>
                  <a:srgbClr val="556075"/>
                </a:solidFill>
                <a:latin typeface="Calibri"/>
              </a:rPr>
              <a:t>听到"refurbished"→匹配→B(renovated) → 写B</a:t>
            </a:r>
          </a:p>
        </p:txBody>
      </p:sp>
      <p:sp>
        <p:nvSpPr>
          <p:cNvPr id="28" name="Rounded Rectangle 27"/>
          <p:cNvSpPr/>
          <p:nvPr/>
        </p:nvSpPr>
        <p:spPr>
          <a:xfrm>
            <a:off x="548640" y="5084063"/>
            <a:ext cx="640080" cy="640080"/>
          </a:xfrm>
          <a:prstGeom prst="round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5138927"/>
            <a:ext cx="640080" cy="502920"/>
          </a:xfrm>
          <a:prstGeom prst="rect">
            <a:avLst/>
          </a:prstGeom>
          <a:noFill/>
        </p:spPr>
        <p:txBody>
          <a:bodyPr wrap="square" anchor="t">
            <a:spAutoFit/>
          </a:bodyPr>
          <a:lstStyle/>
          <a:p>
            <a:pPr algn="ctr"/>
            <a:r>
              <a:rPr sz="2200" b="1" i="0">
                <a:solidFill>
                  <a:srgbClr val="FFFFFF"/>
                </a:solidFill>
                <a:latin typeface="Calibri"/>
              </a:rPr>
              <a:t>5</a:t>
            </a:r>
          </a:p>
        </p:txBody>
      </p:sp>
      <p:sp>
        <p:nvSpPr>
          <p:cNvPr id="30" name="TextBox 29"/>
          <p:cNvSpPr txBox="1"/>
          <p:nvPr/>
        </p:nvSpPr>
        <p:spPr>
          <a:xfrm>
            <a:off x="1417320" y="5084063"/>
            <a:ext cx="10058400" cy="411480"/>
          </a:xfrm>
          <a:prstGeom prst="rect">
            <a:avLst/>
          </a:prstGeom>
          <a:noFill/>
        </p:spPr>
        <p:txBody>
          <a:bodyPr wrap="square" anchor="t">
            <a:spAutoFit/>
          </a:bodyPr>
          <a:lstStyle/>
          <a:p>
            <a:pPr algn="l"/>
            <a:r>
              <a:rPr sz="1600" b="1" i="0">
                <a:solidFill>
                  <a:srgbClr val="0F4C5C"/>
                </a:solidFill>
                <a:latin typeface="Calibri"/>
              </a:rPr>
              <a:t>验证整句</a:t>
            </a:r>
          </a:p>
        </p:txBody>
      </p:sp>
      <p:sp>
        <p:nvSpPr>
          <p:cNvPr id="31" name="TextBox 30"/>
          <p:cNvSpPr txBox="1"/>
          <p:nvPr/>
        </p:nvSpPr>
        <p:spPr>
          <a:xfrm>
            <a:off x="1417320" y="5449823"/>
            <a:ext cx="10058400" cy="585215"/>
          </a:xfrm>
          <a:prstGeom prst="rect">
            <a:avLst/>
          </a:prstGeom>
          <a:noFill/>
        </p:spPr>
        <p:txBody>
          <a:bodyPr wrap="square" anchor="t">
            <a:spAutoFit/>
          </a:bodyPr>
          <a:lstStyle/>
          <a:p>
            <a:pPr algn="l"/>
            <a:r>
              <a:rPr sz="1350" b="0" i="0">
                <a:solidFill>
                  <a:srgbClr val="556075"/>
                </a:solidFill>
                <a:latin typeface="Calibri"/>
              </a:rPr>
              <a:t>写完后确认：整句话是否支持选项含义？有否定词吗？</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高分范例</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S2地图题满分追踪示范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ectangle 7"/>
          <p:cNvSpPr/>
          <p:nvPr/>
        </p:nvSpPr>
        <p:spPr>
          <a:xfrm>
            <a:off x="548640" y="1188720"/>
            <a:ext cx="11064240" cy="384048"/>
          </a:xfrm>
          <a:prstGeom prst="rect">
            <a:avLst/>
          </a:prstGeom>
          <a:solidFill>
            <a:srgbClr val="072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207008"/>
            <a:ext cx="10789920" cy="347472"/>
          </a:xfrm>
          <a:prstGeom prst="rect">
            <a:avLst/>
          </a:prstGeom>
          <a:noFill/>
        </p:spPr>
        <p:txBody>
          <a:bodyPr wrap="square" anchor="ctr">
            <a:spAutoFit/>
          </a:bodyPr>
          <a:lstStyle/>
          <a:p>
            <a:pPr algn="l"/>
            <a:r>
              <a:rPr sz="1200" b="1" i="0">
                <a:solidFill>
                  <a:srgbClr val="FFFFFF"/>
                </a:solidFill>
                <a:latin typeface="Calibri"/>
              </a:rPr>
              <a:t>题目：Riverside Park Map — Label A-E</a:t>
            </a:r>
          </a:p>
        </p:txBody>
      </p:sp>
      <p:sp>
        <p:nvSpPr>
          <p:cNvPr id="10" name="Rounded Rectangle 9"/>
          <p:cNvSpPr/>
          <p:nvPr/>
        </p:nvSpPr>
        <p:spPr>
          <a:xfrm>
            <a:off x="548640" y="1783080"/>
            <a:ext cx="7040880" cy="416052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20240"/>
            <a:ext cx="6629400" cy="3977639"/>
          </a:xfrm>
          <a:prstGeom prst="rect">
            <a:avLst/>
          </a:prstGeom>
          <a:noFill/>
        </p:spPr>
        <p:txBody>
          <a:bodyPr wrap="square">
            <a:spAutoFit/>
          </a:bodyPr>
          <a:lstStyle/>
          <a:p>
            <a:r>
              <a:rPr sz="1300">
                <a:solidFill>
                  <a:srgbClr val="1E293B"/>
                </a:solidFill>
              </a:rPr>
              <a:t>追踪笔记（边听边画箭头）：
✱ENTRANCE → ↑直走 → 正前=Info Centre → Q11=B
← 左转 → 20m → 左侧第一间=Café → Q12=D
↑ 继续走 → 右侧=Gift Shop → Q13=A
← 左转走到尽头 → 右边=Toilets → Q14=C
← 返回走廊 → 左边最后=Storage → Q15=E</a:t>
            </a:r>
          </a:p>
        </p:txBody>
      </p:sp>
      <p:sp>
        <p:nvSpPr>
          <p:cNvPr id="12" name="TextBox 11"/>
          <p:cNvSpPr txBox="1"/>
          <p:nvPr/>
        </p:nvSpPr>
        <p:spPr>
          <a:xfrm>
            <a:off x="7772400" y="1783080"/>
            <a:ext cx="3931920" cy="365760"/>
          </a:xfrm>
          <a:prstGeom prst="rect">
            <a:avLst/>
          </a:prstGeom>
          <a:noFill/>
        </p:spPr>
        <p:txBody>
          <a:bodyPr wrap="square" anchor="t">
            <a:spAutoFit/>
          </a:bodyPr>
          <a:lstStyle/>
          <a:p>
            <a:pPr algn="l"/>
            <a:r>
              <a:rPr sz="1300" b="1" i="0">
                <a:solidFill>
                  <a:srgbClr val="12A594"/>
                </a:solidFill>
                <a:latin typeface="Calibri"/>
              </a:rPr>
              <a:t>✍ 得分点批注</a:t>
            </a:r>
          </a:p>
        </p:txBody>
      </p:sp>
      <p:sp>
        <p:nvSpPr>
          <p:cNvPr id="13" name="TextBox 12"/>
          <p:cNvSpPr txBox="1"/>
          <p:nvPr/>
        </p:nvSpPr>
        <p:spPr>
          <a:xfrm>
            <a:off x="7772400" y="2194560"/>
            <a:ext cx="3931920" cy="3703320"/>
          </a:xfrm>
          <a:prstGeom prst="rect">
            <a:avLst/>
          </a:prstGeom>
          <a:noFill/>
        </p:spPr>
        <p:txBody>
          <a:bodyPr wrap="square">
            <a:spAutoFit/>
          </a:bodyPr>
          <a:lstStyle/>
          <a:p>
            <a:r>
              <a:rPr sz="1200">
                <a:solidFill>
                  <a:srgbClr val="1E293B"/>
                </a:solidFill>
              </a:rPr>
              <a:t>▸ 每步只写箭头和字母，不写全名，节省时间</a:t>
            </a:r>
          </a:p>
          <a:p>
            <a:pPr>
              <a:spcBef>
                <a:spcPts val="700"/>
              </a:spcBef>
            </a:pPr>
            <a:r>
              <a:rPr sz="1200">
                <a:solidFill>
                  <a:srgbClr val="1E293B"/>
                </a:solidFill>
              </a:rPr>
              <a:t>▸ 跟丢了：找地图唯一空白位置，配下一题</a:t>
            </a:r>
          </a:p>
          <a:p>
            <a:pPr>
              <a:spcBef>
                <a:spcPts val="700"/>
              </a:spcBef>
            </a:pPr>
            <a:r>
              <a:rPr sz="1200">
                <a:solidFill>
                  <a:srgbClr val="1E293B"/>
                </a:solidFill>
              </a:rPr>
              <a:t>▸ 最后检查：每个字母用过一次，无重复</a:t>
            </a:r>
          </a:p>
          <a:p>
            <a:pPr>
              <a:spcBef>
                <a:spcPts val="700"/>
              </a:spcBef>
            </a:pPr>
            <a:r>
              <a:rPr sz="1200">
                <a:solidFill>
                  <a:srgbClr val="1E293B"/>
                </a:solidFill>
              </a:rPr>
              <a:t>▸ 铅笔先标，誊写时再确认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高分范例</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S2匹配题满分示范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ectangle 7"/>
          <p:cNvSpPr/>
          <p:nvPr/>
        </p:nvSpPr>
        <p:spPr>
          <a:xfrm>
            <a:off x="548640" y="1188720"/>
            <a:ext cx="11064240" cy="384048"/>
          </a:xfrm>
          <a:prstGeom prst="rect">
            <a:avLst/>
          </a:prstGeom>
          <a:solidFill>
            <a:srgbClr val="072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207008"/>
            <a:ext cx="10789920" cy="347472"/>
          </a:xfrm>
          <a:prstGeom prst="rect">
            <a:avLst/>
          </a:prstGeom>
          <a:noFill/>
        </p:spPr>
        <p:txBody>
          <a:bodyPr wrap="square" anchor="ctr">
            <a:spAutoFit/>
          </a:bodyPr>
          <a:lstStyle/>
          <a:p>
            <a:pPr algn="l"/>
            <a:r>
              <a:rPr sz="1200" b="1" i="0">
                <a:solidFill>
                  <a:srgbClr val="FFFFFF"/>
                </a:solidFill>
                <a:latin typeface="Calibri"/>
              </a:rPr>
              <a:t>题目：Sports Centre Facilities (Q16-20, A-G)</a:t>
            </a:r>
          </a:p>
        </p:txBody>
      </p:sp>
      <p:sp>
        <p:nvSpPr>
          <p:cNvPr id="10" name="Rounded Rectangle 9"/>
          <p:cNvSpPr/>
          <p:nvPr/>
        </p:nvSpPr>
        <p:spPr>
          <a:xfrm>
            <a:off x="548640" y="1783080"/>
            <a:ext cx="7040880" cy="416052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20240"/>
            <a:ext cx="6629400" cy="3977639"/>
          </a:xfrm>
          <a:prstGeom prst="rect">
            <a:avLst/>
          </a:prstGeom>
          <a:noFill/>
        </p:spPr>
        <p:txBody>
          <a:bodyPr wrap="square">
            <a:spAutoFit/>
          </a:bodyPr>
          <a:lstStyle/>
          <a:p>
            <a:r>
              <a:rPr sz="1300">
                <a:solidFill>
                  <a:srgbClr val="1E293B"/>
                </a:solidFill>
              </a:rPr>
              <a:t>预读关键词库（30秒建立）：
A=free  B=booking  C=renovated  D=new  E=members  F=outdoor  G=24hrs
Q16Pool: "just been refurbished" → C(renovated ✓)
Q17Tennis: "exclusively for members" → E(members ✓)
Q18Library: "book at least a day in advance" → B(booking ✓)
Q19Courts: "situated in the open air" → F(outdoor ✓)
Q20Café: "undergoing renovation" → C? → 已用 → F(renovated)</a:t>
            </a:r>
          </a:p>
        </p:txBody>
      </p:sp>
      <p:sp>
        <p:nvSpPr>
          <p:cNvPr id="12" name="TextBox 11"/>
          <p:cNvSpPr txBox="1"/>
          <p:nvPr/>
        </p:nvSpPr>
        <p:spPr>
          <a:xfrm>
            <a:off x="7772400" y="1783080"/>
            <a:ext cx="3931920" cy="365760"/>
          </a:xfrm>
          <a:prstGeom prst="rect">
            <a:avLst/>
          </a:prstGeom>
          <a:noFill/>
        </p:spPr>
        <p:txBody>
          <a:bodyPr wrap="square" anchor="t">
            <a:spAutoFit/>
          </a:bodyPr>
          <a:lstStyle/>
          <a:p>
            <a:pPr algn="l"/>
            <a:r>
              <a:rPr sz="1300" b="1" i="0">
                <a:solidFill>
                  <a:srgbClr val="12A594"/>
                </a:solidFill>
                <a:latin typeface="Calibri"/>
              </a:rPr>
              <a:t>✍ 得分点批注</a:t>
            </a:r>
          </a:p>
        </p:txBody>
      </p:sp>
      <p:sp>
        <p:nvSpPr>
          <p:cNvPr id="13" name="TextBox 12"/>
          <p:cNvSpPr txBox="1"/>
          <p:nvPr/>
        </p:nvSpPr>
        <p:spPr>
          <a:xfrm>
            <a:off x="7772400" y="2194560"/>
            <a:ext cx="3931920" cy="3703320"/>
          </a:xfrm>
          <a:prstGeom prst="rect">
            <a:avLst/>
          </a:prstGeom>
          <a:noFill/>
        </p:spPr>
        <p:txBody>
          <a:bodyPr wrap="square">
            <a:spAutoFit/>
          </a:bodyPr>
          <a:lstStyle/>
          <a:p>
            <a:r>
              <a:rPr sz="1200">
                <a:solidFill>
                  <a:srgbClr val="1E293B"/>
                </a:solidFill>
              </a:rPr>
              <a:t>▸ 预读关键词库在30秒内建立——不靠考场现查</a:t>
            </a:r>
          </a:p>
          <a:p>
            <a:pPr>
              <a:spcBef>
                <a:spcPts val="700"/>
              </a:spcBef>
            </a:pPr>
            <a:r>
              <a:rPr sz="1200">
                <a:solidFill>
                  <a:srgbClr val="1E293B"/>
                </a:solidFill>
              </a:rPr>
              <a:t>▸ exclusively=members only; open air=outdoor——同义替换即时联想</a:t>
            </a:r>
          </a:p>
          <a:p>
            <a:pPr>
              <a:spcBef>
                <a:spcPts val="700"/>
              </a:spcBef>
            </a:pPr>
            <a:r>
              <a:rPr sz="1200">
                <a:solidFill>
                  <a:srgbClr val="1E293B"/>
                </a:solidFill>
              </a:rPr>
              <a:t>▸ Q20 Café在装修=renovated=C，但C已用于Pool——重新看选项</a:t>
            </a:r>
          </a:p>
          <a:p>
            <a:pPr>
              <a:spcBef>
                <a:spcPts val="700"/>
              </a:spcBef>
            </a:pPr>
            <a:r>
              <a:rPr sz="1200">
                <a:solidFill>
                  <a:srgbClr val="1E293B"/>
                </a:solidFill>
              </a:rPr>
              <a:t>▸ 全部填完：检查A-G每个只用一次（除多余项）</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对比示范</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地图题：跟丢 vs 满分</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ectangle 7"/>
          <p:cNvSpPr/>
          <p:nvPr/>
        </p:nvSpPr>
        <p:spPr>
          <a:xfrm>
            <a:off x="548640" y="1188720"/>
            <a:ext cx="5486400" cy="457200"/>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16152"/>
            <a:ext cx="5212080" cy="402336"/>
          </a:xfrm>
          <a:prstGeom prst="rect">
            <a:avLst/>
          </a:prstGeom>
          <a:noFill/>
        </p:spPr>
        <p:txBody>
          <a:bodyPr wrap="square" anchor="ctr">
            <a:spAutoFit/>
          </a:bodyPr>
          <a:lstStyle/>
          <a:p>
            <a:pPr algn="l"/>
            <a:r>
              <a:rPr sz="1400" b="1" i="0">
                <a:solidFill>
                  <a:srgbClr val="FFFFFF"/>
                </a:solidFill>
                <a:latin typeface="Calibri"/>
              </a:rPr>
              <a:t>❌ 跟丢的考生</a:t>
            </a:r>
          </a:p>
        </p:txBody>
      </p:sp>
      <p:sp>
        <p:nvSpPr>
          <p:cNvPr id="10" name="Rectangle 9"/>
          <p:cNvSpPr/>
          <p:nvPr/>
        </p:nvSpPr>
        <p:spPr>
          <a:xfrm>
            <a:off x="6172200" y="1188720"/>
            <a:ext cx="5486400" cy="4572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16152"/>
            <a:ext cx="5212080" cy="402336"/>
          </a:xfrm>
          <a:prstGeom prst="rect">
            <a:avLst/>
          </a:prstGeom>
          <a:noFill/>
        </p:spPr>
        <p:txBody>
          <a:bodyPr wrap="square" anchor="ctr">
            <a:spAutoFit/>
          </a:bodyPr>
          <a:lstStyle/>
          <a:p>
            <a:pPr algn="l"/>
            <a:r>
              <a:rPr sz="1400" b="1" i="0">
                <a:solidFill>
                  <a:srgbClr val="FFFFFF"/>
                </a:solidFill>
                <a:latin typeface="Calibri"/>
              </a:rPr>
              <a:t>✅ 满分的考生</a:t>
            </a:r>
          </a:p>
        </p:txBody>
      </p:sp>
      <p:sp>
        <p:nvSpPr>
          <p:cNvPr id="12" name="Rounded Rectangle 11"/>
          <p:cNvSpPr/>
          <p:nvPr/>
        </p:nvSpPr>
        <p:spPr>
          <a:xfrm>
            <a:off x="548640" y="1737360"/>
            <a:ext cx="5486400" cy="448056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737360"/>
            <a:ext cx="5486400" cy="4480560"/>
          </a:xfrm>
          <a:prstGeom prst="roundRect">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20240"/>
            <a:ext cx="5074920" cy="4114800"/>
          </a:xfrm>
          <a:prstGeom prst="rect">
            <a:avLst/>
          </a:prstGeom>
          <a:noFill/>
        </p:spPr>
        <p:txBody>
          <a:bodyPr wrap="square">
            <a:spAutoFit/>
          </a:bodyPr>
          <a:lstStyle/>
          <a:p>
            <a:r>
              <a:rPr sz="1350">
                <a:solidFill>
                  <a:srgbClr val="C02A2A"/>
                </a:solidFill>
              </a:rPr>
              <a:t>✗ 录音开始才低头找地图</a:t>
            </a:r>
          </a:p>
          <a:p>
            <a:pPr>
              <a:spcBef>
                <a:spcPts val="700"/>
              </a:spcBef>
            </a:pPr>
            <a:r>
              <a:rPr sz="1350">
                <a:solidFill>
                  <a:srgbClr val="C02A2A"/>
                </a:solidFill>
              </a:rPr>
              <a:t>✗ 方向词还没反应就过了</a:t>
            </a:r>
          </a:p>
          <a:p>
            <a:pPr>
              <a:spcBef>
                <a:spcPts val="700"/>
              </a:spcBef>
            </a:pPr>
            <a:r>
              <a:rPr sz="1350">
                <a:solidFill>
                  <a:srgbClr val="C02A2A"/>
                </a:solidFill>
              </a:rPr>
              <a:t>✗ 跟丢了整个地图题放弃</a:t>
            </a:r>
          </a:p>
          <a:p>
            <a:pPr>
              <a:spcBef>
                <a:spcPts val="700"/>
              </a:spcBef>
            </a:pPr>
            <a:r>
              <a:rPr sz="1350">
                <a:solidFill>
                  <a:srgbClr val="C02A2A"/>
                </a:solidFill>
              </a:rPr>
              <a:t>✗ 不确定就空着，全靠猜</a:t>
            </a:r>
          </a:p>
          <a:p>
            <a:pPr>
              <a:spcBef>
                <a:spcPts val="700"/>
              </a:spcBef>
            </a:pPr>
            <a:r>
              <a:rPr sz="1350">
                <a:solidFill>
                  <a:srgbClr val="C02A2A"/>
                </a:solidFill>
              </a:rPr>
              <a:t>✗ 答完没有检查位置合理性</a:t>
            </a:r>
          </a:p>
        </p:txBody>
      </p:sp>
      <p:sp>
        <p:nvSpPr>
          <p:cNvPr id="15" name="TextBox 14"/>
          <p:cNvSpPr txBox="1"/>
          <p:nvPr/>
        </p:nvSpPr>
        <p:spPr>
          <a:xfrm>
            <a:off x="6400800" y="1920240"/>
            <a:ext cx="5074920" cy="4114800"/>
          </a:xfrm>
          <a:prstGeom prst="rect">
            <a:avLst/>
          </a:prstGeom>
          <a:noFill/>
        </p:spPr>
        <p:txBody>
          <a:bodyPr wrap="square">
            <a:spAutoFit/>
          </a:bodyPr>
          <a:lstStyle/>
          <a:p>
            <a:r>
              <a:rPr sz="1350">
                <a:solidFill>
                  <a:srgbClr val="1B7A3D"/>
                </a:solidFill>
              </a:rPr>
              <a:t>✓ 说明时间已完成地图预读</a:t>
            </a:r>
          </a:p>
          <a:p>
            <a:pPr>
              <a:spcBef>
                <a:spcPts val="700"/>
              </a:spcBef>
            </a:pPr>
            <a:r>
              <a:rPr sz="1350">
                <a:solidFill>
                  <a:srgbClr val="1B7A3D"/>
                </a:solidFill>
              </a:rPr>
              <a:t>✓ 方位词触发条件反射，即时移动铅笔</a:t>
            </a:r>
          </a:p>
          <a:p>
            <a:pPr>
              <a:spcBef>
                <a:spcPts val="700"/>
              </a:spcBef>
            </a:pPr>
            <a:r>
              <a:rPr sz="1350">
                <a:solidFill>
                  <a:srgbClr val="1B7A3D"/>
                </a:solidFill>
              </a:rPr>
              <a:t>✓ 跟丢立即找下一个地标词重定位</a:t>
            </a:r>
          </a:p>
          <a:p>
            <a:pPr>
              <a:spcBef>
                <a:spcPts val="700"/>
              </a:spcBef>
            </a:pPr>
            <a:r>
              <a:rPr sz="1350">
                <a:solidFill>
                  <a:srgbClr val="1B7A3D"/>
                </a:solidFill>
              </a:rPr>
              <a:t>✓ 不确定先写候选，等更多信息确认</a:t>
            </a:r>
          </a:p>
          <a:p>
            <a:pPr>
              <a:spcBef>
                <a:spcPts val="700"/>
              </a:spcBef>
            </a:pPr>
            <a:r>
              <a:rPr sz="1350">
                <a:solidFill>
                  <a:srgbClr val="1B7A3D"/>
                </a:solidFill>
              </a:rPr>
              <a:t>✓ 全做完检查：位置是否都合理？</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对比示范</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匹配题：临时读选项 vs 预读建库</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ectangle 7"/>
          <p:cNvSpPr/>
          <p:nvPr/>
        </p:nvSpPr>
        <p:spPr>
          <a:xfrm>
            <a:off x="548640" y="1188720"/>
            <a:ext cx="5486400" cy="457200"/>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16152"/>
            <a:ext cx="5212080" cy="402336"/>
          </a:xfrm>
          <a:prstGeom prst="rect">
            <a:avLst/>
          </a:prstGeom>
          <a:noFill/>
        </p:spPr>
        <p:txBody>
          <a:bodyPr wrap="square" anchor="ctr">
            <a:spAutoFit/>
          </a:bodyPr>
          <a:lstStyle/>
          <a:p>
            <a:pPr algn="l"/>
            <a:r>
              <a:rPr sz="1400" b="1" i="0">
                <a:solidFill>
                  <a:srgbClr val="FFFFFF"/>
                </a:solidFill>
                <a:latin typeface="Calibri"/>
              </a:rPr>
              <a:t>❌ 临时读选项</a:t>
            </a:r>
          </a:p>
        </p:txBody>
      </p:sp>
      <p:sp>
        <p:nvSpPr>
          <p:cNvPr id="10" name="Rectangle 9"/>
          <p:cNvSpPr/>
          <p:nvPr/>
        </p:nvSpPr>
        <p:spPr>
          <a:xfrm>
            <a:off x="6172200" y="1188720"/>
            <a:ext cx="5486400" cy="4572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16152"/>
            <a:ext cx="5212080" cy="402336"/>
          </a:xfrm>
          <a:prstGeom prst="rect">
            <a:avLst/>
          </a:prstGeom>
          <a:noFill/>
        </p:spPr>
        <p:txBody>
          <a:bodyPr wrap="square" anchor="ctr">
            <a:spAutoFit/>
          </a:bodyPr>
          <a:lstStyle/>
          <a:p>
            <a:pPr algn="l"/>
            <a:r>
              <a:rPr sz="1400" b="1" i="0">
                <a:solidFill>
                  <a:srgbClr val="FFFFFF"/>
                </a:solidFill>
                <a:latin typeface="Calibri"/>
              </a:rPr>
              <a:t>✅ 预读建关键词库</a:t>
            </a:r>
          </a:p>
        </p:txBody>
      </p:sp>
      <p:sp>
        <p:nvSpPr>
          <p:cNvPr id="12" name="Rounded Rectangle 11"/>
          <p:cNvSpPr/>
          <p:nvPr/>
        </p:nvSpPr>
        <p:spPr>
          <a:xfrm>
            <a:off x="548640" y="1737360"/>
            <a:ext cx="5486400" cy="448056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737360"/>
            <a:ext cx="5486400" cy="4480560"/>
          </a:xfrm>
          <a:prstGeom prst="roundRect">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20240"/>
            <a:ext cx="5074920" cy="4114800"/>
          </a:xfrm>
          <a:prstGeom prst="rect">
            <a:avLst/>
          </a:prstGeom>
          <a:noFill/>
        </p:spPr>
        <p:txBody>
          <a:bodyPr wrap="square">
            <a:spAutoFit/>
          </a:bodyPr>
          <a:lstStyle/>
          <a:p>
            <a:r>
              <a:rPr sz="1350">
                <a:solidFill>
                  <a:srgbClr val="C02A2A"/>
                </a:solidFill>
              </a:rPr>
              <a:t>✗ Q16出来才开始读A选项</a:t>
            </a:r>
          </a:p>
          <a:p>
            <a:pPr>
              <a:spcBef>
                <a:spcPts val="700"/>
              </a:spcBef>
            </a:pPr>
            <a:r>
              <a:rPr sz="1350">
                <a:solidFill>
                  <a:srgbClr val="C02A2A"/>
                </a:solidFill>
              </a:rPr>
              <a:t>✗ 录音在说，眼睛在扫描选项</a:t>
            </a:r>
          </a:p>
          <a:p>
            <a:pPr>
              <a:spcBef>
                <a:spcPts val="700"/>
              </a:spcBef>
            </a:pPr>
            <a:r>
              <a:rPr sz="1350">
                <a:solidFill>
                  <a:srgbClr val="C02A2A"/>
                </a:solidFill>
              </a:rPr>
              <a:t>✗ 听到关键词来不及找对应选项</a:t>
            </a:r>
          </a:p>
          <a:p>
            <a:pPr>
              <a:spcBef>
                <a:spcPts val="700"/>
              </a:spcBef>
            </a:pPr>
            <a:r>
              <a:rPr sz="1350">
                <a:solidFill>
                  <a:srgbClr val="C02A2A"/>
                </a:solidFill>
              </a:rPr>
              <a:t>✗ 来回在题目和选项间切换视线</a:t>
            </a:r>
          </a:p>
          <a:p>
            <a:pPr>
              <a:spcBef>
                <a:spcPts val="700"/>
              </a:spcBef>
            </a:pPr>
            <a:r>
              <a:rPr sz="1350">
                <a:solidFill>
                  <a:srgbClr val="C02A2A"/>
                </a:solidFill>
              </a:rPr>
              <a:t>✗ 错过细节，最后凭感觉填</a:t>
            </a:r>
          </a:p>
        </p:txBody>
      </p:sp>
      <p:sp>
        <p:nvSpPr>
          <p:cNvPr id="15" name="TextBox 14"/>
          <p:cNvSpPr txBox="1"/>
          <p:nvPr/>
        </p:nvSpPr>
        <p:spPr>
          <a:xfrm>
            <a:off x="6400800" y="1920240"/>
            <a:ext cx="5074920" cy="4114800"/>
          </a:xfrm>
          <a:prstGeom prst="rect">
            <a:avLst/>
          </a:prstGeom>
          <a:noFill/>
        </p:spPr>
        <p:txBody>
          <a:bodyPr wrap="square">
            <a:spAutoFit/>
          </a:bodyPr>
          <a:lstStyle/>
          <a:p>
            <a:r>
              <a:rPr sz="1350">
                <a:solidFill>
                  <a:srgbClr val="1B7A3D"/>
                </a:solidFill>
              </a:rPr>
              <a:t>✓ 录音前已读完A-H，每个圈词</a:t>
            </a:r>
          </a:p>
          <a:p>
            <a:pPr>
              <a:spcBef>
                <a:spcPts val="700"/>
              </a:spcBef>
            </a:pPr>
            <a:r>
              <a:rPr sz="1350">
                <a:solidFill>
                  <a:srgbClr val="1B7A3D"/>
                </a:solidFill>
              </a:rPr>
              <a:t>✓ 脑中有词库，听时无需扫描</a:t>
            </a:r>
          </a:p>
          <a:p>
            <a:pPr>
              <a:spcBef>
                <a:spcPts val="700"/>
              </a:spcBef>
            </a:pPr>
            <a:r>
              <a:rPr sz="1350">
                <a:solidFill>
                  <a:srgbClr val="1B7A3D"/>
                </a:solidFill>
              </a:rPr>
              <a:t>✓ 听到"refurbished"→0.5秒定位选项</a:t>
            </a:r>
          </a:p>
          <a:p>
            <a:pPr>
              <a:spcBef>
                <a:spcPts val="700"/>
              </a:spcBef>
            </a:pPr>
            <a:r>
              <a:rPr sz="1350">
                <a:solidFill>
                  <a:srgbClr val="1B7A3D"/>
                </a:solidFill>
              </a:rPr>
              <a:t>✓ 眼睛只看题号，手写答案</a:t>
            </a:r>
          </a:p>
          <a:p>
            <a:pPr>
              <a:spcBef>
                <a:spcPts val="700"/>
              </a:spcBef>
            </a:pPr>
            <a:r>
              <a:rPr sz="1350">
                <a:solidFill>
                  <a:srgbClr val="1B7A3D"/>
                </a:solidFill>
              </a:rPr>
              <a:t>✓ 验证整句，确认无否定词后写</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2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12A594"/>
                </a:solidFill>
                <a:latin typeface="Calibri"/>
              </a:rPr>
              <a:t>PART 07</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课堂练习</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Practice Drills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练习1：方位词5秒闪认</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188720"/>
            <a:ext cx="11064240" cy="640080"/>
          </a:xfrm>
          <a:prstGeom prst="round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老师说方位词，学生立即在白纸上画空间示意图（5秒/题）</a:t>
            </a:r>
          </a:p>
        </p:txBody>
      </p:sp>
      <p:sp>
        <p:nvSpPr>
          <p:cNvPr id="10" name="TextBox 9"/>
          <p:cNvSpPr txBox="1"/>
          <p:nvPr/>
        </p:nvSpPr>
        <p:spPr>
          <a:xfrm>
            <a:off x="640080" y="2057400"/>
            <a:ext cx="10972800" cy="4206240"/>
          </a:xfrm>
          <a:prstGeom prst="rect">
            <a:avLst/>
          </a:prstGeom>
          <a:noFill/>
        </p:spPr>
        <p:txBody>
          <a:bodyPr wrap="square">
            <a:spAutoFit/>
          </a:bodyPr>
          <a:lstStyle/>
          <a:p>
            <a:r>
              <a:rPr sz="1500">
                <a:solidFill>
                  <a:srgbClr val="1E293B"/>
                </a:solidFill>
              </a:rPr>
              <a:t>▢ "The café is opposite the main entrance."→画出位置</a:t>
            </a:r>
          </a:p>
          <a:p>
            <a:pPr>
              <a:spcBef>
                <a:spcPts val="1100"/>
              </a:spcBef>
            </a:pPr>
            <a:r>
              <a:rPr sz="1500">
                <a:solidFill>
                  <a:srgbClr val="1E293B"/>
                </a:solidFill>
              </a:rPr>
              <a:t>▢ "Turn left, then take the second right, gym is at the end."→画路线</a:t>
            </a:r>
          </a:p>
          <a:p>
            <a:pPr>
              <a:spcBef>
                <a:spcPts val="1100"/>
              </a:spcBef>
            </a:pPr>
            <a:r>
              <a:rPr sz="1500">
                <a:solidFill>
                  <a:srgbClr val="1E293B"/>
                </a:solidFill>
              </a:rPr>
              <a:t>▢ "Adjacent to the library, just past the car park."→标注</a:t>
            </a:r>
          </a:p>
          <a:p>
            <a:pPr>
              <a:spcBef>
                <a:spcPts val="1100"/>
              </a:spcBef>
            </a:pPr>
            <a:r>
              <a:rPr sz="1500">
                <a:solidFill>
                  <a:srgbClr val="1E293B"/>
                </a:solidFill>
              </a:rPr>
              <a:t>▢ "Between the gym and the pool, facing the entrance."→标注</a:t>
            </a:r>
          </a:p>
          <a:p>
            <a:pPr>
              <a:spcBef>
                <a:spcPts val="1100"/>
              </a:spcBef>
            </a:pPr>
            <a:r>
              <a:rPr sz="1500">
                <a:solidFill>
                  <a:srgbClr val="1E293B"/>
                </a:solidFill>
              </a:rPr>
              <a:t>▢ "At the far end beyond the sports hall, on your right."→标注</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练习2：匹配题预读计时</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188720"/>
            <a:ext cx="11064240" cy="640080"/>
          </a:xfrm>
          <a:prstGeom prst="round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60秒完成以下8个选项的关键词圈划，并背住"字母=关键词"</a:t>
            </a:r>
          </a:p>
        </p:txBody>
      </p:sp>
      <p:sp>
        <p:nvSpPr>
          <p:cNvPr id="10" name="TextBox 9"/>
          <p:cNvSpPr txBox="1"/>
          <p:nvPr/>
        </p:nvSpPr>
        <p:spPr>
          <a:xfrm>
            <a:off x="640080" y="2057400"/>
            <a:ext cx="10972800" cy="4206240"/>
          </a:xfrm>
          <a:prstGeom prst="rect">
            <a:avLst/>
          </a:prstGeom>
          <a:noFill/>
        </p:spPr>
        <p:txBody>
          <a:bodyPr wrap="square">
            <a:spAutoFit/>
          </a:bodyPr>
          <a:lstStyle/>
          <a:p>
            <a:r>
              <a:rPr sz="1500">
                <a:solidFill>
                  <a:srgbClr val="1E293B"/>
                </a:solidFill>
              </a:rPr>
              <a:t>▢ A.free of charge  B.closed for maintenance  C.requires advance booking</a:t>
            </a:r>
          </a:p>
          <a:p>
            <a:pPr>
              <a:spcBef>
                <a:spcPts val="1100"/>
              </a:spcBef>
            </a:pPr>
            <a:r>
              <a:rPr sz="1500">
                <a:solidFill>
                  <a:srgbClr val="1E293B"/>
                </a:solidFill>
              </a:rPr>
              <a:t>▢ D.recently opened  E.exclusively for members  F.open on weekends only</a:t>
            </a:r>
          </a:p>
          <a:p>
            <a:pPr>
              <a:spcBef>
                <a:spcPts val="1100"/>
              </a:spcBef>
            </a:pPr>
            <a:r>
              <a:rPr sz="1500">
                <a:solidFill>
                  <a:srgbClr val="1E293B"/>
                </a:solidFill>
              </a:rPr>
              <a:t>▢ G.has parking facilities  H.offers discounts for seniors</a:t>
            </a:r>
          </a:p>
          <a:p>
            <a:pPr>
              <a:spcBef>
                <a:spcPts val="1100"/>
              </a:spcBef>
            </a:pPr>
            <a:r>
              <a:rPr sz="1500">
                <a:solidFill>
                  <a:srgbClr val="1E293B"/>
                </a:solidFill>
              </a:rPr>
              <a:t>▢ → 60秒后合上笔记，说出A=? B=? C=? D=? E=? F=? G=? H=?</a:t>
            </a:r>
          </a:p>
          <a:p>
            <a:pPr>
              <a:spcBef>
                <a:spcPts val="1100"/>
              </a:spcBef>
            </a:pPr>
            <a:r>
              <a:rPr sz="1500">
                <a:solidFill>
                  <a:srgbClr val="1E293B"/>
                </a:solidFill>
              </a:rPr>
              <a:t>▢ → 测试脑中词库是否建立完成</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练习3：信号词标注</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188720"/>
            <a:ext cx="11064240" cy="640080"/>
          </a:xfrm>
          <a:prstGeom prst="round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读以下段落，圈出所有话题转换信号词，并说出每段讲什么</a:t>
            </a:r>
          </a:p>
        </p:txBody>
      </p:sp>
      <p:sp>
        <p:nvSpPr>
          <p:cNvPr id="10" name="TextBox 9"/>
          <p:cNvSpPr txBox="1"/>
          <p:nvPr/>
        </p:nvSpPr>
        <p:spPr>
          <a:xfrm>
            <a:off x="640080" y="2057400"/>
            <a:ext cx="10972800" cy="4206240"/>
          </a:xfrm>
          <a:prstGeom prst="rect">
            <a:avLst/>
          </a:prstGeom>
          <a:noFill/>
        </p:spPr>
        <p:txBody>
          <a:bodyPr wrap="square">
            <a:spAutoFit/>
          </a:bodyPr>
          <a:lstStyle/>
          <a:p>
            <a:r>
              <a:rPr sz="1500">
                <a:solidFill>
                  <a:srgbClr val="1E293B"/>
                </a:solidFill>
              </a:rPr>
              <a:t>▢ "Good morning. Today I'd like to introduce our community centre."</a:t>
            </a:r>
          </a:p>
          <a:p>
            <a:pPr>
              <a:spcBef>
                <a:spcPts val="1100"/>
              </a:spcBef>
            </a:pPr>
            <a:r>
              <a:rPr sz="1500">
                <a:solidFill>
                  <a:srgbClr val="1E293B"/>
                </a:solidFill>
              </a:rPr>
              <a:t>▢ "Starting with the ground floor — we have a gym and a café."</a:t>
            </a:r>
          </a:p>
          <a:p>
            <a:pPr>
              <a:spcBef>
                <a:spcPts val="1100"/>
              </a:spcBef>
            </a:pPr>
            <a:r>
              <a:rPr sz="1500">
                <a:solidFill>
                  <a:srgbClr val="1E293B"/>
                </a:solidFill>
              </a:rPr>
              <a:t>▢ "Now, moving on to the first floor, you'll find four meeting rooms."</a:t>
            </a:r>
          </a:p>
          <a:p>
            <a:pPr>
              <a:spcBef>
                <a:spcPts val="1100"/>
              </a:spcBef>
            </a:pPr>
            <a:r>
              <a:rPr sz="1500">
                <a:solidFill>
                  <a:srgbClr val="1E293B"/>
                </a:solidFill>
              </a:rPr>
              <a:t>▢ "Before I finish, please note that the car park requires a permit."</a:t>
            </a:r>
          </a:p>
          <a:p>
            <a:pPr>
              <a:spcBef>
                <a:spcPts val="1100"/>
              </a:spcBef>
            </a:pPr>
            <a:r>
              <a:rPr sz="1500">
                <a:solidFill>
                  <a:srgbClr val="1E293B"/>
                </a:solidFill>
              </a:rPr>
              <a:t>▢ "Finally, I'd like to remind you to register online before Friday."</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练习4：地图追踪完整练习</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188720"/>
            <a:ext cx="11064240" cy="640080"/>
          </a:xfrm>
          <a:prstGeom prst="round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在白纸上画矩形建筑，底部中央标ENTRANCE，按口述追踪：</a:t>
            </a:r>
          </a:p>
        </p:txBody>
      </p:sp>
      <p:sp>
        <p:nvSpPr>
          <p:cNvPr id="10" name="TextBox 9"/>
          <p:cNvSpPr txBox="1"/>
          <p:nvPr/>
        </p:nvSpPr>
        <p:spPr>
          <a:xfrm>
            <a:off x="640080" y="2057400"/>
            <a:ext cx="10972800" cy="4206240"/>
          </a:xfrm>
          <a:prstGeom prst="rect">
            <a:avLst/>
          </a:prstGeom>
          <a:noFill/>
        </p:spPr>
        <p:txBody>
          <a:bodyPr wrap="square">
            <a:spAutoFit/>
          </a:bodyPr>
          <a:lstStyle/>
          <a:p>
            <a:r>
              <a:rPr sz="1500">
                <a:solidFill>
                  <a:srgbClr val="1E293B"/>
                </a:solidFill>
              </a:rPr>
              <a:t>▢ "Enter through the main doors. The reception is directly ahead."</a:t>
            </a:r>
          </a:p>
          <a:p>
            <a:pPr>
              <a:spcBef>
                <a:spcPts val="1100"/>
              </a:spcBef>
            </a:pPr>
            <a:r>
              <a:rPr sz="1500">
                <a:solidFill>
                  <a:srgbClr val="1E293B"/>
                </a:solidFill>
              </a:rPr>
              <a:t>▢ "Turn left at reception. The first room on your right is the gym."</a:t>
            </a:r>
          </a:p>
          <a:p>
            <a:pPr>
              <a:spcBef>
                <a:spcPts val="1100"/>
              </a:spcBef>
            </a:pPr>
            <a:r>
              <a:rPr sz="1500">
                <a:solidFill>
                  <a:srgbClr val="1E293B"/>
                </a:solidFill>
              </a:rPr>
              <a:t>▢ "Continue past the gym. The swimming pool is at the far end."</a:t>
            </a:r>
          </a:p>
          <a:p>
            <a:pPr>
              <a:spcBef>
                <a:spcPts val="1100"/>
              </a:spcBef>
            </a:pPr>
            <a:r>
              <a:rPr sz="1500">
                <a:solidFill>
                  <a:srgbClr val="1E293B"/>
                </a:solidFill>
              </a:rPr>
              <a:t>▢ "The changing rooms are opposite the swimming pool."</a:t>
            </a:r>
          </a:p>
          <a:p>
            <a:pPr>
              <a:spcBef>
                <a:spcPts val="1100"/>
              </a:spcBef>
            </a:pPr>
            <a:r>
              <a:rPr sz="1500">
                <a:solidFill>
                  <a:srgbClr val="1E293B"/>
                </a:solidFill>
              </a:rPr>
              <a:t>▢ "Back at reception, turn right. The café is the last room on your left."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练习5：S2综合模拟计时</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188720"/>
            <a:ext cx="11064240" cy="640080"/>
          </a:xfrm>
          <a:prstGeom prst="round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完整S2模拟：预读→答题→自检三阶段，老师计时</a:t>
            </a:r>
          </a:p>
        </p:txBody>
      </p:sp>
      <p:sp>
        <p:nvSpPr>
          <p:cNvPr id="10" name="TextBox 9"/>
          <p:cNvSpPr txBox="1"/>
          <p:nvPr/>
        </p:nvSpPr>
        <p:spPr>
          <a:xfrm>
            <a:off x="640080" y="2057400"/>
            <a:ext cx="10972800" cy="4206240"/>
          </a:xfrm>
          <a:prstGeom prst="rect">
            <a:avLst/>
          </a:prstGeom>
          <a:noFill/>
        </p:spPr>
        <p:txBody>
          <a:bodyPr wrap="square">
            <a:spAutoFit/>
          </a:bodyPr>
          <a:lstStyle/>
          <a:p>
            <a:r>
              <a:rPr sz="1500">
                <a:solidFill>
                  <a:srgbClr val="1E293B"/>
                </a:solidFill>
              </a:rPr>
              <a:t>▢ 第一阶段（30秒）：预读Q11-20，圈选项关键词，标地图起点</a:t>
            </a:r>
          </a:p>
          <a:p>
            <a:pPr>
              <a:spcBef>
                <a:spcPts val="1100"/>
              </a:spcBef>
            </a:pPr>
            <a:r>
              <a:rPr sz="1500">
                <a:solidFill>
                  <a:srgbClr val="1E293B"/>
                </a:solidFill>
              </a:rPr>
              <a:t>▢ 第二阶段（实时）：播放录音，同步追踪地图+匹配关键词</a:t>
            </a:r>
          </a:p>
          <a:p>
            <a:pPr>
              <a:spcBef>
                <a:spcPts val="1100"/>
              </a:spcBef>
            </a:pPr>
            <a:r>
              <a:rPr sz="1500">
                <a:solidFill>
                  <a:srgbClr val="1E293B"/>
                </a:solidFill>
              </a:rPr>
              <a:t>▢ 第三阶段（30秒）：检查：地图位置合理？选项无重复使用？</a:t>
            </a:r>
          </a:p>
          <a:p>
            <a:pPr>
              <a:spcBef>
                <a:spcPts val="1100"/>
              </a:spcBef>
            </a:pPr>
            <a:r>
              <a:rPr sz="1500">
                <a:solidFill>
                  <a:srgbClr val="1E293B"/>
                </a:solidFill>
              </a:rPr>
              <a:t>▢ 结果分析：地图题错几题（方位问题）？匹配题错几题（同义替换问题）？</a:t>
            </a:r>
          </a:p>
          <a:p>
            <a:pPr>
              <a:spcBef>
                <a:spcPts val="1100"/>
              </a:spcBef>
            </a:pPr>
            <a:r>
              <a:rPr sz="1500">
                <a:solidFill>
                  <a:srgbClr val="1E293B"/>
                </a:solidFill>
              </a:rPr>
              <a:t>▢ 提升计划：错误最多的类型→下周专项练习</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2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12A594"/>
                </a:solidFill>
                <a:latin typeface="Calibri"/>
              </a:rPr>
              <a:t>PART 08</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避坑指南</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Pitfall Prevention</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7A16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000" b="1" i="0">
                <a:solidFill>
                  <a:srgbClr val="FFFFFF"/>
                </a:solidFill>
                <a:latin typeface="Calibri"/>
              </a:rPr>
              <a:t>🎯 深圳学生高频痛点 · S2地图与匹配最常见失分</a:t>
            </a:r>
          </a:p>
        </p:txBody>
      </p:sp>
      <p:sp>
        <p:nvSpPr>
          <p:cNvPr id="6" name="TextBox 5"/>
          <p:cNvSpPr txBox="1"/>
          <p:nvPr/>
        </p:nvSpPr>
        <p:spPr>
          <a:xfrm>
            <a:off x="548640" y="1143000"/>
            <a:ext cx="5486400" cy="411480"/>
          </a:xfrm>
          <a:prstGeom prst="rect">
            <a:avLst/>
          </a:prstGeom>
          <a:noFill/>
        </p:spPr>
        <p:txBody>
          <a:bodyPr wrap="square" anchor="t">
            <a:spAutoFit/>
          </a:bodyPr>
          <a:lstStyle/>
          <a:p>
            <a:pPr algn="l"/>
            <a:r>
              <a:rPr sz="1500" b="1" i="0">
                <a:solidFill>
                  <a:srgbClr val="C02A2A"/>
                </a:solidFill>
                <a:latin typeface="Calibri"/>
              </a:rPr>
              <a:t>❌ 常见误区</a:t>
            </a:r>
          </a:p>
        </p:txBody>
      </p:sp>
      <p:sp>
        <p:nvSpPr>
          <p:cNvPr id="7" name="TextBox 6"/>
          <p:cNvSpPr txBox="1"/>
          <p:nvPr/>
        </p:nvSpPr>
        <p:spPr>
          <a:xfrm>
            <a:off x="548640" y="1645920"/>
            <a:ext cx="5486400" cy="4572000"/>
          </a:xfrm>
          <a:prstGeom prst="rect">
            <a:avLst/>
          </a:prstGeom>
          <a:noFill/>
        </p:spPr>
        <p:txBody>
          <a:bodyPr wrap="square">
            <a:spAutoFit/>
          </a:bodyPr>
          <a:lstStyle/>
          <a:p>
            <a:r>
              <a:rPr sz="1400">
                <a:solidFill>
                  <a:srgbClr val="C02A2A"/>
                </a:solidFill>
              </a:rPr>
              <a:t>✗ "On your left"=行进方向左，不一定是地图左侧——很多人在这里混淆</a:t>
            </a:r>
          </a:p>
          <a:p>
            <a:pPr>
              <a:spcBef>
                <a:spcPts val="800"/>
              </a:spcBef>
            </a:pPr>
            <a:r>
              <a:rPr sz="1400">
                <a:solidFill>
                  <a:srgbClr val="C02A2A"/>
                </a:solidFill>
              </a:rPr>
              <a:t>✗ 匹配题看到"free"立刻选A，没读完整句——否定+free=不免费</a:t>
            </a:r>
          </a:p>
          <a:p>
            <a:pPr>
              <a:spcBef>
                <a:spcPts val="800"/>
              </a:spcBef>
            </a:pPr>
            <a:r>
              <a:rPr sz="1400">
                <a:solidFill>
                  <a:srgbClr val="C02A2A"/>
                </a:solidFill>
              </a:rPr>
              <a:t>✗ 话题转换没听到信号词，Q16以后全部跟丢，只能乱猜</a:t>
            </a:r>
          </a:p>
          <a:p>
            <a:pPr>
              <a:spcBef>
                <a:spcPts val="800"/>
              </a:spcBef>
            </a:pPr>
            <a:r>
              <a:rPr sz="1400">
                <a:solidFill>
                  <a:srgbClr val="C02A2A"/>
                </a:solidFill>
              </a:rPr>
              <a:t>✗ 预读时只读当前题的选项，没有提前建完整关键词库</a:t>
            </a:r>
          </a:p>
        </p:txBody>
      </p:sp>
      <p:sp>
        <p:nvSpPr>
          <p:cNvPr id="8" name="Rectangle 7"/>
          <p:cNvSpPr/>
          <p:nvPr/>
        </p:nvSpPr>
        <p:spPr>
          <a:xfrm>
            <a:off x="6108192" y="1097280"/>
            <a:ext cx="36576" cy="5212080"/>
          </a:xfrm>
          <a:prstGeom prst="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143000"/>
            <a:ext cx="5486400" cy="411480"/>
          </a:xfrm>
          <a:prstGeom prst="rect">
            <a:avLst/>
          </a:prstGeom>
          <a:noFill/>
        </p:spPr>
        <p:txBody>
          <a:bodyPr wrap="square" anchor="t">
            <a:spAutoFit/>
          </a:bodyPr>
          <a:lstStyle/>
          <a:p>
            <a:pPr algn="l"/>
            <a:r>
              <a:rPr sz="1500" b="1" i="0">
                <a:solidFill>
                  <a:srgbClr val="1B7A3D"/>
                </a:solidFill>
                <a:latin typeface="Calibri"/>
              </a:rPr>
              <a:t>✅ 正确做法</a:t>
            </a:r>
          </a:p>
        </p:txBody>
      </p:sp>
      <p:sp>
        <p:nvSpPr>
          <p:cNvPr id="10" name="TextBox 9"/>
          <p:cNvSpPr txBox="1"/>
          <p:nvPr/>
        </p:nvSpPr>
        <p:spPr>
          <a:xfrm>
            <a:off x="6309360" y="1645920"/>
            <a:ext cx="5394960" cy="4572000"/>
          </a:xfrm>
          <a:prstGeom prst="rect">
            <a:avLst/>
          </a:prstGeom>
          <a:noFill/>
        </p:spPr>
        <p:txBody>
          <a:bodyPr wrap="square">
            <a:spAutoFit/>
          </a:bodyPr>
          <a:lstStyle/>
          <a:p>
            <a:r>
              <a:rPr sz="1400">
                <a:solidFill>
                  <a:srgbClr val="1B7A3D"/>
                </a:solidFill>
              </a:rPr>
              <a:t>✓ 每次地图转弯：问自己"我现在面向哪个方向？"——方向感必须实时更新</a:t>
            </a:r>
          </a:p>
          <a:p>
            <a:pPr>
              <a:spcBef>
                <a:spcPts val="800"/>
              </a:spcBef>
            </a:pPr>
            <a:r>
              <a:rPr sz="1400">
                <a:solidFill>
                  <a:srgbClr val="1B7A3D"/>
                </a:solidFill>
              </a:rPr>
              <a:t>✓ 匹配题：选项确认前必须等整句说完——听到关键词≠已确认</a:t>
            </a:r>
          </a:p>
          <a:p>
            <a:pPr>
              <a:spcBef>
                <a:spcPts val="800"/>
              </a:spcBef>
            </a:pPr>
            <a:r>
              <a:rPr sz="1400">
                <a:solidFill>
                  <a:srgbClr val="1B7A3D"/>
                </a:solidFill>
              </a:rPr>
              <a:t>✓ 信号词训练：每次做S2录音后，对照原文标出所有信号词</a:t>
            </a:r>
          </a:p>
          <a:p>
            <a:pPr>
              <a:spcBef>
                <a:spcPts val="800"/>
              </a:spcBef>
            </a:pPr>
            <a:r>
              <a:rPr sz="1400">
                <a:solidFill>
                  <a:srgbClr val="1B7A3D"/>
                </a:solidFill>
              </a:rPr>
              <a:t>✓ 预读铁律：S1结束立刻翻S2，强制完成全部选项关键词圈划</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匹配题常见干扰模式</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7" name="TextBox 6"/>
          <p:cNvSpPr txBox="1"/>
          <p:nvPr/>
        </p:nvSpPr>
        <p:spPr>
          <a:xfrm>
            <a:off x="640080" y="1234440"/>
            <a:ext cx="10972800" cy="4572000"/>
          </a:xfrm>
          <a:prstGeom prst="rect">
            <a:avLst/>
          </a:prstGeom>
          <a:noFill/>
        </p:spPr>
        <p:txBody>
          <a:bodyPr wrap="square">
            <a:spAutoFit/>
          </a:bodyPr>
          <a:lstStyle/>
          <a:p>
            <a:r>
              <a:rPr sz="1850" b="1">
                <a:solidFill>
                  <a:srgbClr val="0F4C5C"/>
                </a:solidFill>
              </a:rPr>
              <a:t>• 先否后肯</a:t>
            </a:r>
          </a:p>
          <a:p>
            <a:pPr>
              <a:spcBef>
                <a:spcPts val="100"/>
              </a:spcBef>
            </a:pPr>
            <a:r>
              <a:rPr sz="1550">
                <a:solidFill>
                  <a:srgbClr val="556075"/>
                </a:solidFill>
              </a:rPr>
              <a:t>   It used to be free, but now costs £5 → 选收费，不选free</a:t>
            </a:r>
          </a:p>
          <a:p>
            <a:pPr>
              <a:spcBef>
                <a:spcPts val="1000"/>
              </a:spcBef>
            </a:pPr>
            <a:r>
              <a:rPr sz="1850" b="1">
                <a:solidFill>
                  <a:srgbClr val="0F4C5C"/>
                </a:solidFill>
              </a:rPr>
              <a:t>• 条件限定</a:t>
            </a:r>
          </a:p>
          <a:p>
            <a:pPr>
              <a:spcBef>
                <a:spcPts val="100"/>
              </a:spcBef>
            </a:pPr>
            <a:r>
              <a:rPr sz="1550">
                <a:solidFill>
                  <a:srgbClr val="556075"/>
                </a:solidFill>
              </a:rPr>
              <a:t>   Free for members → 不是全体免费；如题问"所有人免费"则不选A</a:t>
            </a:r>
          </a:p>
          <a:p>
            <a:pPr>
              <a:spcBef>
                <a:spcPts val="1000"/>
              </a:spcBef>
            </a:pPr>
            <a:r>
              <a:rPr sz="1850" b="1">
                <a:solidFill>
                  <a:srgbClr val="0F4C5C"/>
                </a:solidFill>
              </a:rPr>
              <a:t>• 时间限定</a:t>
            </a:r>
          </a:p>
          <a:p>
            <a:pPr>
              <a:spcBef>
                <a:spcPts val="100"/>
              </a:spcBef>
            </a:pPr>
            <a:r>
              <a:rPr sz="1550">
                <a:solidFill>
                  <a:srgbClr val="556075"/>
                </a:solidFill>
              </a:rPr>
              <a:t>   Open weekends only vs closed weekdays → 含义相同，看题目问什么</a:t>
            </a:r>
          </a:p>
          <a:p>
            <a:pPr>
              <a:spcBef>
                <a:spcPts val="1000"/>
              </a:spcBef>
            </a:pPr>
            <a:r>
              <a:rPr sz="1850" b="1">
                <a:solidFill>
                  <a:srgbClr val="0F4C5C"/>
                </a:solidFill>
              </a:rPr>
              <a:t>• 双重特点</a:t>
            </a:r>
          </a:p>
          <a:p>
            <a:pPr>
              <a:spcBef>
                <a:spcPts val="100"/>
              </a:spcBef>
            </a:pPr>
            <a:r>
              <a:rPr sz="1550">
                <a:solidFill>
                  <a:srgbClr val="556075"/>
                </a:solidFill>
              </a:rPr>
              <a:t>   设施同时具有B和C两个特点；选最直接对应题干的那个</a:t>
            </a:r>
          </a:p>
          <a:p>
            <a:pPr>
              <a:spcBef>
                <a:spcPts val="1000"/>
              </a:spcBef>
            </a:pPr>
            <a:r>
              <a:rPr sz="1850" b="1">
                <a:solidFill>
                  <a:srgbClr val="0F4C5C"/>
                </a:solidFill>
              </a:rPr>
              <a:t>• 情绪干扰</a:t>
            </a:r>
          </a:p>
          <a:p>
            <a:pPr>
              <a:spcBef>
                <a:spcPts val="100"/>
              </a:spcBef>
            </a:pPr>
            <a:r>
              <a:rPr sz="1550">
                <a:solidFill>
                  <a:srgbClr val="556075"/>
                </a:solidFill>
              </a:rPr>
              <a:t>   说话人花更多时间描述A，让人以为A是答案——靠内容不靠时间</a:t>
            </a:r>
          </a:p>
        </p:txBody>
      </p:sp>
      <p:sp>
        <p:nvSpPr>
          <p:cNvPr id="8" name="Rectangle 7"/>
          <p:cNvSpPr/>
          <p:nvPr/>
        </p:nvSpPr>
        <p:spPr>
          <a:xfrm>
            <a:off x="548640" y="5989320"/>
            <a:ext cx="11064240" cy="548640"/>
          </a:xfrm>
          <a:prstGeom prst="rect">
            <a:avLst/>
          </a:prstGeom>
          <a:solidFill>
            <a:srgbClr val="FDF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035040"/>
            <a:ext cx="10698480" cy="457200"/>
          </a:xfrm>
          <a:prstGeom prst="rect">
            <a:avLst/>
          </a:prstGeom>
          <a:noFill/>
        </p:spPr>
        <p:txBody>
          <a:bodyPr wrap="square" anchor="ctr">
            <a:spAutoFit/>
          </a:bodyPr>
          <a:lstStyle/>
          <a:p>
            <a:pPr algn="l"/>
            <a:r>
              <a:rPr sz="1250" b="0" i="1">
                <a:solidFill>
                  <a:srgbClr val="C02A2A"/>
                </a:solidFill>
                <a:latin typeface="Calibri"/>
              </a:rPr>
              <a:t>⚠ 深圳学生注意：每道匹配题：问自己"这整句话的核心意思是什么"，不只看关键词</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S2常见失分模式与解法</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850" b="1">
                <a:solidFill>
                  <a:srgbClr val="0F4C5C"/>
                </a:solidFill>
              </a:rPr>
              <a:t>• 地图跟丢</a:t>
            </a:r>
          </a:p>
          <a:p>
            <a:pPr>
              <a:spcBef>
                <a:spcPts val="100"/>
              </a:spcBef>
            </a:pPr>
            <a:r>
              <a:rPr sz="1550">
                <a:solidFill>
                  <a:srgbClr val="556075"/>
                </a:solidFill>
              </a:rPr>
              <a:t>   原因：方位词反应慢；解法：方位词闪卡，每天5分钟，直到条件反射</a:t>
            </a:r>
          </a:p>
          <a:p>
            <a:pPr>
              <a:spcBef>
                <a:spcPts val="1000"/>
              </a:spcBef>
            </a:pPr>
            <a:r>
              <a:rPr sz="1850" b="1">
                <a:solidFill>
                  <a:srgbClr val="0F4C5C"/>
                </a:solidFill>
              </a:rPr>
              <a:t>• 同义替换不认</a:t>
            </a:r>
          </a:p>
          <a:p>
            <a:pPr>
              <a:spcBef>
                <a:spcPts val="100"/>
              </a:spcBef>
            </a:pPr>
            <a:r>
              <a:rPr sz="1550">
                <a:solidFill>
                  <a:srgbClr val="556075"/>
                </a:solidFill>
              </a:rPr>
              <a:t>   原因：替换词不熟；解法：积累20组高频替换对，每周测试</a:t>
            </a:r>
          </a:p>
          <a:p>
            <a:pPr>
              <a:spcBef>
                <a:spcPts val="1000"/>
              </a:spcBef>
            </a:pPr>
            <a:r>
              <a:rPr sz="1850" b="1">
                <a:solidFill>
                  <a:srgbClr val="0F4C5C"/>
                </a:solidFill>
              </a:rPr>
              <a:t>• 话题转换跟丢</a:t>
            </a:r>
          </a:p>
          <a:p>
            <a:pPr>
              <a:spcBef>
                <a:spcPts val="100"/>
              </a:spcBef>
            </a:pPr>
            <a:r>
              <a:rPr sz="1550">
                <a:solidFill>
                  <a:srgbClr val="556075"/>
                </a:solidFill>
              </a:rPr>
              <a:t>   原因：信号词不敏感；解法：每次精析后标出全部信号词</a:t>
            </a:r>
          </a:p>
          <a:p>
            <a:pPr>
              <a:spcBef>
                <a:spcPts val="1000"/>
              </a:spcBef>
            </a:pPr>
            <a:r>
              <a:rPr sz="1850" b="1">
                <a:solidFill>
                  <a:srgbClr val="0F4C5C"/>
                </a:solidFill>
              </a:rPr>
              <a:t>• 选项未预读</a:t>
            </a:r>
          </a:p>
          <a:p>
            <a:pPr>
              <a:spcBef>
                <a:spcPts val="100"/>
              </a:spcBef>
            </a:pPr>
            <a:r>
              <a:rPr sz="1550">
                <a:solidFill>
                  <a:srgbClr val="556075"/>
                </a:solidFill>
              </a:rPr>
              <a:t>   原因：时间管理差；解法：强制S1结束立刻翻S2预读</a:t>
            </a:r>
          </a:p>
          <a:p>
            <a:pPr>
              <a:spcBef>
                <a:spcPts val="1000"/>
              </a:spcBef>
            </a:pPr>
            <a:r>
              <a:rPr sz="1850" b="1">
                <a:solidFill>
                  <a:srgbClr val="0F4C5C"/>
                </a:solidFill>
              </a:rPr>
              <a:t>• 检查习惯缺失</a:t>
            </a:r>
          </a:p>
          <a:p>
            <a:pPr>
              <a:spcBef>
                <a:spcPts val="100"/>
              </a:spcBef>
            </a:pPr>
            <a:r>
              <a:rPr sz="1550">
                <a:solidFill>
                  <a:srgbClr val="556075"/>
                </a:solidFill>
              </a:rPr>
              <a:t>   原因：以为答完就好；解法：每次S2做完，30秒自检流程</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S2地图题速记卡</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234440"/>
            <a:ext cx="5486400" cy="146304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6304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0F4C5C"/>
                </a:solidFill>
                <a:latin typeface="Calibri"/>
              </a:rPr>
              <a:t>起点定位</a:t>
            </a:r>
          </a:p>
        </p:txBody>
      </p:sp>
      <p:sp>
        <p:nvSpPr>
          <p:cNvPr id="11" name="TextBox 10"/>
          <p:cNvSpPr txBox="1"/>
          <p:nvPr/>
        </p:nvSpPr>
        <p:spPr>
          <a:xfrm>
            <a:off x="822959" y="1737360"/>
            <a:ext cx="5029200" cy="914400"/>
          </a:xfrm>
          <a:prstGeom prst="rect">
            <a:avLst/>
          </a:prstGeom>
          <a:noFill/>
        </p:spPr>
        <p:txBody>
          <a:bodyPr wrap="square" anchor="t">
            <a:spAutoFit/>
          </a:bodyPr>
          <a:lstStyle/>
          <a:p>
            <a:pPr algn="l"/>
            <a:r>
              <a:rPr sz="1250" b="0" i="0">
                <a:solidFill>
                  <a:srgbClr val="556075"/>
                </a:solidFill>
                <a:latin typeface="Calibri"/>
              </a:rPr>
              <a:t>录音说"As you enter"→立刻找地图入口，铅笔放上去，追踪开始</a:t>
            </a:r>
          </a:p>
        </p:txBody>
      </p:sp>
      <p:sp>
        <p:nvSpPr>
          <p:cNvPr id="12" name="Rounded Rectangle 11"/>
          <p:cNvSpPr/>
          <p:nvPr/>
        </p:nvSpPr>
        <p:spPr>
          <a:xfrm>
            <a:off x="6355079" y="1234440"/>
            <a:ext cx="5486400" cy="146304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6304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0F4C5C"/>
                </a:solidFill>
                <a:latin typeface="Calibri"/>
              </a:rPr>
              <a:t>方位三词</a:t>
            </a:r>
          </a:p>
        </p:txBody>
      </p:sp>
      <p:sp>
        <p:nvSpPr>
          <p:cNvPr id="15" name="TextBox 14"/>
          <p:cNvSpPr txBox="1"/>
          <p:nvPr/>
        </p:nvSpPr>
        <p:spPr>
          <a:xfrm>
            <a:off x="6629399" y="1737360"/>
            <a:ext cx="5029200" cy="914400"/>
          </a:xfrm>
          <a:prstGeom prst="rect">
            <a:avLst/>
          </a:prstGeom>
          <a:noFill/>
        </p:spPr>
        <p:txBody>
          <a:bodyPr wrap="square" anchor="t">
            <a:spAutoFit/>
          </a:bodyPr>
          <a:lstStyle/>
          <a:p>
            <a:pPr algn="l"/>
            <a:r>
              <a:rPr sz="1250" b="0" i="0">
                <a:solidFill>
                  <a:srgbClr val="556075"/>
                </a:solidFill>
                <a:latin typeface="Calibri"/>
              </a:rPr>
              <a:t>opposite=对面; adjacent=紧邻; just past=经过后紧接——解决80%地图题</a:t>
            </a:r>
          </a:p>
        </p:txBody>
      </p:sp>
      <p:sp>
        <p:nvSpPr>
          <p:cNvPr id="16" name="Rounded Rectangle 15"/>
          <p:cNvSpPr/>
          <p:nvPr/>
        </p:nvSpPr>
        <p:spPr>
          <a:xfrm>
            <a:off x="548640" y="2926080"/>
            <a:ext cx="5486400" cy="146304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926080"/>
            <a:ext cx="109728" cy="146304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3017520"/>
            <a:ext cx="5029200" cy="411480"/>
          </a:xfrm>
          <a:prstGeom prst="rect">
            <a:avLst/>
          </a:prstGeom>
          <a:noFill/>
        </p:spPr>
        <p:txBody>
          <a:bodyPr wrap="square" anchor="t">
            <a:spAutoFit/>
          </a:bodyPr>
          <a:lstStyle/>
          <a:p>
            <a:pPr algn="l"/>
            <a:r>
              <a:rPr sz="1400" b="1" i="0">
                <a:solidFill>
                  <a:srgbClr val="0F4C5C"/>
                </a:solidFill>
                <a:latin typeface="Calibri"/>
              </a:rPr>
              <a:t>跟丢策略</a:t>
            </a:r>
          </a:p>
        </p:txBody>
      </p:sp>
      <p:sp>
        <p:nvSpPr>
          <p:cNvPr id="19" name="TextBox 18"/>
          <p:cNvSpPr txBox="1"/>
          <p:nvPr/>
        </p:nvSpPr>
        <p:spPr>
          <a:xfrm>
            <a:off x="822959" y="3429000"/>
            <a:ext cx="5029200" cy="914400"/>
          </a:xfrm>
          <a:prstGeom prst="rect">
            <a:avLst/>
          </a:prstGeom>
          <a:noFill/>
        </p:spPr>
        <p:txBody>
          <a:bodyPr wrap="square" anchor="t">
            <a:spAutoFit/>
          </a:bodyPr>
          <a:lstStyle/>
          <a:p>
            <a:pPr algn="l"/>
            <a:r>
              <a:rPr sz="1250" b="0" i="0">
                <a:solidFill>
                  <a:srgbClr val="556075"/>
                </a:solidFill>
                <a:latin typeface="Calibri"/>
              </a:rPr>
              <a:t>跟丢不慌：看下一道题关键词，等录音出现该词，跳过已错的继续</a:t>
            </a:r>
          </a:p>
        </p:txBody>
      </p:sp>
      <p:sp>
        <p:nvSpPr>
          <p:cNvPr id="20" name="Rounded Rectangle 19"/>
          <p:cNvSpPr/>
          <p:nvPr/>
        </p:nvSpPr>
        <p:spPr>
          <a:xfrm>
            <a:off x="6355079" y="2926080"/>
            <a:ext cx="5486400" cy="146304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926080"/>
            <a:ext cx="109728" cy="146304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3017520"/>
            <a:ext cx="5029200" cy="411480"/>
          </a:xfrm>
          <a:prstGeom prst="rect">
            <a:avLst/>
          </a:prstGeom>
          <a:noFill/>
        </p:spPr>
        <p:txBody>
          <a:bodyPr wrap="square" anchor="t">
            <a:spAutoFit/>
          </a:bodyPr>
          <a:lstStyle/>
          <a:p>
            <a:pPr algn="l"/>
            <a:r>
              <a:rPr sz="1400" b="1" i="0">
                <a:solidFill>
                  <a:srgbClr val="0F4C5C"/>
                </a:solidFill>
                <a:latin typeface="Calibri"/>
              </a:rPr>
              <a:t>最终检查</a:t>
            </a:r>
          </a:p>
        </p:txBody>
      </p:sp>
      <p:sp>
        <p:nvSpPr>
          <p:cNvPr id="23" name="TextBox 22"/>
          <p:cNvSpPr txBox="1"/>
          <p:nvPr/>
        </p:nvSpPr>
        <p:spPr>
          <a:xfrm>
            <a:off x="6629399" y="3429000"/>
            <a:ext cx="5029200" cy="914400"/>
          </a:xfrm>
          <a:prstGeom prst="rect">
            <a:avLst/>
          </a:prstGeom>
          <a:noFill/>
        </p:spPr>
        <p:txBody>
          <a:bodyPr wrap="square" anchor="t">
            <a:spAutoFit/>
          </a:bodyPr>
          <a:lstStyle/>
          <a:p>
            <a:pPr algn="l"/>
            <a:r>
              <a:rPr sz="1250" b="0" i="0">
                <a:solidFill>
                  <a:srgbClr val="556075"/>
                </a:solidFill>
                <a:latin typeface="Calibri"/>
              </a:rPr>
              <a:t>地图全标完：每个字母(A-E)用了一次；位置是否与描述方向吻合</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S2匹配题速记卡</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Rounded Rectangle 7"/>
          <p:cNvSpPr/>
          <p:nvPr/>
        </p:nvSpPr>
        <p:spPr>
          <a:xfrm>
            <a:off x="548640" y="1234440"/>
            <a:ext cx="5486400" cy="146304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6304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0F4C5C"/>
                </a:solidFill>
                <a:latin typeface="Calibri"/>
              </a:rPr>
              <a:t>预读铁律</a:t>
            </a:r>
          </a:p>
        </p:txBody>
      </p:sp>
      <p:sp>
        <p:nvSpPr>
          <p:cNvPr id="11" name="TextBox 10"/>
          <p:cNvSpPr txBox="1"/>
          <p:nvPr/>
        </p:nvSpPr>
        <p:spPr>
          <a:xfrm>
            <a:off x="822959" y="1737360"/>
            <a:ext cx="5029200" cy="914400"/>
          </a:xfrm>
          <a:prstGeom prst="rect">
            <a:avLst/>
          </a:prstGeom>
          <a:noFill/>
        </p:spPr>
        <p:txBody>
          <a:bodyPr wrap="square" anchor="t">
            <a:spAutoFit/>
          </a:bodyPr>
          <a:lstStyle/>
          <a:p>
            <a:pPr algn="l"/>
            <a:r>
              <a:rPr sz="1250" b="0" i="0">
                <a:solidFill>
                  <a:srgbClr val="556075"/>
                </a:solidFill>
                <a:latin typeface="Calibri"/>
              </a:rPr>
              <a:t>录音前读完A-H全部选项；每个圈1词；脑中建"字母→关键词"词库</a:t>
            </a:r>
          </a:p>
        </p:txBody>
      </p:sp>
      <p:sp>
        <p:nvSpPr>
          <p:cNvPr id="12" name="Rounded Rectangle 11"/>
          <p:cNvSpPr/>
          <p:nvPr/>
        </p:nvSpPr>
        <p:spPr>
          <a:xfrm>
            <a:off x="6355079" y="1234440"/>
            <a:ext cx="5486400" cy="146304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6304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0F4C5C"/>
                </a:solidFill>
                <a:latin typeface="Calibri"/>
              </a:rPr>
              <a:t>同义替换</a:t>
            </a:r>
          </a:p>
        </p:txBody>
      </p:sp>
      <p:sp>
        <p:nvSpPr>
          <p:cNvPr id="15" name="TextBox 14"/>
          <p:cNvSpPr txBox="1"/>
          <p:nvPr/>
        </p:nvSpPr>
        <p:spPr>
          <a:xfrm>
            <a:off x="6629399" y="1737360"/>
            <a:ext cx="5029200" cy="914400"/>
          </a:xfrm>
          <a:prstGeom prst="rect">
            <a:avLst/>
          </a:prstGeom>
          <a:noFill/>
        </p:spPr>
        <p:txBody>
          <a:bodyPr wrap="square" anchor="t">
            <a:spAutoFit/>
          </a:bodyPr>
          <a:lstStyle/>
          <a:p>
            <a:pPr algn="l"/>
            <a:r>
              <a:rPr sz="1250" b="0" i="0">
                <a:solidFill>
                  <a:srgbClr val="556075"/>
                </a:solidFill>
                <a:latin typeface="Calibri"/>
              </a:rPr>
              <a:t>refurbished=renovated; exclusively=only; round the clock=24hrs</a:t>
            </a:r>
          </a:p>
        </p:txBody>
      </p:sp>
      <p:sp>
        <p:nvSpPr>
          <p:cNvPr id="16" name="Rounded Rectangle 15"/>
          <p:cNvSpPr/>
          <p:nvPr/>
        </p:nvSpPr>
        <p:spPr>
          <a:xfrm>
            <a:off x="548640" y="2926080"/>
            <a:ext cx="5486400" cy="146304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926080"/>
            <a:ext cx="109728" cy="146304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3017520"/>
            <a:ext cx="5029200" cy="411480"/>
          </a:xfrm>
          <a:prstGeom prst="rect">
            <a:avLst/>
          </a:prstGeom>
          <a:noFill/>
        </p:spPr>
        <p:txBody>
          <a:bodyPr wrap="square" anchor="t">
            <a:spAutoFit/>
          </a:bodyPr>
          <a:lstStyle/>
          <a:p>
            <a:pPr algn="l"/>
            <a:r>
              <a:rPr sz="1400" b="1" i="0">
                <a:solidFill>
                  <a:srgbClr val="0F4C5C"/>
                </a:solidFill>
                <a:latin typeface="Calibri"/>
              </a:rPr>
              <a:t>不急确认</a:t>
            </a:r>
          </a:p>
        </p:txBody>
      </p:sp>
      <p:sp>
        <p:nvSpPr>
          <p:cNvPr id="19" name="TextBox 18"/>
          <p:cNvSpPr txBox="1"/>
          <p:nvPr/>
        </p:nvSpPr>
        <p:spPr>
          <a:xfrm>
            <a:off x="822959" y="3429000"/>
            <a:ext cx="5029200" cy="914400"/>
          </a:xfrm>
          <a:prstGeom prst="rect">
            <a:avLst/>
          </a:prstGeom>
          <a:noFill/>
        </p:spPr>
        <p:txBody>
          <a:bodyPr wrap="square" anchor="t">
            <a:spAutoFit/>
          </a:bodyPr>
          <a:lstStyle/>
          <a:p>
            <a:pPr algn="l"/>
            <a:r>
              <a:rPr sz="1250" b="0" i="0">
                <a:solidFill>
                  <a:srgbClr val="556075"/>
                </a:solidFill>
                <a:latin typeface="Calibri"/>
              </a:rPr>
              <a:t>听到关键词→标候选→等整句说完→无否定词→最终确认</a:t>
            </a:r>
          </a:p>
        </p:txBody>
      </p:sp>
      <p:sp>
        <p:nvSpPr>
          <p:cNvPr id="20" name="Rounded Rectangle 19"/>
          <p:cNvSpPr/>
          <p:nvPr/>
        </p:nvSpPr>
        <p:spPr>
          <a:xfrm>
            <a:off x="6355079" y="2926080"/>
            <a:ext cx="5486400" cy="1463040"/>
          </a:xfrm>
          <a:prstGeom prst="roundRect">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926080"/>
            <a:ext cx="109728" cy="146304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3017520"/>
            <a:ext cx="5029200" cy="411480"/>
          </a:xfrm>
          <a:prstGeom prst="rect">
            <a:avLst/>
          </a:prstGeom>
          <a:noFill/>
        </p:spPr>
        <p:txBody>
          <a:bodyPr wrap="square" anchor="t">
            <a:spAutoFit/>
          </a:bodyPr>
          <a:lstStyle/>
          <a:p>
            <a:pPr algn="l"/>
            <a:r>
              <a:rPr sz="1400" b="1" i="0">
                <a:solidFill>
                  <a:srgbClr val="0F4C5C"/>
                </a:solidFill>
                <a:latin typeface="Calibri"/>
              </a:rPr>
              <a:t>多余选项</a:t>
            </a:r>
          </a:p>
        </p:txBody>
      </p:sp>
      <p:sp>
        <p:nvSpPr>
          <p:cNvPr id="23" name="TextBox 22"/>
          <p:cNvSpPr txBox="1"/>
          <p:nvPr/>
        </p:nvSpPr>
        <p:spPr>
          <a:xfrm>
            <a:off x="6629399" y="3429000"/>
            <a:ext cx="5029200" cy="914400"/>
          </a:xfrm>
          <a:prstGeom prst="rect">
            <a:avLst/>
          </a:prstGeom>
          <a:noFill/>
        </p:spPr>
        <p:txBody>
          <a:bodyPr wrap="square" anchor="t">
            <a:spAutoFit/>
          </a:bodyPr>
          <a:lstStyle/>
          <a:p>
            <a:pPr algn="l"/>
            <a:r>
              <a:rPr sz="1250" b="0" i="0">
                <a:solidFill>
                  <a:srgbClr val="556075"/>
                </a:solidFill>
                <a:latin typeface="Calibri"/>
              </a:rPr>
              <a:t>8选5：3个多余；实在不会：从未使用选项中猜，绝不留空白</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自检清单</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L03 自检清单</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TextBox 7"/>
          <p:cNvSpPr txBox="1"/>
          <p:nvPr/>
        </p:nvSpPr>
        <p:spPr>
          <a:xfrm>
            <a:off x="731520" y="1371600"/>
            <a:ext cx="10789920" cy="4846320"/>
          </a:xfrm>
          <a:prstGeom prst="rect">
            <a:avLst/>
          </a:prstGeom>
          <a:noFill/>
        </p:spPr>
        <p:txBody>
          <a:bodyPr wrap="square">
            <a:spAutoFit/>
          </a:bodyPr>
          <a:lstStyle/>
          <a:p>
            <a:r>
              <a:rPr sz="1600">
                <a:solidFill>
                  <a:srgbClr val="1E293B"/>
                </a:solidFill>
              </a:rPr>
              <a:t>☐ 我能5秒内说出adjacent/opposite/just past/beyond的空间含义</a:t>
            </a:r>
          </a:p>
          <a:p>
            <a:pPr>
              <a:spcBef>
                <a:spcPts val="1200"/>
              </a:spcBef>
            </a:pPr>
            <a:r>
              <a:rPr sz="1600">
                <a:solidFill>
                  <a:srgbClr val="1E293B"/>
                </a:solidFill>
              </a:rPr>
              <a:t>☐ 我知道匹配题预读操作：读完A-H，每个圈1关键词，建词库</a:t>
            </a:r>
          </a:p>
          <a:p>
            <a:pPr>
              <a:spcBef>
                <a:spcPts val="1200"/>
              </a:spcBef>
            </a:pPr>
            <a:r>
              <a:rPr sz="1600">
                <a:solidFill>
                  <a:srgbClr val="1E293B"/>
                </a:solidFill>
              </a:rPr>
              <a:t>☐ 我练习了地图追踪：铅笔随方向词实时移动</a:t>
            </a:r>
          </a:p>
          <a:p>
            <a:pPr>
              <a:spcBef>
                <a:spcPts val="1200"/>
              </a:spcBef>
            </a:pPr>
            <a:r>
              <a:rPr sz="1600">
                <a:solidFill>
                  <a:srgbClr val="1E293B"/>
                </a:solidFill>
              </a:rPr>
              <a:t>☐ 我识别了S2独白话题转换的信号词</a:t>
            </a:r>
          </a:p>
          <a:p>
            <a:pPr>
              <a:spcBef>
                <a:spcPts val="1200"/>
              </a:spcBef>
            </a:pPr>
            <a:r>
              <a:rPr sz="1600">
                <a:solidFill>
                  <a:srgbClr val="1E293B"/>
                </a:solidFill>
              </a:rPr>
              <a:t>☐ 我知道跟丢后重定位的策略：找下一个设施名/地标</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058400" cy="731520"/>
          </a:xfrm>
          <a:prstGeom prst="rect">
            <a:avLst/>
          </a:prstGeom>
          <a:noFill/>
        </p:spPr>
        <p:txBody>
          <a:bodyPr wrap="square" anchor="t">
            <a:spAutoFit/>
          </a:bodyPr>
          <a:lstStyle/>
          <a:p>
            <a:pPr algn="l"/>
            <a:r>
              <a:rPr sz="3000" b="1" i="0">
                <a:solidFill>
                  <a:srgbClr val="FFFFFF"/>
                </a:solidFill>
                <a:latin typeface="Calibri"/>
              </a:rPr>
              <a:t>L03 课堂小结</a:t>
            </a:r>
          </a:p>
        </p:txBody>
      </p:sp>
      <p:sp>
        <p:nvSpPr>
          <p:cNvPr id="5" name="TextBox 4"/>
          <p:cNvSpPr txBox="1"/>
          <p:nvPr/>
        </p:nvSpPr>
        <p:spPr>
          <a:xfrm>
            <a:off x="731520" y="1325880"/>
            <a:ext cx="10058400" cy="457200"/>
          </a:xfrm>
          <a:prstGeom prst="rect">
            <a:avLst/>
          </a:prstGeom>
          <a:noFill/>
        </p:spPr>
        <p:txBody>
          <a:bodyPr wrap="square" anchor="t">
            <a:spAutoFit/>
          </a:bodyPr>
          <a:lstStyle/>
          <a:p>
            <a:pPr algn="l"/>
            <a:r>
              <a:rPr sz="1600" b="1" i="0">
                <a:solidFill>
                  <a:srgbClr val="12A594"/>
                </a:solidFill>
                <a:latin typeface="Calibri"/>
              </a:rPr>
              <a:t>📌 本课核心要点</a:t>
            </a:r>
          </a:p>
        </p:txBody>
      </p:sp>
      <p:sp>
        <p:nvSpPr>
          <p:cNvPr id="6" name="TextBox 5"/>
          <p:cNvSpPr txBox="1"/>
          <p:nvPr/>
        </p:nvSpPr>
        <p:spPr>
          <a:xfrm>
            <a:off x="731520" y="1874519"/>
            <a:ext cx="10698480" cy="3474720"/>
          </a:xfrm>
          <a:prstGeom prst="rect">
            <a:avLst/>
          </a:prstGeom>
          <a:noFill/>
        </p:spPr>
        <p:txBody>
          <a:bodyPr wrap="square">
            <a:spAutoFit/>
          </a:bodyPr>
          <a:lstStyle/>
          <a:p>
            <a:r>
              <a:rPr sz="1550">
                <a:solidFill>
                  <a:srgbClr val="FFFFFF"/>
                </a:solidFill>
              </a:rPr>
              <a:t>✓  S2地图题=方位词条件反射+铅笔实时追踪；跟丢找地标重定位</a:t>
            </a:r>
          </a:p>
          <a:p>
            <a:pPr>
              <a:spcBef>
                <a:spcPts val="1100"/>
              </a:spcBef>
            </a:pPr>
            <a:r>
              <a:rPr sz="1550">
                <a:solidFill>
                  <a:srgbClr val="FFFFFF"/>
                </a:solidFill>
              </a:rPr>
              <a:t>✓  S2匹配题=预读选项建词库+识别同义替换；整句说完再确认</a:t>
            </a:r>
          </a:p>
          <a:p>
            <a:pPr>
              <a:spcBef>
                <a:spcPts val="1100"/>
              </a:spcBef>
            </a:pPr>
            <a:r>
              <a:rPr sz="1550">
                <a:solidFill>
                  <a:srgbClr val="FFFFFF"/>
                </a:solidFill>
              </a:rPr>
              <a:t>✓  信号词是S2独白的结构骨架——掌握信号词永远不跟丢</a:t>
            </a:r>
          </a:p>
        </p:txBody>
      </p:sp>
      <p:sp>
        <p:nvSpPr>
          <p:cNvPr id="7" name="Rounded Rectangle 6"/>
          <p:cNvSpPr/>
          <p:nvPr/>
        </p:nvSpPr>
        <p:spPr>
          <a:xfrm>
            <a:off x="731520" y="5486400"/>
            <a:ext cx="10698480" cy="914400"/>
          </a:xfrm>
          <a:prstGeom prst="roundRect">
            <a:avLst/>
          </a:prstGeom>
          <a:solidFill>
            <a:srgbClr val="072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5596128"/>
            <a:ext cx="10332720" cy="731520"/>
          </a:xfrm>
          <a:prstGeom prst="rect">
            <a:avLst/>
          </a:prstGeom>
          <a:noFill/>
        </p:spPr>
        <p:txBody>
          <a:bodyPr wrap="square" anchor="ctr">
            <a:spAutoFit/>
          </a:bodyPr>
          <a:lstStyle/>
          <a:p>
            <a:pPr algn="l"/>
            <a:r>
              <a:rPr sz="1500" b="1" i="0">
                <a:solidFill>
                  <a:srgbClr val="12A594"/>
                </a:solidFill>
                <a:latin typeface="Calibri"/>
              </a:rPr>
              <a:t>💎 一句话记住：S2稳8分：预读时圈好选项关键词+找好地图起点——这两件事在录音前完成</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12A594"/>
                </a:solidFill>
                <a:latin typeface="Calibri"/>
              </a:rPr>
              <a:t>练习巩固</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L03 课后作业  Homework</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Listening · 深圳提分课程</a:t>
            </a:r>
          </a:p>
        </p:txBody>
      </p:sp>
      <p:sp>
        <p:nvSpPr>
          <p:cNvPr id="8" name="TextBox 7"/>
          <p:cNvSpPr txBox="1"/>
          <p:nvPr/>
        </p:nvSpPr>
        <p:spPr>
          <a:xfrm>
            <a:off x="548640" y="1143000"/>
            <a:ext cx="10058400" cy="365760"/>
          </a:xfrm>
          <a:prstGeom prst="rect">
            <a:avLst/>
          </a:prstGeom>
          <a:noFill/>
        </p:spPr>
        <p:txBody>
          <a:bodyPr wrap="square" anchor="t">
            <a:spAutoFit/>
          </a:bodyPr>
          <a:lstStyle/>
          <a:p>
            <a:pPr algn="l"/>
            <a:r>
              <a:rPr sz="1300" b="1" i="0">
                <a:solidFill>
                  <a:srgbClr val="12A594"/>
                </a:solidFill>
                <a:latin typeface="Calibri"/>
              </a:rPr>
              <a:t>⏱ 建议用时：约50分钟</a:t>
            </a:r>
          </a:p>
        </p:txBody>
      </p:sp>
      <p:sp>
        <p:nvSpPr>
          <p:cNvPr id="9" name="TextBox 8"/>
          <p:cNvSpPr txBox="1"/>
          <p:nvPr/>
        </p:nvSpPr>
        <p:spPr>
          <a:xfrm>
            <a:off x="640080" y="1645920"/>
            <a:ext cx="10972800" cy="4572000"/>
          </a:xfrm>
          <a:prstGeom prst="rect">
            <a:avLst/>
          </a:prstGeom>
          <a:noFill/>
        </p:spPr>
        <p:txBody>
          <a:bodyPr wrap="square">
            <a:spAutoFit/>
          </a:bodyPr>
          <a:lstStyle/>
          <a:p>
            <a:r>
              <a:rPr sz="1550" b="1">
                <a:solidFill>
                  <a:srgbClr val="1E293B"/>
                </a:solidFill>
              </a:rPr>
              <a:t>作业 1　完成剑桥真题2套S2（计时），分别统计地图题和匹配题正确率</a:t>
            </a:r>
          </a:p>
          <a:p>
            <a:pPr>
              <a:spcBef>
                <a:spcPts val="1300"/>
              </a:spcBef>
            </a:pPr>
            <a:r>
              <a:rPr sz="1550" b="1">
                <a:solidFill>
                  <a:srgbClr val="1E293B"/>
                </a:solidFill>
              </a:rPr>
              <a:t>作业 2　制作20个方位词闪卡，每天5分钟闪认，直到每个词5秒内生成图像</a:t>
            </a:r>
          </a:p>
          <a:p>
            <a:pPr>
              <a:spcBef>
                <a:spcPts val="1300"/>
              </a:spcBef>
            </a:pPr>
            <a:r>
              <a:rPr sz="1550" b="1">
                <a:solidFill>
                  <a:srgbClr val="1E293B"/>
                </a:solidFill>
              </a:rPr>
              <a:t>作业 3　从一套S2精析：标出全部信号词，核对与题目转换点是否一致</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2B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280160"/>
            <a:ext cx="10058400" cy="548640"/>
          </a:xfrm>
          <a:prstGeom prst="rect">
            <a:avLst/>
          </a:prstGeom>
          <a:noFill/>
        </p:spPr>
        <p:txBody>
          <a:bodyPr wrap="square" anchor="t">
            <a:spAutoFit/>
          </a:bodyPr>
          <a:lstStyle/>
          <a:p>
            <a:pPr algn="l"/>
            <a:r>
              <a:rPr sz="1800" b="1" i="0">
                <a:solidFill>
                  <a:srgbClr val="12A594"/>
                </a:solidFill>
                <a:latin typeface="Calibri"/>
              </a:rPr>
              <a:t>下节预告  Next Lesson</a:t>
            </a:r>
          </a:p>
        </p:txBody>
      </p:sp>
      <p:sp>
        <p:nvSpPr>
          <p:cNvPr id="4" name="TextBox 3"/>
          <p:cNvSpPr txBox="1"/>
          <p:nvPr/>
        </p:nvSpPr>
        <p:spPr>
          <a:xfrm>
            <a:off x="914400" y="1920240"/>
            <a:ext cx="10332720" cy="914400"/>
          </a:xfrm>
          <a:prstGeom prst="rect">
            <a:avLst/>
          </a:prstGeom>
          <a:noFill/>
        </p:spPr>
        <p:txBody>
          <a:bodyPr wrap="square" anchor="t">
            <a:spAutoFit/>
          </a:bodyPr>
          <a:lstStyle/>
          <a:p>
            <a:pPr algn="l"/>
            <a:r>
              <a:rPr sz="3000" b="1" i="0">
                <a:solidFill>
                  <a:srgbClr val="FFFFFF"/>
                </a:solidFill>
                <a:latin typeface="Calibri"/>
              </a:rPr>
              <a:t>L04 · Section 3 学术对话攻略</a:t>
            </a:r>
          </a:p>
        </p:txBody>
      </p:sp>
      <p:sp>
        <p:nvSpPr>
          <p:cNvPr id="5" name="TextBox 4"/>
          <p:cNvSpPr txBox="1"/>
          <p:nvPr/>
        </p:nvSpPr>
        <p:spPr>
          <a:xfrm>
            <a:off x="914400" y="3200400"/>
            <a:ext cx="10332720" cy="2743200"/>
          </a:xfrm>
          <a:prstGeom prst="rect">
            <a:avLst/>
          </a:prstGeom>
          <a:noFill/>
        </p:spPr>
        <p:txBody>
          <a:bodyPr wrap="square">
            <a:spAutoFit/>
          </a:bodyPr>
          <a:lstStyle/>
          <a:p>
            <a:r>
              <a:rPr sz="1600">
                <a:solidFill>
                  <a:srgbClr val="CFDCF2"/>
                </a:solidFill>
              </a:rPr>
              <a:t>→ 多选题(Choose TWO)的系统解法</a:t>
            </a:r>
          </a:p>
          <a:p>
            <a:pPr>
              <a:spcBef>
                <a:spcPts val="1000"/>
              </a:spcBef>
            </a:pPr>
            <a:r>
              <a:rPr sz="1600">
                <a:solidFill>
                  <a:srgbClr val="CFDCF2"/>
                </a:solidFill>
              </a:rPr>
              <a:t>→ 2-4人说话人观点追踪技术</a:t>
            </a:r>
          </a:p>
          <a:p>
            <a:pPr>
              <a:spcBef>
                <a:spcPts val="1000"/>
              </a:spcBef>
            </a:pPr>
            <a:r>
              <a:rPr sz="1600">
                <a:solidFill>
                  <a:srgbClr val="CFDCF2"/>
                </a:solidFill>
              </a:rPr>
              <a:t>→ S3最高频的陷阱：观点归属混乱</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