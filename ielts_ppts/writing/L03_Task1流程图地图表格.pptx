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A01D"/>
                </a:solidFill>
                <a:latin typeface="Calibri"/>
              </a:rPr>
              <a:t>L03</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A01D"/>
                </a:solidFill>
                <a:latin typeface="Calibri"/>
              </a:rPr>
              <a:t>IELTS Writing 写作</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Task 1 流程图/地图/表格</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Process Diagrams · Maps · Tables</a:t>
            </a:r>
          </a:p>
        </p:txBody>
      </p:sp>
      <p:sp>
        <p:nvSpPr>
          <p:cNvPr id="10" name="Rounded Rectangle 9"/>
          <p:cNvSpPr/>
          <p:nvPr/>
        </p:nvSpPr>
        <p:spPr>
          <a:xfrm>
            <a:off x="777240" y="5669280"/>
            <a:ext cx="3840480" cy="54864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3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ounded Rectangle 6"/>
          <p:cNvSpPr/>
          <p:nvPr/>
        </p:nvSpPr>
        <p:spPr>
          <a:xfrm>
            <a:off x="54864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流程图：步骤与过程描述</a:t>
            </a:r>
          </a:p>
        </p:txBody>
      </p:sp>
      <p:sp>
        <p:nvSpPr>
          <p:cNvPr id="10" name="Rounded Rectangle 9"/>
          <p:cNvSpPr/>
          <p:nvPr/>
        </p:nvSpPr>
        <p:spPr>
          <a:xfrm>
            <a:off x="54864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地图：变化与对比描述</a:t>
            </a:r>
          </a:p>
        </p:txBody>
      </p:sp>
      <p:sp>
        <p:nvSpPr>
          <p:cNvPr id="13" name="Rounded Rectangle 12"/>
          <p:cNvSpPr/>
          <p:nvPr/>
        </p:nvSpPr>
        <p:spPr>
          <a:xfrm>
            <a:off x="54864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表格：数据选择与描述</a:t>
            </a:r>
          </a:p>
        </p:txBody>
      </p:sp>
      <p:sp>
        <p:nvSpPr>
          <p:cNvPr id="16" name="Rounded Rectangle 15"/>
          <p:cNvSpPr/>
          <p:nvPr/>
        </p:nvSpPr>
        <p:spPr>
          <a:xfrm>
            <a:off x="640080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被动语态在Task 1的应用</a:t>
            </a:r>
          </a:p>
        </p:txBody>
      </p:sp>
      <p:sp>
        <p:nvSpPr>
          <p:cNvPr id="19" name="Rounded Rectangle 18"/>
          <p:cNvSpPr/>
          <p:nvPr/>
        </p:nvSpPr>
        <p:spPr>
          <a:xfrm>
            <a:off x="640080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衔接词与逻辑顺序</a:t>
            </a:r>
          </a:p>
        </p:txBody>
      </p:sp>
      <p:sp>
        <p:nvSpPr>
          <p:cNvPr id="22" name="Rounded Rectangle 21"/>
          <p:cNvSpPr/>
          <p:nvPr/>
        </p:nvSpPr>
        <p:spPr>
          <a:xfrm>
            <a:off x="640080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综合练习与高分策略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流程图描述方法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Process Diagram Description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流程图核心词汇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Key Vocabulary for Process Diagrams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顺序连接</a:t>
            </a:r>
          </a:p>
          <a:p>
            <a:pPr>
              <a:spcBef>
                <a:spcPts val="100"/>
              </a:spcBef>
            </a:pPr>
            <a:r>
              <a:rPr sz="1500">
                <a:solidFill>
                  <a:srgbClr val="556075"/>
                </a:solidFill>
              </a:rPr>
              <a:t>   First / Then / Next / After that / Subsequently / Finally</a:t>
            </a:r>
          </a:p>
          <a:p>
            <a:pPr>
              <a:spcBef>
                <a:spcPts val="900"/>
              </a:spcBef>
            </a:pPr>
            <a:r>
              <a:rPr sz="1800" b="1">
                <a:solidFill>
                  <a:srgbClr val="472473"/>
                </a:solidFill>
              </a:rPr>
              <a:t>• 同时发生</a:t>
            </a:r>
          </a:p>
          <a:p>
            <a:pPr>
              <a:spcBef>
                <a:spcPts val="100"/>
              </a:spcBef>
            </a:pPr>
            <a:r>
              <a:rPr sz="1500">
                <a:solidFill>
                  <a:srgbClr val="556075"/>
                </a:solidFill>
              </a:rPr>
              <a:t>   simultaneously / at the same time / concurrently</a:t>
            </a:r>
          </a:p>
          <a:p>
            <a:pPr>
              <a:spcBef>
                <a:spcPts val="900"/>
              </a:spcBef>
            </a:pPr>
            <a:r>
              <a:rPr sz="1800" b="1">
                <a:solidFill>
                  <a:srgbClr val="472473"/>
                </a:solidFill>
              </a:rPr>
              <a:t>• 结果表达</a:t>
            </a:r>
          </a:p>
          <a:p>
            <a:pPr>
              <a:spcBef>
                <a:spcPts val="100"/>
              </a:spcBef>
            </a:pPr>
            <a:r>
              <a:rPr sz="1500">
                <a:solidFill>
                  <a:srgbClr val="556075"/>
                </a:solidFill>
              </a:rPr>
              <a:t>   as a result / consequently / leading to / resulting in</a:t>
            </a:r>
          </a:p>
          <a:p>
            <a:pPr>
              <a:spcBef>
                <a:spcPts val="900"/>
              </a:spcBef>
            </a:pPr>
            <a:r>
              <a:rPr sz="1800" b="1">
                <a:solidFill>
                  <a:srgbClr val="472473"/>
                </a:solidFill>
              </a:rPr>
              <a:t>• 被动语态</a:t>
            </a:r>
          </a:p>
          <a:p>
            <a:pPr>
              <a:spcBef>
                <a:spcPts val="100"/>
              </a:spcBef>
            </a:pPr>
            <a:r>
              <a:rPr sz="1500">
                <a:solidFill>
                  <a:srgbClr val="556075"/>
                </a:solidFill>
              </a:rPr>
              <a:t>   is heated / are mixed / is transported / is converted</a:t>
            </a:r>
          </a:p>
          <a:p>
            <a:pPr>
              <a:spcBef>
                <a:spcPts val="900"/>
              </a:spcBef>
            </a:pPr>
            <a:r>
              <a:rPr sz="1800" b="1">
                <a:solidFill>
                  <a:srgbClr val="472473"/>
                </a:solidFill>
              </a:rPr>
              <a:t>• 数量表达</a:t>
            </a:r>
          </a:p>
          <a:p>
            <a:pPr>
              <a:spcBef>
                <a:spcPts val="100"/>
              </a:spcBef>
            </a:pPr>
            <a:r>
              <a:rPr sz="1500">
                <a:solidFill>
                  <a:srgbClr val="556075"/>
                </a:solidFill>
              </a:rPr>
              <a:t>   a small amount of / a large quantity of / the majority of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流程图句型模板</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Sentence Patterns for Process Diagrams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被动开头</a:t>
            </a:r>
          </a:p>
          <a:p>
            <a:pPr>
              <a:spcBef>
                <a:spcPts val="100"/>
              </a:spcBef>
            </a:pPr>
            <a:r>
              <a:rPr sz="1500">
                <a:solidFill>
                  <a:srgbClr val="556075"/>
                </a:solidFill>
              </a:rPr>
              <a:t>   The raw materials are first collected and then transported to the factory.</a:t>
            </a:r>
          </a:p>
          <a:p>
            <a:pPr>
              <a:spcBef>
                <a:spcPts val="900"/>
              </a:spcBef>
            </a:pPr>
            <a:r>
              <a:rPr sz="1800" b="1">
                <a:solidFill>
                  <a:srgbClr val="472473"/>
                </a:solidFill>
              </a:rPr>
              <a:t>• 主动开头</a:t>
            </a:r>
          </a:p>
          <a:p>
            <a:pPr>
              <a:spcBef>
                <a:spcPts val="100"/>
              </a:spcBef>
            </a:pPr>
            <a:r>
              <a:rPr sz="1500">
                <a:solidFill>
                  <a:srgbClr val="556075"/>
                </a:solidFill>
              </a:rPr>
              <a:t>   Workers first collect the raw materials before transporting them.</a:t>
            </a:r>
          </a:p>
          <a:p>
            <a:pPr>
              <a:spcBef>
                <a:spcPts val="900"/>
              </a:spcBef>
            </a:pPr>
            <a:r>
              <a:rPr sz="1800" b="1">
                <a:solidFill>
                  <a:srgbClr val="472473"/>
                </a:solidFill>
              </a:rPr>
              <a:t>• 时间连接</a:t>
            </a:r>
          </a:p>
          <a:p>
            <a:pPr>
              <a:spcBef>
                <a:spcPts val="100"/>
              </a:spcBef>
            </a:pPr>
            <a:r>
              <a:rPr sz="1500">
                <a:solidFill>
                  <a:srgbClr val="556075"/>
                </a:solidFill>
              </a:rPr>
              <a:t>   After the mixture is heated, it is transferred to the next stage.</a:t>
            </a:r>
          </a:p>
          <a:p>
            <a:pPr>
              <a:spcBef>
                <a:spcPts val="900"/>
              </a:spcBef>
            </a:pPr>
            <a:r>
              <a:rPr sz="1800" b="1">
                <a:solidFill>
                  <a:srgbClr val="472473"/>
                </a:solidFill>
              </a:rPr>
              <a:t>• 结果连接</a:t>
            </a:r>
          </a:p>
          <a:p>
            <a:pPr>
              <a:spcBef>
                <a:spcPts val="100"/>
              </a:spcBef>
            </a:pPr>
            <a:r>
              <a:rPr sz="1500">
                <a:solidFill>
                  <a:srgbClr val="556075"/>
                </a:solidFill>
              </a:rPr>
              <a:t>   The filtration process removes impurities, resulting in clean water.</a:t>
            </a:r>
          </a:p>
          <a:p>
            <a:pPr>
              <a:spcBef>
                <a:spcPts val="900"/>
              </a:spcBef>
            </a:pPr>
            <a:r>
              <a:rPr sz="1800" b="1">
                <a:solidFill>
                  <a:srgbClr val="472473"/>
                </a:solidFill>
              </a:rPr>
              <a:t>• 最终阶段</a:t>
            </a:r>
          </a:p>
          <a:p>
            <a:pPr>
              <a:spcBef>
                <a:spcPts val="100"/>
              </a:spcBef>
            </a:pPr>
            <a:r>
              <a:rPr sz="1500">
                <a:solidFill>
                  <a:srgbClr val="556075"/>
                </a:solidFill>
              </a:rPr>
              <a:t>   Finally, the finished product is packaged and distributed to consumers.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流程图描述三步法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第一步：Overview（整体概述）
→ 有多少个步骤？
→ 起点是什么？终点是什么？
→ 是线性流程还是循环流程？
第二步：前半段流程描述
→ 按顺序描述前一半步骤
→ 每步用被动语态（材料被做什么）
→ 用first/then/next连接
第三步：后半段流程描述
→ 继续描述剩余步骤
→ 用after/subsequently/finally连接
→ 描述最终产品或结果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流程图 vs 图表的主要区别</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图表（折线/柱状/饼图）：
→ 描述数字和趋势
→ 重点：多少、多高、多大变化
→ 时态：过去时（历史数据）
流程图：
→ 描述步骤和过程
→ 重点：怎么做、顺序是什么
→ 时态：现在时（描述一般过程）
→ 大量使用被动语态
→ 不需要写数字！
关键：流程图考的是描述逻辑顺序的能力，不是数字描述能力</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流程图练习：水的净化过程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流程图描述以下水净化步骤（共6步）：
1.收集水源→ 2.粗过滤→ 3.加入化学物质→ 4.沉淀→ 5.精细过滤→ 6.净水储存并分配
任务：写Overview段和前半段描述</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Overview："Overall, the water purification process involves six distinct stages, beginning with the collection of water from natural sources and culminating in the distribution of clean, safe water."
前半段："Water is initially collected from rivers or reservoirs before undergoing preliminary filtration to remove large particles. Chemical substances, including chlorine and alum, are then added, causing impurities to clump together and sink to the bottom in a process known as sedimentation."</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流程图关键：①Overview说步骤数量和起终点 ②被动语态描述每个步骤 ③按顺序连接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流程图练习：后半段描述</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继续水净化流程，描述后半段（第4-6步）：
4.沉淀→ 5.精细过滤（沙层/炭层）→ 6.净水储存并分配
任务：写后半段描述（约80词）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"Following sedimentation, the water passes through a series of fine filters, typically comprising layers of sand and activated carbon, which remove remaining microscopic impurities. In the final stage, the purified water is stored in large tanks before being distributed through pipes to homes and businesses, completing the treatment process."
（约70词，覆盖3个步骤）</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Finally/In the final stage 标志结束；completing the process 是优质收尾表达</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地图描述方法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Map Description Techniques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地图核心词汇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Key Vocabulary for Map Description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位置表达</a:t>
            </a:r>
          </a:p>
          <a:p>
            <a:pPr>
              <a:spcBef>
                <a:spcPts val="100"/>
              </a:spcBef>
            </a:pPr>
            <a:r>
              <a:rPr sz="1500">
                <a:solidFill>
                  <a:srgbClr val="556075"/>
                </a:solidFill>
              </a:rPr>
              <a:t>   in the north/south/east/west / to the left/right / in the centre</a:t>
            </a:r>
          </a:p>
          <a:p>
            <a:pPr>
              <a:spcBef>
                <a:spcPts val="900"/>
              </a:spcBef>
            </a:pPr>
            <a:r>
              <a:rPr sz="1800" b="1">
                <a:solidFill>
                  <a:srgbClr val="472473"/>
                </a:solidFill>
              </a:rPr>
              <a:t>• 变化表达</a:t>
            </a:r>
          </a:p>
          <a:p>
            <a:pPr>
              <a:spcBef>
                <a:spcPts val="100"/>
              </a:spcBef>
            </a:pPr>
            <a:r>
              <a:rPr sz="1500">
                <a:solidFill>
                  <a:srgbClr val="556075"/>
                </a:solidFill>
              </a:rPr>
              <a:t>   has been built / was replaced by / has been demolished / was extended</a:t>
            </a:r>
          </a:p>
          <a:p>
            <a:pPr>
              <a:spcBef>
                <a:spcPts val="900"/>
              </a:spcBef>
            </a:pPr>
            <a:r>
              <a:rPr sz="1800" b="1">
                <a:solidFill>
                  <a:srgbClr val="472473"/>
                </a:solidFill>
              </a:rPr>
              <a:t>• 新增表达</a:t>
            </a:r>
          </a:p>
          <a:p>
            <a:pPr>
              <a:spcBef>
                <a:spcPts val="100"/>
              </a:spcBef>
            </a:pPr>
            <a:r>
              <a:rPr sz="1500">
                <a:solidFill>
                  <a:srgbClr val="556075"/>
                </a:solidFill>
              </a:rPr>
              <a:t>   a new X has been constructed / X has been added / a X was built</a:t>
            </a:r>
          </a:p>
          <a:p>
            <a:pPr>
              <a:spcBef>
                <a:spcPts val="900"/>
              </a:spcBef>
            </a:pPr>
            <a:r>
              <a:rPr sz="1800" b="1">
                <a:solidFill>
                  <a:srgbClr val="472473"/>
                </a:solidFill>
              </a:rPr>
              <a:t>• 移除表达</a:t>
            </a:r>
          </a:p>
          <a:p>
            <a:pPr>
              <a:spcBef>
                <a:spcPts val="100"/>
              </a:spcBef>
            </a:pPr>
            <a:r>
              <a:rPr sz="1500">
                <a:solidFill>
                  <a:srgbClr val="556075"/>
                </a:solidFill>
              </a:rPr>
              <a:t>   X was removed / X has been demolished / X no longer exists</a:t>
            </a:r>
          </a:p>
          <a:p>
            <a:pPr>
              <a:spcBef>
                <a:spcPts val="900"/>
              </a:spcBef>
            </a:pPr>
            <a:r>
              <a:rPr sz="1800" b="1">
                <a:solidFill>
                  <a:srgbClr val="472473"/>
                </a:solidFill>
              </a:rPr>
              <a:t>• 保留表达</a:t>
            </a:r>
          </a:p>
          <a:p>
            <a:pPr>
              <a:spcBef>
                <a:spcPts val="100"/>
              </a:spcBef>
            </a:pPr>
            <a:r>
              <a:rPr sz="1500">
                <a:solidFill>
                  <a:srgbClr val="556075"/>
                </a:solidFill>
              </a:rPr>
              <a:t>   X remains / X is still present / X has been retained / unchanged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地图变化描述句型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Sentence Patterns for Map Changes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新增</a:t>
            </a:r>
          </a:p>
          <a:p>
            <a:pPr>
              <a:spcBef>
                <a:spcPts val="100"/>
              </a:spcBef>
            </a:pPr>
            <a:r>
              <a:rPr sz="1500">
                <a:solidFill>
                  <a:srgbClr val="556075"/>
                </a:solidFill>
              </a:rPr>
              <a:t>   A supermarket has been constructed to the north of the town centre.</a:t>
            </a:r>
          </a:p>
          <a:p>
            <a:pPr>
              <a:spcBef>
                <a:spcPts val="900"/>
              </a:spcBef>
            </a:pPr>
            <a:r>
              <a:rPr sz="1800" b="1">
                <a:solidFill>
                  <a:srgbClr val="472473"/>
                </a:solidFill>
              </a:rPr>
              <a:t>• 移除</a:t>
            </a:r>
          </a:p>
          <a:p>
            <a:pPr>
              <a:spcBef>
                <a:spcPts val="100"/>
              </a:spcBef>
            </a:pPr>
            <a:r>
              <a:rPr sz="1500">
                <a:solidFill>
                  <a:srgbClr val="556075"/>
                </a:solidFill>
              </a:rPr>
              <a:t>   The old factory was demolished and replaced by a car park.</a:t>
            </a:r>
          </a:p>
          <a:p>
            <a:pPr>
              <a:spcBef>
                <a:spcPts val="900"/>
              </a:spcBef>
            </a:pPr>
            <a:r>
              <a:rPr sz="1800" b="1">
                <a:solidFill>
                  <a:srgbClr val="472473"/>
                </a:solidFill>
              </a:rPr>
              <a:t>• 扩建</a:t>
            </a:r>
          </a:p>
          <a:p>
            <a:pPr>
              <a:spcBef>
                <a:spcPts val="100"/>
              </a:spcBef>
            </a:pPr>
            <a:r>
              <a:rPr sz="1500">
                <a:solidFill>
                  <a:srgbClr val="556075"/>
                </a:solidFill>
              </a:rPr>
              <a:t>   The road has been widened and extended towards the eastern district.</a:t>
            </a:r>
          </a:p>
          <a:p>
            <a:pPr>
              <a:spcBef>
                <a:spcPts val="900"/>
              </a:spcBef>
            </a:pPr>
            <a:r>
              <a:rPr sz="1800" b="1">
                <a:solidFill>
                  <a:srgbClr val="472473"/>
                </a:solidFill>
              </a:rPr>
              <a:t>• 保留</a:t>
            </a:r>
          </a:p>
          <a:p>
            <a:pPr>
              <a:spcBef>
                <a:spcPts val="100"/>
              </a:spcBef>
            </a:pPr>
            <a:r>
              <a:rPr sz="1500">
                <a:solidFill>
                  <a:srgbClr val="556075"/>
                </a:solidFill>
              </a:rPr>
              <a:t>   The church remains in its original location in the town centre.</a:t>
            </a:r>
          </a:p>
          <a:p>
            <a:pPr>
              <a:spcBef>
                <a:spcPts val="900"/>
              </a:spcBef>
            </a:pPr>
            <a:r>
              <a:rPr sz="1800" b="1">
                <a:solidFill>
                  <a:srgbClr val="472473"/>
                </a:solidFill>
              </a:rPr>
              <a:t>• 位置</a:t>
            </a:r>
          </a:p>
          <a:p>
            <a:pPr>
              <a:spcBef>
                <a:spcPts val="100"/>
              </a:spcBef>
            </a:pPr>
            <a:r>
              <a:rPr sz="1500">
                <a:solidFill>
                  <a:srgbClr val="556075"/>
                </a:solidFill>
              </a:rPr>
              <a:t>   The new hospital is situated to the south-west of the school.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地图描述三步法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第一步：Overview（整体概述）
→ 两张地图（过去 vs 现在）：总体变化方向
→ 最主要的变化是什么？
→ 哪些区域变化最大？哪些保留不变？
第二步：主要变化描述（按区域/类型）
→ 按地图区域（北/南/东/西/中心）描述变化
→ 或按变化类型（新增/拆除/改建）分组
第三步：保留未变的部分
→ 指出哪些地标没有改变
→ 体现观察的全面性</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地图描述时态规则</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地图（过去vs现在/将来计划）时态规则：
过去→现在的变化：
→ 用现在完成时描述变化（has been built）
→ 或用被动语态过去时（was demolished）
现在→将来计划：
→ 用将来时（will be built/is planned to be）
→ 或现在计划的表达（is set to be developed）
当前状态：
→ 用现在时（is located/stands/remains）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地图描述练习：小镇变化</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两张地图：1990年 vs 2020年某小镇
1990年：中心有农场，北边是森林，南边是小路，东边是空地
2020年：农场→超市，森林→住宅区，小路→主干道，东边→工业园区
任务：写Overview段和主要变化描述</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Overview："Overall, the town has undergone significant transformation over 30 years, with agricultural land being replaced by commercial and residential developments, and road infrastructure substantially improved."
变化："The most dramatic change is the demolition of the central farm, replaced by a large supermarket. To the north, the original forest has been cleared for a residential area, while the southern path has been widened into a main road. The eastern land now houses an industrial estate."</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变化按区域方向组织（北/南/东/中）更清晰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地图描述练习：城市规划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规划地图（现状 vs 计划）：
现状：河边有旧仓库，旁边是停车场，附近有小公园
规划：拆除仓库→建文化中心，停车场→地下停车场（地面改公园），公园扩建连接河边步道
任务：描述规划变化</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"According to the plan, the riverside warehouse will be demolished to make way for a new cultural centre. The surface car park is set to be relocated underground, with the freed land integrated into an expanded green space. The small park will also be enlarged and connected to a riverside walkway, creating a continuous recreational corridor along the waterfront."</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将来规划用will be/is set to be/is planned to be描述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表格描述方法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Table Description Techniques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表格描述核心策略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Core Strategies for Table Description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找最高最低</a:t>
            </a:r>
          </a:p>
          <a:p>
            <a:pPr>
              <a:spcBef>
                <a:spcPts val="100"/>
              </a:spcBef>
            </a:pPr>
            <a:r>
              <a:rPr sz="1500">
                <a:solidFill>
                  <a:srgbClr val="556075"/>
                </a:solidFill>
              </a:rPr>
              <a:t>   表格中找出最大值和最小值——重点描述</a:t>
            </a:r>
          </a:p>
          <a:p>
            <a:pPr>
              <a:spcBef>
                <a:spcPts val="900"/>
              </a:spcBef>
            </a:pPr>
            <a:r>
              <a:rPr sz="1800" b="1">
                <a:solidFill>
                  <a:srgbClr val="472473"/>
                </a:solidFill>
              </a:rPr>
              <a:t>• 找规律</a:t>
            </a:r>
          </a:p>
          <a:p>
            <a:pPr>
              <a:spcBef>
                <a:spcPts val="100"/>
              </a:spcBef>
            </a:pPr>
            <a:r>
              <a:rPr sz="1500">
                <a:solidFill>
                  <a:srgbClr val="556075"/>
                </a:solidFill>
              </a:rPr>
              <a:t>   同行或同列是否有明显规律？</a:t>
            </a:r>
          </a:p>
          <a:p>
            <a:pPr>
              <a:spcBef>
                <a:spcPts val="900"/>
              </a:spcBef>
            </a:pPr>
            <a:r>
              <a:rPr sz="1800" b="1">
                <a:solidFill>
                  <a:srgbClr val="472473"/>
                </a:solidFill>
              </a:rPr>
              <a:t>• 选关键数据</a:t>
            </a:r>
          </a:p>
          <a:p>
            <a:pPr>
              <a:spcBef>
                <a:spcPts val="100"/>
              </a:spcBef>
            </a:pPr>
            <a:r>
              <a:rPr sz="1500">
                <a:solidFill>
                  <a:srgbClr val="556075"/>
                </a:solidFill>
              </a:rPr>
              <a:t>   不需要描述所有数字——选最重要的几个</a:t>
            </a:r>
          </a:p>
          <a:p>
            <a:pPr>
              <a:spcBef>
                <a:spcPts val="900"/>
              </a:spcBef>
            </a:pPr>
            <a:r>
              <a:rPr sz="1800" b="1">
                <a:solidFill>
                  <a:srgbClr val="472473"/>
                </a:solidFill>
              </a:rPr>
              <a:t>• 比较组别</a:t>
            </a:r>
          </a:p>
          <a:p>
            <a:pPr>
              <a:spcBef>
                <a:spcPts val="100"/>
              </a:spcBef>
            </a:pPr>
            <a:r>
              <a:rPr sz="1500">
                <a:solidFill>
                  <a:srgbClr val="556075"/>
                </a:solidFill>
              </a:rPr>
              <a:t>   不同行/列之间的对比——找出差异</a:t>
            </a:r>
          </a:p>
          <a:p>
            <a:pPr>
              <a:spcBef>
                <a:spcPts val="900"/>
              </a:spcBef>
            </a:pPr>
            <a:r>
              <a:rPr sz="1800" b="1">
                <a:solidFill>
                  <a:srgbClr val="472473"/>
                </a:solidFill>
              </a:rPr>
              <a:t>• 整体特征</a:t>
            </a:r>
          </a:p>
          <a:p>
            <a:pPr>
              <a:spcBef>
                <a:spcPts val="100"/>
              </a:spcBef>
            </a:pPr>
            <a:r>
              <a:rPr sz="1500">
                <a:solidFill>
                  <a:srgbClr val="556075"/>
                </a:solidFill>
              </a:rPr>
              <a:t>   是否某类普遍高于另一类？某年普遍增长？</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表格描述常用表达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Key Expressions for Tables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最高值</a:t>
            </a:r>
          </a:p>
          <a:p>
            <a:pPr>
              <a:spcBef>
                <a:spcPts val="100"/>
              </a:spcBef>
            </a:pPr>
            <a:r>
              <a:rPr sz="1500">
                <a:solidFill>
                  <a:srgbClr val="556075"/>
                </a:solidFill>
              </a:rPr>
              <a:t>   the highest figure was recorded for / topped the table at</a:t>
            </a:r>
          </a:p>
          <a:p>
            <a:pPr>
              <a:spcBef>
                <a:spcPts val="900"/>
              </a:spcBef>
            </a:pPr>
            <a:r>
              <a:rPr sz="1800" b="1">
                <a:solidFill>
                  <a:srgbClr val="472473"/>
                </a:solidFill>
              </a:rPr>
              <a:t>• 最低值</a:t>
            </a:r>
          </a:p>
          <a:p>
            <a:pPr>
              <a:spcBef>
                <a:spcPts val="100"/>
              </a:spcBef>
            </a:pPr>
            <a:r>
              <a:rPr sz="1500">
                <a:solidFill>
                  <a:srgbClr val="556075"/>
                </a:solidFill>
              </a:rPr>
              <a:t>   the lowest value was found in / ranked at the bottom with</a:t>
            </a:r>
          </a:p>
          <a:p>
            <a:pPr>
              <a:spcBef>
                <a:spcPts val="900"/>
              </a:spcBef>
            </a:pPr>
            <a:r>
              <a:rPr sz="1800" b="1">
                <a:solidFill>
                  <a:srgbClr val="472473"/>
                </a:solidFill>
              </a:rPr>
              <a:t>• 平均值</a:t>
            </a:r>
          </a:p>
          <a:p>
            <a:pPr>
              <a:spcBef>
                <a:spcPts val="100"/>
              </a:spcBef>
            </a:pPr>
            <a:r>
              <a:rPr sz="1500">
                <a:solidFill>
                  <a:srgbClr val="556075"/>
                </a:solidFill>
              </a:rPr>
              <a:t>   the average was approximately / averaging around</a:t>
            </a:r>
          </a:p>
          <a:p>
            <a:pPr>
              <a:spcBef>
                <a:spcPts val="900"/>
              </a:spcBef>
            </a:pPr>
            <a:r>
              <a:rPr sz="1800" b="1">
                <a:solidFill>
                  <a:srgbClr val="472473"/>
                </a:solidFill>
              </a:rPr>
              <a:t>• 整体规律</a:t>
            </a:r>
          </a:p>
          <a:p>
            <a:pPr>
              <a:spcBef>
                <a:spcPts val="100"/>
              </a:spcBef>
            </a:pPr>
            <a:r>
              <a:rPr sz="1500">
                <a:solidFill>
                  <a:srgbClr val="556075"/>
                </a:solidFill>
              </a:rPr>
              <a:t>   figures for X were consistently higher than Y across all categories</a:t>
            </a:r>
          </a:p>
          <a:p>
            <a:pPr>
              <a:spcBef>
                <a:spcPts val="900"/>
              </a:spcBef>
            </a:pPr>
            <a:r>
              <a:rPr sz="1800" b="1">
                <a:solidFill>
                  <a:srgbClr val="472473"/>
                </a:solidFill>
              </a:rPr>
              <a:t>• 例外情况</a:t>
            </a:r>
          </a:p>
          <a:p>
            <a:pPr>
              <a:spcBef>
                <a:spcPts val="100"/>
              </a:spcBef>
            </a:pPr>
            <a:r>
              <a:rPr sz="1500">
                <a:solidFill>
                  <a:srgbClr val="556075"/>
                </a:solidFill>
              </a:rPr>
              <a:t>   the only exception was / notably / however X differed from this pattern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表格描述三步法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第一步：引言（改写题目）
→ 同义词替换题目关键词
→ 说明表格显示什么数据
第二步：Overview（整体特征）
→ 不列具体数字
→ 指出最主要规律：哪类最高/最低？整体趋势？
第三步：细节描述
→ 选3-5个最重要的数据点描述
→ 使用比较句型（higher than/the most/followed by）
→ 指出例外情况（if any）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表格vs饼图vs柱状图的描述差异</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表格特点：
→ 数据维度多（行+列双维度）
→ 需要按行或列组织描述
→ 要找跨维度的规律
柱状图特点：
→ 单维度比较（一个变量）
→ 视觉上已排序，描述时保持顺序
饼图特点：
→ 强调比例和份额
→ 各部分加起来=100%
共同点：都是静态数据比较，都需要Overview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表格描述练习：Overview</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表格数据（2022年四城市各类犯罪率，每千人）：
         上海  北京  广州  深圳
盗窃:      12    15    18    10
抢劫:       3     5     7     2
欺诈:       8    10    12     9
暴力:       2     3     4     1
任务：写Overview段</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Overview："Overall, Guangzhou recorded the highest crime rates across most categories, while Shenzhen consistently showed the lowest figures. Theft was the most prevalent crime type in all four cities, with violent crime being the least common across the board."
分析：
→ 横向比较：广州整体最高，深圳整体最低
→ 纵向比较：盗窃&gt;欺诈&gt;抢劫&gt;暴力
→ Overview不需要具体数字</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表格Overview：①找整体规律 ②找最高/最低行/列 ③找普遍模式</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表格细节描述练习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继续上题，写细节描述段（选关键数据）</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"In terms of theft, Guangzhou had the highest rate at 18 per thousand residents, compared to just 10 in Shenzhen. Beijing and Shanghai recorded intermediate figures of 15 and 12 respectively. Robbery followed a similar pattern, with Guangzhou topping the table at 7, while Shenzhen recorded only 2. Fraud rates ranged from 8 in Shanghai to 12 in Guangzhou. Violent crime was minimal across all four cities, with figures ranging from just 1 to 4 incidents per thousand."</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细节段技巧：①按犯罪类型（行）或按城市（列）分组 ②指出最高最低 ③用respectively处理相近数据</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被动语态的应用</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Using Passive Voice in Task 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被动语态的构成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Passive Voice Construction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一般现在被动</a:t>
            </a:r>
          </a:p>
          <a:p>
            <a:pPr>
              <a:spcBef>
                <a:spcPts val="100"/>
              </a:spcBef>
            </a:pPr>
            <a:r>
              <a:rPr sz="1500">
                <a:solidFill>
                  <a:srgbClr val="556075"/>
                </a:solidFill>
              </a:rPr>
              <a:t>   is/are + 过去分词 (e.g., The water is filtered)</a:t>
            </a:r>
          </a:p>
          <a:p>
            <a:pPr>
              <a:spcBef>
                <a:spcPts val="900"/>
              </a:spcBef>
            </a:pPr>
            <a:r>
              <a:rPr sz="1800" b="1">
                <a:solidFill>
                  <a:srgbClr val="472473"/>
                </a:solidFill>
              </a:rPr>
              <a:t>• 一般过去被动</a:t>
            </a:r>
          </a:p>
          <a:p>
            <a:pPr>
              <a:spcBef>
                <a:spcPts val="100"/>
              </a:spcBef>
            </a:pPr>
            <a:r>
              <a:rPr sz="1500">
                <a:solidFill>
                  <a:srgbClr val="556075"/>
                </a:solidFill>
              </a:rPr>
              <a:t>   was/were + 过去分词 (e.g., The factory was built)</a:t>
            </a:r>
          </a:p>
          <a:p>
            <a:pPr>
              <a:spcBef>
                <a:spcPts val="900"/>
              </a:spcBef>
            </a:pPr>
            <a:r>
              <a:rPr sz="1800" b="1">
                <a:solidFill>
                  <a:srgbClr val="472473"/>
                </a:solidFill>
              </a:rPr>
              <a:t>• 现在完成被动</a:t>
            </a:r>
          </a:p>
          <a:p>
            <a:pPr>
              <a:spcBef>
                <a:spcPts val="100"/>
              </a:spcBef>
            </a:pPr>
            <a:r>
              <a:rPr sz="1500">
                <a:solidFill>
                  <a:srgbClr val="556075"/>
                </a:solidFill>
              </a:rPr>
              <a:t>   has/have been + 过去分词 (e.g., A road has been constructed)</a:t>
            </a:r>
          </a:p>
          <a:p>
            <a:pPr>
              <a:spcBef>
                <a:spcPts val="900"/>
              </a:spcBef>
            </a:pPr>
            <a:r>
              <a:rPr sz="1800" b="1">
                <a:solidFill>
                  <a:srgbClr val="472473"/>
                </a:solidFill>
              </a:rPr>
              <a:t>• 将来被动</a:t>
            </a:r>
          </a:p>
          <a:p>
            <a:pPr>
              <a:spcBef>
                <a:spcPts val="100"/>
              </a:spcBef>
            </a:pPr>
            <a:r>
              <a:rPr sz="1500">
                <a:solidFill>
                  <a:srgbClr val="556075"/>
                </a:solidFill>
              </a:rPr>
              <a:t>   will be + 过去分词 (e.g., The area will be developed)</a:t>
            </a:r>
          </a:p>
          <a:p>
            <a:pPr>
              <a:spcBef>
                <a:spcPts val="900"/>
              </a:spcBef>
            </a:pPr>
            <a:r>
              <a:rPr sz="1800" b="1">
                <a:solidFill>
                  <a:srgbClr val="472473"/>
                </a:solidFill>
              </a:rPr>
              <a:t>• 情态被动</a:t>
            </a:r>
          </a:p>
          <a:p>
            <a:pPr>
              <a:spcBef>
                <a:spcPts val="100"/>
              </a:spcBef>
            </a:pPr>
            <a:r>
              <a:rPr sz="1500">
                <a:solidFill>
                  <a:srgbClr val="556075"/>
                </a:solidFill>
              </a:rPr>
              <a:t>   can/should be + 过去分词 (e.g., The mixture should be heated)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何时使用被动语态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When to Use Passive Voice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流程图</a:t>
            </a:r>
          </a:p>
          <a:p>
            <a:pPr>
              <a:spcBef>
                <a:spcPts val="100"/>
              </a:spcBef>
            </a:pPr>
            <a:r>
              <a:rPr sz="1500">
                <a:solidFill>
                  <a:srgbClr val="556075"/>
                </a:solidFill>
              </a:rPr>
              <a:t>   几乎全程使用被动——强调"被做"而非"谁做"</a:t>
            </a:r>
          </a:p>
          <a:p>
            <a:pPr>
              <a:spcBef>
                <a:spcPts val="900"/>
              </a:spcBef>
            </a:pPr>
            <a:r>
              <a:rPr sz="1800" b="1">
                <a:solidFill>
                  <a:srgbClr val="472473"/>
                </a:solidFill>
              </a:rPr>
              <a:t>• 地图</a:t>
            </a:r>
          </a:p>
          <a:p>
            <a:pPr>
              <a:spcBef>
                <a:spcPts val="100"/>
              </a:spcBef>
            </a:pPr>
            <a:r>
              <a:rPr sz="1500">
                <a:solidFill>
                  <a:srgbClr val="556075"/>
                </a:solidFill>
              </a:rPr>
              <a:t>   变化描述常用被动（has been built/was replaced）</a:t>
            </a:r>
          </a:p>
          <a:p>
            <a:pPr>
              <a:spcBef>
                <a:spcPts val="900"/>
              </a:spcBef>
            </a:pPr>
            <a:r>
              <a:rPr sz="1800" b="1">
                <a:solidFill>
                  <a:srgbClr val="472473"/>
                </a:solidFill>
              </a:rPr>
              <a:t>• 学术风格</a:t>
            </a:r>
          </a:p>
          <a:p>
            <a:pPr>
              <a:spcBef>
                <a:spcPts val="100"/>
              </a:spcBef>
            </a:pPr>
            <a:r>
              <a:rPr sz="1500">
                <a:solidFill>
                  <a:srgbClr val="556075"/>
                </a:solidFill>
              </a:rPr>
              <a:t>   被动语态使Task 1更客观学术——符合评分期望</a:t>
            </a:r>
          </a:p>
          <a:p>
            <a:pPr>
              <a:spcBef>
                <a:spcPts val="900"/>
              </a:spcBef>
            </a:pPr>
            <a:r>
              <a:rPr sz="1800" b="1">
                <a:solidFill>
                  <a:srgbClr val="472473"/>
                </a:solidFill>
              </a:rPr>
              <a:t>• 避免重复主语</a:t>
            </a:r>
          </a:p>
          <a:p>
            <a:pPr>
              <a:spcBef>
                <a:spcPts val="100"/>
              </a:spcBef>
            </a:pPr>
            <a:r>
              <a:rPr sz="1500">
                <a:solidFill>
                  <a:srgbClr val="556075"/>
                </a:solidFill>
              </a:rPr>
              <a:t>   不必每句都说"workers do..."</a:t>
            </a:r>
          </a:p>
          <a:p>
            <a:pPr>
              <a:spcBef>
                <a:spcPts val="900"/>
              </a:spcBef>
            </a:pPr>
            <a:r>
              <a:rPr sz="1800" b="1">
                <a:solidFill>
                  <a:srgbClr val="472473"/>
                </a:solidFill>
              </a:rPr>
              <a:t>• 强调结果</a:t>
            </a:r>
          </a:p>
          <a:p>
            <a:pPr>
              <a:spcBef>
                <a:spcPts val="100"/>
              </a:spcBef>
            </a:pPr>
            <a:r>
              <a:rPr sz="1500">
                <a:solidFill>
                  <a:srgbClr val="556075"/>
                </a:solidFill>
              </a:rPr>
              <a:t>   被动将焦点放在变化结果上，而非行动者</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被动语态练习：主动改被动</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将以下主动句改写为被动句：
1. Workers heat the mixture to 100 degrees. → ?
2. Engineers constructed the bridge in 1990. → ?
3. The company has replaced the old factory with a shopping centre. → ?
4. They will develop the eastern district next year. → ?
参考答案：
1. The mixture is heated to 100 degrees.
2. The bridge was constructed in 1990.
3. The old factory has been replaced by a shopping centre.
4. The eastern district will be developed next year.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被动语态流程图链条示范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流程图被动语态链：
"Raw materials are collected → transported → processed → filtered → packaged → distributed"
每个步骤都用被动：is/are + 过去分词
步骤间用then/subsequently/after that连接
完整示例：
"Raw materials are first collected from suppliers. They are then transported to the processing plant, where they are sorted by type. Subsequently, the materials are heated and combined to form a compound, which is finally packaged and distributed to retailers."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被动语态流程图练习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流程图：纸张的生产过程
1.树木被砍伐 → 2.木材被切割成碎片 → 3.碎片与化学物质混合 → 4.混合物被加热 → 5.纸浆展平烘干 → 6.纸张切割包装
任务：用被动语态描述整个过程（约75词）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"First, trees are felled and the wood is cut into small chips. These chips are then mixed with chemical solutions in large vats, after which the mixture is heated to break down the fibres. The resulting pulp is spread onto flat surfaces and dried to form sheets. Finally, the paper is cut to the required size and packaged for distribution."
（全程被动语态，6步骤全覆盖）</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流程图被动语态公式：主语（材料）+ is/are + 过去分词 + 时间/方式状语</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地图变化被动语态练习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地图变化（1980年→2020年）：
1.北边农场→超市 2.南边森林→公园 3.中心小路→宽阔大道 4.东边空地→学校
任务：用被动语态描述这些变化（约70词）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"The farm in the northern area has been demolished and replaced by a large supermarket. In the south, the original forest has been cleared and converted into a public park. The narrow central path has been widened into a broad avenue to accommodate increased traffic. The previously undeveloped land in the east has been utilised for the construction of a new school."</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地图变化被动公式：has been + demolished/replaced/constructed/converted/extended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衔接词与逻辑顺序</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Cohesive Devices &amp; Logical Order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顺序类衔接词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Sequential Cohesive Devices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开始</a:t>
            </a:r>
          </a:p>
          <a:p>
            <a:pPr>
              <a:spcBef>
                <a:spcPts val="100"/>
              </a:spcBef>
            </a:pPr>
            <a:r>
              <a:rPr sz="1500">
                <a:solidFill>
                  <a:srgbClr val="556075"/>
                </a:solidFill>
              </a:rPr>
              <a:t>   First / Firstly / Initially / To begin with / At the outset</a:t>
            </a:r>
          </a:p>
          <a:p>
            <a:pPr>
              <a:spcBef>
                <a:spcPts val="900"/>
              </a:spcBef>
            </a:pPr>
            <a:r>
              <a:rPr sz="1800" b="1">
                <a:solidFill>
                  <a:srgbClr val="472473"/>
                </a:solidFill>
              </a:rPr>
              <a:t>• 中间</a:t>
            </a:r>
          </a:p>
          <a:p>
            <a:pPr>
              <a:spcBef>
                <a:spcPts val="100"/>
              </a:spcBef>
            </a:pPr>
            <a:r>
              <a:rPr sz="1500">
                <a:solidFill>
                  <a:srgbClr val="556075"/>
                </a:solidFill>
              </a:rPr>
              <a:t>   Then / Next / Subsequently / Following this / After that</a:t>
            </a:r>
          </a:p>
          <a:p>
            <a:pPr>
              <a:spcBef>
                <a:spcPts val="900"/>
              </a:spcBef>
            </a:pPr>
            <a:r>
              <a:rPr sz="1800" b="1">
                <a:solidFill>
                  <a:srgbClr val="472473"/>
                </a:solidFill>
              </a:rPr>
              <a:t>• 同时</a:t>
            </a:r>
          </a:p>
          <a:p>
            <a:pPr>
              <a:spcBef>
                <a:spcPts val="100"/>
              </a:spcBef>
            </a:pPr>
            <a:r>
              <a:rPr sz="1500">
                <a:solidFill>
                  <a:srgbClr val="556075"/>
                </a:solidFill>
              </a:rPr>
              <a:t>   Meanwhile / Simultaneously / At the same time / Concurrently</a:t>
            </a:r>
          </a:p>
          <a:p>
            <a:pPr>
              <a:spcBef>
                <a:spcPts val="900"/>
              </a:spcBef>
            </a:pPr>
            <a:r>
              <a:rPr sz="1800" b="1">
                <a:solidFill>
                  <a:srgbClr val="472473"/>
                </a:solidFill>
              </a:rPr>
              <a:t>• 结果</a:t>
            </a:r>
          </a:p>
          <a:p>
            <a:pPr>
              <a:spcBef>
                <a:spcPts val="100"/>
              </a:spcBef>
            </a:pPr>
            <a:r>
              <a:rPr sz="1500">
                <a:solidFill>
                  <a:srgbClr val="556075"/>
                </a:solidFill>
              </a:rPr>
              <a:t>   As a result / Consequently / Therefore / This leads to</a:t>
            </a:r>
          </a:p>
          <a:p>
            <a:pPr>
              <a:spcBef>
                <a:spcPts val="900"/>
              </a:spcBef>
            </a:pPr>
            <a:r>
              <a:rPr sz="1800" b="1">
                <a:solidFill>
                  <a:srgbClr val="472473"/>
                </a:solidFill>
              </a:rPr>
              <a:t>• 最后</a:t>
            </a:r>
          </a:p>
          <a:p>
            <a:pPr>
              <a:spcBef>
                <a:spcPts val="100"/>
              </a:spcBef>
            </a:pPr>
            <a:r>
              <a:rPr sz="1500">
                <a:solidFill>
                  <a:srgbClr val="556075"/>
                </a:solidFill>
              </a:rPr>
              <a:t>   Finally / Lastly / In the final stage / Upon completion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对比类衔接词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Contrastive Cohesive Devices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对比</a:t>
            </a:r>
          </a:p>
          <a:p>
            <a:pPr>
              <a:spcBef>
                <a:spcPts val="100"/>
              </a:spcBef>
            </a:pPr>
            <a:r>
              <a:rPr sz="1500">
                <a:solidFill>
                  <a:srgbClr val="556075"/>
                </a:solidFill>
              </a:rPr>
              <a:t>   In contrast / However / On the other hand / Conversely</a:t>
            </a:r>
          </a:p>
          <a:p>
            <a:pPr>
              <a:spcBef>
                <a:spcPts val="900"/>
              </a:spcBef>
            </a:pPr>
            <a:r>
              <a:rPr sz="1800" b="1">
                <a:solidFill>
                  <a:srgbClr val="472473"/>
                </a:solidFill>
              </a:rPr>
              <a:t>• 相似</a:t>
            </a:r>
          </a:p>
          <a:p>
            <a:pPr>
              <a:spcBef>
                <a:spcPts val="100"/>
              </a:spcBef>
            </a:pPr>
            <a:r>
              <a:rPr sz="1500">
                <a:solidFill>
                  <a:srgbClr val="556075"/>
                </a:solidFill>
              </a:rPr>
              <a:t>   Similarly / Likewise / In the same way / Equally</a:t>
            </a:r>
          </a:p>
          <a:p>
            <a:pPr>
              <a:spcBef>
                <a:spcPts val="900"/>
              </a:spcBef>
            </a:pPr>
            <a:r>
              <a:rPr sz="1800" b="1">
                <a:solidFill>
                  <a:srgbClr val="472473"/>
                </a:solidFill>
              </a:rPr>
              <a:t>• 例外</a:t>
            </a:r>
          </a:p>
          <a:p>
            <a:pPr>
              <a:spcBef>
                <a:spcPts val="100"/>
              </a:spcBef>
            </a:pPr>
            <a:r>
              <a:rPr sz="1500">
                <a:solidFill>
                  <a:srgbClr val="556075"/>
                </a:solidFill>
              </a:rPr>
              <a:t>   Notably / The only exception being / However / Unlike other</a:t>
            </a:r>
          </a:p>
          <a:p>
            <a:pPr>
              <a:spcBef>
                <a:spcPts val="900"/>
              </a:spcBef>
            </a:pPr>
            <a:r>
              <a:rPr sz="1800" b="1">
                <a:solidFill>
                  <a:srgbClr val="472473"/>
                </a:solidFill>
              </a:rPr>
              <a:t>• 强调</a:t>
            </a:r>
          </a:p>
          <a:p>
            <a:pPr>
              <a:spcBef>
                <a:spcPts val="100"/>
              </a:spcBef>
            </a:pPr>
            <a:r>
              <a:rPr sz="1500">
                <a:solidFill>
                  <a:srgbClr val="556075"/>
                </a:solidFill>
              </a:rPr>
              <a:t>   Particularly / Especially / Most notably / Remarkably</a:t>
            </a:r>
          </a:p>
          <a:p>
            <a:pPr>
              <a:spcBef>
                <a:spcPts val="900"/>
              </a:spcBef>
            </a:pPr>
            <a:r>
              <a:rPr sz="1800" b="1">
                <a:solidFill>
                  <a:srgbClr val="472473"/>
                </a:solidFill>
              </a:rPr>
              <a:t>• 补充</a:t>
            </a:r>
          </a:p>
          <a:p>
            <a:pPr>
              <a:spcBef>
                <a:spcPts val="100"/>
              </a:spcBef>
            </a:pPr>
            <a:r>
              <a:rPr sz="1500">
                <a:solidFill>
                  <a:srgbClr val="556075"/>
                </a:solidFill>
              </a:rPr>
              <a:t>   Furthermore / In addition / Moreover / Additionally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流程图逻辑顺序示范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流程图写作逻辑顺序：
第一原则：严格按图表顺序——不能跳步骤
连接模板：
"First, X is/are [done]. The [resulting material] is then [processed]. Subsequently, [next step]. After [step N], the [material] is [done]. Finally, [last step], completing the process."
注意事项：
→ 每个步骤必须出现（不能省略）
→ 被动语态为主
→ 流程完整性比词汇多样更重要
→ 最后一步后用completing/concluding等词收尾</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地图描述逻辑组织方法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地图描述的两种组织方法：
方法1：按方向/区域组织
"In the northern area... In the south... At the centre... To the east..."
→ 优点：清晰，读者容易追踪位置
→ 适合：变化分布在不同地理区域
方法2：按变化类型组织
"New buildings were constructed... Several structures were demolished... The road network was expanded..."
→ 优点：逻辑分类清晰
→ 适合：同类变化较多时
建议：两种方法结合使用</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衔接词运用练习：流程图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给以下流程图步骤加上适当衔接词，使描述连贯流畅：
步骤：[收集原料] [运至工厂] [分类处理] [加热混合] [冷却成型] [质检包装]
任务：写出连贯的流程描述（每步一句，共6句）</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"First, raw materials are collected from suppliers across the region. They are then transported to the main processing facility. Upon arrival, the materials are sorted and categorised according to type. Subsequently, they are heated and mixed to form a uniform compound. Once cooled, the mixture is moulded into the required shape. Finally, each unit undergoes quality inspection before being packaged for distribution."</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每步一句，衔接词多样（first/then/upon/subsequently/once/finally）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综合练习：考场快速决策策略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考场遇到流程图和地图时的快速决策：
流程图：
→ 问：几步？线性还是循环？起点终点？
→ 写：被动语态+时间顺序连接词
地图（两张）：
→ 问：哪里变了？哪里没变？最大变化？
→ 写：变化被动语态+位置表达
两种图最容易犯的错误：
流程图：用主动语态写（应用被动）
地图：只写了一张图，忘记对比</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流程图/地图答题首要原则：花2分钟仔细读图，再开始写</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 流程图范文：巧克力生产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题目：流程图显示巧克力的生产过程（共8步）：采摘可可豆→发酵→干燥→运输→烘焙→研磨→添加成分→冷却成型→包装销售</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引言：The diagram illustrates the process by which cocoa beans are transformed into finished chocolate products, from initial harvesting through to final packaging.
Overall, the production process consists of approximately nine distinct stages, beginning with the harvesting of cocoa beans in tropical regions and culminating in the packaged product ready for sale.
前半段：Cocoa pods are first harvested by hand before the beans are extracted and left to ferment for several days. They are then dried—often in the sun—before being transported to chocolate manufacturing facilities. Upon arrival, the beans are roasted to develop their characteristic flavour.
后半段：Following roasting, the beans are ground into a liquid form known as cocoa mass. Additional ingredients, including sugar and milk, are then combined with the cocoa. The resulting mixture is cooled and moulded into bars, which are finally wrapped and packaged for distribution.</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引言改写：uses "transformed into" and "from...through to" — avoids copying the prompt</a:t>
            </a:r>
          </a:p>
          <a:p>
            <a:pPr>
              <a:spcBef>
                <a:spcPts val="700"/>
              </a:spcBef>
            </a:pPr>
            <a:r>
              <a:rPr sz="1200">
                <a:solidFill>
                  <a:srgbClr val="1E293B"/>
                </a:solidFill>
              </a:rPr>
              <a:t>▸ Overview：明确说步骤数量（approximately nine）和起终点</a:t>
            </a:r>
          </a:p>
          <a:p>
            <a:pPr>
              <a:spcBef>
                <a:spcPts val="700"/>
              </a:spcBef>
            </a:pPr>
            <a:r>
              <a:rPr sz="1200">
                <a:solidFill>
                  <a:srgbClr val="1E293B"/>
                </a:solidFill>
              </a:rPr>
              <a:t>▸ 被动语态贯穿全文：are harvested/extracted/fermented/dried/roasted/ground</a:t>
            </a:r>
          </a:p>
          <a:p>
            <a:pPr>
              <a:spcBef>
                <a:spcPts val="700"/>
              </a:spcBef>
            </a:pPr>
            <a:r>
              <a:rPr sz="1200">
                <a:solidFill>
                  <a:srgbClr val="1E293B"/>
                </a:solidFill>
              </a:rPr>
              <a:t>▸ 连接词多样：first/then/upon arrival/following/finally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 地图范文：小镇30年变化</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题目：两张地图显示某英国小镇1990年和2020年的变化</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引言：The maps illustrate how a small English town changed between 1990 and 2020.
Overall, the town underwent considerable urbanisation over the three-decade period, with agricultural land being replaced by commercial and residential developments, and the road infrastructure significantly expanded.
主要变化：The most dramatic change was the demolition of the central farm, which has been replaced by a large shopping centre. To the north, the woodland has been cleared to make way for a new residential area. In the east, a previously empty field now houses an industrial estate, while the narrow southern lane has been widened into a dual carriageway.
保留部分：Despite these changes, the historic church in the town centre and the original market square have been retained, preserving the town's historic character.</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引言改写：uses "illustrate how...changed" rather than copying prompt</a:t>
            </a:r>
          </a:p>
          <a:p>
            <a:pPr>
              <a:spcBef>
                <a:spcPts val="700"/>
              </a:spcBef>
            </a:pPr>
            <a:r>
              <a:rPr sz="1200">
                <a:solidFill>
                  <a:srgbClr val="1E293B"/>
                </a:solidFill>
              </a:rPr>
              <a:t>▸ Overview：城市化方向+最大变化（不含具体位置细节）</a:t>
            </a:r>
          </a:p>
          <a:p>
            <a:pPr>
              <a:spcBef>
                <a:spcPts val="700"/>
              </a:spcBef>
            </a:pPr>
            <a:r>
              <a:rPr sz="1200">
                <a:solidFill>
                  <a:srgbClr val="1E293B"/>
                </a:solidFill>
              </a:rPr>
              <a:t>▸ 变化按区域描述：中心/北/东/南——清晰有层次</a:t>
            </a:r>
          </a:p>
          <a:p>
            <a:pPr>
              <a:spcBef>
                <a:spcPts val="700"/>
              </a:spcBef>
            </a:pPr>
            <a:r>
              <a:rPr sz="1200">
                <a:solidFill>
                  <a:srgbClr val="1E293B"/>
                </a:solidFill>
              </a:rPr>
              <a:t>▸ 保留部分最后提及：体现观察全面性</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流程图 vs 地图：描述策略对比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流程图</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地图（两张对比）</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时态：现在时（描述一般过程）</a:t>
            </a:r>
          </a:p>
          <a:p>
            <a:pPr>
              <a:spcBef>
                <a:spcPts val="700"/>
              </a:spcBef>
            </a:pPr>
            <a:r>
              <a:rPr sz="1350">
                <a:solidFill>
                  <a:srgbClr val="C02A2A"/>
                </a:solidFill>
              </a:rPr>
              <a:t>✗ 语态：大量使用被动语态</a:t>
            </a:r>
          </a:p>
          <a:p>
            <a:pPr>
              <a:spcBef>
                <a:spcPts val="700"/>
              </a:spcBef>
            </a:pPr>
            <a:r>
              <a:rPr sz="1350">
                <a:solidFill>
                  <a:srgbClr val="C02A2A"/>
                </a:solidFill>
              </a:rPr>
              <a:t>✗ 连接：顺序词（first/then/finally）</a:t>
            </a:r>
          </a:p>
          <a:p>
            <a:pPr>
              <a:spcBef>
                <a:spcPts val="700"/>
              </a:spcBef>
            </a:pPr>
            <a:r>
              <a:rPr sz="1350">
                <a:solidFill>
                  <a:srgbClr val="C02A2A"/>
                </a:solidFill>
              </a:rPr>
              <a:t>✗ Overview：步骤数量+起点+终点</a:t>
            </a:r>
          </a:p>
          <a:p>
            <a:pPr>
              <a:spcBef>
                <a:spcPts val="700"/>
              </a:spcBef>
            </a:pPr>
            <a:r>
              <a:rPr sz="1350">
                <a:solidFill>
                  <a:srgbClr val="C02A2A"/>
                </a:solidFill>
              </a:rPr>
              <a:t>✗ 重点：完整描述每个步骤</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时态：过去时/现在完成时</a:t>
            </a:r>
          </a:p>
          <a:p>
            <a:pPr>
              <a:spcBef>
                <a:spcPts val="700"/>
              </a:spcBef>
            </a:pPr>
            <a:r>
              <a:rPr sz="1350">
                <a:solidFill>
                  <a:srgbClr val="1B7A3D"/>
                </a:solidFill>
              </a:rPr>
              <a:t>✓ 语态：被动为主（has been built）</a:t>
            </a:r>
          </a:p>
          <a:p>
            <a:pPr>
              <a:spcBef>
                <a:spcPts val="700"/>
              </a:spcBef>
            </a:pPr>
            <a:r>
              <a:rPr sz="1350">
                <a:solidFill>
                  <a:srgbClr val="1B7A3D"/>
                </a:solidFill>
              </a:rPr>
              <a:t>✓ 连接：位置词（to the north/in the centre）</a:t>
            </a:r>
          </a:p>
          <a:p>
            <a:pPr>
              <a:spcBef>
                <a:spcPts val="700"/>
              </a:spcBef>
            </a:pPr>
            <a:r>
              <a:rPr sz="1350">
                <a:solidFill>
                  <a:srgbClr val="1B7A3D"/>
                </a:solidFill>
              </a:rPr>
              <a:t>✓ Overview：主要变化方向+最大变化</a:t>
            </a:r>
          </a:p>
          <a:p>
            <a:pPr>
              <a:spcBef>
                <a:spcPts val="700"/>
              </a:spcBef>
            </a:pPr>
            <a:r>
              <a:rPr sz="1350">
                <a:solidFill>
                  <a:srgbClr val="1B7A3D"/>
                </a:solidFill>
              </a:rPr>
              <a:t>✓ 重点：对比变化+保留不变的部分</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表格 vs 柱状图：描述差异</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表格（Table）</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柱状图（Bar Chart）</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数据：多行多列（双维度）</a:t>
            </a:r>
          </a:p>
          <a:p>
            <a:pPr>
              <a:spcBef>
                <a:spcPts val="700"/>
              </a:spcBef>
            </a:pPr>
            <a:r>
              <a:rPr sz="1350">
                <a:solidFill>
                  <a:srgbClr val="C02A2A"/>
                </a:solidFill>
              </a:rPr>
              <a:t>✗ 策略：先找整体规律（行/列）</a:t>
            </a:r>
          </a:p>
          <a:p>
            <a:pPr>
              <a:spcBef>
                <a:spcPts val="700"/>
              </a:spcBef>
            </a:pPr>
            <a:r>
              <a:rPr sz="1350">
                <a:solidFill>
                  <a:srgbClr val="C02A2A"/>
                </a:solidFill>
              </a:rPr>
              <a:t>✗ 重点：跨维度规律和例外情况</a:t>
            </a:r>
          </a:p>
          <a:p>
            <a:pPr>
              <a:spcBef>
                <a:spcPts val="700"/>
              </a:spcBef>
            </a:pPr>
            <a:r>
              <a:rPr sz="1350">
                <a:solidFill>
                  <a:srgbClr val="C02A2A"/>
                </a:solidFill>
              </a:rPr>
              <a:t>✗ Overview：哪行/列最高/低？整体规律？</a:t>
            </a:r>
          </a:p>
          <a:p>
            <a:pPr>
              <a:spcBef>
                <a:spcPts val="700"/>
              </a:spcBef>
            </a:pPr>
            <a:r>
              <a:rPr sz="1350">
                <a:solidFill>
                  <a:srgbClr val="C02A2A"/>
                </a:solidFill>
              </a:rPr>
              <a:t>✗ 技巧：按行或按列组织描述</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数据：单维度（一个变量）</a:t>
            </a:r>
          </a:p>
          <a:p>
            <a:pPr>
              <a:spcBef>
                <a:spcPts val="700"/>
              </a:spcBef>
            </a:pPr>
            <a:r>
              <a:rPr sz="1350">
                <a:solidFill>
                  <a:srgbClr val="1B7A3D"/>
                </a:solidFill>
              </a:rPr>
              <a:t>✓ 策略：按高低排序描述</a:t>
            </a:r>
          </a:p>
          <a:p>
            <a:pPr>
              <a:spcBef>
                <a:spcPts val="700"/>
              </a:spcBef>
            </a:pPr>
            <a:r>
              <a:rPr sz="1350">
                <a:solidFill>
                  <a:srgbClr val="1B7A3D"/>
                </a:solidFill>
              </a:rPr>
              <a:t>✓ 重点：最高最低和主要差距</a:t>
            </a:r>
          </a:p>
          <a:p>
            <a:pPr>
              <a:spcBef>
                <a:spcPts val="700"/>
              </a:spcBef>
            </a:pPr>
            <a:r>
              <a:rPr sz="1350">
                <a:solidFill>
                  <a:srgbClr val="1B7A3D"/>
                </a:solidFill>
              </a:rPr>
              <a:t>✓ Overview：最高最低+整体分布</a:t>
            </a:r>
          </a:p>
          <a:p>
            <a:pPr>
              <a:spcBef>
                <a:spcPts val="700"/>
              </a:spcBef>
            </a:pPr>
            <a:r>
              <a:rPr sz="1350">
                <a:solidFill>
                  <a:srgbClr val="1B7A3D"/>
                </a:solidFill>
              </a:rPr>
              <a:t>✓ 技巧：用倍数和差距表达比较</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流程图写作7步法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8016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472473"/>
                </a:solidFill>
                <a:latin typeface="Calibri"/>
              </a:rPr>
              <a:t>读图（2分钟）</a:t>
            </a:r>
          </a:p>
        </p:txBody>
      </p:sp>
      <p:sp>
        <p:nvSpPr>
          <p:cNvPr id="12" name="TextBox 11"/>
          <p:cNvSpPr txBox="1"/>
          <p:nvPr/>
        </p:nvSpPr>
        <p:spPr>
          <a:xfrm>
            <a:off x="1417320" y="1645919"/>
            <a:ext cx="10058400" cy="313508"/>
          </a:xfrm>
          <a:prstGeom prst="rect">
            <a:avLst/>
          </a:prstGeom>
          <a:noFill/>
        </p:spPr>
        <p:txBody>
          <a:bodyPr wrap="square" anchor="t">
            <a:spAutoFit/>
          </a:bodyPr>
          <a:lstStyle/>
          <a:p>
            <a:pPr algn="l"/>
            <a:r>
              <a:rPr sz="1350" b="0" i="0">
                <a:solidFill>
                  <a:srgbClr val="556075"/>
                </a:solidFill>
                <a:latin typeface="Calibri"/>
              </a:rPr>
              <a:t>数步骤；找起点和终点；判断是线性还是循环</a:t>
            </a:r>
          </a:p>
        </p:txBody>
      </p:sp>
      <p:sp>
        <p:nvSpPr>
          <p:cNvPr id="13" name="Rounded Rectangle 12"/>
          <p:cNvSpPr/>
          <p:nvPr/>
        </p:nvSpPr>
        <p:spPr>
          <a:xfrm>
            <a:off x="548640" y="1959428"/>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014292"/>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617796"/>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1959428"/>
            <a:ext cx="10058400" cy="411480"/>
          </a:xfrm>
          <a:prstGeom prst="rect">
            <a:avLst/>
          </a:prstGeom>
          <a:noFill/>
        </p:spPr>
        <p:txBody>
          <a:bodyPr wrap="square" anchor="t">
            <a:spAutoFit/>
          </a:bodyPr>
          <a:lstStyle/>
          <a:p>
            <a:pPr algn="l"/>
            <a:r>
              <a:rPr sz="1600" b="1" i="0">
                <a:solidFill>
                  <a:srgbClr val="472473"/>
                </a:solidFill>
                <a:latin typeface="Calibri"/>
              </a:rPr>
              <a:t>写引言</a:t>
            </a:r>
          </a:p>
        </p:txBody>
      </p:sp>
      <p:sp>
        <p:nvSpPr>
          <p:cNvPr id="17" name="TextBox 16"/>
          <p:cNvSpPr txBox="1"/>
          <p:nvPr/>
        </p:nvSpPr>
        <p:spPr>
          <a:xfrm>
            <a:off x="1417320" y="2325188"/>
            <a:ext cx="10058400" cy="313508"/>
          </a:xfrm>
          <a:prstGeom prst="rect">
            <a:avLst/>
          </a:prstGeom>
          <a:noFill/>
        </p:spPr>
        <p:txBody>
          <a:bodyPr wrap="square" anchor="t">
            <a:spAutoFit/>
          </a:bodyPr>
          <a:lstStyle/>
          <a:p>
            <a:pPr algn="l"/>
            <a:r>
              <a:rPr sz="1350" b="0" i="0">
                <a:solidFill>
                  <a:srgbClr val="556075"/>
                </a:solidFill>
                <a:latin typeface="Calibri"/>
              </a:rPr>
              <a:t>改写题目——The diagram illustrates the process of...</a:t>
            </a:r>
          </a:p>
        </p:txBody>
      </p:sp>
      <p:sp>
        <p:nvSpPr>
          <p:cNvPr id="18" name="Rounded Rectangle 17"/>
          <p:cNvSpPr/>
          <p:nvPr/>
        </p:nvSpPr>
        <p:spPr>
          <a:xfrm>
            <a:off x="548640" y="2638697"/>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693561"/>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297065"/>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2638697"/>
            <a:ext cx="10058400" cy="411480"/>
          </a:xfrm>
          <a:prstGeom prst="rect">
            <a:avLst/>
          </a:prstGeom>
          <a:noFill/>
        </p:spPr>
        <p:txBody>
          <a:bodyPr wrap="square" anchor="t">
            <a:spAutoFit/>
          </a:bodyPr>
          <a:lstStyle/>
          <a:p>
            <a:pPr algn="l"/>
            <a:r>
              <a:rPr sz="1600" b="1" i="0">
                <a:solidFill>
                  <a:srgbClr val="472473"/>
                </a:solidFill>
                <a:latin typeface="Calibri"/>
              </a:rPr>
              <a:t>写Overview</a:t>
            </a:r>
          </a:p>
        </p:txBody>
      </p:sp>
      <p:sp>
        <p:nvSpPr>
          <p:cNvPr id="22" name="TextBox 21"/>
          <p:cNvSpPr txBox="1"/>
          <p:nvPr/>
        </p:nvSpPr>
        <p:spPr>
          <a:xfrm>
            <a:off x="1417320" y="3004457"/>
            <a:ext cx="10058400" cy="313508"/>
          </a:xfrm>
          <a:prstGeom prst="rect">
            <a:avLst/>
          </a:prstGeom>
          <a:noFill/>
        </p:spPr>
        <p:txBody>
          <a:bodyPr wrap="square" anchor="t">
            <a:spAutoFit/>
          </a:bodyPr>
          <a:lstStyle/>
          <a:p>
            <a:pPr algn="l"/>
            <a:r>
              <a:rPr sz="1350" b="0" i="0">
                <a:solidFill>
                  <a:srgbClr val="556075"/>
                </a:solidFill>
                <a:latin typeface="Calibri"/>
              </a:rPr>
              <a:t>步骤数量+起点+终点（不含细节数据）</a:t>
            </a:r>
          </a:p>
        </p:txBody>
      </p:sp>
      <p:sp>
        <p:nvSpPr>
          <p:cNvPr id="23" name="Rounded Rectangle 22"/>
          <p:cNvSpPr/>
          <p:nvPr/>
        </p:nvSpPr>
        <p:spPr>
          <a:xfrm>
            <a:off x="548640" y="3317965"/>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372829"/>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3976333"/>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3317965"/>
            <a:ext cx="10058400" cy="411480"/>
          </a:xfrm>
          <a:prstGeom prst="rect">
            <a:avLst/>
          </a:prstGeom>
          <a:noFill/>
        </p:spPr>
        <p:txBody>
          <a:bodyPr wrap="square" anchor="t">
            <a:spAutoFit/>
          </a:bodyPr>
          <a:lstStyle/>
          <a:p>
            <a:pPr algn="l"/>
            <a:r>
              <a:rPr sz="1600" b="1" i="0">
                <a:solidFill>
                  <a:srgbClr val="472473"/>
                </a:solidFill>
                <a:latin typeface="Calibri"/>
              </a:rPr>
              <a:t>列步骤草稿</a:t>
            </a:r>
          </a:p>
        </p:txBody>
      </p:sp>
      <p:sp>
        <p:nvSpPr>
          <p:cNvPr id="27" name="TextBox 26"/>
          <p:cNvSpPr txBox="1"/>
          <p:nvPr/>
        </p:nvSpPr>
        <p:spPr>
          <a:xfrm>
            <a:off x="1417320" y="3683725"/>
            <a:ext cx="10058400" cy="313508"/>
          </a:xfrm>
          <a:prstGeom prst="rect">
            <a:avLst/>
          </a:prstGeom>
          <a:noFill/>
        </p:spPr>
        <p:txBody>
          <a:bodyPr wrap="square" anchor="t">
            <a:spAutoFit/>
          </a:bodyPr>
          <a:lstStyle/>
          <a:p>
            <a:pPr algn="l"/>
            <a:r>
              <a:rPr sz="1350" b="0" i="0">
                <a:solidFill>
                  <a:srgbClr val="556075"/>
                </a:solidFill>
                <a:latin typeface="Calibri"/>
              </a:rPr>
              <a:t>在草稿纸上用英语列出每个步骤的关键词</a:t>
            </a:r>
          </a:p>
        </p:txBody>
      </p:sp>
      <p:sp>
        <p:nvSpPr>
          <p:cNvPr id="28" name="Rounded Rectangle 27"/>
          <p:cNvSpPr/>
          <p:nvPr/>
        </p:nvSpPr>
        <p:spPr>
          <a:xfrm>
            <a:off x="548640" y="3997234"/>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052098"/>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Rectangle 29"/>
          <p:cNvSpPr/>
          <p:nvPr/>
        </p:nvSpPr>
        <p:spPr>
          <a:xfrm>
            <a:off x="841248" y="4655602"/>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7320" y="3997234"/>
            <a:ext cx="10058400" cy="411480"/>
          </a:xfrm>
          <a:prstGeom prst="rect">
            <a:avLst/>
          </a:prstGeom>
          <a:noFill/>
        </p:spPr>
        <p:txBody>
          <a:bodyPr wrap="square" anchor="t">
            <a:spAutoFit/>
          </a:bodyPr>
          <a:lstStyle/>
          <a:p>
            <a:pPr algn="l"/>
            <a:r>
              <a:rPr sz="1600" b="1" i="0">
                <a:solidFill>
                  <a:srgbClr val="472473"/>
                </a:solidFill>
                <a:latin typeface="Calibri"/>
              </a:rPr>
              <a:t>写前半段</a:t>
            </a:r>
          </a:p>
        </p:txBody>
      </p:sp>
      <p:sp>
        <p:nvSpPr>
          <p:cNvPr id="32" name="TextBox 31"/>
          <p:cNvSpPr txBox="1"/>
          <p:nvPr/>
        </p:nvSpPr>
        <p:spPr>
          <a:xfrm>
            <a:off x="1417320" y="4362994"/>
            <a:ext cx="10058400" cy="313508"/>
          </a:xfrm>
          <a:prstGeom prst="rect">
            <a:avLst/>
          </a:prstGeom>
          <a:noFill/>
        </p:spPr>
        <p:txBody>
          <a:bodyPr wrap="square" anchor="t">
            <a:spAutoFit/>
          </a:bodyPr>
          <a:lstStyle/>
          <a:p>
            <a:pPr algn="l"/>
            <a:r>
              <a:rPr sz="1350" b="0" i="0">
                <a:solidFill>
                  <a:srgbClr val="556075"/>
                </a:solidFill>
                <a:latin typeface="Calibri"/>
              </a:rPr>
              <a:t>用被动语态+顺序连接词描述前半段步骤</a:t>
            </a:r>
          </a:p>
        </p:txBody>
      </p:sp>
      <p:sp>
        <p:nvSpPr>
          <p:cNvPr id="33" name="Rounded Rectangle 32"/>
          <p:cNvSpPr/>
          <p:nvPr/>
        </p:nvSpPr>
        <p:spPr>
          <a:xfrm>
            <a:off x="548640" y="4676502"/>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731366"/>
            <a:ext cx="640080" cy="502920"/>
          </a:xfrm>
          <a:prstGeom prst="rect">
            <a:avLst/>
          </a:prstGeom>
          <a:noFill/>
        </p:spPr>
        <p:txBody>
          <a:bodyPr wrap="square" anchor="t">
            <a:spAutoFit/>
          </a:bodyPr>
          <a:lstStyle/>
          <a:p>
            <a:pPr algn="ctr"/>
            <a:r>
              <a:rPr sz="2200" b="1" i="0">
                <a:solidFill>
                  <a:srgbClr val="FFFFFF"/>
                </a:solidFill>
                <a:latin typeface="Calibri"/>
              </a:rPr>
              <a:t>6</a:t>
            </a:r>
          </a:p>
        </p:txBody>
      </p:sp>
      <p:sp>
        <p:nvSpPr>
          <p:cNvPr id="35" name="Rectangle 34"/>
          <p:cNvSpPr/>
          <p:nvPr/>
        </p:nvSpPr>
        <p:spPr>
          <a:xfrm>
            <a:off x="841248" y="5334870"/>
            <a:ext cx="45720" cy="209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17320" y="4676502"/>
            <a:ext cx="10058400" cy="411480"/>
          </a:xfrm>
          <a:prstGeom prst="rect">
            <a:avLst/>
          </a:prstGeom>
          <a:noFill/>
        </p:spPr>
        <p:txBody>
          <a:bodyPr wrap="square" anchor="t">
            <a:spAutoFit/>
          </a:bodyPr>
          <a:lstStyle/>
          <a:p>
            <a:pPr algn="l"/>
            <a:r>
              <a:rPr sz="1600" b="1" i="0">
                <a:solidFill>
                  <a:srgbClr val="472473"/>
                </a:solidFill>
                <a:latin typeface="Calibri"/>
              </a:rPr>
              <a:t>写后半段</a:t>
            </a:r>
          </a:p>
        </p:txBody>
      </p:sp>
      <p:sp>
        <p:nvSpPr>
          <p:cNvPr id="37" name="TextBox 36"/>
          <p:cNvSpPr txBox="1"/>
          <p:nvPr/>
        </p:nvSpPr>
        <p:spPr>
          <a:xfrm>
            <a:off x="1417320" y="5042262"/>
            <a:ext cx="10058400" cy="313508"/>
          </a:xfrm>
          <a:prstGeom prst="rect">
            <a:avLst/>
          </a:prstGeom>
          <a:noFill/>
        </p:spPr>
        <p:txBody>
          <a:bodyPr wrap="square" anchor="t">
            <a:spAutoFit/>
          </a:bodyPr>
          <a:lstStyle/>
          <a:p>
            <a:pPr algn="l"/>
            <a:r>
              <a:rPr sz="1350" b="0" i="0">
                <a:solidFill>
                  <a:srgbClr val="556075"/>
                </a:solidFill>
                <a:latin typeface="Calibri"/>
              </a:rPr>
              <a:t>继续描述后半段，用finally/lastly结尾</a:t>
            </a:r>
          </a:p>
        </p:txBody>
      </p:sp>
      <p:sp>
        <p:nvSpPr>
          <p:cNvPr id="38" name="Rounded Rectangle 37"/>
          <p:cNvSpPr/>
          <p:nvPr/>
        </p:nvSpPr>
        <p:spPr>
          <a:xfrm>
            <a:off x="548640" y="5355771"/>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5410635"/>
            <a:ext cx="640080" cy="502920"/>
          </a:xfrm>
          <a:prstGeom prst="rect">
            <a:avLst/>
          </a:prstGeom>
          <a:noFill/>
        </p:spPr>
        <p:txBody>
          <a:bodyPr wrap="square" anchor="t">
            <a:spAutoFit/>
          </a:bodyPr>
          <a:lstStyle/>
          <a:p>
            <a:pPr algn="ctr"/>
            <a:r>
              <a:rPr sz="2200" b="1" i="0">
                <a:solidFill>
                  <a:srgbClr val="FFFFFF"/>
                </a:solidFill>
                <a:latin typeface="Calibri"/>
              </a:rPr>
              <a:t>7</a:t>
            </a:r>
          </a:p>
        </p:txBody>
      </p:sp>
      <p:sp>
        <p:nvSpPr>
          <p:cNvPr id="40" name="TextBox 39"/>
          <p:cNvSpPr txBox="1"/>
          <p:nvPr/>
        </p:nvSpPr>
        <p:spPr>
          <a:xfrm>
            <a:off x="1417320" y="5355771"/>
            <a:ext cx="10058400" cy="411480"/>
          </a:xfrm>
          <a:prstGeom prst="rect">
            <a:avLst/>
          </a:prstGeom>
          <a:noFill/>
        </p:spPr>
        <p:txBody>
          <a:bodyPr wrap="square" anchor="t">
            <a:spAutoFit/>
          </a:bodyPr>
          <a:lstStyle/>
          <a:p>
            <a:pPr algn="l"/>
            <a:r>
              <a:rPr sz="1600" b="1" i="0">
                <a:solidFill>
                  <a:srgbClr val="472473"/>
                </a:solidFill>
                <a:latin typeface="Calibri"/>
              </a:rPr>
              <a:t>检查</a:t>
            </a:r>
          </a:p>
        </p:txBody>
      </p:sp>
      <p:sp>
        <p:nvSpPr>
          <p:cNvPr id="41" name="TextBox 40"/>
          <p:cNvSpPr txBox="1"/>
          <p:nvPr/>
        </p:nvSpPr>
        <p:spPr>
          <a:xfrm>
            <a:off x="1417320" y="5721531"/>
            <a:ext cx="10058400" cy="313508"/>
          </a:xfrm>
          <a:prstGeom prst="rect">
            <a:avLst/>
          </a:prstGeom>
          <a:noFill/>
        </p:spPr>
        <p:txBody>
          <a:bodyPr wrap="square" anchor="t">
            <a:spAutoFit/>
          </a:bodyPr>
          <a:lstStyle/>
          <a:p>
            <a:pPr algn="l"/>
            <a:r>
              <a:rPr sz="1350" b="0" i="0">
                <a:solidFill>
                  <a:srgbClr val="556075"/>
                </a:solidFill>
                <a:latin typeface="Calibri"/>
              </a:rPr>
              <a:t>确认：每步都有被动？连接词多样？无步骤遗漏？</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地图写作6步法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8016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472473"/>
                </a:solidFill>
                <a:latin typeface="Calibri"/>
              </a:rPr>
              <a:t>读图（2分钟）</a:t>
            </a:r>
          </a:p>
        </p:txBody>
      </p:sp>
      <p:sp>
        <p:nvSpPr>
          <p:cNvPr id="12" name="TextBox 11"/>
          <p:cNvSpPr txBox="1"/>
          <p:nvPr/>
        </p:nvSpPr>
        <p:spPr>
          <a:xfrm>
            <a:off x="1417320" y="1645919"/>
            <a:ext cx="10058400" cy="426719"/>
          </a:xfrm>
          <a:prstGeom prst="rect">
            <a:avLst/>
          </a:prstGeom>
          <a:noFill/>
        </p:spPr>
        <p:txBody>
          <a:bodyPr wrap="square" anchor="t">
            <a:spAutoFit/>
          </a:bodyPr>
          <a:lstStyle/>
          <a:p>
            <a:pPr algn="l"/>
            <a:r>
              <a:rPr sz="1350" b="0" i="0">
                <a:solidFill>
                  <a:srgbClr val="556075"/>
                </a:solidFill>
                <a:latin typeface="Calibri"/>
              </a:rPr>
              <a:t>对比两张图，标注：新增/拆除/改建/不变的地标</a:t>
            </a:r>
          </a:p>
        </p:txBody>
      </p:sp>
      <p:sp>
        <p:nvSpPr>
          <p:cNvPr id="13" name="Rounded Rectangle 12"/>
          <p:cNvSpPr/>
          <p:nvPr/>
        </p:nvSpPr>
        <p:spPr>
          <a:xfrm>
            <a:off x="548640" y="207264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12750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73100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072640"/>
            <a:ext cx="10058400" cy="411480"/>
          </a:xfrm>
          <a:prstGeom prst="rect">
            <a:avLst/>
          </a:prstGeom>
          <a:noFill/>
        </p:spPr>
        <p:txBody>
          <a:bodyPr wrap="square" anchor="t">
            <a:spAutoFit/>
          </a:bodyPr>
          <a:lstStyle/>
          <a:p>
            <a:pPr algn="l"/>
            <a:r>
              <a:rPr sz="1600" b="1" i="0">
                <a:solidFill>
                  <a:srgbClr val="472473"/>
                </a:solidFill>
                <a:latin typeface="Calibri"/>
              </a:rPr>
              <a:t>分类变化</a:t>
            </a:r>
          </a:p>
        </p:txBody>
      </p:sp>
      <p:sp>
        <p:nvSpPr>
          <p:cNvPr id="17" name="TextBox 16"/>
          <p:cNvSpPr txBox="1"/>
          <p:nvPr/>
        </p:nvSpPr>
        <p:spPr>
          <a:xfrm>
            <a:off x="1417320" y="2438400"/>
            <a:ext cx="10058400" cy="426719"/>
          </a:xfrm>
          <a:prstGeom prst="rect">
            <a:avLst/>
          </a:prstGeom>
          <a:noFill/>
        </p:spPr>
        <p:txBody>
          <a:bodyPr wrap="square" anchor="t">
            <a:spAutoFit/>
          </a:bodyPr>
          <a:lstStyle/>
          <a:p>
            <a:pPr algn="l"/>
            <a:r>
              <a:rPr sz="1350" b="0" i="0">
                <a:solidFill>
                  <a:srgbClr val="556075"/>
                </a:solidFill>
                <a:latin typeface="Calibri"/>
              </a:rPr>
              <a:t>按区域（北/南/东/西）或类型（新建/拆除）分组</a:t>
            </a:r>
          </a:p>
        </p:txBody>
      </p:sp>
      <p:sp>
        <p:nvSpPr>
          <p:cNvPr id="18" name="Rounded Rectangle 17"/>
          <p:cNvSpPr/>
          <p:nvPr/>
        </p:nvSpPr>
        <p:spPr>
          <a:xfrm>
            <a:off x="548640" y="286511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919983"/>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52348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2865119"/>
            <a:ext cx="10058400" cy="411480"/>
          </a:xfrm>
          <a:prstGeom prst="rect">
            <a:avLst/>
          </a:prstGeom>
          <a:noFill/>
        </p:spPr>
        <p:txBody>
          <a:bodyPr wrap="square" anchor="t">
            <a:spAutoFit/>
          </a:bodyPr>
          <a:lstStyle/>
          <a:p>
            <a:pPr algn="l"/>
            <a:r>
              <a:rPr sz="1600" b="1" i="0">
                <a:solidFill>
                  <a:srgbClr val="472473"/>
                </a:solidFill>
                <a:latin typeface="Calibri"/>
              </a:rPr>
              <a:t>写引言</a:t>
            </a:r>
          </a:p>
        </p:txBody>
      </p:sp>
      <p:sp>
        <p:nvSpPr>
          <p:cNvPr id="22" name="TextBox 21"/>
          <p:cNvSpPr txBox="1"/>
          <p:nvPr/>
        </p:nvSpPr>
        <p:spPr>
          <a:xfrm>
            <a:off x="1417320" y="3230879"/>
            <a:ext cx="10058400" cy="426719"/>
          </a:xfrm>
          <a:prstGeom prst="rect">
            <a:avLst/>
          </a:prstGeom>
          <a:noFill/>
        </p:spPr>
        <p:txBody>
          <a:bodyPr wrap="square" anchor="t">
            <a:spAutoFit/>
          </a:bodyPr>
          <a:lstStyle/>
          <a:p>
            <a:pPr algn="l"/>
            <a:r>
              <a:rPr sz="1350" b="0" i="0">
                <a:solidFill>
                  <a:srgbClr val="556075"/>
                </a:solidFill>
                <a:latin typeface="Calibri"/>
              </a:rPr>
              <a:t>改写题目——The maps illustrate changes to...</a:t>
            </a:r>
          </a:p>
        </p:txBody>
      </p:sp>
      <p:sp>
        <p:nvSpPr>
          <p:cNvPr id="23" name="Rounded Rectangle 22"/>
          <p:cNvSpPr/>
          <p:nvPr/>
        </p:nvSpPr>
        <p:spPr>
          <a:xfrm>
            <a:off x="548640" y="365759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71246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4315968"/>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3657599"/>
            <a:ext cx="10058400" cy="411480"/>
          </a:xfrm>
          <a:prstGeom prst="rect">
            <a:avLst/>
          </a:prstGeom>
          <a:noFill/>
        </p:spPr>
        <p:txBody>
          <a:bodyPr wrap="square" anchor="t">
            <a:spAutoFit/>
          </a:bodyPr>
          <a:lstStyle/>
          <a:p>
            <a:pPr algn="l"/>
            <a:r>
              <a:rPr sz="1600" b="1" i="0">
                <a:solidFill>
                  <a:srgbClr val="472473"/>
                </a:solidFill>
                <a:latin typeface="Calibri"/>
              </a:rPr>
              <a:t>写Overview</a:t>
            </a:r>
          </a:p>
        </p:txBody>
      </p:sp>
      <p:sp>
        <p:nvSpPr>
          <p:cNvPr id="27" name="TextBox 26"/>
          <p:cNvSpPr txBox="1"/>
          <p:nvPr/>
        </p:nvSpPr>
        <p:spPr>
          <a:xfrm>
            <a:off x="1417320" y="4023359"/>
            <a:ext cx="10058400" cy="426719"/>
          </a:xfrm>
          <a:prstGeom prst="rect">
            <a:avLst/>
          </a:prstGeom>
          <a:noFill/>
        </p:spPr>
        <p:txBody>
          <a:bodyPr wrap="square" anchor="t">
            <a:spAutoFit/>
          </a:bodyPr>
          <a:lstStyle/>
          <a:p>
            <a:pPr algn="l"/>
            <a:r>
              <a:rPr sz="1350" b="0" i="0">
                <a:solidFill>
                  <a:srgbClr val="556075"/>
                </a:solidFill>
                <a:latin typeface="Calibri"/>
              </a:rPr>
              <a:t>总体变化方向+最大变化（不含具体位置细节）</a:t>
            </a:r>
          </a:p>
        </p:txBody>
      </p:sp>
      <p:sp>
        <p:nvSpPr>
          <p:cNvPr id="28" name="Rounded Rectangle 27"/>
          <p:cNvSpPr/>
          <p:nvPr/>
        </p:nvSpPr>
        <p:spPr>
          <a:xfrm>
            <a:off x="548640" y="445008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504943"/>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Rectangle 29"/>
          <p:cNvSpPr/>
          <p:nvPr/>
        </p:nvSpPr>
        <p:spPr>
          <a:xfrm>
            <a:off x="841248" y="5108447"/>
            <a:ext cx="45720" cy="13411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7320" y="4450080"/>
            <a:ext cx="10058400" cy="411480"/>
          </a:xfrm>
          <a:prstGeom prst="rect">
            <a:avLst/>
          </a:prstGeom>
          <a:noFill/>
        </p:spPr>
        <p:txBody>
          <a:bodyPr wrap="square" anchor="t">
            <a:spAutoFit/>
          </a:bodyPr>
          <a:lstStyle/>
          <a:p>
            <a:pPr algn="l"/>
            <a:r>
              <a:rPr sz="1600" b="1" i="0">
                <a:solidFill>
                  <a:srgbClr val="472473"/>
                </a:solidFill>
                <a:latin typeface="Calibri"/>
              </a:rPr>
              <a:t>写主要变化</a:t>
            </a:r>
          </a:p>
        </p:txBody>
      </p:sp>
      <p:sp>
        <p:nvSpPr>
          <p:cNvPr id="32" name="TextBox 31"/>
          <p:cNvSpPr txBox="1"/>
          <p:nvPr/>
        </p:nvSpPr>
        <p:spPr>
          <a:xfrm>
            <a:off x="1417320" y="4815840"/>
            <a:ext cx="10058400" cy="426719"/>
          </a:xfrm>
          <a:prstGeom prst="rect">
            <a:avLst/>
          </a:prstGeom>
          <a:noFill/>
        </p:spPr>
        <p:txBody>
          <a:bodyPr wrap="square" anchor="t">
            <a:spAutoFit/>
          </a:bodyPr>
          <a:lstStyle/>
          <a:p>
            <a:pPr algn="l"/>
            <a:r>
              <a:rPr sz="1350" b="0" i="0">
                <a:solidFill>
                  <a:srgbClr val="556075"/>
                </a:solidFill>
                <a:latin typeface="Calibri"/>
              </a:rPr>
              <a:t>按区域/类型顺序描述所有变化，用被动语态</a:t>
            </a:r>
          </a:p>
        </p:txBody>
      </p:sp>
      <p:sp>
        <p:nvSpPr>
          <p:cNvPr id="33" name="Rounded Rectangle 32"/>
          <p:cNvSpPr/>
          <p:nvPr/>
        </p:nvSpPr>
        <p:spPr>
          <a:xfrm>
            <a:off x="548640" y="524255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5297423"/>
            <a:ext cx="640080" cy="502920"/>
          </a:xfrm>
          <a:prstGeom prst="rect">
            <a:avLst/>
          </a:prstGeom>
          <a:noFill/>
        </p:spPr>
        <p:txBody>
          <a:bodyPr wrap="square" anchor="t">
            <a:spAutoFit/>
          </a:bodyPr>
          <a:lstStyle/>
          <a:p>
            <a:pPr algn="ctr"/>
            <a:r>
              <a:rPr sz="2200" b="1" i="0">
                <a:solidFill>
                  <a:srgbClr val="FFFFFF"/>
                </a:solidFill>
                <a:latin typeface="Calibri"/>
              </a:rPr>
              <a:t>6</a:t>
            </a:r>
          </a:p>
        </p:txBody>
      </p:sp>
      <p:sp>
        <p:nvSpPr>
          <p:cNvPr id="35" name="TextBox 34"/>
          <p:cNvSpPr txBox="1"/>
          <p:nvPr/>
        </p:nvSpPr>
        <p:spPr>
          <a:xfrm>
            <a:off x="1417320" y="5242559"/>
            <a:ext cx="10058400" cy="411480"/>
          </a:xfrm>
          <a:prstGeom prst="rect">
            <a:avLst/>
          </a:prstGeom>
          <a:noFill/>
        </p:spPr>
        <p:txBody>
          <a:bodyPr wrap="square" anchor="t">
            <a:spAutoFit/>
          </a:bodyPr>
          <a:lstStyle/>
          <a:p>
            <a:pPr algn="l"/>
            <a:r>
              <a:rPr sz="1600" b="1" i="0">
                <a:solidFill>
                  <a:srgbClr val="472473"/>
                </a:solidFill>
                <a:latin typeface="Calibri"/>
              </a:rPr>
              <a:t>写不变部分</a:t>
            </a:r>
          </a:p>
        </p:txBody>
      </p:sp>
      <p:sp>
        <p:nvSpPr>
          <p:cNvPr id="36" name="TextBox 35"/>
          <p:cNvSpPr txBox="1"/>
          <p:nvPr/>
        </p:nvSpPr>
        <p:spPr>
          <a:xfrm>
            <a:off x="1417320" y="5608320"/>
            <a:ext cx="10058400" cy="426719"/>
          </a:xfrm>
          <a:prstGeom prst="rect">
            <a:avLst/>
          </a:prstGeom>
          <a:noFill/>
        </p:spPr>
        <p:txBody>
          <a:bodyPr wrap="square" anchor="t">
            <a:spAutoFit/>
          </a:bodyPr>
          <a:lstStyle/>
          <a:p>
            <a:pPr algn="l"/>
            <a:r>
              <a:rPr sz="1350" b="0" i="0">
                <a:solidFill>
                  <a:srgbClr val="556075"/>
                </a:solidFill>
                <a:latin typeface="Calibri"/>
              </a:rPr>
              <a:t>最后提及保留不变的地标，显示观察全面性</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快速练习：被动语态填空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用正确形式的被动语态填写空白（括号内为动词原形）</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流程图被动</a:t>
            </a:r>
          </a:p>
          <a:p>
            <a:pPr>
              <a:spcBef>
                <a:spcPts val="100"/>
              </a:spcBef>
            </a:pPr>
            <a:r>
              <a:rPr sz="1400">
                <a:solidFill>
                  <a:srgbClr val="556075"/>
                </a:solidFill>
              </a:rPr>
              <a:t>   1. The raw materials _____ (collect) from various suppliers.
2. The mixture _____ (heat) to 200 degrees Celsius.
3. After cooling, the product _____ (package) for distribution.
4. The factory _____ (build) in 1985 and _____ (expand) in 2010.
【答案】1=are collected / 2=is heated / 3=is packaged / 4=was built / was expanded</a:t>
            </a:r>
          </a:p>
          <a:p>
            <a:pPr>
              <a:spcBef>
                <a:spcPts val="1100"/>
              </a:spcBef>
            </a:pPr>
            <a:r>
              <a:rPr sz="1700" b="1">
                <a:solidFill>
                  <a:srgbClr val="472473"/>
                </a:solidFill>
              </a:rPr>
              <a:t>▢ 地图被动</a:t>
            </a:r>
          </a:p>
          <a:p>
            <a:pPr>
              <a:spcBef>
                <a:spcPts val="100"/>
              </a:spcBef>
            </a:pPr>
            <a:r>
              <a:rPr sz="1400">
                <a:solidFill>
                  <a:srgbClr val="556075"/>
                </a:solidFill>
              </a:rPr>
              <a:t>   5. A new school _____ (construct) to the east of the town.
6. The original farmland _____ (replace) by a housing estate.
7. The main road _____ (widen) between 1990 and 2020.
8. The park _____ (extend) and _____ (connect) to the river path.
【答案】5=has been constructed / 6=has been replaced / 7=was widened / 8=has been extended / connected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地图描述：位置表达练习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用方向/位置词描述以下地图变化（每题写一个完整英文句子）</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位置变化1</a:t>
            </a:r>
          </a:p>
          <a:p>
            <a:pPr>
              <a:spcBef>
                <a:spcPts val="100"/>
              </a:spcBef>
            </a:pPr>
            <a:r>
              <a:rPr sz="1400">
                <a:solidFill>
                  <a:srgbClr val="556075"/>
                </a:solidFill>
              </a:rPr>
              <a:t>   原图：小镇中心有教堂（保留）；北边有停车场（→公园）；南边有小路（→宽阔大街）
【参考答案】The church in the town centre has been retained. To the north, the former car park has been converted into a public park. The narrow path in the south has been widened into a broad avenue.</a:t>
            </a:r>
          </a:p>
          <a:p>
            <a:pPr>
              <a:spcBef>
                <a:spcPts val="1100"/>
              </a:spcBef>
            </a:pPr>
            <a:r>
              <a:rPr sz="1700" b="1">
                <a:solidFill>
                  <a:srgbClr val="472473"/>
                </a:solidFill>
              </a:rPr>
              <a:t>▢ 位置变化2</a:t>
            </a:r>
          </a:p>
          <a:p>
            <a:pPr>
              <a:spcBef>
                <a:spcPts val="100"/>
              </a:spcBef>
            </a:pPr>
            <a:r>
              <a:rPr sz="1400">
                <a:solidFill>
                  <a:srgbClr val="556075"/>
                </a:solidFill>
              </a:rPr>
              <a:t>   规划图：东边新建医院，西边工厂→住宅区，河边新建步道，原学校保留
【参考答案】A new hospital is planned for the eastern side. In the west, the factory is set to be replaced by residential development. A riverside walkway will be constructed. The school will remain in its current location.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流程图5大原则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原则1：全程被动</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流程图描述用is/are + 过去分词——强调过程而非行动者</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原则2：顺序完整</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所有步骤都必须描述——不能跳过任何步骤</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原则3：连接词多样</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first/then/subsequently/finally——不重复使用同一连接词</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原则4：Overview必须有</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步骤总数+起点+终点+是否循环</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原则5：现在时为主</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流程图用一般现在时（不是过去时）——描述一般过程</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地图描述5大原则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原则1：比较两张图</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找出所有变化（新增/拆除/改建/保留）——全面性很重要</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原则2：位置词精确</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north/south/east/west/centre/to the left of——让读者能追踪位置</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原则3：被动表变化</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has been built/was demolished/is set to be developed</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原则4：别忘未变部分</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提及保留不变的地标——体现观察全面</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原则5：Overview先说方向</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总体变化方向（城市化/工业化/绿化）+ 最大变化</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非数字图表Task 1速查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流程图</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被动语态+顺序词+步骤完整+现在时</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地图</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位置词+变化词（has been）+比较两张图+提保留部分</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表格</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找规律（行/列）+最高最低+选关键数据+Overview</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共同点</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必须有Overview+引言改写+150词以上+不写个人观点</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1全图表类型速查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折线图</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趋势词+程度副词+时间连接+峰谷描述</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柱状图</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排名+比较+倍数+差距表达</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饼图</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比例词（account for）+最大最小+是否集中</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流程图</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被动+顺序词+步骤完整+现在时</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地图</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位置词+变化词+比较两图+保留部分</a:t>
            </a:r>
          </a:p>
        </p:txBody>
      </p:sp>
      <p:sp>
        <p:nvSpPr>
          <p:cNvPr id="28" name="Rounded Rectangle 27"/>
          <p:cNvSpPr/>
          <p:nvPr/>
        </p:nvSpPr>
        <p:spPr>
          <a:xfrm>
            <a:off x="6355079"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55079"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399" y="4587240"/>
            <a:ext cx="5029200" cy="411480"/>
          </a:xfrm>
          <a:prstGeom prst="rect">
            <a:avLst/>
          </a:prstGeom>
          <a:noFill/>
        </p:spPr>
        <p:txBody>
          <a:bodyPr wrap="square" anchor="t">
            <a:spAutoFit/>
          </a:bodyPr>
          <a:lstStyle/>
          <a:p>
            <a:pPr algn="l"/>
            <a:r>
              <a:rPr sz="1400" b="1" i="0">
                <a:solidFill>
                  <a:srgbClr val="472473"/>
                </a:solidFill>
                <a:latin typeface="Calibri"/>
              </a:rPr>
              <a:t>表格</a:t>
            </a:r>
          </a:p>
        </p:txBody>
      </p:sp>
      <p:sp>
        <p:nvSpPr>
          <p:cNvPr id="31" name="TextBox 30"/>
          <p:cNvSpPr txBox="1"/>
          <p:nvPr/>
        </p:nvSpPr>
        <p:spPr>
          <a:xfrm>
            <a:off x="6629399" y="4998720"/>
            <a:ext cx="5029200" cy="853440"/>
          </a:xfrm>
          <a:prstGeom prst="rect">
            <a:avLst/>
          </a:prstGeom>
          <a:noFill/>
        </p:spPr>
        <p:txBody>
          <a:bodyPr wrap="square" anchor="t">
            <a:spAutoFit/>
          </a:bodyPr>
          <a:lstStyle/>
          <a:p>
            <a:pPr algn="l"/>
            <a:r>
              <a:rPr sz="1250" b="0" i="0">
                <a:solidFill>
                  <a:srgbClr val="556075"/>
                </a:solidFill>
                <a:latin typeface="Calibri"/>
              </a:rPr>
              <a:t>找行列规律+最高最低+整体规律</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流程图高频词汇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472473"/>
                </a:solidFill>
                <a:latin typeface="Calibri"/>
              </a:rPr>
              <a:t>is collected</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被收集 — The raw material is collected from...</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472473"/>
                </a:solidFill>
                <a:latin typeface="Calibri"/>
              </a:rPr>
              <a:t>is transported</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被运输 — The goods are transported to the factory</a:t>
            </a:r>
          </a:p>
        </p:txBody>
      </p:sp>
      <p:sp>
        <p:nvSpPr>
          <p:cNvPr id="20" name="Rectangle 19"/>
          <p:cNvSpPr/>
          <p:nvPr/>
        </p:nvSpPr>
        <p:spPr>
          <a:xfrm>
            <a:off x="548640" y="28346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472473"/>
                </a:solidFill>
                <a:latin typeface="Calibri"/>
              </a:rPr>
              <a:t>is processed</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被加工 — The material is processed into...</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472473"/>
                </a:solidFill>
                <a:latin typeface="Calibri"/>
              </a:rPr>
              <a:t>is heated / cooled</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被加热/冷却 — The mixture is heated to 200°C</a:t>
            </a:r>
          </a:p>
        </p:txBody>
      </p:sp>
      <p:sp>
        <p:nvSpPr>
          <p:cNvPr id="28" name="Rectangle 27"/>
          <p:cNvSpPr/>
          <p:nvPr/>
        </p:nvSpPr>
        <p:spPr>
          <a:xfrm>
            <a:off x="548640" y="39014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472473"/>
                </a:solidFill>
                <a:latin typeface="Calibri"/>
              </a:rPr>
              <a:t>is filtered</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被过滤 — The liquid is filtered through layers of sand</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472473"/>
                </a:solidFill>
                <a:latin typeface="Calibri"/>
              </a:rPr>
              <a:t>is packaged</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被包装 — The product is packaged and distributed</a:t>
            </a:r>
          </a:p>
        </p:txBody>
      </p:sp>
      <p:sp>
        <p:nvSpPr>
          <p:cNvPr id="36" name="Rectangle 35"/>
          <p:cNvSpPr/>
          <p:nvPr/>
        </p:nvSpPr>
        <p:spPr>
          <a:xfrm>
            <a:off x="548640" y="49682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472473"/>
                </a:solidFill>
                <a:latin typeface="Calibri"/>
              </a:rPr>
              <a:t>is converted</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被转化 — Energy is converted into electricity</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472473"/>
                </a:solidFill>
                <a:latin typeface="Calibri"/>
              </a:rPr>
              <a:t>subsequently</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随后 — Subsequently, the mixture is transferred to...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地图描述高频词汇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472473"/>
                </a:solidFill>
                <a:latin typeface="Calibri"/>
              </a:rPr>
              <a:t>has been constructed</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已被建造 — A shopping centre has been constructed</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472473"/>
                </a:solidFill>
                <a:latin typeface="Calibri"/>
              </a:rPr>
              <a:t>has been demolished</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已被拆除 — The factory has been demolished</a:t>
            </a:r>
          </a:p>
        </p:txBody>
      </p:sp>
      <p:sp>
        <p:nvSpPr>
          <p:cNvPr id="20" name="Rectangle 19"/>
          <p:cNvSpPr/>
          <p:nvPr/>
        </p:nvSpPr>
        <p:spPr>
          <a:xfrm>
            <a:off x="548640" y="28346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472473"/>
                </a:solidFill>
                <a:latin typeface="Calibri"/>
              </a:rPr>
              <a:t>has been replaced by</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已被取代 — The farm has been replaced by housing</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472473"/>
                </a:solidFill>
                <a:latin typeface="Calibri"/>
              </a:rPr>
              <a:t>has been extended</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已被扩建 — The road has been extended northwards</a:t>
            </a:r>
          </a:p>
        </p:txBody>
      </p:sp>
      <p:sp>
        <p:nvSpPr>
          <p:cNvPr id="28" name="Rectangle 27"/>
          <p:cNvSpPr/>
          <p:nvPr/>
        </p:nvSpPr>
        <p:spPr>
          <a:xfrm>
            <a:off x="548640" y="39014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472473"/>
                </a:solidFill>
                <a:latin typeface="Calibri"/>
              </a:rPr>
              <a:t>remains / is retained</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保留 — The church remains in its original location</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472473"/>
                </a:solidFill>
                <a:latin typeface="Calibri"/>
              </a:rPr>
              <a:t>is situated</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坐落于 — The school is situated to the east</a:t>
            </a:r>
          </a:p>
        </p:txBody>
      </p:sp>
      <p:sp>
        <p:nvSpPr>
          <p:cNvPr id="36" name="Rectangle 35"/>
          <p:cNvSpPr/>
          <p:nvPr/>
        </p:nvSpPr>
        <p:spPr>
          <a:xfrm>
            <a:off x="548640" y="49682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472473"/>
                </a:solidFill>
                <a:latin typeface="Calibri"/>
              </a:rPr>
              <a:t>to the north/south</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在北边/南边 — to the north of the town centre</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472473"/>
                </a:solidFill>
                <a:latin typeface="Calibri"/>
              </a:rPr>
              <a:t>in the centre</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在中心 — a park in the centre of the development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表格描述高频词汇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33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33400"/>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33400"/>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7678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7678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767840"/>
            <a:ext cx="4754880" cy="533400"/>
          </a:xfrm>
          <a:prstGeom prst="rect">
            <a:avLst/>
          </a:prstGeom>
          <a:noFill/>
        </p:spPr>
        <p:txBody>
          <a:bodyPr wrap="square" anchor="ctr">
            <a:spAutoFit/>
          </a:bodyPr>
          <a:lstStyle/>
          <a:p>
            <a:pPr algn="l"/>
            <a:r>
              <a:rPr sz="1250" b="1" i="0">
                <a:solidFill>
                  <a:srgbClr val="472473"/>
                </a:solidFill>
                <a:latin typeface="Calibri"/>
              </a:rPr>
              <a:t>topped the table</a:t>
            </a:r>
          </a:p>
        </p:txBody>
      </p:sp>
      <p:sp>
        <p:nvSpPr>
          <p:cNvPr id="15" name="TextBox 14"/>
          <p:cNvSpPr txBox="1"/>
          <p:nvPr/>
        </p:nvSpPr>
        <p:spPr>
          <a:xfrm>
            <a:off x="5623560" y="1767840"/>
            <a:ext cx="5852160" cy="533400"/>
          </a:xfrm>
          <a:prstGeom prst="rect">
            <a:avLst/>
          </a:prstGeom>
          <a:noFill/>
        </p:spPr>
        <p:txBody>
          <a:bodyPr wrap="square" anchor="ctr">
            <a:spAutoFit/>
          </a:bodyPr>
          <a:lstStyle/>
          <a:p>
            <a:pPr algn="l"/>
            <a:r>
              <a:rPr sz="1250" b="0" i="0">
                <a:solidFill>
                  <a:srgbClr val="1E293B"/>
                </a:solidFill>
                <a:latin typeface="Calibri"/>
              </a:rPr>
              <a:t>位居榜首 — Finland topped the table at 12 kg</a:t>
            </a:r>
          </a:p>
        </p:txBody>
      </p:sp>
      <p:sp>
        <p:nvSpPr>
          <p:cNvPr id="16" name="Rectangle 15"/>
          <p:cNvSpPr/>
          <p:nvPr/>
        </p:nvSpPr>
        <p:spPr>
          <a:xfrm>
            <a:off x="548640" y="23012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012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01240"/>
            <a:ext cx="4754880" cy="533400"/>
          </a:xfrm>
          <a:prstGeom prst="rect">
            <a:avLst/>
          </a:prstGeom>
          <a:noFill/>
        </p:spPr>
        <p:txBody>
          <a:bodyPr wrap="square" anchor="ctr">
            <a:spAutoFit/>
          </a:bodyPr>
          <a:lstStyle/>
          <a:p>
            <a:pPr algn="l"/>
            <a:r>
              <a:rPr sz="1250" b="1" i="0">
                <a:solidFill>
                  <a:srgbClr val="472473"/>
                </a:solidFill>
                <a:latin typeface="Calibri"/>
              </a:rPr>
              <a:t>ranked last</a:t>
            </a:r>
          </a:p>
        </p:txBody>
      </p:sp>
      <p:sp>
        <p:nvSpPr>
          <p:cNvPr id="19" name="TextBox 18"/>
          <p:cNvSpPr txBox="1"/>
          <p:nvPr/>
        </p:nvSpPr>
        <p:spPr>
          <a:xfrm>
            <a:off x="5623560" y="2301240"/>
            <a:ext cx="5852160" cy="533400"/>
          </a:xfrm>
          <a:prstGeom prst="rect">
            <a:avLst/>
          </a:prstGeom>
          <a:noFill/>
        </p:spPr>
        <p:txBody>
          <a:bodyPr wrap="square" anchor="ctr">
            <a:spAutoFit/>
          </a:bodyPr>
          <a:lstStyle/>
          <a:p>
            <a:pPr algn="l"/>
            <a:r>
              <a:rPr sz="1250" b="0" i="0">
                <a:solidFill>
                  <a:srgbClr val="1E293B"/>
                </a:solidFill>
                <a:latin typeface="Calibri"/>
              </a:rPr>
              <a:t>排名最后 — China ranked last with 0.4 kg</a:t>
            </a:r>
          </a:p>
        </p:txBody>
      </p:sp>
      <p:sp>
        <p:nvSpPr>
          <p:cNvPr id="20" name="Rectangle 19"/>
          <p:cNvSpPr/>
          <p:nvPr/>
        </p:nvSpPr>
        <p:spPr>
          <a:xfrm>
            <a:off x="548640" y="28346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8346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834640"/>
            <a:ext cx="4754880" cy="533400"/>
          </a:xfrm>
          <a:prstGeom prst="rect">
            <a:avLst/>
          </a:prstGeom>
          <a:noFill/>
        </p:spPr>
        <p:txBody>
          <a:bodyPr wrap="square" anchor="ctr">
            <a:spAutoFit/>
          </a:bodyPr>
          <a:lstStyle/>
          <a:p>
            <a:pPr algn="l"/>
            <a:r>
              <a:rPr sz="1250" b="1" i="0">
                <a:solidFill>
                  <a:srgbClr val="472473"/>
                </a:solidFill>
                <a:latin typeface="Calibri"/>
              </a:rPr>
              <a:t>consistently higher</a:t>
            </a:r>
          </a:p>
        </p:txBody>
      </p:sp>
      <p:sp>
        <p:nvSpPr>
          <p:cNvPr id="23" name="TextBox 22"/>
          <p:cNvSpPr txBox="1"/>
          <p:nvPr/>
        </p:nvSpPr>
        <p:spPr>
          <a:xfrm>
            <a:off x="5623560" y="2834640"/>
            <a:ext cx="5852160" cy="533400"/>
          </a:xfrm>
          <a:prstGeom prst="rect">
            <a:avLst/>
          </a:prstGeom>
          <a:noFill/>
        </p:spPr>
        <p:txBody>
          <a:bodyPr wrap="square" anchor="ctr">
            <a:spAutoFit/>
          </a:bodyPr>
          <a:lstStyle/>
          <a:p>
            <a:pPr algn="l"/>
            <a:r>
              <a:rPr sz="1250" b="0" i="0">
                <a:solidFill>
                  <a:srgbClr val="1E293B"/>
                </a:solidFill>
                <a:latin typeface="Calibri"/>
              </a:rPr>
              <a:t>一贯较高 — figures were consistently higher in urban areas</a:t>
            </a:r>
          </a:p>
        </p:txBody>
      </p:sp>
      <p:sp>
        <p:nvSpPr>
          <p:cNvPr id="24" name="Rectangle 23"/>
          <p:cNvSpPr/>
          <p:nvPr/>
        </p:nvSpPr>
        <p:spPr>
          <a:xfrm>
            <a:off x="548640" y="33680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3680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368040"/>
            <a:ext cx="4754880" cy="533400"/>
          </a:xfrm>
          <a:prstGeom prst="rect">
            <a:avLst/>
          </a:prstGeom>
          <a:noFill/>
        </p:spPr>
        <p:txBody>
          <a:bodyPr wrap="square" anchor="ctr">
            <a:spAutoFit/>
          </a:bodyPr>
          <a:lstStyle/>
          <a:p>
            <a:pPr algn="l"/>
            <a:r>
              <a:rPr sz="1250" b="1" i="0">
                <a:solidFill>
                  <a:srgbClr val="472473"/>
                </a:solidFill>
                <a:latin typeface="Calibri"/>
              </a:rPr>
              <a:t>the only exception</a:t>
            </a:r>
          </a:p>
        </p:txBody>
      </p:sp>
      <p:sp>
        <p:nvSpPr>
          <p:cNvPr id="27" name="TextBox 26"/>
          <p:cNvSpPr txBox="1"/>
          <p:nvPr/>
        </p:nvSpPr>
        <p:spPr>
          <a:xfrm>
            <a:off x="5623560" y="3368040"/>
            <a:ext cx="5852160" cy="533400"/>
          </a:xfrm>
          <a:prstGeom prst="rect">
            <a:avLst/>
          </a:prstGeom>
          <a:noFill/>
        </p:spPr>
        <p:txBody>
          <a:bodyPr wrap="square" anchor="ctr">
            <a:spAutoFit/>
          </a:bodyPr>
          <a:lstStyle/>
          <a:p>
            <a:pPr algn="l"/>
            <a:r>
              <a:rPr sz="1250" b="0" i="0">
                <a:solidFill>
                  <a:srgbClr val="1E293B"/>
                </a:solidFill>
                <a:latin typeface="Calibri"/>
              </a:rPr>
              <a:t>唯一例外 — the only exception was the 2015 figure</a:t>
            </a:r>
          </a:p>
        </p:txBody>
      </p:sp>
      <p:sp>
        <p:nvSpPr>
          <p:cNvPr id="28" name="Rectangle 27"/>
          <p:cNvSpPr/>
          <p:nvPr/>
        </p:nvSpPr>
        <p:spPr>
          <a:xfrm>
            <a:off x="548640" y="39014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9014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901440"/>
            <a:ext cx="4754880" cy="533400"/>
          </a:xfrm>
          <a:prstGeom prst="rect">
            <a:avLst/>
          </a:prstGeom>
          <a:noFill/>
        </p:spPr>
        <p:txBody>
          <a:bodyPr wrap="square" anchor="ctr">
            <a:spAutoFit/>
          </a:bodyPr>
          <a:lstStyle/>
          <a:p>
            <a:pPr algn="l"/>
            <a:r>
              <a:rPr sz="1250" b="1" i="0">
                <a:solidFill>
                  <a:srgbClr val="472473"/>
                </a:solidFill>
                <a:latin typeface="Calibri"/>
              </a:rPr>
              <a:t>approximately / around</a:t>
            </a:r>
          </a:p>
        </p:txBody>
      </p:sp>
      <p:sp>
        <p:nvSpPr>
          <p:cNvPr id="31" name="TextBox 30"/>
          <p:cNvSpPr txBox="1"/>
          <p:nvPr/>
        </p:nvSpPr>
        <p:spPr>
          <a:xfrm>
            <a:off x="5623560" y="3901440"/>
            <a:ext cx="5852160" cy="533400"/>
          </a:xfrm>
          <a:prstGeom prst="rect">
            <a:avLst/>
          </a:prstGeom>
          <a:noFill/>
        </p:spPr>
        <p:txBody>
          <a:bodyPr wrap="square" anchor="ctr">
            <a:spAutoFit/>
          </a:bodyPr>
          <a:lstStyle/>
          <a:p>
            <a:pPr algn="l"/>
            <a:r>
              <a:rPr sz="1250" b="0" i="0">
                <a:solidFill>
                  <a:srgbClr val="1E293B"/>
                </a:solidFill>
                <a:latin typeface="Calibri"/>
              </a:rPr>
              <a:t>大约 — approximately 35% / around 2 million</a:t>
            </a:r>
          </a:p>
        </p:txBody>
      </p:sp>
      <p:sp>
        <p:nvSpPr>
          <p:cNvPr id="32" name="Rectangle 31"/>
          <p:cNvSpPr/>
          <p:nvPr/>
        </p:nvSpPr>
        <p:spPr>
          <a:xfrm>
            <a:off x="548640" y="44348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4348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434840"/>
            <a:ext cx="4754880" cy="533400"/>
          </a:xfrm>
          <a:prstGeom prst="rect">
            <a:avLst/>
          </a:prstGeom>
          <a:noFill/>
        </p:spPr>
        <p:txBody>
          <a:bodyPr wrap="square" anchor="ctr">
            <a:spAutoFit/>
          </a:bodyPr>
          <a:lstStyle/>
          <a:p>
            <a:pPr algn="l"/>
            <a:r>
              <a:rPr sz="1250" b="1" i="0">
                <a:solidFill>
                  <a:srgbClr val="472473"/>
                </a:solidFill>
                <a:latin typeface="Calibri"/>
              </a:rPr>
              <a:t>compared to</a:t>
            </a:r>
          </a:p>
        </p:txBody>
      </p:sp>
      <p:sp>
        <p:nvSpPr>
          <p:cNvPr id="35" name="TextBox 34"/>
          <p:cNvSpPr txBox="1"/>
          <p:nvPr/>
        </p:nvSpPr>
        <p:spPr>
          <a:xfrm>
            <a:off x="5623560" y="4434840"/>
            <a:ext cx="5852160" cy="533400"/>
          </a:xfrm>
          <a:prstGeom prst="rect">
            <a:avLst/>
          </a:prstGeom>
          <a:noFill/>
        </p:spPr>
        <p:txBody>
          <a:bodyPr wrap="square" anchor="ctr">
            <a:spAutoFit/>
          </a:bodyPr>
          <a:lstStyle/>
          <a:p>
            <a:pPr algn="l"/>
            <a:r>
              <a:rPr sz="1250" b="0" i="0">
                <a:solidFill>
                  <a:srgbClr val="1E293B"/>
                </a:solidFill>
                <a:latin typeface="Calibri"/>
              </a:rPr>
              <a:t>与...相比 — compared to the previous year</a:t>
            </a:r>
          </a:p>
        </p:txBody>
      </p:sp>
      <p:sp>
        <p:nvSpPr>
          <p:cNvPr id="36" name="Rectangle 35"/>
          <p:cNvSpPr/>
          <p:nvPr/>
        </p:nvSpPr>
        <p:spPr>
          <a:xfrm>
            <a:off x="548640" y="4968240"/>
            <a:ext cx="493776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968240"/>
            <a:ext cx="6126480" cy="533400"/>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968240"/>
            <a:ext cx="4754880" cy="533400"/>
          </a:xfrm>
          <a:prstGeom prst="rect">
            <a:avLst/>
          </a:prstGeom>
          <a:noFill/>
        </p:spPr>
        <p:txBody>
          <a:bodyPr wrap="square" anchor="ctr">
            <a:spAutoFit/>
          </a:bodyPr>
          <a:lstStyle/>
          <a:p>
            <a:pPr algn="l"/>
            <a:r>
              <a:rPr sz="1250" b="1" i="0">
                <a:solidFill>
                  <a:srgbClr val="472473"/>
                </a:solidFill>
                <a:latin typeface="Calibri"/>
              </a:rPr>
              <a:t>a notable difference</a:t>
            </a:r>
          </a:p>
        </p:txBody>
      </p:sp>
      <p:sp>
        <p:nvSpPr>
          <p:cNvPr id="39" name="TextBox 38"/>
          <p:cNvSpPr txBox="1"/>
          <p:nvPr/>
        </p:nvSpPr>
        <p:spPr>
          <a:xfrm>
            <a:off x="5623560" y="4968240"/>
            <a:ext cx="5852160" cy="533400"/>
          </a:xfrm>
          <a:prstGeom prst="rect">
            <a:avLst/>
          </a:prstGeom>
          <a:noFill/>
        </p:spPr>
        <p:txBody>
          <a:bodyPr wrap="square" anchor="ctr">
            <a:spAutoFit/>
          </a:bodyPr>
          <a:lstStyle/>
          <a:p>
            <a:pPr algn="l"/>
            <a:r>
              <a:rPr sz="1250" b="0" i="0">
                <a:solidFill>
                  <a:srgbClr val="1E293B"/>
                </a:solidFill>
                <a:latin typeface="Calibri"/>
              </a:rPr>
              <a:t>显著差距 — there was a notable difference between X and Y</a:t>
            </a:r>
          </a:p>
        </p:txBody>
      </p:sp>
      <p:sp>
        <p:nvSpPr>
          <p:cNvPr id="40" name="Rectangle 39"/>
          <p:cNvSpPr/>
          <p:nvPr/>
        </p:nvSpPr>
        <p:spPr>
          <a:xfrm>
            <a:off x="548640" y="5501640"/>
            <a:ext cx="493776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5501640"/>
            <a:ext cx="6126480" cy="533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5501640"/>
            <a:ext cx="4754880" cy="533400"/>
          </a:xfrm>
          <a:prstGeom prst="rect">
            <a:avLst/>
          </a:prstGeom>
          <a:noFill/>
        </p:spPr>
        <p:txBody>
          <a:bodyPr wrap="square" anchor="ctr">
            <a:spAutoFit/>
          </a:bodyPr>
          <a:lstStyle/>
          <a:p>
            <a:pPr algn="l"/>
            <a:r>
              <a:rPr sz="1250" b="1" i="0">
                <a:solidFill>
                  <a:srgbClr val="472473"/>
                </a:solidFill>
                <a:latin typeface="Calibri"/>
              </a:rPr>
              <a:t>across all categories</a:t>
            </a:r>
          </a:p>
        </p:txBody>
      </p:sp>
      <p:sp>
        <p:nvSpPr>
          <p:cNvPr id="43" name="TextBox 42"/>
          <p:cNvSpPr txBox="1"/>
          <p:nvPr/>
        </p:nvSpPr>
        <p:spPr>
          <a:xfrm>
            <a:off x="5623560" y="5501640"/>
            <a:ext cx="5852160" cy="533400"/>
          </a:xfrm>
          <a:prstGeom prst="rect">
            <a:avLst/>
          </a:prstGeom>
          <a:noFill/>
        </p:spPr>
        <p:txBody>
          <a:bodyPr wrap="square" anchor="ctr">
            <a:spAutoFit/>
          </a:bodyPr>
          <a:lstStyle/>
          <a:p>
            <a:pPr algn="l"/>
            <a:r>
              <a:rPr sz="1250" b="0" i="0">
                <a:solidFill>
                  <a:srgbClr val="1E293B"/>
                </a:solidFill>
                <a:latin typeface="Calibri"/>
              </a:rPr>
              <a:t>所有类别中 — the lowest figure across all categories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流程图 vs 图表：写作策略总对比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数字图表（折线/柱状/饼图）</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重点：数字、趋势、比例</a:t>
            </a:r>
          </a:p>
          <a:p>
            <a:pPr>
              <a:spcBef>
                <a:spcPts val="700"/>
              </a:spcBef>
            </a:pPr>
            <a:r>
              <a:rPr sz="1450">
                <a:solidFill>
                  <a:srgbClr val="1E293B"/>
                </a:solidFill>
              </a:rPr>
              <a:t>• 核心技能：数据描述词汇</a:t>
            </a:r>
          </a:p>
          <a:p>
            <a:pPr>
              <a:spcBef>
                <a:spcPts val="700"/>
              </a:spcBef>
            </a:pPr>
            <a:r>
              <a:rPr sz="1450">
                <a:solidFill>
                  <a:srgbClr val="1E293B"/>
                </a:solidFill>
              </a:rPr>
              <a:t>• 时态：过去时为主</a:t>
            </a:r>
          </a:p>
          <a:p>
            <a:pPr>
              <a:spcBef>
                <a:spcPts val="700"/>
              </a:spcBef>
            </a:pPr>
            <a:r>
              <a:rPr sz="1450">
                <a:solidFill>
                  <a:srgbClr val="1E293B"/>
                </a:solidFill>
              </a:rPr>
              <a:t>• Overview：趋势/最高最低/分布规律</a:t>
            </a:r>
          </a:p>
          <a:p>
            <a:pPr>
              <a:spcBef>
                <a:spcPts val="700"/>
              </a:spcBef>
            </a:pPr>
            <a:r>
              <a:rPr sz="1450">
                <a:solidFill>
                  <a:srgbClr val="1E293B"/>
                </a:solidFill>
              </a:rPr>
              <a:t>• 难点：选择关键数据，避免流水账</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非数字图表（流程图/地图/表格）</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重点：过程/变化/规律</a:t>
            </a:r>
          </a:p>
          <a:p>
            <a:pPr>
              <a:spcBef>
                <a:spcPts val="700"/>
              </a:spcBef>
            </a:pPr>
            <a:r>
              <a:rPr sz="1450">
                <a:solidFill>
                  <a:srgbClr val="1E293B"/>
                </a:solidFill>
              </a:rPr>
              <a:t>• 核心技能：被动语态/位置词</a:t>
            </a:r>
          </a:p>
          <a:p>
            <a:pPr>
              <a:spcBef>
                <a:spcPts val="700"/>
              </a:spcBef>
            </a:pPr>
            <a:r>
              <a:rPr sz="1450">
                <a:solidFill>
                  <a:srgbClr val="1E293B"/>
                </a:solidFill>
              </a:rPr>
              <a:t>• 时态：现在时（流程）/过去时（地图）</a:t>
            </a:r>
          </a:p>
          <a:p>
            <a:pPr>
              <a:spcBef>
                <a:spcPts val="700"/>
              </a:spcBef>
            </a:pPr>
            <a:r>
              <a:rPr sz="1450">
                <a:solidFill>
                  <a:srgbClr val="1E293B"/>
                </a:solidFill>
              </a:rPr>
              <a:t>• Overview：步骤数/变化方向/整体规律</a:t>
            </a:r>
          </a:p>
          <a:p>
            <a:pPr>
              <a:spcBef>
                <a:spcPts val="700"/>
              </a:spcBef>
            </a:pPr>
            <a:r>
              <a:rPr sz="1450">
                <a:solidFill>
                  <a:srgbClr val="1E293B"/>
                </a:solidFill>
              </a:rPr>
              <a:t>• 难点：组织逻辑顺序，不遗漏步骤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1词汇积累：按图表类型分类</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流程图专用词汇</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顺序：first/then/subsequently/finally</a:t>
            </a:r>
          </a:p>
          <a:p>
            <a:pPr>
              <a:spcBef>
                <a:spcPts val="700"/>
              </a:spcBef>
            </a:pPr>
            <a:r>
              <a:rPr sz="1450">
                <a:solidFill>
                  <a:srgbClr val="1E293B"/>
                </a:solidFill>
              </a:rPr>
              <a:t>• 被动：is collected/transported/processed</a:t>
            </a:r>
          </a:p>
          <a:p>
            <a:pPr>
              <a:spcBef>
                <a:spcPts val="700"/>
              </a:spcBef>
            </a:pPr>
            <a:r>
              <a:rPr sz="1450">
                <a:solidFill>
                  <a:srgbClr val="1E293B"/>
                </a:solidFill>
              </a:rPr>
              <a:t>• 结果：resulting in/leading to/producing</a:t>
            </a:r>
          </a:p>
          <a:p>
            <a:pPr>
              <a:spcBef>
                <a:spcPts val="700"/>
              </a:spcBef>
            </a:pPr>
            <a:r>
              <a:rPr sz="1450">
                <a:solidFill>
                  <a:srgbClr val="1E293B"/>
                </a:solidFill>
              </a:rPr>
              <a:t>• 完成：upon completion/having been processed</a:t>
            </a:r>
          </a:p>
          <a:p>
            <a:pPr>
              <a:spcBef>
                <a:spcPts val="700"/>
              </a:spcBef>
            </a:pPr>
            <a:r>
              <a:rPr sz="1450">
                <a:solidFill>
                  <a:srgbClr val="1E293B"/>
                </a:solidFill>
              </a:rPr>
              <a:t>• 循环：this cycle repeats/returns to the first stage</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地图专用词汇</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位置：to the north/in the centre/adjacent to</a:t>
            </a:r>
          </a:p>
          <a:p>
            <a:pPr>
              <a:spcBef>
                <a:spcPts val="700"/>
              </a:spcBef>
            </a:pPr>
            <a:r>
              <a:rPr sz="1450">
                <a:solidFill>
                  <a:srgbClr val="1E293B"/>
                </a:solidFill>
              </a:rPr>
              <a:t>• 新增：has been constructed/was built/was added</a:t>
            </a:r>
          </a:p>
          <a:p>
            <a:pPr>
              <a:spcBef>
                <a:spcPts val="700"/>
              </a:spcBef>
            </a:pPr>
            <a:r>
              <a:rPr sz="1450">
                <a:solidFill>
                  <a:srgbClr val="1E293B"/>
                </a:solidFill>
              </a:rPr>
              <a:t>• 拆除：was demolished/was removed/no longer exists</a:t>
            </a:r>
          </a:p>
          <a:p>
            <a:pPr>
              <a:spcBef>
                <a:spcPts val="700"/>
              </a:spcBef>
            </a:pPr>
            <a:r>
              <a:rPr sz="1450">
                <a:solidFill>
                  <a:srgbClr val="1E293B"/>
                </a:solidFill>
              </a:rPr>
              <a:t>• 改建：was converted/was transformed/was replaced</a:t>
            </a:r>
          </a:p>
          <a:p>
            <a:pPr>
              <a:spcBef>
                <a:spcPts val="700"/>
              </a:spcBef>
            </a:pPr>
            <a:r>
              <a:rPr sz="1450">
                <a:solidFill>
                  <a:srgbClr val="1E293B"/>
                </a:solidFill>
              </a:rPr>
              <a:t>• 保留：remains/is retained/is still present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L03知识点：三类图表核心要素</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流程图写作要素</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引言：改写题目（illustrates the process of）</a:t>
            </a:r>
          </a:p>
          <a:p>
            <a:pPr>
              <a:spcBef>
                <a:spcPts val="700"/>
              </a:spcBef>
            </a:pPr>
            <a:r>
              <a:rPr sz="1450">
                <a:solidFill>
                  <a:srgbClr val="1E293B"/>
                </a:solidFill>
              </a:rPr>
              <a:t>• Overview：步骤数量+起终点+是否循环</a:t>
            </a:r>
          </a:p>
          <a:p>
            <a:pPr>
              <a:spcBef>
                <a:spcPts val="700"/>
              </a:spcBef>
            </a:pPr>
            <a:r>
              <a:rPr sz="1450">
                <a:solidFill>
                  <a:srgbClr val="1E293B"/>
                </a:solidFill>
              </a:rPr>
              <a:t>• 主体：按顺序+被动语态+顺序连接词</a:t>
            </a:r>
          </a:p>
          <a:p>
            <a:pPr>
              <a:spcBef>
                <a:spcPts val="700"/>
              </a:spcBef>
            </a:pPr>
            <a:r>
              <a:rPr sz="1450">
                <a:solidFill>
                  <a:srgbClr val="1E293B"/>
                </a:solidFill>
              </a:rPr>
              <a:t>• 时态：一般现在时为主</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地图/表格写作要素</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引言：改写题目（depicts changes to/shows data on）</a:t>
            </a:r>
          </a:p>
          <a:p>
            <a:pPr>
              <a:spcBef>
                <a:spcPts val="700"/>
              </a:spcBef>
            </a:pPr>
            <a:r>
              <a:rPr sz="1450">
                <a:solidFill>
                  <a:srgbClr val="1E293B"/>
                </a:solidFill>
              </a:rPr>
              <a:t>• Overview：主要变化方向/整体规律（无数字）</a:t>
            </a:r>
          </a:p>
          <a:p>
            <a:pPr>
              <a:spcBef>
                <a:spcPts val="700"/>
              </a:spcBef>
            </a:pPr>
            <a:r>
              <a:rPr sz="1450">
                <a:solidFill>
                  <a:srgbClr val="1E293B"/>
                </a:solidFill>
              </a:rPr>
              <a:t>• 主体：按区域/类型组织+被动语态+位置词</a:t>
            </a:r>
          </a:p>
          <a:p>
            <a:pPr>
              <a:spcBef>
                <a:spcPts val="700"/>
              </a:spcBef>
            </a:pPr>
            <a:r>
              <a:rPr sz="1450">
                <a:solidFill>
                  <a:srgbClr val="1E293B"/>
                </a:solidFill>
              </a:rPr>
              <a:t>• 时态：现在完成时/过去时（地图）</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1各图表类型备考优先级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高频考题（重点准备）</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折线图：最常见，每次考试必有</a:t>
            </a:r>
          </a:p>
          <a:p>
            <a:pPr>
              <a:spcBef>
                <a:spcPts val="700"/>
              </a:spcBef>
            </a:pPr>
            <a:r>
              <a:rPr sz="1450">
                <a:solidFill>
                  <a:srgbClr val="1E293B"/>
                </a:solidFill>
              </a:rPr>
              <a:t>• 柱状图：第二常见，与折线图交替</a:t>
            </a:r>
          </a:p>
          <a:p>
            <a:pPr>
              <a:spcBef>
                <a:spcPts val="700"/>
              </a:spcBef>
            </a:pPr>
            <a:r>
              <a:rPr sz="1450">
                <a:solidFill>
                  <a:srgbClr val="1E293B"/>
                </a:solidFill>
              </a:rPr>
              <a:t>• 饼图：中等频率，常与其他图组合</a:t>
            </a:r>
          </a:p>
          <a:p>
            <a:pPr>
              <a:spcBef>
                <a:spcPts val="700"/>
              </a:spcBef>
            </a:pPr>
            <a:r>
              <a:rPr sz="1450">
                <a:solidFill>
                  <a:srgbClr val="1E293B"/>
                </a:solidFill>
              </a:rPr>
              <a:t>• 表格：中等频率，与其他图组合出现</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低频考题（了解即可）</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流程图：约20%概率出现</a:t>
            </a:r>
          </a:p>
          <a:p>
            <a:pPr>
              <a:spcBef>
                <a:spcPts val="700"/>
              </a:spcBef>
            </a:pPr>
            <a:r>
              <a:rPr sz="1450">
                <a:solidFill>
                  <a:srgbClr val="1E293B"/>
                </a:solidFill>
              </a:rPr>
              <a:t>• 地图：约15%概率出现</a:t>
            </a:r>
          </a:p>
          <a:p>
            <a:pPr>
              <a:spcBef>
                <a:spcPts val="700"/>
              </a:spcBef>
            </a:pPr>
            <a:r>
              <a:rPr sz="1450">
                <a:solidFill>
                  <a:srgbClr val="1E293B"/>
                </a:solidFill>
              </a:rPr>
              <a:t>• 双图组合（如折线+饼图）：约30%</a:t>
            </a:r>
          </a:p>
          <a:p>
            <a:pPr>
              <a:spcBef>
                <a:spcPts val="700"/>
              </a:spcBef>
            </a:pPr>
            <a:r>
              <a:rPr sz="1450">
                <a:solidFill>
                  <a:srgbClr val="1E293B"/>
                </a:solidFill>
              </a:rPr>
              <a:t>• 备考建议：折线+柱状精练，流程/地图了解</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L03学完自测：非数字图表掌握度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能用被动语态（is/are/was/has been + 过去分词）描述流程图每个步骤</a:t>
            </a:r>
          </a:p>
          <a:p>
            <a:pPr>
              <a:spcBef>
                <a:spcPts val="1200"/>
              </a:spcBef>
            </a:pPr>
            <a:r>
              <a:rPr sz="1600">
                <a:solidFill>
                  <a:srgbClr val="1E293B"/>
                </a:solidFill>
              </a:rPr>
              <a:t>☐ 能用顺序连接词（first/subsequently/finally）连接流程步骤</a:t>
            </a:r>
          </a:p>
          <a:p>
            <a:pPr>
              <a:spcBef>
                <a:spcPts val="1200"/>
              </a:spcBef>
            </a:pPr>
            <a:r>
              <a:rPr sz="1600">
                <a:solidFill>
                  <a:srgbClr val="1E293B"/>
                </a:solidFill>
              </a:rPr>
              <a:t>☐ 能写出流程图Overview（步骤数量+起点+终点）</a:t>
            </a:r>
          </a:p>
          <a:p>
            <a:pPr>
              <a:spcBef>
                <a:spcPts val="1200"/>
              </a:spcBef>
            </a:pPr>
            <a:r>
              <a:rPr sz="1600">
                <a:solidFill>
                  <a:srgbClr val="1E293B"/>
                </a:solidFill>
              </a:rPr>
              <a:t>☐ 能用位置词（to the north/in the centre）描述地图变化</a:t>
            </a:r>
          </a:p>
          <a:p>
            <a:pPr>
              <a:spcBef>
                <a:spcPts val="1200"/>
              </a:spcBef>
            </a:pPr>
            <a:r>
              <a:rPr sz="1600">
                <a:solidFill>
                  <a:srgbClr val="1E293B"/>
                </a:solidFill>
              </a:rPr>
              <a:t>☐ 能区分新增/拆除/改建/保留的不同表达方式</a:t>
            </a:r>
          </a:p>
          <a:p>
            <a:pPr>
              <a:spcBef>
                <a:spcPts val="1200"/>
              </a:spcBef>
            </a:pPr>
            <a:r>
              <a:rPr sz="1600">
                <a:solidFill>
                  <a:srgbClr val="1E293B"/>
                </a:solidFill>
              </a:rPr>
              <a:t>☐ 能从表格中找出整体规律并写出Overview</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L03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A0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流程图：全程被动语态+顺序连接词+步骤完整+现在时+Overview（步骤数/起终点）</a:t>
            </a:r>
          </a:p>
          <a:p>
            <a:pPr>
              <a:spcBef>
                <a:spcPts val="1100"/>
              </a:spcBef>
            </a:pPr>
            <a:r>
              <a:rPr sz="1550">
                <a:solidFill>
                  <a:srgbClr val="FFFFFF"/>
                </a:solidFill>
              </a:rPr>
              <a:t>✓  地图：位置词+变化被动（has been built/demolished）+比较两张图+提保留部分</a:t>
            </a:r>
          </a:p>
          <a:p>
            <a:pPr>
              <a:spcBef>
                <a:spcPts val="1100"/>
              </a:spcBef>
            </a:pPr>
            <a:r>
              <a:rPr sz="1550">
                <a:solidFill>
                  <a:srgbClr val="FFFFFF"/>
                </a:solidFill>
              </a:rPr>
              <a:t>✓  表格：找行列规律→最高最低→整体规律→选关键数据描述</a:t>
            </a:r>
          </a:p>
          <a:p>
            <a:pPr>
              <a:spcBef>
                <a:spcPts val="1100"/>
              </a:spcBef>
            </a:pPr>
            <a:r>
              <a:rPr sz="1550">
                <a:solidFill>
                  <a:srgbClr val="FFFFFF"/>
                </a:solidFill>
              </a:rPr>
              <a:t>✓  三类图共同点：必须有Overview，引言改写题目，150词以上，不写个人观点</a:t>
            </a:r>
          </a:p>
          <a:p>
            <a:pPr>
              <a:spcBef>
                <a:spcPts val="1100"/>
              </a:spcBef>
            </a:pPr>
            <a:r>
              <a:rPr sz="1550">
                <a:solidFill>
                  <a:srgbClr val="FFFFFF"/>
                </a:solidFill>
              </a:rPr>
              <a:t>✓  被动语态是Task 1学术风格的核心——流程图/地图都要大量使用</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L03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A01D"/>
                </a:solidFill>
                <a:latin typeface="Calibri"/>
              </a:rPr>
              <a:t>⏱ 建议用时：约90分钟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找一张流程图，用全程被动语态写完整Task 1（≥150词，含Overview）</a:t>
            </a:r>
          </a:p>
          <a:p>
            <a:pPr>
              <a:spcBef>
                <a:spcPts val="1300"/>
              </a:spcBef>
            </a:pPr>
            <a:r>
              <a:rPr sz="1550" b="1">
                <a:solidFill>
                  <a:srgbClr val="1E293B"/>
                </a:solidFill>
              </a:rPr>
              <a:t>作业 2　找两张地图（同一地点不同时期），描述所有变化和保留部分</a:t>
            </a:r>
          </a:p>
          <a:p>
            <a:pPr>
              <a:spcBef>
                <a:spcPts val="1300"/>
              </a:spcBef>
            </a:pPr>
            <a:r>
              <a:rPr sz="1550" b="1">
                <a:solidFill>
                  <a:srgbClr val="1E293B"/>
                </a:solidFill>
              </a:rPr>
              <a:t>作业 3　将10个主动句改为被动句（参考本课练习题）</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A0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L04 · Task 2 引言与结论写法</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引言段的三段式结构</a:t>
            </a:r>
          </a:p>
          <a:p>
            <a:pPr>
              <a:spcBef>
                <a:spcPts val="1000"/>
              </a:spcBef>
            </a:pPr>
            <a:r>
              <a:rPr sz="1600">
                <a:solidFill>
                  <a:srgbClr val="CFDCF2"/>
                </a:solidFill>
              </a:rPr>
              <a:t>→ 立场表达的高分模板</a:t>
            </a:r>
          </a:p>
          <a:p>
            <a:pPr>
              <a:spcBef>
                <a:spcPts val="1000"/>
              </a:spcBef>
            </a:pPr>
            <a:r>
              <a:rPr sz="1600">
                <a:solidFill>
                  <a:srgbClr val="CFDCF2"/>
                </a:solidFill>
              </a:rPr>
              <a:t>→ 结论段的写法与功能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