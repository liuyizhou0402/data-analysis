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L09</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写作常见错误与修正</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Common Writing Errors &amp; Correction Techniques</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9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中国考生十大写作失误诊断</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Task 1 高频错误与修正</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Task 2 论证失误与提升</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语言层面错误自查</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综合修正训练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中国考生十大写作失误诊断</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Top 10 Writing Errors by Chinese Candidates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为什么要专项学习错误修正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研究表明，IELTS写作中国考生最大的提分空间不在于学新知识，而在于改正反复犯的错误。Band 6→7的关键差距往往是5-8个固定错误模式。识别→理解原因→刻意修正→建立自查习惯，是最快的提分路径。</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目</a:t>
            </a:r>
          </a:p>
          <a:p>
            <a:pPr>
              <a:spcBef>
                <a:spcPts val="900"/>
              </a:spcBef>
            </a:pPr>
            <a:r>
              <a:rPr sz="1600">
                <a:solidFill>
                  <a:srgbClr val="1E293B"/>
                </a:solidFill>
              </a:rPr>
              <a:t>• 标</a:t>
            </a:r>
          </a:p>
          <a:p>
            <a:pPr>
              <a:spcBef>
                <a:spcPts val="900"/>
              </a:spcBef>
            </a:pPr>
            <a:r>
              <a:rPr sz="1600">
                <a:solidFill>
                  <a:srgbClr val="1E293B"/>
                </a:solidFill>
              </a:rPr>
              <a:t>• ：</a:t>
            </a:r>
          </a:p>
          <a:p>
            <a:pPr>
              <a:spcBef>
                <a:spcPts val="900"/>
              </a:spcBef>
            </a:pPr>
            <a:r>
              <a:rPr sz="1600">
                <a:solidFill>
                  <a:srgbClr val="1E293B"/>
                </a:solidFill>
              </a:rPr>
              <a:t>• 建</a:t>
            </a:r>
          </a:p>
          <a:p>
            <a:pPr>
              <a:spcBef>
                <a:spcPts val="900"/>
              </a:spcBef>
            </a:pPr>
            <a:r>
              <a:rPr sz="1600">
                <a:solidFill>
                  <a:srgbClr val="1E293B"/>
                </a:solidFill>
              </a:rPr>
              <a:t>• 立</a:t>
            </a:r>
          </a:p>
          <a:p>
            <a:pPr>
              <a:spcBef>
                <a:spcPts val="900"/>
              </a:spcBef>
            </a:pPr>
            <a:r>
              <a:rPr sz="1600">
                <a:solidFill>
                  <a:srgbClr val="1E293B"/>
                </a:solidFill>
              </a:rPr>
              <a:t>• "</a:t>
            </a:r>
          </a:p>
          <a:p>
            <a:pPr>
              <a:spcBef>
                <a:spcPts val="900"/>
              </a:spcBef>
            </a:pPr>
            <a:r>
              <a:rPr sz="1600">
                <a:solidFill>
                  <a:srgbClr val="1E293B"/>
                </a:solidFill>
              </a:rPr>
              <a:t>• 错</a:t>
            </a:r>
          </a:p>
          <a:p>
            <a:pPr>
              <a:spcBef>
                <a:spcPts val="900"/>
              </a:spcBef>
            </a:pPr>
            <a:r>
              <a:rPr sz="1600">
                <a:solidFill>
                  <a:srgbClr val="1E293B"/>
                </a:solidFill>
              </a:rPr>
              <a:t>• 误</a:t>
            </a:r>
          </a:p>
          <a:p>
            <a:pPr>
              <a:spcBef>
                <a:spcPts val="900"/>
              </a:spcBef>
            </a:pPr>
            <a:r>
              <a:rPr sz="1600">
                <a:solidFill>
                  <a:srgbClr val="1E293B"/>
                </a:solidFill>
              </a:rPr>
              <a:t>• 意</a:t>
            </a:r>
          </a:p>
          <a:p>
            <a:pPr>
              <a:spcBef>
                <a:spcPts val="900"/>
              </a:spcBef>
            </a:pPr>
            <a:r>
              <a:rPr sz="1600">
                <a:solidFill>
                  <a:srgbClr val="1E293B"/>
                </a:solidFill>
              </a:rPr>
              <a:t>• 识</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写</a:t>
            </a:r>
          </a:p>
          <a:p>
            <a:pPr>
              <a:spcBef>
                <a:spcPts val="900"/>
              </a:spcBef>
            </a:pPr>
            <a:r>
              <a:rPr sz="1600">
                <a:solidFill>
                  <a:srgbClr val="1E293B"/>
                </a:solidFill>
              </a:rPr>
              <a:t>• 作</a:t>
            </a:r>
          </a:p>
          <a:p>
            <a:pPr>
              <a:spcBef>
                <a:spcPts val="900"/>
              </a:spcBef>
            </a:pPr>
            <a:r>
              <a:rPr sz="1600">
                <a:solidFill>
                  <a:srgbClr val="1E293B"/>
                </a:solidFill>
              </a:rPr>
              <a:t>• 时</a:t>
            </a:r>
          </a:p>
          <a:p>
            <a:pPr>
              <a:spcBef>
                <a:spcPts val="900"/>
              </a:spcBef>
            </a:pPr>
            <a:r>
              <a:rPr sz="1600">
                <a:solidFill>
                  <a:srgbClr val="1E293B"/>
                </a:solidFill>
              </a:rPr>
              <a:t>• 能</a:t>
            </a:r>
          </a:p>
          <a:p>
            <a:pPr>
              <a:spcBef>
                <a:spcPts val="900"/>
              </a:spcBef>
            </a:pPr>
            <a:r>
              <a:rPr sz="1600">
                <a:solidFill>
                  <a:srgbClr val="1E293B"/>
                </a:solidFill>
              </a:rPr>
              <a:t>• 预</a:t>
            </a:r>
          </a:p>
          <a:p>
            <a:pPr>
              <a:spcBef>
                <a:spcPts val="900"/>
              </a:spcBef>
            </a:pPr>
            <a:r>
              <a:rPr sz="1600">
                <a:solidFill>
                  <a:srgbClr val="1E293B"/>
                </a:solidFill>
              </a:rPr>
              <a:t>• 判</a:t>
            </a:r>
          </a:p>
          <a:p>
            <a:pPr>
              <a:spcBef>
                <a:spcPts val="900"/>
              </a:spcBef>
            </a:pPr>
            <a:r>
              <a:rPr sz="1600">
                <a:solidFill>
                  <a:srgbClr val="1E293B"/>
                </a:solidFill>
              </a:rPr>
              <a:t>• 并</a:t>
            </a:r>
          </a:p>
          <a:p>
            <a:pPr>
              <a:spcBef>
                <a:spcPts val="900"/>
              </a:spcBef>
            </a:pPr>
            <a:r>
              <a:rPr sz="1600">
                <a:solidFill>
                  <a:srgbClr val="1E293B"/>
                </a:solidFill>
              </a:rPr>
              <a:t>• 主</a:t>
            </a:r>
          </a:p>
          <a:p>
            <a:pPr>
              <a:spcBef>
                <a:spcPts val="900"/>
              </a:spcBef>
            </a:pPr>
            <a:r>
              <a:rPr sz="1600">
                <a:solidFill>
                  <a:srgbClr val="1E293B"/>
                </a:solidFill>
              </a:rPr>
              <a:t>• 动</a:t>
            </a:r>
          </a:p>
          <a:p>
            <a:pPr>
              <a:spcBef>
                <a:spcPts val="900"/>
              </a:spcBef>
            </a:pPr>
            <a:r>
              <a:rPr sz="1600">
                <a:solidFill>
                  <a:srgbClr val="1E293B"/>
                </a:solidFill>
              </a:rPr>
              <a:t>• 避</a:t>
            </a:r>
          </a:p>
          <a:p>
            <a:pPr>
              <a:spcBef>
                <a:spcPts val="900"/>
              </a:spcBef>
            </a:pPr>
            <a:r>
              <a:rPr sz="1600">
                <a:solidFill>
                  <a:srgbClr val="1E293B"/>
                </a:solidFill>
              </a:rPr>
              <a:t>• 免</a:t>
            </a:r>
          </a:p>
          <a:p>
            <a:pPr>
              <a:spcBef>
                <a:spcPts val="900"/>
              </a:spcBef>
            </a:pPr>
            <a:r>
              <a:rPr sz="1600">
                <a:solidFill>
                  <a:srgbClr val="1E293B"/>
                </a:solidFill>
              </a:rPr>
              <a:t>• 高</a:t>
            </a:r>
          </a:p>
          <a:p>
            <a:pPr>
              <a:spcBef>
                <a:spcPts val="900"/>
              </a:spcBef>
            </a:pPr>
            <a:r>
              <a:rPr sz="1600">
                <a:solidFill>
                  <a:srgbClr val="1E293B"/>
                </a:solidFill>
              </a:rPr>
              <a:t>• 频</a:t>
            </a:r>
          </a:p>
          <a:p>
            <a:pPr>
              <a:spcBef>
                <a:spcPts val="900"/>
              </a:spcBef>
            </a:pPr>
            <a:r>
              <a:rPr sz="1600">
                <a:solidFill>
                  <a:srgbClr val="1E293B"/>
                </a:solidFill>
              </a:rPr>
              <a:t>• 错</a:t>
            </a:r>
          </a:p>
          <a:p>
            <a:pPr>
              <a:spcBef>
                <a:spcPts val="900"/>
              </a:spcBef>
            </a:pPr>
            <a:r>
              <a:rPr sz="1600">
                <a:solidFill>
                  <a:srgbClr val="1E293B"/>
                </a:solidFill>
              </a:rPr>
              <a:t>• 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十大错误类型速览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类型①：Task 2立场不清晰或中途改变
类型②：Task 1无Overview（概述段）
类型③：主体段"列举"而非"论证"（只说what不说why）
类型④：词汇重复（同一词出现3次以上）
类型⑤：句子结构单一（全部简单句）
类型⑥：冠词错误（the/a/∅混用）
类型⑦：主谓不一致
类型⑧：Task 1字数不足或超时
类型⑨：段落无主题句
类型⑩：结论段重复引言，无新信息也无推进</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识</a:t>
            </a:r>
          </a:p>
          <a:p>
            <a:pPr>
              <a:spcBef>
                <a:spcPts val="900"/>
              </a:spcBef>
            </a:pPr>
            <a:r>
              <a:rPr sz="1600">
                <a:solidFill>
                  <a:srgbClr val="1E293B"/>
                </a:solidFill>
              </a:rPr>
              <a:t>• 别</a:t>
            </a:r>
          </a:p>
          <a:p>
            <a:pPr>
              <a:spcBef>
                <a:spcPts val="900"/>
              </a:spcBef>
            </a:pPr>
            <a:r>
              <a:rPr sz="1600">
                <a:solidFill>
                  <a:srgbClr val="1E293B"/>
                </a:solidFill>
              </a:rPr>
              <a:t>• 自</a:t>
            </a:r>
          </a:p>
          <a:p>
            <a:pPr>
              <a:spcBef>
                <a:spcPts val="900"/>
              </a:spcBef>
            </a:pPr>
            <a:r>
              <a:rPr sz="1600">
                <a:solidFill>
                  <a:srgbClr val="1E293B"/>
                </a:solidFill>
              </a:rPr>
              <a:t>• 己</a:t>
            </a:r>
          </a:p>
          <a:p>
            <a:pPr>
              <a:spcBef>
                <a:spcPts val="900"/>
              </a:spcBef>
            </a:pPr>
            <a:r>
              <a:rPr sz="1600">
                <a:solidFill>
                  <a:srgbClr val="1E293B"/>
                </a:solidFill>
              </a:rPr>
              <a:t>• 属</a:t>
            </a:r>
          </a:p>
          <a:p>
            <a:pPr>
              <a:spcBef>
                <a:spcPts val="900"/>
              </a:spcBef>
            </a:pPr>
            <a:r>
              <a:rPr sz="1600">
                <a:solidFill>
                  <a:srgbClr val="1E293B"/>
                </a:solidFill>
              </a:rPr>
              <a:t>• 于</a:t>
            </a:r>
          </a:p>
          <a:p>
            <a:pPr>
              <a:spcBef>
                <a:spcPts val="900"/>
              </a:spcBef>
            </a:pPr>
            <a:r>
              <a:rPr sz="1600">
                <a:solidFill>
                  <a:srgbClr val="1E293B"/>
                </a:solidFill>
              </a:rPr>
              <a:t>• 哪</a:t>
            </a:r>
          </a:p>
          <a:p>
            <a:pPr>
              <a:spcBef>
                <a:spcPts val="900"/>
              </a:spcBef>
            </a:pPr>
            <a:r>
              <a:rPr sz="1600">
                <a:solidFill>
                  <a:srgbClr val="1E293B"/>
                </a:solidFill>
              </a:rPr>
              <a:t>• 类</a:t>
            </a:r>
          </a:p>
          <a:p>
            <a:pPr>
              <a:spcBef>
                <a:spcPts val="900"/>
              </a:spcBef>
            </a:pPr>
            <a:r>
              <a:rPr sz="1600">
                <a:solidFill>
                  <a:srgbClr val="1E293B"/>
                </a:solidFill>
              </a:rPr>
              <a:t>• 错</a:t>
            </a:r>
          </a:p>
          <a:p>
            <a:pPr>
              <a:spcBef>
                <a:spcPts val="900"/>
              </a:spcBef>
            </a:pPr>
            <a:r>
              <a:rPr sz="1600">
                <a:solidFill>
                  <a:srgbClr val="1E293B"/>
                </a:solidFill>
              </a:rPr>
              <a:t>• 误</a:t>
            </a:r>
          </a:p>
          <a:p>
            <a:pPr>
              <a:spcBef>
                <a:spcPts val="900"/>
              </a:spcBef>
            </a:pPr>
            <a:r>
              <a:rPr sz="1600">
                <a:solidFill>
                  <a:srgbClr val="1E293B"/>
                </a:solidFill>
              </a:rPr>
              <a:t>• 是</a:t>
            </a:r>
          </a:p>
          <a:p>
            <a:pPr>
              <a:spcBef>
                <a:spcPts val="900"/>
              </a:spcBef>
            </a:pPr>
            <a:r>
              <a:rPr sz="1600">
                <a:solidFill>
                  <a:srgbClr val="1E293B"/>
                </a:solidFill>
              </a:rPr>
              <a:t>• 第</a:t>
            </a:r>
          </a:p>
          <a:p>
            <a:pPr>
              <a:spcBef>
                <a:spcPts val="900"/>
              </a:spcBef>
            </a:pPr>
            <a:r>
              <a:rPr sz="1600">
                <a:solidFill>
                  <a:srgbClr val="1E293B"/>
                </a:solidFill>
              </a:rPr>
              <a:t>• 一</a:t>
            </a:r>
          </a:p>
          <a:p>
            <a:pPr>
              <a:spcBef>
                <a:spcPts val="900"/>
              </a:spcBef>
            </a:pPr>
            <a:r>
              <a:rPr sz="1600">
                <a:solidFill>
                  <a:srgbClr val="1E293B"/>
                </a:solidFill>
              </a:rPr>
              <a:t>• 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错误①②：立场与Task 1 Overview问题</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错误①：Task 2立场模糊："Some people think X, others think Y, both have merit."</a:t>
            </a:r>
          </a:p>
          <a:p>
            <a:pPr>
              <a:spcBef>
                <a:spcPts val="1000"/>
              </a:spcBef>
            </a:pPr>
            <a:r>
              <a:rPr sz="1650">
                <a:solidFill>
                  <a:srgbClr val="1E293B"/>
                </a:solidFill>
              </a:rPr>
              <a:t>• 问题：没有表明自己的立场，TA分数严重受损（最多Band 5）</a:t>
            </a:r>
          </a:p>
          <a:p>
            <a:pPr>
              <a:spcBef>
                <a:spcPts val="1000"/>
              </a:spcBef>
            </a:pPr>
            <a:r>
              <a:rPr sz="1650">
                <a:solidFill>
                  <a:srgbClr val="1E293B"/>
                </a:solidFill>
              </a:rPr>
              <a:t>• 修正：引言最后一句必须明确："I firmly believe that X because..."</a:t>
            </a:r>
          </a:p>
          <a:p>
            <a:pPr>
              <a:spcBef>
                <a:spcPts val="1000"/>
              </a:spcBef>
            </a:pPr>
            <a:r>
              <a:rPr sz="1650">
                <a:solidFill>
                  <a:srgbClr val="1E293B"/>
                </a:solidFill>
              </a:rPr>
              <a:t>• 错误②：Task 1没有Overview段（概述段）</a:t>
            </a:r>
          </a:p>
          <a:p>
            <a:pPr>
              <a:spcBef>
                <a:spcPts val="1000"/>
              </a:spcBef>
            </a:pPr>
            <a:r>
              <a:rPr sz="1650">
                <a:solidFill>
                  <a:srgbClr val="1E293B"/>
                </a:solidFill>
              </a:rPr>
              <a:t>• 问题：没有Overview最高Band 5，是Task 1最大失分点</a:t>
            </a:r>
          </a:p>
          <a:p>
            <a:pPr>
              <a:spcBef>
                <a:spcPts val="1000"/>
              </a:spcBef>
            </a:pPr>
            <a:r>
              <a:rPr sz="1650">
                <a:solidFill>
                  <a:srgbClr val="1E293B"/>
                </a:solidFill>
              </a:rPr>
              <a:t>• 修正：第二段（或最后）必须写以"Overall, ..."开头的概述段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错误③④：论证浅与词汇重复</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错误③：主体段只列举，不解释（"Technology is useful. People use phones. Phones help."）</a:t>
            </a:r>
          </a:p>
          <a:p>
            <a:pPr>
              <a:spcBef>
                <a:spcPts val="1000"/>
              </a:spcBef>
            </a:pPr>
            <a:r>
              <a:rPr sz="1650">
                <a:solidFill>
                  <a:srgbClr val="1E293B"/>
                </a:solidFill>
              </a:rPr>
              <a:t>• 问题：没有论证链（TS→why→evidence），CC和TA均受影响</a:t>
            </a:r>
          </a:p>
          <a:p>
            <a:pPr>
              <a:spcBef>
                <a:spcPts val="1000"/>
              </a:spcBef>
            </a:pPr>
            <a:r>
              <a:rPr sz="1650">
                <a:solidFill>
                  <a:srgbClr val="1E293B"/>
                </a:solidFill>
              </a:rPr>
              <a:t>• 修正：每个论点必须有三层——观点（TS）→解释（why）→证据（evidence）</a:t>
            </a:r>
          </a:p>
          <a:p>
            <a:pPr>
              <a:spcBef>
                <a:spcPts val="1000"/>
              </a:spcBef>
            </a:pPr>
            <a:r>
              <a:rPr sz="1650">
                <a:solidFill>
                  <a:srgbClr val="1E293B"/>
                </a:solidFill>
              </a:rPr>
              <a:t>• 错误④：词汇重复（同一段"important"出现3次）</a:t>
            </a:r>
          </a:p>
          <a:p>
            <a:pPr>
              <a:spcBef>
                <a:spcPts val="1000"/>
              </a:spcBef>
            </a:pPr>
            <a:r>
              <a:rPr sz="1650">
                <a:solidFill>
                  <a:srgbClr val="1E293B"/>
                </a:solidFill>
              </a:rPr>
              <a:t>• 问题：LR严重受损，显示词汇库匮乏</a:t>
            </a:r>
          </a:p>
          <a:p>
            <a:pPr>
              <a:spcBef>
                <a:spcPts val="1000"/>
              </a:spcBef>
            </a:pPr>
            <a:r>
              <a:rPr sz="1650">
                <a:solidFill>
                  <a:srgbClr val="1E293B"/>
                </a:solidFill>
              </a:rPr>
              <a:t>• 修正：每个核心词准备2-3个替换词，写完后扫描高频词</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错误诊断：以下Task 2引言哪里出了问题？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引言原文："Nowadays, technology plays an important role in people's lives. Some people think technology is good, while others think it is bad. In my opinion, technology has both good and bad aspects, so it depends on how people use it."
请诊断：这个引言的TA和CC问题。</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问题诊断：
①立场模糊："both good and bad aspects, it depends"→ 没有明确立场，最高TA=Band 5
②空话套话："plays an important role"→ 极度陈腐，LR受损
③没有预告结构：考官不知道下面要论述什么
改写参考："The rapid advancement of technology has profoundly transformed modern society. While critics highlight the risks of overreliance, I firmly contend that technology, when used thoughtfully, brings significantly more benefits than drawbacks to individuals and communities alike."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修正公式：引言=背景句+两方概述+明确立场（不能是"it depends"）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错误修正练习：Task 1无Overview</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原文（Task 1开头）：
"The bar chart shows the percentage of people using the internet in five countries in 2010 and 2020. In 2010, Country A had the highest percentage at 70%..."（直接进入数据，没有Overview）
任务：为这段Task 1写一个合适的Overview段。</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参考Overview：
"Overall, internet usage increased in all five countries over the decade, with Country A consistently recording the highest penetration rates. The most dramatic growth was observed in Country E, which saw a near-doubling of its internet-using population."
关键要素：①用Overall开头 ②不写具体数字 ③覆盖主要趋势（全部增加） ④标出最突出特征（A最高/E增幅最大）</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Overview不写数据，只写最重要的趋势和特征——这是Task 1最关键的技能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Task 1高频错误与修正</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Common Task 1 Errors &amp; Corrections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1的五大经典失误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失误1·无Overview：最多Band 5
失误2·描述所有数据（没有筛选）：段落混乱，CC受损
失误3·数据与特征脱节（只列数字，不说趋势）：TA受损
失误4·用词单一（always said "increased/decreased"）：LR受损
失误5·比较方式错误（只说一个时间点，不跨期比较）：TA受损</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检</a:t>
            </a:r>
          </a:p>
          <a:p>
            <a:pPr>
              <a:spcBef>
                <a:spcPts val="900"/>
              </a:spcBef>
            </a:pPr>
            <a:r>
              <a:rPr sz="1600">
                <a:solidFill>
                  <a:srgbClr val="1E293B"/>
                </a:solidFill>
              </a:rPr>
              <a:t>• 查</a:t>
            </a:r>
          </a:p>
          <a:p>
            <a:pPr>
              <a:spcBef>
                <a:spcPts val="900"/>
              </a:spcBef>
            </a:pPr>
            <a:r>
              <a:rPr sz="1600">
                <a:solidFill>
                  <a:srgbClr val="1E293B"/>
                </a:solidFill>
              </a:rPr>
              <a:t>• 顺</a:t>
            </a:r>
          </a:p>
          <a:p>
            <a:pPr>
              <a:spcBef>
                <a:spcPts val="900"/>
              </a:spcBef>
            </a:pPr>
            <a:r>
              <a:rPr sz="1600">
                <a:solidFill>
                  <a:srgbClr val="1E293B"/>
                </a:solidFill>
              </a:rPr>
              <a:t>• 序</a:t>
            </a:r>
          </a:p>
          <a:p>
            <a:pPr>
              <a:spcBef>
                <a:spcPts val="900"/>
              </a:spcBef>
            </a:pPr>
            <a:r>
              <a:rPr sz="1600">
                <a:solidFill>
                  <a:srgbClr val="1E293B"/>
                </a:solidFill>
              </a:rPr>
              <a:t>• ：</a:t>
            </a:r>
          </a:p>
          <a:p>
            <a:pPr>
              <a:spcBef>
                <a:spcPts val="900"/>
              </a:spcBef>
            </a:pPr>
            <a:r>
              <a:rPr sz="1600">
                <a:solidFill>
                  <a:srgbClr val="1E293B"/>
                </a:solidFill>
              </a:rPr>
              <a:t>• O</a:t>
            </a:r>
          </a:p>
          <a:p>
            <a:pPr>
              <a:spcBef>
                <a:spcPts val="900"/>
              </a:spcBef>
            </a:pPr>
            <a:r>
              <a:rPr sz="1600">
                <a:solidFill>
                  <a:srgbClr val="1E293B"/>
                </a:solidFill>
              </a:rPr>
              <a:t>• v</a:t>
            </a:r>
          </a:p>
          <a:p>
            <a:pPr>
              <a:spcBef>
                <a:spcPts val="900"/>
              </a:spcBef>
            </a:pPr>
            <a:r>
              <a:rPr sz="1600">
                <a:solidFill>
                  <a:srgbClr val="1E293B"/>
                </a:solidFill>
              </a:rPr>
              <a:t>• e</a:t>
            </a:r>
          </a:p>
          <a:p>
            <a:pPr>
              <a:spcBef>
                <a:spcPts val="900"/>
              </a:spcBef>
            </a:pPr>
            <a:r>
              <a:rPr sz="1600">
                <a:solidFill>
                  <a:srgbClr val="1E293B"/>
                </a:solidFill>
              </a:rPr>
              <a:t>• r</a:t>
            </a:r>
          </a:p>
          <a:p>
            <a:pPr>
              <a:spcBef>
                <a:spcPts val="900"/>
              </a:spcBef>
            </a:pPr>
            <a:r>
              <a:rPr sz="1600">
                <a:solidFill>
                  <a:srgbClr val="1E293B"/>
                </a:solidFill>
              </a:rPr>
              <a:t>• v</a:t>
            </a:r>
          </a:p>
          <a:p>
            <a:pPr>
              <a:spcBef>
                <a:spcPts val="900"/>
              </a:spcBef>
            </a:pPr>
            <a:r>
              <a:rPr sz="1600">
                <a:solidFill>
                  <a:srgbClr val="1E293B"/>
                </a:solidFill>
              </a:rPr>
              <a:t>• i</a:t>
            </a:r>
          </a:p>
          <a:p>
            <a:pPr>
              <a:spcBef>
                <a:spcPts val="900"/>
              </a:spcBef>
            </a:pPr>
            <a:r>
              <a:rPr sz="1600">
                <a:solidFill>
                  <a:srgbClr val="1E293B"/>
                </a:solidFill>
              </a:rPr>
              <a:t>• e</a:t>
            </a:r>
          </a:p>
          <a:p>
            <a:pPr>
              <a:spcBef>
                <a:spcPts val="900"/>
              </a:spcBef>
            </a:pPr>
            <a:r>
              <a:rPr sz="1600">
                <a:solidFill>
                  <a:srgbClr val="1E293B"/>
                </a:solidFill>
              </a:rPr>
              <a:t>• w</a:t>
            </a:r>
          </a:p>
          <a:p>
            <a:pPr>
              <a:spcBef>
                <a:spcPts val="900"/>
              </a:spcBef>
            </a:pPr>
            <a:r>
              <a:rPr sz="1600">
                <a:solidFill>
                  <a:srgbClr val="1E293B"/>
                </a:solidFill>
              </a:rPr>
              <a:t>• →</a:t>
            </a:r>
          </a:p>
          <a:p>
            <a:pPr>
              <a:spcBef>
                <a:spcPts val="900"/>
              </a:spcBef>
            </a:pPr>
            <a:r>
              <a:rPr sz="1600">
                <a:solidFill>
                  <a:srgbClr val="1E293B"/>
                </a:solidFill>
              </a:rPr>
              <a:t>• 结</a:t>
            </a:r>
          </a:p>
          <a:p>
            <a:pPr>
              <a:spcBef>
                <a:spcPts val="900"/>
              </a:spcBef>
            </a:pPr>
            <a:r>
              <a:rPr sz="1600">
                <a:solidFill>
                  <a:srgbClr val="1E293B"/>
                </a:solidFill>
              </a:rPr>
              <a:t>• 构</a:t>
            </a:r>
          </a:p>
          <a:p>
            <a:pPr>
              <a:spcBef>
                <a:spcPts val="900"/>
              </a:spcBef>
            </a:pPr>
            <a:r>
              <a:rPr sz="1600">
                <a:solidFill>
                  <a:srgbClr val="1E293B"/>
                </a:solidFill>
              </a:rPr>
              <a:t>• →</a:t>
            </a:r>
          </a:p>
          <a:p>
            <a:pPr>
              <a:spcBef>
                <a:spcPts val="900"/>
              </a:spcBef>
            </a:pPr>
            <a:r>
              <a:rPr sz="1600">
                <a:solidFill>
                  <a:srgbClr val="1E293B"/>
                </a:solidFill>
              </a:rPr>
              <a:t>• 比</a:t>
            </a:r>
          </a:p>
          <a:p>
            <a:pPr>
              <a:spcBef>
                <a:spcPts val="900"/>
              </a:spcBef>
            </a:pPr>
            <a:r>
              <a:rPr sz="1600">
                <a:solidFill>
                  <a:srgbClr val="1E293B"/>
                </a:solidFill>
              </a:rPr>
              <a:t>• 较</a:t>
            </a:r>
          </a:p>
          <a:p>
            <a:pPr>
              <a:spcBef>
                <a:spcPts val="900"/>
              </a:spcBef>
            </a:pPr>
            <a:r>
              <a:rPr sz="1600">
                <a:solidFill>
                  <a:srgbClr val="1E293B"/>
                </a:solidFill>
              </a:rPr>
              <a:t>• →</a:t>
            </a:r>
          </a:p>
          <a:p>
            <a:pPr>
              <a:spcBef>
                <a:spcPts val="900"/>
              </a:spcBef>
            </a:pPr>
            <a:r>
              <a:rPr sz="1600">
                <a:solidFill>
                  <a:srgbClr val="1E293B"/>
                </a:solidFill>
              </a:rPr>
              <a:t>• 趋</a:t>
            </a:r>
          </a:p>
          <a:p>
            <a:pPr>
              <a:spcBef>
                <a:spcPts val="900"/>
              </a:spcBef>
            </a:pPr>
            <a:r>
              <a:rPr sz="1600">
                <a:solidFill>
                  <a:srgbClr val="1E293B"/>
                </a:solidFill>
              </a:rPr>
              <a:t>• 势</a:t>
            </a:r>
          </a:p>
          <a:p>
            <a:pPr>
              <a:spcBef>
                <a:spcPts val="900"/>
              </a:spcBef>
            </a:pPr>
            <a:r>
              <a:rPr sz="1600">
                <a:solidFill>
                  <a:srgbClr val="1E293B"/>
                </a:solidFill>
              </a:rPr>
              <a:t>• 词</a:t>
            </a:r>
          </a:p>
          <a:p>
            <a:pPr>
              <a:spcBef>
                <a:spcPts val="900"/>
              </a:spcBef>
            </a:pPr>
            <a:r>
              <a:rPr sz="1600">
                <a:solidFill>
                  <a:srgbClr val="1E293B"/>
                </a:solidFill>
              </a:rPr>
              <a:t>• →</a:t>
            </a:r>
          </a:p>
          <a:p>
            <a:pPr>
              <a:spcBef>
                <a:spcPts val="900"/>
              </a:spcBef>
            </a:pPr>
            <a:r>
              <a:rPr sz="1600">
                <a:solidFill>
                  <a:srgbClr val="1E293B"/>
                </a:solidFill>
              </a:rPr>
              <a:t>• 词</a:t>
            </a:r>
          </a:p>
          <a:p>
            <a:pPr>
              <a:spcBef>
                <a:spcPts val="900"/>
              </a:spcBef>
            </a:pPr>
            <a:r>
              <a:rPr sz="1600">
                <a:solidFill>
                  <a:srgbClr val="1E293B"/>
                </a:solidFill>
              </a:rPr>
              <a:t>• 汇</a:t>
            </a:r>
          </a:p>
          <a:p>
            <a:pPr>
              <a:spcBef>
                <a:spcPts val="900"/>
              </a:spcBef>
            </a:pPr>
            <a:r>
              <a:rPr sz="1600">
                <a:solidFill>
                  <a:srgbClr val="1E293B"/>
                </a:solidFill>
              </a:rPr>
              <a:t>• 多</a:t>
            </a:r>
          </a:p>
          <a:p>
            <a:pPr>
              <a:spcBef>
                <a:spcPts val="900"/>
              </a:spcBef>
            </a:pPr>
            <a:r>
              <a:rPr sz="1600">
                <a:solidFill>
                  <a:srgbClr val="1E293B"/>
                </a:solidFill>
              </a:rPr>
              <a:t>• 样</a:t>
            </a:r>
          </a:p>
          <a:p>
            <a:pPr>
              <a:spcBef>
                <a:spcPts val="900"/>
              </a:spcBef>
            </a:pPr>
            <a:r>
              <a:rPr sz="1600">
                <a:solidFill>
                  <a:srgbClr val="1E293B"/>
                </a:solidFill>
              </a:rPr>
              <a:t>• 性</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数据描述的四大禁止行为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禁止1：照着图表逐格描述（每个数字都写）→应该筛选最重要的特征
禁止2：引言段重复题目原文（原词照抄）→必须paraphrase（同义替换）
禁止3：写个人意见（"I think this shows..."）→Task 1只描述，不评论
禁止4：结尾写结论段（Task 1没有结论段）→Task 1没有结论，Overview代替之</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记</a:t>
            </a:r>
          </a:p>
          <a:p>
            <a:pPr>
              <a:spcBef>
                <a:spcPts val="900"/>
              </a:spcBef>
            </a:pPr>
            <a:r>
              <a:rPr sz="1600">
                <a:solidFill>
                  <a:srgbClr val="1E293B"/>
                </a:solidFill>
              </a:rPr>
              <a:t>• 忆</a:t>
            </a:r>
          </a:p>
          <a:p>
            <a:pPr>
              <a:spcBef>
                <a:spcPts val="900"/>
              </a:spcBef>
            </a:pPr>
            <a:r>
              <a:rPr sz="1600">
                <a:solidFill>
                  <a:srgbClr val="1E293B"/>
                </a:solidFill>
              </a:rPr>
              <a:t>• 法</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描</a:t>
            </a:r>
          </a:p>
          <a:p>
            <a:pPr>
              <a:spcBef>
                <a:spcPts val="900"/>
              </a:spcBef>
            </a:pPr>
            <a:r>
              <a:rPr sz="1600">
                <a:solidFill>
                  <a:srgbClr val="1E293B"/>
                </a:solidFill>
              </a:rPr>
              <a:t>• 述</a:t>
            </a:r>
          </a:p>
          <a:p>
            <a:pPr>
              <a:spcBef>
                <a:spcPts val="900"/>
              </a:spcBef>
            </a:pPr>
            <a:r>
              <a:rPr sz="1600">
                <a:solidFill>
                  <a:srgbClr val="1E293B"/>
                </a:solidFill>
              </a:rPr>
              <a:t>• ≠</a:t>
            </a:r>
          </a:p>
          <a:p>
            <a:pPr>
              <a:spcBef>
                <a:spcPts val="900"/>
              </a:spcBef>
            </a:pPr>
            <a:r>
              <a:rPr sz="1600">
                <a:solidFill>
                  <a:srgbClr val="1E293B"/>
                </a:solidFill>
              </a:rPr>
              <a:t>• 全</a:t>
            </a:r>
          </a:p>
          <a:p>
            <a:pPr>
              <a:spcBef>
                <a:spcPts val="900"/>
              </a:spcBef>
            </a:pPr>
            <a:r>
              <a:rPr sz="1600">
                <a:solidFill>
                  <a:srgbClr val="1E293B"/>
                </a:solidFill>
              </a:rPr>
              <a:t>• 写</a:t>
            </a:r>
          </a:p>
          <a:p>
            <a:pPr>
              <a:spcBef>
                <a:spcPts val="900"/>
              </a:spcBef>
            </a:pPr>
            <a:r>
              <a:rPr sz="1600">
                <a:solidFill>
                  <a:srgbClr val="1E293B"/>
                </a:solidFill>
              </a:rPr>
              <a:t>• ，</a:t>
            </a:r>
          </a:p>
          <a:p>
            <a:pPr>
              <a:spcBef>
                <a:spcPts val="900"/>
              </a:spcBef>
            </a:pPr>
            <a:r>
              <a:rPr sz="1600">
                <a:solidFill>
                  <a:srgbClr val="1E293B"/>
                </a:solidFill>
              </a:rPr>
              <a:t>• O</a:t>
            </a:r>
          </a:p>
          <a:p>
            <a:pPr>
              <a:spcBef>
                <a:spcPts val="900"/>
              </a:spcBef>
            </a:pPr>
            <a:r>
              <a:rPr sz="1600">
                <a:solidFill>
                  <a:srgbClr val="1E293B"/>
                </a:solidFill>
              </a:rPr>
              <a:t>• v</a:t>
            </a:r>
          </a:p>
          <a:p>
            <a:pPr>
              <a:spcBef>
                <a:spcPts val="900"/>
              </a:spcBef>
            </a:pPr>
            <a:r>
              <a:rPr sz="1600">
                <a:solidFill>
                  <a:srgbClr val="1E293B"/>
                </a:solidFill>
              </a:rPr>
              <a:t>• e</a:t>
            </a:r>
          </a:p>
          <a:p>
            <a:pPr>
              <a:spcBef>
                <a:spcPts val="900"/>
              </a:spcBef>
            </a:pPr>
            <a:r>
              <a:rPr sz="1600">
                <a:solidFill>
                  <a:srgbClr val="1E293B"/>
                </a:solidFill>
              </a:rPr>
              <a:t>• r</a:t>
            </a:r>
          </a:p>
          <a:p>
            <a:pPr>
              <a:spcBef>
                <a:spcPts val="900"/>
              </a:spcBef>
            </a:pPr>
            <a:r>
              <a:rPr sz="1600">
                <a:solidFill>
                  <a:srgbClr val="1E293B"/>
                </a:solidFill>
              </a:rPr>
              <a:t>• v</a:t>
            </a:r>
          </a:p>
          <a:p>
            <a:pPr>
              <a:spcBef>
                <a:spcPts val="900"/>
              </a:spcBef>
            </a:pPr>
            <a:r>
              <a:rPr sz="1600">
                <a:solidFill>
                  <a:srgbClr val="1E293B"/>
                </a:solidFill>
              </a:rPr>
              <a:t>• i</a:t>
            </a:r>
          </a:p>
          <a:p>
            <a:pPr>
              <a:spcBef>
                <a:spcPts val="900"/>
              </a:spcBef>
            </a:pPr>
            <a:r>
              <a:rPr sz="1600">
                <a:solidFill>
                  <a:srgbClr val="1E293B"/>
                </a:solidFill>
              </a:rPr>
              <a:t>• e</a:t>
            </a:r>
          </a:p>
          <a:p>
            <a:pPr>
              <a:spcBef>
                <a:spcPts val="900"/>
              </a:spcBef>
            </a:pPr>
            <a:r>
              <a:rPr sz="1600">
                <a:solidFill>
                  <a:srgbClr val="1E293B"/>
                </a:solidFill>
              </a:rPr>
              <a:t>• w</a:t>
            </a:r>
          </a:p>
          <a:p>
            <a:pPr>
              <a:spcBef>
                <a:spcPts val="900"/>
              </a:spcBef>
            </a:pPr>
            <a:r>
              <a:rPr sz="1600">
                <a:solidFill>
                  <a:srgbClr val="1E293B"/>
                </a:solidFill>
              </a:rPr>
              <a:t>• ≠</a:t>
            </a:r>
          </a:p>
          <a:p>
            <a:pPr>
              <a:spcBef>
                <a:spcPts val="900"/>
              </a:spcBef>
            </a:pPr>
            <a:r>
              <a:rPr sz="1600">
                <a:solidFill>
                  <a:srgbClr val="1E293B"/>
                </a:solidFill>
              </a:rPr>
              <a:t>• 结</a:t>
            </a:r>
          </a:p>
          <a:p>
            <a:pPr>
              <a:spcBef>
                <a:spcPts val="900"/>
              </a:spcBef>
            </a:pPr>
            <a:r>
              <a:rPr sz="1600">
                <a:solidFill>
                  <a:srgbClr val="1E293B"/>
                </a:solidFill>
              </a:rPr>
              <a:t>• 论</a:t>
            </a:r>
          </a:p>
          <a:p>
            <a:pPr>
              <a:spcBef>
                <a:spcPts val="900"/>
              </a:spcBef>
            </a:pPr>
            <a:r>
              <a:rPr sz="1600">
                <a:solidFill>
                  <a:srgbClr val="1E293B"/>
                </a:solidFill>
              </a:rPr>
              <a:t>• ，</a:t>
            </a:r>
          </a:p>
          <a:p>
            <a:pPr>
              <a:spcBef>
                <a:spcPts val="900"/>
              </a:spcBef>
            </a:pPr>
            <a:r>
              <a:rPr sz="1600">
                <a:solidFill>
                  <a:srgbClr val="1E293B"/>
                </a:solidFill>
              </a:rPr>
              <a:t>• 引</a:t>
            </a:r>
          </a:p>
          <a:p>
            <a:pPr>
              <a:spcBef>
                <a:spcPts val="900"/>
              </a:spcBef>
            </a:pPr>
            <a:r>
              <a:rPr sz="1600">
                <a:solidFill>
                  <a:srgbClr val="1E293B"/>
                </a:solidFill>
              </a:rPr>
              <a:t>• 言</a:t>
            </a:r>
          </a:p>
          <a:p>
            <a:pPr>
              <a:spcBef>
                <a:spcPts val="900"/>
              </a:spcBef>
            </a:pPr>
            <a:r>
              <a:rPr sz="1600">
                <a:solidFill>
                  <a:srgbClr val="1E293B"/>
                </a:solidFill>
              </a:rPr>
              <a:t>• ≠</a:t>
            </a:r>
          </a:p>
          <a:p>
            <a:pPr>
              <a:spcBef>
                <a:spcPts val="900"/>
              </a:spcBef>
            </a:pPr>
            <a:r>
              <a:rPr sz="1600">
                <a:solidFill>
                  <a:srgbClr val="1E293B"/>
                </a:solidFill>
              </a:rPr>
              <a:t>• 照</a:t>
            </a:r>
          </a:p>
          <a:p>
            <a:pPr>
              <a:spcBef>
                <a:spcPts val="900"/>
              </a:spcBef>
            </a:pPr>
            <a:r>
              <a:rPr sz="1600">
                <a:solidFill>
                  <a:srgbClr val="1E293B"/>
                </a:solidFill>
              </a:rPr>
              <a:t>• 抄</a:t>
            </a:r>
          </a:p>
          <a:p>
            <a:pPr>
              <a:spcBef>
                <a:spcPts val="900"/>
              </a:spcBef>
            </a:pPr>
            <a:r>
              <a:rPr sz="1600">
                <a:solidFill>
                  <a:srgbClr val="1E293B"/>
                </a:solidFill>
              </a:rPr>
              <a: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趋势描述词汇：超越increased/decreased</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上升类：rose/climbed/surged/soared/jumped/increased/grew（程度由弱到强）</a:t>
            </a:r>
          </a:p>
          <a:p>
            <a:pPr>
              <a:spcBef>
                <a:spcPts val="1000"/>
              </a:spcBef>
            </a:pPr>
            <a:r>
              <a:rPr sz="1650">
                <a:solidFill>
                  <a:srgbClr val="1E293B"/>
                </a:solidFill>
              </a:rPr>
              <a:t>• 下降类：fell/dropped/declined/plummeted/decreased/reduced（程度由弱到强）</a:t>
            </a:r>
          </a:p>
          <a:p>
            <a:pPr>
              <a:spcBef>
                <a:spcPts val="1000"/>
              </a:spcBef>
            </a:pPr>
            <a:r>
              <a:rPr sz="1650">
                <a:solidFill>
                  <a:srgbClr val="1E293B"/>
                </a:solidFill>
              </a:rPr>
              <a:t>• 稳定类：remained stable/stayed constant/leveled off/plateaued</a:t>
            </a:r>
          </a:p>
          <a:p>
            <a:pPr>
              <a:spcBef>
                <a:spcPts val="1000"/>
              </a:spcBef>
            </a:pPr>
            <a:r>
              <a:rPr sz="1650">
                <a:solidFill>
                  <a:srgbClr val="1E293B"/>
                </a:solidFill>
              </a:rPr>
              <a:t>• 波动类：fluctuated/varied/oscillated（up and down）</a:t>
            </a:r>
          </a:p>
          <a:p>
            <a:pPr>
              <a:spcBef>
                <a:spcPts val="1000"/>
              </a:spcBef>
            </a:pPr>
            <a:r>
              <a:rPr sz="1650">
                <a:solidFill>
                  <a:srgbClr val="1E293B"/>
                </a:solidFill>
              </a:rPr>
              <a:t>• 修饰词（副词）：slightly/gradually/steadily/sharply/dramatically/significantly</a:t>
            </a:r>
          </a:p>
          <a:p>
            <a:pPr>
              <a:spcBef>
                <a:spcPts val="1000"/>
              </a:spcBef>
            </a:pPr>
            <a:r>
              <a:rPr sz="1650">
                <a:solidFill>
                  <a:srgbClr val="1E293B"/>
                </a:solidFill>
              </a:rPr>
              <a:t>• 修饰词（形容词）：a slight/steady/sharp/dramatic/significant + rise/fall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比较结构：正确表达数据关系</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时间比较：compared to/with 2010, the figure in 2020... (不要写"compare to")</a:t>
            </a:r>
          </a:p>
          <a:p>
            <a:pPr>
              <a:spcBef>
                <a:spcPts val="1000"/>
              </a:spcBef>
            </a:pPr>
            <a:r>
              <a:rPr sz="1650">
                <a:solidFill>
                  <a:srgbClr val="1E293B"/>
                </a:solidFill>
              </a:rPr>
              <a:t>• 大小比较：X was higher/lower than Y by [number] / X was twice as high as Y</a:t>
            </a:r>
          </a:p>
          <a:p>
            <a:pPr>
              <a:spcBef>
                <a:spcPts val="1000"/>
              </a:spcBef>
            </a:pPr>
            <a:r>
              <a:rPr sz="1650">
                <a:solidFill>
                  <a:srgbClr val="1E293B"/>
                </a:solidFill>
              </a:rPr>
              <a:t>• 比例表达：accounted for [%] of / made up [%] / represented [%]</a:t>
            </a:r>
          </a:p>
          <a:p>
            <a:pPr>
              <a:spcBef>
                <a:spcPts val="1000"/>
              </a:spcBef>
            </a:pPr>
            <a:r>
              <a:rPr sz="1650">
                <a:solidFill>
                  <a:srgbClr val="1E293B"/>
                </a:solidFill>
              </a:rPr>
              <a:t>• 最高/低：reached a peak of / hit a low of / stood at its highest/lowest</a:t>
            </a:r>
          </a:p>
          <a:p>
            <a:pPr>
              <a:spcBef>
                <a:spcPts val="1000"/>
              </a:spcBef>
            </a:pPr>
            <a:r>
              <a:rPr sz="1650">
                <a:solidFill>
                  <a:srgbClr val="1E293B"/>
                </a:solidFill>
              </a:rPr>
              <a:t>• 错误表达："more higher than"（应该是higher than）</a:t>
            </a:r>
          </a:p>
          <a:p>
            <a:pPr>
              <a:spcBef>
                <a:spcPts val="1000"/>
              </a:spcBef>
            </a:pPr>
            <a:r>
              <a:rPr sz="1650">
                <a:solidFill>
                  <a:srgbClr val="1E293B"/>
                </a:solidFill>
              </a:rPr>
              <a:t>• 错误表达："the most biggest"（most+形容词原级/比较级是错误的）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1改写练习：修正以下数据描述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原文："The bar chart shows different countries. Japan had 80%. China had 60%. America had 90%. In 2020 Japan had 85%, China had 75%, America had 92%. America always had the most."（共55词，无结构）
问题诊断：①无Overview ②数字直接罗列 ③没有比较结构 ④词汇单调（had/had/had）</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改写参考：
Overview: "Overall, the United States consistently recorded the highest internet usage rates across both years, while all three nations showed modest growth over the decade."
数据段："In 2010, internet penetration in the United States stood at 90%, considerably higher than Japan's 80% and China's 60%. By 2020, all three countries had registered slight increases, with the US rising marginally to 92%, Japan climbing to 85%, and China recording the most notable growth, up to 75%."</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改写后：有Overview+paraphrase引言+比较结构+趋势词多样</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1引言paraphrase练习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原题目文字："The line graph below shows the number of tourists visiting three Asian countries between 1990 and 2020."
任务：将这句话paraphrase（不能照抄任何词汇），写成Task 1引言段（1-2句）。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参考答案：
"The line graph illustrates how visitor numbers to three nations in Asia changed over a thirty-year period from 1990 to 2020."
或：
"The given graph presents data on the volume of international arrivals in three Asian destinations across three decades."
替换：line graph保留/tourists→visitors/international arrivals/visitor numbers，visiting→visiting→changed/illustrates，between...and→from...to/over a...period</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paraphrase规则：替换名词+动词+时间表达，结构可以重组，意思完全保留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Task 2论证失误与提升</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Task 2 Argumentation Errors &amp; Upgrades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论证失误：三个层次的问题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层次1·结构失误：没有段落主题句，段落之间缺乏逻辑连接
层次2·深度失误：只有观点（TS），没有解释（why）和证据（evidence）
层次3·说服力失误：论据太抽象（"many studies show"无具体数据）或太个人化（"I personally believe"）
Band 6特征：结构存在但论证浅；Band 7：PEEL完整且论证有深度</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诊</a:t>
            </a:r>
          </a:p>
          <a:p>
            <a:pPr>
              <a:spcBef>
                <a:spcPts val="900"/>
              </a:spcBef>
            </a:pPr>
            <a:r>
              <a:rPr sz="1600">
                <a:solidFill>
                  <a:srgbClr val="1E293B"/>
                </a:solidFill>
              </a:rPr>
              <a:t>• 断</a:t>
            </a:r>
          </a:p>
          <a:p>
            <a:pPr>
              <a:spcBef>
                <a:spcPts val="900"/>
              </a:spcBef>
            </a:pPr>
            <a:r>
              <a:rPr sz="1600">
                <a:solidFill>
                  <a:srgbClr val="1E293B"/>
                </a:solidFill>
              </a:rPr>
              <a:t>• 方</a:t>
            </a:r>
          </a:p>
          <a:p>
            <a:pPr>
              <a:spcBef>
                <a:spcPts val="900"/>
              </a:spcBef>
            </a:pPr>
            <a:r>
              <a:rPr sz="1600">
                <a:solidFill>
                  <a:srgbClr val="1E293B"/>
                </a:solidFill>
              </a:rPr>
              <a:t>• 法</a:t>
            </a:r>
          </a:p>
          <a:p>
            <a:pPr>
              <a:spcBef>
                <a:spcPts val="900"/>
              </a:spcBef>
            </a:pPr>
            <a:r>
              <a:rPr sz="1600">
                <a:solidFill>
                  <a:srgbClr val="1E293B"/>
                </a:solidFill>
              </a:rPr>
              <a:t>• ：</a:t>
            </a:r>
          </a:p>
          <a:p>
            <a:pPr>
              <a:spcBef>
                <a:spcPts val="900"/>
              </a:spcBef>
            </a:pPr>
            <a:r>
              <a:rPr sz="1600">
                <a:solidFill>
                  <a:srgbClr val="1E293B"/>
                </a:solidFill>
              </a:rPr>
              <a:t>• 删</a:t>
            </a:r>
          </a:p>
          <a:p>
            <a:pPr>
              <a:spcBef>
                <a:spcPts val="900"/>
              </a:spcBef>
            </a:pPr>
            <a:r>
              <a:rPr sz="1600">
                <a:solidFill>
                  <a:srgbClr val="1E293B"/>
                </a:solidFill>
              </a:rPr>
              <a:t>• 掉</a:t>
            </a:r>
          </a:p>
          <a:p>
            <a:pPr>
              <a:spcBef>
                <a:spcPts val="900"/>
              </a:spcBef>
            </a:pPr>
            <a:r>
              <a:rPr sz="1600">
                <a:solidFill>
                  <a:srgbClr val="1E293B"/>
                </a:solidFill>
              </a:rPr>
              <a:t>• 主</a:t>
            </a:r>
          </a:p>
          <a:p>
            <a:pPr>
              <a:spcBef>
                <a:spcPts val="900"/>
              </a:spcBef>
            </a:pPr>
            <a:r>
              <a:rPr sz="1600">
                <a:solidFill>
                  <a:srgbClr val="1E293B"/>
                </a:solidFill>
              </a:rPr>
              <a:t>• 题</a:t>
            </a:r>
          </a:p>
          <a:p>
            <a:pPr>
              <a:spcBef>
                <a:spcPts val="900"/>
              </a:spcBef>
            </a:pPr>
            <a:r>
              <a:rPr sz="1600">
                <a:solidFill>
                  <a:srgbClr val="1E293B"/>
                </a:solidFill>
              </a:rPr>
              <a:t>• 句</a:t>
            </a:r>
          </a:p>
          <a:p>
            <a:pPr>
              <a:spcBef>
                <a:spcPts val="900"/>
              </a:spcBef>
            </a:pPr>
            <a:r>
              <a:rPr sz="1600">
                <a:solidFill>
                  <a:srgbClr val="1E293B"/>
                </a:solidFill>
              </a:rPr>
              <a:t>• 后</a:t>
            </a:r>
          </a:p>
          <a:p>
            <a:pPr>
              <a:spcBef>
                <a:spcPts val="900"/>
              </a:spcBef>
            </a:pPr>
            <a:r>
              <a:rPr sz="1600">
                <a:solidFill>
                  <a:srgbClr val="1E293B"/>
                </a:solidFill>
              </a:rPr>
              <a:t>• ，</a:t>
            </a:r>
          </a:p>
          <a:p>
            <a:pPr>
              <a:spcBef>
                <a:spcPts val="900"/>
              </a:spcBef>
            </a:pPr>
            <a:r>
              <a:rPr sz="1600">
                <a:solidFill>
                  <a:srgbClr val="1E293B"/>
                </a:solidFill>
              </a:rPr>
              <a:t>• 段</a:t>
            </a:r>
          </a:p>
          <a:p>
            <a:pPr>
              <a:spcBef>
                <a:spcPts val="900"/>
              </a:spcBef>
            </a:pPr>
            <a:r>
              <a:rPr sz="1600">
                <a:solidFill>
                  <a:srgbClr val="1E293B"/>
                </a:solidFill>
              </a:rPr>
              <a:t>• 落</a:t>
            </a:r>
          </a:p>
          <a:p>
            <a:pPr>
              <a:spcBef>
                <a:spcPts val="900"/>
              </a:spcBef>
            </a:pPr>
            <a:r>
              <a:rPr sz="1600">
                <a:solidFill>
                  <a:srgbClr val="1E293B"/>
                </a:solidFill>
              </a:rPr>
              <a:t>• 剩</a:t>
            </a:r>
          </a:p>
          <a:p>
            <a:pPr>
              <a:spcBef>
                <a:spcPts val="900"/>
              </a:spcBef>
            </a:pPr>
            <a:r>
              <a:rPr sz="1600">
                <a:solidFill>
                  <a:srgbClr val="1E293B"/>
                </a:solidFill>
              </a:rPr>
              <a:t>• 余</a:t>
            </a:r>
          </a:p>
          <a:p>
            <a:pPr>
              <a:spcBef>
                <a:spcPts val="900"/>
              </a:spcBef>
            </a:pPr>
            <a:r>
              <a:rPr sz="1600">
                <a:solidFill>
                  <a:srgbClr val="1E293B"/>
                </a:solidFill>
              </a:rPr>
              <a:t>• 内</a:t>
            </a:r>
          </a:p>
          <a:p>
            <a:pPr>
              <a:spcBef>
                <a:spcPts val="900"/>
              </a:spcBef>
            </a:pPr>
            <a:r>
              <a:rPr sz="1600">
                <a:solidFill>
                  <a:srgbClr val="1E293B"/>
                </a:solidFill>
              </a:rPr>
              <a:t>• 容</a:t>
            </a:r>
          </a:p>
          <a:p>
            <a:pPr>
              <a:spcBef>
                <a:spcPts val="900"/>
              </a:spcBef>
            </a:pPr>
            <a:r>
              <a:rPr sz="1600">
                <a:solidFill>
                  <a:srgbClr val="1E293B"/>
                </a:solidFill>
              </a:rPr>
              <a:t>• 是</a:t>
            </a:r>
          </a:p>
          <a:p>
            <a:pPr>
              <a:spcBef>
                <a:spcPts val="900"/>
              </a:spcBef>
            </a:pPr>
            <a:r>
              <a:rPr sz="1600">
                <a:solidFill>
                  <a:srgbClr val="1E293B"/>
                </a:solidFill>
              </a:rPr>
              <a:t>• 否</a:t>
            </a:r>
          </a:p>
          <a:p>
            <a:pPr>
              <a:spcBef>
                <a:spcPts val="900"/>
              </a:spcBef>
            </a:pPr>
            <a:r>
              <a:rPr sz="1600">
                <a:solidFill>
                  <a:srgbClr val="1E293B"/>
                </a:solidFill>
              </a:rPr>
              <a:t>• 仍</a:t>
            </a:r>
          </a:p>
          <a:p>
            <a:pPr>
              <a:spcBef>
                <a:spcPts val="900"/>
              </a:spcBef>
            </a:pPr>
            <a:r>
              <a:rPr sz="1600">
                <a:solidFill>
                  <a:srgbClr val="1E293B"/>
                </a:solidFill>
              </a:rPr>
              <a:t>• 然</a:t>
            </a:r>
          </a:p>
          <a:p>
            <a:pPr>
              <a:spcBef>
                <a:spcPts val="900"/>
              </a:spcBef>
            </a:pPr>
            <a:r>
              <a:rPr sz="1600">
                <a:solidFill>
                  <a:srgbClr val="1E293B"/>
                </a:solidFill>
              </a:rPr>
              <a:t>• 支</a:t>
            </a:r>
          </a:p>
          <a:p>
            <a:pPr>
              <a:spcBef>
                <a:spcPts val="900"/>
              </a:spcBef>
            </a:pPr>
            <a:r>
              <a:rPr sz="1600">
                <a:solidFill>
                  <a:srgbClr val="1E293B"/>
                </a:solidFill>
              </a:rPr>
              <a:t>• 持</a:t>
            </a:r>
          </a:p>
          <a:p>
            <a:pPr>
              <a:spcBef>
                <a:spcPts val="900"/>
              </a:spcBef>
            </a:pPr>
            <a:r>
              <a:rPr sz="1600">
                <a:solidFill>
                  <a:srgbClr val="1E293B"/>
                </a:solidFill>
              </a:rPr>
              <a:t>• 该</a:t>
            </a:r>
          </a:p>
          <a:p>
            <a:pPr>
              <a:spcBef>
                <a:spcPts val="900"/>
              </a:spcBef>
            </a:pPr>
            <a:r>
              <a:rPr sz="1600">
                <a:solidFill>
                  <a:srgbClr val="1E293B"/>
                </a:solidFill>
              </a:rPr>
              <a:t>• 观</a:t>
            </a:r>
          </a:p>
          <a:p>
            <a:pPr>
              <a:spcBef>
                <a:spcPts val="900"/>
              </a:spcBef>
            </a:pPr>
            <a:r>
              <a:rPr sz="1600">
                <a:solidFill>
                  <a:srgbClr val="1E293B"/>
                </a:solidFill>
              </a:rPr>
              <a:t>• 点</a:t>
            </a:r>
          </a:p>
          <a:p>
            <a:pPr>
              <a:spcBef>
                <a:spcPts val="900"/>
              </a:spcBef>
            </a:pPr>
            <a:r>
              <a:rPr sz="1600">
                <a:solidFill>
                  <a:srgbClr val="1E293B"/>
                </a:solidFill>
              </a:rPr>
              <a:t>•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立场连贯性：最常见的Task 2失分陷阱</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失误类型：引言说"I agree"，结论却说"both sides have merit"
原因：考生担心"只支持一方"显得偏颇，或写着写着忘记立场
影响：TA分数严重受损，从Band 7直降到Band 5-6
正确做法：全文维持同一立场；让步段（Admittedly）后必须用"However/Nevertheless"反驳回来
检查方法：写完后找出所有表达立场的句子，确认全部一致</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记</a:t>
            </a:r>
          </a:p>
          <a:p>
            <a:pPr>
              <a:spcBef>
                <a:spcPts val="900"/>
              </a:spcBef>
            </a:pPr>
            <a:r>
              <a:rPr sz="1600">
                <a:solidFill>
                  <a:srgbClr val="1E293B"/>
                </a:solidFill>
              </a:rPr>
              <a:t>• 忆</a:t>
            </a:r>
          </a:p>
          <a:p>
            <a:pPr>
              <a:spcBef>
                <a:spcPts val="900"/>
              </a:spcBef>
            </a:pPr>
            <a:r>
              <a:rPr sz="1600">
                <a:solidFill>
                  <a:srgbClr val="1E293B"/>
                </a:solidFill>
              </a:rPr>
              <a:t>• 口</a:t>
            </a:r>
          </a:p>
          <a:p>
            <a:pPr>
              <a:spcBef>
                <a:spcPts val="900"/>
              </a:spcBef>
            </a:pPr>
            <a:r>
              <a:rPr sz="1600">
                <a:solidFill>
                  <a:srgbClr val="1E293B"/>
                </a:solidFill>
              </a:rPr>
              <a:t>• 诀</a:t>
            </a:r>
          </a:p>
          <a:p>
            <a:pPr>
              <a:spcBef>
                <a:spcPts val="900"/>
              </a:spcBef>
            </a:pPr>
            <a:r>
              <a:rPr sz="1600">
                <a:solidFill>
                  <a:srgbClr val="1E293B"/>
                </a:solidFill>
              </a:rPr>
              <a:t>• ：</a:t>
            </a:r>
          </a:p>
          <a:p>
            <a:pPr>
              <a:spcBef>
                <a:spcPts val="900"/>
              </a:spcBef>
            </a:pPr>
            <a:r>
              <a:rPr sz="1600">
                <a:solidFill>
                  <a:srgbClr val="1E293B"/>
                </a:solidFill>
              </a:rPr>
              <a:t>• 立</a:t>
            </a:r>
          </a:p>
          <a:p>
            <a:pPr>
              <a:spcBef>
                <a:spcPts val="900"/>
              </a:spcBef>
            </a:pPr>
            <a:r>
              <a:rPr sz="1600">
                <a:solidFill>
                  <a:srgbClr val="1E293B"/>
                </a:solidFill>
              </a:rPr>
              <a:t>• 场</a:t>
            </a:r>
          </a:p>
          <a:p>
            <a:pPr>
              <a:spcBef>
                <a:spcPts val="900"/>
              </a:spcBef>
            </a:pPr>
            <a:r>
              <a:rPr sz="1600">
                <a:solidFill>
                  <a:srgbClr val="1E293B"/>
                </a:solidFill>
              </a:rPr>
              <a:t>• 如</a:t>
            </a:r>
          </a:p>
          <a:p>
            <a:pPr>
              <a:spcBef>
                <a:spcPts val="900"/>
              </a:spcBef>
            </a:pPr>
            <a:r>
              <a:rPr sz="1600">
                <a:solidFill>
                  <a:srgbClr val="1E293B"/>
                </a:solidFill>
              </a:rPr>
              <a:t>• 旗</a:t>
            </a:r>
          </a:p>
          <a:p>
            <a:pPr>
              <a:spcBef>
                <a:spcPts val="900"/>
              </a:spcBef>
            </a:pPr>
            <a:r>
              <a:rPr sz="1600">
                <a:solidFill>
                  <a:srgbClr val="1E293B"/>
                </a:solidFill>
              </a:rPr>
              <a:t>• 帜</a:t>
            </a:r>
          </a:p>
          <a:p>
            <a:pPr>
              <a:spcBef>
                <a:spcPts val="900"/>
              </a:spcBef>
            </a:pPr>
            <a:r>
              <a:rPr sz="1600">
                <a:solidFill>
                  <a:srgbClr val="1E293B"/>
                </a:solidFill>
              </a:rPr>
              <a:t>• ，</a:t>
            </a:r>
          </a:p>
          <a:p>
            <a:pPr>
              <a:spcBef>
                <a:spcPts val="900"/>
              </a:spcBef>
            </a:pPr>
            <a:r>
              <a:rPr sz="1600">
                <a:solidFill>
                  <a:srgbClr val="1E293B"/>
                </a:solidFill>
              </a:rPr>
              <a:t>• 全</a:t>
            </a:r>
          </a:p>
          <a:p>
            <a:pPr>
              <a:spcBef>
                <a:spcPts val="900"/>
              </a:spcBef>
            </a:pPr>
            <a:r>
              <a:rPr sz="1600">
                <a:solidFill>
                  <a:srgbClr val="1E293B"/>
                </a:solidFill>
              </a:rPr>
              <a:t>• 文</a:t>
            </a:r>
          </a:p>
          <a:p>
            <a:pPr>
              <a:spcBef>
                <a:spcPts val="900"/>
              </a:spcBef>
            </a:pPr>
            <a:r>
              <a:rPr sz="1600">
                <a:solidFill>
                  <a:srgbClr val="1E293B"/>
                </a:solidFill>
              </a:rPr>
              <a:t>• 一</a:t>
            </a:r>
          </a:p>
          <a:p>
            <a:pPr>
              <a:spcBef>
                <a:spcPts val="900"/>
              </a:spcBef>
            </a:pPr>
            <a:r>
              <a:rPr sz="1600">
                <a:solidFill>
                  <a:srgbClr val="1E293B"/>
                </a:solidFill>
              </a:rPr>
              <a:t>• 面</a:t>
            </a:r>
          </a:p>
          <a:p>
            <a:pPr>
              <a:spcBef>
                <a:spcPts val="900"/>
              </a:spcBef>
            </a:pPr>
            <a:r>
              <a:rPr sz="1600">
                <a:solidFill>
                  <a:srgbClr val="1E293B"/>
                </a:solidFill>
              </a:rPr>
              <a:t>• 色</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不</a:t>
            </a:r>
          </a:p>
          <a:p>
            <a:pPr>
              <a:spcBef>
                <a:spcPts val="900"/>
              </a:spcBef>
            </a:pPr>
            <a:r>
              <a:rPr sz="1600">
                <a:solidFill>
                  <a:srgbClr val="1E293B"/>
                </a:solidFill>
              </a:rPr>
              <a:t>• 能</a:t>
            </a:r>
          </a:p>
          <a:p>
            <a:pPr>
              <a:spcBef>
                <a:spcPts val="900"/>
              </a:spcBef>
            </a:pPr>
            <a:r>
              <a:rPr sz="1600">
                <a:solidFill>
                  <a:srgbClr val="1E293B"/>
                </a:solidFill>
              </a:rPr>
              <a:t>• 前</a:t>
            </a:r>
          </a:p>
          <a:p>
            <a:pPr>
              <a:spcBef>
                <a:spcPts val="900"/>
              </a:spcBef>
            </a:pPr>
            <a:r>
              <a:rPr sz="1600">
                <a:solidFill>
                  <a:srgbClr val="1E293B"/>
                </a:solidFill>
              </a:rPr>
              <a:t>• 后</a:t>
            </a:r>
          </a:p>
          <a:p>
            <a:pPr>
              <a:spcBef>
                <a:spcPts val="900"/>
              </a:spcBef>
            </a:pPr>
            <a:r>
              <a:rPr sz="1600">
                <a:solidFill>
                  <a:srgbClr val="1E293B"/>
                </a:solidFill>
              </a:rPr>
              <a:t>• 矛</a:t>
            </a:r>
          </a:p>
          <a:p>
            <a:pPr>
              <a:spcBef>
                <a:spcPts val="900"/>
              </a:spcBef>
            </a:pPr>
            <a:r>
              <a:rPr sz="1600">
                <a:solidFill>
                  <a:srgbClr val="1E293B"/>
                </a:solidFill>
              </a:rPr>
              <a:t>• 盾</a:t>
            </a:r>
          </a:p>
          <a:p>
            <a:pPr>
              <a:spcBef>
                <a:spcPts val="900"/>
              </a:spcBef>
            </a:pPr>
            <a:r>
              <a:rPr sz="1600">
                <a:solidFill>
                  <a:srgbClr val="1E293B"/>
                </a:solidFill>
              </a:rPr>
              <a:t>• （</a:t>
            </a:r>
          </a:p>
          <a:p>
            <a:pPr>
              <a:spcBef>
                <a:spcPts val="900"/>
              </a:spcBef>
            </a:pPr>
            <a:r>
              <a:rPr sz="1600">
                <a:solidFill>
                  <a:srgbClr val="1E293B"/>
                </a:solidFill>
              </a:rPr>
              <a:t>• 引</a:t>
            </a:r>
          </a:p>
          <a:p>
            <a:pPr>
              <a:spcBef>
                <a:spcPts val="900"/>
              </a:spcBef>
            </a:pPr>
            <a:r>
              <a:rPr sz="1600">
                <a:solidFill>
                  <a:srgbClr val="1E293B"/>
                </a:solidFill>
              </a:rPr>
              <a:t>• 言</a:t>
            </a:r>
          </a:p>
          <a:p>
            <a:pPr>
              <a:spcBef>
                <a:spcPts val="900"/>
              </a:spcBef>
            </a:pPr>
            <a:r>
              <a:rPr sz="1600">
                <a:solidFill>
                  <a:srgbClr val="1E293B"/>
                </a:solidFill>
              </a:rPr>
              <a:t>• 说</a:t>
            </a:r>
          </a:p>
          <a:p>
            <a:pPr>
              <a:spcBef>
                <a:spcPts val="900"/>
              </a:spcBef>
            </a:pPr>
            <a:r>
              <a:rPr sz="1600">
                <a:solidFill>
                  <a:srgbClr val="1E293B"/>
                </a:solidFill>
              </a:rPr>
              <a:t>• 同</a:t>
            </a:r>
          </a:p>
          <a:p>
            <a:pPr>
              <a:spcBef>
                <a:spcPts val="900"/>
              </a:spcBef>
            </a:pPr>
            <a:r>
              <a:rPr sz="1600">
                <a:solidFill>
                  <a:srgbClr val="1E293B"/>
                </a:solidFill>
              </a:rPr>
              <a:t>• 意</a:t>
            </a:r>
          </a:p>
          <a:p>
            <a:pPr>
              <a:spcBef>
                <a:spcPts val="900"/>
              </a:spcBef>
            </a:pPr>
            <a:r>
              <a:rPr sz="1600">
                <a:solidFill>
                  <a:srgbClr val="1E293B"/>
                </a:solidFill>
              </a:rPr>
              <a:t>• ，</a:t>
            </a:r>
          </a:p>
          <a:p>
            <a:pPr>
              <a:spcBef>
                <a:spcPts val="900"/>
              </a:spcBef>
            </a:pPr>
            <a:r>
              <a:rPr sz="1600">
                <a:solidFill>
                  <a:srgbClr val="1E293B"/>
                </a:solidFill>
              </a:rPr>
              <a:t>• 结</a:t>
            </a:r>
          </a:p>
          <a:p>
            <a:pPr>
              <a:spcBef>
                <a:spcPts val="900"/>
              </a:spcBef>
            </a:pPr>
            <a:r>
              <a:rPr sz="1600">
                <a:solidFill>
                  <a:srgbClr val="1E293B"/>
                </a:solidFill>
              </a:rPr>
              <a:t>• 论</a:t>
            </a:r>
          </a:p>
          <a:p>
            <a:pPr>
              <a:spcBef>
                <a:spcPts val="900"/>
              </a:spcBef>
            </a:pPr>
            <a:r>
              <a:rPr sz="1600">
                <a:solidFill>
                  <a:srgbClr val="1E293B"/>
                </a:solidFill>
              </a:rPr>
              <a:t>• 说</a:t>
            </a:r>
          </a:p>
          <a:p>
            <a:pPr>
              <a:spcBef>
                <a:spcPts val="900"/>
              </a:spcBef>
            </a:pPr>
            <a:r>
              <a:rPr sz="1600">
                <a:solidFill>
                  <a:srgbClr val="1E293B"/>
                </a:solidFill>
              </a:rPr>
              <a:t>• b</a:t>
            </a:r>
          </a:p>
          <a:p>
            <a:pPr>
              <a:spcBef>
                <a:spcPts val="900"/>
              </a:spcBef>
            </a:pPr>
            <a:r>
              <a:rPr sz="1600">
                <a:solidFill>
                  <a:srgbClr val="1E293B"/>
                </a:solidFill>
              </a:rPr>
              <a:t>• o</a:t>
            </a:r>
          </a:p>
          <a:p>
            <a:pPr>
              <a:spcBef>
                <a:spcPts val="900"/>
              </a:spcBef>
            </a:pPr>
            <a:r>
              <a:rPr sz="1600">
                <a:solidFill>
                  <a:srgbClr val="1E293B"/>
                </a:solidFill>
              </a:rPr>
              <a:t>• t</a:t>
            </a:r>
          </a:p>
          <a:p>
            <a:pPr>
              <a:spcBef>
                <a:spcPts val="900"/>
              </a:spcBef>
            </a:pPr>
            <a:r>
              <a:rPr sz="1600">
                <a:solidFill>
                  <a:srgbClr val="1E293B"/>
                </a:solidFill>
              </a:rPr>
              <a:t>• h</a:t>
            </a:r>
          </a:p>
          <a:p>
            <a:pPr>
              <a:spcBef>
                <a:spcPts val="900"/>
              </a:spcBef>
            </a:pPr>
            <a:r>
              <a:rPr sz="1600">
                <a:solidFill>
                  <a:srgbClr val="1E293B"/>
                </a:solidFill>
              </a:rPr>
              <a:t>• 都</a:t>
            </a:r>
          </a:p>
          <a:p>
            <a:pPr>
              <a:spcBef>
                <a:spcPts val="900"/>
              </a:spcBef>
            </a:pPr>
            <a:r>
              <a:rPr sz="1600">
                <a:solidFill>
                  <a:srgbClr val="1E293B"/>
                </a:solidFill>
              </a:rPr>
              <a:t>• 对</a:t>
            </a:r>
          </a:p>
          <a:p>
            <a:pPr>
              <a:spcBef>
                <a:spcPts val="900"/>
              </a:spcBef>
            </a:pPr>
            <a:r>
              <a:rPr sz="1600">
                <a:solidFill>
                  <a:srgbClr val="1E293B"/>
                </a:solidFill>
              </a:rPr>
              <a: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主体段三大失误与对策</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失误A·无主题句（TS）：直接开始讲例子，考官无法判断这段讲什么</a:t>
            </a:r>
          </a:p>
          <a:p>
            <a:pPr>
              <a:spcBef>
                <a:spcPts val="1000"/>
              </a:spcBef>
            </a:pPr>
            <a:r>
              <a:rPr sz="1650">
                <a:solidFill>
                  <a:srgbClr val="1E293B"/>
                </a:solidFill>
              </a:rPr>
              <a:t>• 对策：每段第一句=本段观点的完整陈述（可以独立理解）</a:t>
            </a:r>
          </a:p>
          <a:p>
            <a:pPr>
              <a:spcBef>
                <a:spcPts val="1000"/>
              </a:spcBef>
            </a:pPr>
            <a:r>
              <a:rPr sz="1650">
                <a:solidFill>
                  <a:srgbClr val="1E293B"/>
                </a:solidFill>
              </a:rPr>
              <a:t>• 失误B·论证停在TS（只说what）："Education is important for economic development."（仅此一句）</a:t>
            </a:r>
          </a:p>
          <a:p>
            <a:pPr>
              <a:spcBef>
                <a:spcPts val="1000"/>
              </a:spcBef>
            </a:pPr>
            <a:r>
              <a:rPr sz="1650">
                <a:solidFill>
                  <a:srgbClr val="1E293B"/>
                </a:solidFill>
              </a:rPr>
              <a:t>• 对策：加why层（为什么重要？机制？）+evidence层（例子/数据）</a:t>
            </a:r>
          </a:p>
          <a:p>
            <a:pPr>
              <a:spcBef>
                <a:spcPts val="1000"/>
              </a:spcBef>
            </a:pPr>
            <a:r>
              <a:rPr sz="1650">
                <a:solidFill>
                  <a:srgbClr val="1E293B"/>
                </a:solidFill>
              </a:rPr>
              <a:t>• 失误C·例子虚假/太宽泛："Many people in many countries feel that..."</a:t>
            </a:r>
          </a:p>
          <a:p>
            <a:pPr>
              <a:spcBef>
                <a:spcPts val="1000"/>
              </a:spcBef>
            </a:pPr>
            <a:r>
              <a:rPr sz="1650">
                <a:solidFill>
                  <a:srgbClr val="1E293B"/>
                </a:solidFill>
              </a:rPr>
              <a:t>• 对策：用具体机构/研究/国家做例子："A 2019 OECD report found that..."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衔接词：错误使用与正确使用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错误：段落开头堆叠衔接词（"In addition, furthermore, moreover, additionally..."）</a:t>
            </a:r>
          </a:p>
          <a:p>
            <a:pPr>
              <a:spcBef>
                <a:spcPts val="1000"/>
              </a:spcBef>
            </a:pPr>
            <a:r>
              <a:rPr sz="1650">
                <a:solidFill>
                  <a:srgbClr val="1E293B"/>
                </a:solidFill>
              </a:rPr>
              <a:t>• 正确：每段一个衔接词，选择最准确的逻辑关系</a:t>
            </a:r>
          </a:p>
          <a:p>
            <a:pPr>
              <a:spcBef>
                <a:spcPts val="1000"/>
              </a:spcBef>
            </a:pPr>
            <a:r>
              <a:rPr sz="1650">
                <a:solidFill>
                  <a:srgbClr val="1E293B"/>
                </a:solidFill>
              </a:rPr>
              <a:t>• 表递进：Furthermore/Moreover/In addition（三选一，不要全用）</a:t>
            </a:r>
          </a:p>
          <a:p>
            <a:pPr>
              <a:spcBef>
                <a:spcPts val="1000"/>
              </a:spcBef>
            </a:pPr>
            <a:r>
              <a:rPr sz="1650">
                <a:solidFill>
                  <a:srgbClr val="1E293B"/>
                </a:solidFill>
              </a:rPr>
              <a:t>• 表转折：However/Nevertheless/That said/Yet（表达程度递减）</a:t>
            </a:r>
          </a:p>
          <a:p>
            <a:pPr>
              <a:spcBef>
                <a:spcPts val="1000"/>
              </a:spcBef>
            </a:pPr>
            <a:r>
              <a:rPr sz="1650">
                <a:solidFill>
                  <a:srgbClr val="1E293B"/>
                </a:solidFill>
              </a:rPr>
              <a:t>• 表结果：Therefore/Thus/As a result/Consequently（表示因果）</a:t>
            </a:r>
          </a:p>
          <a:p>
            <a:pPr>
              <a:spcBef>
                <a:spcPts val="1000"/>
              </a:spcBef>
            </a:pPr>
            <a:r>
              <a:rPr sz="1650">
                <a:solidFill>
                  <a:srgbClr val="1E293B"/>
                </a:solidFill>
              </a:rPr>
              <a:t>• 错误：Firstly/Secondly/Thirdly（机械列举，显示论证不够有机）</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论证深度练习：扩展以下TS为完整PEEL段落</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TS（主题句）："Regular physical exercise has a profound impact on mental health."
任务：在这个TS基础上，写出完整的PEEL段落（E=解释机制，E=具体例子，L=结尾收束）。目标：约100词。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参考答案：
TS: Regular physical exercise has a profound impact on mental health.
E(why): Physical activity stimulates the release of endorphins and serotonin, neurochemicals that regulate mood and reduce anxiety levels. This biochemical response directly counters the stress hormones that accumulate during periods of inactivity.
E(evidence): A landmark study published by Harvard Medical School found that individuals who engaged in 30 minutes of moderate exercise five times weekly were 26% less likely to develop depression.
L: These findings suggest that exercise functions not merely as a physical health tool, but as an essential mental health intervention.</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标准段落约100-120词，包含TS+why机制+具体证据+收尾——这是Band 7主体段的标准</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立场一致性修正练习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请找出以下文章片段中的立场矛盾，并改正：
引言末句："I firmly believe that governments bear greater responsibility for environmental protection than individuals."
结论段："In conclusion, while governments should take the lead, individuals also play an equally important role in protecting the environment. Both sides must cooperate."
问题：引言说政府责任更大，结论说两者同等重要——立场矛盾。</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修正结论："In conclusion, it is my firm conviction that governmental action constitutes the cornerstone of effective environmental protection. Although individual choices contribute to the solution, they cannot substitute for the large-scale legislative and financial power that only governments possess. It is primarily through robust policy frameworks that meaningful, lasting change can be achieved."
修正后：结论重申政府责任更大（greater），让步个人作用但"cannot substitute"，维持引言立场</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结论检查法：结论中是否出现了引言中没有的新立场？如有，必须删除或修改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语言层面错误自查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Language-Level Error Self-Checking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语言错误四维自查框架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维度1·词汇（LR）：是否有3次以上重复的词汇？是否全用高中词汇？
维度2·语法（GRA）：主谓是否一致？冠词是否正确？时态是否统一？
维度3·搭配（Collocation）：动词与名词搭配是否自然？
维度4·表达流畅性：句子读起来是否自然，还是翻译腔？
检查顺序建议：先词汇→再语法→再搭配→最后整体流畅性</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每</a:t>
            </a:r>
          </a:p>
          <a:p>
            <a:pPr>
              <a:spcBef>
                <a:spcPts val="900"/>
              </a:spcBef>
            </a:pPr>
            <a:r>
              <a:rPr sz="1600">
                <a:solidFill>
                  <a:srgbClr val="1E293B"/>
                </a:solidFill>
              </a:rPr>
              <a:t>• 次</a:t>
            </a:r>
          </a:p>
          <a:p>
            <a:pPr>
              <a:spcBef>
                <a:spcPts val="900"/>
              </a:spcBef>
            </a:pPr>
            <a:r>
              <a:rPr sz="1600">
                <a:solidFill>
                  <a:srgbClr val="1E293B"/>
                </a:solidFill>
              </a:rPr>
              <a:t>• 写</a:t>
            </a:r>
          </a:p>
          <a:p>
            <a:pPr>
              <a:spcBef>
                <a:spcPts val="900"/>
              </a:spcBef>
            </a:pPr>
            <a:r>
              <a:rPr sz="1600">
                <a:solidFill>
                  <a:srgbClr val="1E293B"/>
                </a:solidFill>
              </a:rPr>
              <a:t>• 作</a:t>
            </a:r>
          </a:p>
          <a:p>
            <a:pPr>
              <a:spcBef>
                <a:spcPts val="900"/>
              </a:spcBef>
            </a:pPr>
            <a:r>
              <a:rPr sz="1600">
                <a:solidFill>
                  <a:srgbClr val="1E293B"/>
                </a:solidFill>
              </a:rPr>
              <a:t>• 后</a:t>
            </a:r>
          </a:p>
          <a:p>
            <a:pPr>
              <a:spcBef>
                <a:spcPts val="900"/>
              </a:spcBef>
            </a:pPr>
            <a:r>
              <a:rPr sz="1600">
                <a:solidFill>
                  <a:srgbClr val="1E293B"/>
                </a:solidFill>
              </a:rPr>
              <a:t>• 固</a:t>
            </a:r>
          </a:p>
          <a:p>
            <a:pPr>
              <a:spcBef>
                <a:spcPts val="900"/>
              </a:spcBef>
            </a:pPr>
            <a:r>
              <a:rPr sz="1600">
                <a:solidFill>
                  <a:srgbClr val="1E293B"/>
                </a:solidFill>
              </a:rPr>
              <a:t>• 定</a:t>
            </a:r>
          </a:p>
          <a:p>
            <a:pPr>
              <a:spcBef>
                <a:spcPts val="900"/>
              </a:spcBef>
            </a:pPr>
            <a:r>
              <a:rPr sz="1600">
                <a:solidFill>
                  <a:srgbClr val="1E293B"/>
                </a:solidFill>
              </a:rPr>
              <a:t>• 5</a:t>
            </a:r>
          </a:p>
          <a:p>
            <a:pPr>
              <a:spcBef>
                <a:spcPts val="900"/>
              </a:spcBef>
            </a:pPr>
            <a:r>
              <a:rPr sz="1600">
                <a:solidFill>
                  <a:srgbClr val="1E293B"/>
                </a:solidFill>
              </a:rPr>
              <a:t>• 分</a:t>
            </a:r>
          </a:p>
          <a:p>
            <a:pPr>
              <a:spcBef>
                <a:spcPts val="900"/>
              </a:spcBef>
            </a:pPr>
            <a:r>
              <a:rPr sz="1600">
                <a:solidFill>
                  <a:srgbClr val="1E293B"/>
                </a:solidFill>
              </a:rPr>
              <a:t>• 钟</a:t>
            </a:r>
          </a:p>
          <a:p>
            <a:pPr>
              <a:spcBef>
                <a:spcPts val="900"/>
              </a:spcBef>
            </a:pPr>
            <a:r>
              <a:rPr sz="1600">
                <a:solidFill>
                  <a:srgbClr val="1E293B"/>
                </a:solidFill>
              </a:rPr>
              <a:t>• 检</a:t>
            </a:r>
          </a:p>
          <a:p>
            <a:pPr>
              <a:spcBef>
                <a:spcPts val="900"/>
              </a:spcBef>
            </a:pPr>
            <a:r>
              <a:rPr sz="1600">
                <a:solidFill>
                  <a:srgbClr val="1E293B"/>
                </a:solidFill>
              </a:rPr>
              <a:t>• 查</a:t>
            </a:r>
          </a:p>
          <a:p>
            <a:pPr>
              <a:spcBef>
                <a:spcPts val="900"/>
              </a:spcBef>
            </a:pPr>
            <a:r>
              <a:rPr sz="1600">
                <a:solidFill>
                  <a:srgbClr val="1E293B"/>
                </a:solidFill>
              </a:rPr>
              <a:t>• 时</a:t>
            </a:r>
          </a:p>
          <a:p>
            <a:pPr>
              <a:spcBef>
                <a:spcPts val="900"/>
              </a:spcBef>
            </a:pPr>
            <a:r>
              <a:rPr sz="1600">
                <a:solidFill>
                  <a:srgbClr val="1E293B"/>
                </a:solidFill>
              </a:rPr>
              <a:t>• 间</a:t>
            </a:r>
          </a:p>
          <a:p>
            <a:pPr>
              <a:spcBef>
                <a:spcPts val="900"/>
              </a:spcBef>
            </a:pPr>
            <a:r>
              <a:rPr sz="1600">
                <a:solidFill>
                  <a:srgbClr val="1E293B"/>
                </a:solidFill>
              </a:rPr>
              <a:t>• ，</a:t>
            </a:r>
          </a:p>
          <a:p>
            <a:pPr>
              <a:spcBef>
                <a:spcPts val="900"/>
              </a:spcBef>
            </a:pPr>
            <a:r>
              <a:rPr sz="1600">
                <a:solidFill>
                  <a:srgbClr val="1E293B"/>
                </a:solidFill>
              </a:rPr>
              <a:t>• 从</a:t>
            </a:r>
          </a:p>
          <a:p>
            <a:pPr>
              <a:spcBef>
                <a:spcPts val="900"/>
              </a:spcBef>
            </a:pPr>
            <a:r>
              <a:rPr sz="1600">
                <a:solidFill>
                  <a:srgbClr val="1E293B"/>
                </a:solidFill>
              </a:rPr>
              <a:t>• 第</a:t>
            </a:r>
          </a:p>
          <a:p>
            <a:pPr>
              <a:spcBef>
                <a:spcPts val="900"/>
              </a:spcBef>
            </a:pPr>
            <a:r>
              <a:rPr sz="1600">
                <a:solidFill>
                  <a:srgbClr val="1E293B"/>
                </a:solidFill>
              </a:rPr>
              <a:t>• 一</a:t>
            </a:r>
          </a:p>
          <a:p>
            <a:pPr>
              <a:spcBef>
                <a:spcPts val="900"/>
              </a:spcBef>
            </a:pPr>
            <a:r>
              <a:rPr sz="1600">
                <a:solidFill>
                  <a:srgbClr val="1E293B"/>
                </a:solidFill>
              </a:rPr>
              <a:t>• 段</a:t>
            </a:r>
          </a:p>
          <a:p>
            <a:pPr>
              <a:spcBef>
                <a:spcPts val="900"/>
              </a:spcBef>
            </a:pPr>
            <a:r>
              <a:rPr sz="1600">
                <a:solidFill>
                  <a:srgbClr val="1E293B"/>
                </a:solidFill>
              </a:rPr>
              <a:t>• 开</a:t>
            </a:r>
          </a:p>
          <a:p>
            <a:pPr>
              <a:spcBef>
                <a:spcPts val="900"/>
              </a:spcBef>
            </a:pPr>
            <a:r>
              <a:rPr sz="1600">
                <a:solidFill>
                  <a:srgbClr val="1E293B"/>
                </a:solidFill>
              </a:rPr>
              <a:t>• 始</a:t>
            </a:r>
          </a:p>
          <a:p>
            <a:pPr>
              <a:spcBef>
                <a:spcPts val="900"/>
              </a:spcBef>
            </a:pPr>
            <a:r>
              <a:rPr sz="1600">
                <a:solidFill>
                  <a:srgbClr val="1E293B"/>
                </a:solidFill>
              </a:rPr>
              <a:t>• 逐</a:t>
            </a:r>
          </a:p>
          <a:p>
            <a:pPr>
              <a:spcBef>
                <a:spcPts val="900"/>
              </a:spcBef>
            </a:pPr>
            <a:r>
              <a:rPr sz="1600">
                <a:solidFill>
                  <a:srgbClr val="1E293B"/>
                </a:solidFill>
              </a:rPr>
              <a:t>• 句</a:t>
            </a:r>
          </a:p>
          <a:p>
            <a:pPr>
              <a:spcBef>
                <a:spcPts val="900"/>
              </a:spcBef>
            </a:pPr>
            <a:r>
              <a:rPr sz="1600">
                <a:solidFill>
                  <a:srgbClr val="1E293B"/>
                </a:solidFill>
              </a:rPr>
              <a:t>• 扫</a:t>
            </a:r>
          </a:p>
          <a:p>
            <a:pPr>
              <a:spcBef>
                <a:spcPts val="900"/>
              </a:spcBef>
            </a:pPr>
            <a:r>
              <a:rPr sz="1600">
                <a:solidFill>
                  <a:srgbClr val="1E293B"/>
                </a:solidFill>
              </a:rPr>
              <a:t>• 描</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"翻译腔"：中式英语的深层病根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翻译腔特征：
①句子结构照搬中文（主语省略/动词堆叠）
②用中文逻辑组织英语表达
③成语字面翻译（"三人行必有我师"→"three people walking together..."）
④过度使用被动语态（因中文常用被动）
根本原因：写作时先构建中文句子，再翻译成英文
解决方法：直接用英语思维组织句子（先练习用英语造句，不经过翻译）</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识</a:t>
            </a:r>
          </a:p>
          <a:p>
            <a:pPr>
              <a:spcBef>
                <a:spcPts val="900"/>
              </a:spcBef>
            </a:pPr>
            <a:r>
              <a:rPr sz="1600">
                <a:solidFill>
                  <a:srgbClr val="1E293B"/>
                </a:solidFill>
              </a:rPr>
              <a:t>• 别</a:t>
            </a:r>
          </a:p>
          <a:p>
            <a:pPr>
              <a:spcBef>
                <a:spcPts val="900"/>
              </a:spcBef>
            </a:pPr>
            <a:r>
              <a:rPr sz="1600">
                <a:solidFill>
                  <a:srgbClr val="1E293B"/>
                </a:solidFill>
              </a:rPr>
              <a:t>• 翻</a:t>
            </a:r>
          </a:p>
          <a:p>
            <a:pPr>
              <a:spcBef>
                <a:spcPts val="900"/>
              </a:spcBef>
            </a:pPr>
            <a:r>
              <a:rPr sz="1600">
                <a:solidFill>
                  <a:srgbClr val="1E293B"/>
                </a:solidFill>
              </a:rPr>
              <a:t>• 译</a:t>
            </a:r>
          </a:p>
          <a:p>
            <a:pPr>
              <a:spcBef>
                <a:spcPts val="900"/>
              </a:spcBef>
            </a:pPr>
            <a:r>
              <a:rPr sz="1600">
                <a:solidFill>
                  <a:srgbClr val="1E293B"/>
                </a:solidFill>
              </a:rPr>
              <a:t>• 腔</a:t>
            </a:r>
          </a:p>
          <a:p>
            <a:pPr>
              <a:spcBef>
                <a:spcPts val="900"/>
              </a:spcBef>
            </a:pPr>
            <a:r>
              <a:rPr sz="1600">
                <a:solidFill>
                  <a:srgbClr val="1E293B"/>
                </a:solidFill>
              </a:rPr>
              <a:t>• ：</a:t>
            </a:r>
          </a:p>
          <a:p>
            <a:pPr>
              <a:spcBef>
                <a:spcPts val="900"/>
              </a:spcBef>
            </a:pPr>
            <a:r>
              <a:rPr sz="1600">
                <a:solidFill>
                  <a:srgbClr val="1E293B"/>
                </a:solidFill>
              </a:rPr>
              <a:t>• 把</a:t>
            </a:r>
          </a:p>
          <a:p>
            <a:pPr>
              <a:spcBef>
                <a:spcPts val="900"/>
              </a:spcBef>
            </a:pPr>
            <a:r>
              <a:rPr sz="1600">
                <a:solidFill>
                  <a:srgbClr val="1E293B"/>
                </a:solidFill>
              </a:rPr>
              <a:t>• 你</a:t>
            </a:r>
          </a:p>
          <a:p>
            <a:pPr>
              <a:spcBef>
                <a:spcPts val="900"/>
              </a:spcBef>
            </a:pPr>
            <a:r>
              <a:rPr sz="1600">
                <a:solidFill>
                  <a:srgbClr val="1E293B"/>
                </a:solidFill>
              </a:rPr>
              <a:t>• 的</a:t>
            </a:r>
          </a:p>
          <a:p>
            <a:pPr>
              <a:spcBef>
                <a:spcPts val="900"/>
              </a:spcBef>
            </a:pPr>
            <a:r>
              <a:rPr sz="1600">
                <a:solidFill>
                  <a:srgbClr val="1E293B"/>
                </a:solidFill>
              </a:rPr>
              <a:t>• 句</a:t>
            </a:r>
          </a:p>
          <a:p>
            <a:pPr>
              <a:spcBef>
                <a:spcPts val="900"/>
              </a:spcBef>
            </a:pPr>
            <a:r>
              <a:rPr sz="1600">
                <a:solidFill>
                  <a:srgbClr val="1E293B"/>
                </a:solidFill>
              </a:rPr>
              <a:t>• 子</a:t>
            </a:r>
          </a:p>
          <a:p>
            <a:pPr>
              <a:spcBef>
                <a:spcPts val="900"/>
              </a:spcBef>
            </a:pPr>
            <a:r>
              <a:rPr sz="1600">
                <a:solidFill>
                  <a:srgbClr val="1E293B"/>
                </a:solidFill>
              </a:rPr>
              <a:t>• 给</a:t>
            </a:r>
          </a:p>
          <a:p>
            <a:pPr>
              <a:spcBef>
                <a:spcPts val="900"/>
              </a:spcBef>
            </a:pPr>
            <a:r>
              <a:rPr sz="1600">
                <a:solidFill>
                  <a:srgbClr val="1E293B"/>
                </a:solidFill>
              </a:rPr>
              <a:t>• 母</a:t>
            </a:r>
          </a:p>
          <a:p>
            <a:pPr>
              <a:spcBef>
                <a:spcPts val="900"/>
              </a:spcBef>
            </a:pPr>
            <a:r>
              <a:rPr sz="1600">
                <a:solidFill>
                  <a:srgbClr val="1E293B"/>
                </a:solidFill>
              </a:rPr>
              <a:t>• 语</a:t>
            </a:r>
          </a:p>
          <a:p>
            <a:pPr>
              <a:spcBef>
                <a:spcPts val="900"/>
              </a:spcBef>
            </a:pPr>
            <a:r>
              <a:rPr sz="1600">
                <a:solidFill>
                  <a:srgbClr val="1E293B"/>
                </a:solidFill>
              </a:rPr>
              <a:t>• 者</a:t>
            </a:r>
          </a:p>
          <a:p>
            <a:pPr>
              <a:spcBef>
                <a:spcPts val="900"/>
              </a:spcBef>
            </a:pPr>
            <a:r>
              <a:rPr sz="1600">
                <a:solidFill>
                  <a:srgbClr val="1E293B"/>
                </a:solidFill>
              </a:rPr>
              <a:t>• 读</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如</a:t>
            </a:r>
          </a:p>
          <a:p>
            <a:pPr>
              <a:spcBef>
                <a:spcPts val="900"/>
              </a:spcBef>
            </a:pPr>
            <a:r>
              <a:rPr sz="1600">
                <a:solidFill>
                  <a:srgbClr val="1E293B"/>
                </a:solidFill>
              </a:rPr>
              <a:t>• 果</a:t>
            </a:r>
          </a:p>
          <a:p>
            <a:pPr>
              <a:spcBef>
                <a:spcPts val="900"/>
              </a:spcBef>
            </a:pPr>
            <a:r>
              <a:rPr sz="1600">
                <a:solidFill>
                  <a:srgbClr val="1E293B"/>
                </a:solidFill>
              </a:rPr>
              <a:t>• 他</a:t>
            </a:r>
          </a:p>
          <a:p>
            <a:pPr>
              <a:spcBef>
                <a:spcPts val="900"/>
              </a:spcBef>
            </a:pPr>
            <a:r>
              <a:rPr sz="1600">
                <a:solidFill>
                  <a:srgbClr val="1E293B"/>
                </a:solidFill>
              </a:rPr>
              <a:t>• 们</a:t>
            </a:r>
          </a:p>
          <a:p>
            <a:pPr>
              <a:spcBef>
                <a:spcPts val="900"/>
              </a:spcBef>
            </a:pPr>
            <a:r>
              <a:rPr sz="1600">
                <a:solidFill>
                  <a:srgbClr val="1E293B"/>
                </a:solidFill>
              </a:rPr>
              <a:t>• 需</a:t>
            </a:r>
          </a:p>
          <a:p>
            <a:pPr>
              <a:spcBef>
                <a:spcPts val="900"/>
              </a:spcBef>
            </a:pPr>
            <a:r>
              <a:rPr sz="1600">
                <a:solidFill>
                  <a:srgbClr val="1E293B"/>
                </a:solidFill>
              </a:rPr>
              <a:t>• 要</a:t>
            </a:r>
          </a:p>
          <a:p>
            <a:pPr>
              <a:spcBef>
                <a:spcPts val="900"/>
              </a:spcBef>
            </a:pPr>
            <a:r>
              <a:rPr sz="1600">
                <a:solidFill>
                  <a:srgbClr val="1E293B"/>
                </a:solidFill>
              </a:rPr>
              <a:t>• 猜</a:t>
            </a:r>
          </a:p>
          <a:p>
            <a:pPr>
              <a:spcBef>
                <a:spcPts val="900"/>
              </a:spcBef>
            </a:pPr>
            <a:r>
              <a:rPr sz="1600">
                <a:solidFill>
                  <a:srgbClr val="1E293B"/>
                </a:solidFill>
              </a:rPr>
              <a:t>• 测</a:t>
            </a:r>
          </a:p>
          <a:p>
            <a:pPr>
              <a:spcBef>
                <a:spcPts val="900"/>
              </a:spcBef>
            </a:pPr>
            <a:r>
              <a:rPr sz="1600">
                <a:solidFill>
                  <a:srgbClr val="1E293B"/>
                </a:solidFill>
              </a:rPr>
              <a:t>• 意</a:t>
            </a:r>
          </a:p>
          <a:p>
            <a:pPr>
              <a:spcBef>
                <a:spcPts val="900"/>
              </a:spcBef>
            </a:pPr>
            <a:r>
              <a:rPr sz="1600">
                <a:solidFill>
                  <a:srgbClr val="1E293B"/>
                </a:solidFill>
              </a:rPr>
              <a:t>• 思</a:t>
            </a:r>
          </a:p>
          <a:p>
            <a:pPr>
              <a:spcBef>
                <a:spcPts val="900"/>
              </a:spcBef>
            </a:pPr>
            <a:r>
              <a:rPr sz="1600">
                <a:solidFill>
                  <a:srgbClr val="1E293B"/>
                </a:solidFill>
              </a:rPr>
              <a:t>• ，</a:t>
            </a:r>
          </a:p>
          <a:p>
            <a:pPr>
              <a:spcBef>
                <a:spcPts val="900"/>
              </a:spcBef>
            </a:pPr>
            <a:r>
              <a:rPr sz="1600">
                <a:solidFill>
                  <a:srgbClr val="1E293B"/>
                </a:solidFill>
              </a:rPr>
              <a:t>• 就</a:t>
            </a:r>
          </a:p>
          <a:p>
            <a:pPr>
              <a:spcBef>
                <a:spcPts val="900"/>
              </a:spcBef>
            </a:pPr>
            <a:r>
              <a:rPr sz="1600">
                <a:solidFill>
                  <a:srgbClr val="1E293B"/>
                </a:solidFill>
              </a:rPr>
              <a:t>• 是</a:t>
            </a:r>
          </a:p>
          <a:p>
            <a:pPr>
              <a:spcBef>
                <a:spcPts val="900"/>
              </a:spcBef>
            </a:pPr>
            <a:r>
              <a:rPr sz="1600">
                <a:solidFill>
                  <a:srgbClr val="1E293B"/>
                </a:solidFill>
              </a:rPr>
              <a:t>• 翻</a:t>
            </a:r>
          </a:p>
          <a:p>
            <a:pPr>
              <a:spcBef>
                <a:spcPts val="900"/>
              </a:spcBef>
            </a:pPr>
            <a:r>
              <a:rPr sz="1600">
                <a:solidFill>
                  <a:srgbClr val="1E293B"/>
                </a:solidFill>
              </a:rPr>
              <a:t>• 译</a:t>
            </a:r>
          </a:p>
          <a:p>
            <a:pPr>
              <a:spcBef>
                <a:spcPts val="900"/>
              </a:spcBef>
            </a:pPr>
            <a:r>
              <a:rPr sz="1600">
                <a:solidFill>
                  <a:srgbClr val="1E293B"/>
                </a:solidFill>
              </a:rPr>
              <a:t>• 腔</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高频翻译腔表达与修正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中式：As is known to all, technology is important. → 改为：It is widely recognised that...</a:t>
            </a:r>
          </a:p>
          <a:p>
            <a:pPr>
              <a:spcBef>
                <a:spcPts val="1000"/>
              </a:spcBef>
            </a:pPr>
            <a:r>
              <a:rPr sz="1650">
                <a:solidFill>
                  <a:srgbClr val="1E293B"/>
                </a:solidFill>
              </a:rPr>
              <a:t>• 中式：No matter how hard we try, the problem cannot be solved. → 改为：Despite our best efforts, the issue remains unresolved.</a:t>
            </a:r>
          </a:p>
          <a:p>
            <a:pPr>
              <a:spcBef>
                <a:spcPts val="1000"/>
              </a:spcBef>
            </a:pPr>
            <a:r>
              <a:rPr sz="1650">
                <a:solidFill>
                  <a:srgbClr val="1E293B"/>
                </a:solidFill>
              </a:rPr>
              <a:t>• 中式：With the development of economy/society → 改为：As society progresses/As economic growth accelerates</a:t>
            </a:r>
          </a:p>
          <a:p>
            <a:pPr>
              <a:spcBef>
                <a:spcPts val="1000"/>
              </a:spcBef>
            </a:pPr>
            <a:r>
              <a:rPr sz="1650">
                <a:solidFill>
                  <a:srgbClr val="1E293B"/>
                </a:solidFill>
              </a:rPr>
              <a:t>• 中式：Play an important role in → 改为：be crucial to/contribute significantly to/serve as a cornerstone of</a:t>
            </a:r>
          </a:p>
          <a:p>
            <a:pPr>
              <a:spcBef>
                <a:spcPts val="1000"/>
              </a:spcBef>
            </a:pPr>
            <a:r>
              <a:rPr sz="1650">
                <a:solidFill>
                  <a:srgbClr val="1E293B"/>
                </a:solidFill>
              </a:rPr>
              <a:t>• 中式：In modern society, technology has greatly changed our life. → 改为：Technology has profoundly transformed how we live and work.</a:t>
            </a:r>
          </a:p>
          <a:p>
            <a:pPr>
              <a:spcBef>
                <a:spcPts val="1000"/>
              </a:spcBef>
            </a:pPr>
            <a:r>
              <a:rPr sz="1650">
                <a:solidFill>
                  <a:srgbClr val="1E293B"/>
                </a:solidFill>
              </a:rPr>
              <a:t>• 中式：We should make full use of technology. → 改为：We should harness the full potential of technology.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句子修正：消除翻译腔的实战步骤</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第一步·找出翻译腔标志词："As is known to all/play a role/with the development of"等</a:t>
            </a:r>
          </a:p>
          <a:p>
            <a:pPr>
              <a:spcBef>
                <a:spcPts val="1000"/>
              </a:spcBef>
            </a:pPr>
            <a:r>
              <a:rPr sz="1650">
                <a:solidFill>
                  <a:srgbClr val="1E293B"/>
                </a:solidFill>
              </a:rPr>
              <a:t>• 第二步·删除空话套话：删除任何不能精准表达意思的词（"greatly/widely/very"）</a:t>
            </a:r>
          </a:p>
          <a:p>
            <a:pPr>
              <a:spcBef>
                <a:spcPts val="1000"/>
              </a:spcBef>
            </a:pPr>
            <a:r>
              <a:rPr sz="1650">
                <a:solidFill>
                  <a:srgbClr val="1E293B"/>
                </a:solidFill>
              </a:rPr>
              <a:t>• 第三步·用英语原生表达替换：查阅native speaker如何表达同一意思</a:t>
            </a:r>
          </a:p>
          <a:p>
            <a:pPr>
              <a:spcBef>
                <a:spcPts val="1000"/>
              </a:spcBef>
            </a:pPr>
            <a:r>
              <a:rPr sz="1650">
                <a:solidFill>
                  <a:srgbClr val="1E293B"/>
                </a:solidFill>
              </a:rPr>
              <a:t>• 第四步·精简句子：删除所有多余的修饰词（只保留能增加信息的词）</a:t>
            </a:r>
          </a:p>
          <a:p>
            <a:pPr>
              <a:spcBef>
                <a:spcPts val="1000"/>
              </a:spcBef>
            </a:pPr>
            <a:r>
              <a:rPr sz="1650">
                <a:solidFill>
                  <a:srgbClr val="1E293B"/>
                </a:solidFill>
              </a:rPr>
              <a:t>• 第五步·大声朗读检查：流畅的英语句子朗读时应该"顺口"，不会感觉别扭</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翻译腔修正练习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请找出并修正以下段落中的翻译腔（共5处）：
"As is known to all, with the development of technology, more and more people are using smartphones in modern society. This has played an important role in our daily life. People can use smartphones to do many things, which greatly improves their life quality."
请逐一指出并提供修正版本。</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修正详解：
①"As is known to all"→ 删除（空洞套话）
②"with the development of technology"→ "As technology has advanced" 或直接删除
③"more and more"→ "an increasing number of" 或 "growing numbers of"
④"played an important role in"→ "transformed" 或 "become integral to"
⑤"greatly improves their life quality"→ "significantly enhancing quality of life"
改写版："As technology has advanced, growing numbers of people have incorporated smartphones into their daily lives. These devices have transformed how individuals manage tasks, communicate, and access information, significantly enhancing quality of life."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改写后：具体、学术、无翻译腔——词数差不多但质量提升显著</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搭配错误专项修正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判断以下搭配是否正确，并改正错误（共8句）：
1.do research / 2.make progress / 3.strong pressure / 4.solve a crime / 5.raise a question / 6.have a great influence / 7.play a crucial role / 8.make damage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1.do research → CONDUCT research（研究常用conduct/carry out）
2.make progress → CORRECT ✓（make progress是固定搭配）
3.strong pressure → MOUNTING/INTENSE/CONSIDERABLE pressure（strong不搭配pressure）
4.solve a crime → SOLVE正确 ✓，但更学术是combat/tackle crime
5.raise a question → CORRECT ✓（raise a question是固定搭配）
6.have a great influence → have a SIGNIFICANT influence（great→significant更学术）
7.play a crucial role → CORRECT ✓（play a role是固定搭配）
8.make damage → CAUSE damage（damage不用make，用cause/inflict）</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记忆法：damage用cause；research用conduct；pressure用mounting/intense；影响用have an impact 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综合修正训练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Integrated Error Correction Training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错误修正五步学习法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第一步·收集自己的错误：整理过去的写作批改，建立"个人错误清单"
第二步·分类归纳：按4维度（TA/CC/LR/GRA）分类——哪个维度失误最多？
第三步·原因分析：每个错误的根因（知识空缺？习惯？翻译腔？）
第四步·刻意练习：针对最高频错误专项练习（而非每次写新作文）
第五步·检查习惯化：建立写作后固定的5分钟检查流程</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重</a:t>
            </a:r>
          </a:p>
          <a:p>
            <a:pPr>
              <a:spcBef>
                <a:spcPts val="900"/>
              </a:spcBef>
            </a:pPr>
            <a:r>
              <a:rPr sz="1600">
                <a:solidFill>
                  <a:srgbClr val="1E293B"/>
                </a:solidFill>
              </a:rPr>
              <a:t>• 点</a:t>
            </a:r>
          </a:p>
          <a:p>
            <a:pPr>
              <a:spcBef>
                <a:spcPts val="900"/>
              </a:spcBef>
            </a:pPr>
            <a:r>
              <a:rPr sz="1600">
                <a:solidFill>
                  <a:srgbClr val="1E293B"/>
                </a:solidFill>
              </a:rPr>
              <a:t>• ：</a:t>
            </a:r>
          </a:p>
          <a:p>
            <a:pPr>
              <a:spcBef>
                <a:spcPts val="900"/>
              </a:spcBef>
            </a:pPr>
            <a:r>
              <a:rPr sz="1600">
                <a:solidFill>
                  <a:srgbClr val="1E293B"/>
                </a:solidFill>
              </a:rPr>
              <a:t>• 不</a:t>
            </a:r>
          </a:p>
          <a:p>
            <a:pPr>
              <a:spcBef>
                <a:spcPts val="900"/>
              </a:spcBef>
            </a:pPr>
            <a:r>
              <a:rPr sz="1600">
                <a:solidFill>
                  <a:srgbClr val="1E293B"/>
                </a:solidFill>
              </a:rPr>
              <a:t>• 是</a:t>
            </a:r>
          </a:p>
          <a:p>
            <a:pPr>
              <a:spcBef>
                <a:spcPts val="900"/>
              </a:spcBef>
            </a:pPr>
            <a:r>
              <a:rPr sz="1600">
                <a:solidFill>
                  <a:srgbClr val="1E293B"/>
                </a:solidFill>
              </a:rPr>
              <a:t>• 写</a:t>
            </a:r>
          </a:p>
          <a:p>
            <a:pPr>
              <a:spcBef>
                <a:spcPts val="900"/>
              </a:spcBef>
            </a:pPr>
            <a:r>
              <a:rPr sz="1600">
                <a:solidFill>
                  <a:srgbClr val="1E293B"/>
                </a:solidFill>
              </a:rPr>
              <a:t>• 更</a:t>
            </a:r>
          </a:p>
          <a:p>
            <a:pPr>
              <a:spcBef>
                <a:spcPts val="900"/>
              </a:spcBef>
            </a:pPr>
            <a:r>
              <a:rPr sz="1600">
                <a:solidFill>
                  <a:srgbClr val="1E293B"/>
                </a:solidFill>
              </a:rPr>
              <a:t>• 多</a:t>
            </a:r>
          </a:p>
          <a:p>
            <a:pPr>
              <a:spcBef>
                <a:spcPts val="900"/>
              </a:spcBef>
            </a:pPr>
            <a:r>
              <a:rPr sz="1600">
                <a:solidFill>
                  <a:srgbClr val="1E293B"/>
                </a:solidFill>
              </a:rPr>
              <a:t>• 作</a:t>
            </a:r>
          </a:p>
          <a:p>
            <a:pPr>
              <a:spcBef>
                <a:spcPts val="900"/>
              </a:spcBef>
            </a:pPr>
            <a:r>
              <a:rPr sz="1600">
                <a:solidFill>
                  <a:srgbClr val="1E293B"/>
                </a:solidFill>
              </a:rPr>
              <a:t>• 文</a:t>
            </a:r>
          </a:p>
          <a:p>
            <a:pPr>
              <a:spcBef>
                <a:spcPts val="900"/>
              </a:spcBef>
            </a:pPr>
            <a:r>
              <a:rPr sz="1600">
                <a:solidFill>
                  <a:srgbClr val="1E293B"/>
                </a:solidFill>
              </a:rPr>
              <a:t>• ，</a:t>
            </a:r>
          </a:p>
          <a:p>
            <a:pPr>
              <a:spcBef>
                <a:spcPts val="900"/>
              </a:spcBef>
            </a:pPr>
            <a:r>
              <a:rPr sz="1600">
                <a:solidFill>
                  <a:srgbClr val="1E293B"/>
                </a:solidFill>
              </a:rPr>
              <a:t>• 而</a:t>
            </a:r>
          </a:p>
          <a:p>
            <a:pPr>
              <a:spcBef>
                <a:spcPts val="900"/>
              </a:spcBef>
            </a:pPr>
            <a:r>
              <a:rPr sz="1600">
                <a:solidFill>
                  <a:srgbClr val="1E293B"/>
                </a:solidFill>
              </a:rPr>
              <a:t>• 是</a:t>
            </a:r>
          </a:p>
          <a:p>
            <a:pPr>
              <a:spcBef>
                <a:spcPts val="900"/>
              </a:spcBef>
            </a:pPr>
            <a:r>
              <a:rPr sz="1600">
                <a:solidFill>
                  <a:srgbClr val="1E293B"/>
                </a:solidFill>
              </a:rPr>
              <a:t>• 从</a:t>
            </a:r>
          </a:p>
          <a:p>
            <a:pPr>
              <a:spcBef>
                <a:spcPts val="900"/>
              </a:spcBef>
            </a:pPr>
            <a:r>
              <a:rPr sz="1600">
                <a:solidFill>
                  <a:srgbClr val="1E293B"/>
                </a:solidFill>
              </a:rPr>
              <a:t>• 每</a:t>
            </a:r>
          </a:p>
          <a:p>
            <a:pPr>
              <a:spcBef>
                <a:spcPts val="900"/>
              </a:spcBef>
            </a:pPr>
            <a:r>
              <a:rPr sz="1600">
                <a:solidFill>
                  <a:srgbClr val="1E293B"/>
                </a:solidFill>
              </a:rPr>
              <a:t>• 篇</a:t>
            </a:r>
          </a:p>
          <a:p>
            <a:pPr>
              <a:spcBef>
                <a:spcPts val="900"/>
              </a:spcBef>
            </a:pPr>
            <a:r>
              <a:rPr sz="1600">
                <a:solidFill>
                  <a:srgbClr val="1E293B"/>
                </a:solidFill>
              </a:rPr>
              <a:t>• 作</a:t>
            </a:r>
          </a:p>
          <a:p>
            <a:pPr>
              <a:spcBef>
                <a:spcPts val="900"/>
              </a:spcBef>
            </a:pPr>
            <a:r>
              <a:rPr sz="1600">
                <a:solidFill>
                  <a:srgbClr val="1E293B"/>
                </a:solidFill>
              </a:rPr>
              <a:t>• 文</a:t>
            </a:r>
          </a:p>
          <a:p>
            <a:pPr>
              <a:spcBef>
                <a:spcPts val="900"/>
              </a:spcBef>
            </a:pPr>
            <a:r>
              <a:rPr sz="1600">
                <a:solidFill>
                  <a:srgbClr val="1E293B"/>
                </a:solidFill>
              </a:rPr>
              <a:t>• 中</a:t>
            </a:r>
          </a:p>
          <a:p>
            <a:pPr>
              <a:spcBef>
                <a:spcPts val="900"/>
              </a:spcBef>
            </a:pPr>
            <a:r>
              <a:rPr sz="1600">
                <a:solidFill>
                  <a:srgbClr val="1E293B"/>
                </a:solidFill>
              </a:rPr>
              <a:t>• 系</a:t>
            </a:r>
          </a:p>
          <a:p>
            <a:pPr>
              <a:spcBef>
                <a:spcPts val="900"/>
              </a:spcBef>
            </a:pPr>
            <a:r>
              <a:rPr sz="1600">
                <a:solidFill>
                  <a:srgbClr val="1E293B"/>
                </a:solidFill>
              </a:rPr>
              <a:t>• 统</a:t>
            </a:r>
          </a:p>
          <a:p>
            <a:pPr>
              <a:spcBef>
                <a:spcPts val="900"/>
              </a:spcBef>
            </a:pPr>
            <a:r>
              <a:rPr sz="1600">
                <a:solidFill>
                  <a:srgbClr val="1E293B"/>
                </a:solidFill>
              </a:rPr>
              <a:t>• 提</a:t>
            </a:r>
          </a:p>
          <a:p>
            <a:pPr>
              <a:spcBef>
                <a:spcPts val="900"/>
              </a:spcBef>
            </a:pPr>
            <a:r>
              <a:rPr sz="1600">
                <a:solidFill>
                  <a:srgbClr val="1E293B"/>
                </a:solidFill>
              </a:rPr>
              <a:t>• 取</a:t>
            </a:r>
          </a:p>
          <a:p>
            <a:pPr>
              <a:spcBef>
                <a:spcPts val="900"/>
              </a:spcBef>
            </a:pPr>
            <a:r>
              <a:rPr sz="1600">
                <a:solidFill>
                  <a:srgbClr val="1E293B"/>
                </a:solidFill>
              </a:rPr>
              <a:t>• 错</a:t>
            </a:r>
          </a:p>
          <a:p>
            <a:pPr>
              <a:spcBef>
                <a:spcPts val="900"/>
              </a:spcBef>
            </a:pPr>
            <a:r>
              <a:rPr sz="1600">
                <a:solidFill>
                  <a:srgbClr val="1E293B"/>
                </a:solidFill>
              </a:rPr>
              <a:t>• 误</a:t>
            </a:r>
          </a:p>
          <a:p>
            <a:pPr>
              <a:spcBef>
                <a:spcPts val="900"/>
              </a:spcBef>
            </a:pPr>
            <a:r>
              <a:rPr sz="1600">
                <a:solidFill>
                  <a:srgbClr val="1E293B"/>
                </a:solidFill>
              </a:rPr>
              <a:t>• 并</a:t>
            </a:r>
          </a:p>
          <a:p>
            <a:pPr>
              <a:spcBef>
                <a:spcPts val="900"/>
              </a:spcBef>
            </a:pPr>
            <a:r>
              <a:rPr sz="1600">
                <a:solidFill>
                  <a:srgbClr val="1E293B"/>
                </a:solidFill>
              </a:rPr>
              <a:t>• 修</a:t>
            </a:r>
          </a:p>
          <a:p>
            <a:pPr>
              <a:spcBef>
                <a:spcPts val="900"/>
              </a:spcBef>
            </a:pPr>
            <a:r>
              <a:rPr sz="1600">
                <a:solidFill>
                  <a:srgbClr val="1E293B"/>
                </a:solidFill>
              </a:rPr>
              <a:t>• 正</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考场实战：写作检查三轮机制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第一轮（写引言后，2分钟）：
检查立场是否明确？结构是否预告？paraphrase是否完成？
第二轮（写完主体段，2分钟）：
检查每段是否有主题句？是否有TS+why+evidence？
第三轮（写完整篇，5分钟）：
检查词汇重复？主谓一致？冠词？时态？衔接词？</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三</a:t>
            </a:r>
          </a:p>
          <a:p>
            <a:pPr>
              <a:spcBef>
                <a:spcPts val="900"/>
              </a:spcBef>
            </a:pPr>
            <a:r>
              <a:rPr sz="1600">
                <a:solidFill>
                  <a:srgbClr val="1E293B"/>
                </a:solidFill>
              </a:rPr>
              <a:t>• 轮</a:t>
            </a:r>
          </a:p>
          <a:p>
            <a:pPr>
              <a:spcBef>
                <a:spcPts val="900"/>
              </a:spcBef>
            </a:pPr>
            <a:r>
              <a:rPr sz="1600">
                <a:solidFill>
                  <a:srgbClr val="1E293B"/>
                </a:solidFill>
              </a:rPr>
              <a:t>• 机</a:t>
            </a:r>
          </a:p>
          <a:p>
            <a:pPr>
              <a:spcBef>
                <a:spcPts val="900"/>
              </a:spcBef>
            </a:pPr>
            <a:r>
              <a:rPr sz="1600">
                <a:solidFill>
                  <a:srgbClr val="1E293B"/>
                </a:solidFill>
              </a:rPr>
              <a:t>• 制</a:t>
            </a:r>
          </a:p>
          <a:p>
            <a:pPr>
              <a:spcBef>
                <a:spcPts val="900"/>
              </a:spcBef>
            </a:pPr>
            <a:r>
              <a:rPr sz="1600">
                <a:solidFill>
                  <a:srgbClr val="1E293B"/>
                </a:solidFill>
              </a:rPr>
              <a:t>• 将</a:t>
            </a:r>
          </a:p>
          <a:p>
            <a:pPr>
              <a:spcBef>
                <a:spcPts val="900"/>
              </a:spcBef>
            </a:pPr>
            <a:r>
              <a:rPr sz="1600">
                <a:solidFill>
                  <a:srgbClr val="1E293B"/>
                </a:solidFill>
              </a:rPr>
              <a:t>• 检</a:t>
            </a:r>
          </a:p>
          <a:p>
            <a:pPr>
              <a:spcBef>
                <a:spcPts val="900"/>
              </a:spcBef>
            </a:pPr>
            <a:r>
              <a:rPr sz="1600">
                <a:solidFill>
                  <a:srgbClr val="1E293B"/>
                </a:solidFill>
              </a:rPr>
              <a:t>• 查</a:t>
            </a:r>
          </a:p>
          <a:p>
            <a:pPr>
              <a:spcBef>
                <a:spcPts val="900"/>
              </a:spcBef>
            </a:pPr>
            <a:r>
              <a:rPr sz="1600">
                <a:solidFill>
                  <a:srgbClr val="1E293B"/>
                </a:solidFill>
              </a:rPr>
              <a:t>• 内</a:t>
            </a:r>
          </a:p>
          <a:p>
            <a:pPr>
              <a:spcBef>
                <a:spcPts val="900"/>
              </a:spcBef>
            </a:pPr>
            <a:r>
              <a:rPr sz="1600">
                <a:solidFill>
                  <a:srgbClr val="1E293B"/>
                </a:solidFill>
              </a:rPr>
              <a:t>• 嵌</a:t>
            </a:r>
          </a:p>
          <a:p>
            <a:pPr>
              <a:spcBef>
                <a:spcPts val="900"/>
              </a:spcBef>
            </a:pPr>
            <a:r>
              <a:rPr sz="1600">
                <a:solidFill>
                  <a:srgbClr val="1E293B"/>
                </a:solidFill>
              </a:rPr>
              <a:t>• 到</a:t>
            </a:r>
          </a:p>
          <a:p>
            <a:pPr>
              <a:spcBef>
                <a:spcPts val="900"/>
              </a:spcBef>
            </a:pPr>
            <a:r>
              <a:rPr sz="1600">
                <a:solidFill>
                  <a:srgbClr val="1E293B"/>
                </a:solidFill>
              </a:rPr>
              <a:t>• 写</a:t>
            </a:r>
          </a:p>
          <a:p>
            <a:pPr>
              <a:spcBef>
                <a:spcPts val="900"/>
              </a:spcBef>
            </a:pPr>
            <a:r>
              <a:rPr sz="1600">
                <a:solidFill>
                  <a:srgbClr val="1E293B"/>
                </a:solidFill>
              </a:rPr>
              <a:t>• 作</a:t>
            </a:r>
          </a:p>
          <a:p>
            <a:pPr>
              <a:spcBef>
                <a:spcPts val="900"/>
              </a:spcBef>
            </a:pPr>
            <a:r>
              <a:rPr sz="1600">
                <a:solidFill>
                  <a:srgbClr val="1E293B"/>
                </a:solidFill>
              </a:rPr>
              <a:t>• 流</a:t>
            </a:r>
          </a:p>
          <a:p>
            <a:pPr>
              <a:spcBef>
                <a:spcPts val="900"/>
              </a:spcBef>
            </a:pPr>
            <a:r>
              <a:rPr sz="1600">
                <a:solidFill>
                  <a:srgbClr val="1E293B"/>
                </a:solidFill>
              </a:rPr>
              <a:t>• 程</a:t>
            </a:r>
          </a:p>
          <a:p>
            <a:pPr>
              <a:spcBef>
                <a:spcPts val="900"/>
              </a:spcBef>
            </a:pPr>
            <a:r>
              <a:rPr sz="1600">
                <a:solidFill>
                  <a:srgbClr val="1E293B"/>
                </a:solidFill>
              </a:rPr>
              <a:t>• ，</a:t>
            </a:r>
          </a:p>
          <a:p>
            <a:pPr>
              <a:spcBef>
                <a:spcPts val="900"/>
              </a:spcBef>
            </a:pPr>
            <a:r>
              <a:rPr sz="1600">
                <a:solidFill>
                  <a:srgbClr val="1E293B"/>
                </a:solidFill>
              </a:rPr>
              <a:t>• 不</a:t>
            </a:r>
          </a:p>
          <a:p>
            <a:pPr>
              <a:spcBef>
                <a:spcPts val="900"/>
              </a:spcBef>
            </a:pPr>
            <a:r>
              <a:rPr sz="1600">
                <a:solidFill>
                  <a:srgbClr val="1E293B"/>
                </a:solidFill>
              </a:rPr>
              <a:t>• 会</a:t>
            </a:r>
          </a:p>
          <a:p>
            <a:pPr>
              <a:spcBef>
                <a:spcPts val="900"/>
              </a:spcBef>
            </a:pPr>
            <a:r>
              <a:rPr sz="1600">
                <a:solidFill>
                  <a:srgbClr val="1E293B"/>
                </a:solidFill>
              </a:rPr>
              <a:t>• 遗</a:t>
            </a:r>
          </a:p>
          <a:p>
            <a:pPr>
              <a:spcBef>
                <a:spcPts val="900"/>
              </a:spcBef>
            </a:pPr>
            <a:r>
              <a:rPr sz="1600">
                <a:solidFill>
                  <a:srgbClr val="1E293B"/>
                </a:solidFill>
              </a:rPr>
              <a:t>• 漏</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自查清单：6类错误快速扫描</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TA自查：引言立场明确？Task 1有Overview？结论立场与引言一致？</a:t>
            </a:r>
          </a:p>
          <a:p>
            <a:pPr>
              <a:spcBef>
                <a:spcPts val="1000"/>
              </a:spcBef>
            </a:pPr>
            <a:r>
              <a:rPr sz="1650">
                <a:solidFill>
                  <a:srgbClr val="1E293B"/>
                </a:solidFill>
              </a:rPr>
              <a:t>• CC自查：每段有主题句？段落之间有衔接词？段落内逻辑顺序合理？</a:t>
            </a:r>
          </a:p>
          <a:p>
            <a:pPr>
              <a:spcBef>
                <a:spcPts val="1000"/>
              </a:spcBef>
            </a:pPr>
            <a:r>
              <a:rPr sz="1650">
                <a:solidFill>
                  <a:srgbClr val="1E293B"/>
                </a:solidFill>
              </a:rPr>
              <a:t>• LR自查：有没有重复出现3次以上的词？有没有使用不常见词汇？</a:t>
            </a:r>
          </a:p>
          <a:p>
            <a:pPr>
              <a:spcBef>
                <a:spcPts val="1000"/>
              </a:spcBef>
            </a:pPr>
            <a:r>
              <a:rPr sz="1650">
                <a:solidFill>
                  <a:srgbClr val="1E293B"/>
                </a:solidFill>
              </a:rPr>
              <a:t>• GRA自查：主谓一致？冠词正确？时态统一（Task 2现在时）？</a:t>
            </a:r>
          </a:p>
          <a:p>
            <a:pPr>
              <a:spcBef>
                <a:spcPts val="1000"/>
              </a:spcBef>
            </a:pPr>
            <a:r>
              <a:rPr sz="1650">
                <a:solidFill>
                  <a:srgbClr val="1E293B"/>
                </a:solidFill>
              </a:rPr>
              <a:t>• 搭配自查：动词+名词搭配是否查过？（conduct/raise/impose等）</a:t>
            </a:r>
          </a:p>
          <a:p>
            <a:pPr>
              <a:spcBef>
                <a:spcPts val="1000"/>
              </a:spcBef>
            </a:pPr>
            <a:r>
              <a:rPr sz="1650">
                <a:solidFill>
                  <a:srgbClr val="1E293B"/>
                </a:solidFill>
              </a:rPr>
              <a:t>• 翻译腔自查：有没有"As is known to all/play a role/with the development of"？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写作后修正习惯养成计划</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第1-2周：只专注修正TA（立场/Overview/题目完成度）</a:t>
            </a:r>
          </a:p>
          <a:p>
            <a:pPr>
              <a:spcBef>
                <a:spcPts val="1000"/>
              </a:spcBef>
            </a:pPr>
            <a:r>
              <a:rPr sz="1650">
                <a:solidFill>
                  <a:srgbClr val="1E293B"/>
                </a:solidFill>
              </a:rPr>
              <a:t>• 第3-4周：加入CC修正（主题句/衔接词/段落结构）</a:t>
            </a:r>
          </a:p>
          <a:p>
            <a:pPr>
              <a:spcBef>
                <a:spcPts val="1000"/>
              </a:spcBef>
            </a:pPr>
            <a:r>
              <a:rPr sz="1650">
                <a:solidFill>
                  <a:srgbClr val="1E293B"/>
                </a:solidFill>
              </a:rPr>
              <a:t>• 第5-6周：加入LR修正（词汇替换/搭配检查）</a:t>
            </a:r>
          </a:p>
          <a:p>
            <a:pPr>
              <a:spcBef>
                <a:spcPts val="1000"/>
              </a:spcBef>
            </a:pPr>
            <a:r>
              <a:rPr sz="1650">
                <a:solidFill>
                  <a:srgbClr val="1E293B"/>
                </a:solidFill>
              </a:rPr>
              <a:t>• 第7-8周：加入GRA修正（主谓/冠词/时态）</a:t>
            </a:r>
          </a:p>
          <a:p>
            <a:pPr>
              <a:spcBef>
                <a:spcPts val="1000"/>
              </a:spcBef>
            </a:pPr>
            <a:r>
              <a:rPr sz="1650">
                <a:solidFill>
                  <a:srgbClr val="1E293B"/>
                </a:solidFill>
              </a:rPr>
              <a:t>• 第9-10周：全维度修正+翻译腔消除</a:t>
            </a:r>
          </a:p>
          <a:p>
            <a:pPr>
              <a:spcBef>
                <a:spcPts val="1000"/>
              </a:spcBef>
            </a:pPr>
            <a:r>
              <a:rPr sz="1650">
                <a:solidFill>
                  <a:srgbClr val="1E293B"/>
                </a:solidFill>
              </a:rPr>
              <a:t>• 原则：循序渐进，每周只加一个维度，不要试图同时修正所有问题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综合修正：完整段落四维诊断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原段落：
"Nowadays, many people think that higher education is important. Because the development of society needs more and more talents. So, government should spend more money in education. Also, school should improve their teaching methods to make students more creative. This will help the development of our country."
任务：按TA/CC/LR/GRA四维度诊断所有问题（约有8-10个错误）。</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TA：没有明确立场（"many people think"—是谁的观点？）；"development of our country"→太宽泛，不具体
CC："Because...So"错误（Because不能单独成句，这是句子碎片）；段落缺少主题句
LR："many/important/help/creative/development"重复且普通；"the development of society needs talents"→翻译腔
GRA："spend money in"→"invest in"（搭配错误）；"make students more creative"→"foster creativity"（搭配更自然）；"school"→"schools"（复数）
改写："I firmly contend that higher education is crucial for national progress. As societies become increasingly knowledge-driven, a well-educated workforce is essential for sustaining economic growth and driving innovation. Governments should therefore allocate greater resources to tertiary education, while institutions must continuously modernize their curricula to cultivate critical thinking and creative problem-solving among students."</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改写后：立场明确、无句子碎片、词汇升级、语法正确——四维全面提升</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自我检查实战：找出这段话的所有问题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段落：
"The number of car in cities have increased a lot recent years. This has caused many problem, such as air pollution, traffic jam and noise. Government must takes action to solving these problems. They should build more public transportation and rise the price of fuel. These measures will effectively solve the pollution problem."
共有多少个语法/词汇/搭配错误？</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错误清单（共10个）：
1."car in cities"→ cars（可数复数）
2."have increased"→ HAS increased（主语number→单数）
3."recent years"→ IN recent years（介词缺失）
4."many problem"→ many PROBLEMS（problem可数→复数）
5."traffic jam"→ traffic JAMS（可数复数）
6."must takes"→ must TAKE（情态+原形）
7."to solving"→ to SOLVE（to+原形）
8."transportation"前应加public（概念不完整）
9."rise the price"→ RAISE the price（rise不及物，raise及物）
10."solve the pollution problem"→重复使用solve/problem，应换词（address/tackle/alleviate）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10个错误全找到=Band 7语法意识。找到6-8个=Band 6水平。继续刻意练习</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2修正范文：Band 6→Band 7升级对比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题目：题目：Some people believe that children should spend more time on outdoor activities rather than indoor activities. To what extent do you agree or disagree?</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Band 6版本（有7个典型错误）：
"Nowadays, many people think that outdoor activity is important for children. Because they can get exercise and fresh air. Also, outdoor activities can help children develop social skills and make friend. On the other hand, indoor activities like reading and computer are also important for children's education. In my opinion, I think children should do both outdoor and indoor activities.
Band 7修正版：
I firmly contend that outdoor activities should constitute a greater part of children's daily routines, as the physical and developmental benefits they confer are difficult to replicate through indoor pursuits alone. Engaging in sports and outdoor play not only promotes physical fitness but also cultivates essential social competencies — cooperation, communication, and resilience — through real-world interaction with peers. While indoor activities undoubtedly foster literacy and digital literacy, they cannot substitute for the irreplaceable benefits of physical movement and direct engagement with the natural environment.</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错误①："many people think"→无明确立场，改为"I firmly contend that"</a:t>
            </a:r>
          </a:p>
          <a:p>
            <a:pPr>
              <a:spcBef>
                <a:spcPts val="700"/>
              </a:spcBef>
            </a:pPr>
            <a:r>
              <a:rPr sz="1200">
                <a:solidFill>
                  <a:srgbClr val="1E293B"/>
                </a:solidFill>
              </a:rPr>
              <a:t>▸ 错误②："Because..."→句子碎片，并入前句</a:t>
            </a:r>
          </a:p>
          <a:p>
            <a:pPr>
              <a:spcBef>
                <a:spcPts val="700"/>
              </a:spcBef>
            </a:pPr>
            <a:r>
              <a:rPr sz="1200">
                <a:solidFill>
                  <a:srgbClr val="1E293B"/>
                </a:solidFill>
              </a:rPr>
              <a:t>▸ 错误③："make friend"→make friendS（可数复数）</a:t>
            </a:r>
          </a:p>
          <a:p>
            <a:pPr>
              <a:spcBef>
                <a:spcPts val="700"/>
              </a:spcBef>
            </a:pPr>
            <a:r>
              <a:rPr sz="1200">
                <a:solidFill>
                  <a:srgbClr val="1E293B"/>
                </a:solidFill>
              </a:rPr>
              <a:t>▸ 错误④："computer"→抽象，改为具体"digital literacy"</a:t>
            </a:r>
          </a:p>
          <a:p>
            <a:pPr>
              <a:spcBef>
                <a:spcPts val="700"/>
              </a:spcBef>
            </a:pPr>
            <a:r>
              <a:rPr sz="1200">
                <a:solidFill>
                  <a:srgbClr val="1E293B"/>
                </a:solidFill>
              </a:rPr>
              <a:t>▸ 错误⑤：立场矛盾（引言说outdoor更好→结论说both都做）→改为全文一个立场</a:t>
            </a:r>
          </a:p>
          <a:p>
            <a:pPr>
              <a:spcBef>
                <a:spcPts val="700"/>
              </a:spcBef>
            </a:pPr>
            <a:r>
              <a:rPr sz="1200">
                <a:solidFill>
                  <a:srgbClr val="1E293B"/>
                </a:solidFill>
              </a:rPr>
              <a:t>▸ 词汇升级：important→indispensable/irreplaceable；help→cultivate/foster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1修正范文：加入Overview后的对比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题目：图表：折线图，显示A国和B国1990-2020年CO₂排放量（百万吨）
A国：1990=500，2005=800（峰值），2020=600
B国：1990=200，2005=400，2020=700（持续增长）</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原文（无Overview）：
"The graph shows CO₂ emissions in Country A and Country B from 1990 to 2020. In 1990, Country A emitted 500 million tons and Country B emitted 200 million tons. In 2005, Country A reached its peak at 800 million tons...（继续列数字）"
修正版（含Overview）：
引言：The line graph illustrates changes in carbon dioxide emissions in two nations over a thirty-year period.
Overview: Overall, while Country A's emissions peaked in the mid-2000s before declining, Country B experienced a sustained upward trajectory, ultimately surpassing Country A by 2020.
数据段1：In 1990, Country A's emissions stood at 500 million tonnes, considerably higher than Country B's 200 million. A's output climbed to a peak of 800 million tonnes in 2005 before falling back to 600 million by 2020.
数据段2：By contrast, Country B showed consistent growth throughout the period, rising from 200 to 700 million tonnes, nearly matching — and marginally surpassing — Country A by the final year.</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Overview位置：第二段，不是结尾段（Task 1没有结论）</a:t>
            </a:r>
          </a:p>
          <a:p>
            <a:pPr>
              <a:spcBef>
                <a:spcPts val="700"/>
              </a:spcBef>
            </a:pPr>
            <a:r>
              <a:rPr sz="1200">
                <a:solidFill>
                  <a:srgbClr val="1E293B"/>
                </a:solidFill>
              </a:rPr>
              <a:t>▸ Overview内容：最主要趋势（A先升后降/B持续升）+最显著特征（B最终超过A）</a:t>
            </a:r>
          </a:p>
          <a:p>
            <a:pPr>
              <a:spcBef>
                <a:spcPts val="700"/>
              </a:spcBef>
            </a:pPr>
            <a:r>
              <a:rPr sz="1200">
                <a:solidFill>
                  <a:srgbClr val="1E293B"/>
                </a:solidFill>
              </a:rPr>
              <a:t>▸ Overview禁止写具体数字：只写趋势方向和相对关系</a:t>
            </a:r>
          </a:p>
          <a:p>
            <a:pPr>
              <a:spcBef>
                <a:spcPts val="700"/>
              </a:spcBef>
            </a:pPr>
            <a:r>
              <a:rPr sz="1200">
                <a:solidFill>
                  <a:srgbClr val="1E293B"/>
                </a:solidFill>
              </a:rPr>
              <a:t>▸ 数据段：每段聚焦一个国家或一组相关数据，用比较结构组织</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2引言：错误版 vs 修正版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错误版（3个问题）</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修正版（Band 7标准）</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原文："Technology is very important in modern society. Many people use technology every day. Some think it is good, some think it is bad. I think both sides have good points."</a:t>
            </a:r>
          </a:p>
          <a:p>
            <a:pPr>
              <a:spcBef>
                <a:spcPts val="700"/>
              </a:spcBef>
            </a:pPr>
            <a:r>
              <a:rPr sz="1350">
                <a:solidFill>
                  <a:srgbClr val="C02A2A"/>
                </a:solidFill>
              </a:rPr>
              <a:t>✗ 问题①：立场不明确（"both sides have good points"）</a:t>
            </a:r>
          </a:p>
          <a:p>
            <a:pPr>
              <a:spcBef>
                <a:spcPts val="700"/>
              </a:spcBef>
            </a:pPr>
            <a:r>
              <a:rPr sz="1350">
                <a:solidFill>
                  <a:srgbClr val="C02A2A"/>
                </a:solidFill>
              </a:rPr>
              <a:t>✗ 问题②：词汇普通重复（important/good/think重复）</a:t>
            </a:r>
          </a:p>
          <a:p>
            <a:pPr>
              <a:spcBef>
                <a:spcPts val="700"/>
              </a:spcBef>
            </a:pPr>
            <a:r>
              <a:rPr sz="1350">
                <a:solidFill>
                  <a:srgbClr val="C02A2A"/>
                </a:solidFill>
              </a:rPr>
              <a:t>✗ 问题③：句式全部简单句，无复杂结构</a:t>
            </a:r>
          </a:p>
          <a:p>
            <a:pPr>
              <a:spcBef>
                <a:spcPts val="700"/>
              </a:spcBef>
            </a:pPr>
            <a:r>
              <a:rPr sz="1350">
                <a:solidFill>
                  <a:srgbClr val="C02A2A"/>
                </a:solidFill>
              </a:rPr>
              <a:t>✗ 评估：TA=5（无立场），LR=5（重复词汇），GRA=5（无复杂句）</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改写："The rapid proliferation of technology has fundamentally altered how modern individuals live, work, and communicate. While critics argue that our increasing dependence on digital tools poses significant risks, I firmly contend that technology's benefits — particularly in terms of access to knowledge and global connectivity — far outweigh its drawbacks."</a:t>
            </a:r>
          </a:p>
          <a:p>
            <a:pPr>
              <a:spcBef>
                <a:spcPts val="700"/>
              </a:spcBef>
            </a:pPr>
            <a:r>
              <a:rPr sz="1350">
                <a:solidFill>
                  <a:srgbClr val="1B7A3D"/>
                </a:solidFill>
              </a:rPr>
              <a:t>✓ 修正①：明确立场（I firmly contend that benefits...far outweigh）</a:t>
            </a:r>
          </a:p>
          <a:p>
            <a:pPr>
              <a:spcBef>
                <a:spcPts val="700"/>
              </a:spcBef>
            </a:pPr>
            <a:r>
              <a:rPr sz="1350">
                <a:solidFill>
                  <a:srgbClr val="1B7A3D"/>
                </a:solidFill>
              </a:rPr>
              <a:t>✓ 修正②：词汇升级（proliferation/fundamentally/connectivity）</a:t>
            </a:r>
          </a:p>
          <a:p>
            <a:pPr>
              <a:spcBef>
                <a:spcPts val="700"/>
              </a:spcBef>
            </a:pPr>
            <a:r>
              <a:rPr sz="1350">
                <a:solidFill>
                  <a:srgbClr val="1B7A3D"/>
                </a:solidFill>
              </a:rPr>
              <a:t>✓ 修正③：复杂句型（While从句+定语从句+破折号补充）</a:t>
            </a:r>
          </a:p>
          <a:p>
            <a:pPr>
              <a:spcBef>
                <a:spcPts val="700"/>
              </a:spcBef>
            </a:pPr>
            <a:r>
              <a:rPr sz="1350">
                <a:solidFill>
                  <a:srgbClr val="1B7A3D"/>
                </a:solidFill>
              </a:rPr>
              <a:t>✓ 评估：TA=7（立场清晰），LR=7（不常见词汇），GRA=7（复杂句型）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主体段：只有列举 vs PEEL完整论证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列举式（Band 5-6水平）</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PEEL论证式（Band 7水平）</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TS："Exercise is good for health."</a:t>
            </a:r>
          </a:p>
          <a:p>
            <a:pPr>
              <a:spcBef>
                <a:spcPts val="700"/>
              </a:spcBef>
            </a:pPr>
            <a:r>
              <a:rPr sz="1350">
                <a:solidFill>
                  <a:srgbClr val="C02A2A"/>
                </a:solidFill>
              </a:rPr>
              <a:t>✗ E1："People can lose weight by exercising."</a:t>
            </a:r>
          </a:p>
          <a:p>
            <a:pPr>
              <a:spcBef>
                <a:spcPts val="700"/>
              </a:spcBef>
            </a:pPr>
            <a:r>
              <a:rPr sz="1350">
                <a:solidFill>
                  <a:srgbClr val="C02A2A"/>
                </a:solidFill>
              </a:rPr>
              <a:t>✗ E2："Exercise makes people feel happy."</a:t>
            </a:r>
          </a:p>
          <a:p>
            <a:pPr>
              <a:spcBef>
                <a:spcPts val="700"/>
              </a:spcBef>
            </a:pPr>
            <a:r>
              <a:rPr sz="1350">
                <a:solidFill>
                  <a:srgbClr val="C02A2A"/>
                </a:solidFill>
              </a:rPr>
              <a:t>✗ E3："Exercise also helps people sleep better."</a:t>
            </a:r>
          </a:p>
          <a:p>
            <a:pPr>
              <a:spcBef>
                <a:spcPts val="700"/>
              </a:spcBef>
            </a:pPr>
            <a:r>
              <a:rPr sz="1350">
                <a:solidFill>
                  <a:srgbClr val="C02A2A"/>
                </a:solidFill>
              </a:rPr>
              <a:t>✗ 结尾："So exercise is very good."</a:t>
            </a:r>
          </a:p>
          <a:p>
            <a:pPr>
              <a:spcBef>
                <a:spcPts val="700"/>
              </a:spcBef>
            </a:pPr>
            <a:r>
              <a:rPr sz="1350">
                <a:solidFill>
                  <a:srgbClr val="C02A2A"/>
                </a:solidFill>
              </a:rPr>
              <a:t>✗ 问题：只说what，没有why和how；论证停留在表层；证据无具体数据</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TS："Regular physical exercise exerts a profound influence on both physical and psychological well-being."</a:t>
            </a:r>
          </a:p>
          <a:p>
            <a:pPr>
              <a:spcBef>
                <a:spcPts val="700"/>
              </a:spcBef>
            </a:pPr>
            <a:r>
              <a:rPr sz="1350">
                <a:solidFill>
                  <a:srgbClr val="1B7A3D"/>
                </a:solidFill>
              </a:rPr>
              <a:t>✓ E(why)："Physical activity stimulates the production of endorphins, neurochemicals that regulate mood and alleviate anxiety, while simultaneously strengthening cardiovascular function."</a:t>
            </a:r>
          </a:p>
          <a:p>
            <a:pPr>
              <a:spcBef>
                <a:spcPts val="700"/>
              </a:spcBef>
            </a:pPr>
            <a:r>
              <a:rPr sz="1350">
                <a:solidFill>
                  <a:srgbClr val="1B7A3D"/>
                </a:solidFill>
              </a:rPr>
              <a:t>✓ E(evidence)："A landmark Harvard study found that individuals exercising 30 minutes daily were 26% less likely to develop depression."</a:t>
            </a:r>
          </a:p>
          <a:p>
            <a:pPr>
              <a:spcBef>
                <a:spcPts val="700"/>
              </a:spcBef>
            </a:pPr>
            <a:r>
              <a:rPr sz="1350">
                <a:solidFill>
                  <a:srgbClr val="1B7A3D"/>
                </a:solidFill>
              </a:rPr>
              <a:t>✓ L："These findings confirm that exercise functions as a comprehensive health intervention, addressing both body and mind."</a:t>
            </a:r>
          </a:p>
          <a:p>
            <a:pPr>
              <a:spcBef>
                <a:spcPts val="700"/>
              </a:spcBef>
            </a:pPr>
            <a:r>
              <a:rPr sz="1350">
                <a:solidFill>
                  <a:srgbClr val="1B7A3D"/>
                </a:solidFill>
              </a:rPr>
              <a:t>✓ 特点：TS明确→why有机制→evidence有数据→L收束呼应TS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写作修正七步自查法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第一步·题目核对（30秒）</a:t>
            </a:r>
          </a:p>
        </p:txBody>
      </p:sp>
      <p:sp>
        <p:nvSpPr>
          <p:cNvPr id="12" name="TextBox 11"/>
          <p:cNvSpPr txBox="1"/>
          <p:nvPr/>
        </p:nvSpPr>
        <p:spPr>
          <a:xfrm>
            <a:off x="1417320" y="1645919"/>
            <a:ext cx="10058400" cy="313508"/>
          </a:xfrm>
          <a:prstGeom prst="rect">
            <a:avLst/>
          </a:prstGeom>
          <a:noFill/>
        </p:spPr>
        <p:txBody>
          <a:bodyPr wrap="square" anchor="t">
            <a:spAutoFit/>
          </a:bodyPr>
          <a:lstStyle/>
          <a:p>
            <a:pPr algn="l"/>
            <a:r>
              <a:rPr sz="1350" b="0" i="0">
                <a:solidFill>
                  <a:srgbClr val="556075"/>
                </a:solidFill>
                <a:latin typeface="Calibri"/>
              </a:rPr>
              <a:t>Task 2：题目所有问题都回答了？Task 1：图表类型和时间范围描述正确？</a:t>
            </a:r>
          </a:p>
        </p:txBody>
      </p:sp>
      <p:sp>
        <p:nvSpPr>
          <p:cNvPr id="13" name="Rounded Rectangle 12"/>
          <p:cNvSpPr/>
          <p:nvPr/>
        </p:nvSpPr>
        <p:spPr>
          <a:xfrm>
            <a:off x="548640" y="1959428"/>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014292"/>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617796"/>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1959428"/>
            <a:ext cx="10058400" cy="411480"/>
          </a:xfrm>
          <a:prstGeom prst="rect">
            <a:avLst/>
          </a:prstGeom>
          <a:noFill/>
        </p:spPr>
        <p:txBody>
          <a:bodyPr wrap="square" anchor="t">
            <a:spAutoFit/>
          </a:bodyPr>
          <a:lstStyle/>
          <a:p>
            <a:pPr algn="l"/>
            <a:r>
              <a:rPr sz="1600" b="1" i="0">
                <a:solidFill>
                  <a:srgbClr val="472473"/>
                </a:solidFill>
                <a:latin typeface="Calibri"/>
              </a:rPr>
              <a:t>第二步·立场检查（30秒）</a:t>
            </a:r>
          </a:p>
        </p:txBody>
      </p:sp>
      <p:sp>
        <p:nvSpPr>
          <p:cNvPr id="17" name="TextBox 16"/>
          <p:cNvSpPr txBox="1"/>
          <p:nvPr/>
        </p:nvSpPr>
        <p:spPr>
          <a:xfrm>
            <a:off x="1417320" y="2325188"/>
            <a:ext cx="10058400" cy="313508"/>
          </a:xfrm>
          <a:prstGeom prst="rect">
            <a:avLst/>
          </a:prstGeom>
          <a:noFill/>
        </p:spPr>
        <p:txBody>
          <a:bodyPr wrap="square" anchor="t">
            <a:spAutoFit/>
          </a:bodyPr>
          <a:lstStyle/>
          <a:p>
            <a:pPr algn="l"/>
            <a:r>
              <a:rPr sz="1350" b="0" i="0">
                <a:solidFill>
                  <a:srgbClr val="556075"/>
                </a:solidFill>
                <a:latin typeface="Calibri"/>
              </a:rPr>
              <a:t>Task 2：引言立场明确？结论立场一致？让步段后有反驳？</a:t>
            </a:r>
          </a:p>
        </p:txBody>
      </p:sp>
      <p:sp>
        <p:nvSpPr>
          <p:cNvPr id="18" name="Rounded Rectangle 17"/>
          <p:cNvSpPr/>
          <p:nvPr/>
        </p:nvSpPr>
        <p:spPr>
          <a:xfrm>
            <a:off x="548640" y="2638697"/>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693561"/>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297065"/>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638697"/>
            <a:ext cx="10058400" cy="411480"/>
          </a:xfrm>
          <a:prstGeom prst="rect">
            <a:avLst/>
          </a:prstGeom>
          <a:noFill/>
        </p:spPr>
        <p:txBody>
          <a:bodyPr wrap="square" anchor="t">
            <a:spAutoFit/>
          </a:bodyPr>
          <a:lstStyle/>
          <a:p>
            <a:pPr algn="l"/>
            <a:r>
              <a:rPr sz="1600" b="1" i="0">
                <a:solidFill>
                  <a:srgbClr val="472473"/>
                </a:solidFill>
                <a:latin typeface="Calibri"/>
              </a:rPr>
              <a:t>第三步·结构检查（1分钟）</a:t>
            </a:r>
          </a:p>
        </p:txBody>
      </p:sp>
      <p:sp>
        <p:nvSpPr>
          <p:cNvPr id="22" name="TextBox 21"/>
          <p:cNvSpPr txBox="1"/>
          <p:nvPr/>
        </p:nvSpPr>
        <p:spPr>
          <a:xfrm>
            <a:off x="1417320" y="3004457"/>
            <a:ext cx="10058400" cy="313508"/>
          </a:xfrm>
          <a:prstGeom prst="rect">
            <a:avLst/>
          </a:prstGeom>
          <a:noFill/>
        </p:spPr>
        <p:txBody>
          <a:bodyPr wrap="square" anchor="t">
            <a:spAutoFit/>
          </a:bodyPr>
          <a:lstStyle/>
          <a:p>
            <a:pPr algn="l"/>
            <a:r>
              <a:rPr sz="1350" b="0" i="0">
                <a:solidFill>
                  <a:srgbClr val="556075"/>
                </a:solidFill>
                <a:latin typeface="Calibri"/>
              </a:rPr>
              <a:t>Task 1：有Overview？Task 2：每段有主题句？段落数量正确（2-3个主体段）？</a:t>
            </a:r>
          </a:p>
        </p:txBody>
      </p:sp>
      <p:sp>
        <p:nvSpPr>
          <p:cNvPr id="23" name="Rounded Rectangle 22"/>
          <p:cNvSpPr/>
          <p:nvPr/>
        </p:nvSpPr>
        <p:spPr>
          <a:xfrm>
            <a:off x="548640" y="3317965"/>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372829"/>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3976333"/>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317965"/>
            <a:ext cx="10058400" cy="411480"/>
          </a:xfrm>
          <a:prstGeom prst="rect">
            <a:avLst/>
          </a:prstGeom>
          <a:noFill/>
        </p:spPr>
        <p:txBody>
          <a:bodyPr wrap="square" anchor="t">
            <a:spAutoFit/>
          </a:bodyPr>
          <a:lstStyle/>
          <a:p>
            <a:pPr algn="l"/>
            <a:r>
              <a:rPr sz="1600" b="1" i="0">
                <a:solidFill>
                  <a:srgbClr val="472473"/>
                </a:solidFill>
                <a:latin typeface="Calibri"/>
              </a:rPr>
              <a:t>第四步·词汇扫描（1分钟）</a:t>
            </a:r>
          </a:p>
        </p:txBody>
      </p:sp>
      <p:sp>
        <p:nvSpPr>
          <p:cNvPr id="27" name="TextBox 26"/>
          <p:cNvSpPr txBox="1"/>
          <p:nvPr/>
        </p:nvSpPr>
        <p:spPr>
          <a:xfrm>
            <a:off x="1417320" y="3683725"/>
            <a:ext cx="10058400" cy="313508"/>
          </a:xfrm>
          <a:prstGeom prst="rect">
            <a:avLst/>
          </a:prstGeom>
          <a:noFill/>
        </p:spPr>
        <p:txBody>
          <a:bodyPr wrap="square" anchor="t">
            <a:spAutoFit/>
          </a:bodyPr>
          <a:lstStyle/>
          <a:p>
            <a:pPr algn="l"/>
            <a:r>
              <a:rPr sz="1350" b="0" i="0">
                <a:solidFill>
                  <a:srgbClr val="556075"/>
                </a:solidFill>
                <a:latin typeface="Calibri"/>
              </a:rPr>
              <a:t>标记所有重复词汇（出现2次以上的词）→替换其中一个</a:t>
            </a:r>
          </a:p>
        </p:txBody>
      </p:sp>
      <p:sp>
        <p:nvSpPr>
          <p:cNvPr id="28" name="Rounded Rectangle 27"/>
          <p:cNvSpPr/>
          <p:nvPr/>
        </p:nvSpPr>
        <p:spPr>
          <a:xfrm>
            <a:off x="548640" y="3997234"/>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052098"/>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4655602"/>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3997234"/>
            <a:ext cx="10058400" cy="411480"/>
          </a:xfrm>
          <a:prstGeom prst="rect">
            <a:avLst/>
          </a:prstGeom>
          <a:noFill/>
        </p:spPr>
        <p:txBody>
          <a:bodyPr wrap="square" anchor="t">
            <a:spAutoFit/>
          </a:bodyPr>
          <a:lstStyle/>
          <a:p>
            <a:pPr algn="l"/>
            <a:r>
              <a:rPr sz="1600" b="1" i="0">
                <a:solidFill>
                  <a:srgbClr val="472473"/>
                </a:solidFill>
                <a:latin typeface="Calibri"/>
              </a:rPr>
              <a:t>第五步·语法扫描（1分钟）</a:t>
            </a:r>
          </a:p>
        </p:txBody>
      </p:sp>
      <p:sp>
        <p:nvSpPr>
          <p:cNvPr id="32" name="TextBox 31"/>
          <p:cNvSpPr txBox="1"/>
          <p:nvPr/>
        </p:nvSpPr>
        <p:spPr>
          <a:xfrm>
            <a:off x="1417320" y="4362994"/>
            <a:ext cx="10058400" cy="313508"/>
          </a:xfrm>
          <a:prstGeom prst="rect">
            <a:avLst/>
          </a:prstGeom>
          <a:noFill/>
        </p:spPr>
        <p:txBody>
          <a:bodyPr wrap="square" anchor="t">
            <a:spAutoFit/>
          </a:bodyPr>
          <a:lstStyle/>
          <a:p>
            <a:pPr algn="l"/>
            <a:r>
              <a:rPr sz="1350" b="0" i="0">
                <a:solidFill>
                  <a:srgbClr val="556075"/>
                </a:solidFill>
                <a:latin typeface="Calibri"/>
              </a:rPr>
              <a:t>逐句检查：主谓一致→冠词→情态动词（must/should/can+原形）</a:t>
            </a:r>
          </a:p>
        </p:txBody>
      </p:sp>
      <p:sp>
        <p:nvSpPr>
          <p:cNvPr id="33" name="Rounded Rectangle 32"/>
          <p:cNvSpPr/>
          <p:nvPr/>
        </p:nvSpPr>
        <p:spPr>
          <a:xfrm>
            <a:off x="548640" y="4676502"/>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731366"/>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Rectangle 34"/>
          <p:cNvSpPr/>
          <p:nvPr/>
        </p:nvSpPr>
        <p:spPr>
          <a:xfrm>
            <a:off x="841248" y="5334870"/>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17320" y="4676502"/>
            <a:ext cx="10058400" cy="411480"/>
          </a:xfrm>
          <a:prstGeom prst="rect">
            <a:avLst/>
          </a:prstGeom>
          <a:noFill/>
        </p:spPr>
        <p:txBody>
          <a:bodyPr wrap="square" anchor="t">
            <a:spAutoFit/>
          </a:bodyPr>
          <a:lstStyle/>
          <a:p>
            <a:pPr algn="l"/>
            <a:r>
              <a:rPr sz="1600" b="1" i="0">
                <a:solidFill>
                  <a:srgbClr val="472473"/>
                </a:solidFill>
                <a:latin typeface="Calibri"/>
              </a:rPr>
              <a:t>第六步·搭配检查（30秒）</a:t>
            </a:r>
          </a:p>
        </p:txBody>
      </p:sp>
      <p:sp>
        <p:nvSpPr>
          <p:cNvPr id="37" name="TextBox 36"/>
          <p:cNvSpPr txBox="1"/>
          <p:nvPr/>
        </p:nvSpPr>
        <p:spPr>
          <a:xfrm>
            <a:off x="1417320" y="5042262"/>
            <a:ext cx="10058400" cy="313508"/>
          </a:xfrm>
          <a:prstGeom prst="rect">
            <a:avLst/>
          </a:prstGeom>
          <a:noFill/>
        </p:spPr>
        <p:txBody>
          <a:bodyPr wrap="square" anchor="t">
            <a:spAutoFit/>
          </a:bodyPr>
          <a:lstStyle/>
          <a:p>
            <a:pPr algn="l"/>
            <a:r>
              <a:rPr sz="1350" b="0" i="0">
                <a:solidFill>
                  <a:srgbClr val="556075"/>
                </a:solidFill>
                <a:latin typeface="Calibri"/>
              </a:rPr>
              <a:t>检查动词+名词组合：conduct/raise/impose/foster/tackle是否搭配正确</a:t>
            </a:r>
          </a:p>
        </p:txBody>
      </p:sp>
      <p:sp>
        <p:nvSpPr>
          <p:cNvPr id="38" name="Rounded Rectangle 37"/>
          <p:cNvSpPr/>
          <p:nvPr/>
        </p:nvSpPr>
        <p:spPr>
          <a:xfrm>
            <a:off x="548640" y="5355771"/>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410635"/>
            <a:ext cx="640080" cy="502920"/>
          </a:xfrm>
          <a:prstGeom prst="rect">
            <a:avLst/>
          </a:prstGeom>
          <a:noFill/>
        </p:spPr>
        <p:txBody>
          <a:bodyPr wrap="square" anchor="t">
            <a:spAutoFit/>
          </a:bodyPr>
          <a:lstStyle/>
          <a:p>
            <a:pPr algn="ctr"/>
            <a:r>
              <a:rPr sz="2200" b="1" i="0">
                <a:solidFill>
                  <a:srgbClr val="FFFFFF"/>
                </a:solidFill>
                <a:latin typeface="Calibri"/>
              </a:rPr>
              <a:t>7</a:t>
            </a:r>
          </a:p>
        </p:txBody>
      </p:sp>
      <p:sp>
        <p:nvSpPr>
          <p:cNvPr id="40" name="TextBox 39"/>
          <p:cNvSpPr txBox="1"/>
          <p:nvPr/>
        </p:nvSpPr>
        <p:spPr>
          <a:xfrm>
            <a:off x="1417320" y="5355771"/>
            <a:ext cx="10058400" cy="411480"/>
          </a:xfrm>
          <a:prstGeom prst="rect">
            <a:avLst/>
          </a:prstGeom>
          <a:noFill/>
        </p:spPr>
        <p:txBody>
          <a:bodyPr wrap="square" anchor="t">
            <a:spAutoFit/>
          </a:bodyPr>
          <a:lstStyle/>
          <a:p>
            <a:pPr algn="l"/>
            <a:r>
              <a:rPr sz="1600" b="1" i="0">
                <a:solidFill>
                  <a:srgbClr val="472473"/>
                </a:solidFill>
                <a:latin typeface="Calibri"/>
              </a:rPr>
              <a:t>第七步·翻译腔消除（30秒）</a:t>
            </a:r>
          </a:p>
        </p:txBody>
      </p:sp>
      <p:sp>
        <p:nvSpPr>
          <p:cNvPr id="41" name="TextBox 40"/>
          <p:cNvSpPr txBox="1"/>
          <p:nvPr/>
        </p:nvSpPr>
        <p:spPr>
          <a:xfrm>
            <a:off x="1417320" y="5721531"/>
            <a:ext cx="10058400" cy="313508"/>
          </a:xfrm>
          <a:prstGeom prst="rect">
            <a:avLst/>
          </a:prstGeom>
          <a:noFill/>
        </p:spPr>
        <p:txBody>
          <a:bodyPr wrap="square" anchor="t">
            <a:spAutoFit/>
          </a:bodyPr>
          <a:lstStyle/>
          <a:p>
            <a:pPr algn="l"/>
            <a:r>
              <a:rPr sz="1350" b="0" i="0">
                <a:solidFill>
                  <a:srgbClr val="556075"/>
                </a:solidFill>
                <a:latin typeface="Calibri"/>
              </a:rPr>
              <a:t>找到"As is known to all/play a role/with the development of"等套话，改写或删除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四维快速诊断练习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对每个段落按TA/CC/LR/GRA四维度打分并给出修正建议</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诊断段落1</a:t>
            </a:r>
          </a:p>
          <a:p>
            <a:pPr>
              <a:spcBef>
                <a:spcPts val="100"/>
              </a:spcBef>
            </a:pPr>
            <a:r>
              <a:rPr sz="1400">
                <a:solidFill>
                  <a:srgbClr val="556075"/>
                </a:solidFill>
              </a:rPr>
              <a:t>   原文："In my opinion, I think government should take measure to protect environment. Because pollution is bad. Also, factories must decrease their pollution. This is important for our country's sustainable development."
请按四维度诊断（各1-2句话）。</a:t>
            </a:r>
          </a:p>
          <a:p>
            <a:pPr>
              <a:spcBef>
                <a:spcPts val="1100"/>
              </a:spcBef>
            </a:pPr>
            <a:r>
              <a:rPr sz="1700" b="1">
                <a:solidFill>
                  <a:srgbClr val="472473"/>
                </a:solidFill>
              </a:rPr>
              <a:t>▢ 诊断参考</a:t>
            </a:r>
          </a:p>
          <a:p>
            <a:pPr>
              <a:spcBef>
                <a:spcPts val="100"/>
              </a:spcBef>
            </a:pPr>
            <a:r>
              <a:rPr sz="1400">
                <a:solidFill>
                  <a:srgbClr val="556075"/>
                </a:solidFill>
              </a:rPr>
              <a:t>   TA：有观点但不具体（什么措施？为什么政府？），TA=5-6
CC："Because..."是句子碎片；缺少主题句；逻辑跳跃，CC=5
LR："bad/important/measure"普通；重复"pollution"，LR=5
GRA："should take measure"→measures（复数）；"must decrease their pollution"→reduce emissions更自然，GRA=5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 Overview写作练习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根据图表描述，写一个合格的Overview段（2句话，不写具体数字）</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练习题：折线图信息</a:t>
            </a:r>
          </a:p>
          <a:p>
            <a:pPr>
              <a:spcBef>
                <a:spcPts val="100"/>
              </a:spcBef>
            </a:pPr>
            <a:r>
              <a:rPr sz="1400">
                <a:solidFill>
                  <a:srgbClr val="556075"/>
                </a:solidFill>
              </a:rPr>
              <a:t>   图表信息：显示英国1980-2020年三种能源消耗量（煤炭/石油/天然气）
· 煤炭：持续大幅下降（1980=80%→2020=15%）
· 石油：基本稳定（约30-35%）
· 天然气：大幅上升（1980=5%→2020=50%，并超越石油）
请写出Overview（不能写具体数字）</a:t>
            </a:r>
          </a:p>
          <a:p>
            <a:pPr>
              <a:spcBef>
                <a:spcPts val="1100"/>
              </a:spcBef>
            </a:pPr>
            <a:r>
              <a:rPr sz="1700" b="1">
                <a:solidFill>
                  <a:srgbClr val="472473"/>
                </a:solidFill>
              </a:rPr>
              <a:t>▢ 参考答案</a:t>
            </a:r>
          </a:p>
          <a:p>
            <a:pPr>
              <a:spcBef>
                <a:spcPts val="100"/>
              </a:spcBef>
            </a:pPr>
            <a:r>
              <a:rPr sz="1400">
                <a:solidFill>
                  <a:srgbClr val="556075"/>
                </a:solidFill>
              </a:rPr>
              <a:t>   参考Overview："Overall, the most striking trend is the dramatic decline in coal consumption and the corresponding rise in natural gas usage, with the latter overtaking oil as the second most significant energy source by the end of the period. Oil consumption, by contrast, remained relatively stable throughout."
评析：①Overall开头 ②无具体数字 ③覆盖三种能源的主要趋势 ④标出最突出特征（天然气超越石油）</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错误修正备忘：Task 1必查5项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Overview是否存在</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第二段（或最后段）以Overall开头，无具体数字，覆盖主要趋势</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引言是否paraphrase</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题目原词不能照抄，必须同义替换动词和名词</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有无个人意见</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Task 1只描述，不写"I think/In my opinion/This shows that society..."</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趋势词是否多样</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不要只用increased/decreased，换用rose/surged/declined/plummeted等</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比较结构是否正确</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compared with X / X was higher than Y by [N] / X accounted for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错误修正备忘：Task 2必查5项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立场是否清晰</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引言最后一句必须明确表达立场（I firmly believe/contend/argue that...）</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立场是否全文一致</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结论不能出现"both sides have merit"（如果引言已选边站）</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每段是否有主题句</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每个主体段第一句=完整陈述本段观点（能独立理解）</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论证是否有三层</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TS（观点）+why（机制）+evidence（例子/数据）缺一不可</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词汇是否有重复</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全文扫描：同一词出现2次以上→至少替换一次（使用同义词或短语改写）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翻译腔速查：禁用表达清单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套话类（直接删除）</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As is known to all / It goes without saying that / Since ancient times</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抽象类（替换具体词）</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play a role → contribute to / serve as
with the development of → as X advances</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重复类（找同义词替换）</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important/big/good/bad/many — 高中必备词一律替换</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搭配错误类（改正搭配）</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make research→conduct / do damage→cause / rise prices→raise prices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写作L09：修正能力自测标准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初级（Band 5-6）</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能找出主谓一致/冠词错误；能识别无Overview/无立场问题；能改正简单搭配错误</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中级（Band 6-7）</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能识别并消除翻译腔；能按PEEL补充缺失的论证层次；能保持全文立场一致</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高级（Band 7+）</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能在5分钟内完成四维自查；能主动升级词汇+句型；能判断哪个论据更有说服力</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目标</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考试结束前5分钟完成全文四维自查，每次写作后建立个人错误清单</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错误修正高频词汇：TA维度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firmly believe/contend/argue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强烈表达立场（比"I think"更有力）</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predominantly/primarily</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主要地；首要地（比"mainly"更学术）</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outweigh</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（好处/重要性）超过；比...更重要（高频立场词）</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concede/acknowledge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承认（让步段用：I concede that... / It must be acknowledged that...）</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nonetheless/nevertheless</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尽管如此（让步后反驳必用）</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in contrast/by contrast</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相比之下（Task 1比较两组数据常用）</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overall</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总体而言（Task 1 Overview必用开头词）</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constitute</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构成；占（比make up更学术）</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address/tackle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处理；应对（比solve更学术）</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consequently/therefore</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因此（比so更学术）</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错误修正高频词汇：LR/GRA维度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conduct research</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进行研究（替代do/make research）</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raise awareness</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提高意识（替代improve awareness）</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cause damage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造成损害（替代do/make damage）</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raise prices</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提高价格（替代rise prices，rise是不及物动词）</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mounting pressure</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不断增加的压力（替代strong/big pressure）</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sharp/dramatic increase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大幅增长（替代big increase）</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significant impact</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显著影响（替代big/great impact）</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foster creativity</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培养创造力（替代improve/make creative）</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alleviate poverty</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减轻贫困（替代reduce/solve poverty）</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impose regulations</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实施法规（替代make/do regulations）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1高频趋势词汇（按程度排序）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轻微上升</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increase slightly / rise marginally / grow modestly</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稳定上升</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rise steadily / grow gradually / increase consistently</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大幅上升</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surge / soar / jump / climb sharply / increase dramatically</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轻微下降</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decrease slightly / fall marginally / decline a little</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持续下降</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fall steadily / decline gradually / decrease consistently</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大幅下降</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plummet / drop sharply / decrease dramatically / collapse</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保持稳定</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remain stable / stay constant / level off / plateau</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波动</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fluctuate / vary / oscillate（上下波动）</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达到最高点</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peak at / reach a high of / hit its highest point of</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达到最低点</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bottom out at / reach a low of / hit its lowest point of</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错误修正：考场应急策略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时间不足时的优先级</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①先确保Task 1有Overview（最高Band 5的底线）</a:t>
            </a:r>
          </a:p>
          <a:p>
            <a:pPr>
              <a:spcBef>
                <a:spcPts val="700"/>
              </a:spcBef>
            </a:pPr>
            <a:r>
              <a:rPr sz="1450">
                <a:solidFill>
                  <a:srgbClr val="1E293B"/>
                </a:solidFill>
              </a:rPr>
              <a:t>• ②确保Task 2引言有明确立场（TA最关键）</a:t>
            </a:r>
          </a:p>
          <a:p>
            <a:pPr>
              <a:spcBef>
                <a:spcPts val="700"/>
              </a:spcBef>
            </a:pPr>
            <a:r>
              <a:rPr sz="1450">
                <a:solidFill>
                  <a:srgbClr val="1E293B"/>
                </a:solidFill>
              </a:rPr>
              <a:t>• ③检查每段第一句是否是主题句（CC基本分）</a:t>
            </a:r>
          </a:p>
          <a:p>
            <a:pPr>
              <a:spcBef>
                <a:spcPts val="700"/>
              </a:spcBef>
            </a:pPr>
            <a:r>
              <a:rPr sz="1450">
                <a:solidFill>
                  <a:srgbClr val="1E293B"/>
                </a:solidFill>
              </a:rPr>
              <a:t>• ④词数：Task 1≥150词，Task 2≥250词（不够直接扣分）</a:t>
            </a:r>
          </a:p>
          <a:p>
            <a:pPr>
              <a:spcBef>
                <a:spcPts val="700"/>
              </a:spcBef>
            </a:pPr>
            <a:r>
              <a:rPr sz="1450">
                <a:solidFill>
                  <a:srgbClr val="1E293B"/>
                </a:solidFill>
              </a:rPr>
              <a:t>• ⑤如有时间：扫描一遍最常犯的语法错误（主谓/冠词）</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时间充裕时的深度修正</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①词汇替换：标记所有高中词→升级至学术词</a:t>
            </a:r>
          </a:p>
          <a:p>
            <a:pPr>
              <a:spcBef>
                <a:spcPts val="700"/>
              </a:spcBef>
            </a:pPr>
            <a:r>
              <a:rPr sz="1450">
                <a:solidFill>
                  <a:srgbClr val="1E293B"/>
                </a:solidFill>
              </a:rPr>
              <a:t>• ②搭配检查：重点检查动词+名词组合</a:t>
            </a:r>
          </a:p>
          <a:p>
            <a:pPr>
              <a:spcBef>
                <a:spcPts val="700"/>
              </a:spcBef>
            </a:pPr>
            <a:r>
              <a:rPr sz="1450">
                <a:solidFill>
                  <a:srgbClr val="1E293B"/>
                </a:solidFill>
              </a:rPr>
              <a:t>• ③复杂句增加：每段加1个从句（定语/让步/条件）</a:t>
            </a:r>
          </a:p>
          <a:p>
            <a:pPr>
              <a:spcBef>
                <a:spcPts val="700"/>
              </a:spcBef>
            </a:pPr>
            <a:r>
              <a:rPr sz="1450">
                <a:solidFill>
                  <a:srgbClr val="1E293B"/>
                </a:solidFill>
              </a:rPr>
              <a:t>• ④翻译腔消除：找套话并改写</a:t>
            </a:r>
          </a:p>
          <a:p>
            <a:pPr>
              <a:spcBef>
                <a:spcPts val="700"/>
              </a:spcBef>
            </a:pPr>
            <a:r>
              <a:rPr sz="1450">
                <a:solidFill>
                  <a:srgbClr val="1E293B"/>
                </a:solidFill>
              </a:rPr>
              <a:t>• ⑤结论检查：结论与引言立场完全一致？</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L09备考计划：4周错误清零路径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第1-2周（诊断期）</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整理过去3-5篇作文批改意见</a:t>
            </a:r>
          </a:p>
          <a:p>
            <a:pPr>
              <a:spcBef>
                <a:spcPts val="700"/>
              </a:spcBef>
            </a:pPr>
            <a:r>
              <a:rPr sz="1450">
                <a:solidFill>
                  <a:srgbClr val="1E293B"/>
                </a:solidFill>
              </a:rPr>
              <a:t>• 建立个人错误清单（按四维度分类）</a:t>
            </a:r>
          </a:p>
          <a:p>
            <a:pPr>
              <a:spcBef>
                <a:spcPts val="700"/>
              </a:spcBef>
            </a:pPr>
            <a:r>
              <a:rPr sz="1450">
                <a:solidFill>
                  <a:srgbClr val="1E293B"/>
                </a:solidFill>
              </a:rPr>
              <a:t>• 找出最高频的3个错误类型</a:t>
            </a:r>
          </a:p>
          <a:p>
            <a:pPr>
              <a:spcBef>
                <a:spcPts val="700"/>
              </a:spcBef>
            </a:pPr>
            <a:r>
              <a:rPr sz="1450">
                <a:solidFill>
                  <a:srgbClr val="1E293B"/>
                </a:solidFill>
              </a:rPr>
              <a:t>• 每天专项练习1个错误类型（各15分钟）</a:t>
            </a:r>
          </a:p>
          <a:p>
            <a:pPr>
              <a:spcBef>
                <a:spcPts val="700"/>
              </a:spcBef>
            </a:pPr>
            <a:r>
              <a:rPr sz="1450">
                <a:solidFill>
                  <a:srgbClr val="1E293B"/>
                </a:solidFill>
              </a:rPr>
              <a:t>• 目标：清楚知道自己的主要失分点</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第3-4周（修正期）</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每次写作后强制执行7步自查法</a:t>
            </a:r>
          </a:p>
          <a:p>
            <a:pPr>
              <a:spcBef>
                <a:spcPts val="700"/>
              </a:spcBef>
            </a:pPr>
            <a:r>
              <a:rPr sz="1450">
                <a:solidFill>
                  <a:srgbClr val="1E293B"/>
                </a:solidFill>
              </a:rPr>
              <a:t>• 重点改正第1-2周识别的3个错误</a:t>
            </a:r>
          </a:p>
          <a:p>
            <a:pPr>
              <a:spcBef>
                <a:spcPts val="700"/>
              </a:spcBef>
            </a:pPr>
            <a:r>
              <a:rPr sz="1450">
                <a:solidFill>
                  <a:srgbClr val="1E293B"/>
                </a:solidFill>
              </a:rPr>
              <a:t>• 每篇作文写完后用对照表检查</a:t>
            </a:r>
          </a:p>
          <a:p>
            <a:pPr>
              <a:spcBef>
                <a:spcPts val="700"/>
              </a:spcBef>
            </a:pPr>
            <a:r>
              <a:rPr sz="1450">
                <a:solidFill>
                  <a:srgbClr val="1E293B"/>
                </a:solidFill>
              </a:rPr>
              <a:t>• 每周找老师批改1篇，重点关注GRA/LR</a:t>
            </a:r>
          </a:p>
          <a:p>
            <a:pPr>
              <a:spcBef>
                <a:spcPts val="700"/>
              </a:spcBef>
            </a:pPr>
            <a:r>
              <a:rPr sz="1450">
                <a:solidFill>
                  <a:srgbClr val="1E293B"/>
                </a:solidFill>
              </a:rPr>
              <a:t>• 目标：高频错误出现频率降低80%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写作L09总结：修正意识与自查习惯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写作前（预防错误）</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审题：Task类型？需要几段主体？有无立场要求？</a:t>
            </a:r>
          </a:p>
          <a:p>
            <a:pPr>
              <a:spcBef>
                <a:spcPts val="700"/>
              </a:spcBef>
            </a:pPr>
            <a:r>
              <a:rPr sz="1450">
                <a:solidFill>
                  <a:srgbClr val="1E293B"/>
                </a:solidFill>
              </a:rPr>
              <a:t>• 提纲：每段主题句先写好（保证结构清晰）</a:t>
            </a:r>
          </a:p>
          <a:p>
            <a:pPr>
              <a:spcBef>
                <a:spcPts val="700"/>
              </a:spcBef>
            </a:pPr>
            <a:r>
              <a:rPr sz="1450">
                <a:solidFill>
                  <a:srgbClr val="1E293B"/>
                </a:solidFill>
              </a:rPr>
              <a:t>• Task 1：确认图表类型，计划好Overview内容</a:t>
            </a:r>
          </a:p>
          <a:p>
            <a:pPr>
              <a:spcBef>
                <a:spcPts val="700"/>
              </a:spcBef>
            </a:pPr>
            <a:r>
              <a:rPr sz="1450">
                <a:solidFill>
                  <a:srgbClr val="1E293B"/>
                </a:solidFill>
              </a:rPr>
              <a:t>• Task 2：确认立场，全文保持同一立场</a:t>
            </a:r>
          </a:p>
          <a:p>
            <a:pPr>
              <a:spcBef>
                <a:spcPts val="700"/>
              </a:spcBef>
            </a:pPr>
            <a:r>
              <a:rPr sz="1450">
                <a:solidFill>
                  <a:srgbClr val="1E293B"/>
                </a:solidFill>
              </a:rPr>
              <a:t>• 时间：Task 1最多20分钟，Task 2最多40分钟</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写作后（修正错误）</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TA：立场明确？题目完整回答？Overview存在？</a:t>
            </a:r>
          </a:p>
          <a:p>
            <a:pPr>
              <a:spcBef>
                <a:spcPts val="700"/>
              </a:spcBef>
            </a:pPr>
            <a:r>
              <a:rPr sz="1450">
                <a:solidFill>
                  <a:srgbClr val="1E293B"/>
                </a:solidFill>
              </a:rPr>
              <a:t>• CC：每段主题句？衔接词自然？段落逻辑清晰？</a:t>
            </a:r>
          </a:p>
          <a:p>
            <a:pPr>
              <a:spcBef>
                <a:spcPts val="700"/>
              </a:spcBef>
            </a:pPr>
            <a:r>
              <a:rPr sz="1450">
                <a:solidFill>
                  <a:srgbClr val="1E293B"/>
                </a:solidFill>
              </a:rPr>
              <a:t>• LR：重复词汇？翻译腔套话？搭配正确？</a:t>
            </a:r>
          </a:p>
          <a:p>
            <a:pPr>
              <a:spcBef>
                <a:spcPts val="700"/>
              </a:spcBef>
            </a:pPr>
            <a:r>
              <a:rPr sz="1450">
                <a:solidFill>
                  <a:srgbClr val="1E293B"/>
                </a:solidFill>
              </a:rPr>
              <a:t>• GRA：主谓一致？冠词？情态动词+原形？</a:t>
            </a:r>
          </a:p>
          <a:p>
            <a:pPr>
              <a:spcBef>
                <a:spcPts val="700"/>
              </a:spcBef>
            </a:pPr>
            <a:r>
              <a:rPr sz="1450">
                <a:solidFill>
                  <a:srgbClr val="1E293B"/>
                </a:solidFill>
              </a:rPr>
              <a:t>• 总计5分钟：值得——1个错误可能影响0.5分</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写作L09：四维自查对照表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TA（任务完成）</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Task 2：引言末句有明确立场（I firmly argue/contend...）</a:t>
            </a:r>
          </a:p>
          <a:p>
            <a:pPr>
              <a:spcBef>
                <a:spcPts val="700"/>
              </a:spcBef>
            </a:pPr>
            <a:r>
              <a:rPr sz="1450">
                <a:solidFill>
                  <a:srgbClr val="1E293B"/>
                </a:solidFill>
              </a:rPr>
              <a:t>• Task 2：结论立场与引言完全一致</a:t>
            </a:r>
          </a:p>
          <a:p>
            <a:pPr>
              <a:spcBef>
                <a:spcPts val="700"/>
              </a:spcBef>
            </a:pPr>
            <a:r>
              <a:rPr sz="1450">
                <a:solidFill>
                  <a:srgbClr val="1E293B"/>
                </a:solidFill>
              </a:rPr>
              <a:t>• Task 1：有Overview段（Overall开头，无具体数字）</a:t>
            </a:r>
          </a:p>
          <a:p>
            <a:pPr>
              <a:spcBef>
                <a:spcPts val="700"/>
              </a:spcBef>
            </a:pPr>
            <a:r>
              <a:rPr sz="1450">
                <a:solidFill>
                  <a:srgbClr val="1E293B"/>
                </a:solidFill>
              </a:rPr>
              <a:t>• Task 2：题目所有问题都在正文中回答</a:t>
            </a:r>
          </a:p>
          <a:p>
            <a:pPr>
              <a:spcBef>
                <a:spcPts val="700"/>
              </a:spcBef>
            </a:pPr>
            <a:r>
              <a:rPr sz="1450">
                <a:solidFill>
                  <a:srgbClr val="1E293B"/>
                </a:solidFill>
              </a:rPr>
              <a:t>• Task 1：没有写个人意见（只描述数据）</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GRA+LR（语言质量）</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全文主谓一致（重点检查集合名词和介词短语隔离的主语）</a:t>
            </a:r>
          </a:p>
          <a:p>
            <a:pPr>
              <a:spcBef>
                <a:spcPts val="700"/>
              </a:spcBef>
            </a:pPr>
            <a:r>
              <a:rPr sz="1450">
                <a:solidFill>
                  <a:srgbClr val="1E293B"/>
                </a:solidFill>
              </a:rPr>
              <a:t>• 可数名词有正确冠词（a/an/the或∅）</a:t>
            </a:r>
          </a:p>
          <a:p>
            <a:pPr>
              <a:spcBef>
                <a:spcPts val="700"/>
              </a:spcBef>
            </a:pPr>
            <a:r>
              <a:rPr sz="1450">
                <a:solidFill>
                  <a:srgbClr val="1E293B"/>
                </a:solidFill>
              </a:rPr>
              <a:t>• 情态动词后接原形（should go，不是should going/goes）</a:t>
            </a:r>
          </a:p>
          <a:p>
            <a:pPr>
              <a:spcBef>
                <a:spcPts val="700"/>
              </a:spcBef>
            </a:pPr>
            <a:r>
              <a:rPr sz="1450">
                <a:solidFill>
                  <a:srgbClr val="1E293B"/>
                </a:solidFill>
              </a:rPr>
              <a:t>• 重复词汇≤2次（扫描全文high-frequency words）</a:t>
            </a:r>
          </a:p>
          <a:p>
            <a:pPr>
              <a:spcBef>
                <a:spcPts val="700"/>
              </a:spcBef>
            </a:pPr>
            <a:r>
              <a:rPr sz="1450">
                <a:solidFill>
                  <a:srgbClr val="1E293B"/>
                </a:solidFill>
              </a:rPr>
              <a:t>• 有至少2种复杂句型（定语从句/让步从句/条件从句）</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写作错误频率自测：你在哪个阶段？</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高频错误（必须清零）</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Task 2无明确立场（引言没有I argue/contend/believe）</a:t>
            </a:r>
          </a:p>
          <a:p>
            <a:pPr>
              <a:spcBef>
                <a:spcPts val="700"/>
              </a:spcBef>
            </a:pPr>
            <a:r>
              <a:rPr sz="1450">
                <a:solidFill>
                  <a:srgbClr val="1E293B"/>
                </a:solidFill>
              </a:rPr>
              <a:t>• Task 1无Overview段（整篇从数据开始）</a:t>
            </a:r>
          </a:p>
          <a:p>
            <a:pPr>
              <a:spcBef>
                <a:spcPts val="700"/>
              </a:spcBef>
            </a:pPr>
            <a:r>
              <a:rPr sz="1450">
                <a:solidFill>
                  <a:srgbClr val="1E293B"/>
                </a:solidFill>
              </a:rPr>
              <a:t>• 句子碎片（Because.../So.../And...单独成句）</a:t>
            </a:r>
          </a:p>
          <a:p>
            <a:pPr>
              <a:spcBef>
                <a:spcPts val="700"/>
              </a:spcBef>
            </a:pPr>
            <a:r>
              <a:rPr sz="1450">
                <a:solidFill>
                  <a:srgbClr val="1E293B"/>
                </a:solidFill>
              </a:rPr>
              <a:t>• 主谓不一致（The number of students are...→is）</a:t>
            </a:r>
          </a:p>
          <a:p>
            <a:pPr>
              <a:spcBef>
                <a:spcPts val="700"/>
              </a:spcBef>
            </a:pPr>
            <a:r>
              <a:rPr sz="1450">
                <a:solidFill>
                  <a:srgbClr val="1E293B"/>
                </a:solidFill>
              </a:rPr>
              <a:t>• 情态动词后接错误（should takes→should take）</a:t>
            </a:r>
          </a:p>
          <a:p>
            <a:pPr>
              <a:spcBef>
                <a:spcPts val="700"/>
              </a:spcBef>
            </a:pPr>
            <a:r>
              <a:rPr sz="1450">
                <a:solidFill>
                  <a:srgbClr val="1E293B"/>
                </a:solidFill>
              </a:rPr>
              <a:t>• 重复使用同一个词3次以上（important/problem/good）</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中频错误（争取减少）</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冠词缺失或多余（education需要∅/the government需要the）</a:t>
            </a:r>
          </a:p>
          <a:p>
            <a:pPr>
              <a:spcBef>
                <a:spcPts val="700"/>
              </a:spcBef>
            </a:pPr>
            <a:r>
              <a:rPr sz="1450">
                <a:solidFill>
                  <a:srgbClr val="1E293B"/>
                </a:solidFill>
              </a:rPr>
              <a:t>• 翻译腔套话（As is known to all/play a role in）</a:t>
            </a:r>
          </a:p>
          <a:p>
            <a:pPr>
              <a:spcBef>
                <a:spcPts val="700"/>
              </a:spcBef>
            </a:pPr>
            <a:r>
              <a:rPr sz="1450">
                <a:solidFill>
                  <a:srgbClr val="1E293B"/>
                </a:solidFill>
              </a:rPr>
              <a:t>• 论证只有观点没有解释（TS but no why/evidence）</a:t>
            </a:r>
          </a:p>
          <a:p>
            <a:pPr>
              <a:spcBef>
                <a:spcPts val="700"/>
              </a:spcBef>
            </a:pPr>
            <a:r>
              <a:rPr sz="1450">
                <a:solidFill>
                  <a:srgbClr val="1E293B"/>
                </a:solidFill>
              </a:rPr>
              <a:t>• 搭配错误（make research→conduct research）</a:t>
            </a:r>
          </a:p>
          <a:p>
            <a:pPr>
              <a:spcBef>
                <a:spcPts val="700"/>
              </a:spcBef>
            </a:pPr>
            <a:r>
              <a:rPr sz="1450">
                <a:solidFill>
                  <a:srgbClr val="1E293B"/>
                </a:solidFill>
              </a:rPr>
              <a:t>• 立场中途改变（引言说agree，结论说it depends）</a:t>
            </a:r>
          </a:p>
          <a:p>
            <a:pPr>
              <a:spcBef>
                <a:spcPts val="700"/>
              </a:spcBef>
            </a:pPr>
            <a:r>
              <a:rPr sz="1450">
                <a:solidFill>
                  <a:srgbClr val="1E293B"/>
                </a:solidFill>
              </a:rPr>
              <a:t>• 复杂句比例过低（全文90%以上简单句）</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L09学完自测：错误修正能力</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能在30秒内说出Task 2最常见的5个错误类型</a:t>
            </a:r>
          </a:p>
          <a:p>
            <a:pPr>
              <a:spcBef>
                <a:spcPts val="1200"/>
              </a:spcBef>
            </a:pPr>
            <a:r>
              <a:rPr sz="1600">
                <a:solidFill>
                  <a:srgbClr val="1E293B"/>
                </a:solidFill>
              </a:rPr>
              <a:t>☐ 知道Task 1没有Overview最高只能得Band 5</a:t>
            </a:r>
          </a:p>
          <a:p>
            <a:pPr>
              <a:spcBef>
                <a:spcPts val="1200"/>
              </a:spcBef>
            </a:pPr>
            <a:r>
              <a:rPr sz="1600">
                <a:solidFill>
                  <a:srgbClr val="1E293B"/>
                </a:solidFill>
              </a:rPr>
              <a:t>☐ 能识别并改正"As is known to all/play a role"等翻译腔</a:t>
            </a:r>
          </a:p>
          <a:p>
            <a:pPr>
              <a:spcBef>
                <a:spcPts val="1200"/>
              </a:spcBef>
            </a:pPr>
            <a:r>
              <a:rPr sz="1600">
                <a:solidFill>
                  <a:srgbClr val="1E293B"/>
                </a:solidFill>
              </a:rPr>
              <a:t>☐ 能将PEEL结构补充到只有TS的段落</a:t>
            </a:r>
          </a:p>
          <a:p>
            <a:pPr>
              <a:spcBef>
                <a:spcPts val="1200"/>
              </a:spcBef>
            </a:pPr>
            <a:r>
              <a:rPr sz="1600">
                <a:solidFill>
                  <a:srgbClr val="1E293B"/>
                </a:solidFill>
              </a:rPr>
              <a:t>☐ 建立了自己的个人错误清单（至少列出3个高频错误）</a:t>
            </a:r>
          </a:p>
          <a:p>
            <a:pPr>
              <a:spcBef>
                <a:spcPts val="1200"/>
              </a:spcBef>
            </a:pPr>
            <a:r>
              <a:rPr sz="1600">
                <a:solidFill>
                  <a:srgbClr val="1E293B"/>
                </a:solidFill>
              </a:rPr>
              <a:t>☐ 知道写作后的7步自查法并能在5分钟内完成</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L09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十大错误类型：无立场/无Overview/论证浅/词汇重复/句式单一/冠词错/主谓不一/字数不足/无主题句/结论矛盾</a:t>
            </a:r>
          </a:p>
          <a:p>
            <a:pPr>
              <a:spcBef>
                <a:spcPts val="1100"/>
              </a:spcBef>
            </a:pPr>
            <a:r>
              <a:rPr sz="1550">
                <a:solidFill>
                  <a:srgbClr val="FFFFFF"/>
                </a:solidFill>
              </a:rPr>
              <a:t>✓  Task 1核心修正：必须有Overview（Overall开头，不写数字，覆盖主要趋势）</a:t>
            </a:r>
          </a:p>
          <a:p>
            <a:pPr>
              <a:spcBef>
                <a:spcPts val="1100"/>
              </a:spcBef>
            </a:pPr>
            <a:r>
              <a:rPr sz="1550">
                <a:solidFill>
                  <a:srgbClr val="FFFFFF"/>
                </a:solidFill>
              </a:rPr>
              <a:t>✓  Task 2核心修正：立场全文一致（引言→主体→结论），PEEL三层论证</a:t>
            </a:r>
          </a:p>
          <a:p>
            <a:pPr>
              <a:spcBef>
                <a:spcPts val="1100"/>
              </a:spcBef>
            </a:pPr>
            <a:r>
              <a:rPr sz="1550">
                <a:solidFill>
                  <a:srgbClr val="FFFFFF"/>
                </a:solidFill>
              </a:rPr>
              <a:t>✓  语言修正：消除翻译腔（"As is known to all/play a role"等套话删除或改写）</a:t>
            </a:r>
          </a:p>
          <a:p>
            <a:pPr>
              <a:spcBef>
                <a:spcPts val="1100"/>
              </a:spcBef>
            </a:pPr>
            <a:r>
              <a:rPr sz="1550">
                <a:solidFill>
                  <a:srgbClr val="FFFFFF"/>
                </a:solidFill>
              </a:rPr>
              <a:t>✓  修正习惯：写作后7步自查法，5分钟内完成四维检查</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L09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建议用时：约2.5小时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整理过去3篇作文的所有错误，建立"个人错误清单"（按四维度分类）</a:t>
            </a:r>
          </a:p>
          <a:p>
            <a:pPr>
              <a:spcBef>
                <a:spcPts val="1300"/>
              </a:spcBef>
            </a:pPr>
            <a:r>
              <a:rPr sz="1550" b="1">
                <a:solidFill>
                  <a:srgbClr val="1E293B"/>
                </a:solidFill>
              </a:rPr>
              <a:t>作业 2　针对清单中最高频的错误类型，专项练习（各写3-5个修正段落）</a:t>
            </a:r>
          </a:p>
          <a:p>
            <a:pPr>
              <a:spcBef>
                <a:spcPts val="1300"/>
              </a:spcBef>
            </a:pPr>
            <a:r>
              <a:rPr sz="1550" b="1">
                <a:solidFill>
                  <a:srgbClr val="1E293B"/>
                </a:solidFill>
              </a:rPr>
              <a:t>作业 3　用7步自查法检查一篇已写作文，列出所有发现的错误并改正</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L10 · 全真模考与冲刺提分</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完整IELTS写作模考（Task 1+Task 2计时训练）</a:t>
            </a:r>
          </a:p>
          <a:p>
            <a:pPr>
              <a:spcBef>
                <a:spcPts val="1000"/>
              </a:spcBef>
            </a:pPr>
            <a:r>
              <a:rPr sz="1600">
                <a:solidFill>
                  <a:srgbClr val="CFDCF2"/>
                </a:solidFill>
              </a:rPr>
              <a:t>→ 考场策略与时间分配</a:t>
            </a:r>
          </a:p>
          <a:p>
            <a:pPr>
              <a:spcBef>
                <a:spcPts val="1000"/>
              </a:spcBef>
            </a:pPr>
            <a:r>
              <a:rPr sz="1600">
                <a:solidFill>
                  <a:srgbClr val="CFDCF2"/>
                </a:solidFill>
              </a:rPr>
              <a:t>→ 临考前最后冲刺技巧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