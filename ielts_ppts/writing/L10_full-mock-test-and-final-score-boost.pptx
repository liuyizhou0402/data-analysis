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L10</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全真模考与冲刺提分</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Full Mock Test &amp; Final Sprint</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10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考场策略与时间分配</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Task 1全真模考练习</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Task 2全真模考练习</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模考答案精析与评分</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临考前最后冲刺技巧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考场策略与时间分配</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Exam Strategy &amp; Time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IELTS写作考试全局策略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写作考试共60分钟，Task 1（150词）+Task 2（250词），两个任务都必须完成。核心原则：Task 2占分权重更高（约2/3），必须优先保证Task 2的质量和完成度。建议时间：Task 1=20分钟（包含检查），Task 2=40分钟（包含检查）。</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严</a:t>
            </a:r>
          </a:p>
          <a:p>
            <a:pPr>
              <a:spcBef>
                <a:spcPts val="900"/>
              </a:spcBef>
            </a:pPr>
            <a:r>
              <a:rPr sz="1600">
                <a:solidFill>
                  <a:srgbClr val="1E293B"/>
                </a:solidFill>
              </a:rPr>
              <a:t>• 格</a:t>
            </a:r>
          </a:p>
          <a:p>
            <a:pPr>
              <a:spcBef>
                <a:spcPts val="900"/>
              </a:spcBef>
            </a:pPr>
            <a:r>
              <a:rPr sz="1600">
                <a:solidFill>
                  <a:srgbClr val="1E293B"/>
                </a:solidFill>
              </a:rPr>
              <a:t>• 守</a:t>
            </a:r>
          </a:p>
          <a:p>
            <a:pPr>
              <a:spcBef>
                <a:spcPts val="900"/>
              </a:spcBef>
            </a:pPr>
            <a:r>
              <a:rPr sz="1600">
                <a:solidFill>
                  <a:srgbClr val="1E293B"/>
                </a:solidFill>
              </a:rPr>
              <a:t>• 时</a:t>
            </a:r>
          </a:p>
          <a:p>
            <a:pPr>
              <a:spcBef>
                <a:spcPts val="900"/>
              </a:spcBef>
            </a:pPr>
            <a:r>
              <a:rPr sz="1600">
                <a:solidFill>
                  <a:srgbClr val="1E293B"/>
                </a:solidFill>
              </a:rPr>
              <a:t>• 是</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提</a:t>
            </a:r>
          </a:p>
          <a:p>
            <a:pPr>
              <a:spcBef>
                <a:spcPts val="900"/>
              </a:spcBef>
            </a:pPr>
            <a:r>
              <a:rPr sz="1600">
                <a:solidFill>
                  <a:srgbClr val="1E293B"/>
                </a:solidFill>
              </a:rPr>
              <a:t>• 分</a:t>
            </a:r>
          </a:p>
          <a:p>
            <a:pPr>
              <a:spcBef>
                <a:spcPts val="900"/>
              </a:spcBef>
            </a:pPr>
            <a:r>
              <a:rPr sz="1600">
                <a:solidFill>
                  <a:srgbClr val="1E293B"/>
                </a:solidFill>
              </a:rPr>
              <a:t>• 的</a:t>
            </a:r>
          </a:p>
          <a:p>
            <a:pPr>
              <a:spcBef>
                <a:spcPts val="900"/>
              </a:spcBef>
            </a:pPr>
            <a:r>
              <a:rPr sz="1600">
                <a:solidFill>
                  <a:srgbClr val="1E293B"/>
                </a:solidFill>
              </a:rPr>
              <a:t>• 隐</a:t>
            </a:r>
          </a:p>
          <a:p>
            <a:pPr>
              <a:spcBef>
                <a:spcPts val="900"/>
              </a:spcBef>
            </a:pPr>
            <a:r>
              <a:rPr sz="1600">
                <a:solidFill>
                  <a:srgbClr val="1E293B"/>
                </a:solidFill>
              </a:rPr>
              <a:t>• 形</a:t>
            </a:r>
          </a:p>
          <a:p>
            <a:pPr>
              <a:spcBef>
                <a:spcPts val="900"/>
              </a:spcBef>
            </a:pPr>
            <a:r>
              <a:rPr sz="1600">
                <a:solidFill>
                  <a:srgbClr val="1E293B"/>
                </a:solidFill>
              </a:rPr>
              <a:t>• 前</a:t>
            </a:r>
          </a:p>
          <a:p>
            <a:pPr>
              <a:spcBef>
                <a:spcPts val="900"/>
              </a:spcBef>
            </a:pPr>
            <a:r>
              <a:rPr sz="1600">
                <a:solidFill>
                  <a:srgbClr val="1E293B"/>
                </a:solidFill>
              </a:rPr>
              <a:t>• 提</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再</a:t>
            </a:r>
          </a:p>
          <a:p>
            <a:pPr>
              <a:spcBef>
                <a:spcPts val="900"/>
              </a:spcBef>
            </a:pPr>
            <a:r>
              <a:rPr sz="1600">
                <a:solidFill>
                  <a:srgbClr val="1E293B"/>
                </a:solidFill>
              </a:rPr>
              <a:t>• 好</a:t>
            </a:r>
          </a:p>
          <a:p>
            <a:pPr>
              <a:spcBef>
                <a:spcPts val="900"/>
              </a:spcBef>
            </a:pPr>
            <a:r>
              <a:rPr sz="1600">
                <a:solidFill>
                  <a:srgbClr val="1E293B"/>
                </a:solidFill>
              </a:rPr>
              <a:t>• 的</a:t>
            </a:r>
          </a:p>
          <a:p>
            <a:pPr>
              <a:spcBef>
                <a:spcPts val="900"/>
              </a:spcBef>
            </a:pPr>
            <a:r>
              <a:rPr sz="1600">
                <a:solidFill>
                  <a:srgbClr val="1E293B"/>
                </a:solidFill>
              </a:rPr>
              <a:t>• 语</a:t>
            </a:r>
          </a:p>
          <a:p>
            <a:pPr>
              <a:spcBef>
                <a:spcPts val="900"/>
              </a:spcBef>
            </a:pPr>
            <a:r>
              <a:rPr sz="1600">
                <a:solidFill>
                  <a:srgbClr val="1E293B"/>
                </a:solidFill>
              </a:rPr>
              <a:t>• 言</a:t>
            </a:r>
          </a:p>
          <a:p>
            <a:pPr>
              <a:spcBef>
                <a:spcPts val="900"/>
              </a:spcBef>
            </a:pPr>
            <a:r>
              <a:rPr sz="1600">
                <a:solidFill>
                  <a:srgbClr val="1E293B"/>
                </a:solidFill>
              </a:rPr>
              <a:t>• 能</a:t>
            </a:r>
          </a:p>
          <a:p>
            <a:pPr>
              <a:spcBef>
                <a:spcPts val="900"/>
              </a:spcBef>
            </a:pPr>
            <a:r>
              <a:rPr sz="1600">
                <a:solidFill>
                  <a:srgbClr val="1E293B"/>
                </a:solidFill>
              </a:rPr>
              <a:t>• 力</a:t>
            </a:r>
          </a:p>
          <a:p>
            <a:pPr>
              <a:spcBef>
                <a:spcPts val="900"/>
              </a:spcBef>
            </a:pPr>
            <a:r>
              <a:rPr sz="1600">
                <a:solidFill>
                  <a:srgbClr val="1E293B"/>
                </a:solidFill>
              </a:rPr>
              <a:t>• ，</a:t>
            </a:r>
          </a:p>
          <a:p>
            <a:pPr>
              <a:spcBef>
                <a:spcPts val="900"/>
              </a:spcBef>
            </a:pPr>
            <a:r>
              <a:rPr sz="1600">
                <a:solidFill>
                  <a:srgbClr val="1E293B"/>
                </a:solidFill>
              </a:rPr>
              <a:t>• 字</a:t>
            </a:r>
          </a:p>
          <a:p>
            <a:pPr>
              <a:spcBef>
                <a:spcPts val="900"/>
              </a:spcBef>
            </a:pPr>
            <a:r>
              <a:rPr sz="1600">
                <a:solidFill>
                  <a:srgbClr val="1E293B"/>
                </a:solidFill>
              </a:rPr>
              <a:t>• 数</a:t>
            </a:r>
          </a:p>
          <a:p>
            <a:pPr>
              <a:spcBef>
                <a:spcPts val="900"/>
              </a:spcBef>
            </a:pPr>
            <a:r>
              <a:rPr sz="1600">
                <a:solidFill>
                  <a:srgbClr val="1E293B"/>
                </a:solidFill>
              </a:rPr>
              <a:t>• 不</a:t>
            </a:r>
          </a:p>
          <a:p>
            <a:pPr>
              <a:spcBef>
                <a:spcPts val="900"/>
              </a:spcBef>
            </a:pPr>
            <a:r>
              <a:rPr sz="1600">
                <a:solidFill>
                  <a:srgbClr val="1E293B"/>
                </a:solidFill>
              </a:rPr>
              <a:t>• 足</a:t>
            </a:r>
          </a:p>
          <a:p>
            <a:pPr>
              <a:spcBef>
                <a:spcPts val="900"/>
              </a:spcBef>
            </a:pPr>
            <a:r>
              <a:rPr sz="1600">
                <a:solidFill>
                  <a:srgbClr val="1E293B"/>
                </a:solidFill>
              </a:rPr>
              <a:t>• 也</a:t>
            </a:r>
          </a:p>
          <a:p>
            <a:pPr>
              <a:spcBef>
                <a:spcPts val="900"/>
              </a:spcBef>
            </a:pPr>
            <a:r>
              <a:rPr sz="1600">
                <a:solidFill>
                  <a:srgbClr val="1E293B"/>
                </a:solidFill>
              </a:rPr>
              <a:t>• 会</a:t>
            </a:r>
          </a:p>
          <a:p>
            <a:pPr>
              <a:spcBef>
                <a:spcPts val="900"/>
              </a:spcBef>
            </a:pPr>
            <a:r>
              <a:rPr sz="1600">
                <a:solidFill>
                  <a:srgbClr val="1E293B"/>
                </a:solidFill>
              </a:rPr>
              <a:t>• 直</a:t>
            </a:r>
          </a:p>
          <a:p>
            <a:pPr>
              <a:spcBef>
                <a:spcPts val="900"/>
              </a:spcBef>
            </a:pPr>
            <a:r>
              <a:rPr sz="1600">
                <a:solidFill>
                  <a:srgbClr val="1E293B"/>
                </a:solidFill>
              </a:rPr>
              <a:t>• 接</a:t>
            </a:r>
          </a:p>
          <a:p>
            <a:pPr>
              <a:spcBef>
                <a:spcPts val="900"/>
              </a:spcBef>
            </a:pPr>
            <a:r>
              <a:rPr sz="1600">
                <a:solidFill>
                  <a:srgbClr val="1E293B"/>
                </a:solidFill>
              </a:rPr>
              <a:t>• 扣</a:t>
            </a:r>
          </a:p>
          <a:p>
            <a:pPr>
              <a:spcBef>
                <a:spcPts val="900"/>
              </a:spcBef>
            </a:pPr>
            <a:r>
              <a:rPr sz="1600">
                <a:solidFill>
                  <a:srgbClr val="1E293B"/>
                </a:solidFill>
              </a:rPr>
              <a:t>• 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20分钟完成Task 1的节奏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第1-2分钟：审题（图表类型？时间范围？单位？主要特征？）
第3分钟：构思Overview（最主要趋势是什么？最突出特征是什么？）
第4-7分钟：写引言段（paraphrase题目，1-2句）
第8-9分钟：写Overview段（Overall开头，2句，不写数字）
第10-16分钟：写2个数据段（各筛选2-3个关键数据+比较+趋势词）
第17-20分钟：检查（Overview存在？字数≥150？趋势词多样？）</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字</a:t>
            </a:r>
          </a:p>
          <a:p>
            <a:pPr>
              <a:spcBef>
                <a:spcPts val="900"/>
              </a:spcBef>
            </a:pPr>
            <a:r>
              <a:rPr sz="1600">
                <a:solidFill>
                  <a:srgbClr val="1E293B"/>
                </a:solidFill>
              </a:rPr>
              <a:t>• 数</a:t>
            </a:r>
          </a:p>
          <a:p>
            <a:pPr>
              <a:spcBef>
                <a:spcPts val="900"/>
              </a:spcBef>
            </a:pPr>
            <a:r>
              <a:rPr sz="1600">
                <a:solidFill>
                  <a:srgbClr val="1E293B"/>
                </a:solidFill>
              </a:rPr>
              <a:t>• 控</a:t>
            </a:r>
          </a:p>
          <a:p>
            <a:pPr>
              <a:spcBef>
                <a:spcPts val="900"/>
              </a:spcBef>
            </a:pPr>
            <a:r>
              <a:rPr sz="1600">
                <a:solidFill>
                  <a:srgbClr val="1E293B"/>
                </a:solidFill>
              </a:rPr>
              <a:t>• 制</a:t>
            </a:r>
          </a:p>
          <a:p>
            <a:pPr>
              <a:spcBef>
                <a:spcPts val="900"/>
              </a:spcBef>
            </a:pPr>
            <a:r>
              <a:rPr sz="1600">
                <a:solidFill>
                  <a:srgbClr val="1E293B"/>
                </a:solidFill>
              </a:rPr>
              <a:t>• ：</a:t>
            </a:r>
          </a:p>
          <a:p>
            <a:pPr>
              <a:spcBef>
                <a:spcPts val="900"/>
              </a:spcBef>
            </a:pPr>
            <a:r>
              <a:rPr sz="1600">
                <a:solidFill>
                  <a:srgbClr val="1E293B"/>
                </a:solidFill>
              </a:rPr>
              <a:t>• T</a:t>
            </a:r>
          </a:p>
          <a:p>
            <a:pPr>
              <a:spcBef>
                <a:spcPts val="900"/>
              </a:spcBef>
            </a:pPr>
            <a:r>
              <a:rPr sz="1600">
                <a:solidFill>
                  <a:srgbClr val="1E293B"/>
                </a:solidFill>
              </a:rPr>
              <a:t>• a</a:t>
            </a:r>
          </a:p>
          <a:p>
            <a:pPr>
              <a:spcBef>
                <a:spcPts val="900"/>
              </a:spcBef>
            </a:pPr>
            <a:r>
              <a:rPr sz="1600">
                <a:solidFill>
                  <a:srgbClr val="1E293B"/>
                </a:solidFill>
              </a:rPr>
              <a:t>• s</a:t>
            </a:r>
          </a:p>
          <a:p>
            <a:pPr>
              <a:spcBef>
                <a:spcPts val="900"/>
              </a:spcBef>
            </a:pPr>
            <a:r>
              <a:rPr sz="1600">
                <a:solidFill>
                  <a:srgbClr val="1E293B"/>
                </a:solidFill>
              </a:rPr>
              <a:t>• k</a:t>
            </a:r>
          </a:p>
          <a:p>
            <a:pPr>
              <a:spcBef>
                <a:spcPts val="900"/>
              </a:spcBef>
            </a:pPr>
            <a:r>
              <a:rPr sz="1600">
                <a:solidFill>
                  <a:srgbClr val="1E293B"/>
                </a:solidFill>
              </a:rPr>
              <a:t>•  </a:t>
            </a:r>
          </a:p>
          <a:p>
            <a:pPr>
              <a:spcBef>
                <a:spcPts val="900"/>
              </a:spcBef>
            </a:pPr>
            <a:r>
              <a:rPr sz="1600">
                <a:solidFill>
                  <a:srgbClr val="1E293B"/>
                </a:solidFill>
              </a:rPr>
              <a:t>• 1</a:t>
            </a:r>
          </a:p>
          <a:p>
            <a:pPr>
              <a:spcBef>
                <a:spcPts val="900"/>
              </a:spcBef>
            </a:pPr>
            <a:r>
              <a:rPr sz="1600">
                <a:solidFill>
                  <a:srgbClr val="1E293B"/>
                </a:solidFill>
              </a:rPr>
              <a:t>• 写</a:t>
            </a:r>
          </a:p>
          <a:p>
            <a:pPr>
              <a:spcBef>
                <a:spcPts val="900"/>
              </a:spcBef>
            </a:pPr>
            <a:r>
              <a:rPr sz="1600">
                <a:solidFill>
                  <a:srgbClr val="1E293B"/>
                </a:solidFill>
              </a:rPr>
              <a:t>• 到</a:t>
            </a:r>
          </a:p>
          <a:p>
            <a:pPr>
              <a:spcBef>
                <a:spcPts val="900"/>
              </a:spcBef>
            </a:pPr>
            <a:r>
              <a:rPr sz="1600">
                <a:solidFill>
                  <a:srgbClr val="1E293B"/>
                </a:solidFill>
              </a:rPr>
              <a:t>• 1</a:t>
            </a:r>
          </a:p>
          <a:p>
            <a:pPr>
              <a:spcBef>
                <a:spcPts val="900"/>
              </a:spcBef>
            </a:pPr>
            <a:r>
              <a:rPr sz="1600">
                <a:solidFill>
                  <a:srgbClr val="1E293B"/>
                </a:solidFill>
              </a:rPr>
              <a:t>• 6</a:t>
            </a:r>
          </a:p>
          <a:p>
            <a:pPr>
              <a:spcBef>
                <a:spcPts val="900"/>
              </a:spcBef>
            </a:pPr>
            <a:r>
              <a:rPr sz="1600">
                <a:solidFill>
                  <a:srgbClr val="1E293B"/>
                </a:solidFill>
              </a:rPr>
              <a:t>• 0</a:t>
            </a:r>
          </a:p>
          <a:p>
            <a:pPr>
              <a:spcBef>
                <a:spcPts val="900"/>
              </a:spcBef>
            </a:pPr>
            <a:r>
              <a:rPr sz="1600">
                <a:solidFill>
                  <a:srgbClr val="1E293B"/>
                </a:solidFill>
              </a:rPr>
              <a:t>• -</a:t>
            </a:r>
          </a:p>
          <a:p>
            <a:pPr>
              <a:spcBef>
                <a:spcPts val="900"/>
              </a:spcBef>
            </a:pPr>
            <a:r>
              <a:rPr sz="1600">
                <a:solidFill>
                  <a:srgbClr val="1E293B"/>
                </a:solidFill>
              </a:rPr>
              <a:t>• 1</a:t>
            </a:r>
          </a:p>
          <a:p>
            <a:pPr>
              <a:spcBef>
                <a:spcPts val="900"/>
              </a:spcBef>
            </a:pPr>
            <a:r>
              <a:rPr sz="1600">
                <a:solidFill>
                  <a:srgbClr val="1E293B"/>
                </a:solidFill>
              </a:rPr>
              <a:t>• 7</a:t>
            </a:r>
          </a:p>
          <a:p>
            <a:pPr>
              <a:spcBef>
                <a:spcPts val="900"/>
              </a:spcBef>
            </a:pPr>
            <a:r>
              <a:rPr sz="1600">
                <a:solidFill>
                  <a:srgbClr val="1E293B"/>
                </a:solidFill>
              </a:rPr>
              <a:t>• 0</a:t>
            </a:r>
          </a:p>
          <a:p>
            <a:pPr>
              <a:spcBef>
                <a:spcPts val="900"/>
              </a:spcBef>
            </a:pPr>
            <a:r>
              <a:rPr sz="1600">
                <a:solidFill>
                  <a:srgbClr val="1E293B"/>
                </a:solidFill>
              </a:rPr>
              <a:t>• 词</a:t>
            </a:r>
          </a:p>
          <a:p>
            <a:pPr>
              <a:spcBef>
                <a:spcPts val="900"/>
              </a:spcBef>
            </a:pPr>
            <a:r>
              <a:rPr sz="1600">
                <a:solidFill>
                  <a:srgbClr val="1E293B"/>
                </a:solidFill>
              </a:rPr>
              <a:t>• 即</a:t>
            </a:r>
          </a:p>
          <a:p>
            <a:pPr>
              <a:spcBef>
                <a:spcPts val="900"/>
              </a:spcBef>
            </a:pPr>
            <a:r>
              <a:rPr sz="1600">
                <a:solidFill>
                  <a:srgbClr val="1E293B"/>
                </a:solidFill>
              </a:rPr>
              <a:t>• 可</a:t>
            </a:r>
          </a:p>
          <a:p>
            <a:pPr>
              <a:spcBef>
                <a:spcPts val="900"/>
              </a:spcBef>
            </a:pPr>
            <a:r>
              <a:rPr sz="1600">
                <a:solidFill>
                  <a:srgbClr val="1E293B"/>
                </a:solidFill>
              </a:rPr>
              <a:t>• ，</a:t>
            </a:r>
          </a:p>
          <a:p>
            <a:pPr>
              <a:spcBef>
                <a:spcPts val="900"/>
              </a:spcBef>
            </a:pPr>
            <a:r>
              <a:rPr sz="1600">
                <a:solidFill>
                  <a:srgbClr val="1E293B"/>
                </a:solidFill>
              </a:rPr>
              <a:t>• 不</a:t>
            </a:r>
          </a:p>
          <a:p>
            <a:pPr>
              <a:spcBef>
                <a:spcPts val="900"/>
              </a:spcBef>
            </a:pPr>
            <a:r>
              <a:rPr sz="1600">
                <a:solidFill>
                  <a:srgbClr val="1E293B"/>
                </a:solidFill>
              </a:rPr>
              <a:t>• 需</a:t>
            </a:r>
          </a:p>
          <a:p>
            <a:pPr>
              <a:spcBef>
                <a:spcPts val="900"/>
              </a:spcBef>
            </a:pPr>
            <a:r>
              <a:rPr sz="1600">
                <a:solidFill>
                  <a:srgbClr val="1E293B"/>
                </a:solidFill>
              </a:rPr>
              <a:t>• 要</a:t>
            </a:r>
          </a:p>
          <a:p>
            <a:pPr>
              <a:spcBef>
                <a:spcPts val="900"/>
              </a:spcBef>
            </a:pPr>
            <a:r>
              <a:rPr sz="1600">
                <a:solidFill>
                  <a:srgbClr val="1E293B"/>
                </a:solidFill>
              </a:rPr>
              <a:t>• 超</a:t>
            </a:r>
          </a:p>
          <a:p>
            <a:pPr>
              <a:spcBef>
                <a:spcPts val="900"/>
              </a:spcBef>
            </a:pPr>
            <a:r>
              <a:rPr sz="1600">
                <a:solidFill>
                  <a:srgbClr val="1E293B"/>
                </a:solidFill>
              </a:rPr>
              <a:t>• 过</a:t>
            </a:r>
          </a:p>
          <a:p>
            <a:pPr>
              <a:spcBef>
                <a:spcPts val="900"/>
              </a:spcBef>
            </a:pPr>
            <a:r>
              <a:rPr sz="1600">
                <a:solidFill>
                  <a:srgbClr val="1E293B"/>
                </a:solidFill>
              </a:rPr>
              <a:t>• 2</a:t>
            </a:r>
          </a:p>
          <a:p>
            <a:pPr>
              <a:spcBef>
                <a:spcPts val="900"/>
              </a:spcBef>
            </a:pPr>
            <a:r>
              <a:rPr sz="1600">
                <a:solidFill>
                  <a:srgbClr val="1E293B"/>
                </a:solidFill>
              </a:rPr>
              <a:t>• 0</a:t>
            </a:r>
          </a:p>
          <a:p>
            <a:pPr>
              <a:spcBef>
                <a:spcPts val="900"/>
              </a:spcBef>
            </a:pPr>
            <a:r>
              <a:rPr sz="1600">
                <a:solidFill>
                  <a:srgbClr val="1E293B"/>
                </a:solidFill>
              </a:rPr>
              <a:t>• 0</a:t>
            </a:r>
          </a:p>
          <a:p>
            <a:pPr>
              <a:spcBef>
                <a:spcPts val="900"/>
              </a:spcBef>
            </a:pPr>
            <a:r>
              <a:rPr sz="1600">
                <a:solidFill>
                  <a:srgbClr val="1E293B"/>
                </a:solidFill>
              </a:rPr>
              <a:t>• 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40分钟完成Task 2的节奏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第1-3分钟：审题（题型？立场要求？多少个问题？）</a:t>
            </a:r>
          </a:p>
          <a:p>
            <a:pPr>
              <a:spcBef>
                <a:spcPts val="1000"/>
              </a:spcBef>
            </a:pPr>
            <a:r>
              <a:rPr sz="1650">
                <a:solidFill>
                  <a:srgbClr val="1E293B"/>
                </a:solidFill>
              </a:rPr>
              <a:t>• 第4-6分钟：列提纲（引言立场+每段主题句+例子关键词）</a:t>
            </a:r>
          </a:p>
          <a:p>
            <a:pPr>
              <a:spcBef>
                <a:spcPts val="1000"/>
              </a:spcBef>
            </a:pPr>
            <a:r>
              <a:rPr sz="1650">
                <a:solidFill>
                  <a:srgbClr val="1E293B"/>
                </a:solidFill>
              </a:rPr>
              <a:t>• 第7-13分钟：写引言段（背景+paraphrase+明确立场）</a:t>
            </a:r>
          </a:p>
          <a:p>
            <a:pPr>
              <a:spcBef>
                <a:spcPts val="1000"/>
              </a:spcBef>
            </a:pPr>
            <a:r>
              <a:rPr sz="1650">
                <a:solidFill>
                  <a:srgbClr val="1E293B"/>
                </a:solidFill>
              </a:rPr>
              <a:t>• 第14-24分钟：写主体段1（PEEL，约100-120词）</a:t>
            </a:r>
          </a:p>
          <a:p>
            <a:pPr>
              <a:spcBef>
                <a:spcPts val="1000"/>
              </a:spcBef>
            </a:pPr>
            <a:r>
              <a:rPr sz="1650">
                <a:solidFill>
                  <a:srgbClr val="1E293B"/>
                </a:solidFill>
              </a:rPr>
              <a:t>• 第25-35分钟：写主体段2（或主体段2+让步段，约100-120词）</a:t>
            </a:r>
          </a:p>
          <a:p>
            <a:pPr>
              <a:spcBef>
                <a:spcPts val="1000"/>
              </a:spcBef>
            </a:pPr>
            <a:r>
              <a:rPr sz="1650">
                <a:solidFill>
                  <a:srgbClr val="1E293B"/>
                </a:solidFill>
              </a:rPr>
              <a:t>• 第36-38分钟：写结论段（重申立场+总结要点，约50词）</a:t>
            </a:r>
          </a:p>
          <a:p>
            <a:pPr>
              <a:spcBef>
                <a:spcPts val="1000"/>
              </a:spcBef>
            </a:pPr>
            <a:r>
              <a:rPr sz="1650">
                <a:solidFill>
                  <a:srgbClr val="1E293B"/>
                </a:solidFill>
              </a:rPr>
              <a:t>• 第39-40分钟：检查（立场一致？词汇重复？主谓一致？）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考场急救：常见紧急情况处理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情况1·Task 1超时（超过20分钟）：立刻停止，先完成Task 2，再回来补Task 1</a:t>
            </a:r>
          </a:p>
          <a:p>
            <a:pPr>
              <a:spcBef>
                <a:spcPts val="1000"/>
              </a:spcBef>
            </a:pPr>
            <a:r>
              <a:rPr sz="1650">
                <a:solidFill>
                  <a:srgbClr val="1E293B"/>
                </a:solidFill>
              </a:rPr>
              <a:t>• 情况2·Task 2想不出内容：用最熟悉的论点（环境/教育/科技通用论点），不要空白</a:t>
            </a:r>
          </a:p>
          <a:p>
            <a:pPr>
              <a:spcBef>
                <a:spcPts val="1000"/>
              </a:spcBef>
            </a:pPr>
            <a:r>
              <a:rPr sz="1650">
                <a:solidFill>
                  <a:srgbClr val="1E293B"/>
                </a:solidFill>
              </a:rPr>
              <a:t>• 情况3·字数不足：Task 1&lt;150词扣分，Task 2&lt;250词扣分——增加修饰词或展开例子</a:t>
            </a:r>
          </a:p>
          <a:p>
            <a:pPr>
              <a:spcBef>
                <a:spcPts val="1000"/>
              </a:spcBef>
            </a:pPr>
            <a:r>
              <a:rPr sz="1650">
                <a:solidFill>
                  <a:srgbClr val="1E293B"/>
                </a:solidFill>
              </a:rPr>
              <a:t>• 情况4·写错题型（如把讨论文写成Opinion文）：保持冷静，在结论段加入立场句</a:t>
            </a:r>
          </a:p>
          <a:p>
            <a:pPr>
              <a:spcBef>
                <a:spcPts val="1000"/>
              </a:spcBef>
            </a:pPr>
            <a:r>
              <a:rPr sz="1650">
                <a:solidFill>
                  <a:srgbClr val="1E293B"/>
                </a:solidFill>
              </a:rPr>
              <a:t>• 情况5·发现有立场矛盾：在结论段强调原立场，弱化矛盾段落的表述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时间分配实战模拟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给你一个场景：Task 1图表（折线图，4条线，1990-2020）。你已用了23分钟（超时3分钟）。
目前完成情况：引言（写完）+Overview（写完）+数据段1（写了3行）+数据段2（未开始）
问题：接下来你应该如何处理？（请给出具体的时间分配建议）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建议处理方案：
① 立刻停止Task 1，切换到Task 2（不要再花时间在Task 1）
② Task 2正常完成（40-3=37分钟完成）
③ 考试最后3分钟回来：快速写Task 1数据段2（用简单句也可，先保字数）
④ 如果回来没时间：Task 1有Overview+引言+部分数据=约Band 5-6，比不完成好
原因：Task 2占分权重更高，且Task 1已有引言和Overview，基本分已保住。</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Task 2是分数重心——宁可Task 1不完美，也不能Task 2缺失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快速提纲练习：90秒内完成Task 2提纲</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题目："Some people argue that governments should invest more money in public transportation rather than road infrastructure. To what extent do you agree or disagree?"
任务：在90秒内完成提纲（立场+主体段1主题句+主体段2主题句+例子关键词）。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参考提纲：
立场：Agree — 公共交通投资更值得
主体段1 TS：公共交通减少城市拥堵和碳排放（why：集体运输效率→证据：Tokyo/Singapore模式）
主体段2 TS：道路扩建诱发更多私家车使用（induced demand理论→证据：美国公路扩建经验）
结论：重申同意，公共交通是更可持续的城市发展路径
提纲完成时间目标：3分钟（不是90秒——真实考场需要3-5分钟）</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提纲的核心：每段写一个关键词组（不需要完整句子）+一个证据关键词，30词以内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1全真模考练习</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Task 1 Full Mock Test Practice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1模考：折线图题目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图表类型：折线图
题目描述：The graph below shows the percentage of households with access to the internet in four countries (Japan, South Korea, Germany, and Brazil) between 2000 and 2020.
主要数据：
日本：2000=34%→2010=75%→2020=91%
韩国：2000=45%→2010=83%→2020=95%（全程最高）
德国：2000=30%→2010=69%→2020=88%
巴西：2000=5%→2010=27%→2020=74%（增幅最大）</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审</a:t>
            </a:r>
          </a:p>
          <a:p>
            <a:pPr>
              <a:spcBef>
                <a:spcPts val="900"/>
              </a:spcBef>
            </a:pPr>
            <a:r>
              <a:rPr sz="1600">
                <a:solidFill>
                  <a:srgbClr val="1E293B"/>
                </a:solidFill>
              </a:rPr>
              <a:t>• 题</a:t>
            </a:r>
          </a:p>
          <a:p>
            <a:pPr>
              <a:spcBef>
                <a:spcPts val="900"/>
              </a:spcBef>
            </a:pPr>
            <a:r>
              <a:rPr sz="1600">
                <a:solidFill>
                  <a:srgbClr val="1E293B"/>
                </a:solidFill>
              </a:rPr>
              <a:t>• 要</a:t>
            </a:r>
          </a:p>
          <a:p>
            <a:pPr>
              <a:spcBef>
                <a:spcPts val="900"/>
              </a:spcBef>
            </a:pPr>
            <a:r>
              <a:rPr sz="1600">
                <a:solidFill>
                  <a:srgbClr val="1E293B"/>
                </a:solidFill>
              </a:rPr>
              <a:t>• 点</a:t>
            </a:r>
          </a:p>
          <a:p>
            <a:pPr>
              <a:spcBef>
                <a:spcPts val="900"/>
              </a:spcBef>
            </a:pPr>
            <a:r>
              <a:rPr sz="1600">
                <a:solidFill>
                  <a:srgbClr val="1E293B"/>
                </a:solidFill>
              </a:rPr>
              <a:t>• ：</a:t>
            </a:r>
          </a:p>
          <a:p>
            <a:pPr>
              <a:spcBef>
                <a:spcPts val="900"/>
              </a:spcBef>
            </a:pPr>
            <a:r>
              <a:rPr sz="1600">
                <a:solidFill>
                  <a:srgbClr val="1E293B"/>
                </a:solidFill>
              </a:rPr>
              <a:t>• 4</a:t>
            </a:r>
          </a:p>
          <a:p>
            <a:pPr>
              <a:spcBef>
                <a:spcPts val="900"/>
              </a:spcBef>
            </a:pPr>
            <a:r>
              <a:rPr sz="1600">
                <a:solidFill>
                  <a:srgbClr val="1E293B"/>
                </a:solidFill>
              </a:rPr>
              <a:t>• 个</a:t>
            </a:r>
          </a:p>
          <a:p>
            <a:pPr>
              <a:spcBef>
                <a:spcPts val="900"/>
              </a:spcBef>
            </a:pPr>
            <a:r>
              <a:rPr sz="1600">
                <a:solidFill>
                  <a:srgbClr val="1E293B"/>
                </a:solidFill>
              </a:rPr>
              <a:t>• 国</a:t>
            </a:r>
          </a:p>
          <a:p>
            <a:pPr>
              <a:spcBef>
                <a:spcPts val="900"/>
              </a:spcBef>
            </a:pPr>
            <a:r>
              <a:rPr sz="1600">
                <a:solidFill>
                  <a:srgbClr val="1E293B"/>
                </a:solidFill>
              </a:rPr>
              <a:t>• 家</a:t>
            </a:r>
          </a:p>
          <a:p>
            <a:pPr>
              <a:spcBef>
                <a:spcPts val="900"/>
              </a:spcBef>
            </a:pPr>
            <a:r>
              <a:rPr sz="1600">
                <a:solidFill>
                  <a:srgbClr val="1E293B"/>
                </a:solidFill>
              </a:rPr>
              <a:t>• ×</a:t>
            </a:r>
          </a:p>
          <a:p>
            <a:pPr>
              <a:spcBef>
                <a:spcPts val="900"/>
              </a:spcBef>
            </a:pPr>
            <a:r>
              <a:rPr sz="1600">
                <a:solidFill>
                  <a:srgbClr val="1E293B"/>
                </a:solidFill>
              </a:rPr>
              <a:t>• 3</a:t>
            </a:r>
          </a:p>
          <a:p>
            <a:pPr>
              <a:spcBef>
                <a:spcPts val="900"/>
              </a:spcBef>
            </a:pPr>
            <a:r>
              <a:rPr sz="1600">
                <a:solidFill>
                  <a:srgbClr val="1E293B"/>
                </a:solidFill>
              </a:rPr>
              <a:t>• 个</a:t>
            </a:r>
          </a:p>
          <a:p>
            <a:pPr>
              <a:spcBef>
                <a:spcPts val="900"/>
              </a:spcBef>
            </a:pPr>
            <a:r>
              <a:rPr sz="1600">
                <a:solidFill>
                  <a:srgbClr val="1E293B"/>
                </a:solidFill>
              </a:rPr>
              <a:t>• 时</a:t>
            </a:r>
          </a:p>
          <a:p>
            <a:pPr>
              <a:spcBef>
                <a:spcPts val="900"/>
              </a:spcBef>
            </a:pPr>
            <a:r>
              <a:rPr sz="1600">
                <a:solidFill>
                  <a:srgbClr val="1E293B"/>
                </a:solidFill>
              </a:rPr>
              <a:t>• 间</a:t>
            </a:r>
          </a:p>
          <a:p>
            <a:pPr>
              <a:spcBef>
                <a:spcPts val="900"/>
              </a:spcBef>
            </a:pPr>
            <a:r>
              <a:rPr sz="1600">
                <a:solidFill>
                  <a:srgbClr val="1E293B"/>
                </a:solidFill>
              </a:rPr>
              <a:t>• 点</a:t>
            </a:r>
          </a:p>
          <a:p>
            <a:pPr>
              <a:spcBef>
                <a:spcPts val="900"/>
              </a:spcBef>
            </a:pPr>
            <a:r>
              <a:rPr sz="1600">
                <a:solidFill>
                  <a:srgbClr val="1E293B"/>
                </a:solidFill>
              </a:rPr>
              <a:t>• 。</a:t>
            </a:r>
          </a:p>
          <a:p>
            <a:pPr>
              <a:spcBef>
                <a:spcPts val="900"/>
              </a:spcBef>
            </a:pPr>
            <a:r>
              <a:rPr sz="1600">
                <a:solidFill>
                  <a:srgbClr val="1E293B"/>
                </a:solidFill>
              </a:rPr>
              <a:t>• 筛</a:t>
            </a:r>
          </a:p>
          <a:p>
            <a:pPr>
              <a:spcBef>
                <a:spcPts val="900"/>
              </a:spcBef>
            </a:pPr>
            <a:r>
              <a:rPr sz="1600">
                <a:solidFill>
                  <a:srgbClr val="1E293B"/>
                </a:solidFill>
              </a:rPr>
              <a:t>• 选</a:t>
            </a:r>
          </a:p>
          <a:p>
            <a:pPr>
              <a:spcBef>
                <a:spcPts val="900"/>
              </a:spcBef>
            </a:pPr>
            <a:r>
              <a:rPr sz="1600">
                <a:solidFill>
                  <a:srgbClr val="1E293B"/>
                </a:solidFill>
              </a:rPr>
              <a:t>• ：</a:t>
            </a:r>
          </a:p>
          <a:p>
            <a:pPr>
              <a:spcBef>
                <a:spcPts val="900"/>
              </a:spcBef>
            </a:pPr>
            <a:r>
              <a:rPr sz="1600">
                <a:solidFill>
                  <a:srgbClr val="1E293B"/>
                </a:solidFill>
              </a:rPr>
              <a:t>• 谁</a:t>
            </a:r>
          </a:p>
          <a:p>
            <a:pPr>
              <a:spcBef>
                <a:spcPts val="900"/>
              </a:spcBef>
            </a:pPr>
            <a:r>
              <a:rPr sz="1600">
                <a:solidFill>
                  <a:srgbClr val="1E293B"/>
                </a:solidFill>
              </a:rPr>
              <a:t>• 最</a:t>
            </a:r>
          </a:p>
          <a:p>
            <a:pPr>
              <a:spcBef>
                <a:spcPts val="900"/>
              </a:spcBef>
            </a:pPr>
            <a:r>
              <a:rPr sz="1600">
                <a:solidFill>
                  <a:srgbClr val="1E293B"/>
                </a:solidFill>
              </a:rPr>
              <a:t>• 高</a:t>
            </a:r>
          </a:p>
          <a:p>
            <a:pPr>
              <a:spcBef>
                <a:spcPts val="900"/>
              </a:spcBef>
            </a:pPr>
            <a:r>
              <a:rPr sz="1600">
                <a:solidFill>
                  <a:srgbClr val="1E293B"/>
                </a:solidFill>
              </a:rPr>
              <a:t>• ？</a:t>
            </a:r>
          </a:p>
          <a:p>
            <a:pPr>
              <a:spcBef>
                <a:spcPts val="900"/>
              </a:spcBef>
            </a:pPr>
            <a:r>
              <a:rPr sz="1600">
                <a:solidFill>
                  <a:srgbClr val="1E293B"/>
                </a:solidFill>
              </a:rPr>
              <a:t>• 谁</a:t>
            </a:r>
          </a:p>
          <a:p>
            <a:pPr>
              <a:spcBef>
                <a:spcPts val="900"/>
              </a:spcBef>
            </a:pPr>
            <a:r>
              <a:rPr sz="1600">
                <a:solidFill>
                  <a:srgbClr val="1E293B"/>
                </a:solidFill>
              </a:rPr>
              <a:t>• 增</a:t>
            </a:r>
          </a:p>
          <a:p>
            <a:pPr>
              <a:spcBef>
                <a:spcPts val="900"/>
              </a:spcBef>
            </a:pPr>
            <a:r>
              <a:rPr sz="1600">
                <a:solidFill>
                  <a:srgbClr val="1E293B"/>
                </a:solidFill>
              </a:rPr>
              <a:t>• 幅</a:t>
            </a:r>
          </a:p>
          <a:p>
            <a:pPr>
              <a:spcBef>
                <a:spcPts val="900"/>
              </a:spcBef>
            </a:pPr>
            <a:r>
              <a:rPr sz="1600">
                <a:solidFill>
                  <a:srgbClr val="1E293B"/>
                </a:solidFill>
              </a:rPr>
              <a:t>• 最</a:t>
            </a:r>
          </a:p>
          <a:p>
            <a:pPr>
              <a:spcBef>
                <a:spcPts val="900"/>
              </a:spcBef>
            </a:pPr>
            <a:r>
              <a:rPr sz="1600">
                <a:solidFill>
                  <a:srgbClr val="1E293B"/>
                </a:solidFill>
              </a:rPr>
              <a:t>• 大</a:t>
            </a:r>
          </a:p>
          <a:p>
            <a:pPr>
              <a:spcBef>
                <a:spcPts val="900"/>
              </a:spcBef>
            </a:pPr>
            <a:r>
              <a:rPr sz="1600">
                <a:solidFill>
                  <a:srgbClr val="1E293B"/>
                </a:solidFill>
              </a:rPr>
              <a:t>• ？</a:t>
            </a:r>
          </a:p>
          <a:p>
            <a:pPr>
              <a:spcBef>
                <a:spcPts val="900"/>
              </a:spcBef>
            </a:pPr>
            <a:r>
              <a:rPr sz="1600">
                <a:solidFill>
                  <a:srgbClr val="1E293B"/>
                </a:solidFill>
              </a:rPr>
              <a:t>• 整</a:t>
            </a:r>
          </a:p>
          <a:p>
            <a:pPr>
              <a:spcBef>
                <a:spcPts val="900"/>
              </a:spcBef>
            </a:pPr>
            <a:r>
              <a:rPr sz="1600">
                <a:solidFill>
                  <a:srgbClr val="1E293B"/>
                </a:solidFill>
              </a:rPr>
              <a:t>• 体</a:t>
            </a:r>
          </a:p>
          <a:p>
            <a:pPr>
              <a:spcBef>
                <a:spcPts val="900"/>
              </a:spcBef>
            </a:pPr>
            <a:r>
              <a:rPr sz="1600">
                <a:solidFill>
                  <a:srgbClr val="1E293B"/>
                </a:solidFill>
              </a:rPr>
              <a:t>• 趋</a:t>
            </a:r>
          </a:p>
          <a:p>
            <a:pPr>
              <a:spcBef>
                <a:spcPts val="900"/>
              </a:spcBef>
            </a:pPr>
            <a:r>
              <a:rPr sz="1600">
                <a:solidFill>
                  <a:srgbClr val="1E293B"/>
                </a:solidFill>
              </a:rPr>
              <a:t>• 势</a:t>
            </a:r>
          </a:p>
          <a:p>
            <a:pPr>
              <a:spcBef>
                <a:spcPts val="900"/>
              </a:spcBef>
            </a:pPr>
            <a:r>
              <a:rPr sz="1600">
                <a:solidFill>
                  <a:srgbClr val="1E293B"/>
                </a:solidFill>
              </a:rP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1评分标准：4个维度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Task Achievement（任务完成）：是否覆盖图表的主要特征？是否有Overview？字数≥150？
Coherence &amp; Cohesion（连贯衔接）：信息组织是否清晰？段落是否分组合理？
Lexical Resource（词汇）：是否使用了多样的趋势词和比较结构？
Grammatical Range &amp; Accuracy（语法）：是否准确使用了比较级/数字表达/趋势词？</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每</a:t>
            </a:r>
          </a:p>
          <a:p>
            <a:pPr>
              <a:spcBef>
                <a:spcPts val="900"/>
              </a:spcBef>
            </a:pPr>
            <a:r>
              <a:rPr sz="1600">
                <a:solidFill>
                  <a:srgbClr val="1E293B"/>
                </a:solidFill>
              </a:rPr>
              <a:t>• 个</a:t>
            </a:r>
          </a:p>
          <a:p>
            <a:pPr>
              <a:spcBef>
                <a:spcPts val="900"/>
              </a:spcBef>
            </a:pPr>
            <a:r>
              <a:rPr sz="1600">
                <a:solidFill>
                  <a:srgbClr val="1E293B"/>
                </a:solidFill>
              </a:rPr>
              <a:t>• 维</a:t>
            </a:r>
          </a:p>
          <a:p>
            <a:pPr>
              <a:spcBef>
                <a:spcPts val="900"/>
              </a:spcBef>
            </a:pPr>
            <a:r>
              <a:rPr sz="1600">
                <a:solidFill>
                  <a:srgbClr val="1E293B"/>
                </a:solidFill>
              </a:rPr>
              <a:t>• 度</a:t>
            </a:r>
          </a:p>
          <a:p>
            <a:pPr>
              <a:spcBef>
                <a:spcPts val="900"/>
              </a:spcBef>
            </a:pPr>
            <a:r>
              <a:rPr sz="1600">
                <a:solidFill>
                  <a:srgbClr val="1E293B"/>
                </a:solidFill>
              </a:rPr>
              <a:t>• 均</a:t>
            </a:r>
          </a:p>
          <a:p>
            <a:pPr>
              <a:spcBef>
                <a:spcPts val="900"/>
              </a:spcBef>
            </a:pPr>
            <a:r>
              <a:rPr sz="1600">
                <a:solidFill>
                  <a:srgbClr val="1E293B"/>
                </a:solidFill>
              </a:rPr>
              <a:t>• 等</a:t>
            </a:r>
          </a:p>
          <a:p>
            <a:pPr>
              <a:spcBef>
                <a:spcPts val="900"/>
              </a:spcBef>
            </a:pPr>
            <a:r>
              <a:rPr sz="1600">
                <a:solidFill>
                  <a:srgbClr val="1E293B"/>
                </a:solidFill>
              </a:rPr>
              <a:t>• 权</a:t>
            </a:r>
          </a:p>
          <a:p>
            <a:pPr>
              <a:spcBef>
                <a:spcPts val="900"/>
              </a:spcBef>
            </a:pPr>
            <a:r>
              <a:rPr sz="1600">
                <a:solidFill>
                  <a:srgbClr val="1E293B"/>
                </a:solidFill>
              </a:rPr>
              <a:t>• 重</a:t>
            </a:r>
          </a:p>
          <a:p>
            <a:pPr>
              <a:spcBef>
                <a:spcPts val="900"/>
              </a:spcBef>
            </a:pPr>
            <a:r>
              <a:rPr sz="1600">
                <a:solidFill>
                  <a:srgbClr val="1E293B"/>
                </a:solidFill>
              </a:rPr>
              <a:t>• ，</a:t>
            </a:r>
          </a:p>
          <a:p>
            <a:pPr>
              <a:spcBef>
                <a:spcPts val="900"/>
              </a:spcBef>
            </a:pPr>
            <a:r>
              <a:rPr sz="1600">
                <a:solidFill>
                  <a:srgbClr val="1E293B"/>
                </a:solidFill>
              </a:rPr>
              <a:t>• T</a:t>
            </a:r>
          </a:p>
          <a:p>
            <a:pPr>
              <a:spcBef>
                <a:spcPts val="900"/>
              </a:spcBef>
            </a:pPr>
            <a:r>
              <a:rPr sz="1600">
                <a:solidFill>
                  <a:srgbClr val="1E293B"/>
                </a:solidFill>
              </a:rPr>
              <a:t>• a</a:t>
            </a:r>
          </a:p>
          <a:p>
            <a:pPr>
              <a:spcBef>
                <a:spcPts val="900"/>
              </a:spcBef>
            </a:pPr>
            <a:r>
              <a:rPr sz="1600">
                <a:solidFill>
                  <a:srgbClr val="1E293B"/>
                </a:solidFill>
              </a:rPr>
              <a:t>• s</a:t>
            </a:r>
          </a:p>
          <a:p>
            <a:pPr>
              <a:spcBef>
                <a:spcPts val="900"/>
              </a:spcBef>
            </a:pPr>
            <a:r>
              <a:rPr sz="1600">
                <a:solidFill>
                  <a:srgbClr val="1E293B"/>
                </a:solidFill>
              </a:rPr>
              <a:t>• k</a:t>
            </a:r>
          </a:p>
          <a:p>
            <a:pPr>
              <a:spcBef>
                <a:spcPts val="900"/>
              </a:spcBef>
            </a:pPr>
            <a:r>
              <a:rPr sz="1600">
                <a:solidFill>
                  <a:srgbClr val="1E293B"/>
                </a:solidFill>
              </a:rPr>
              <a:t>•  </a:t>
            </a:r>
          </a:p>
          <a:p>
            <a:pPr>
              <a:spcBef>
                <a:spcPts val="900"/>
              </a:spcBef>
            </a:pPr>
            <a:r>
              <a:rPr sz="1600">
                <a:solidFill>
                  <a:srgbClr val="1E293B"/>
                </a:solidFill>
              </a:rPr>
              <a:t>• 1</a:t>
            </a:r>
          </a:p>
          <a:p>
            <a:pPr>
              <a:spcBef>
                <a:spcPts val="900"/>
              </a:spcBef>
            </a:pPr>
            <a:r>
              <a:rPr sz="1600">
                <a:solidFill>
                  <a:srgbClr val="1E293B"/>
                </a:solidFill>
              </a:rPr>
              <a:t>• 最</a:t>
            </a:r>
          </a:p>
          <a:p>
            <a:pPr>
              <a:spcBef>
                <a:spcPts val="900"/>
              </a:spcBef>
            </a:pPr>
            <a:r>
              <a:rPr sz="1600">
                <a:solidFill>
                  <a:srgbClr val="1E293B"/>
                </a:solidFill>
              </a:rPr>
              <a:t>• 终</a:t>
            </a:r>
          </a:p>
          <a:p>
            <a:pPr>
              <a:spcBef>
                <a:spcPts val="900"/>
              </a:spcBef>
            </a:pPr>
            <a:r>
              <a:rPr sz="1600">
                <a:solidFill>
                  <a:srgbClr val="1E293B"/>
                </a:solidFill>
              </a:rPr>
              <a:t>• 分</a:t>
            </a:r>
          </a:p>
          <a:p>
            <a:pPr>
              <a:spcBef>
                <a:spcPts val="900"/>
              </a:spcBef>
            </a:pPr>
            <a:r>
              <a:rPr sz="1600">
                <a:solidFill>
                  <a:srgbClr val="1E293B"/>
                </a:solidFill>
              </a:rPr>
              <a:t>• 数</a:t>
            </a:r>
          </a:p>
          <a:p>
            <a:pPr>
              <a:spcBef>
                <a:spcPts val="900"/>
              </a:spcBef>
            </a:pPr>
            <a:r>
              <a:rPr sz="1600">
                <a:solidFill>
                  <a:srgbClr val="1E293B"/>
                </a:solidFill>
              </a:rPr>
              <a:t>• =</a:t>
            </a:r>
          </a:p>
          <a:p>
            <a:pPr>
              <a:spcBef>
                <a:spcPts val="900"/>
              </a:spcBef>
            </a:pPr>
            <a:r>
              <a:rPr sz="1600">
                <a:solidFill>
                  <a:srgbClr val="1E293B"/>
                </a:solidFill>
              </a:rPr>
              <a:t>• 4</a:t>
            </a:r>
          </a:p>
          <a:p>
            <a:pPr>
              <a:spcBef>
                <a:spcPts val="900"/>
              </a:spcBef>
            </a:pPr>
            <a:r>
              <a:rPr sz="1600">
                <a:solidFill>
                  <a:srgbClr val="1E293B"/>
                </a:solidFill>
              </a:rPr>
              <a:t>• 维</a:t>
            </a:r>
          </a:p>
          <a:p>
            <a:pPr>
              <a:spcBef>
                <a:spcPts val="900"/>
              </a:spcBef>
            </a:pPr>
            <a:r>
              <a:rPr sz="1600">
                <a:solidFill>
                  <a:srgbClr val="1E293B"/>
                </a:solidFill>
              </a:rPr>
              <a:t>• 度</a:t>
            </a:r>
          </a:p>
          <a:p>
            <a:pPr>
              <a:spcBef>
                <a:spcPts val="900"/>
              </a:spcBef>
            </a:pPr>
            <a:r>
              <a:rPr sz="1600">
                <a:solidFill>
                  <a:srgbClr val="1E293B"/>
                </a:solidFill>
              </a:rPr>
              <a:t>• 平</a:t>
            </a:r>
          </a:p>
          <a:p>
            <a:pPr>
              <a:spcBef>
                <a:spcPts val="900"/>
              </a:spcBef>
            </a:pPr>
            <a:r>
              <a:rPr sz="1600">
                <a:solidFill>
                  <a:srgbClr val="1E293B"/>
                </a:solidFill>
              </a:rPr>
              <a:t>• 均</a:t>
            </a:r>
          </a:p>
          <a:p>
            <a:pPr>
              <a:spcBef>
                <a:spcPts val="900"/>
              </a:spcBef>
            </a:pPr>
            <a:r>
              <a:rPr sz="1600">
                <a:solidFill>
                  <a:srgbClr val="1E293B"/>
                </a:solidFill>
              </a:rPr>
              <a:t>• 分</a:t>
            </a:r>
          </a:p>
          <a:p>
            <a:pPr>
              <a:spcBef>
                <a:spcPts val="900"/>
              </a:spcBef>
            </a:pPr>
            <a:r>
              <a:rPr sz="1600">
                <a:solidFill>
                  <a:srgbClr val="1E293B"/>
                </a:solidFill>
              </a:rPr>
              <a:t>• （</a:t>
            </a:r>
          </a:p>
          <a:p>
            <a:pPr>
              <a:spcBef>
                <a:spcPts val="900"/>
              </a:spcBef>
            </a:pPr>
            <a:r>
              <a:rPr sz="1600">
                <a:solidFill>
                  <a:srgbClr val="1E293B"/>
                </a:solidFill>
              </a:rPr>
              <a:t>• 取</a:t>
            </a:r>
          </a:p>
          <a:p>
            <a:pPr>
              <a:spcBef>
                <a:spcPts val="900"/>
              </a:spcBef>
            </a:pPr>
            <a:r>
              <a:rPr sz="1600">
                <a:solidFill>
                  <a:srgbClr val="1E293B"/>
                </a:solidFill>
              </a:rPr>
              <a:t>• 整</a:t>
            </a:r>
          </a:p>
          <a:p>
            <a:pPr>
              <a:spcBef>
                <a:spcPts val="900"/>
              </a:spcBef>
            </a:pPr>
            <a:r>
              <a:rPr sz="1600">
                <a:solidFill>
                  <a:srgbClr val="1E293B"/>
                </a:solidFill>
              </a:rP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1模考参考答案：结构分析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引言（paraphrase）："The line graph illustrates the proportion of households with internet access in four nations — Japan, South Korea, Germany, and Brazil — across a twenty-year span."</a:t>
            </a:r>
          </a:p>
          <a:p>
            <a:pPr>
              <a:spcBef>
                <a:spcPts val="1000"/>
              </a:spcBef>
            </a:pPr>
            <a:r>
              <a:rPr sz="1650">
                <a:solidFill>
                  <a:srgbClr val="1E293B"/>
                </a:solidFill>
              </a:rPr>
              <a:t>• Overview："Overall, internet penetration rose in all four countries over the period, with South Korea consistently recording the highest rates. The most dramatic growth occurred in Brazil, which saw its internet access rate increase nearly fifteenfold."</a:t>
            </a:r>
          </a:p>
          <a:p>
            <a:pPr>
              <a:spcBef>
                <a:spcPts val="1000"/>
              </a:spcBef>
            </a:pPr>
            <a:r>
              <a:rPr sz="1650">
                <a:solidFill>
                  <a:srgbClr val="1E293B"/>
                </a:solidFill>
              </a:rPr>
              <a:t>• 数据段1（亚洲两国）："South Korea maintained its position as the most connected nation throughout, rising from 45% in 2000 to 95% by 2020. Japan followed a similar upward trajectory, climbing from 34% to 91% over the same period."</a:t>
            </a:r>
          </a:p>
          <a:p>
            <a:pPr>
              <a:spcBef>
                <a:spcPts val="1000"/>
              </a:spcBef>
            </a:pPr>
            <a:r>
              <a:rPr sz="1650">
                <a:solidFill>
                  <a:srgbClr val="1E293B"/>
                </a:solidFill>
              </a:rPr>
              <a:t>• 数据段2（欧洲+拉美）："Germany's internet penetration also rose significantly, from 30% to 88%, though it lagged slightly behind the two Asian nations. Brazil, despite starting at just 5% in 2000, achieved remarkable growth, reaching 74% by 2020, representing the greatest proportional increase among the four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1评分分析：这篇答案的得分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TA（7）：覆盖了4个国家的主要趋势，Overview存在，字数约160词</a:t>
            </a:r>
          </a:p>
          <a:p>
            <a:pPr>
              <a:spcBef>
                <a:spcPts val="1000"/>
              </a:spcBef>
            </a:pPr>
            <a:r>
              <a:rPr sz="1650">
                <a:solidFill>
                  <a:srgbClr val="1E293B"/>
                </a:solidFill>
              </a:rPr>
              <a:t>• CC（7）：清晰的引言+Overview+两个数据段，段内比较结构自然</a:t>
            </a:r>
          </a:p>
          <a:p>
            <a:pPr>
              <a:spcBef>
                <a:spcPts val="1000"/>
              </a:spcBef>
            </a:pPr>
            <a:r>
              <a:rPr sz="1650">
                <a:solidFill>
                  <a:srgbClr val="1E293B"/>
                </a:solidFill>
              </a:rPr>
              <a:t>• LR（7）：使用了trajectory/penetration/proportional/remarkable等不常见词汇</a:t>
            </a:r>
          </a:p>
          <a:p>
            <a:pPr>
              <a:spcBef>
                <a:spcPts val="1000"/>
              </a:spcBef>
            </a:pPr>
            <a:r>
              <a:rPr sz="1650">
                <a:solidFill>
                  <a:srgbClr val="1E293B"/>
                </a:solidFill>
              </a:rPr>
              <a:t>• GRA（7）：比较级（lagged behind/higher than）/正确的数字表达/趋势词多样</a:t>
            </a:r>
          </a:p>
          <a:p>
            <a:pPr>
              <a:spcBef>
                <a:spcPts val="1000"/>
              </a:spcBef>
            </a:pPr>
            <a:r>
              <a:rPr sz="1650">
                <a:solidFill>
                  <a:srgbClr val="1E293B"/>
                </a:solidFill>
              </a:rPr>
              <a:t>• 预估总分：Band 7</a:t>
            </a:r>
          </a:p>
          <a:p>
            <a:pPr>
              <a:spcBef>
                <a:spcPts val="1000"/>
              </a:spcBef>
            </a:pPr>
            <a:r>
              <a:rPr sz="1650">
                <a:solidFill>
                  <a:srgbClr val="1E293B"/>
                </a:solidFill>
              </a:rPr>
              <a:t>• 提升到Band 8的方向：加更多具体数据比较（数值差异），增加一个更复杂的比较结构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1计时练习：开始写作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请在20分钟内完成对上面折线图的描述。
完成步骤：
① 先列Overview（2分钟）：最主要趋势是？
② 写引言（2分钟）：paraphrase题目
③ 写Overview段（2分钟）：Overall开头，无数字
④ 写数据段1（5分钟）：亚洲两国比较
⑤ 写数据段2（5分钟）：德国+巴西对比
⑥ 检查（4分钟）：Overview存在？字数？趋势词多样？
开始！（计时20分钟）</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写完后，用以下标准自评：
TA（5分）：有Overview(2)+覆盖4国(2)+字数≥150(1)=最高5分
CC（5分）：有引言(1)+Overview(1)+段落分组合理(2)+衔接词(1)=最高5分
LR（5分）：趋势词不重复(2)+比较结构(2)+paraphrase成功(1)=最高5分
GRA（5分）：数字表达正确(2)+比较级(2)+无重大语法错误(1)=最高5分
总分/20×9=你的预估Band</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目标：20分钟内写完150-170词，有Overview，有比较，趋势词不重复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1提纲速记：3分钟建立答题框架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针对以下饼图题目，用3分钟写出答题框架：
题目：饼图显示2023年某城市居民休闲时间分配：
看电视40%，户外运动20%，网络娱乐25%，阅读10%，其他5%
任务：写出①Overview要点②数据段分组方案（哪些数据放一段？）</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参考框架：
Overview：看电视占最大比例（40%），网络娱乐其次（25%），阅读和其他占比最小
数据分组方案：
段1（屏幕类）：看电视40%+网络娱乐25%=合计65%（屏幕娱乐为主）
段2（非屏幕类）：户外运动20%+阅读10%+其他5%=合计35%
引言paraphrase："The pie chart illustrates how residents of a city allocated their leisure time in 2023."</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饼图分组技巧：寻找能合并的类别（如都是屏幕类/都是非屏幕类），然后按组描述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Task 2全真模考练习</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Task 2 Full Mock Test Practice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2模考：Opinion Essay题目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题目（Opinion Essay）：
"Some people believe that the best way to increase road safety is to increase the minimum age for driving cars or riding motorbikes. To what extent do you agree or disagree?"
审题要点：
①题型：Opinion Essay（同意/不同意）
②关键词：best way / increase road safety / minimum age for driving
③立场要求：必须明确表达同意程度（完全同意/部分同意/不同意）
④字数要求：至少250词，建议260-280词</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提</a:t>
            </a:r>
          </a:p>
          <a:p>
            <a:pPr>
              <a:spcBef>
                <a:spcPts val="900"/>
              </a:spcBef>
            </a:pPr>
            <a:r>
              <a:rPr sz="1600">
                <a:solidFill>
                  <a:srgbClr val="1E293B"/>
                </a:solidFill>
              </a:rPr>
              <a:t>• 纲</a:t>
            </a:r>
          </a:p>
          <a:p>
            <a:pPr>
              <a:spcBef>
                <a:spcPts val="900"/>
              </a:spcBef>
            </a:pPr>
            <a:r>
              <a:rPr sz="1600">
                <a:solidFill>
                  <a:srgbClr val="1E293B"/>
                </a:solidFill>
              </a:rPr>
              <a:t>• 时</a:t>
            </a:r>
          </a:p>
          <a:p>
            <a:pPr>
              <a:spcBef>
                <a:spcPts val="900"/>
              </a:spcBef>
            </a:pPr>
            <a:r>
              <a:rPr sz="1600">
                <a:solidFill>
                  <a:srgbClr val="1E293B"/>
                </a:solidFill>
              </a:rPr>
              <a:t>• 间</a:t>
            </a:r>
          </a:p>
          <a:p>
            <a:pPr>
              <a:spcBef>
                <a:spcPts val="900"/>
              </a:spcBef>
            </a:pPr>
            <a:r>
              <a:rPr sz="1600">
                <a:solidFill>
                  <a:srgbClr val="1E293B"/>
                </a:solidFill>
              </a:rPr>
              <a:t>• ：</a:t>
            </a:r>
          </a:p>
          <a:p>
            <a:pPr>
              <a:spcBef>
                <a:spcPts val="900"/>
              </a:spcBef>
            </a:pPr>
            <a:r>
              <a:rPr sz="1600">
                <a:solidFill>
                  <a:srgbClr val="1E293B"/>
                </a:solidFill>
              </a:rPr>
              <a:t>• 3</a:t>
            </a:r>
          </a:p>
          <a:p>
            <a:pPr>
              <a:spcBef>
                <a:spcPts val="900"/>
              </a:spcBef>
            </a:pPr>
            <a:r>
              <a:rPr sz="1600">
                <a:solidFill>
                  <a:srgbClr val="1E293B"/>
                </a:solidFill>
              </a:rPr>
              <a:t>• -</a:t>
            </a:r>
          </a:p>
          <a:p>
            <a:pPr>
              <a:spcBef>
                <a:spcPts val="900"/>
              </a:spcBef>
            </a:pPr>
            <a:r>
              <a:rPr sz="1600">
                <a:solidFill>
                  <a:srgbClr val="1E293B"/>
                </a:solidFill>
              </a:rPr>
              <a:t>• 5</a:t>
            </a:r>
          </a:p>
          <a:p>
            <a:pPr>
              <a:spcBef>
                <a:spcPts val="900"/>
              </a:spcBef>
            </a:pPr>
            <a:r>
              <a:rPr sz="1600">
                <a:solidFill>
                  <a:srgbClr val="1E293B"/>
                </a:solidFill>
              </a:rPr>
              <a:t>• 分</a:t>
            </a:r>
          </a:p>
          <a:p>
            <a:pPr>
              <a:spcBef>
                <a:spcPts val="900"/>
              </a:spcBef>
            </a:pPr>
            <a:r>
              <a:rPr sz="1600">
                <a:solidFill>
                  <a:srgbClr val="1E293B"/>
                </a:solidFill>
              </a:rPr>
              <a:t>• 钟</a:t>
            </a:r>
          </a:p>
          <a:p>
            <a:pPr>
              <a:spcBef>
                <a:spcPts val="900"/>
              </a:spcBef>
            </a:pPr>
            <a:r>
              <a:rPr sz="1600">
                <a:solidFill>
                  <a:srgbClr val="1E293B"/>
                </a:solidFill>
              </a:rPr>
              <a:t>• ；</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a:t>
            </a:r>
          </a:p>
          <a:p>
            <a:pPr>
              <a:spcBef>
                <a:spcPts val="900"/>
              </a:spcBef>
            </a:pPr>
            <a:r>
              <a:rPr sz="1600">
                <a:solidFill>
                  <a:srgbClr val="1E293B"/>
                </a:solidFill>
              </a:rPr>
              <a:t>• 3</a:t>
            </a:r>
          </a:p>
          <a:p>
            <a:pPr>
              <a:spcBef>
                <a:spcPts val="900"/>
              </a:spcBef>
            </a:pPr>
            <a:r>
              <a:rPr sz="1600">
                <a:solidFill>
                  <a:srgbClr val="1E293B"/>
                </a:solidFill>
              </a:rPr>
              <a:t>• 0</a:t>
            </a:r>
          </a:p>
          <a:p>
            <a:pPr>
              <a:spcBef>
                <a:spcPts val="900"/>
              </a:spcBef>
            </a:pPr>
            <a:r>
              <a:rPr sz="1600">
                <a:solidFill>
                  <a:srgbClr val="1E293B"/>
                </a:solidFill>
              </a:rPr>
              <a:t>• 分</a:t>
            </a:r>
          </a:p>
          <a:p>
            <a:pPr>
              <a:spcBef>
                <a:spcPts val="900"/>
              </a:spcBef>
            </a:pPr>
            <a:r>
              <a:rPr sz="1600">
                <a:solidFill>
                  <a:srgbClr val="1E293B"/>
                </a:solidFill>
              </a:rPr>
              <a:t>• 钟</a:t>
            </a:r>
          </a:p>
          <a:p>
            <a:pPr>
              <a:spcBef>
                <a:spcPts val="900"/>
              </a:spcBef>
            </a:pPr>
            <a:r>
              <a:rPr sz="1600">
                <a:solidFill>
                  <a:srgbClr val="1E293B"/>
                </a:solidFill>
              </a:rPr>
              <a:t>• ；</a:t>
            </a:r>
          </a:p>
          <a:p>
            <a:pPr>
              <a:spcBef>
                <a:spcPts val="900"/>
              </a:spcBef>
            </a:pPr>
            <a:r>
              <a:rPr sz="1600">
                <a:solidFill>
                  <a:srgbClr val="1E293B"/>
                </a:solidFill>
              </a:rPr>
              <a:t>• 检</a:t>
            </a:r>
          </a:p>
          <a:p>
            <a:pPr>
              <a:spcBef>
                <a:spcPts val="900"/>
              </a:spcBef>
            </a:pPr>
            <a:r>
              <a:rPr sz="1600">
                <a:solidFill>
                  <a:srgbClr val="1E293B"/>
                </a:solidFill>
              </a:rPr>
              <a:t>• 查</a:t>
            </a:r>
          </a:p>
          <a:p>
            <a:pPr>
              <a:spcBef>
                <a:spcPts val="900"/>
              </a:spcBef>
            </a:pPr>
            <a:r>
              <a:rPr sz="1600">
                <a:solidFill>
                  <a:srgbClr val="1E293B"/>
                </a:solidFill>
              </a:rPr>
              <a:t>• ：</a:t>
            </a:r>
          </a:p>
          <a:p>
            <a:pPr>
              <a:spcBef>
                <a:spcPts val="900"/>
              </a:spcBef>
            </a:pPr>
            <a:r>
              <a:rPr sz="1600">
                <a:solidFill>
                  <a:srgbClr val="1E293B"/>
                </a:solidFill>
              </a:rPr>
              <a:t>• 5</a:t>
            </a:r>
          </a:p>
          <a:p>
            <a:pPr>
              <a:spcBef>
                <a:spcPts val="900"/>
              </a:spcBef>
            </a:pPr>
            <a:r>
              <a:rPr sz="1600">
                <a:solidFill>
                  <a:srgbClr val="1E293B"/>
                </a:solidFill>
              </a:rPr>
              <a:t>• 分</a:t>
            </a:r>
          </a:p>
          <a:p>
            <a:pPr>
              <a:spcBef>
                <a:spcPts val="900"/>
              </a:spcBef>
            </a:pPr>
            <a:r>
              <a:rPr sz="1600">
                <a:solidFill>
                  <a:srgbClr val="1E293B"/>
                </a:solidFill>
              </a:rPr>
              <a:t>• 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2评分标准详解（模考用）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TA（10分）：立场清晰(3)+论点相关(3)+论证充分(4)
CC（10分）：段落结构(3)+主题句(3)+衔接词(2)+信息流畅(2)
LR（10分）：词汇多样(4)+搭配准确(3)+不常见词(3)
GRA（10分）：句型多样(4)+语法准确(4)+无重大错误(2)
满分=40分，对应Band 9
Band 7=约28-30/40
Band 6=约22-24/40</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每</a:t>
            </a:r>
          </a:p>
          <a:p>
            <a:pPr>
              <a:spcBef>
                <a:spcPts val="900"/>
              </a:spcBef>
            </a:pPr>
            <a:r>
              <a:rPr sz="1600">
                <a:solidFill>
                  <a:srgbClr val="1E293B"/>
                </a:solidFill>
              </a:rPr>
              <a:t>• 维</a:t>
            </a:r>
          </a:p>
          <a:p>
            <a:pPr>
              <a:spcBef>
                <a:spcPts val="900"/>
              </a:spcBef>
            </a:pPr>
            <a:r>
              <a:rPr sz="1600">
                <a:solidFill>
                  <a:srgbClr val="1E293B"/>
                </a:solidFill>
              </a:rPr>
              <a:t>• 度</a:t>
            </a:r>
          </a:p>
          <a:p>
            <a:pPr>
              <a:spcBef>
                <a:spcPts val="900"/>
              </a:spcBef>
            </a:pPr>
            <a:r>
              <a:rPr sz="1600">
                <a:solidFill>
                  <a:srgbClr val="1E293B"/>
                </a:solidFill>
              </a:rPr>
              <a:t>• 提</a:t>
            </a:r>
          </a:p>
          <a:p>
            <a:pPr>
              <a:spcBef>
                <a:spcPts val="900"/>
              </a:spcBef>
            </a:pPr>
            <a:r>
              <a:rPr sz="1600">
                <a:solidFill>
                  <a:srgbClr val="1E293B"/>
                </a:solidFill>
              </a:rPr>
              <a:t>• 升</a:t>
            </a:r>
          </a:p>
          <a:p>
            <a:pPr>
              <a:spcBef>
                <a:spcPts val="900"/>
              </a:spcBef>
            </a:pPr>
            <a:r>
              <a:rPr sz="1600">
                <a:solidFill>
                  <a:srgbClr val="1E293B"/>
                </a:solidFill>
              </a:rPr>
              <a:t>• 1</a:t>
            </a:r>
          </a:p>
          <a:p>
            <a:pPr>
              <a:spcBef>
                <a:spcPts val="900"/>
              </a:spcBef>
            </a:pPr>
            <a:r>
              <a:rPr sz="1600">
                <a:solidFill>
                  <a:srgbClr val="1E293B"/>
                </a:solidFill>
              </a:rPr>
              <a:t>• 分</a:t>
            </a:r>
          </a:p>
          <a:p>
            <a:pPr>
              <a:spcBef>
                <a:spcPts val="900"/>
              </a:spcBef>
            </a:pPr>
            <a:r>
              <a:rPr sz="1600">
                <a:solidFill>
                  <a:srgbClr val="1E293B"/>
                </a:solidFill>
              </a:rPr>
              <a:t>• =</a:t>
            </a:r>
          </a:p>
          <a:p>
            <a:pPr>
              <a:spcBef>
                <a:spcPts val="900"/>
              </a:spcBef>
            </a:pPr>
            <a:r>
              <a:rPr sz="1600">
                <a:solidFill>
                  <a:srgbClr val="1E293B"/>
                </a:solidFill>
              </a:rPr>
              <a:t>• 整</a:t>
            </a:r>
          </a:p>
          <a:p>
            <a:pPr>
              <a:spcBef>
                <a:spcPts val="900"/>
              </a:spcBef>
            </a:pPr>
            <a:r>
              <a:rPr sz="1600">
                <a:solidFill>
                  <a:srgbClr val="1E293B"/>
                </a:solidFill>
              </a:rPr>
              <a:t>• 体</a:t>
            </a:r>
          </a:p>
          <a:p>
            <a:pPr>
              <a:spcBef>
                <a:spcPts val="900"/>
              </a:spcBef>
            </a:pPr>
            <a:r>
              <a:rPr sz="1600">
                <a:solidFill>
                  <a:srgbClr val="1E293B"/>
                </a:solidFill>
              </a:rPr>
              <a:t>• 提</a:t>
            </a:r>
          </a:p>
          <a:p>
            <a:pPr>
              <a:spcBef>
                <a:spcPts val="900"/>
              </a:spcBef>
            </a:pPr>
            <a:r>
              <a:rPr sz="1600">
                <a:solidFill>
                  <a:srgbClr val="1E293B"/>
                </a:solidFill>
              </a:rPr>
              <a:t>• 升</a:t>
            </a:r>
          </a:p>
          <a:p>
            <a:pPr>
              <a:spcBef>
                <a:spcPts val="900"/>
              </a:spcBef>
            </a:pPr>
            <a:r>
              <a:rPr sz="1600">
                <a:solidFill>
                  <a:srgbClr val="1E293B"/>
                </a:solidFill>
              </a:rPr>
              <a:t>• 约</a:t>
            </a:r>
          </a:p>
          <a:p>
            <a:pPr>
              <a:spcBef>
                <a:spcPts val="900"/>
              </a:spcBef>
            </a:pPr>
            <a:r>
              <a:rPr sz="1600">
                <a:solidFill>
                  <a:srgbClr val="1E293B"/>
                </a:solidFill>
              </a:rPr>
              <a:t>• 0</a:t>
            </a:r>
          </a:p>
          <a:p>
            <a:pPr>
              <a:spcBef>
                <a:spcPts val="900"/>
              </a:spcBef>
            </a:pPr>
            <a:r>
              <a:rPr sz="1600">
                <a:solidFill>
                  <a:srgbClr val="1E293B"/>
                </a:solidFill>
              </a:rPr>
              <a:t>• .</a:t>
            </a:r>
          </a:p>
          <a:p>
            <a:pPr>
              <a:spcBef>
                <a:spcPts val="900"/>
              </a:spcBef>
            </a:pPr>
            <a:r>
              <a:rPr sz="1600">
                <a:solidFill>
                  <a:srgbClr val="1E293B"/>
                </a:solidFill>
              </a:rPr>
              <a:t>• 2</a:t>
            </a:r>
          </a:p>
          <a:p>
            <a:pPr>
              <a:spcBef>
                <a:spcPts val="900"/>
              </a:spcBef>
            </a:pPr>
            <a:r>
              <a:rPr sz="1600">
                <a:solidFill>
                  <a:srgbClr val="1E293B"/>
                </a:solidFill>
              </a:rPr>
              <a:t>• 5</a:t>
            </a:r>
          </a:p>
          <a:p>
            <a:pPr>
              <a:spcBef>
                <a:spcPts val="900"/>
              </a:spcBef>
            </a:pPr>
            <a:r>
              <a:rPr sz="1600">
                <a:solidFill>
                  <a:srgbClr val="1E293B"/>
                </a:solidFill>
              </a:rPr>
              <a:t>• 分</a:t>
            </a:r>
          </a:p>
          <a:p>
            <a:pPr>
              <a:spcBef>
                <a:spcPts val="900"/>
              </a:spcBef>
            </a:pPr>
            <a:r>
              <a:rPr sz="1600">
                <a:solidFill>
                  <a:srgbClr val="1E293B"/>
                </a:solidFill>
              </a:rPr>
              <a:t>• ，</a:t>
            </a:r>
          </a:p>
          <a:p>
            <a:pPr>
              <a:spcBef>
                <a:spcPts val="900"/>
              </a:spcBef>
            </a:pPr>
            <a:r>
              <a:rPr sz="1600">
                <a:solidFill>
                  <a:srgbClr val="1E293B"/>
                </a:solidFill>
              </a:rPr>
              <a:t>• 四</a:t>
            </a:r>
          </a:p>
          <a:p>
            <a:pPr>
              <a:spcBef>
                <a:spcPts val="900"/>
              </a:spcBef>
            </a:pPr>
            <a:r>
              <a:rPr sz="1600">
                <a:solidFill>
                  <a:srgbClr val="1E293B"/>
                </a:solidFill>
              </a:rPr>
              <a:t>• 维</a:t>
            </a:r>
          </a:p>
          <a:p>
            <a:pPr>
              <a:spcBef>
                <a:spcPts val="900"/>
              </a:spcBef>
            </a:pPr>
            <a:r>
              <a:rPr sz="1600">
                <a:solidFill>
                  <a:srgbClr val="1E293B"/>
                </a:solidFill>
              </a:rPr>
              <a:t>• 均</a:t>
            </a:r>
          </a:p>
          <a:p>
            <a:pPr>
              <a:spcBef>
                <a:spcPts val="900"/>
              </a:spcBef>
            </a:pPr>
            <a:r>
              <a:rPr sz="1600">
                <a:solidFill>
                  <a:srgbClr val="1E293B"/>
                </a:solidFill>
              </a:rPr>
              <a:t>• 衡</a:t>
            </a:r>
          </a:p>
          <a:p>
            <a:pPr>
              <a:spcBef>
                <a:spcPts val="900"/>
              </a:spcBef>
            </a:pPr>
            <a:r>
              <a:rPr sz="1600">
                <a:solidFill>
                  <a:srgbClr val="1E293B"/>
                </a:solidFill>
              </a:rPr>
              <a:t>• 提</a:t>
            </a:r>
          </a:p>
          <a:p>
            <a:pPr>
              <a:spcBef>
                <a:spcPts val="900"/>
              </a:spcBef>
            </a:pPr>
            <a:r>
              <a:rPr sz="1600">
                <a:solidFill>
                  <a:srgbClr val="1E293B"/>
                </a:solidFill>
              </a:rPr>
              <a:t>• 升</a:t>
            </a:r>
          </a:p>
          <a:p>
            <a:pPr>
              <a:spcBef>
                <a:spcPts val="900"/>
              </a:spcBef>
            </a:pPr>
            <a:r>
              <a:rPr sz="1600">
                <a:solidFill>
                  <a:srgbClr val="1E293B"/>
                </a:solidFill>
              </a:rPr>
              <a:t>• 是</a:t>
            </a:r>
          </a:p>
          <a:p>
            <a:pPr>
              <a:spcBef>
                <a:spcPts val="900"/>
              </a:spcBef>
            </a:pPr>
            <a:r>
              <a:rPr sz="1600">
                <a:solidFill>
                  <a:srgbClr val="1E293B"/>
                </a:solidFill>
              </a:rPr>
              <a:t>• 最</a:t>
            </a:r>
          </a:p>
          <a:p>
            <a:pPr>
              <a:spcBef>
                <a:spcPts val="900"/>
              </a:spcBef>
            </a:pPr>
            <a:r>
              <a:rPr sz="1600">
                <a:solidFill>
                  <a:srgbClr val="1E293B"/>
                </a:solidFill>
              </a:rPr>
              <a:t>• 佳</a:t>
            </a:r>
          </a:p>
          <a:p>
            <a:pPr>
              <a:spcBef>
                <a:spcPts val="900"/>
              </a:spcBef>
            </a:pPr>
            <a:r>
              <a:rPr sz="1600">
                <a:solidFill>
                  <a:srgbClr val="1E293B"/>
                </a:solidFill>
              </a:rPr>
              <a:t>• 策</a:t>
            </a:r>
          </a:p>
          <a:p>
            <a:pPr>
              <a:spcBef>
                <a:spcPts val="900"/>
              </a:spcBef>
            </a:pPr>
            <a:r>
              <a:rPr sz="1600">
                <a:solidFill>
                  <a:srgbClr val="1E293B"/>
                </a:solidFill>
              </a:rPr>
              <a:t>• 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2模考参考答案：结构框架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引言（60-70词）：背景+争议+立场
"Road safety remains a pressing concern in many countries, with traffic fatalities causing thousands of preventable deaths annually. While some advocate for raising the minimum driving age as the most effective remedy, I partially agree with this view, as age restrictions alone are insufficient without complementary measures."</a:t>
            </a:r>
          </a:p>
          <a:p>
            <a:pPr>
              <a:spcBef>
                <a:spcPts val="1000"/>
              </a:spcBef>
            </a:pPr>
            <a:r>
              <a:rPr sz="1650">
                <a:solidFill>
                  <a:srgbClr val="1E293B"/>
                </a:solidFill>
              </a:rPr>
              <a:t>• 主体段1（100-110词）：同意方论点
"Raising the minimum driving age to 18 or beyond would likely reduce accidents among the highest-risk group: young, inexperienced drivers. Statistical evidence supports this: the World Health Organization reports that drivers aged 15-24 are disproportionately represented in road fatalities, accounting for 23% of deaths despite constituting a smaller fraction of license holders. This vulnerability stems from neurological immaturity — the prefrontal cortex, responsible for risk assessment and impulse control, is not fully developed until the mid-twenties."</a:t>
            </a:r>
          </a:p>
          <a:p>
            <a:pPr>
              <a:spcBef>
                <a:spcPts val="1000"/>
              </a:spcBef>
            </a:pPr>
            <a:r>
              <a:rPr sz="1650">
                <a:solidFill>
                  <a:srgbClr val="1E293B"/>
                </a:solidFill>
              </a:rPr>
              <a:t>• 主体段2（100-110词）：补充/反驳论点
"However, age alone does not determine driving competence. Mandatory driver education, rigorous testing standards, and stricter penalties for reckless driving have proven equally — if not more — effective in reducing accidents. Countries such as Sweden and Finland, which combine comprehensive training programmes with zero-tolerance policies for drink-driving, consistently record the world's lowest traffic fatality rates, regardless of minimum age thresholds."</a:t>
            </a:r>
          </a:p>
          <a:p>
            <a:pPr>
              <a:spcBef>
                <a:spcPts val="1000"/>
              </a:spcBef>
            </a:pPr>
            <a:r>
              <a:rPr sz="1650">
                <a:solidFill>
                  <a:srgbClr val="1E293B"/>
                </a:solidFill>
              </a:rPr>
              <a:t>• 结论（50-60词）：重申部分同意立场
"In conclusion, while increasing the minimum driving age may contribute to improved road safety, I contend that it should form part of a broader strategy that includes driver education reform and stricter enforcement. Only through a multi-faceted approach can governments achieve meaningful and lasting reductions in traffic fatalities."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2评分分析：这篇答案的各维度得分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TA：立场明确（partially agree）+两个论点充分展开+结论一致=7-8</a:t>
            </a:r>
          </a:p>
          <a:p>
            <a:pPr>
              <a:spcBef>
                <a:spcPts val="1000"/>
              </a:spcBef>
            </a:pPr>
            <a:r>
              <a:rPr sz="1650">
                <a:solidFill>
                  <a:srgbClr val="1E293B"/>
                </a:solidFill>
              </a:rPr>
              <a:t>• CC：引言→主体1→主体2→结论，各段有主题句，However/while等衔接词自然=7</a:t>
            </a:r>
          </a:p>
          <a:p>
            <a:pPr>
              <a:spcBef>
                <a:spcPts val="1000"/>
              </a:spcBef>
            </a:pPr>
            <a:r>
              <a:rPr sz="1650">
                <a:solidFill>
                  <a:srgbClr val="1E293B"/>
                </a:solidFill>
              </a:rPr>
              <a:t>• LR：complementary/neurological/prefrontal cortex/immaturity/zero-tolerance=7-8</a:t>
            </a:r>
          </a:p>
          <a:p>
            <a:pPr>
              <a:spcBef>
                <a:spcPts val="1000"/>
              </a:spcBef>
            </a:pPr>
            <a:r>
              <a:rPr sz="1650">
                <a:solidFill>
                  <a:srgbClr val="1E293B"/>
                </a:solidFill>
              </a:rPr>
              <a:t>• GRA：让步从句while/although+定语从句that/which+分词短语/比较结构=7</a:t>
            </a:r>
          </a:p>
          <a:p>
            <a:pPr>
              <a:spcBef>
                <a:spcPts val="1000"/>
              </a:spcBef>
            </a:pPr>
            <a:r>
              <a:rPr sz="1650">
                <a:solidFill>
                  <a:srgbClr val="1E293B"/>
                </a:solidFill>
              </a:rPr>
              <a:t>• 预估总分：Band 7-7.5</a:t>
            </a:r>
          </a:p>
          <a:p>
            <a:pPr>
              <a:spcBef>
                <a:spcPts val="1000"/>
              </a:spcBef>
            </a:pPr>
            <a:r>
              <a:rPr sz="1650">
                <a:solidFill>
                  <a:srgbClr val="1E293B"/>
                </a:solidFill>
              </a:rPr>
              <a:t>• 字数：约310词（符合要求，稍多但不扣分）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2计时练习：开始写作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请在40分钟内完成以下Task 2：
题目："In many countries, traditional customs and ways of life are being lost. Some people think this is a negative development, while others see it as positive. Discuss both views and give your own opinion."
步骤：
①审题（2分钟）：Discussion essay，需要写两方观点，然后表明立场
②提纲（3分钟）：负面论点关键词+正面论点关键词+立场
③写作（30分钟）：引言+主体段1（负面）+主体段2（正面）+结论+立场
④检查（5分钟）：立场明确？TA/CC/LR/GRA自查
开始！（计时40分钟）</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写完后自评标准：
TA：有讨论两方观点(3)+有个人立场(2)+论证充分(5)=最高10分
CC：段落结构清晰(4)+主题句存在(3)+衔接词合理(3)=最高10分
LR：有不常见词汇(4)+搭配正确(3)+无重复(3)=最高10分
GRA：有复杂句型(4)+语法准确(4)+时态一致(2)=最高10分
总分/40×9=预估Band分
目标：总分≥28/40（对应Band 7）</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Discussion essay关键：两方各写1段主体+最后表明立场（不是在引言就选边）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2词汇库：文化类话题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如果考到文化传统类话题，以下词汇可以直接使用：
正面观点词：heritage/tradition/cultural identity/ancestral customs/indigenous practices/intangible cultural wealth
负面观点词：outdated practices/cultural stagnation/impede progress/rigid adherence/archaic customs
两方均可用：evolve/adapt/preserve/modernize/globalization/cultural exchange/syncretism
请即兴造句：用"heritage"或"ancestral customs"写一个含定语从句的主体段主题句。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参考句："The erosion of cultural heritage, which encompasses centuries of accumulated wisdom and social practices, represents an irreplaceable loss for future generations who will be denied access to their ancestral identity."
词汇亮点：erosion/encompass/accumulated/irreplaceable/ancestral identity
句型：which定语从句+who定语从句（双重定语从句展示语法多样性）</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考场急用词库：提前准备5大话题各10个高分词汇（教育/环境/科技/社会/文化）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模考答案精析与评分</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Model Answer Analysis &amp; Scoring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自我评分方法论：四维评分表使用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使用四维10分评分表，每写完一篇作文后自评：
TA（10）：题目完成度+立场清晰度+论证充分度
CC（10）：段落结构+主题句+衔接词+信息流畅
LR（10）：词汇多样+搭配准确+不常见词汇
GRA（10）：句型多样+语法准确度
最终Band分估算：总分/40×9，四舍五入到最近的0.5
注意：自我评分会偏高1-2分，建议再降0.5分作为更保守的估算</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最</a:t>
            </a:r>
          </a:p>
          <a:p>
            <a:pPr>
              <a:spcBef>
                <a:spcPts val="900"/>
              </a:spcBef>
            </a:pPr>
            <a:r>
              <a:rPr sz="1600">
                <a:solidFill>
                  <a:srgbClr val="1E293B"/>
                </a:solidFill>
              </a:rPr>
              <a:t>• 有</a:t>
            </a:r>
          </a:p>
          <a:p>
            <a:pPr>
              <a:spcBef>
                <a:spcPts val="900"/>
              </a:spcBef>
            </a:pPr>
            <a:r>
              <a:rPr sz="1600">
                <a:solidFill>
                  <a:srgbClr val="1E293B"/>
                </a:solidFill>
              </a:rPr>
              <a:t>• 效</a:t>
            </a:r>
          </a:p>
          <a:p>
            <a:pPr>
              <a:spcBef>
                <a:spcPts val="900"/>
              </a:spcBef>
            </a:pPr>
            <a:r>
              <a:rPr sz="1600">
                <a:solidFill>
                  <a:srgbClr val="1E293B"/>
                </a:solidFill>
              </a:rPr>
              <a:t>• 的</a:t>
            </a:r>
          </a:p>
          <a:p>
            <a:pPr>
              <a:spcBef>
                <a:spcPts val="900"/>
              </a:spcBef>
            </a:pPr>
            <a:r>
              <a:rPr sz="1600">
                <a:solidFill>
                  <a:srgbClr val="1E293B"/>
                </a:solidFill>
              </a:rPr>
              <a:t>• 反</a:t>
            </a:r>
          </a:p>
          <a:p>
            <a:pPr>
              <a:spcBef>
                <a:spcPts val="900"/>
              </a:spcBef>
            </a:pPr>
            <a:r>
              <a:rPr sz="1600">
                <a:solidFill>
                  <a:srgbClr val="1E293B"/>
                </a:solidFill>
              </a:rPr>
              <a:t>• 馈</a:t>
            </a:r>
          </a:p>
          <a:p>
            <a:pPr>
              <a:spcBef>
                <a:spcPts val="900"/>
              </a:spcBef>
            </a:pPr>
            <a:r>
              <a:rPr sz="1600">
                <a:solidFill>
                  <a:srgbClr val="1E293B"/>
                </a:solidFill>
              </a:rPr>
              <a:t>• ：</a:t>
            </a:r>
          </a:p>
          <a:p>
            <a:pPr>
              <a:spcBef>
                <a:spcPts val="900"/>
              </a:spcBef>
            </a:pPr>
            <a:r>
              <a:rPr sz="1600">
                <a:solidFill>
                  <a:srgbClr val="1E293B"/>
                </a:solidFill>
              </a:rPr>
              <a:t>• 找</a:t>
            </a:r>
          </a:p>
          <a:p>
            <a:pPr>
              <a:spcBef>
                <a:spcPts val="900"/>
              </a:spcBef>
            </a:pPr>
            <a:r>
              <a:rPr sz="1600">
                <a:solidFill>
                  <a:srgbClr val="1E293B"/>
                </a:solidFill>
              </a:rPr>
              <a:t>• I</a:t>
            </a:r>
          </a:p>
          <a:p>
            <a:pPr>
              <a:spcBef>
                <a:spcPts val="900"/>
              </a:spcBef>
            </a:pPr>
            <a:r>
              <a:rPr sz="1600">
                <a:solidFill>
                  <a:srgbClr val="1E293B"/>
                </a:solidFill>
              </a:rPr>
              <a:t>• E</a:t>
            </a:r>
          </a:p>
          <a:p>
            <a:pPr>
              <a:spcBef>
                <a:spcPts val="900"/>
              </a:spcBef>
            </a:pPr>
            <a:r>
              <a:rPr sz="1600">
                <a:solidFill>
                  <a:srgbClr val="1E293B"/>
                </a:solidFill>
              </a:rPr>
              <a:t>• L</a:t>
            </a:r>
          </a:p>
          <a:p>
            <a:pPr>
              <a:spcBef>
                <a:spcPts val="900"/>
              </a:spcBef>
            </a:pPr>
            <a:r>
              <a:rPr sz="1600">
                <a:solidFill>
                  <a:srgbClr val="1E293B"/>
                </a:solidFill>
              </a:rPr>
              <a:t>• T</a:t>
            </a:r>
          </a:p>
          <a:p>
            <a:pPr>
              <a:spcBef>
                <a:spcPts val="900"/>
              </a:spcBef>
            </a:pPr>
            <a:r>
              <a:rPr sz="1600">
                <a:solidFill>
                  <a:srgbClr val="1E293B"/>
                </a:solidFill>
              </a:rPr>
              <a:t>• S</a:t>
            </a:r>
          </a:p>
          <a:p>
            <a:pPr>
              <a:spcBef>
                <a:spcPts val="900"/>
              </a:spcBef>
            </a:pPr>
            <a:r>
              <a:rPr sz="1600">
                <a:solidFill>
                  <a:srgbClr val="1E293B"/>
                </a:solidFill>
              </a:rPr>
              <a:t>• 认</a:t>
            </a:r>
          </a:p>
          <a:p>
            <a:pPr>
              <a:spcBef>
                <a:spcPts val="900"/>
              </a:spcBef>
            </a:pPr>
            <a:r>
              <a:rPr sz="1600">
                <a:solidFill>
                  <a:srgbClr val="1E293B"/>
                </a:solidFill>
              </a:rPr>
              <a:t>• 证</a:t>
            </a:r>
          </a:p>
          <a:p>
            <a:pPr>
              <a:spcBef>
                <a:spcPts val="900"/>
              </a:spcBef>
            </a:pPr>
            <a:r>
              <a:rPr sz="1600">
                <a:solidFill>
                  <a:srgbClr val="1E293B"/>
                </a:solidFill>
              </a:rPr>
              <a:t>• 考</a:t>
            </a:r>
          </a:p>
          <a:p>
            <a:pPr>
              <a:spcBef>
                <a:spcPts val="900"/>
              </a:spcBef>
            </a:pPr>
            <a:r>
              <a:rPr sz="1600">
                <a:solidFill>
                  <a:srgbClr val="1E293B"/>
                </a:solidFill>
              </a:rPr>
              <a:t>• 官</a:t>
            </a:r>
          </a:p>
          <a:p>
            <a:pPr>
              <a:spcBef>
                <a:spcPts val="900"/>
              </a:spcBef>
            </a:pPr>
            <a:r>
              <a:rPr sz="1600">
                <a:solidFill>
                  <a:srgbClr val="1E293B"/>
                </a:solidFill>
              </a:rPr>
              <a:t>• 批</a:t>
            </a:r>
          </a:p>
          <a:p>
            <a:pPr>
              <a:spcBef>
                <a:spcPts val="900"/>
              </a:spcBef>
            </a:pPr>
            <a:r>
              <a:rPr sz="1600">
                <a:solidFill>
                  <a:srgbClr val="1E293B"/>
                </a:solidFill>
              </a:rPr>
              <a:t>• 改</a:t>
            </a:r>
          </a:p>
          <a:p>
            <a:pPr>
              <a:spcBef>
                <a:spcPts val="900"/>
              </a:spcBef>
            </a:pPr>
            <a:r>
              <a:rPr sz="1600">
                <a:solidFill>
                  <a:srgbClr val="1E293B"/>
                </a:solidFill>
              </a:rPr>
              <a:t>• （</a:t>
            </a:r>
          </a:p>
          <a:p>
            <a:pPr>
              <a:spcBef>
                <a:spcPts val="900"/>
              </a:spcBef>
            </a:pPr>
            <a:r>
              <a:rPr sz="1600">
                <a:solidFill>
                  <a:srgbClr val="1E293B"/>
                </a:solidFill>
              </a:rPr>
              <a:t>• 比</a:t>
            </a:r>
          </a:p>
          <a:p>
            <a:pPr>
              <a:spcBef>
                <a:spcPts val="900"/>
              </a:spcBef>
            </a:pPr>
            <a:r>
              <a:rPr sz="1600">
                <a:solidFill>
                  <a:srgbClr val="1E293B"/>
                </a:solidFill>
              </a:rPr>
              <a:t>• A</a:t>
            </a:r>
          </a:p>
          <a:p>
            <a:pPr>
              <a:spcBef>
                <a:spcPts val="900"/>
              </a:spcBef>
            </a:pPr>
            <a:r>
              <a:rPr sz="1600">
                <a:solidFill>
                  <a:srgbClr val="1E293B"/>
                </a:solidFill>
              </a:rPr>
              <a:t>• I</a:t>
            </a:r>
          </a:p>
          <a:p>
            <a:pPr>
              <a:spcBef>
                <a:spcPts val="900"/>
              </a:spcBef>
            </a:pPr>
            <a:r>
              <a:rPr sz="1600">
                <a:solidFill>
                  <a:srgbClr val="1E293B"/>
                </a:solidFill>
              </a:rPr>
              <a:t>• 批</a:t>
            </a:r>
          </a:p>
          <a:p>
            <a:pPr>
              <a:spcBef>
                <a:spcPts val="900"/>
              </a:spcBef>
            </a:pPr>
            <a:r>
              <a:rPr sz="1600">
                <a:solidFill>
                  <a:srgbClr val="1E293B"/>
                </a:solidFill>
              </a:rPr>
              <a:t>• 改</a:t>
            </a:r>
          </a:p>
          <a:p>
            <a:pPr>
              <a:spcBef>
                <a:spcPts val="900"/>
              </a:spcBef>
            </a:pPr>
            <a:r>
              <a:rPr sz="1600">
                <a:solidFill>
                  <a:srgbClr val="1E293B"/>
                </a:solidFill>
              </a:rPr>
              <a:t>• 更</a:t>
            </a:r>
          </a:p>
          <a:p>
            <a:pPr>
              <a:spcBef>
                <a:spcPts val="900"/>
              </a:spcBef>
            </a:pPr>
            <a:r>
              <a:rPr sz="1600">
                <a:solidFill>
                  <a:srgbClr val="1E293B"/>
                </a:solidFill>
              </a:rPr>
              <a:t>• 准</a:t>
            </a:r>
          </a:p>
          <a:p>
            <a:pPr>
              <a:spcBef>
                <a:spcPts val="900"/>
              </a:spcBef>
            </a:pPr>
            <a:r>
              <a:rPr sz="1600">
                <a:solidFill>
                  <a:srgbClr val="1E293B"/>
                </a:solidFill>
              </a:rPr>
              <a:t>• 确</a:t>
            </a:r>
          </a:p>
          <a:p>
            <a:pPr>
              <a:spcBef>
                <a:spcPts val="900"/>
              </a:spcBef>
            </a:pPr>
            <a:r>
              <a:rPr sz="1600">
                <a:solidFill>
                  <a:srgbClr val="1E293B"/>
                </a:solidFill>
              </a:rPr>
              <a:t>•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进步轨迹：从练习到考试的期望变化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第1-2次练习（正常）：时间不够用，字数刚够，立场偶尔模糊
第3-5次练习（进步期）：时间开始可控，词汇开始多样，结构变稳定
第6-8次练习（巩固期）：时间游刃有余，主动使用复杂句型，错误明显减少
第9次以上（冲刺期）：专注在最弱的一个维度上，精雕细琢
提醒：Band 6→7平均需要50-80小时的刻意练习（不是单纯写作，而是精细修正）</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时</a:t>
            </a:r>
          </a:p>
          <a:p>
            <a:pPr>
              <a:spcBef>
                <a:spcPts val="900"/>
              </a:spcBef>
            </a:pPr>
            <a:r>
              <a:rPr sz="1600">
                <a:solidFill>
                  <a:srgbClr val="1E293B"/>
                </a:solidFill>
              </a:rPr>
              <a:t>• 间</a:t>
            </a:r>
          </a:p>
          <a:p>
            <a:pPr>
              <a:spcBef>
                <a:spcPts val="900"/>
              </a:spcBef>
            </a:pPr>
            <a:r>
              <a:rPr sz="1600">
                <a:solidFill>
                  <a:srgbClr val="1E293B"/>
                </a:solidFill>
              </a:rPr>
              <a:t>• 投</a:t>
            </a:r>
          </a:p>
          <a:p>
            <a:pPr>
              <a:spcBef>
                <a:spcPts val="900"/>
              </a:spcBef>
            </a:pPr>
            <a:r>
              <a:rPr sz="1600">
                <a:solidFill>
                  <a:srgbClr val="1E293B"/>
                </a:solidFill>
              </a:rPr>
              <a:t>• 入</a:t>
            </a:r>
          </a:p>
          <a:p>
            <a:pPr>
              <a:spcBef>
                <a:spcPts val="900"/>
              </a:spcBef>
            </a:pPr>
            <a:r>
              <a:rPr sz="1600">
                <a:solidFill>
                  <a:srgbClr val="1E293B"/>
                </a:solidFill>
              </a:rPr>
              <a:t>• ：</a:t>
            </a:r>
          </a:p>
          <a:p>
            <a:pPr>
              <a:spcBef>
                <a:spcPts val="900"/>
              </a:spcBef>
            </a:pPr>
            <a:r>
              <a:rPr sz="1600">
                <a:solidFill>
                  <a:srgbClr val="1E293B"/>
                </a:solidFill>
              </a:rPr>
              <a:t>• 每</a:t>
            </a:r>
          </a:p>
          <a:p>
            <a:pPr>
              <a:spcBef>
                <a:spcPts val="900"/>
              </a:spcBef>
            </a:pPr>
            <a:r>
              <a:rPr sz="1600">
                <a:solidFill>
                  <a:srgbClr val="1E293B"/>
                </a:solidFill>
              </a:rPr>
              <a:t>• 周</a:t>
            </a:r>
          </a:p>
          <a:p>
            <a:pPr>
              <a:spcBef>
                <a:spcPts val="900"/>
              </a:spcBef>
            </a:pPr>
            <a:r>
              <a:rPr sz="1600">
                <a:solidFill>
                  <a:srgbClr val="1E293B"/>
                </a:solidFill>
              </a:rPr>
              <a:t>• 3</a:t>
            </a:r>
          </a:p>
          <a:p>
            <a:pPr>
              <a:spcBef>
                <a:spcPts val="900"/>
              </a:spcBef>
            </a:pPr>
            <a:r>
              <a:rPr sz="1600">
                <a:solidFill>
                  <a:srgbClr val="1E293B"/>
                </a:solidFill>
              </a:rPr>
              <a:t>• 篇</a:t>
            </a:r>
          </a:p>
          <a:p>
            <a:pPr>
              <a:spcBef>
                <a:spcPts val="900"/>
              </a:spcBef>
            </a:pPr>
            <a:r>
              <a:rPr sz="1600">
                <a:solidFill>
                  <a:srgbClr val="1E293B"/>
                </a:solidFill>
              </a:rPr>
              <a:t>• 计</a:t>
            </a:r>
          </a:p>
          <a:p>
            <a:pPr>
              <a:spcBef>
                <a:spcPts val="900"/>
              </a:spcBef>
            </a:pPr>
            <a:r>
              <a:rPr sz="1600">
                <a:solidFill>
                  <a:srgbClr val="1E293B"/>
                </a:solidFill>
              </a:rPr>
              <a:t>• 时</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a:t>
            </a:r>
          </a:p>
          <a:p>
            <a:pPr>
              <a:spcBef>
                <a:spcPts val="900"/>
              </a:spcBef>
            </a:pPr>
            <a:r>
              <a:rPr sz="1600">
                <a:solidFill>
                  <a:srgbClr val="1E293B"/>
                </a:solidFill>
              </a:rPr>
              <a:t>• 3</a:t>
            </a:r>
          </a:p>
          <a:p>
            <a:pPr>
              <a:spcBef>
                <a:spcPts val="900"/>
              </a:spcBef>
            </a:pPr>
            <a:r>
              <a:rPr sz="1600">
                <a:solidFill>
                  <a:srgbClr val="1E293B"/>
                </a:solidFill>
              </a:rPr>
              <a:t>• 篇</a:t>
            </a:r>
          </a:p>
          <a:p>
            <a:pPr>
              <a:spcBef>
                <a:spcPts val="900"/>
              </a:spcBef>
            </a:pPr>
            <a:r>
              <a:rPr sz="1600">
                <a:solidFill>
                  <a:srgbClr val="1E293B"/>
                </a:solidFill>
              </a:rPr>
              <a:t>• 精</a:t>
            </a:r>
          </a:p>
          <a:p>
            <a:pPr>
              <a:spcBef>
                <a:spcPts val="900"/>
              </a:spcBef>
            </a:pPr>
            <a:r>
              <a:rPr sz="1600">
                <a:solidFill>
                  <a:srgbClr val="1E293B"/>
                </a:solidFill>
              </a:rPr>
              <a:t>• 细</a:t>
            </a:r>
          </a:p>
          <a:p>
            <a:pPr>
              <a:spcBef>
                <a:spcPts val="900"/>
              </a:spcBef>
            </a:pPr>
            <a:r>
              <a:rPr sz="1600">
                <a:solidFill>
                  <a:srgbClr val="1E293B"/>
                </a:solidFill>
              </a:rPr>
              <a:t>• 修</a:t>
            </a:r>
          </a:p>
          <a:p>
            <a:pPr>
              <a:spcBef>
                <a:spcPts val="900"/>
              </a:spcBef>
            </a:pPr>
            <a:r>
              <a:rPr sz="1600">
                <a:solidFill>
                  <a:srgbClr val="1E293B"/>
                </a:solidFill>
              </a:rPr>
              <a:t>• 正</a:t>
            </a:r>
          </a:p>
          <a:p>
            <a:pPr>
              <a:spcBef>
                <a:spcPts val="900"/>
              </a:spcBef>
            </a:pPr>
            <a:r>
              <a:rPr sz="1600">
                <a:solidFill>
                  <a:srgbClr val="1E293B"/>
                </a:solidFill>
              </a:rPr>
              <a:t>• =</a:t>
            </a:r>
          </a:p>
          <a:p>
            <a:pPr>
              <a:spcBef>
                <a:spcPts val="900"/>
              </a:spcBef>
            </a:pPr>
            <a:r>
              <a:rPr sz="1600">
                <a:solidFill>
                  <a:srgbClr val="1E293B"/>
                </a:solidFill>
              </a:rPr>
              <a:t>• 约</a:t>
            </a:r>
          </a:p>
          <a:p>
            <a:pPr>
              <a:spcBef>
                <a:spcPts val="900"/>
              </a:spcBef>
            </a:pPr>
            <a:r>
              <a:rPr sz="1600">
                <a:solidFill>
                  <a:srgbClr val="1E293B"/>
                </a:solidFill>
              </a:rPr>
              <a:t>• 6</a:t>
            </a:r>
          </a:p>
          <a:p>
            <a:pPr>
              <a:spcBef>
                <a:spcPts val="900"/>
              </a:spcBef>
            </a:pPr>
            <a:r>
              <a:rPr sz="1600">
                <a:solidFill>
                  <a:srgbClr val="1E293B"/>
                </a:solidFill>
              </a:rPr>
              <a:t>• 小</a:t>
            </a:r>
          </a:p>
          <a:p>
            <a:pPr>
              <a:spcBef>
                <a:spcPts val="900"/>
              </a:spcBef>
            </a:pPr>
            <a:r>
              <a:rPr sz="1600">
                <a:solidFill>
                  <a:srgbClr val="1E293B"/>
                </a:solidFill>
              </a:rPr>
              <a:t>• 时</a:t>
            </a:r>
          </a:p>
          <a:p>
            <a:pPr>
              <a:spcBef>
                <a:spcPts val="900"/>
              </a:spcBef>
            </a:pPr>
            <a:r>
              <a:rPr sz="1600">
                <a:solidFill>
                  <a:srgbClr val="1E293B"/>
                </a:solidFill>
              </a:rPr>
              <a:t>• 。</a:t>
            </a:r>
          </a:p>
          <a:p>
            <a:pPr>
              <a:spcBef>
                <a:spcPts val="900"/>
              </a:spcBef>
            </a:pPr>
            <a:r>
              <a:rPr sz="1600">
                <a:solidFill>
                  <a:srgbClr val="1E293B"/>
                </a:solidFill>
              </a:rPr>
              <a:t>• 8</a:t>
            </a:r>
          </a:p>
          <a:p>
            <a:pPr>
              <a:spcBef>
                <a:spcPts val="900"/>
              </a:spcBef>
            </a:pPr>
            <a:r>
              <a:rPr sz="1600">
                <a:solidFill>
                  <a:srgbClr val="1E293B"/>
                </a:solidFill>
              </a:rPr>
              <a:t>• 周</a:t>
            </a:r>
          </a:p>
          <a:p>
            <a:pPr>
              <a:spcBef>
                <a:spcPts val="900"/>
              </a:spcBef>
            </a:pPr>
            <a:r>
              <a:rPr sz="1600">
                <a:solidFill>
                  <a:srgbClr val="1E293B"/>
                </a:solidFill>
              </a:rPr>
              <a:t>• 后</a:t>
            </a:r>
          </a:p>
          <a:p>
            <a:pPr>
              <a:spcBef>
                <a:spcPts val="900"/>
              </a:spcBef>
            </a:pPr>
            <a:r>
              <a:rPr sz="1600">
                <a:solidFill>
                  <a:srgbClr val="1E293B"/>
                </a:solidFill>
              </a:rPr>
              <a:t>• 差</a:t>
            </a:r>
          </a:p>
          <a:p>
            <a:pPr>
              <a:spcBef>
                <a:spcPts val="900"/>
              </a:spcBef>
            </a:pPr>
            <a:r>
              <a:rPr sz="1600">
                <a:solidFill>
                  <a:srgbClr val="1E293B"/>
                </a:solidFill>
              </a:rPr>
              <a:t>• 距</a:t>
            </a:r>
          </a:p>
          <a:p>
            <a:pPr>
              <a:spcBef>
                <a:spcPts val="900"/>
              </a:spcBef>
            </a:pPr>
            <a:r>
              <a:rPr sz="1600">
                <a:solidFill>
                  <a:srgbClr val="1E293B"/>
                </a:solidFill>
              </a:rPr>
              <a:t>• 显</a:t>
            </a:r>
          </a:p>
          <a:p>
            <a:pPr>
              <a:spcBef>
                <a:spcPts val="900"/>
              </a:spcBef>
            </a:pPr>
            <a:r>
              <a:rPr sz="1600">
                <a:solidFill>
                  <a:srgbClr val="1E293B"/>
                </a:solidFill>
              </a:rPr>
              <a:t>• 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模考答案精析：如何最大化学习收益</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第一步·计时写作：在真实考场条件下写（不查字典，不停笔，严格计时）</a:t>
            </a:r>
          </a:p>
          <a:p>
            <a:pPr>
              <a:spcBef>
                <a:spcPts val="1000"/>
              </a:spcBef>
            </a:pPr>
            <a:r>
              <a:rPr sz="1650">
                <a:solidFill>
                  <a:srgbClr val="1E293B"/>
                </a:solidFill>
              </a:rPr>
              <a:t>• 第二步·自我评分：用四维表给自己打分，找出最弱维度</a:t>
            </a:r>
          </a:p>
          <a:p>
            <a:pPr>
              <a:spcBef>
                <a:spcPts val="1000"/>
              </a:spcBef>
            </a:pPr>
            <a:r>
              <a:rPr sz="1650">
                <a:solidFill>
                  <a:srgbClr val="1E293B"/>
                </a:solidFill>
              </a:rPr>
              <a:t>• 第三步·对照范文：找Band 7-8范文，对比自己的引言/主题句/词汇</a:t>
            </a:r>
          </a:p>
          <a:p>
            <a:pPr>
              <a:spcBef>
                <a:spcPts val="1000"/>
              </a:spcBef>
            </a:pPr>
            <a:r>
              <a:rPr sz="1650">
                <a:solidFill>
                  <a:srgbClr val="1E293B"/>
                </a:solidFill>
              </a:rPr>
              <a:t>• 第四步·定向改写：针对最弱维度改写自己的段落（不是重写全文）</a:t>
            </a:r>
          </a:p>
          <a:p>
            <a:pPr>
              <a:spcBef>
                <a:spcPts val="1000"/>
              </a:spcBef>
            </a:pPr>
            <a:r>
              <a:rPr sz="1650">
                <a:solidFill>
                  <a:srgbClr val="1E293B"/>
                </a:solidFill>
              </a:rPr>
              <a:t>• 第五步·建立错误清单：记录每次出现的新错误类型</a:t>
            </a:r>
          </a:p>
          <a:p>
            <a:pPr>
              <a:spcBef>
                <a:spcPts val="1000"/>
              </a:spcBef>
            </a:pPr>
            <a:r>
              <a:rPr sz="1650">
                <a:solidFill>
                  <a:srgbClr val="1E293B"/>
                </a:solidFill>
              </a:rPr>
              <a:t>• 第六步·消化时间：修改分析花的时间应该是写作时间的2倍</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临考前2周冲刺计划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第1-3天：做2套完整模考（Task 1+Task 2），计时，自评，对照范文</a:t>
            </a:r>
          </a:p>
          <a:p>
            <a:pPr>
              <a:spcBef>
                <a:spcPts val="1000"/>
              </a:spcBef>
            </a:pPr>
            <a:r>
              <a:rPr sz="1650">
                <a:solidFill>
                  <a:srgbClr val="1E293B"/>
                </a:solidFill>
              </a:rPr>
              <a:t>• 第4-5天：专项练习最弱维度（如LR弱→每天10组词汇替换练习）</a:t>
            </a:r>
          </a:p>
          <a:p>
            <a:pPr>
              <a:spcBef>
                <a:spcPts val="1000"/>
              </a:spcBef>
            </a:pPr>
            <a:r>
              <a:rPr sz="1650">
                <a:solidFill>
                  <a:srgbClr val="1E293B"/>
                </a:solidFill>
              </a:rPr>
              <a:t>• 第6-7天：Overview专项（每天写5个Overview，对照标准检查）</a:t>
            </a:r>
          </a:p>
          <a:p>
            <a:pPr>
              <a:spcBef>
                <a:spcPts val="1000"/>
              </a:spcBef>
            </a:pPr>
            <a:r>
              <a:rPr sz="1650">
                <a:solidFill>
                  <a:srgbClr val="1E293B"/>
                </a:solidFill>
              </a:rPr>
              <a:t>• 第8-9天：复习所有之前的错误清单，确认没有反复犯同一错误</a:t>
            </a:r>
          </a:p>
          <a:p>
            <a:pPr>
              <a:spcBef>
                <a:spcPts val="1000"/>
              </a:spcBef>
            </a:pPr>
            <a:r>
              <a:rPr sz="1650">
                <a:solidFill>
                  <a:srgbClr val="1E293B"/>
                </a:solidFill>
              </a:rPr>
              <a:t>• 第10-12天：轻量练习，每天只写Task 2引言+结论（保持手感，不过度疲劳）</a:t>
            </a:r>
          </a:p>
          <a:p>
            <a:pPr>
              <a:spcBef>
                <a:spcPts val="1000"/>
              </a:spcBef>
            </a:pPr>
            <a:r>
              <a:rPr sz="1650">
                <a:solidFill>
                  <a:srgbClr val="1E293B"/>
                </a:solidFill>
              </a:rPr>
              <a:t>• 第13天（考试前一天）：复习词汇表+考场策略，早睡，不写新作文</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精析练习：给以下段落打分并改进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以下是一个学生的Task 2主体段：
"Technology is very important for education. Students can find information on the internet. Also, they can learn online. This helps them to get better grades. Many countries have used technology in schools and it is useful."
请按四维度打分（每维0-10）并给出改进意见。</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TA评分：6（有观点但论证太浅，缺乏具体例子）
CC评分：5（段落内有衔接词Also但没有主题句，逻辑跳跃）
LR评分：4（重复important/useful/technology，词汇极其普通）
GRA评分：5（全为简单句，无复杂结构，但无重大语法错误）
预估：约Band 5
改进版："Technology has fundamentally transformed educational access and engagement, offering learners resources that were previously unavailable in traditional classroom settings. [TS] The internet alone provides instant access to millions of academic resources, enabling students to conduct independent research and explore topics beyond their prescribed curricula. [Why] A UNESCO report found that schools integrating digital tools saw a 30% improvement in student engagement metrics. [Evidence] These findings underscore technology's potential as a powerful pedagogical instrument. [Link]"</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改进幅度：Band 5→Band 7，关键变化：TS（第一句是完整观点）+why（机制）+evidence（UNESCO数据）+link（收尾）</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预测Band分练习：以下作文得几分？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引言："Nowadays, a great number of people suggest that governments should spend more money on public art projects. In my opinion, I think that it is a good idea to invest in public art because it can help society."
主体段1："Firstly, public art can make cities more beautiful. When people walk on the street, they can see beautiful art. This makes them feel happy. A beautiful city can also attract more tourists."
请估算这篇文章的TA/CC/LR/GRA各维度分数，并给出整体Band估算。</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TA：6（有立场，有论点，但论证浅，"help society"太宽泛）
CC：5（有"Firstly"，但缺少主题句，逻辑只有表面连接词）
LR：5（重复"beautiful/help/good"，词汇普通，无不常见词汇）
GRA：5（全为简单句，无复杂结构，无语法大错）
总分：21/40→约Band 5.5
核心问题：论证浅（只说what美，没有why美有价值）+词汇普通（beautiful→aesthetically stimulating）+无复杂句型</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自我评分时记住：自评往往偏高0.5-1分，要适当保守</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临考前最后冲刺技巧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Final Sprint Techniques Before the Exam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考前一周：精准冲刺策略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不要：临考前大量写新题目（会增加焦虑，效果递减）
不要：死记硬背"万能模板"（考官能识别模板，严重扣分）
不要：熬夜刷题（疲劳写作质量更差）
要做：复习已积累的词汇表（每天15分钟）
要做：复习自己的错误清单（确认高频错误已改正）
要做：每天写一个引言+一个主体段（保持手感）
要做：考前练习一次完整的40分钟Task 2（不是看答案，是计时写）</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最</a:t>
            </a:r>
          </a:p>
          <a:p>
            <a:pPr>
              <a:spcBef>
                <a:spcPts val="900"/>
              </a:spcBef>
            </a:pPr>
            <a:r>
              <a:rPr sz="1600">
                <a:solidFill>
                  <a:srgbClr val="1E293B"/>
                </a:solidFill>
              </a:rPr>
              <a:t>• 后</a:t>
            </a:r>
          </a:p>
          <a:p>
            <a:pPr>
              <a:spcBef>
                <a:spcPts val="900"/>
              </a:spcBef>
            </a:pPr>
            <a:r>
              <a:rPr sz="1600">
                <a:solidFill>
                  <a:srgbClr val="1E293B"/>
                </a:solidFill>
              </a:rPr>
              <a:t>• 冲</a:t>
            </a:r>
          </a:p>
          <a:p>
            <a:pPr>
              <a:spcBef>
                <a:spcPts val="900"/>
              </a:spcBef>
            </a:pPr>
            <a:r>
              <a:rPr sz="1600">
                <a:solidFill>
                  <a:srgbClr val="1E293B"/>
                </a:solidFill>
              </a:rPr>
              <a:t>• 刺</a:t>
            </a:r>
          </a:p>
          <a:p>
            <a:pPr>
              <a:spcBef>
                <a:spcPts val="900"/>
              </a:spcBef>
            </a:pPr>
            <a:r>
              <a:rPr sz="1600">
                <a:solidFill>
                  <a:srgbClr val="1E293B"/>
                </a:solidFill>
              </a:rPr>
              <a:t>• 不</a:t>
            </a:r>
          </a:p>
          <a:p>
            <a:pPr>
              <a:spcBef>
                <a:spcPts val="900"/>
              </a:spcBef>
            </a:pPr>
            <a:r>
              <a:rPr sz="1600">
                <a:solidFill>
                  <a:srgbClr val="1E293B"/>
                </a:solidFill>
              </a:rPr>
              <a:t>• 是</a:t>
            </a:r>
          </a:p>
          <a:p>
            <a:pPr>
              <a:spcBef>
                <a:spcPts val="900"/>
              </a:spcBef>
            </a:pPr>
            <a:r>
              <a:rPr sz="1600">
                <a:solidFill>
                  <a:srgbClr val="1E293B"/>
                </a:solidFill>
              </a:rPr>
              <a:t>• 学</a:t>
            </a:r>
          </a:p>
          <a:p>
            <a:pPr>
              <a:spcBef>
                <a:spcPts val="900"/>
              </a:spcBef>
            </a:pPr>
            <a:r>
              <a:rPr sz="1600">
                <a:solidFill>
                  <a:srgbClr val="1E293B"/>
                </a:solidFill>
              </a:rPr>
              <a:t>• 新</a:t>
            </a:r>
          </a:p>
          <a:p>
            <a:pPr>
              <a:spcBef>
                <a:spcPts val="900"/>
              </a:spcBef>
            </a:pPr>
            <a:r>
              <a:rPr sz="1600">
                <a:solidFill>
                  <a:srgbClr val="1E293B"/>
                </a:solidFill>
              </a:rPr>
              <a:t>• 东</a:t>
            </a:r>
          </a:p>
          <a:p>
            <a:pPr>
              <a:spcBef>
                <a:spcPts val="900"/>
              </a:spcBef>
            </a:pPr>
            <a:r>
              <a:rPr sz="1600">
                <a:solidFill>
                  <a:srgbClr val="1E293B"/>
                </a:solidFill>
              </a:rPr>
              <a:t>• 西</a:t>
            </a:r>
          </a:p>
          <a:p>
            <a:pPr>
              <a:spcBef>
                <a:spcPts val="900"/>
              </a:spcBef>
            </a:pPr>
            <a:r>
              <a:rPr sz="1600">
                <a:solidFill>
                  <a:srgbClr val="1E293B"/>
                </a:solidFill>
              </a:rPr>
              <a:t>• ，</a:t>
            </a:r>
          </a:p>
          <a:p>
            <a:pPr>
              <a:spcBef>
                <a:spcPts val="900"/>
              </a:spcBef>
            </a:pPr>
            <a:r>
              <a:rPr sz="1600">
                <a:solidFill>
                  <a:srgbClr val="1E293B"/>
                </a:solidFill>
              </a:rPr>
              <a:t>• 而</a:t>
            </a:r>
          </a:p>
          <a:p>
            <a:pPr>
              <a:spcBef>
                <a:spcPts val="900"/>
              </a:spcBef>
            </a:pPr>
            <a:r>
              <a:rPr sz="1600">
                <a:solidFill>
                  <a:srgbClr val="1E293B"/>
                </a:solidFill>
              </a:rPr>
              <a:t>• 是</a:t>
            </a:r>
          </a:p>
          <a:p>
            <a:pPr>
              <a:spcBef>
                <a:spcPts val="900"/>
              </a:spcBef>
            </a:pPr>
            <a:r>
              <a:rPr sz="1600">
                <a:solidFill>
                  <a:srgbClr val="1E293B"/>
                </a:solidFill>
              </a:rPr>
              <a:t>• 巩</a:t>
            </a:r>
          </a:p>
          <a:p>
            <a:pPr>
              <a:spcBef>
                <a:spcPts val="900"/>
              </a:spcBef>
            </a:pPr>
            <a:r>
              <a:rPr sz="1600">
                <a:solidFill>
                  <a:srgbClr val="1E293B"/>
                </a:solidFill>
              </a:rPr>
              <a:t>• 固</a:t>
            </a:r>
          </a:p>
          <a:p>
            <a:pPr>
              <a:spcBef>
                <a:spcPts val="900"/>
              </a:spcBef>
            </a:pPr>
            <a:r>
              <a:rPr sz="1600">
                <a:solidFill>
                  <a:srgbClr val="1E293B"/>
                </a:solidFill>
              </a:rPr>
              <a:t>• 和</a:t>
            </a:r>
          </a:p>
          <a:p>
            <a:pPr>
              <a:spcBef>
                <a:spcPts val="900"/>
              </a:spcBef>
            </a:pPr>
            <a:r>
              <a:rPr sz="1600">
                <a:solidFill>
                  <a:srgbClr val="1E293B"/>
                </a:solidFill>
              </a:rPr>
              <a:t>• 激</a:t>
            </a:r>
          </a:p>
          <a:p>
            <a:pPr>
              <a:spcBef>
                <a:spcPts val="900"/>
              </a:spcBef>
            </a:pPr>
            <a:r>
              <a:rPr sz="1600">
                <a:solidFill>
                  <a:srgbClr val="1E293B"/>
                </a:solidFill>
              </a:rPr>
              <a:t>• 活</a:t>
            </a:r>
          </a:p>
          <a:p>
            <a:pPr>
              <a:spcBef>
                <a:spcPts val="900"/>
              </a:spcBef>
            </a:pPr>
            <a:r>
              <a:rPr sz="1600">
                <a:solidFill>
                  <a:srgbClr val="1E293B"/>
                </a:solidFill>
              </a:rPr>
              <a:t>• 已</a:t>
            </a:r>
          </a:p>
          <a:p>
            <a:pPr>
              <a:spcBef>
                <a:spcPts val="900"/>
              </a:spcBef>
            </a:pPr>
            <a:r>
              <a:rPr sz="1600">
                <a:solidFill>
                  <a:srgbClr val="1E293B"/>
                </a:solidFill>
              </a:rPr>
              <a:t>• 有</a:t>
            </a:r>
          </a:p>
          <a:p>
            <a:pPr>
              <a:spcBef>
                <a:spcPts val="900"/>
              </a:spcBef>
            </a:pPr>
            <a:r>
              <a:rPr sz="1600">
                <a:solidFill>
                  <a:srgbClr val="1E293B"/>
                </a:solidFill>
              </a:rPr>
              <a:t>• 知</a:t>
            </a:r>
          </a:p>
          <a:p>
            <a:pPr>
              <a:spcBef>
                <a:spcPts val="900"/>
              </a:spcBef>
            </a:pPr>
            <a:r>
              <a:rPr sz="1600">
                <a:solidFill>
                  <a:srgbClr val="1E293B"/>
                </a:solidFill>
              </a:rPr>
              <a:t>• 识</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考场心理：自信策略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焦虑来源1：担心不认识题目→解决：IELTS话题固定（教育/环境/科技/社会/文化），提前准备通用论点
焦虑来源2：担心写不够字数→解决：展开例子，加修饰词，计算词数（一行约10-12词）
焦虑来源3：担心时间不够→解决：严格执行时间分配（20+40），宁可Task 1不完美，保Task 2
积极框架："我已准备了N周，已经掌握了写作所需的80%技能。"</a:t>
            </a:r>
          </a:p>
        </p:txBody>
      </p:sp>
      <p:sp>
        <p:nvSpPr>
          <p:cNvPr id="10" name="TextBox 9"/>
          <p:cNvSpPr txBox="1"/>
          <p:nvPr/>
        </p:nvSpPr>
        <p:spPr>
          <a:xfrm>
            <a:off x="640080" y="2240280"/>
            <a:ext cx="10972800" cy="4297680"/>
          </a:xfrm>
          <a:prstGeom prst="rect">
            <a:avLst/>
          </a:prstGeom>
          <a:noFill/>
        </p:spPr>
        <p:txBody>
          <a:bodyPr wrap="square">
            <a:spAutoFit/>
          </a:bodyPr>
          <a:lstStyle/>
          <a:p>
            <a:r>
              <a:rPr sz="1600">
                <a:solidFill>
                  <a:srgbClr val="1E293B"/>
                </a:solidFill>
              </a:rPr>
              <a:t>• 考</a:t>
            </a:r>
          </a:p>
          <a:p>
            <a:pPr>
              <a:spcBef>
                <a:spcPts val="900"/>
              </a:spcBef>
            </a:pPr>
            <a:r>
              <a:rPr sz="1600">
                <a:solidFill>
                  <a:srgbClr val="1E293B"/>
                </a:solidFill>
              </a:rPr>
              <a:t>• 试</a:t>
            </a:r>
          </a:p>
          <a:p>
            <a:pPr>
              <a:spcBef>
                <a:spcPts val="900"/>
              </a:spcBef>
            </a:pPr>
            <a:r>
              <a:rPr sz="1600">
                <a:solidFill>
                  <a:srgbClr val="1E293B"/>
                </a:solidFill>
              </a:rPr>
              <a:t>• 当</a:t>
            </a:r>
          </a:p>
          <a:p>
            <a:pPr>
              <a:spcBef>
                <a:spcPts val="900"/>
              </a:spcBef>
            </a:pPr>
            <a:r>
              <a:rPr sz="1600">
                <a:solidFill>
                  <a:srgbClr val="1E293B"/>
                </a:solidFill>
              </a:rPr>
              <a:t>• 天</a:t>
            </a:r>
          </a:p>
          <a:p>
            <a:pPr>
              <a:spcBef>
                <a:spcPts val="900"/>
              </a:spcBef>
            </a:pPr>
            <a:r>
              <a:rPr sz="1600">
                <a:solidFill>
                  <a:srgbClr val="1E293B"/>
                </a:solidFill>
              </a:rPr>
              <a:t>• ：</a:t>
            </a:r>
          </a:p>
          <a:p>
            <a:pPr>
              <a:spcBef>
                <a:spcPts val="900"/>
              </a:spcBef>
            </a:pPr>
            <a:r>
              <a:rPr sz="1600">
                <a:solidFill>
                  <a:srgbClr val="1E293B"/>
                </a:solidFill>
              </a:rPr>
              <a:t>• 早</a:t>
            </a:r>
          </a:p>
          <a:p>
            <a:pPr>
              <a:spcBef>
                <a:spcPts val="900"/>
              </a:spcBef>
            </a:pPr>
            <a:r>
              <a:rPr sz="1600">
                <a:solidFill>
                  <a:srgbClr val="1E293B"/>
                </a:solidFill>
              </a:rPr>
              <a:t>• 餐</a:t>
            </a:r>
          </a:p>
          <a:p>
            <a:pPr>
              <a:spcBef>
                <a:spcPts val="900"/>
              </a:spcBef>
            </a:pPr>
            <a:r>
              <a:rPr sz="1600">
                <a:solidFill>
                  <a:srgbClr val="1E293B"/>
                </a:solidFill>
              </a:rPr>
              <a:t>• +</a:t>
            </a:r>
          </a:p>
          <a:p>
            <a:pPr>
              <a:spcBef>
                <a:spcPts val="900"/>
              </a:spcBef>
            </a:pPr>
            <a:r>
              <a:rPr sz="1600">
                <a:solidFill>
                  <a:srgbClr val="1E293B"/>
                </a:solidFill>
              </a:rPr>
              <a:t>• 带</a:t>
            </a:r>
          </a:p>
          <a:p>
            <a:pPr>
              <a:spcBef>
                <a:spcPts val="900"/>
              </a:spcBef>
            </a:pPr>
            <a:r>
              <a:rPr sz="1600">
                <a:solidFill>
                  <a:srgbClr val="1E293B"/>
                </a:solidFill>
              </a:rPr>
              <a:t>• 表</a:t>
            </a:r>
          </a:p>
          <a:p>
            <a:pPr>
              <a:spcBef>
                <a:spcPts val="900"/>
              </a:spcBef>
            </a:pPr>
            <a:r>
              <a:rPr sz="1600">
                <a:solidFill>
                  <a:srgbClr val="1E293B"/>
                </a:solidFill>
              </a:rPr>
              <a:t>• （</a:t>
            </a:r>
          </a:p>
          <a:p>
            <a:pPr>
              <a:spcBef>
                <a:spcPts val="900"/>
              </a:spcBef>
            </a:pPr>
            <a:r>
              <a:rPr sz="1600">
                <a:solidFill>
                  <a:srgbClr val="1E293B"/>
                </a:solidFill>
              </a:rPr>
              <a:t>• 计</a:t>
            </a:r>
          </a:p>
          <a:p>
            <a:pPr>
              <a:spcBef>
                <a:spcPts val="900"/>
              </a:spcBef>
            </a:pPr>
            <a:r>
              <a:rPr sz="1600">
                <a:solidFill>
                  <a:srgbClr val="1E293B"/>
                </a:solidFill>
              </a:rPr>
              <a:t>• 时</a:t>
            </a:r>
          </a:p>
          <a:p>
            <a:pPr>
              <a:spcBef>
                <a:spcPts val="900"/>
              </a:spcBef>
            </a:pPr>
            <a:r>
              <a:rPr sz="1600">
                <a:solidFill>
                  <a:srgbClr val="1E293B"/>
                </a:solidFill>
              </a:rPr>
              <a:t>• ）</a:t>
            </a:r>
          </a:p>
          <a:p>
            <a:pPr>
              <a:spcBef>
                <a:spcPts val="900"/>
              </a:spcBef>
            </a:pPr>
            <a:r>
              <a:rPr sz="1600">
                <a:solidFill>
                  <a:srgbClr val="1E293B"/>
                </a:solidFill>
              </a:rPr>
              <a:t>• +</a:t>
            </a:r>
          </a:p>
          <a:p>
            <a:pPr>
              <a:spcBef>
                <a:spcPts val="900"/>
              </a:spcBef>
            </a:pPr>
            <a:r>
              <a:rPr sz="1600">
                <a:solidFill>
                  <a:srgbClr val="1E293B"/>
                </a:solidFill>
              </a:rPr>
              <a:t>• 5</a:t>
            </a:r>
          </a:p>
          <a:p>
            <a:pPr>
              <a:spcBef>
                <a:spcPts val="900"/>
              </a:spcBef>
            </a:pPr>
            <a:r>
              <a:rPr sz="1600">
                <a:solidFill>
                  <a:srgbClr val="1E293B"/>
                </a:solidFill>
              </a:rPr>
              <a:t>• 分</a:t>
            </a:r>
          </a:p>
          <a:p>
            <a:pPr>
              <a:spcBef>
                <a:spcPts val="900"/>
              </a:spcBef>
            </a:pPr>
            <a:r>
              <a:rPr sz="1600">
                <a:solidFill>
                  <a:srgbClr val="1E293B"/>
                </a:solidFill>
              </a:rPr>
              <a:t>• 钟</a:t>
            </a:r>
          </a:p>
          <a:p>
            <a:pPr>
              <a:spcBef>
                <a:spcPts val="900"/>
              </a:spcBef>
            </a:pPr>
            <a:r>
              <a:rPr sz="1600">
                <a:solidFill>
                  <a:srgbClr val="1E293B"/>
                </a:solidFill>
              </a:rPr>
              <a:t>• 写</a:t>
            </a:r>
          </a:p>
          <a:p>
            <a:pPr>
              <a:spcBef>
                <a:spcPts val="900"/>
              </a:spcBef>
            </a:pPr>
            <a:r>
              <a:rPr sz="1600">
                <a:solidFill>
                  <a:srgbClr val="1E293B"/>
                </a:solidFill>
              </a:rPr>
              <a:t>• 作</a:t>
            </a:r>
          </a:p>
          <a:p>
            <a:pPr>
              <a:spcBef>
                <a:spcPts val="900"/>
              </a:spcBef>
            </a:pPr>
            <a:r>
              <a:rPr sz="1600">
                <a:solidFill>
                  <a:srgbClr val="1E293B"/>
                </a:solidFill>
              </a:rPr>
              <a:t>• 前</a:t>
            </a:r>
          </a:p>
          <a:p>
            <a:pPr>
              <a:spcBef>
                <a:spcPts val="900"/>
              </a:spcBef>
            </a:pPr>
            <a:r>
              <a:rPr sz="1600">
                <a:solidFill>
                  <a:srgbClr val="1E293B"/>
                </a:solidFill>
              </a:rPr>
              <a:t>• 深</a:t>
            </a:r>
          </a:p>
          <a:p>
            <a:pPr>
              <a:spcBef>
                <a:spcPts val="900"/>
              </a:spcBef>
            </a:pPr>
            <a:r>
              <a:rPr sz="1600">
                <a:solidFill>
                  <a:srgbClr val="1E293B"/>
                </a:solidFill>
              </a:rPr>
              <a:t>• 呼</a:t>
            </a:r>
          </a:p>
          <a:p>
            <a:pPr>
              <a:spcBef>
                <a:spcPts val="900"/>
              </a:spcBef>
            </a:pPr>
            <a:r>
              <a:rPr sz="1600">
                <a:solidFill>
                  <a:srgbClr val="1E293B"/>
                </a:solidFill>
              </a:rPr>
              <a:t>• 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5大话题通用论点速查：考场急用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教育话题通用论点：教育提升经济竞争力/批判性思维培养/减少贫困/国际化视野</a:t>
            </a:r>
          </a:p>
          <a:p>
            <a:pPr>
              <a:spcBef>
                <a:spcPts val="1000"/>
              </a:spcBef>
            </a:pPr>
            <a:r>
              <a:rPr sz="1650">
                <a:solidFill>
                  <a:srgbClr val="1E293B"/>
                </a:solidFill>
              </a:rPr>
              <a:t>• 环境话题通用论点：气候变化威胁/可持续发展/可再生能源转型/消费主义反思</a:t>
            </a:r>
          </a:p>
          <a:p>
            <a:pPr>
              <a:spcBef>
                <a:spcPts val="1000"/>
              </a:spcBef>
            </a:pPr>
            <a:r>
              <a:rPr sz="1650">
                <a:solidFill>
                  <a:srgbClr val="1E293B"/>
                </a:solidFill>
              </a:rPr>
              <a:t>• 科技话题通用论点：信息获取民主化/自动化与就业/隐私安全/数字鸿沟</a:t>
            </a:r>
          </a:p>
          <a:p>
            <a:pPr>
              <a:spcBef>
                <a:spcPts val="1000"/>
              </a:spcBef>
            </a:pPr>
            <a:r>
              <a:rPr sz="1650">
                <a:solidFill>
                  <a:srgbClr val="1E293B"/>
                </a:solidFill>
              </a:rPr>
              <a:t>• 社会话题通用论点：城乡差距/人口老龄化/贫富不均/移民与文化融合</a:t>
            </a:r>
          </a:p>
          <a:p>
            <a:pPr>
              <a:spcBef>
                <a:spcPts val="1000"/>
              </a:spcBef>
            </a:pPr>
            <a:r>
              <a:rPr sz="1650">
                <a:solidFill>
                  <a:srgbClr val="1E293B"/>
                </a:solidFill>
              </a:rPr>
              <a:t>• 文化话题通用论点：文化遗产保护/全球化与本土化/传统价值现代适用性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最后检查清单：考场最后5分钟</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Task 1：字数≥150？有Overview？引言是paraphrase（非照抄）？</a:t>
            </a:r>
          </a:p>
          <a:p>
            <a:pPr>
              <a:spcBef>
                <a:spcPts val="1000"/>
              </a:spcBef>
            </a:pPr>
            <a:r>
              <a:rPr sz="1650">
                <a:solidFill>
                  <a:srgbClr val="1E293B"/>
                </a:solidFill>
              </a:rPr>
              <a:t>• Task 2：字数≥250？引言有明确立场？结论与引言立场一致？</a:t>
            </a:r>
          </a:p>
          <a:p>
            <a:pPr>
              <a:spcBef>
                <a:spcPts val="1000"/>
              </a:spcBef>
            </a:pPr>
            <a:r>
              <a:rPr sz="1650">
                <a:solidFill>
                  <a:srgbClr val="1E293B"/>
                </a:solidFill>
              </a:rPr>
              <a:t>• Task 2：每段主体段有主题句（第一句能独立表达观点）？</a:t>
            </a:r>
          </a:p>
          <a:p>
            <a:pPr>
              <a:spcBef>
                <a:spcPts val="1000"/>
              </a:spcBef>
            </a:pPr>
            <a:r>
              <a:rPr sz="1650">
                <a:solidFill>
                  <a:srgbClr val="1E293B"/>
                </a:solidFill>
              </a:rPr>
              <a:t>• GRA：扫描一遍主谓一致（特别是"The number of/Each/Every"后的动词）</a:t>
            </a:r>
          </a:p>
          <a:p>
            <a:pPr>
              <a:spcBef>
                <a:spcPts val="1000"/>
              </a:spcBef>
            </a:pPr>
            <a:r>
              <a:rPr sz="1650">
                <a:solidFill>
                  <a:srgbClr val="1E293B"/>
                </a:solidFill>
              </a:rPr>
              <a:t>• LR：有没有明显重复的词（出现3次以上的词）？</a:t>
            </a:r>
          </a:p>
          <a:p>
            <a:pPr>
              <a:spcBef>
                <a:spcPts val="1000"/>
              </a:spcBef>
            </a:pPr>
            <a:r>
              <a:rPr sz="1650">
                <a:solidFill>
                  <a:srgbClr val="1E293B"/>
                </a:solidFill>
              </a:rPr>
              <a:t>• 情态动词：should/must/can后面跟的是动词原形（不是-ing或-s）？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备考最终检验：完成以下自测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请在45秒内回答以下问题（不看书）：
①Task 1的Overview从哪个词开始，写几句，能不能写具体数字？
②Task 2的引言最后一句应该包含什么？
③"The number of students ARE increasing"有什么语法错误？
④"conduct research"是正确搭配，那"make/do research"是否可以？
⑤"Although...but..."结构有什么问题？</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①Overall开头，2句话，不能写具体数字（只写趋势和特征）
②明确的立场句（I firmly argue/contend/believe that...）
③主语是"number"（单数）→应用IS（The number of students IS increasing）
④不可以（make/do research是错误搭配，正确是conduct/carry out research）
⑤Although和but不能同时使用（两者都是连词，只能选一个）</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5题全对=Band 7词法意识。3-4题对=Band 6水平。需要继续复习错误类型。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考场写作最后1分钟：快速决策树</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场景：你还有1分钟，但发现Task 2主体段1没有主题句（直接从例子开始）。
你有两个选择：
(A) 在段落开头空白处插入一个主题句
(B) 用最后1分钟检查其他段落的语法
请说出你的选择并给出理由。</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建议选择：(A) 插入主题句
理由：主题句是CC维度的关键要素（每段无主题句→CC从7掉到5-6）。1分钟可以写一个简短的主题句（15-20词），而语法检查在已有的错误中通常无法在1分钟内发现并改正多个错误。
参考主题句写法（快速版）："[This paragraph argues that / One key reason is that] + 本段核心观点（1句话）"
原则：CC结构分（主题句）&gt; 细节语法改正，主题句影响更大。</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考场决策原则：从高权重的问题开始修正（TA/CC &gt; LR/GRA）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1满分范文：折线图完整版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题目：题目：The line graph shows the percentage of households with internet access in Japan, South Korea, Germany, and Brazil between 2000 and 2020.</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引言：The line graph illustrates the proportion of households with internet connectivity in four countries — Japan, South Korea, Germany, and Brazil — across a twenty-year period.
Overall: Overall, internet penetration increased in all four nations over the period. South Korea consistently recorded the highest access rates, while Brazil demonstrated the most dramatic growth, rising from a very low base to reach comparable levels with the European nation by 2020.
主体段1（亚洲）：South Korea led all four countries throughout the period, with household internet access climbing from 45% in 2000 to 95% by 2020. Japan followed a similar upward trajectory, rising from 34% to 91%, though it remained slightly below South Korean figures at each measured point.
主体段2（欧洲+拉美）：Germany also registered consistent growth, increasing from 30% to 88% over the two decades. The most notable change, however, occurred in Brazil, where internet access rose nearly fifteenfold, from just 5% in 2000 to 74% in 2020, narrowing the gap with Germany considerably by the end of the period.</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Overview两句：①全部上升②最高是韩国③增幅最大是巴西——三个特征都覆盖</a:t>
            </a:r>
          </a:p>
          <a:p>
            <a:pPr>
              <a:spcBef>
                <a:spcPts val="700"/>
              </a:spcBef>
            </a:pPr>
            <a:r>
              <a:rPr sz="1200">
                <a:solidFill>
                  <a:srgbClr val="1E293B"/>
                </a:solidFill>
              </a:rPr>
              <a:t>▸ 分组合理：亚洲（日/韩）一段，欧+拉美（德/巴）一段</a:t>
            </a:r>
          </a:p>
          <a:p>
            <a:pPr>
              <a:spcBef>
                <a:spcPts val="700"/>
              </a:spcBef>
            </a:pPr>
            <a:r>
              <a:rPr sz="1200">
                <a:solidFill>
                  <a:srgbClr val="1E293B"/>
                </a:solidFill>
              </a:rPr>
              <a:t>▸ LR亮点：trajectory/penetration/fifteenfold/narrowing the gap</a:t>
            </a:r>
          </a:p>
          <a:p>
            <a:pPr>
              <a:spcBef>
                <a:spcPts val="700"/>
              </a:spcBef>
            </a:pPr>
            <a:r>
              <a:rPr sz="1200">
                <a:solidFill>
                  <a:srgbClr val="1E293B"/>
                </a:solidFill>
              </a:rPr>
              <a:t>▸ 字数：约160词（在150-170词最佳范围内）</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2满分范文：道路安全Opinion Essay</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题目：题目：Some people believe that the best way to increase road safety is to increase the minimum age for driving cars or riding motorbikes. To what extent do you agree or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引言：Road safety remains a pressing concern in many countries, with traffic fatalities causing thousands of preventable deaths annually. While some advocate for raising the minimum driving age as the most effective remedy, I partially agree with this view, as age restrictions alone are insufficient without complementary measures such as driver education reform and stricter enforcement.
主体段1（同意部分）：Raising the minimum driving age to 18 or beyond would likely reduce accidents among the highest-risk demographic: inexperienced young drivers. Statistical evidence supports this argument — the WHO reports that drivers aged 15-24 are disproportionately represented in road fatalities, accounting for 23% of deaths. This vulnerability stems partly from neurological immaturity; the prefrontal cortex, responsible for risk assessment, is not fully developed until the mid-twenties.
主体段2（补充论点）：However, age thresholds alone do not address the root causes of accidents attributable to all age groups, including drink-driving, speeding, and mobile phone use. Countries such as Sweden and Finland, which combine rigorous testing standards with zero-tolerance enforcement policies, consistently record the world's lowest traffic fatality rates, regardless of minimum age requirements.
结论：In conclusion, while raising the minimum driving age may contribute to improved safety among younger road users, I contend that it should form part of a multi-faceted strategy. Comprehensive driver education and robust enforcement of traffic laws are equally, if not more, essential for achieving meaningful and sustained reductions in road fatalities.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立场：partially agree（不是完全同意，有保留——显示思维成熟度）</a:t>
            </a:r>
          </a:p>
          <a:p>
            <a:pPr>
              <a:spcBef>
                <a:spcPts val="700"/>
              </a:spcBef>
            </a:pPr>
            <a:r>
              <a:rPr sz="1200">
                <a:solidFill>
                  <a:srgbClr val="1E293B"/>
                </a:solidFill>
              </a:rPr>
              <a:t>▸ LR亮点：pressing/complementary/disproportionately/neurological immaturity/zero-tolerance</a:t>
            </a:r>
          </a:p>
          <a:p>
            <a:pPr>
              <a:spcBef>
                <a:spcPts val="700"/>
              </a:spcBef>
            </a:pPr>
            <a:r>
              <a:rPr sz="1200">
                <a:solidFill>
                  <a:srgbClr val="1E293B"/>
                </a:solidFill>
              </a:rPr>
              <a:t>▸ GRA亮点：while让步从句/who定语从句/分号使用/比较结构if not more</a:t>
            </a:r>
          </a:p>
          <a:p>
            <a:pPr>
              <a:spcBef>
                <a:spcPts val="700"/>
              </a:spcBef>
            </a:pPr>
            <a:r>
              <a:rPr sz="1200">
                <a:solidFill>
                  <a:srgbClr val="1E293B"/>
                </a:solidFill>
              </a:rPr>
              <a:t>▸ 字数：约280词（符合250-300词最佳范围）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高分引言 vs 低分引言：对比分析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低分引言（Band 5特征）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高分引言（Band 7特征）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原文："Nowadays, road safety is a big problem. Many people think we should increase driving age. Others disagree. I think both are right in some ways."</a:t>
            </a:r>
          </a:p>
          <a:p>
            <a:pPr>
              <a:spcBef>
                <a:spcPts val="700"/>
              </a:spcBef>
            </a:pPr>
            <a:r>
              <a:rPr sz="1350">
                <a:solidFill>
                  <a:srgbClr val="C02A2A"/>
                </a:solidFill>
              </a:rPr>
              <a:t>✗ 问题①：立场不明确（"both are right in some ways"）→TA最高5</a:t>
            </a:r>
          </a:p>
          <a:p>
            <a:pPr>
              <a:spcBef>
                <a:spcPts val="700"/>
              </a:spcBef>
            </a:pPr>
            <a:r>
              <a:rPr sz="1350">
                <a:solidFill>
                  <a:srgbClr val="C02A2A"/>
                </a:solidFill>
              </a:rPr>
              <a:t>✗ 问题②：词汇普通重复（big problem/many people/think）→LR=5</a:t>
            </a:r>
          </a:p>
          <a:p>
            <a:pPr>
              <a:spcBef>
                <a:spcPts val="700"/>
              </a:spcBef>
            </a:pPr>
            <a:r>
              <a:rPr sz="1350">
                <a:solidFill>
                  <a:srgbClr val="C02A2A"/>
                </a:solidFill>
              </a:rPr>
              <a:t>✗ 问题③：全为简单句，无复杂结构→GRA=5</a:t>
            </a:r>
          </a:p>
          <a:p>
            <a:pPr>
              <a:spcBef>
                <a:spcPts val="700"/>
              </a:spcBef>
            </a:pPr>
            <a:r>
              <a:rPr sz="1350">
                <a:solidFill>
                  <a:srgbClr val="C02A2A"/>
                </a:solidFill>
              </a:rPr>
              <a:t>✗ 问题④："Nowadays"是套话，直接开头显示写作成熟度低</a:t>
            </a:r>
          </a:p>
          <a:p>
            <a:pPr>
              <a:spcBef>
                <a:spcPts val="700"/>
              </a:spcBef>
            </a:pPr>
            <a:r>
              <a:rPr sz="1350">
                <a:solidFill>
                  <a:srgbClr val="C02A2A"/>
                </a:solidFill>
              </a:rPr>
              <a:t>✗ 预估：Band 5-5.5</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改写："Road safety remains a pressing concern in many nations, with traffic-related fatalities claiming thousands of lives annually. While proponents of age restrictions argue that inexperienced young drivers pose the greatest risk, I contend that raising the minimum driving age, although beneficial, must be accompanied by parallel reforms in driver training and law enforcement to achieve meaningful improvement."</a:t>
            </a:r>
          </a:p>
          <a:p>
            <a:pPr>
              <a:spcBef>
                <a:spcPts val="700"/>
              </a:spcBef>
            </a:pPr>
            <a:r>
              <a:rPr sz="1350">
                <a:solidFill>
                  <a:srgbClr val="1B7A3D"/>
                </a:solidFill>
              </a:rPr>
              <a:t>✓ 亮点①：立场明确（I contend that...must be accompanied by）→TA=7</a:t>
            </a:r>
          </a:p>
          <a:p>
            <a:pPr>
              <a:spcBef>
                <a:spcPts val="700"/>
              </a:spcBef>
            </a:pPr>
            <a:r>
              <a:rPr sz="1350">
                <a:solidFill>
                  <a:srgbClr val="1B7A3D"/>
                </a:solidFill>
              </a:rPr>
              <a:t>✓ 亮点②：词汇：pressing concern/fatalities/proponents/parallel reforms→LR=7</a:t>
            </a:r>
          </a:p>
          <a:p>
            <a:pPr>
              <a:spcBef>
                <a:spcPts val="700"/>
              </a:spcBef>
            </a:pPr>
            <a:r>
              <a:rPr sz="1350">
                <a:solidFill>
                  <a:srgbClr val="1B7A3D"/>
                </a:solidFill>
              </a:rPr>
              <a:t>✓ 亮点③：While让步从句+although让步从句（双重复杂结构）→GRA=7</a:t>
            </a:r>
          </a:p>
          <a:p>
            <a:pPr>
              <a:spcBef>
                <a:spcPts val="700"/>
              </a:spcBef>
            </a:pPr>
            <a:r>
              <a:rPr sz="1350">
                <a:solidFill>
                  <a:srgbClr val="1B7A3D"/>
                </a:solidFill>
              </a:rPr>
              <a:t>✓ 预估：Band 7-7.5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主体段：浅层论证 vs 深层论证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浅层论证（Band 5）</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深层论证（Band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TS："Raising driving age can reduce accidents."</a:t>
            </a:r>
          </a:p>
          <a:p>
            <a:pPr>
              <a:spcBef>
                <a:spcPts val="700"/>
              </a:spcBef>
            </a:pPr>
            <a:r>
              <a:rPr sz="1350">
                <a:solidFill>
                  <a:srgbClr val="C02A2A"/>
                </a:solidFill>
              </a:rPr>
              <a:t>✗ 论证："Young people do not have much experience driving."</a:t>
            </a:r>
          </a:p>
          <a:p>
            <a:pPr>
              <a:spcBef>
                <a:spcPts val="700"/>
              </a:spcBef>
            </a:pPr>
            <a:r>
              <a:rPr sz="1350">
                <a:solidFill>
                  <a:srgbClr val="C02A2A"/>
                </a:solidFill>
              </a:rPr>
              <a:t>✗ "They can easily make mistakes."</a:t>
            </a:r>
          </a:p>
          <a:p>
            <a:pPr>
              <a:spcBef>
                <a:spcPts val="700"/>
              </a:spcBef>
            </a:pPr>
            <a:r>
              <a:rPr sz="1350">
                <a:solidFill>
                  <a:srgbClr val="C02A2A"/>
                </a:solidFill>
              </a:rPr>
              <a:t>✗ "This causes many accidents and people die."</a:t>
            </a:r>
          </a:p>
          <a:p>
            <a:pPr>
              <a:spcBef>
                <a:spcPts val="700"/>
              </a:spcBef>
            </a:pPr>
            <a:r>
              <a:rPr sz="1350">
                <a:solidFill>
                  <a:srgbClr val="C02A2A"/>
                </a:solidFill>
              </a:rPr>
              <a:t>✗ "So raising age is a good idea."</a:t>
            </a:r>
          </a:p>
          <a:p>
            <a:pPr>
              <a:spcBef>
                <a:spcPts val="700"/>
              </a:spcBef>
            </a:pPr>
            <a:r>
              <a:rPr sz="1350">
                <a:solidFill>
                  <a:srgbClr val="C02A2A"/>
                </a:solidFill>
              </a:rPr>
              <a:t>✗ 问题：只有观点链，没有机制解释，没有证据，没有反思</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TS："Raising the minimum driving age would reduce accident rates among the statistically most vulnerable group of road users."</a:t>
            </a:r>
          </a:p>
          <a:p>
            <a:pPr>
              <a:spcBef>
                <a:spcPts val="700"/>
              </a:spcBef>
            </a:pPr>
            <a:r>
              <a:rPr sz="1350">
                <a:solidFill>
                  <a:srgbClr val="1B7A3D"/>
                </a:solidFill>
              </a:rPr>
              <a:t>✓ Why："Neurological research indicates that the prefrontal cortex — the brain region governing risk assessment and impulse control — continues developing into the mid-twenties, leaving adolescent drivers physiologically predisposed to risky decision-making."</a:t>
            </a:r>
          </a:p>
          <a:p>
            <a:pPr>
              <a:spcBef>
                <a:spcPts val="700"/>
              </a:spcBef>
            </a:pPr>
            <a:r>
              <a:rPr sz="1350">
                <a:solidFill>
                  <a:srgbClr val="1B7A3D"/>
                </a:solidFill>
              </a:rPr>
              <a:t>✓ Evidence："WHO data confirms that drivers aged 15-24 account for 23% of road fatalities despite representing a proportionally smaller share of license holders."</a:t>
            </a:r>
          </a:p>
          <a:p>
            <a:pPr>
              <a:spcBef>
                <a:spcPts val="700"/>
              </a:spcBef>
            </a:pPr>
            <a:r>
              <a:rPr sz="1350">
                <a:solidFill>
                  <a:srgbClr val="1B7A3D"/>
                </a:solidFill>
              </a:rPr>
              <a:t>✓ Link："These findings provide compelling justification for delaying full driving privileges until neurological maturity is reached."</a:t>
            </a:r>
          </a:p>
          <a:p>
            <a:pPr>
              <a:spcBef>
                <a:spcPts val="700"/>
              </a:spcBef>
            </a:pPr>
            <a:r>
              <a:rPr sz="1350">
                <a:solidFill>
                  <a:srgbClr val="1B7A3D"/>
                </a:solidFill>
              </a:rPr>
              <a:t>✓ 特点：TS→神经科学机制→权威数据→逻辑链收束</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考场40分钟Task 2执行流程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分钟0-3·审题与立场确定</a:t>
            </a:r>
          </a:p>
        </p:txBody>
      </p:sp>
      <p:sp>
        <p:nvSpPr>
          <p:cNvPr id="12" name="TextBox 11"/>
          <p:cNvSpPr txBox="1"/>
          <p:nvPr/>
        </p:nvSpPr>
        <p:spPr>
          <a:xfrm>
            <a:off x="1417320" y="1645919"/>
            <a:ext cx="10058400" cy="313508"/>
          </a:xfrm>
          <a:prstGeom prst="rect">
            <a:avLst/>
          </a:prstGeom>
          <a:noFill/>
        </p:spPr>
        <p:txBody>
          <a:bodyPr wrap="square" anchor="t">
            <a:spAutoFit/>
          </a:bodyPr>
          <a:lstStyle/>
          <a:p>
            <a:pPr algn="l"/>
            <a:r>
              <a:rPr sz="1350" b="0" i="0">
                <a:solidFill>
                  <a:srgbClr val="556075"/>
                </a:solidFill>
                <a:latin typeface="Calibri"/>
              </a:rPr>
              <a:t>读完题目，识别题型（Opinion/Discussion/Advantages/Problem-Solution/Two-Part）。确定立场：你支持哪方？支持程度如何？一旦确定，全程不变。</a:t>
            </a:r>
          </a:p>
        </p:txBody>
      </p:sp>
      <p:sp>
        <p:nvSpPr>
          <p:cNvPr id="13" name="Rounded Rectangle 12"/>
          <p:cNvSpPr/>
          <p:nvPr/>
        </p:nvSpPr>
        <p:spPr>
          <a:xfrm>
            <a:off x="548640" y="1959428"/>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014292"/>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617796"/>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959428"/>
            <a:ext cx="10058400" cy="411480"/>
          </a:xfrm>
          <a:prstGeom prst="rect">
            <a:avLst/>
          </a:prstGeom>
          <a:noFill/>
        </p:spPr>
        <p:txBody>
          <a:bodyPr wrap="square" anchor="t">
            <a:spAutoFit/>
          </a:bodyPr>
          <a:lstStyle/>
          <a:p>
            <a:pPr algn="l"/>
            <a:r>
              <a:rPr sz="1600" b="1" i="0">
                <a:solidFill>
                  <a:srgbClr val="472473"/>
                </a:solidFill>
                <a:latin typeface="Calibri"/>
              </a:rPr>
              <a:t>分钟3-6·列提纲</a:t>
            </a:r>
          </a:p>
        </p:txBody>
      </p:sp>
      <p:sp>
        <p:nvSpPr>
          <p:cNvPr id="17" name="TextBox 16"/>
          <p:cNvSpPr txBox="1"/>
          <p:nvPr/>
        </p:nvSpPr>
        <p:spPr>
          <a:xfrm>
            <a:off x="1417320" y="2325188"/>
            <a:ext cx="10058400" cy="313508"/>
          </a:xfrm>
          <a:prstGeom prst="rect">
            <a:avLst/>
          </a:prstGeom>
          <a:noFill/>
        </p:spPr>
        <p:txBody>
          <a:bodyPr wrap="square" anchor="t">
            <a:spAutoFit/>
          </a:bodyPr>
          <a:lstStyle/>
          <a:p>
            <a:pPr algn="l"/>
            <a:r>
              <a:rPr sz="1350" b="0" i="0">
                <a:solidFill>
                  <a:srgbClr val="556075"/>
                </a:solidFill>
                <a:latin typeface="Calibri"/>
              </a:rPr>
              <a:t>每段一行关键词：引言立场词+主体段1 TS关键词+证据关键词+主体段2 TS关键词+结论方向。不需要完整句子，关键词即可。</a:t>
            </a:r>
          </a:p>
        </p:txBody>
      </p:sp>
      <p:sp>
        <p:nvSpPr>
          <p:cNvPr id="18" name="Rounded Rectangle 17"/>
          <p:cNvSpPr/>
          <p:nvPr/>
        </p:nvSpPr>
        <p:spPr>
          <a:xfrm>
            <a:off x="548640" y="263869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3561"/>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297065"/>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638697"/>
            <a:ext cx="10058400" cy="411480"/>
          </a:xfrm>
          <a:prstGeom prst="rect">
            <a:avLst/>
          </a:prstGeom>
          <a:noFill/>
        </p:spPr>
        <p:txBody>
          <a:bodyPr wrap="square" anchor="t">
            <a:spAutoFit/>
          </a:bodyPr>
          <a:lstStyle/>
          <a:p>
            <a:pPr algn="l"/>
            <a:r>
              <a:rPr sz="1600" b="1" i="0">
                <a:solidFill>
                  <a:srgbClr val="472473"/>
                </a:solidFill>
                <a:latin typeface="Calibri"/>
              </a:rPr>
              <a:t>分钟6-14·写引言段</a:t>
            </a:r>
          </a:p>
        </p:txBody>
      </p:sp>
      <p:sp>
        <p:nvSpPr>
          <p:cNvPr id="22" name="TextBox 21"/>
          <p:cNvSpPr txBox="1"/>
          <p:nvPr/>
        </p:nvSpPr>
        <p:spPr>
          <a:xfrm>
            <a:off x="1417320" y="3004457"/>
            <a:ext cx="10058400" cy="313508"/>
          </a:xfrm>
          <a:prstGeom prst="rect">
            <a:avLst/>
          </a:prstGeom>
          <a:noFill/>
        </p:spPr>
        <p:txBody>
          <a:bodyPr wrap="square" anchor="t">
            <a:spAutoFit/>
          </a:bodyPr>
          <a:lstStyle/>
          <a:p>
            <a:pPr algn="l"/>
            <a:r>
              <a:rPr sz="1350" b="0" i="0">
                <a:solidFill>
                  <a:srgbClr val="556075"/>
                </a:solidFill>
                <a:latin typeface="Calibri"/>
              </a:rPr>
              <a:t>背景句（1-2句）+paraphrase题目意思+明确立场（I firmly contend/argue that...）。约60-80词，不要写太长。</a:t>
            </a:r>
          </a:p>
        </p:txBody>
      </p:sp>
      <p:sp>
        <p:nvSpPr>
          <p:cNvPr id="23" name="Rounded Rectangle 22"/>
          <p:cNvSpPr/>
          <p:nvPr/>
        </p:nvSpPr>
        <p:spPr>
          <a:xfrm>
            <a:off x="548640" y="331796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72829"/>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976333"/>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317965"/>
            <a:ext cx="10058400" cy="411480"/>
          </a:xfrm>
          <a:prstGeom prst="rect">
            <a:avLst/>
          </a:prstGeom>
          <a:noFill/>
        </p:spPr>
        <p:txBody>
          <a:bodyPr wrap="square" anchor="t">
            <a:spAutoFit/>
          </a:bodyPr>
          <a:lstStyle/>
          <a:p>
            <a:pPr algn="l"/>
            <a:r>
              <a:rPr sz="1600" b="1" i="0">
                <a:solidFill>
                  <a:srgbClr val="472473"/>
                </a:solidFill>
                <a:latin typeface="Calibri"/>
              </a:rPr>
              <a:t>分钟14-25·写主体段1</a:t>
            </a:r>
          </a:p>
        </p:txBody>
      </p:sp>
      <p:sp>
        <p:nvSpPr>
          <p:cNvPr id="27" name="TextBox 26"/>
          <p:cNvSpPr txBox="1"/>
          <p:nvPr/>
        </p:nvSpPr>
        <p:spPr>
          <a:xfrm>
            <a:off x="1417320" y="3683725"/>
            <a:ext cx="10058400" cy="313508"/>
          </a:xfrm>
          <a:prstGeom prst="rect">
            <a:avLst/>
          </a:prstGeom>
          <a:noFill/>
        </p:spPr>
        <p:txBody>
          <a:bodyPr wrap="square" anchor="t">
            <a:spAutoFit/>
          </a:bodyPr>
          <a:lstStyle/>
          <a:p>
            <a:pPr algn="l"/>
            <a:r>
              <a:rPr sz="1350" b="0" i="0">
                <a:solidFill>
                  <a:srgbClr val="556075"/>
                </a:solidFill>
                <a:latin typeface="Calibri"/>
              </a:rPr>
              <a:t>PEEL：TS（主题句）+E（为什么？机制解释）+E（具体例子/数据）+L（收束回TS）。约100-120词。</a:t>
            </a:r>
          </a:p>
        </p:txBody>
      </p:sp>
      <p:sp>
        <p:nvSpPr>
          <p:cNvPr id="28" name="Rounded Rectangle 27"/>
          <p:cNvSpPr/>
          <p:nvPr/>
        </p:nvSpPr>
        <p:spPr>
          <a:xfrm>
            <a:off x="548640" y="3997234"/>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052098"/>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655602"/>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997234"/>
            <a:ext cx="10058400" cy="411480"/>
          </a:xfrm>
          <a:prstGeom prst="rect">
            <a:avLst/>
          </a:prstGeom>
          <a:noFill/>
        </p:spPr>
        <p:txBody>
          <a:bodyPr wrap="square" anchor="t">
            <a:spAutoFit/>
          </a:bodyPr>
          <a:lstStyle/>
          <a:p>
            <a:pPr algn="l"/>
            <a:r>
              <a:rPr sz="1600" b="1" i="0">
                <a:solidFill>
                  <a:srgbClr val="472473"/>
                </a:solidFill>
                <a:latin typeface="Calibri"/>
              </a:rPr>
              <a:t>分钟25-35·写主体段2</a:t>
            </a:r>
          </a:p>
        </p:txBody>
      </p:sp>
      <p:sp>
        <p:nvSpPr>
          <p:cNvPr id="32" name="TextBox 31"/>
          <p:cNvSpPr txBox="1"/>
          <p:nvPr/>
        </p:nvSpPr>
        <p:spPr>
          <a:xfrm>
            <a:off x="1417320" y="4362994"/>
            <a:ext cx="10058400" cy="313508"/>
          </a:xfrm>
          <a:prstGeom prst="rect">
            <a:avLst/>
          </a:prstGeom>
          <a:noFill/>
        </p:spPr>
        <p:txBody>
          <a:bodyPr wrap="square" anchor="t">
            <a:spAutoFit/>
          </a:bodyPr>
          <a:lstStyle/>
          <a:p>
            <a:pPr algn="l"/>
            <a:r>
              <a:rPr sz="1350" b="0" i="0">
                <a:solidFill>
                  <a:srgbClr val="556075"/>
                </a:solidFill>
                <a:latin typeface="Calibri"/>
              </a:rPr>
              <a:t>PEEL同上，或写让步+反驳结构。约100-120词。</a:t>
            </a:r>
          </a:p>
        </p:txBody>
      </p:sp>
      <p:sp>
        <p:nvSpPr>
          <p:cNvPr id="33" name="Rounded Rectangle 32"/>
          <p:cNvSpPr/>
          <p:nvPr/>
        </p:nvSpPr>
        <p:spPr>
          <a:xfrm>
            <a:off x="548640" y="4676502"/>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731366"/>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5334870"/>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676502"/>
            <a:ext cx="10058400" cy="411480"/>
          </a:xfrm>
          <a:prstGeom prst="rect">
            <a:avLst/>
          </a:prstGeom>
          <a:noFill/>
        </p:spPr>
        <p:txBody>
          <a:bodyPr wrap="square" anchor="t">
            <a:spAutoFit/>
          </a:bodyPr>
          <a:lstStyle/>
          <a:p>
            <a:pPr algn="l"/>
            <a:r>
              <a:rPr sz="1600" b="1" i="0">
                <a:solidFill>
                  <a:srgbClr val="472473"/>
                </a:solidFill>
                <a:latin typeface="Calibri"/>
              </a:rPr>
              <a:t>分钟35-38·写结论段</a:t>
            </a:r>
          </a:p>
        </p:txBody>
      </p:sp>
      <p:sp>
        <p:nvSpPr>
          <p:cNvPr id="37" name="TextBox 36"/>
          <p:cNvSpPr txBox="1"/>
          <p:nvPr/>
        </p:nvSpPr>
        <p:spPr>
          <a:xfrm>
            <a:off x="1417320" y="5042262"/>
            <a:ext cx="10058400" cy="313508"/>
          </a:xfrm>
          <a:prstGeom prst="rect">
            <a:avLst/>
          </a:prstGeom>
          <a:noFill/>
        </p:spPr>
        <p:txBody>
          <a:bodyPr wrap="square" anchor="t">
            <a:spAutoFit/>
          </a:bodyPr>
          <a:lstStyle/>
          <a:p>
            <a:pPr algn="l"/>
            <a:r>
              <a:rPr sz="1350" b="0" i="0">
                <a:solidFill>
                  <a:srgbClr val="556075"/>
                </a:solidFill>
                <a:latin typeface="Calibri"/>
              </a:rPr>
              <a:t>过渡词+重申立场（换词）+总结要点（1-2句）。约50-60词，不添加新信息。</a:t>
            </a:r>
          </a:p>
        </p:txBody>
      </p:sp>
      <p:sp>
        <p:nvSpPr>
          <p:cNvPr id="38" name="Rounded Rectangle 37"/>
          <p:cNvSpPr/>
          <p:nvPr/>
        </p:nvSpPr>
        <p:spPr>
          <a:xfrm>
            <a:off x="548640" y="535577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410635"/>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TextBox 39"/>
          <p:cNvSpPr txBox="1"/>
          <p:nvPr/>
        </p:nvSpPr>
        <p:spPr>
          <a:xfrm>
            <a:off x="1417320" y="5355771"/>
            <a:ext cx="10058400" cy="411480"/>
          </a:xfrm>
          <a:prstGeom prst="rect">
            <a:avLst/>
          </a:prstGeom>
          <a:noFill/>
        </p:spPr>
        <p:txBody>
          <a:bodyPr wrap="square" anchor="t">
            <a:spAutoFit/>
          </a:bodyPr>
          <a:lstStyle/>
          <a:p>
            <a:pPr algn="l"/>
            <a:r>
              <a:rPr sz="1600" b="1" i="0">
                <a:solidFill>
                  <a:srgbClr val="472473"/>
                </a:solidFill>
                <a:latin typeface="Calibri"/>
              </a:rPr>
              <a:t>分钟38-40·最终检查</a:t>
            </a:r>
          </a:p>
        </p:txBody>
      </p:sp>
      <p:sp>
        <p:nvSpPr>
          <p:cNvPr id="41" name="TextBox 40"/>
          <p:cNvSpPr txBox="1"/>
          <p:nvPr/>
        </p:nvSpPr>
        <p:spPr>
          <a:xfrm>
            <a:off x="1417320" y="5721531"/>
            <a:ext cx="10058400" cy="313508"/>
          </a:xfrm>
          <a:prstGeom prst="rect">
            <a:avLst/>
          </a:prstGeom>
          <a:noFill/>
        </p:spPr>
        <p:txBody>
          <a:bodyPr wrap="square" anchor="t">
            <a:spAutoFit/>
          </a:bodyPr>
          <a:lstStyle/>
          <a:p>
            <a:pPr algn="l"/>
            <a:r>
              <a:rPr sz="1350" b="0" i="0">
                <a:solidFill>
                  <a:srgbClr val="556075"/>
                </a:solidFill>
                <a:latin typeface="Calibri"/>
              </a:rPr>
              <a:t>扫描：①字数≥250②立场一致③主谓一致④词汇重复⑤情态动词后接原形</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全真模考计时练习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完成以下Task 1+Task 2模考（总时间60分钟：Task 1=20分钟，Task 2=40分钟）</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Task 1题目（20分钟完成）</a:t>
            </a:r>
          </a:p>
          <a:p>
            <a:pPr>
              <a:spcBef>
                <a:spcPts val="100"/>
              </a:spcBef>
            </a:pPr>
            <a:r>
              <a:rPr sz="1400">
                <a:solidFill>
                  <a:srgbClr val="556075"/>
                </a:solidFill>
              </a:rPr>
              <a:t>   柱状图描述：
图表显示2022年五个国家（中/美/英/法/德）平均每人每年阅读书籍数量。
中国：4.5本，美国：12本，英国：15本，法国：20本，德国：18本。
完成步骤：①写引言（paraphrase）②写Overview（Overall开头，不写数字）③写数据段（分组讨论，含比较结构）</a:t>
            </a:r>
          </a:p>
          <a:p>
            <a:pPr>
              <a:spcBef>
                <a:spcPts val="1100"/>
              </a:spcBef>
            </a:pPr>
            <a:r>
              <a:rPr sz="1700" b="1">
                <a:solidFill>
                  <a:srgbClr val="472473"/>
                </a:solidFill>
              </a:rPr>
              <a:t>▢ Task 1参考答案要点</a:t>
            </a:r>
          </a:p>
          <a:p>
            <a:pPr>
              <a:spcBef>
                <a:spcPts val="100"/>
              </a:spcBef>
            </a:pPr>
            <a:r>
              <a:rPr sz="1400">
                <a:solidFill>
                  <a:srgbClr val="556075"/>
                </a:solidFill>
              </a:rPr>
              <a:t>   引言：柱状图显示五国人均年阅读量
Overview：Overall, France recorded the highest annual reading rate, while China had the lowest. European countries generally outread their North American and Asian counterparts.
数据段1（欧洲）：France led at 20 books, followed by Germany at 18 and the UK at 15（三国比较）
数据段2（非欧）：The US recorded 12 books per person, considerably more than China, which averaged just 4.5（对比差异最大的两国）</a:t>
            </a:r>
          </a:p>
          <a:p>
            <a:pPr>
              <a:spcBef>
                <a:spcPts val="1100"/>
              </a:spcBef>
            </a:pPr>
            <a:r>
              <a:rPr sz="1700" b="1">
                <a:solidFill>
                  <a:srgbClr val="472473"/>
                </a:solidFill>
              </a:rPr>
              <a:t>▢ Task 2题目（40分钟完成）</a:t>
            </a:r>
          </a:p>
          <a:p>
            <a:pPr>
              <a:spcBef>
                <a:spcPts val="100"/>
              </a:spcBef>
            </a:pPr>
            <a:r>
              <a:rPr sz="1400">
                <a:solidFill>
                  <a:srgbClr val="556075"/>
                </a:solidFill>
              </a:rPr>
              <a:t>   Opinion Essay：
"Some people believe that it is more important for children to spend time playing outdoors than studying. To what extent do you agree or disagree?"
要求：明确立场+两个主体段+结论。字数250-280词。</a:t>
            </a:r>
          </a:p>
          <a:p>
            <a:pPr>
              <a:spcBef>
                <a:spcPts val="1100"/>
              </a:spcBef>
            </a:pPr>
            <a:r>
              <a:rPr sz="1700" b="1">
                <a:solidFill>
                  <a:srgbClr val="472473"/>
                </a:solidFill>
              </a:rPr>
              <a:t>▢ Task 2自评标准</a:t>
            </a:r>
          </a:p>
          <a:p>
            <a:pPr>
              <a:spcBef>
                <a:spcPts val="100"/>
              </a:spcBef>
            </a:pPr>
            <a:r>
              <a:rPr sz="1400">
                <a:solidFill>
                  <a:srgbClr val="556075"/>
                </a:solidFill>
              </a:rPr>
              <a:t>   TA：立场明确且论证充分（考官能清楚知道你的立场和理由）→目标7
CC：引言→主体1→主体2→结论（每段有TS）→目标7
LR：有不常见词汇（academic vocabulary）+搭配正确→目标7
GRA：有复杂句型（定语从句/让步从句）+语法准确→目标7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临考前最后自测：30个必知要点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在2分钟内，回答以下问题（这是考前最后检验）</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必知要点（1-15）</a:t>
            </a:r>
          </a:p>
          <a:p>
            <a:pPr>
              <a:spcBef>
                <a:spcPts val="100"/>
              </a:spcBef>
            </a:pPr>
            <a:r>
              <a:rPr sz="1400">
                <a:solidFill>
                  <a:srgbClr val="556075"/>
                </a:solidFill>
              </a:rPr>
              <a:t>   ①Task 1的Overview从什么词开始？②Overview能写具体数字吗？③Task 1引言能照抄题目原文吗？④Task 1能写个人意见（I think）吗？⑤上升趋势的5个词汇？⑥Task 2引言必须包含什么？⑦"The number of people"后跟is还是are？⑧"should takes"有什么错误？⑨"make research"正确吗？⑩"Although...but..."有什么错误？⑪Task 2字数最低要求？⑫Discussion essay需要几个主体段？⑬PEEL的含义？⑭让步段之后必须用什么？⑮搭配：_____ awareness（提高意识）</a:t>
            </a:r>
          </a:p>
          <a:p>
            <a:pPr>
              <a:spcBef>
                <a:spcPts val="1100"/>
              </a:spcBef>
            </a:pPr>
            <a:r>
              <a:rPr sz="1700" b="1">
                <a:solidFill>
                  <a:srgbClr val="472473"/>
                </a:solidFill>
              </a:rPr>
              <a:t>▢ 必知要点（16-30）的答案+1-15答案</a:t>
            </a:r>
          </a:p>
          <a:p>
            <a:pPr>
              <a:spcBef>
                <a:spcPts val="100"/>
              </a:spcBef>
            </a:pPr>
            <a:r>
              <a:rPr sz="1400">
                <a:solidFill>
                  <a:srgbClr val="556075"/>
                </a:solidFill>
              </a:rPr>
              <a:t>   ①Overall ②不能 ③不能（必须paraphrase）④不能 ⑤rise/surge/climb/soar/increase ⑥明确立场句 ⑦is（主语number→单数）⑧should take（情态+原形）⑨不正确（conduct/carry out research）⑩只能用一个连词 ⑪250词 ⑫至少2个 ⑬Point-Explanation-Evidence-Link ⑭However/Nevertheless ⑮raise awareness
16-30：⑯Task 1 Overview写几句？(2句) ⑰Task 1最佳字数？(160-170) ⑱Task 2最佳字数？(260-280) ⑲Opinion essay结论能改立场吗？(不能) ⑳冠词：泛指education前加什么？(∅) ㉑具体的the government前加什么？(the) ㉒"cause damage"还是"make damage"？(cause) ㉓"raise prices"还是"rise prices"？(raise) ㉔翻译腔"As is known to all"应该怎么改？(删除/改为"It is widely recognised that") ㉕Task 2检查先查什么？(立场一致性)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临考前速查：写作Band 7标准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TA（任务完成）Band 7标准</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Task 2：立场全程一致，论证充分（有why和evidence），题目所有问题都回答了</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CC（连贯衔接）Band 7标准</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每段第一句是主题句，段落之间用连接词，信息组织清晰，读者无需猜测逻辑</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LR（词汇丰富度）Band 7标准</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使用不常见词汇（非高中必备），搭配准确，同一词不超过2次重复</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GRA（语法多样性）Band 7标准</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使用多种复杂结构（定语/状语/名词从句），基本语法准确，无重大系统性错误</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考场时间管理备忘卡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Task 1：20分钟分配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审题2分钟+引言2分钟+Overview2分钟+数据段12分钟+检查2分钟</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Task 2：40分钟分配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审题+提纲5分钟+引言8分钟+主体段1 11分钟+主体段2 11分钟+结论3分钟+检查2分钟</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紧急情况处理</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Task 1超时→先完成Task 2，最后回来补Task 1 Overview（保住TA分）</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字数不足应急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Task 1&lt;150词：展开最重要的比较数据；Task 2&lt;250词：在最后主体段加一个例子</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考场写作最终策略备忘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永远不要做的事</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①Task 1无Overview（最多Band 5）②Task 2无立场（最多Band 5）③字数不足（直接扣分）④结论出现新论点（不是总结而是新论证）</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永远要做的事</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①Task 1第一步：先构思Overview内容再写引言 ②Task 2第一步：先确定立场再列提纲 ③每篇都要计时（Task 1=20分钟，Task 2=40分钟）</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高频加分操作</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①让步从句（Although/While）②非限制性定语从句（which/who+逗号）③倒装句（Only through...can...）④权威数据引用（WHO/UNESCO/OECD）</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考试当天心态</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你已经准备好了。进考场前复习：①立场要明确②有Overview③词汇不重复④5分钟检查时间保留好</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写作L10：最终冲刺备忘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最后一周做什么</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复习词汇表（每天15分钟）+自己的错误清单+每天写一个引言段（保持手感）</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不要做什么</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死记硬背模板（考官能识别）+临考前大量写新题目（增加焦虑）+熬夜（疲劳写作更差）</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考场前一晚</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睡前复习：①5大话题通用论点②词汇表③考场策略（时间分配）+早睡</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考场当天</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带表+早餐+进场前深呼吸+进场后先看两个题目，先做Task 1提纲，再做Task 2提纲</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临考速记词汇：Task 2高频学术词汇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contend/argue/maintain</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坚持认为（比think更学术的表达立场方式）</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detrimental/adverse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有害的；不利的（替代bad/harmful）</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alleviate/mitigate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减轻；缓和（替代reduce）</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proliferation</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激增；扩散（科技/社会问题类高频词）</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unprecedented</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前所未有的（强调历史性变化）</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disproportionate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不成比例的；过分的（统计数据类）</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exacerbate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使恶化；加剧（问题解决类）</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facilitate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促进；使容易（替代help/assist）</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constitute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构成；占（替代make up/form）</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endeavour</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努力；尝试（替代try/attempt，更学术）</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临考速记词汇：Task 1高频趋势词汇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soar/surge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猛涨；急剧上升（比increase大幅上升更有力）</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plummet/plunge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暴跌；急剧下降（比decrease大幅下降更有力）</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plateau/level off</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趋于平稳；停止增长</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fluctuate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波动；起伏不定（时上时下）</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marginally/slightly</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小幅地；略微地（修饰小变化）</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dramatically/significantly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大幅地；显著地（修饰大变化）</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consistently</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始终如一地；一直（描述稳定趋势）</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account for</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占…比例（比make up更学术）</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stand at</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达到；位于（描述数值的学术说法）</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narrow the gap</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缩小差距（描述两组数据趋近）</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临考速记词汇：Topic词汇（科技/环境/教育）</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digital divide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数字鸿沟（科技话题核心词汇）</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carbon footprint</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碳足迹（环境话题必备）</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renewable energy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可再生能源（环境话题核心）</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critical thinking</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批判性思维（教育话题核心）</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income inequality</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收入不平等（社会话题核心）</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sustainable development</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可持续发展（环境/社会通用）</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artificial intelligence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人工智能（科技话题常见）</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academic achievement</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学业成就（教育话题核心）</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urbanisation</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城市化（社会话题核心）</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cultural heritage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文化遗产（文化话题核心）</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写作备考终极路线图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技能建立期（前4-6周）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L01：理解评分标准（TA/CC/LR/GRA）</a:t>
            </a:r>
          </a:p>
          <a:p>
            <a:pPr>
              <a:spcBef>
                <a:spcPts val="700"/>
              </a:spcBef>
            </a:pPr>
            <a:r>
              <a:rPr sz="1450">
                <a:solidFill>
                  <a:srgbClr val="1E293B"/>
                </a:solidFill>
              </a:rPr>
              <a:t>• L02-L03：Task 1图表类型和写法</a:t>
            </a:r>
          </a:p>
          <a:p>
            <a:pPr>
              <a:spcBef>
                <a:spcPts val="700"/>
              </a:spcBef>
            </a:pPr>
            <a:r>
              <a:rPr sz="1450">
                <a:solidFill>
                  <a:srgbClr val="1E293B"/>
                </a:solidFill>
              </a:rPr>
              <a:t>• L04-L05：Task 2引言/结论/主体段</a:t>
            </a:r>
          </a:p>
          <a:p>
            <a:pPr>
              <a:spcBef>
                <a:spcPts val="700"/>
              </a:spcBef>
            </a:pPr>
            <a:r>
              <a:rPr sz="1450">
                <a:solidFill>
                  <a:srgbClr val="1E293B"/>
                </a:solidFill>
              </a:rPr>
              <a:t>• L06-L07：Task 2五大题型</a:t>
            </a:r>
          </a:p>
          <a:p>
            <a:pPr>
              <a:spcBef>
                <a:spcPts val="700"/>
              </a:spcBef>
            </a:pPr>
            <a:r>
              <a:rPr sz="1450">
                <a:solidFill>
                  <a:srgbClr val="1E293B"/>
                </a:solidFill>
              </a:rPr>
              <a:t>• L08：词汇与语法专项提升</a:t>
            </a:r>
          </a:p>
          <a:p>
            <a:pPr>
              <a:spcBef>
                <a:spcPts val="700"/>
              </a:spcBef>
            </a:pPr>
            <a:r>
              <a:rPr sz="1450">
                <a:solidFill>
                  <a:srgbClr val="1E293B"/>
                </a:solidFill>
              </a:rPr>
              <a:t>• L09：错误识别与修正习惯</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冲刺应试期（后2-4周）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每周2-3套完整模考（Task 1+Task 2）</a:t>
            </a:r>
          </a:p>
          <a:p>
            <a:pPr>
              <a:spcBef>
                <a:spcPts val="700"/>
              </a:spcBef>
            </a:pPr>
            <a:r>
              <a:rPr sz="1450">
                <a:solidFill>
                  <a:srgbClr val="1E293B"/>
                </a:solidFill>
              </a:rPr>
              <a:t>• 每次模考后精细分析（不是写下一篇）</a:t>
            </a:r>
          </a:p>
          <a:p>
            <a:pPr>
              <a:spcBef>
                <a:spcPts val="700"/>
              </a:spcBef>
            </a:pPr>
            <a:r>
              <a:rPr sz="1450">
                <a:solidFill>
                  <a:srgbClr val="1E293B"/>
                </a:solidFill>
              </a:rPr>
              <a:t>• 专项练习最弱维度（集中突破）</a:t>
            </a:r>
          </a:p>
          <a:p>
            <a:pPr>
              <a:spcBef>
                <a:spcPts val="700"/>
              </a:spcBef>
            </a:pPr>
            <a:r>
              <a:rPr sz="1450">
                <a:solidFill>
                  <a:srgbClr val="1E293B"/>
                </a:solidFill>
              </a:rPr>
              <a:t>• 建立并消化个人错误清单</a:t>
            </a:r>
          </a:p>
          <a:p>
            <a:pPr>
              <a:spcBef>
                <a:spcPts val="700"/>
              </a:spcBef>
            </a:pPr>
            <a:r>
              <a:rPr sz="1450">
                <a:solidFill>
                  <a:srgbClr val="1E293B"/>
                </a:solidFill>
              </a:rPr>
              <a:t>• 临考前一周：轻量保持手感</a:t>
            </a:r>
          </a:p>
          <a:p>
            <a:pPr>
              <a:spcBef>
                <a:spcPts val="700"/>
              </a:spcBef>
            </a:pPr>
            <a:r>
              <a:rPr sz="1450">
                <a:solidFill>
                  <a:srgbClr val="1E293B"/>
                </a:solidFill>
              </a:rPr>
              <a:t>• L10：全真模考与考场策略整合</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写作L10总结：考场必胜六要素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考场内必做</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①Task 1：Overview（Overall开头，无数字，2句）</a:t>
            </a:r>
          </a:p>
          <a:p>
            <a:pPr>
              <a:spcBef>
                <a:spcPts val="700"/>
              </a:spcBef>
            </a:pPr>
            <a:r>
              <a:rPr sz="1450">
                <a:solidFill>
                  <a:srgbClr val="1E293B"/>
                </a:solidFill>
              </a:rPr>
              <a:t>• ②Task 2：引言末句明确立场（I contend/argue that...）</a:t>
            </a:r>
          </a:p>
          <a:p>
            <a:pPr>
              <a:spcBef>
                <a:spcPts val="700"/>
              </a:spcBef>
            </a:pPr>
            <a:r>
              <a:rPr sz="1450">
                <a:solidFill>
                  <a:srgbClr val="1E293B"/>
                </a:solidFill>
              </a:rPr>
              <a:t>• ③每段主体段：第一句是主题句（能独立表达观点）</a:t>
            </a:r>
          </a:p>
          <a:p>
            <a:pPr>
              <a:spcBef>
                <a:spcPts val="700"/>
              </a:spcBef>
            </a:pPr>
            <a:r>
              <a:rPr sz="1450">
                <a:solidFill>
                  <a:srgbClr val="1E293B"/>
                </a:solidFill>
              </a:rPr>
              <a:t>• ④词汇：每个核心词不重复超过2次</a:t>
            </a:r>
          </a:p>
          <a:p>
            <a:pPr>
              <a:spcBef>
                <a:spcPts val="700"/>
              </a:spcBef>
            </a:pPr>
            <a:r>
              <a:rPr sz="1450">
                <a:solidFill>
                  <a:srgbClr val="1E293B"/>
                </a:solidFill>
              </a:rPr>
              <a:t>• ⑤语法：情态动词后接动词原形</a:t>
            </a:r>
          </a:p>
          <a:p>
            <a:pPr>
              <a:spcBef>
                <a:spcPts val="700"/>
              </a:spcBef>
            </a:pPr>
            <a:r>
              <a:rPr sz="1450">
                <a:solidFill>
                  <a:srgbClr val="1E293B"/>
                </a:solidFill>
              </a:rPr>
              <a:t>• ⑥时间：Task 1保持20分钟，Task 2最少35分钟</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考场内禁止</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①Task 1无Overview（最高Band 5）</a:t>
            </a:r>
          </a:p>
          <a:p>
            <a:pPr>
              <a:spcBef>
                <a:spcPts val="700"/>
              </a:spcBef>
            </a:pPr>
            <a:r>
              <a:rPr sz="1450">
                <a:solidFill>
                  <a:srgbClr val="1E293B"/>
                </a:solidFill>
              </a:rPr>
              <a:t>• ②Task 2引言立场模糊（"it depends/both have merit"）</a:t>
            </a:r>
          </a:p>
          <a:p>
            <a:pPr>
              <a:spcBef>
                <a:spcPts val="700"/>
              </a:spcBef>
            </a:pPr>
            <a:r>
              <a:rPr sz="1450">
                <a:solidFill>
                  <a:srgbClr val="1E293B"/>
                </a:solidFill>
              </a:rPr>
              <a:t>• ③结论出现与引言不同的立场</a:t>
            </a:r>
          </a:p>
          <a:p>
            <a:pPr>
              <a:spcBef>
                <a:spcPts val="700"/>
              </a:spcBef>
            </a:pPr>
            <a:r>
              <a:rPr sz="1450">
                <a:solidFill>
                  <a:srgbClr val="1E293B"/>
                </a:solidFill>
              </a:rPr>
              <a:t>• ④主体段只有列举，没有解释机制</a:t>
            </a:r>
          </a:p>
          <a:p>
            <a:pPr>
              <a:spcBef>
                <a:spcPts val="700"/>
              </a:spcBef>
            </a:pPr>
            <a:r>
              <a:rPr sz="1450">
                <a:solidFill>
                  <a:srgbClr val="1E293B"/>
                </a:solidFill>
              </a:rPr>
              <a:t>• ⑤使用套话（As is known to all/play a role）</a:t>
            </a:r>
          </a:p>
          <a:p>
            <a:pPr>
              <a:spcBef>
                <a:spcPts val="700"/>
              </a:spcBef>
            </a:pPr>
            <a:r>
              <a:rPr sz="1450">
                <a:solidFill>
                  <a:srgbClr val="1E293B"/>
                </a:solidFill>
              </a:rPr>
              <a:t>• ⑥Task 2字数少于250词（直接影响TA分数）</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写作L10：最终回顾——10节课核心收获</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Task 1核心（L01-L03）</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L01：写作考试结构+四维评分TA/CC/LR/GRA</a:t>
            </a:r>
          </a:p>
          <a:p>
            <a:pPr>
              <a:spcBef>
                <a:spcPts val="700"/>
              </a:spcBef>
            </a:pPr>
            <a:r>
              <a:rPr sz="1450">
                <a:solidFill>
                  <a:srgbClr val="1E293B"/>
                </a:solidFill>
              </a:rPr>
              <a:t>• L02：折线图/柱状图/饼图+Overview必写</a:t>
            </a:r>
          </a:p>
          <a:p>
            <a:pPr>
              <a:spcBef>
                <a:spcPts val="700"/>
              </a:spcBef>
            </a:pPr>
            <a:r>
              <a:rPr sz="1450">
                <a:solidFill>
                  <a:srgbClr val="1E293B"/>
                </a:solidFill>
              </a:rPr>
              <a:t>• L03：流程图/地图/表格+paraphrase技巧</a:t>
            </a:r>
          </a:p>
          <a:p>
            <a:pPr>
              <a:spcBef>
                <a:spcPts val="700"/>
              </a:spcBef>
            </a:pPr>
            <a:r>
              <a:rPr sz="1450">
                <a:solidFill>
                  <a:srgbClr val="1E293B"/>
                </a:solidFill>
              </a:rPr>
              <a:t>• 核心原则：Overview(Overall)+数据筛选+比较结构+趋势词多样</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Task 2核心（L04-L07）</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L04：引言（立场）+结论（重申）写法</a:t>
            </a:r>
          </a:p>
          <a:p>
            <a:pPr>
              <a:spcBef>
                <a:spcPts val="700"/>
              </a:spcBef>
            </a:pPr>
            <a:r>
              <a:rPr sz="1450">
                <a:solidFill>
                  <a:srgbClr val="1E293B"/>
                </a:solidFill>
              </a:rPr>
              <a:t>• L05：主体段PEEL+让步反驳结构</a:t>
            </a:r>
          </a:p>
          <a:p>
            <a:pPr>
              <a:spcBef>
                <a:spcPts val="700"/>
              </a:spcBef>
            </a:pPr>
            <a:r>
              <a:rPr sz="1450">
                <a:solidFill>
                  <a:srgbClr val="1E293B"/>
                </a:solidFill>
              </a:rPr>
              <a:t>• L06：讨论文+同意文结构</a:t>
            </a:r>
          </a:p>
          <a:p>
            <a:pPr>
              <a:spcBef>
                <a:spcPts val="700"/>
              </a:spcBef>
            </a:pPr>
            <a:r>
              <a:rPr sz="1450">
                <a:solidFill>
                  <a:srgbClr val="1E293B"/>
                </a:solidFill>
              </a:rPr>
              <a:t>• L07：优缺点+问题解决+双问题</a:t>
            </a:r>
          </a:p>
          <a:p>
            <a:pPr>
              <a:spcBef>
                <a:spcPts val="700"/>
              </a:spcBef>
            </a:pPr>
            <a:r>
              <a:rPr sz="1450">
                <a:solidFill>
                  <a:srgbClr val="1E293B"/>
                </a:solidFill>
              </a:rPr>
              <a:t>• 核心原则：立场全程一致+PEEL三层论证+题型匹配结构</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写作L10：最终回顾——语言与修正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语言提升（L08-L09）</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L08：词汇替换（3原则：准确/地道/多样）</a:t>
            </a:r>
          </a:p>
          <a:p>
            <a:pPr>
              <a:spcBef>
                <a:spcPts val="700"/>
              </a:spcBef>
            </a:pPr>
            <a:r>
              <a:rPr sz="1450">
                <a:solidFill>
                  <a:srgbClr val="1E293B"/>
                </a:solidFill>
              </a:rPr>
              <a:t>• L08：复杂句型（定语从句/让步从句/倒装）</a:t>
            </a:r>
          </a:p>
          <a:p>
            <a:pPr>
              <a:spcBef>
                <a:spcPts val="700"/>
              </a:spcBef>
            </a:pPr>
            <a:r>
              <a:rPr sz="1450">
                <a:solidFill>
                  <a:srgbClr val="1E293B"/>
                </a:solidFill>
              </a:rPr>
              <a:t>• L08：语法四大陷阱（主谓/冠词/时态/情态）</a:t>
            </a:r>
          </a:p>
          <a:p>
            <a:pPr>
              <a:spcBef>
                <a:spcPts val="700"/>
              </a:spcBef>
            </a:pPr>
            <a:r>
              <a:rPr sz="1450">
                <a:solidFill>
                  <a:srgbClr val="1E293B"/>
                </a:solidFill>
              </a:rPr>
              <a:t>• L09：十大错误类型诊断与修正</a:t>
            </a:r>
          </a:p>
          <a:p>
            <a:pPr>
              <a:spcBef>
                <a:spcPts val="700"/>
              </a:spcBef>
            </a:pPr>
            <a:r>
              <a:rPr sz="1450">
                <a:solidFill>
                  <a:srgbClr val="1E293B"/>
                </a:solidFill>
              </a:rPr>
              <a:t>• L09：翻译腔识别与消除</a:t>
            </a:r>
          </a:p>
          <a:p>
            <a:pPr>
              <a:spcBef>
                <a:spcPts val="700"/>
              </a:spcBef>
            </a:pPr>
            <a:r>
              <a:rPr sz="1450">
                <a:solidFill>
                  <a:srgbClr val="1E293B"/>
                </a:solidFill>
              </a:rPr>
              <a:t>• L09：七步自查法（写作后5分钟完成）</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模考冲刺（L10）</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考场时间分配：Task 1=20分钟，Task 2=40分钟</a:t>
            </a:r>
          </a:p>
          <a:p>
            <a:pPr>
              <a:spcBef>
                <a:spcPts val="700"/>
              </a:spcBef>
            </a:pPr>
            <a:r>
              <a:rPr sz="1450">
                <a:solidFill>
                  <a:srgbClr val="1E293B"/>
                </a:solidFill>
              </a:rPr>
              <a:t>• Task 2提纲：3-5分钟列关键词框架</a:t>
            </a:r>
          </a:p>
          <a:p>
            <a:pPr>
              <a:spcBef>
                <a:spcPts val="700"/>
              </a:spcBef>
            </a:pPr>
            <a:r>
              <a:rPr sz="1450">
                <a:solidFill>
                  <a:srgbClr val="1E293B"/>
                </a:solidFill>
              </a:rPr>
              <a:t>• 急救策略：Task 1超时→先完成Task 2</a:t>
            </a:r>
          </a:p>
          <a:p>
            <a:pPr>
              <a:spcBef>
                <a:spcPts val="700"/>
              </a:spcBef>
            </a:pPr>
            <a:r>
              <a:rPr sz="1450">
                <a:solidFill>
                  <a:srgbClr val="1E293B"/>
                </a:solidFill>
              </a:rPr>
              <a:t>• 临考一周：轻量保持手感，不死记模板</a:t>
            </a:r>
          </a:p>
          <a:p>
            <a:pPr>
              <a:spcBef>
                <a:spcPts val="700"/>
              </a:spcBef>
            </a:pPr>
            <a:r>
              <a:rPr sz="1450">
                <a:solidFill>
                  <a:srgbClr val="1E293B"/>
                </a:solidFill>
              </a:rPr>
              <a:t>• 考场心态：深呼吸，相信已有准备</a:t>
            </a:r>
          </a:p>
          <a:p>
            <a:pPr>
              <a:spcBef>
                <a:spcPts val="700"/>
              </a:spcBef>
            </a:pPr>
            <a:r>
              <a:rPr sz="1450">
                <a:solidFill>
                  <a:srgbClr val="1E293B"/>
                </a:solidFill>
              </a:rPr>
              <a:t>• 最终目标：四维均衡达到Band 7（GRA+LR+TA+CC）</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L10模考评分：自我提升对照表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写作能力成长轨迹（Band 5→7）</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Band 5：无明确立场，Task 1无Overview，全为简单句</a:t>
            </a:r>
          </a:p>
          <a:p>
            <a:pPr>
              <a:spcBef>
                <a:spcPts val="700"/>
              </a:spcBef>
            </a:pPr>
            <a:r>
              <a:rPr sz="1450">
                <a:solidFill>
                  <a:srgbClr val="1E293B"/>
                </a:solidFill>
              </a:rPr>
              <a:t>• Band 5.5：有立场但论证浅，有Overview但数据处理乱</a:t>
            </a:r>
          </a:p>
          <a:p>
            <a:pPr>
              <a:spcBef>
                <a:spcPts val="700"/>
              </a:spcBef>
            </a:pPr>
            <a:r>
              <a:rPr sz="1450">
                <a:solidFill>
                  <a:srgbClr val="1E293B"/>
                </a:solidFill>
              </a:rPr>
              <a:t>• Band 6：立场清晰，PEEL有轮廓，词汇有多样化迹象</a:t>
            </a:r>
          </a:p>
          <a:p>
            <a:pPr>
              <a:spcBef>
                <a:spcPts val="700"/>
              </a:spcBef>
            </a:pPr>
            <a:r>
              <a:rPr sz="1450">
                <a:solidFill>
                  <a:srgbClr val="1E293B"/>
                </a:solidFill>
              </a:rPr>
              <a:t>• Band 6.5：PEEL三层基本完整，有复杂句型，搭配基本准确</a:t>
            </a:r>
          </a:p>
          <a:p>
            <a:pPr>
              <a:spcBef>
                <a:spcPts val="700"/>
              </a:spcBef>
            </a:pPr>
            <a:r>
              <a:rPr sz="1450">
                <a:solidFill>
                  <a:srgbClr val="1E293B"/>
                </a:solidFill>
              </a:rPr>
              <a:t>• Band 7：立场全文一致，PEEL完整，词汇不常见，语法多样</a:t>
            </a:r>
          </a:p>
          <a:p>
            <a:pPr>
              <a:spcBef>
                <a:spcPts val="700"/>
              </a:spcBef>
            </a:pPr>
            <a:r>
              <a:rPr sz="1450">
                <a:solidFill>
                  <a:srgbClr val="1E293B"/>
                </a:solidFill>
              </a:rPr>
              <a:t>• 目标Band：______（在备考前设定，全程专注这一目标）</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每次模考后的行动清单</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第1件：找出这篇文章最大的问题（TA/CC/LR/GRA各一个）</a:t>
            </a:r>
          </a:p>
          <a:p>
            <a:pPr>
              <a:spcBef>
                <a:spcPts val="700"/>
              </a:spcBef>
            </a:pPr>
            <a:r>
              <a:rPr sz="1450">
                <a:solidFill>
                  <a:srgbClr val="1E293B"/>
                </a:solidFill>
              </a:rPr>
              <a:t>• 第2件：对照范文，找出3个自己没想到的高分表达</a:t>
            </a:r>
          </a:p>
          <a:p>
            <a:pPr>
              <a:spcBef>
                <a:spcPts val="700"/>
              </a:spcBef>
            </a:pPr>
            <a:r>
              <a:rPr sz="1450">
                <a:solidFill>
                  <a:srgbClr val="1E293B"/>
                </a:solidFill>
              </a:rPr>
              <a:t>• 第3件：把本次新出现的错误加入个人错误清单</a:t>
            </a:r>
          </a:p>
          <a:p>
            <a:pPr>
              <a:spcBef>
                <a:spcPts val="700"/>
              </a:spcBef>
            </a:pPr>
            <a:r>
              <a:rPr sz="1450">
                <a:solidFill>
                  <a:srgbClr val="1E293B"/>
                </a:solidFill>
              </a:rPr>
              <a:t>• 第4件：用错误清单中最高频的错误设计下次写作目标</a:t>
            </a:r>
          </a:p>
          <a:p>
            <a:pPr>
              <a:spcBef>
                <a:spcPts val="700"/>
              </a:spcBef>
            </a:pPr>
            <a:r>
              <a:rPr sz="1450">
                <a:solidFill>
                  <a:srgbClr val="1E293B"/>
                </a:solidFill>
              </a:rPr>
              <a:t>• 第5件：把满意的句子/表达抄入词汇本（为下次复用）</a:t>
            </a:r>
          </a:p>
          <a:p>
            <a:pPr>
              <a:spcBef>
                <a:spcPts val="700"/>
              </a:spcBef>
            </a:pPr>
            <a:r>
              <a:rPr sz="1450">
                <a:solidFill>
                  <a:srgbClr val="1E293B"/>
                </a:solidFill>
              </a:rPr>
              <a:t>• 记住：修改分析时间≥写作时间才能真正提升</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L10学完自测：全程备考总检验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完成过至少5次计时写作（Task 1+Task 2各2篇以上）</a:t>
            </a:r>
          </a:p>
          <a:p>
            <a:pPr>
              <a:spcBef>
                <a:spcPts val="1200"/>
              </a:spcBef>
            </a:pPr>
            <a:r>
              <a:rPr sz="1600">
                <a:solidFill>
                  <a:srgbClr val="1E293B"/>
                </a:solidFill>
              </a:rPr>
              <a:t>☐ 建立了个人错误清单，并已改正最高频的3个错误</a:t>
            </a:r>
          </a:p>
          <a:p>
            <a:pPr>
              <a:spcBef>
                <a:spcPts val="1200"/>
              </a:spcBef>
            </a:pPr>
            <a:r>
              <a:rPr sz="1600">
                <a:solidFill>
                  <a:srgbClr val="1E293B"/>
                </a:solidFill>
              </a:rPr>
              <a:t>☐ 掌握Overview写法：Overall开头，无数字，2句覆盖主要趋势</a:t>
            </a:r>
          </a:p>
          <a:p>
            <a:pPr>
              <a:spcBef>
                <a:spcPts val="1200"/>
              </a:spcBef>
            </a:pPr>
            <a:r>
              <a:rPr sz="1600">
                <a:solidFill>
                  <a:srgbClr val="1E293B"/>
                </a:solidFill>
              </a:rPr>
              <a:t>☐ 掌握Task 2引言结构：背景+paraphrase+明确立场</a:t>
            </a:r>
          </a:p>
          <a:p>
            <a:pPr>
              <a:spcBef>
                <a:spcPts val="1200"/>
              </a:spcBef>
            </a:pPr>
            <a:r>
              <a:rPr sz="1600">
                <a:solidFill>
                  <a:srgbClr val="1E293B"/>
                </a:solidFill>
              </a:rPr>
              <a:t>☐ 掌握PEEL主体段：TS+why（机制）+evidence（数据/例子）+L（收束）</a:t>
            </a:r>
          </a:p>
          <a:p>
            <a:pPr>
              <a:spcBef>
                <a:spcPts val="1200"/>
              </a:spcBef>
            </a:pPr>
            <a:r>
              <a:rPr sz="1600">
                <a:solidFill>
                  <a:srgbClr val="1E293B"/>
                </a:solidFill>
              </a:rPr>
              <a:t>☐ 能在5分钟内完成写作后四维自查（TA/CC/LR/GRA）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L10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考场策略：Task 1=20分钟（含Overview），Task 2=40分钟（含提纲和检查）</a:t>
            </a:r>
          </a:p>
          <a:p>
            <a:pPr>
              <a:spcBef>
                <a:spcPts val="1100"/>
              </a:spcBef>
            </a:pPr>
            <a:r>
              <a:rPr sz="1550">
                <a:solidFill>
                  <a:srgbClr val="FFFFFF"/>
                </a:solidFill>
              </a:rPr>
              <a:t>✓  Task 2提纲三步：识别题型→确定立场→列每段主题句关键词（3-5分钟内完成）</a:t>
            </a:r>
          </a:p>
          <a:p>
            <a:pPr>
              <a:spcBef>
                <a:spcPts val="1100"/>
              </a:spcBef>
            </a:pPr>
            <a:r>
              <a:rPr sz="1550">
                <a:solidFill>
                  <a:srgbClr val="FFFFFF"/>
                </a:solidFill>
              </a:rPr>
              <a:t>✓  Band 7写作必要条件：立场全程一致+有Overview+每段有主题句+PEEL论证</a:t>
            </a:r>
          </a:p>
          <a:p>
            <a:pPr>
              <a:spcBef>
                <a:spcPts val="1100"/>
              </a:spcBef>
            </a:pPr>
            <a:r>
              <a:rPr sz="1550">
                <a:solidFill>
                  <a:srgbClr val="FFFFFF"/>
                </a:solidFill>
              </a:rPr>
              <a:t>✓  临考冲刺：复习词汇表+错误清单+每天一个引言段（保持手感），不死记模板</a:t>
            </a:r>
          </a:p>
          <a:p>
            <a:pPr>
              <a:spcBef>
                <a:spcPts val="1100"/>
              </a:spcBef>
            </a:pPr>
            <a:r>
              <a:rPr sz="1550">
                <a:solidFill>
                  <a:srgbClr val="FFFFFF"/>
                </a:solidFill>
              </a:rPr>
              <a:t>✓  考场心态：相信准备，执行时间分配，最后5分钟四维自查，写完即交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建议用时：约1.5小时（模考）+1小时（分析修正）</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完成一套完整模考：Task 1（20分钟）+Task 2（40分钟），计时，不查字典</a:t>
            </a:r>
          </a:p>
          <a:p>
            <a:pPr>
              <a:spcBef>
                <a:spcPts val="1300"/>
              </a:spcBef>
            </a:pPr>
            <a:r>
              <a:rPr sz="1550" b="1">
                <a:solidFill>
                  <a:srgbClr val="1E293B"/>
                </a:solidFill>
              </a:rPr>
              <a:t>作业 2　模考后：用四维评分表自评，找出最弱维度，针对性改写该维度的相关段落</a:t>
            </a:r>
          </a:p>
          <a:p>
            <a:pPr>
              <a:spcBef>
                <a:spcPts val="1300"/>
              </a:spcBef>
            </a:pPr>
            <a:r>
              <a:rPr sz="1550" b="1">
                <a:solidFill>
                  <a:srgbClr val="1E293B"/>
                </a:solidFill>
              </a:rPr>
              <a:t>作业 3　考前一天：复习词汇表和错误清单，早睡，明天全力以赴！</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L11 · 恭喜完成IELTS写作全程备考！</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10节课写作体系已全部掌握</a:t>
            </a:r>
          </a:p>
          <a:p>
            <a:pPr>
              <a:spcBef>
                <a:spcPts val="1000"/>
              </a:spcBef>
            </a:pPr>
            <a:r>
              <a:rPr sz="1600">
                <a:solidFill>
                  <a:srgbClr val="CFDCF2"/>
                </a:solidFill>
              </a:rPr>
              <a:t>→ 持续练习+精细修正=稳定Band 7</a:t>
            </a:r>
          </a:p>
          <a:p>
            <a:pPr>
              <a:spcBef>
                <a:spcPts val="1000"/>
              </a:spcBef>
            </a:pPr>
            <a:r>
              <a:rPr sz="1600">
                <a:solidFill>
                  <a:srgbClr val="CFDCF2"/>
                </a:solidFill>
              </a:rPr>
              <a:t>→ 祝考试顺利，一举拿下目标分！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