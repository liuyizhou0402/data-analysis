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L05</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Task 2 主体段论证技术</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Body Paragraph Argumentation Techniques</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5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PEEL段落结构精解</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论点与支撑的写法</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例子与证据的运用</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让步与反驳技术</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主体段词汇与连接</a:t>
            </a:r>
          </a:p>
        </p:txBody>
      </p:sp>
      <p:sp>
        <p:nvSpPr>
          <p:cNvPr id="22" name="Rounded Rectangle 21"/>
          <p:cNvSpPr/>
          <p:nvPr/>
        </p:nvSpPr>
        <p:spPr>
          <a:xfrm>
            <a:off x="640080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综合练习与高分示范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PEEL段落结构精解</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PEEL Paragraph 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PEEL结构四要素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PEEL Structure: Four Components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P = Point</a:t>
            </a:r>
          </a:p>
          <a:p>
            <a:pPr>
              <a:spcBef>
                <a:spcPts val="100"/>
              </a:spcBef>
            </a:pPr>
            <a:r>
              <a:rPr sz="1500">
                <a:solidFill>
                  <a:srgbClr val="556075"/>
                </a:solidFill>
              </a:rPr>
              <a:t>   主题句——这段论证什么观点？（一段一个论点）</a:t>
            </a:r>
          </a:p>
          <a:p>
            <a:pPr>
              <a:spcBef>
                <a:spcPts val="900"/>
              </a:spcBef>
            </a:pPr>
            <a:r>
              <a:rPr sz="1800" b="1">
                <a:solidFill>
                  <a:srgbClr val="472473"/>
                </a:solidFill>
              </a:rPr>
              <a:t>• E = Explanation</a:t>
            </a:r>
          </a:p>
          <a:p>
            <a:pPr>
              <a:spcBef>
                <a:spcPts val="100"/>
              </a:spcBef>
            </a:pPr>
            <a:r>
              <a:rPr sz="1500">
                <a:solidFill>
                  <a:srgbClr val="556075"/>
                </a:solidFill>
              </a:rPr>
              <a:t>   解释——为什么这个论点成立？逻辑推理</a:t>
            </a:r>
          </a:p>
          <a:p>
            <a:pPr>
              <a:spcBef>
                <a:spcPts val="900"/>
              </a:spcBef>
            </a:pPr>
            <a:r>
              <a:rPr sz="1800" b="1">
                <a:solidFill>
                  <a:srgbClr val="472473"/>
                </a:solidFill>
              </a:rPr>
              <a:t>• E = Evidence</a:t>
            </a:r>
          </a:p>
          <a:p>
            <a:pPr>
              <a:spcBef>
                <a:spcPts val="100"/>
              </a:spcBef>
            </a:pPr>
            <a:r>
              <a:rPr sz="1500">
                <a:solidFill>
                  <a:srgbClr val="556075"/>
                </a:solidFill>
              </a:rPr>
              <a:t>   证据/例子——用什么事实或例子支撑？</a:t>
            </a:r>
          </a:p>
          <a:p>
            <a:pPr>
              <a:spcBef>
                <a:spcPts val="900"/>
              </a:spcBef>
            </a:pPr>
            <a:r>
              <a:rPr sz="1800" b="1">
                <a:solidFill>
                  <a:srgbClr val="472473"/>
                </a:solidFill>
              </a:rPr>
              <a:t>• L = Link</a:t>
            </a:r>
          </a:p>
          <a:p>
            <a:pPr>
              <a:spcBef>
                <a:spcPts val="100"/>
              </a:spcBef>
            </a:pPr>
            <a:r>
              <a:rPr sz="1500">
                <a:solidFill>
                  <a:srgbClr val="556075"/>
                </a:solidFill>
              </a:rPr>
              <a:t>   结尾句——总结本段并链接到文章立场</a:t>
            </a:r>
          </a:p>
          <a:p>
            <a:pPr>
              <a:spcBef>
                <a:spcPts val="900"/>
              </a:spcBef>
            </a:pPr>
            <a:r>
              <a:rPr sz="1800" b="1">
                <a:solidFill>
                  <a:srgbClr val="472473"/>
                </a:solidFill>
              </a:rPr>
              <a:t>• 字数</a:t>
            </a:r>
          </a:p>
          <a:p>
            <a:pPr>
              <a:spcBef>
                <a:spcPts val="100"/>
              </a:spcBef>
            </a:pPr>
            <a:r>
              <a:rPr sz="1500">
                <a:solidFill>
                  <a:srgbClr val="556075"/>
                </a:solidFill>
              </a:rPr>
              <a:t>   每段约80-120词，4-6句话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PEEL各部分功能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Function of Each PEEL Component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Point主题句</a:t>
            </a:r>
          </a:p>
          <a:p>
            <a:pPr>
              <a:spcBef>
                <a:spcPts val="100"/>
              </a:spcBef>
            </a:pPr>
            <a:r>
              <a:rPr sz="1500">
                <a:solidFill>
                  <a:srgbClr val="556075"/>
                </a:solidFill>
              </a:rPr>
              <a:t>   开门见山——读者一眼知道这段讲什么</a:t>
            </a:r>
          </a:p>
          <a:p>
            <a:pPr>
              <a:spcBef>
                <a:spcPts val="900"/>
              </a:spcBef>
            </a:pPr>
            <a:r>
              <a:rPr sz="1800" b="1">
                <a:solidFill>
                  <a:srgbClr val="472473"/>
                </a:solidFill>
              </a:rPr>
              <a:t>• Explanation解释</a:t>
            </a:r>
          </a:p>
          <a:p>
            <a:pPr>
              <a:spcBef>
                <a:spcPts val="100"/>
              </a:spcBef>
            </a:pPr>
            <a:r>
              <a:rPr sz="1500">
                <a:solidFill>
                  <a:srgbClr val="556075"/>
                </a:solidFill>
              </a:rPr>
              <a:t>   逻辑推理——说明WHY，不只是说WHAT</a:t>
            </a:r>
          </a:p>
          <a:p>
            <a:pPr>
              <a:spcBef>
                <a:spcPts val="900"/>
              </a:spcBef>
            </a:pPr>
            <a:r>
              <a:rPr sz="1800" b="1">
                <a:solidFill>
                  <a:srgbClr val="472473"/>
                </a:solidFill>
              </a:rPr>
              <a:t>• Evidence证据</a:t>
            </a:r>
          </a:p>
          <a:p>
            <a:pPr>
              <a:spcBef>
                <a:spcPts val="100"/>
              </a:spcBef>
            </a:pPr>
            <a:r>
              <a:rPr sz="1500">
                <a:solidFill>
                  <a:srgbClr val="556075"/>
                </a:solidFill>
              </a:rPr>
              <a:t>   增加说服力——具体例子/研究/数据/常识</a:t>
            </a:r>
          </a:p>
          <a:p>
            <a:pPr>
              <a:spcBef>
                <a:spcPts val="900"/>
              </a:spcBef>
            </a:pPr>
            <a:r>
              <a:rPr sz="1800" b="1">
                <a:solidFill>
                  <a:srgbClr val="472473"/>
                </a:solidFill>
              </a:rPr>
              <a:t>• Link结尾句</a:t>
            </a:r>
          </a:p>
          <a:p>
            <a:pPr>
              <a:spcBef>
                <a:spcPts val="100"/>
              </a:spcBef>
            </a:pPr>
            <a:r>
              <a:rPr sz="1500">
                <a:solidFill>
                  <a:srgbClr val="556075"/>
                </a:solidFill>
              </a:rPr>
              <a:t>   呼应主题句——总结，过渡到下段或结论</a:t>
            </a:r>
          </a:p>
          <a:p>
            <a:pPr>
              <a:spcBef>
                <a:spcPts val="900"/>
              </a:spcBef>
            </a:pPr>
            <a:r>
              <a:rPr sz="1800" b="1">
                <a:solidFill>
                  <a:srgbClr val="472473"/>
                </a:solidFill>
              </a:rPr>
              <a:t>• 缺什么最扣分</a:t>
            </a:r>
          </a:p>
          <a:p>
            <a:pPr>
              <a:spcBef>
                <a:spcPts val="100"/>
              </a:spcBef>
            </a:pPr>
            <a:r>
              <a:rPr sz="1500">
                <a:solidFill>
                  <a:srgbClr val="556075"/>
                </a:solidFill>
              </a:rPr>
              <a:t>   缺Point（主题句）最扣CC分——这是最常见错误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PEEL段落示范分析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论点：公共交通比私家车更环保
P（主题句）："Investing in public transport is one of the most effective strategies for reducing urban carbon emissions."
E（解释）："When cities provide affordable and efficient transit networks, many commuters choose to leave their cars at home, resulting in a direct reduction in vehicle emissions. A single bus or train can replace dozens of private cars, dramatically reducing the carbon footprint per passenger."
E（例子）："For instance, Singapore's Mass Rapid Transit system, combined with high car ownership taxes, has maintained one of the lowest traffic congestion rates in Asia while significantly reducing per capita emissions."
L（结尾句）："This demonstrates that well-funded public transport is a proven and scalable solution to urban pollution."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PEEL vs 流水账写法对比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流水账写法（低分）：
"Public transport is good. Many people use buses. It is cheaper than cars. The environment is important. We should protect it. Governments should invest in transport."
→ 没有主题句，句子无逻辑联系，没有例子，没有结尾
PEEL高分写法：
→ 第一句（P）：明确论点
→ 中间3-4句（E+E）：解释+例子
→ 最后一句（L）：呼应论点，连接立场
关键区别：PEEL是有逻辑结构的论证，流水账是无联系的陈述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PEEL段落写作练习1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论点：城市化导致文化多样性增加
任务：用PEEL结构写一个完整段落（约100词）
提示：
P：城市化与文化多样性的关系
E：为什么城市化导致文化多样性（人口流动）
E：例子（某城市/深圳/纽约等）
L：总结句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PEEL示范：
"P: Urbanisation has proven to be a powerful catalyst for cultural diversity in modern cities.
E: As people migrate from rural areas and other countries in search of economic opportunities, they bring with them distinct languages, traditions, cuisines and perspectives. This convergence of cultures creates vibrant, multicultural urban environments that benefit society through increased creativity and cross-cultural understanding.
E: Shenzhen, for example, which transformed from a small fishing village into a global metropolis in just four decades, is now home to migrants from across China and the world, resulting in a uniquely diverse cultural landscape.
L: This suggests that urbanisation, far from eroding cultural identity, can enrich it by fostering meaningful cultural exchange."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PEEL练习要诀：先写P（主题句）→再想E（为什么）→举E（例子）→写L（总结）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PEEL段落写作练习2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论点：科技发展加剧社会不平等
任务：用PEEL结构写一个完整段落（约100词）
提示：
P：科技加剧不平等的主题句
E：解释为什么（数字鸿沟/高技能低技能工作分化）
E：具体例子或研究
L：总结句，联系文章立场</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PEEL示范：
"P: One significant drawback of rapid technological advancement is its tendency to exacerbate socioeconomic inequality.
E: As automation increasingly replaces routine, lower-skilled jobs, workers without advanced digital skills face growing unemployment or underemployment, while those with technical expertise command ever-higher salaries. This creates a widening gap between those who can harness technology and those displaced by it.
E: A 2021 McKinsey report estimated that up to 375 million workers globally may need to change occupations by 2030 due to automation, with the burden falling disproportionately on lower-income groups.
L: This evidence underscores the need for governments to invest in retraining programmes alongside technological development."</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Evidence技巧：用研究报告/权威机构数据最有说服力</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论点与支撑的写法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Writing Arguments &amp; Support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有力论点的三个标准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Criteria for Strong Arguments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相关性</a:t>
            </a:r>
          </a:p>
          <a:p>
            <a:pPr>
              <a:spcBef>
                <a:spcPts val="100"/>
              </a:spcBef>
            </a:pPr>
            <a:r>
              <a:rPr sz="1500">
                <a:solidFill>
                  <a:srgbClr val="556075"/>
                </a:solidFill>
              </a:rPr>
              <a:t>   论点必须直接回应题目——偏题是TA最大失分</a:t>
            </a:r>
          </a:p>
          <a:p>
            <a:pPr>
              <a:spcBef>
                <a:spcPts val="900"/>
              </a:spcBef>
            </a:pPr>
            <a:r>
              <a:rPr sz="1800" b="1">
                <a:solidFill>
                  <a:srgbClr val="472473"/>
                </a:solidFill>
              </a:rPr>
              <a:t>• 可论证性</a:t>
            </a:r>
          </a:p>
          <a:p>
            <a:pPr>
              <a:spcBef>
                <a:spcPts val="100"/>
              </a:spcBef>
            </a:pPr>
            <a:r>
              <a:rPr sz="1500">
                <a:solidFill>
                  <a:srgbClr val="556075"/>
                </a:solidFill>
              </a:rPr>
              <a:t>   论点要能被支撑——不能选自己论证不了的论点</a:t>
            </a:r>
          </a:p>
          <a:p>
            <a:pPr>
              <a:spcBef>
                <a:spcPts val="900"/>
              </a:spcBef>
            </a:pPr>
            <a:r>
              <a:rPr sz="1800" b="1">
                <a:solidFill>
                  <a:srgbClr val="472473"/>
                </a:solidFill>
              </a:rPr>
              <a:t>• 清晰度</a:t>
            </a:r>
          </a:p>
          <a:p>
            <a:pPr>
              <a:spcBef>
                <a:spcPts val="100"/>
              </a:spcBef>
            </a:pPr>
            <a:r>
              <a:rPr sz="1500">
                <a:solidFill>
                  <a:srgbClr val="556075"/>
                </a:solidFill>
              </a:rPr>
              <a:t>   一段只有一个论点——不要在一段混入多个论点</a:t>
            </a:r>
          </a:p>
          <a:p>
            <a:pPr>
              <a:spcBef>
                <a:spcPts val="900"/>
              </a:spcBef>
            </a:pPr>
            <a:r>
              <a:rPr sz="1800" b="1">
                <a:solidFill>
                  <a:srgbClr val="472473"/>
                </a:solidFill>
              </a:rPr>
              <a:t>• 重要性</a:t>
            </a:r>
          </a:p>
          <a:p>
            <a:pPr>
              <a:spcBef>
                <a:spcPts val="100"/>
              </a:spcBef>
            </a:pPr>
            <a:r>
              <a:rPr sz="1500">
                <a:solidFill>
                  <a:srgbClr val="556075"/>
                </a:solidFill>
              </a:rPr>
              <a:t>   论点要有说服力——选最有力的论点，不选trivial的</a:t>
            </a:r>
          </a:p>
          <a:p>
            <a:pPr>
              <a:spcBef>
                <a:spcPts val="900"/>
              </a:spcBef>
            </a:pPr>
            <a:r>
              <a:rPr sz="1800" b="1">
                <a:solidFill>
                  <a:srgbClr val="472473"/>
                </a:solidFill>
              </a:rPr>
              <a:t>• 层次感</a:t>
            </a:r>
          </a:p>
          <a:p>
            <a:pPr>
              <a:spcBef>
                <a:spcPts val="100"/>
              </a:spcBef>
            </a:pPr>
            <a:r>
              <a:rPr sz="1500">
                <a:solidFill>
                  <a:srgbClr val="556075"/>
                </a:solidFill>
              </a:rPr>
              <a:t>   两个主体段论点要有所区别，不要重复同一方向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支撑句的写法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How to Write Supporting Sentences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因果推理</a:t>
            </a:r>
          </a:p>
          <a:p>
            <a:pPr>
              <a:spcBef>
                <a:spcPts val="100"/>
              </a:spcBef>
            </a:pPr>
            <a:r>
              <a:rPr sz="1500">
                <a:solidFill>
                  <a:srgbClr val="556075"/>
                </a:solidFill>
              </a:rPr>
              <a:t>   说明论点为什么成立（because/since/as a result）</a:t>
            </a:r>
          </a:p>
          <a:p>
            <a:pPr>
              <a:spcBef>
                <a:spcPts val="900"/>
              </a:spcBef>
            </a:pPr>
            <a:r>
              <a:rPr sz="1800" b="1">
                <a:solidFill>
                  <a:srgbClr val="472473"/>
                </a:solidFill>
              </a:rPr>
              <a:t>• 具体化</a:t>
            </a:r>
          </a:p>
          <a:p>
            <a:pPr>
              <a:spcBef>
                <a:spcPts val="100"/>
              </a:spcBef>
            </a:pPr>
            <a:r>
              <a:rPr sz="1500">
                <a:solidFill>
                  <a:srgbClr val="556075"/>
                </a:solidFill>
              </a:rPr>
              <a:t>   把抽象论点具体化（增加细节和场景）</a:t>
            </a:r>
          </a:p>
          <a:p>
            <a:pPr>
              <a:spcBef>
                <a:spcPts val="900"/>
              </a:spcBef>
            </a:pPr>
            <a:r>
              <a:rPr sz="1800" b="1">
                <a:solidFill>
                  <a:srgbClr val="472473"/>
                </a:solidFill>
              </a:rPr>
              <a:t>• 逻辑链</a:t>
            </a:r>
          </a:p>
          <a:p>
            <a:pPr>
              <a:spcBef>
                <a:spcPts val="100"/>
              </a:spcBef>
            </a:pPr>
            <a:r>
              <a:rPr sz="1500">
                <a:solidFill>
                  <a:srgbClr val="556075"/>
                </a:solidFill>
              </a:rPr>
              <a:t>   支撑句要从论点一步步推理到例子，中间不能跳跃</a:t>
            </a:r>
          </a:p>
          <a:p>
            <a:pPr>
              <a:spcBef>
                <a:spcPts val="900"/>
              </a:spcBef>
            </a:pPr>
            <a:r>
              <a:rPr sz="1800" b="1">
                <a:solidFill>
                  <a:srgbClr val="472473"/>
                </a:solidFill>
              </a:rPr>
              <a:t>• 反面假设</a:t>
            </a:r>
          </a:p>
          <a:p>
            <a:pPr>
              <a:spcBef>
                <a:spcPts val="100"/>
              </a:spcBef>
            </a:pPr>
            <a:r>
              <a:rPr sz="1500">
                <a:solidFill>
                  <a:srgbClr val="556075"/>
                </a:solidFill>
              </a:rPr>
              <a:t>   可以说"如果没有X，就会有Y的坏结果"来反证</a:t>
            </a:r>
          </a:p>
          <a:p>
            <a:pPr>
              <a:spcBef>
                <a:spcPts val="900"/>
              </a:spcBef>
            </a:pPr>
            <a:r>
              <a:rPr sz="1800" b="1">
                <a:solidFill>
                  <a:srgbClr val="472473"/>
                </a:solidFill>
              </a:rPr>
              <a:t>• 权威支撑</a:t>
            </a:r>
          </a:p>
          <a:p>
            <a:pPr>
              <a:spcBef>
                <a:spcPts val="100"/>
              </a:spcBef>
            </a:pPr>
            <a:r>
              <a:rPr sz="1500">
                <a:solidFill>
                  <a:srgbClr val="556075"/>
                </a:solidFill>
              </a:rPr>
              <a:t>   引用研究/统计/权威机构名称增加可信度</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支撑句写法：从抽象到具体</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论点（抽象）："Education reduces poverty."
弱支撑（仍然抽象）："Education gives people more opportunities."
→ 还是太模糊，没有具体说明如何减少贫困
中支撑（有逻辑）："Education equips individuals with skills that enable them to secure better-paying jobs, thereby increasing their income and reducing their dependence on welfare systems."
→ 有逻辑链：教育→技能→更好工作→收入增加→减少贫困
强支撑（逻辑+具体化）："Education equips individuals with marketable skills, enabling them to secure employment in higher-income sectors. For every additional year of schooling, research suggests average earnings increase by approximately 8-10%, creating a direct pathway out of poverty."
→ 逻辑链清晰+数据支撑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反面假设支撑法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反面假设（Hypothetical Contrast）是高分技巧：
如果没有X，就会有Y（坏结果）
或：X的反面是Y（不好的情况）
示例：
论点：政府应该投资再生能源
正面支撑："Renewable energy reduces carbon emissions."
反面假设支撑："Without substantial investment in renewable energy, countries will remain dependent on fossil fuels, which not only accelerates climate change but also exposes national economies to the volatility of global oil and gas markets — a vulnerability that could be entirely avoided through energy independence."
→ 反面假设让论点更有说服力——避免了什么坏结果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论点选择练习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题目："The internet has brought more benefits than problems to society."
任务：为"同意"立场选择两个最有力的主体段论点
可选论点池（选最有力的2个）：
A. 互联网让信息获取民主化
B. 网络购物很方便
C. 互联网推动了科学研究和全球协作
D. 有些人上网太多时间
E. 互联网创造了新的经济机会
F. 社交媒体有时让人感到焦虑</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最佳选择：A 和 C（或A和E）
理由：
A（信息民主化）：宏观、重要、可多维度论证（教育/新闻/知识普及）
C（科研协作）：有权威性，有具体例子（COVID疫苗研发全球数据共享）
E（经济机会）：也好——有数据支撑（电商/平台经济）
不好的选择：B（太trivial）/D和F（负面论点，不符合同意立场）</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论点选择原则：选宏观重要+有例子支撑+符合立场的论点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论点排列：从最强到次强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两个主体段的论点排列策略：
策略1：最强论点放第一段
→ 读者第一印象最深——先发制人
→ 适合：当有明显更强的论点时
策略2：最强论点放第二段（递进）
→ 从次强到最强——层层递进
→ 适合：两个论点都很强，想以高潮结尾</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策略3：视题型决定
→ Discuss Both Views：两段各一方观点，不分强弱
→ Agree/Disagree：两段都支持立场，按强弱或逻辑排列
深圳学生建议：策略1更保险——确保最重要的内容被读到</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论点排列建议：选了立场→选最强论点→放第一段→次强论点→放第二段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例子与证据的运用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Using Examples &amp; Evidence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例子与证据的类型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Types of Examples &amp; Evidence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研究/统计</a:t>
            </a:r>
          </a:p>
          <a:p>
            <a:pPr>
              <a:spcBef>
                <a:spcPts val="100"/>
              </a:spcBef>
            </a:pPr>
            <a:r>
              <a:rPr sz="1500">
                <a:solidFill>
                  <a:srgbClr val="556075"/>
                </a:solidFill>
              </a:rPr>
              <a:t>   最有权威性——A 2019 WHO study found that...</a:t>
            </a:r>
          </a:p>
          <a:p>
            <a:pPr>
              <a:spcBef>
                <a:spcPts val="900"/>
              </a:spcBef>
            </a:pPr>
            <a:r>
              <a:rPr sz="1800" b="1">
                <a:solidFill>
                  <a:srgbClr val="472473"/>
                </a:solidFill>
              </a:rPr>
              <a:t>• 真实案例</a:t>
            </a:r>
          </a:p>
          <a:p>
            <a:pPr>
              <a:spcBef>
                <a:spcPts val="100"/>
              </a:spcBef>
            </a:pPr>
            <a:r>
              <a:rPr sz="1500">
                <a:solidFill>
                  <a:srgbClr val="556075"/>
                </a:solidFill>
              </a:rPr>
              <a:t>   最具体——Singapore/China/Tesla等真实例子</a:t>
            </a:r>
          </a:p>
          <a:p>
            <a:pPr>
              <a:spcBef>
                <a:spcPts val="900"/>
              </a:spcBef>
            </a:pPr>
            <a:r>
              <a:rPr sz="1800" b="1">
                <a:solidFill>
                  <a:srgbClr val="472473"/>
                </a:solidFill>
              </a:rPr>
              <a:t>• 常识性例子</a:t>
            </a:r>
          </a:p>
          <a:p>
            <a:pPr>
              <a:spcBef>
                <a:spcPts val="100"/>
              </a:spcBef>
            </a:pPr>
            <a:r>
              <a:rPr sz="1500">
                <a:solidFill>
                  <a:srgbClr val="556075"/>
                </a:solidFill>
              </a:rPr>
              <a:t>   最安全——描述普通人生活的可观察现象</a:t>
            </a:r>
          </a:p>
          <a:p>
            <a:pPr>
              <a:spcBef>
                <a:spcPts val="900"/>
              </a:spcBef>
            </a:pPr>
            <a:r>
              <a:rPr sz="1800" b="1">
                <a:solidFill>
                  <a:srgbClr val="472473"/>
                </a:solidFill>
              </a:rPr>
              <a:t>• 假设性例子</a:t>
            </a:r>
          </a:p>
          <a:p>
            <a:pPr>
              <a:spcBef>
                <a:spcPts val="100"/>
              </a:spcBef>
            </a:pPr>
            <a:r>
              <a:rPr sz="1500">
                <a:solidFill>
                  <a:srgbClr val="556075"/>
                </a:solidFill>
              </a:rPr>
              <a:t>   辅助用——Consider a situation where...</a:t>
            </a:r>
          </a:p>
          <a:p>
            <a:pPr>
              <a:spcBef>
                <a:spcPts val="900"/>
              </a:spcBef>
            </a:pPr>
            <a:r>
              <a:rPr sz="1800" b="1">
                <a:solidFill>
                  <a:srgbClr val="472473"/>
                </a:solidFill>
              </a:rPr>
              <a:t>• 历史事件</a:t>
            </a:r>
          </a:p>
          <a:p>
            <a:pPr>
              <a:spcBef>
                <a:spcPts val="100"/>
              </a:spcBef>
            </a:pPr>
            <a:r>
              <a:rPr sz="1500">
                <a:solidFill>
                  <a:srgbClr val="556075"/>
                </a:solidFill>
              </a:rPr>
              <a:t>   有时间深度——The Industrial Revolution demonstrated...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引用例子的句型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Sentence Patterns for Introducing Examples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For example/instance</a:t>
            </a:r>
          </a:p>
          <a:p>
            <a:pPr>
              <a:spcBef>
                <a:spcPts val="100"/>
              </a:spcBef>
            </a:pPr>
            <a:r>
              <a:rPr sz="1500">
                <a:solidFill>
                  <a:srgbClr val="556075"/>
                </a:solidFill>
              </a:rPr>
              <a:t>   最基础——For example, China has invested...</a:t>
            </a:r>
          </a:p>
          <a:p>
            <a:pPr>
              <a:spcBef>
                <a:spcPts val="900"/>
              </a:spcBef>
            </a:pPr>
            <a:r>
              <a:rPr sz="1800" b="1">
                <a:solidFill>
                  <a:srgbClr val="472473"/>
                </a:solidFill>
              </a:rPr>
              <a:t>• A case in point</a:t>
            </a:r>
          </a:p>
          <a:p>
            <a:pPr>
              <a:spcBef>
                <a:spcPts val="100"/>
              </a:spcBef>
            </a:pPr>
            <a:r>
              <a:rPr sz="1500">
                <a:solidFill>
                  <a:srgbClr val="556075"/>
                </a:solidFill>
              </a:rPr>
              <a:t>   较正式——A case in point is Singapore, which...</a:t>
            </a:r>
          </a:p>
          <a:p>
            <a:pPr>
              <a:spcBef>
                <a:spcPts val="900"/>
              </a:spcBef>
            </a:pPr>
            <a:r>
              <a:rPr sz="1800" b="1">
                <a:solidFill>
                  <a:srgbClr val="472473"/>
                </a:solidFill>
              </a:rPr>
              <a:t>• This is demonstrated by</a:t>
            </a:r>
          </a:p>
          <a:p>
            <a:pPr>
              <a:spcBef>
                <a:spcPts val="100"/>
              </a:spcBef>
            </a:pPr>
            <a:r>
              <a:rPr sz="1500">
                <a:solidFill>
                  <a:srgbClr val="556075"/>
                </a:solidFill>
              </a:rPr>
              <a:t>   这由...证明——This is demonstrated by research showing...</a:t>
            </a:r>
          </a:p>
          <a:p>
            <a:pPr>
              <a:spcBef>
                <a:spcPts val="900"/>
              </a:spcBef>
            </a:pPr>
            <a:r>
              <a:rPr sz="1800" b="1">
                <a:solidFill>
                  <a:srgbClr val="472473"/>
                </a:solidFill>
              </a:rPr>
              <a:t>• To illustrate</a:t>
            </a:r>
          </a:p>
          <a:p>
            <a:pPr>
              <a:spcBef>
                <a:spcPts val="100"/>
              </a:spcBef>
            </a:pPr>
            <a:r>
              <a:rPr sz="1500">
                <a:solidFill>
                  <a:srgbClr val="556075"/>
                </a:solidFill>
              </a:rPr>
              <a:t>   举例说明——To illustrate, consider the case of...</a:t>
            </a:r>
          </a:p>
          <a:p>
            <a:pPr>
              <a:spcBef>
                <a:spcPts val="900"/>
              </a:spcBef>
            </a:pPr>
            <a:r>
              <a:rPr sz="1800" b="1">
                <a:solidFill>
                  <a:srgbClr val="472473"/>
                </a:solidFill>
              </a:rPr>
              <a:t>• Evidence for this can be seen in</a:t>
            </a:r>
          </a:p>
          <a:p>
            <a:pPr>
              <a:spcBef>
                <a:spcPts val="100"/>
              </a:spcBef>
            </a:pPr>
            <a:r>
              <a:rPr sz="1500">
                <a:solidFill>
                  <a:srgbClr val="556075"/>
                </a:solidFill>
              </a:rPr>
              <a:t>   证据可见于——Evidence can be seen 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例子写法：从弱到强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弱例子（太模糊）：
"For example, many countries have done this."
→ 哪些国家？做了什么？结果怎样？——完全无信息量
中等例子（有名字但无细节）：
"For example, China has invested in electric vehicles."
→ 有名字，但没有说明投资了多少、结果如何
强例子（具体+结果）：
"China's investment of over $60 billion in electric vehicle subsidies and charging infrastructure has transformed the country into the world's largest EV market, with over 6 million electric vehicles sold in 2022 alone, demonstrating that targeted government funding can drive rapid adoption of clean technology."
→ 具体金额+排名+数据+结论——高分例子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常见例子积累：IELTS高频话题</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教育话题：
→ Finland的教育体系（无考试，高排名）
→ Singapore的双语教育政策
环境话题：
→ Denmark可再生能源（2023年风能供电100%+）
→ 深圳推广电动公交车（全球最大纯电动公交车队）
科技话题：
→ Internet普及将全球极端贫困人口从36%降至9%（1990-2020）
→ AI在医疗诊断的应用（癌症检测准确率超过专科医生）
城市化/交通：
→ Singapore公共交通+拥堵税减少私车依赖
→ Tokyo城市规划保持低犯罪率和高效通勤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例子运用练习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论点："Access to the internet has dramatically improved educational opportunities globally."
任务：为这个论点写一个高分例子段落（约60词，含引入句+具体例子+分析句）
提示：
→ 引入：For example / This is exemplified by...
→ 例子：用具体国家/项目/数据
→ 分析：This demonstrates/shows/indicates that...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高分示范：
"This is exemplified by the rapid expansion of online learning platforms such as Khan Academy and Coursera, which collectively offer thousands of courses at no cost to learners worldwide. In countries like Rwanda, where internet connectivity has expanded significantly over the past decade, students in rural areas can now access the same educational resources as their urban counterparts. This demonstrates that digital connectivity has the potential to democratise education in ways that traditional institutions alone cannot achieve."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例子结构：引入→具体例子（国家/平台/数据）→分析句（This demonstrates...）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假设性例子的写法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当没有具体事实例子时，可以用假设性例子：
写法模板：
"Consider a situation where [假设情景]. In such a case, [结果]. This illustrates [结论]."    或
"Without [措施/政策], [负面结果] would be likely."
示例：
"Consider a situation where governments cease investing in primary healthcare. In such a case, preventable diseases would go untreated among lower-income populations, leading to reduced productivity, higher welfare costs, and widening health inequality. This hypothetical scenario illustrates why sustained healthcare funding is not a luxury but a fundamental economic necessity."
优点：逻辑清晰，不依赖具体数据，适合备考时使用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假设例子技巧：①用Consider a situation where ②描述具体后果 ③用This illustrates总结</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让步与反驳技术</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Concession &amp; Refutation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让步反驳的功能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Function of Concession &amp; Refutation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展示平衡思维</a:t>
            </a:r>
          </a:p>
          <a:p>
            <a:pPr>
              <a:spcBef>
                <a:spcPts val="100"/>
              </a:spcBef>
            </a:pPr>
            <a:r>
              <a:rPr sz="1500">
                <a:solidFill>
                  <a:srgbClr val="556075"/>
                </a:solidFill>
              </a:rPr>
              <a:t>   承认对方有一定合理性——避免论证太绝对</a:t>
            </a:r>
          </a:p>
          <a:p>
            <a:pPr>
              <a:spcBef>
                <a:spcPts val="900"/>
              </a:spcBef>
            </a:pPr>
            <a:r>
              <a:rPr sz="1800" b="1">
                <a:solidFill>
                  <a:srgbClr val="472473"/>
                </a:solidFill>
              </a:rPr>
              <a:t>• 提高说服力</a:t>
            </a:r>
          </a:p>
          <a:p>
            <a:pPr>
              <a:spcBef>
                <a:spcPts val="100"/>
              </a:spcBef>
            </a:pPr>
            <a:r>
              <a:rPr sz="1500">
                <a:solidFill>
                  <a:srgbClr val="556075"/>
                </a:solidFill>
              </a:rPr>
              <a:t>   先承认再反驳——比直接否定更有说服力</a:t>
            </a:r>
          </a:p>
          <a:p>
            <a:pPr>
              <a:spcBef>
                <a:spcPts val="900"/>
              </a:spcBef>
            </a:pPr>
            <a:r>
              <a:rPr sz="1800" b="1">
                <a:solidFill>
                  <a:srgbClr val="472473"/>
                </a:solidFill>
              </a:rPr>
              <a:t>• 提升Band分</a:t>
            </a:r>
          </a:p>
          <a:p>
            <a:pPr>
              <a:spcBef>
                <a:spcPts val="100"/>
              </a:spcBef>
            </a:pPr>
            <a:r>
              <a:rPr sz="1500">
                <a:solidFill>
                  <a:srgbClr val="556075"/>
                </a:solidFill>
              </a:rPr>
              <a:t>   让步反驳体现高级思维——GRA和LR同时提分</a:t>
            </a:r>
          </a:p>
          <a:p>
            <a:pPr>
              <a:spcBef>
                <a:spcPts val="900"/>
              </a:spcBef>
            </a:pPr>
            <a:r>
              <a:rPr sz="1800" b="1">
                <a:solidFill>
                  <a:srgbClr val="472473"/>
                </a:solidFill>
              </a:rPr>
              <a:t>• 结构灵活</a:t>
            </a:r>
          </a:p>
          <a:p>
            <a:pPr>
              <a:spcBef>
                <a:spcPts val="100"/>
              </a:spcBef>
            </a:pPr>
            <a:r>
              <a:rPr sz="1500">
                <a:solidFill>
                  <a:srgbClr val="556075"/>
                </a:solidFill>
              </a:rPr>
              <a:t>   可以用在主体段也可以用在结论段</a:t>
            </a:r>
          </a:p>
          <a:p>
            <a:pPr>
              <a:spcBef>
                <a:spcPts val="900"/>
              </a:spcBef>
            </a:pPr>
            <a:r>
              <a:rPr sz="1800" b="1">
                <a:solidFill>
                  <a:srgbClr val="472473"/>
                </a:solidFill>
              </a:rPr>
              <a:t>• 使用频率</a:t>
            </a:r>
          </a:p>
          <a:p>
            <a:pPr>
              <a:spcBef>
                <a:spcPts val="100"/>
              </a:spcBef>
            </a:pPr>
            <a:r>
              <a:rPr sz="1500">
                <a:solidFill>
                  <a:srgbClr val="556075"/>
                </a:solidFill>
              </a:rPr>
              <a:t>   建议每篇Task 2至少有1处让步反驳</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让步反驳句型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Concession &amp; Refutation Patterns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While...</a:t>
            </a:r>
          </a:p>
          <a:p>
            <a:pPr>
              <a:spcBef>
                <a:spcPts val="100"/>
              </a:spcBef>
            </a:pPr>
            <a:r>
              <a:rPr sz="1500">
                <a:solidFill>
                  <a:srgbClr val="556075"/>
                </a:solidFill>
              </a:rPr>
              <a:t>   While X is true, the evidence suggests Y is more significant.</a:t>
            </a:r>
          </a:p>
          <a:p>
            <a:pPr>
              <a:spcBef>
                <a:spcPts val="900"/>
              </a:spcBef>
            </a:pPr>
            <a:r>
              <a:rPr sz="1800" b="1">
                <a:solidFill>
                  <a:srgbClr val="472473"/>
                </a:solidFill>
              </a:rPr>
              <a:t>• Although...</a:t>
            </a:r>
          </a:p>
          <a:p>
            <a:pPr>
              <a:spcBef>
                <a:spcPts val="100"/>
              </a:spcBef>
            </a:pPr>
            <a:r>
              <a:rPr sz="1500">
                <a:solidFill>
                  <a:srgbClr val="556075"/>
                </a:solidFill>
              </a:rPr>
              <a:t>   Although X has some merit, it fails to account for Y.</a:t>
            </a:r>
          </a:p>
          <a:p>
            <a:pPr>
              <a:spcBef>
                <a:spcPts val="900"/>
              </a:spcBef>
            </a:pPr>
            <a:r>
              <a:rPr sz="1800" b="1">
                <a:solidFill>
                  <a:srgbClr val="472473"/>
                </a:solidFill>
              </a:rPr>
              <a:t>• Admittedly...</a:t>
            </a:r>
          </a:p>
          <a:p>
            <a:pPr>
              <a:spcBef>
                <a:spcPts val="100"/>
              </a:spcBef>
            </a:pPr>
            <a:r>
              <a:rPr sz="1500">
                <a:solidFill>
                  <a:srgbClr val="556075"/>
                </a:solidFill>
              </a:rPr>
              <a:t>   Admittedly, X is a valid concern. However, Y is more pressing.</a:t>
            </a:r>
          </a:p>
          <a:p>
            <a:pPr>
              <a:spcBef>
                <a:spcPts val="900"/>
              </a:spcBef>
            </a:pPr>
            <a:r>
              <a:rPr sz="1800" b="1">
                <a:solidFill>
                  <a:srgbClr val="472473"/>
                </a:solidFill>
              </a:rPr>
              <a:t>• It is true that...</a:t>
            </a:r>
          </a:p>
          <a:p>
            <a:pPr>
              <a:spcBef>
                <a:spcPts val="100"/>
              </a:spcBef>
            </a:pPr>
            <a:r>
              <a:rPr sz="1500">
                <a:solidFill>
                  <a:srgbClr val="556075"/>
                </a:solidFill>
              </a:rPr>
              <a:t>   It is true that X, but this does not mean Y.</a:t>
            </a:r>
          </a:p>
          <a:p>
            <a:pPr>
              <a:spcBef>
                <a:spcPts val="900"/>
              </a:spcBef>
            </a:pPr>
            <a:r>
              <a:rPr sz="1800" b="1">
                <a:solidFill>
                  <a:srgbClr val="472473"/>
                </a:solidFill>
              </a:rPr>
              <a:t>• One might argue...</a:t>
            </a:r>
          </a:p>
          <a:p>
            <a:pPr>
              <a:spcBef>
                <a:spcPts val="100"/>
              </a:spcBef>
            </a:pPr>
            <a:r>
              <a:rPr sz="1500">
                <a:solidFill>
                  <a:srgbClr val="556075"/>
                </a:solidFill>
              </a:rPr>
              <a:t>   One might argue X; however, this overlooks the fact that 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让步反驳结构示范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论点：政府应该优先投资公共交通（而非建路）
让步："Admittedly, road construction does provide immediate benefits in terms of connectivity and economic development, particularly in rural areas where public transport coverage is limited."
反驳："However, in urban contexts where congestion is already a critical problem, building more roads is likely to exacerbate the issue by inducing additional demand for private vehicles — a phenomenon known as 'induced demand'. Public transport investment, by contrast, offers a scalable, low-emission alternative that addresses the root cause of congestion rather than merely widening its effects."
分析：
→ 让步（Admittedly）：承认建路有一定好处
→ 转折（However）：指出建路的局限性（induced demand）
→ 反驳：公共交通更好地解决根本问题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让步反驳的常见句式组合</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组合1（Admittedly + However）：
"Admittedly, [承认对方优点]. However, [反驳并给出更重要理由]."
组合2（While + the reality is that）：
"While [对方观点] may appear convincing, the reality is that [反驳]."
组合3（It is true + yet）：
"It is true that [让步内容], yet this overlooks the broader picture: [反驳内容]."
组合4（One might argue + this argument fails to consider）：
"One might argue that [对方论点]; however, this argument fails to consider [反驳]."
选择建议：组合1（Admittedly + However）最常用，Band 7以上可尝试组合3或4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让步反驳练习1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论点：大学学费应该由政府全额资助
对方反驳：这会给政府财政带来巨大负担
任务：用让步反驳技术回应对方的财政压力论点
要求：①先让步承认财政压力是真实存在的 ②再反驳说明为什么仍值得投资</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让步反驳示范：
"Admittedly, fully funding university education would place considerable strain on government finances, particularly in countries with large and growing student populations. However, this concern overlooks the long-term economic returns of an educated workforce. Research consistently demonstrates that graduates earn higher salaries, pay more in taxes over their lifetimes, and contribute disproportionately to innovation and productivity gains — returns that ultimately outweigh the initial public investment in their education."</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让步反驳模板：Admittedly [财政压力真实] + However [长远回报更大]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让步反驳练习2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题目立场：社交媒体总体上对社会有益
对方观点：社交媒体导致心理健康问题
任务：在主体段中用让步反驳技术处理这个反驳意见</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让步反驳示范：
"It is true that excessive social media use has been linked to increased rates of anxiety and depression, particularly among adolescents who may be more vulnerable to the effects of social comparison and online harassment. Yet this concern, while legitimate, fails to capture the full picture: the platforms themselves are not inherently harmful, and the issue lies primarily in patterns of use rather than the technology itself. With adequate digital literacy education and appropriate regulatory safeguards, these psychological risks can be substantially mitigated."</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让步反驳高级技巧：承认对方论点的局限性（this concern...fails to capture the full picture）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主体段词汇与连接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Body Paragraph Vocabulary &amp; Cohesion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主体段高频衔接词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High-Frequency Cohesive Devices for Body Paragraphs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解释原因</a:t>
            </a:r>
          </a:p>
          <a:p>
            <a:pPr>
              <a:spcBef>
                <a:spcPts val="100"/>
              </a:spcBef>
            </a:pPr>
            <a:r>
              <a:rPr sz="1500">
                <a:solidFill>
                  <a:srgbClr val="556075"/>
                </a:solidFill>
              </a:rPr>
              <a:t>   This is because / The reason for this is that / since / given that</a:t>
            </a:r>
          </a:p>
          <a:p>
            <a:pPr>
              <a:spcBef>
                <a:spcPts val="900"/>
              </a:spcBef>
            </a:pPr>
            <a:r>
              <a:rPr sz="1800" b="1">
                <a:solidFill>
                  <a:srgbClr val="472473"/>
                </a:solidFill>
              </a:rPr>
              <a:t>• 举例</a:t>
            </a:r>
          </a:p>
          <a:p>
            <a:pPr>
              <a:spcBef>
                <a:spcPts val="100"/>
              </a:spcBef>
            </a:pPr>
            <a:r>
              <a:rPr sz="1500">
                <a:solidFill>
                  <a:srgbClr val="556075"/>
                </a:solidFill>
              </a:rPr>
              <a:t>   For example / For instance / To illustrate / A case in point is</a:t>
            </a:r>
          </a:p>
          <a:p>
            <a:pPr>
              <a:spcBef>
                <a:spcPts val="900"/>
              </a:spcBef>
            </a:pPr>
            <a:r>
              <a:rPr sz="1800" b="1">
                <a:solidFill>
                  <a:srgbClr val="472473"/>
                </a:solidFill>
              </a:rPr>
              <a:t>• 转折让步</a:t>
            </a:r>
          </a:p>
          <a:p>
            <a:pPr>
              <a:spcBef>
                <a:spcPts val="100"/>
              </a:spcBef>
            </a:pPr>
            <a:r>
              <a:rPr sz="1500">
                <a:solidFill>
                  <a:srgbClr val="556075"/>
                </a:solidFill>
              </a:rPr>
              <a:t>   However / Nevertheless / While / Although / Admittedly</a:t>
            </a:r>
          </a:p>
          <a:p>
            <a:pPr>
              <a:spcBef>
                <a:spcPts val="900"/>
              </a:spcBef>
            </a:pPr>
            <a:r>
              <a:rPr sz="1800" b="1">
                <a:solidFill>
                  <a:srgbClr val="472473"/>
                </a:solidFill>
              </a:rPr>
              <a:t>• 强调</a:t>
            </a:r>
          </a:p>
          <a:p>
            <a:pPr>
              <a:spcBef>
                <a:spcPts val="100"/>
              </a:spcBef>
            </a:pPr>
            <a:r>
              <a:rPr sz="1500">
                <a:solidFill>
                  <a:srgbClr val="556075"/>
                </a:solidFill>
              </a:rPr>
              <a:t>   In particular / Most notably / Above all / Crucially</a:t>
            </a:r>
          </a:p>
          <a:p>
            <a:pPr>
              <a:spcBef>
                <a:spcPts val="900"/>
              </a:spcBef>
            </a:pPr>
            <a:r>
              <a:rPr sz="1800" b="1">
                <a:solidFill>
                  <a:srgbClr val="472473"/>
                </a:solidFill>
              </a:rPr>
              <a:t>• 结论总结</a:t>
            </a:r>
          </a:p>
          <a:p>
            <a:pPr>
              <a:spcBef>
                <a:spcPts val="100"/>
              </a:spcBef>
            </a:pPr>
            <a:r>
              <a:rPr sz="1500">
                <a:solidFill>
                  <a:srgbClr val="556075"/>
                </a:solidFill>
              </a:rPr>
              <a:t>   This demonstrates / This suggests / This indicates / Hence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主体段高分词汇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High-Scoring Vocabulary for Body Paragraphs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原因分析</a:t>
            </a:r>
          </a:p>
          <a:p>
            <a:pPr>
              <a:spcBef>
                <a:spcPts val="100"/>
              </a:spcBef>
            </a:pPr>
            <a:r>
              <a:rPr sz="1500">
                <a:solidFill>
                  <a:srgbClr val="556075"/>
                </a:solidFill>
              </a:rPr>
              <a:t>   underpins / stems from / is attributable to / is rooted in</a:t>
            </a:r>
          </a:p>
          <a:p>
            <a:pPr>
              <a:spcBef>
                <a:spcPts val="900"/>
              </a:spcBef>
            </a:pPr>
            <a:r>
              <a:rPr sz="1800" b="1">
                <a:solidFill>
                  <a:srgbClr val="472473"/>
                </a:solidFill>
              </a:rPr>
              <a:t>• 影响描述</a:t>
            </a:r>
          </a:p>
          <a:p>
            <a:pPr>
              <a:spcBef>
                <a:spcPts val="100"/>
              </a:spcBef>
            </a:pPr>
            <a:r>
              <a:rPr sz="1500">
                <a:solidFill>
                  <a:srgbClr val="556075"/>
                </a:solidFill>
              </a:rPr>
              <a:t>   exacerbates / mitigates / facilitates / undermines / transforms</a:t>
            </a:r>
          </a:p>
          <a:p>
            <a:pPr>
              <a:spcBef>
                <a:spcPts val="900"/>
              </a:spcBef>
            </a:pPr>
            <a:r>
              <a:rPr sz="1800" b="1">
                <a:solidFill>
                  <a:srgbClr val="472473"/>
                </a:solidFill>
              </a:rPr>
              <a:t>• 重要性</a:t>
            </a:r>
          </a:p>
          <a:p>
            <a:pPr>
              <a:spcBef>
                <a:spcPts val="100"/>
              </a:spcBef>
            </a:pPr>
            <a:r>
              <a:rPr sz="1500">
                <a:solidFill>
                  <a:srgbClr val="556075"/>
                </a:solidFill>
              </a:rPr>
              <a:t>   is pivotal / is indispensable / plays a fundamental role in</a:t>
            </a:r>
          </a:p>
          <a:p>
            <a:pPr>
              <a:spcBef>
                <a:spcPts val="900"/>
              </a:spcBef>
            </a:pPr>
            <a:r>
              <a:rPr sz="1800" b="1">
                <a:solidFill>
                  <a:srgbClr val="472473"/>
                </a:solidFill>
              </a:rPr>
              <a:t>• 比较对比</a:t>
            </a:r>
          </a:p>
          <a:p>
            <a:pPr>
              <a:spcBef>
                <a:spcPts val="100"/>
              </a:spcBef>
            </a:pPr>
            <a:r>
              <a:rPr sz="1500">
                <a:solidFill>
                  <a:srgbClr val="556075"/>
                </a:solidFill>
              </a:rPr>
              <a:t>   by contrast / in comparison / whereas / unlike / conversely</a:t>
            </a:r>
          </a:p>
          <a:p>
            <a:pPr>
              <a:spcBef>
                <a:spcPts val="900"/>
              </a:spcBef>
            </a:pPr>
            <a:r>
              <a:rPr sz="1800" b="1">
                <a:solidFill>
                  <a:srgbClr val="472473"/>
                </a:solidFill>
              </a:rPr>
              <a:t>• 强调重要</a:t>
            </a:r>
          </a:p>
          <a:p>
            <a:pPr>
              <a:spcBef>
                <a:spcPts val="100"/>
              </a:spcBef>
            </a:pPr>
            <a:r>
              <a:rPr sz="1500">
                <a:solidFill>
                  <a:srgbClr val="556075"/>
                </a:solidFill>
              </a:rPr>
              <a:t>   crucially / significantly / most importantly / above all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主体段句型：从简单到复杂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简单句（Band 5）：
"Technology helps people. It saves time. Many people use it."
复合句（Band 6）：
"Technology helps people because it saves time, and many people have adopted it in their daily lives."
复杂句（Band 7）：
"Technology, which has permeated virtually every aspect of modern life, enables individuals to complete tasks with unprecedented efficiency, fundamentally transforming how both work and leisure are experienced."
高分句（Band 7+）让步+复杂句：
"Although critics question technology's impact on employment, it is widely acknowledged that the productivity gains it delivers — particularly in sectors such as healthcare and logistics — substantially outweigh the transitional disruption it causes."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主体段逻辑连接检查清单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检查主体段的逻辑连接：
□ 主题句（Point）：这段讲什么论点？是否第一句就清楚？
□ 解释句（Explanation）：为什么这个论点成立？有因果推理吗？
□ 例子句（Evidence）：有具体例子/数据/研究吗？
□ 结尾句（Link）：有总结句吗？是否呼应主题句？
□ 衔接词：句子之间有衔接词连接吗？不过度使用？
□ 字数：这段有80-120词吗？不过短也不过长？</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主体段完整练习：Agree/Disagree</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题目："People should be encouraged to work from home rather than in offices."
立场：基本支持在家工作
论点1：在家工作提高生产力和工作满意度
任务：用PEEL结构写完整主体段1（约100词）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高分主体段1：
P: "Working from home has been shown to enhance both productivity and employee satisfaction, making it a beneficial model for many industries."
E: "Without the disruption of daily commutes and office distractions, employees are often able to focus more effectively on complex tasks. Furthermore, the flexibility afforded by remote work allows individuals to better manage their personal and professional responsibilities, leading to a healthier work-life balance."
E: "A 2020 Stanford University study found that remote workers were 13% more productive than their office-based counterparts and reported significantly higher job satisfaction."
L: "This evidence strongly supports the view that home-based working, when properly structured, can be a highly effective and fulfilling alternative to traditional office environments."</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PEEL100词示范：P=1句，E=2-3句，E=1句，L=1句</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主体段让步反驳练习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继续上题，为"在家工作"写第二个主体段
要求：在段内使用让步反驳结构
让步点：在家工作可能影响团队协作和创新</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高分主体段2（含让步反驳）：
P: "Admittedly, remote work can present challenges for team collaboration and spontaneous innovation, which often emerge from face-to-face interaction."
E: "The informal exchanges that occur in shared office environments — such as hallway conversations and impromptu brainstorming — are difficult to replicate digitally, and some research suggests that creative problem-solving suffers when teams are dispersed."
R: "However, advances in digital collaboration tools, including video conferencing platforms and project management software, have substantially bridged this gap. Many companies now operate highly effective hybrid models that combine the focus benefits of home working with regular in-person collaboration sessions."
L: "This suggests that the collaborative drawbacks of remote work are not insurmountable but can be effectively managed through thoughtful organisational design."</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让步在主体段：先承认问题（Admittedly）→再反驳解决方案（However）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主体段范文：论证公共交通投资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题目：Some people think the government should spend more money on roads, while others believe public transport should receive greater investment. Discuss both views and give your own opinion.</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Body Paragraph 2 (supporting public transport):
In contrast, there are compelling reasons why governments should direct greater resources towards public transport. Efficient transit networks move far more people per unit of infrastructure than private-vehicle roads, making them inherently more efficient uses of limited urban space. This is demonstrated by the Tokyo Yamanote Line, carrying approximately 1.5 million passengers daily — a feat that private vehicles could not replicate. Furthermore, public transport significantly reduces per capita carbon emissions, directly addressing climate challenges that road expansion only exacerbates. Public transport investment is therefore not only a more equitable solution but also a more sustainable one.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P：compelling reasons — 有力的主题句开头</a:t>
            </a:r>
          </a:p>
          <a:p>
            <a:pPr>
              <a:spcBef>
                <a:spcPts val="700"/>
              </a:spcBef>
            </a:pPr>
            <a:r>
              <a:rPr sz="1200">
                <a:solidFill>
                  <a:srgbClr val="1E293B"/>
                </a:solidFill>
              </a:rPr>
              <a:t>▸ E：逻辑推理（每单位基础设施运输更多人）</a:t>
            </a:r>
          </a:p>
          <a:p>
            <a:pPr>
              <a:spcBef>
                <a:spcPts val="700"/>
              </a:spcBef>
            </a:pPr>
            <a:r>
              <a:rPr sz="1200">
                <a:solidFill>
                  <a:srgbClr val="1E293B"/>
                </a:solidFill>
              </a:rPr>
              <a:t>▸ E：Tokyo Yamanote Line具体数据（1.5million daily）</a:t>
            </a:r>
          </a:p>
          <a:p>
            <a:pPr>
              <a:spcBef>
                <a:spcPts val="700"/>
              </a:spcBef>
            </a:pPr>
            <a:r>
              <a:rPr sz="1200">
                <a:solidFill>
                  <a:srgbClr val="1E293B"/>
                </a:solidFill>
              </a:rPr>
              <a:t>▸ L：结尾句总结两个维度（equitable + sustainable）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让步反驳范文：科技的双面影响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题目："The rapid development of technology has had a negative impact on society. To what extent do you agree or disagree?"</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立场：不同意（科技总体有益）
主体段（含让步反驳）：
"It is true that technological advancement has disrupted traditional industries and contributed to widespread job displacement in sectors such as manufacturing and retail. This is a legitimate concern that governments must address through retraining programmes and social safety nets. However, to characterise technology's overall impact as negative is to overlook the extraordinary improvements it has delivered in human health, connectivity and quality of life. The development of vaccines, digital communication tools, and clean energy technologies — all driven by technological innovation — has improved and extended the lives of billions of people worldwide. The disruption caused by technology is therefore better understood as a transitional challenge rather than a permanent negative outcome."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让步：It is true that...（承认就业影响是真实问题）</a:t>
            </a:r>
          </a:p>
          <a:p>
            <a:pPr>
              <a:spcBef>
                <a:spcPts val="700"/>
              </a:spcBef>
            </a:pPr>
            <a:r>
              <a:rPr sz="1200">
                <a:solidFill>
                  <a:srgbClr val="1E293B"/>
                </a:solidFill>
              </a:rPr>
              <a:t>▸ 过渡：This is a legitimate concern（先认可再转折）</a:t>
            </a:r>
          </a:p>
          <a:p>
            <a:pPr>
              <a:spcBef>
                <a:spcPts val="700"/>
              </a:spcBef>
            </a:pPr>
            <a:r>
              <a:rPr sz="1200">
                <a:solidFill>
                  <a:srgbClr val="1E293B"/>
                </a:solidFill>
              </a:rPr>
              <a:t>▸ 反驳：However, to characterise...as negative is to overlook...（强有力反驳）</a:t>
            </a:r>
          </a:p>
          <a:p>
            <a:pPr>
              <a:spcBef>
                <a:spcPts val="700"/>
              </a:spcBef>
            </a:pPr>
            <a:r>
              <a:rPr sz="1200">
                <a:solidFill>
                  <a:srgbClr val="1E293B"/>
                </a:solidFill>
              </a:rPr>
              <a:t>▸ 证据：vaccines/communication/clean energy（三个具体领域）</a:t>
            </a:r>
          </a:p>
          <a:p>
            <a:pPr>
              <a:spcBef>
                <a:spcPts val="700"/>
              </a:spcBef>
            </a:pPr>
            <a:r>
              <a:rPr sz="1200">
                <a:solidFill>
                  <a:srgbClr val="1E293B"/>
                </a:solidFill>
              </a:rPr>
              <a:t>▸ 结尾：transitional challenge rather than permanent（精彩收尾概念）</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弱主体段 vs 强主体段：Band差距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弱主体段（Band 5）</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强主体段（Band 7+）</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没有主题句——读者不知道这段讲什么</a:t>
            </a:r>
          </a:p>
          <a:p>
            <a:pPr>
              <a:spcBef>
                <a:spcPts val="700"/>
              </a:spcBef>
            </a:pPr>
            <a:r>
              <a:rPr sz="1350">
                <a:solidFill>
                  <a:srgbClr val="C02A2A"/>
                </a:solidFill>
              </a:rPr>
              <a:t>✗ 只有陈述，没有逻辑推理（Why的解释）</a:t>
            </a:r>
          </a:p>
          <a:p>
            <a:pPr>
              <a:spcBef>
                <a:spcPts val="700"/>
              </a:spcBef>
            </a:pPr>
            <a:r>
              <a:rPr sz="1350">
                <a:solidFill>
                  <a:srgbClr val="C02A2A"/>
                </a:solidFill>
              </a:rPr>
              <a:t>✗ 例子模糊：many countries / some people</a:t>
            </a:r>
          </a:p>
          <a:p>
            <a:pPr>
              <a:spcBef>
                <a:spcPts val="700"/>
              </a:spcBef>
            </a:pPr>
            <a:r>
              <a:rPr sz="1350">
                <a:solidFill>
                  <a:srgbClr val="C02A2A"/>
                </a:solidFill>
              </a:rPr>
              <a:t>✗ 结尾句缺失——段落突然结束</a:t>
            </a:r>
          </a:p>
          <a:p>
            <a:pPr>
              <a:spcBef>
                <a:spcPts val="700"/>
              </a:spcBef>
            </a:pPr>
            <a:r>
              <a:rPr sz="1350">
                <a:solidFill>
                  <a:srgbClr val="C02A2A"/>
                </a:solidFill>
              </a:rPr>
              <a:t>✗ 全是简单句（无从句）</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第一句就是清晰主题句</a:t>
            </a:r>
          </a:p>
          <a:p>
            <a:pPr>
              <a:spcBef>
                <a:spcPts val="700"/>
              </a:spcBef>
            </a:pPr>
            <a:r>
              <a:rPr sz="1350">
                <a:solidFill>
                  <a:srgbClr val="1B7A3D"/>
                </a:solidFill>
              </a:rPr>
              <a:t>✓ Explanation句解释WHY（因果推理）</a:t>
            </a:r>
          </a:p>
          <a:p>
            <a:pPr>
              <a:spcBef>
                <a:spcPts val="700"/>
              </a:spcBef>
            </a:pPr>
            <a:r>
              <a:rPr sz="1350">
                <a:solidFill>
                  <a:srgbClr val="1B7A3D"/>
                </a:solidFill>
              </a:rPr>
              <a:t>✓ 例子具体：Singapore / 2020 Stanford study</a:t>
            </a:r>
          </a:p>
          <a:p>
            <a:pPr>
              <a:spcBef>
                <a:spcPts val="700"/>
              </a:spcBef>
            </a:pPr>
            <a:r>
              <a:rPr sz="1350">
                <a:solidFill>
                  <a:srgbClr val="1B7A3D"/>
                </a:solidFill>
              </a:rPr>
              <a:t>✓ Link结尾句呼应主题句，联系立场</a:t>
            </a:r>
          </a:p>
          <a:p>
            <a:pPr>
              <a:spcBef>
                <a:spcPts val="700"/>
              </a:spcBef>
            </a:pPr>
            <a:r>
              <a:rPr sz="1350">
                <a:solidFill>
                  <a:srgbClr val="1B7A3D"/>
                </a:solidFill>
              </a:rPr>
              <a:t>✓ 有从句/让步句型（复杂语法）</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PEEL主体段：不同题型的变体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Agree/Disagree主体段</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Discuss Both Views主体段</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P：论点（支持自己立场）</a:t>
            </a:r>
          </a:p>
          <a:p>
            <a:pPr>
              <a:spcBef>
                <a:spcPts val="700"/>
              </a:spcBef>
            </a:pPr>
            <a:r>
              <a:rPr sz="1350">
                <a:solidFill>
                  <a:srgbClr val="C02A2A"/>
                </a:solidFill>
              </a:rPr>
              <a:t>✗ E：解释（逻辑推理）</a:t>
            </a:r>
          </a:p>
          <a:p>
            <a:pPr>
              <a:spcBef>
                <a:spcPts val="700"/>
              </a:spcBef>
            </a:pPr>
            <a:r>
              <a:rPr sz="1350">
                <a:solidFill>
                  <a:srgbClr val="C02A2A"/>
                </a:solidFill>
              </a:rPr>
              <a:t>✗ E：例子（具体）</a:t>
            </a:r>
          </a:p>
          <a:p>
            <a:pPr>
              <a:spcBef>
                <a:spcPts val="700"/>
              </a:spcBef>
            </a:pPr>
            <a:r>
              <a:rPr sz="1350">
                <a:solidFill>
                  <a:srgbClr val="C02A2A"/>
                </a:solidFill>
              </a:rPr>
              <a:t>✗ L：总结（呼应立场）</a:t>
            </a:r>
          </a:p>
          <a:p>
            <a:pPr>
              <a:spcBef>
                <a:spcPts val="700"/>
              </a:spcBef>
            </a:pPr>
            <a:r>
              <a:rPr sz="1350">
                <a:solidFill>
                  <a:srgbClr val="C02A2A"/>
                </a:solidFill>
              </a:rPr>
              <a:t>✗ 两段都支持同一立场（但论点不同）</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主体段1：论点A（一方观点）</a:t>
            </a:r>
          </a:p>
          <a:p>
            <a:pPr>
              <a:spcBef>
                <a:spcPts val="700"/>
              </a:spcBef>
            </a:pPr>
            <a:r>
              <a:rPr sz="1350">
                <a:solidFill>
                  <a:srgbClr val="1B7A3D"/>
                </a:solidFill>
              </a:rPr>
              <a:t>✓ P：这方的论点</a:t>
            </a:r>
          </a:p>
          <a:p>
            <a:pPr>
              <a:spcBef>
                <a:spcPts val="700"/>
              </a:spcBef>
            </a:pPr>
            <a:r>
              <a:rPr sz="1350">
                <a:solidFill>
                  <a:srgbClr val="1B7A3D"/>
                </a:solidFill>
              </a:rPr>
              <a:t>✓ E+E：解释+例子</a:t>
            </a:r>
          </a:p>
          <a:p>
            <a:pPr>
              <a:spcBef>
                <a:spcPts val="700"/>
              </a:spcBef>
            </a:pPr>
            <a:r>
              <a:rPr sz="1350">
                <a:solidFill>
                  <a:srgbClr val="1B7A3D"/>
                </a:solidFill>
              </a:rPr>
              <a:t>✓ L：总结，不否定此观点</a:t>
            </a:r>
          </a:p>
          <a:p>
            <a:pPr>
              <a:spcBef>
                <a:spcPts val="700"/>
              </a:spcBef>
            </a:pPr>
            <a:r>
              <a:rPr sz="1350">
                <a:solidFill>
                  <a:srgbClr val="1B7A3D"/>
                </a:solidFill>
              </a:rPr>
              <a:t>✓ 主体段2：论点B（另一方）或个人立场</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主体段写作6步法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Step 1 确定论点</a:t>
            </a:r>
          </a:p>
        </p:txBody>
      </p:sp>
      <p:sp>
        <p:nvSpPr>
          <p:cNvPr id="12" name="TextBox 11"/>
          <p:cNvSpPr txBox="1"/>
          <p:nvPr/>
        </p:nvSpPr>
        <p:spPr>
          <a:xfrm>
            <a:off x="1417320" y="1645919"/>
            <a:ext cx="10058400" cy="426719"/>
          </a:xfrm>
          <a:prstGeom prst="rect">
            <a:avLst/>
          </a:prstGeom>
          <a:noFill/>
        </p:spPr>
        <p:txBody>
          <a:bodyPr wrap="square" anchor="t">
            <a:spAutoFit/>
          </a:bodyPr>
          <a:lstStyle/>
          <a:p>
            <a:pPr algn="l"/>
            <a:r>
              <a:rPr sz="1350" b="0" i="0">
                <a:solidFill>
                  <a:srgbClr val="556075"/>
                </a:solidFill>
                <a:latin typeface="Calibri"/>
              </a:rPr>
              <a:t>一句话说清这段要证明什么——这就是主题句（P）</a:t>
            </a:r>
          </a:p>
        </p:txBody>
      </p:sp>
      <p:sp>
        <p:nvSpPr>
          <p:cNvPr id="13" name="Rounded Rectangle 12"/>
          <p:cNvSpPr/>
          <p:nvPr/>
        </p:nvSpPr>
        <p:spPr>
          <a:xfrm>
            <a:off x="548640" y="207264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12750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73100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072640"/>
            <a:ext cx="10058400" cy="411480"/>
          </a:xfrm>
          <a:prstGeom prst="rect">
            <a:avLst/>
          </a:prstGeom>
          <a:noFill/>
        </p:spPr>
        <p:txBody>
          <a:bodyPr wrap="square" anchor="t">
            <a:spAutoFit/>
          </a:bodyPr>
          <a:lstStyle/>
          <a:p>
            <a:pPr algn="l"/>
            <a:r>
              <a:rPr sz="1600" b="1" i="0">
                <a:solidFill>
                  <a:srgbClr val="472473"/>
                </a:solidFill>
                <a:latin typeface="Calibri"/>
              </a:rPr>
              <a:t>Step 2 问WHY</a:t>
            </a:r>
          </a:p>
        </p:txBody>
      </p:sp>
      <p:sp>
        <p:nvSpPr>
          <p:cNvPr id="17" name="TextBox 16"/>
          <p:cNvSpPr txBox="1"/>
          <p:nvPr/>
        </p:nvSpPr>
        <p:spPr>
          <a:xfrm>
            <a:off x="1417320" y="2438400"/>
            <a:ext cx="10058400" cy="426719"/>
          </a:xfrm>
          <a:prstGeom prst="rect">
            <a:avLst/>
          </a:prstGeom>
          <a:noFill/>
        </p:spPr>
        <p:txBody>
          <a:bodyPr wrap="square" anchor="t">
            <a:spAutoFit/>
          </a:bodyPr>
          <a:lstStyle/>
          <a:p>
            <a:pPr algn="l"/>
            <a:r>
              <a:rPr sz="1350" b="0" i="0">
                <a:solidFill>
                  <a:srgbClr val="556075"/>
                </a:solidFill>
                <a:latin typeface="Calibri"/>
              </a:rPr>
              <a:t>为什么这个论点成立？写1-2句逻辑推理（E）</a:t>
            </a:r>
          </a:p>
        </p:txBody>
      </p:sp>
      <p:sp>
        <p:nvSpPr>
          <p:cNvPr id="18" name="Rounded Rectangle 17"/>
          <p:cNvSpPr/>
          <p:nvPr/>
        </p:nvSpPr>
        <p:spPr>
          <a:xfrm>
            <a:off x="548640" y="286511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19983"/>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52348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865119"/>
            <a:ext cx="10058400" cy="411480"/>
          </a:xfrm>
          <a:prstGeom prst="rect">
            <a:avLst/>
          </a:prstGeom>
          <a:noFill/>
        </p:spPr>
        <p:txBody>
          <a:bodyPr wrap="square" anchor="t">
            <a:spAutoFit/>
          </a:bodyPr>
          <a:lstStyle/>
          <a:p>
            <a:pPr algn="l"/>
            <a:r>
              <a:rPr sz="1600" b="1" i="0">
                <a:solidFill>
                  <a:srgbClr val="472473"/>
                </a:solidFill>
                <a:latin typeface="Calibri"/>
              </a:rPr>
              <a:t>Step 3 找例子</a:t>
            </a:r>
          </a:p>
        </p:txBody>
      </p:sp>
      <p:sp>
        <p:nvSpPr>
          <p:cNvPr id="22" name="TextBox 21"/>
          <p:cNvSpPr txBox="1"/>
          <p:nvPr/>
        </p:nvSpPr>
        <p:spPr>
          <a:xfrm>
            <a:off x="1417320" y="3230879"/>
            <a:ext cx="10058400" cy="426719"/>
          </a:xfrm>
          <a:prstGeom prst="rect">
            <a:avLst/>
          </a:prstGeom>
          <a:noFill/>
        </p:spPr>
        <p:txBody>
          <a:bodyPr wrap="square" anchor="t">
            <a:spAutoFit/>
          </a:bodyPr>
          <a:lstStyle/>
          <a:p>
            <a:pPr algn="l"/>
            <a:r>
              <a:rPr sz="1350" b="0" i="0">
                <a:solidFill>
                  <a:srgbClr val="556075"/>
                </a:solidFill>
                <a:latin typeface="Calibri"/>
              </a:rPr>
              <a:t>想一个具体例子/数据/研究支撑（E）</a:t>
            </a:r>
          </a:p>
        </p:txBody>
      </p:sp>
      <p:sp>
        <p:nvSpPr>
          <p:cNvPr id="23" name="Rounded Rectangle 22"/>
          <p:cNvSpPr/>
          <p:nvPr/>
        </p:nvSpPr>
        <p:spPr>
          <a:xfrm>
            <a:off x="548640" y="365759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31596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657599"/>
            <a:ext cx="10058400" cy="411480"/>
          </a:xfrm>
          <a:prstGeom prst="rect">
            <a:avLst/>
          </a:prstGeom>
          <a:noFill/>
        </p:spPr>
        <p:txBody>
          <a:bodyPr wrap="square" anchor="t">
            <a:spAutoFit/>
          </a:bodyPr>
          <a:lstStyle/>
          <a:p>
            <a:pPr algn="l"/>
            <a:r>
              <a:rPr sz="1600" b="1" i="0">
                <a:solidFill>
                  <a:srgbClr val="472473"/>
                </a:solidFill>
                <a:latin typeface="Calibri"/>
              </a:rPr>
              <a:t>Step 4 写结尾</a:t>
            </a:r>
          </a:p>
        </p:txBody>
      </p:sp>
      <p:sp>
        <p:nvSpPr>
          <p:cNvPr id="27" name="TextBox 26"/>
          <p:cNvSpPr txBox="1"/>
          <p:nvPr/>
        </p:nvSpPr>
        <p:spPr>
          <a:xfrm>
            <a:off x="1417320" y="4023359"/>
            <a:ext cx="10058400" cy="426719"/>
          </a:xfrm>
          <a:prstGeom prst="rect">
            <a:avLst/>
          </a:prstGeom>
          <a:noFill/>
        </p:spPr>
        <p:txBody>
          <a:bodyPr wrap="square" anchor="t">
            <a:spAutoFit/>
          </a:bodyPr>
          <a:lstStyle/>
          <a:p>
            <a:pPr algn="l"/>
            <a:r>
              <a:rPr sz="1350" b="0" i="0">
                <a:solidFill>
                  <a:srgbClr val="556075"/>
                </a:solidFill>
                <a:latin typeface="Calibri"/>
              </a:rPr>
              <a:t>一句总结句，呼应主题句，联系文章立场（L）</a:t>
            </a:r>
          </a:p>
        </p:txBody>
      </p:sp>
      <p:sp>
        <p:nvSpPr>
          <p:cNvPr id="28" name="Rounded Rectangle 27"/>
          <p:cNvSpPr/>
          <p:nvPr/>
        </p:nvSpPr>
        <p:spPr>
          <a:xfrm>
            <a:off x="548640" y="445008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50494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510844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4450080"/>
            <a:ext cx="10058400" cy="411480"/>
          </a:xfrm>
          <a:prstGeom prst="rect">
            <a:avLst/>
          </a:prstGeom>
          <a:noFill/>
        </p:spPr>
        <p:txBody>
          <a:bodyPr wrap="square" anchor="t">
            <a:spAutoFit/>
          </a:bodyPr>
          <a:lstStyle/>
          <a:p>
            <a:pPr algn="l"/>
            <a:r>
              <a:rPr sz="1600" b="1" i="0">
                <a:solidFill>
                  <a:srgbClr val="472473"/>
                </a:solidFill>
                <a:latin typeface="Calibri"/>
              </a:rPr>
              <a:t>Step 5 加让步</a:t>
            </a:r>
          </a:p>
        </p:txBody>
      </p:sp>
      <p:sp>
        <p:nvSpPr>
          <p:cNvPr id="32" name="TextBox 31"/>
          <p:cNvSpPr txBox="1"/>
          <p:nvPr/>
        </p:nvSpPr>
        <p:spPr>
          <a:xfrm>
            <a:off x="1417320" y="4815840"/>
            <a:ext cx="10058400" cy="426719"/>
          </a:xfrm>
          <a:prstGeom prst="rect">
            <a:avLst/>
          </a:prstGeom>
          <a:noFill/>
        </p:spPr>
        <p:txBody>
          <a:bodyPr wrap="square" anchor="t">
            <a:spAutoFit/>
          </a:bodyPr>
          <a:lstStyle/>
          <a:p>
            <a:pPr algn="l"/>
            <a:r>
              <a:rPr sz="1350" b="0" i="0">
                <a:solidFill>
                  <a:srgbClr val="556075"/>
                </a:solidFill>
                <a:latin typeface="Calibri"/>
              </a:rPr>
              <a:t>可选：在E之前加一句让步，然后用However反驳</a:t>
            </a:r>
          </a:p>
        </p:txBody>
      </p:sp>
      <p:sp>
        <p:nvSpPr>
          <p:cNvPr id="33" name="Rounded Rectangle 32"/>
          <p:cNvSpPr/>
          <p:nvPr/>
        </p:nvSpPr>
        <p:spPr>
          <a:xfrm>
            <a:off x="548640" y="524255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2974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TextBox 34"/>
          <p:cNvSpPr txBox="1"/>
          <p:nvPr/>
        </p:nvSpPr>
        <p:spPr>
          <a:xfrm>
            <a:off x="1417320" y="5242559"/>
            <a:ext cx="10058400" cy="411480"/>
          </a:xfrm>
          <a:prstGeom prst="rect">
            <a:avLst/>
          </a:prstGeom>
          <a:noFill/>
        </p:spPr>
        <p:txBody>
          <a:bodyPr wrap="square" anchor="t">
            <a:spAutoFit/>
          </a:bodyPr>
          <a:lstStyle/>
          <a:p>
            <a:pPr algn="l"/>
            <a:r>
              <a:rPr sz="1600" b="1" i="0">
                <a:solidFill>
                  <a:srgbClr val="472473"/>
                </a:solidFill>
                <a:latin typeface="Calibri"/>
              </a:rPr>
              <a:t>Step 6 检查</a:t>
            </a:r>
          </a:p>
        </p:txBody>
      </p:sp>
      <p:sp>
        <p:nvSpPr>
          <p:cNvPr id="36" name="TextBox 35"/>
          <p:cNvSpPr txBox="1"/>
          <p:nvPr/>
        </p:nvSpPr>
        <p:spPr>
          <a:xfrm>
            <a:off x="1417320" y="5608320"/>
            <a:ext cx="10058400" cy="426719"/>
          </a:xfrm>
          <a:prstGeom prst="rect">
            <a:avLst/>
          </a:prstGeom>
          <a:noFill/>
        </p:spPr>
        <p:txBody>
          <a:bodyPr wrap="square" anchor="t">
            <a:spAutoFit/>
          </a:bodyPr>
          <a:lstStyle/>
          <a:p>
            <a:pPr algn="l"/>
            <a:r>
              <a:rPr sz="1350" b="0" i="0">
                <a:solidFill>
                  <a:srgbClr val="556075"/>
                </a:solidFill>
                <a:latin typeface="Calibri"/>
              </a:rPr>
              <a:t>检查：有主题句？有解释？有例子？有结尾？约100词？</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2完整写作流程（40分钟）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审题立场（3分钟）</a:t>
            </a:r>
          </a:p>
        </p:txBody>
      </p:sp>
      <p:sp>
        <p:nvSpPr>
          <p:cNvPr id="12" name="TextBox 11"/>
          <p:cNvSpPr txBox="1"/>
          <p:nvPr/>
        </p:nvSpPr>
        <p:spPr>
          <a:xfrm>
            <a:off x="1417320" y="1645919"/>
            <a:ext cx="10058400" cy="426719"/>
          </a:xfrm>
          <a:prstGeom prst="rect">
            <a:avLst/>
          </a:prstGeom>
          <a:noFill/>
        </p:spPr>
        <p:txBody>
          <a:bodyPr wrap="square" anchor="t">
            <a:spAutoFit/>
          </a:bodyPr>
          <a:lstStyle/>
          <a:p>
            <a:pPr algn="l"/>
            <a:r>
              <a:rPr sz="1350" b="0" i="0">
                <a:solidFill>
                  <a:srgbClr val="556075"/>
                </a:solidFill>
                <a:latin typeface="Calibri"/>
              </a:rPr>
              <a:t>读题→找题型→决定立场→想2-3个论点</a:t>
            </a:r>
          </a:p>
        </p:txBody>
      </p:sp>
      <p:sp>
        <p:nvSpPr>
          <p:cNvPr id="13" name="Rounded Rectangle 12"/>
          <p:cNvSpPr/>
          <p:nvPr/>
        </p:nvSpPr>
        <p:spPr>
          <a:xfrm>
            <a:off x="548640" y="207264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12750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73100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072640"/>
            <a:ext cx="10058400" cy="411480"/>
          </a:xfrm>
          <a:prstGeom prst="rect">
            <a:avLst/>
          </a:prstGeom>
          <a:noFill/>
        </p:spPr>
        <p:txBody>
          <a:bodyPr wrap="square" anchor="t">
            <a:spAutoFit/>
          </a:bodyPr>
          <a:lstStyle/>
          <a:p>
            <a:pPr algn="l"/>
            <a:r>
              <a:rPr sz="1600" b="1" i="0">
                <a:solidFill>
                  <a:srgbClr val="472473"/>
                </a:solidFill>
                <a:latin typeface="Calibri"/>
              </a:rPr>
              <a:t>列提纲（4分钟）</a:t>
            </a:r>
          </a:p>
        </p:txBody>
      </p:sp>
      <p:sp>
        <p:nvSpPr>
          <p:cNvPr id="17" name="TextBox 16"/>
          <p:cNvSpPr txBox="1"/>
          <p:nvPr/>
        </p:nvSpPr>
        <p:spPr>
          <a:xfrm>
            <a:off x="1417320" y="2438400"/>
            <a:ext cx="10058400" cy="426719"/>
          </a:xfrm>
          <a:prstGeom prst="rect">
            <a:avLst/>
          </a:prstGeom>
          <a:noFill/>
        </p:spPr>
        <p:txBody>
          <a:bodyPr wrap="square" anchor="t">
            <a:spAutoFit/>
          </a:bodyPr>
          <a:lstStyle/>
          <a:p>
            <a:pPr algn="l"/>
            <a:r>
              <a:rPr sz="1350" b="0" i="0">
                <a:solidFill>
                  <a:srgbClr val="556075"/>
                </a:solidFill>
                <a:latin typeface="Calibri"/>
              </a:rPr>
              <a:t>引言（立场+理由预告）+主体1论点+主体2论点+结论方向</a:t>
            </a:r>
          </a:p>
        </p:txBody>
      </p:sp>
      <p:sp>
        <p:nvSpPr>
          <p:cNvPr id="18" name="Rounded Rectangle 17"/>
          <p:cNvSpPr/>
          <p:nvPr/>
        </p:nvSpPr>
        <p:spPr>
          <a:xfrm>
            <a:off x="548640" y="286511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19983"/>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52348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865119"/>
            <a:ext cx="10058400" cy="411480"/>
          </a:xfrm>
          <a:prstGeom prst="rect">
            <a:avLst/>
          </a:prstGeom>
          <a:noFill/>
        </p:spPr>
        <p:txBody>
          <a:bodyPr wrap="square" anchor="t">
            <a:spAutoFit/>
          </a:bodyPr>
          <a:lstStyle/>
          <a:p>
            <a:pPr algn="l"/>
            <a:r>
              <a:rPr sz="1600" b="1" i="0">
                <a:solidFill>
                  <a:srgbClr val="472473"/>
                </a:solidFill>
                <a:latin typeface="Calibri"/>
              </a:rPr>
              <a:t>写引言（5分钟）</a:t>
            </a:r>
          </a:p>
        </p:txBody>
      </p:sp>
      <p:sp>
        <p:nvSpPr>
          <p:cNvPr id="22" name="TextBox 21"/>
          <p:cNvSpPr txBox="1"/>
          <p:nvPr/>
        </p:nvSpPr>
        <p:spPr>
          <a:xfrm>
            <a:off x="1417320" y="3230879"/>
            <a:ext cx="10058400" cy="426719"/>
          </a:xfrm>
          <a:prstGeom prst="rect">
            <a:avLst/>
          </a:prstGeom>
          <a:noFill/>
        </p:spPr>
        <p:txBody>
          <a:bodyPr wrap="square" anchor="t">
            <a:spAutoFit/>
          </a:bodyPr>
          <a:lstStyle/>
          <a:p>
            <a:pPr algn="l"/>
            <a:r>
              <a:rPr sz="1350" b="0" i="0">
                <a:solidFill>
                  <a:srgbClr val="556075"/>
                </a:solidFill>
                <a:latin typeface="Calibri"/>
              </a:rPr>
              <a:t>背景句+让步+立场+理由预告（60-80词）</a:t>
            </a:r>
          </a:p>
        </p:txBody>
      </p:sp>
      <p:sp>
        <p:nvSpPr>
          <p:cNvPr id="23" name="Rounded Rectangle 22"/>
          <p:cNvSpPr/>
          <p:nvPr/>
        </p:nvSpPr>
        <p:spPr>
          <a:xfrm>
            <a:off x="548640" y="365759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31596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657599"/>
            <a:ext cx="10058400" cy="411480"/>
          </a:xfrm>
          <a:prstGeom prst="rect">
            <a:avLst/>
          </a:prstGeom>
          <a:noFill/>
        </p:spPr>
        <p:txBody>
          <a:bodyPr wrap="square" anchor="t">
            <a:spAutoFit/>
          </a:bodyPr>
          <a:lstStyle/>
          <a:p>
            <a:pPr algn="l"/>
            <a:r>
              <a:rPr sz="1600" b="1" i="0">
                <a:solidFill>
                  <a:srgbClr val="472473"/>
                </a:solidFill>
                <a:latin typeface="Calibri"/>
              </a:rPr>
              <a:t>写主体1（10分钟）</a:t>
            </a:r>
          </a:p>
        </p:txBody>
      </p:sp>
      <p:sp>
        <p:nvSpPr>
          <p:cNvPr id="27" name="TextBox 26"/>
          <p:cNvSpPr txBox="1"/>
          <p:nvPr/>
        </p:nvSpPr>
        <p:spPr>
          <a:xfrm>
            <a:off x="1417320" y="4023359"/>
            <a:ext cx="10058400" cy="426719"/>
          </a:xfrm>
          <a:prstGeom prst="rect">
            <a:avLst/>
          </a:prstGeom>
          <a:noFill/>
        </p:spPr>
        <p:txBody>
          <a:bodyPr wrap="square" anchor="t">
            <a:spAutoFit/>
          </a:bodyPr>
          <a:lstStyle/>
          <a:p>
            <a:pPr algn="l"/>
            <a:r>
              <a:rPr sz="1350" b="0" i="0">
                <a:solidFill>
                  <a:srgbClr val="556075"/>
                </a:solidFill>
                <a:latin typeface="Calibri"/>
              </a:rPr>
              <a:t>PEEL结构：P+E+E+L（80-120词）</a:t>
            </a:r>
          </a:p>
        </p:txBody>
      </p:sp>
      <p:sp>
        <p:nvSpPr>
          <p:cNvPr id="28" name="Rounded Rectangle 27"/>
          <p:cNvSpPr/>
          <p:nvPr/>
        </p:nvSpPr>
        <p:spPr>
          <a:xfrm>
            <a:off x="548640" y="445008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50494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510844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4450080"/>
            <a:ext cx="10058400" cy="411480"/>
          </a:xfrm>
          <a:prstGeom prst="rect">
            <a:avLst/>
          </a:prstGeom>
          <a:noFill/>
        </p:spPr>
        <p:txBody>
          <a:bodyPr wrap="square" anchor="t">
            <a:spAutoFit/>
          </a:bodyPr>
          <a:lstStyle/>
          <a:p>
            <a:pPr algn="l"/>
            <a:r>
              <a:rPr sz="1600" b="1" i="0">
                <a:solidFill>
                  <a:srgbClr val="472473"/>
                </a:solidFill>
                <a:latin typeface="Calibri"/>
              </a:rPr>
              <a:t>写主体2（10分钟）</a:t>
            </a:r>
          </a:p>
        </p:txBody>
      </p:sp>
      <p:sp>
        <p:nvSpPr>
          <p:cNvPr id="32" name="TextBox 31"/>
          <p:cNvSpPr txBox="1"/>
          <p:nvPr/>
        </p:nvSpPr>
        <p:spPr>
          <a:xfrm>
            <a:off x="1417320" y="4815840"/>
            <a:ext cx="10058400" cy="426719"/>
          </a:xfrm>
          <a:prstGeom prst="rect">
            <a:avLst/>
          </a:prstGeom>
          <a:noFill/>
        </p:spPr>
        <p:txBody>
          <a:bodyPr wrap="square" anchor="t">
            <a:spAutoFit/>
          </a:bodyPr>
          <a:lstStyle/>
          <a:p>
            <a:pPr algn="l"/>
            <a:r>
              <a:rPr sz="1350" b="0" i="0">
                <a:solidFill>
                  <a:srgbClr val="556075"/>
                </a:solidFill>
                <a:latin typeface="Calibri"/>
              </a:rPr>
              <a:t>PEEL结构：P+E+E+L（80-120词）</a:t>
            </a:r>
          </a:p>
        </p:txBody>
      </p:sp>
      <p:sp>
        <p:nvSpPr>
          <p:cNvPr id="33" name="Rounded Rectangle 32"/>
          <p:cNvSpPr/>
          <p:nvPr/>
        </p:nvSpPr>
        <p:spPr>
          <a:xfrm>
            <a:off x="548640" y="524255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2974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TextBox 34"/>
          <p:cNvSpPr txBox="1"/>
          <p:nvPr/>
        </p:nvSpPr>
        <p:spPr>
          <a:xfrm>
            <a:off x="1417320" y="5242559"/>
            <a:ext cx="10058400" cy="411480"/>
          </a:xfrm>
          <a:prstGeom prst="rect">
            <a:avLst/>
          </a:prstGeom>
          <a:noFill/>
        </p:spPr>
        <p:txBody>
          <a:bodyPr wrap="square" anchor="t">
            <a:spAutoFit/>
          </a:bodyPr>
          <a:lstStyle/>
          <a:p>
            <a:pPr algn="l"/>
            <a:r>
              <a:rPr sz="1600" b="1" i="0">
                <a:solidFill>
                  <a:srgbClr val="472473"/>
                </a:solidFill>
                <a:latin typeface="Calibri"/>
              </a:rPr>
              <a:t>写结论+检查（8分钟）</a:t>
            </a:r>
          </a:p>
        </p:txBody>
      </p:sp>
      <p:sp>
        <p:nvSpPr>
          <p:cNvPr id="36" name="TextBox 35"/>
          <p:cNvSpPr txBox="1"/>
          <p:nvPr/>
        </p:nvSpPr>
        <p:spPr>
          <a:xfrm>
            <a:off x="1417320" y="5608320"/>
            <a:ext cx="10058400" cy="426719"/>
          </a:xfrm>
          <a:prstGeom prst="rect">
            <a:avLst/>
          </a:prstGeom>
          <a:noFill/>
        </p:spPr>
        <p:txBody>
          <a:bodyPr wrap="square" anchor="t">
            <a:spAutoFit/>
          </a:bodyPr>
          <a:lstStyle/>
          <a:p>
            <a:pPr algn="l"/>
            <a:r>
              <a:rPr sz="1350" b="0" i="0">
                <a:solidFill>
                  <a:srgbClr val="556075"/>
                </a:solidFill>
                <a:latin typeface="Calibri"/>
              </a:rPr>
              <a:t>重申立场+总结论点+收尾（5分钟）+检查词数/拼写（3分钟）</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PEEL结构识别练习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判断以下段落中哪个部分是P、E、E、L</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段落分析</a:t>
            </a:r>
          </a:p>
          <a:p>
            <a:pPr>
              <a:spcBef>
                <a:spcPts val="100"/>
              </a:spcBef>
            </a:pPr>
            <a:r>
              <a:rPr sz="1400">
                <a:solidFill>
                  <a:srgbClr val="556075"/>
                </a:solidFill>
              </a:rPr>
              <a:t>   以下段落各句属于PEEL的哪一部分？
句1："Increasing access to higher education has the potential to significantly reduce economic inequality."
句2："When more people from lower-income backgrounds are able to attend university, they gain qualifications that enable them to compete for higher-paying positions."
句3："In the United States, studies have shown that college graduates earn approximately 85% more than those with only a high school diploma over their lifetimes."
句4："This demonstrates that educational investment is one of the most effective tools available for narrowing the wealth gap."
【答案】句1=P（主题句）/ 句2=E（解释）/ 句3=E（例子/证据）/ 句4=L（结尾）</a:t>
            </a:r>
          </a:p>
          <a:p>
            <a:pPr>
              <a:spcBef>
                <a:spcPts val="1100"/>
              </a:spcBef>
            </a:pPr>
            <a:r>
              <a:rPr sz="1700" b="1">
                <a:solidFill>
                  <a:srgbClr val="472473"/>
                </a:solidFill>
              </a:rPr>
              <a:t>▢ 主题句写作练习</a:t>
            </a:r>
          </a:p>
          <a:p>
            <a:pPr>
              <a:spcBef>
                <a:spcPts val="100"/>
              </a:spcBef>
            </a:pPr>
            <a:r>
              <a:rPr sz="1400">
                <a:solidFill>
                  <a:srgbClr val="556075"/>
                </a:solidFill>
              </a:rPr>
              <a:t>   为以下论点写一个高分主题句（一句话，清晰有力）：
论点1：城市绿地减少心理健康问题
论点2：大学教育提升社会流动性
论点3：可再生能源比化石燃料更经济
【参考答案】
1: "Access to urban green spaces has been shown to play a significant role in reducing stress and improving mental health outcomes among city residents."
2: "University education serves as one of the most powerful engines of social mobility, enabling individuals from disadvantaged backgrounds to access opportunities previously unavailable to them."
3: "Contrary to popular perception, renewable energy sources have become increasingly cost-competitive with fossil fuels, making them the economically rational choice for long-term energy planning."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让步反驳写作练习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完成以下让步反驳句（在空白处填写合理内容）</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让步反驳填空</a:t>
            </a:r>
          </a:p>
          <a:p>
            <a:pPr>
              <a:spcBef>
                <a:spcPts val="100"/>
              </a:spcBef>
            </a:pPr>
            <a:r>
              <a:rPr sz="1400">
                <a:solidFill>
                  <a:srgbClr val="556075"/>
                </a:solidFill>
              </a:rPr>
              <a:t>   1. "Admittedly, ___[让步内容]___. However, ___[反驳内容]___."
论点：学校应该禁止学生使用手机
参考答案：
"Admittedly, smartphones can be a significant source of distraction in the classroom, and there is evidence that excessive phone use negatively impacts concentration and academic performance. However, an outright ban fails to prepare students for a world in which digital devices are ubiquitous professional tools; a more effective approach would be to teach responsible and focused use of technology within the educational setting."</a:t>
            </a:r>
          </a:p>
          <a:p>
            <a:pPr>
              <a:spcBef>
                <a:spcPts val="1100"/>
              </a:spcBef>
            </a:pPr>
            <a:r>
              <a:rPr sz="1700" b="1">
                <a:solidFill>
                  <a:srgbClr val="472473"/>
                </a:solidFill>
              </a:rPr>
              <a:t>▢ 让步反驳改写</a:t>
            </a:r>
          </a:p>
          <a:p>
            <a:pPr>
              <a:spcBef>
                <a:spcPts val="100"/>
              </a:spcBef>
            </a:pPr>
            <a:r>
              <a:rPr sz="1400">
                <a:solidFill>
                  <a:srgbClr val="556075"/>
                </a:solidFill>
              </a:rPr>
              <a:t>   改写以下直接否定为让步反驳形式：
直接否定（弱）："Online learning is not as good as classroom learning."
任务：改写为：先让步承认网络学习的某个优点，再反驳说课堂学习有更重要的优势
【参考答案】"It is true that online learning offers unparalleled flexibility and accessibility, allowing learners in remote areas to access high-quality educational content at their own pace. Nevertheless, this mode of learning cannot fully replicate the social, collaborative and mentorship dimensions of classroom education, which are particularly crucial during the formative years of a student's development."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PEEL结构5大原则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P：一段一论点</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主题句只表达一个核心论点——不要在一段混入两个论点</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E：解释WHY</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不能只说WHAT——必须解释为什么这个论点成立（因果推理）</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E：例子要具体</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拒绝模糊例子（many countries）——用具体国家/数据/研究</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L：结尾要呼应</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结尾句必须呼应主题句，不能引入新内容</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100词目标</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每段约80-120词——太短（论证不足）太长（重点不突出）</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让步反驳5大使用技巧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位置</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让步可在主体段开头（P让步→反驳→E+E+L）或单独一段</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程度</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让步要适度——不能让步太多让对方论点看起来比自己更强</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转折词</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Admittedly/However配对；While/...配对；It is true that/Yet配对</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针对性</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让步必须针对真实的对方论点——不能批稻草人</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频率</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建议每篇Task 2至少1处让步反驳——体现平衡思维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主体段例子积累：IELTS高频话题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教育</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Finland教育（少考试高排名）/ Singapore双语 / Harvard研究（大学溢价85%）</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环境</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Denmark可再生能源 / 深圳电动公交 / 巴黎协定（195国承诺）</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科技</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Stanford远程工作研究（+13%效率）/ AI医疗诊断 / 互联网降低贫困</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城市</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Singapore公交+拥堵税 / Tokyo Yamanote线（150万/天）/ 深圳快速城市化</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2写作高分清单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引言</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背景+让步+明确立场+理由预告（60-80词）</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主体段1</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PEEL结构：P主题句+E解释+E例子+L结尾（80-120词）</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主体段2</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PEEL结构+可含让步反驳（80-120词）</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结论</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In conclusion+重申立场（换词）+总结论点+收尾（60-80词）</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主体段高频动词：论证与影响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exacerbates</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加剧 — This policy exacerbates inequality</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mitigates</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减轻 — Investment mitigates the impact of poverty</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facilitates</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促进 — Education facilitates social mobility</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undermines</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破坏 — Corruption undermines trust in institutions</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demonstrates</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证明 — This demonstrates the importance of...</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stems from</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源于 — The problem stems from a lack of regulation</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is attributable to</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归因于 — The decline is attributable to...</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plays a pivotal role</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起关键作用 — Education plays a pivotal role 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让步与反驳高频词汇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Admittedly</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诚然 — Admittedly, this approach has some drawbacks</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It is true that</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诚然 — It is true that costs are high</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One might argue</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有人可能会说 — One might argue that technology is harmful</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However</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然而 — However, the evidence suggests otherwise</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Nevertheless</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尽管如此 — Nevertheless, the benefits outweigh the costs</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Yet this overlooks</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然而这忽略了 — Yet this argument overlooks the fact that</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fails to account for</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未能说明 — This view fails to account for...</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by contrast</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相比之下 — By contrast, renewable energy is sustainable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主体段高频搭配（Collocations）</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has been shown to</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已被证明 — has been shown to improve outcomes</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there is compelling evidence</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有充分证据 — there is compelling evidence that</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research consistently shows</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研究一贯表明 — research consistently shows that</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it is widely acknowledged</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普遍认为 — it is widely acknowledged that</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the evidence suggests</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证据表明 — the evidence suggests that investment...</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this underscores the need for</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这强调了...的必要性 — underscores the need for reform</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far outweigh</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远超 — the benefits far outweigh the costs</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a case in point is</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一个典型例子是 — a case in point is Singapore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PEEL段落：完整结构对照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PEEL各部分</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P（Point主题句）：1句，清晰论点</a:t>
            </a:r>
          </a:p>
          <a:p>
            <a:pPr>
              <a:spcBef>
                <a:spcPts val="700"/>
              </a:spcBef>
            </a:pPr>
            <a:r>
              <a:rPr sz="1450">
                <a:solidFill>
                  <a:srgbClr val="1E293B"/>
                </a:solidFill>
              </a:rPr>
              <a:t>• E（Explanation解释）：1-2句，逻辑推理WHY</a:t>
            </a:r>
          </a:p>
          <a:p>
            <a:pPr>
              <a:spcBef>
                <a:spcPts val="700"/>
              </a:spcBef>
            </a:pPr>
            <a:r>
              <a:rPr sz="1450">
                <a:solidFill>
                  <a:srgbClr val="1E293B"/>
                </a:solidFill>
              </a:rPr>
              <a:t>• E（Evidence证据）：1句，具体例子/数据</a:t>
            </a:r>
          </a:p>
          <a:p>
            <a:pPr>
              <a:spcBef>
                <a:spcPts val="700"/>
              </a:spcBef>
            </a:pPr>
            <a:r>
              <a:rPr sz="1450">
                <a:solidFill>
                  <a:srgbClr val="1E293B"/>
                </a:solidFill>
              </a:rPr>
              <a:t>• L（Link结尾句）：1句，总结+呼应立场</a:t>
            </a:r>
          </a:p>
          <a:p>
            <a:pPr>
              <a:spcBef>
                <a:spcPts val="700"/>
              </a:spcBef>
            </a:pPr>
            <a:r>
              <a:rPr sz="1450">
                <a:solidFill>
                  <a:srgbClr val="1E293B"/>
                </a:solidFill>
              </a:rPr>
              <a:t>• 总字数：80-120词（约5-6句）</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高分示范句型</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P："X has proven to be one of the most effective..."</a:t>
            </a:r>
          </a:p>
          <a:p>
            <a:pPr>
              <a:spcBef>
                <a:spcPts val="700"/>
              </a:spcBef>
            </a:pPr>
            <a:r>
              <a:rPr sz="1450">
                <a:solidFill>
                  <a:srgbClr val="1E293B"/>
                </a:solidFill>
              </a:rPr>
              <a:t>• E："This is because...which leads to...as a result..."</a:t>
            </a:r>
          </a:p>
          <a:p>
            <a:pPr>
              <a:spcBef>
                <a:spcPts val="700"/>
              </a:spcBef>
            </a:pPr>
            <a:r>
              <a:rPr sz="1450">
                <a:solidFill>
                  <a:srgbClr val="1E293B"/>
                </a:solidFill>
              </a:rPr>
              <a:t>• E："For example, [具体国家/研究/数据]..."</a:t>
            </a:r>
          </a:p>
          <a:p>
            <a:pPr>
              <a:spcBef>
                <a:spcPts val="700"/>
              </a:spcBef>
            </a:pPr>
            <a:r>
              <a:rPr sz="1450">
                <a:solidFill>
                  <a:srgbClr val="1E293B"/>
                </a:solidFill>
              </a:rPr>
              <a:t>• L："This demonstrates/suggests that [论点总结]."</a:t>
            </a:r>
          </a:p>
          <a:p>
            <a:pPr>
              <a:spcBef>
                <a:spcPts val="700"/>
              </a:spcBef>
            </a:pPr>
            <a:r>
              <a:rPr sz="1450">
                <a:solidFill>
                  <a:srgbClr val="1E293B"/>
                </a:solidFill>
              </a:rPr>
              <a:t>• 让步变体：Admittedly...However...这两句嵌入EE之间</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主体段论点选择：深圳学生实用指南</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好论点的特征</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与题目直接相关（不偏题）</a:t>
            </a:r>
          </a:p>
          <a:p>
            <a:pPr>
              <a:spcBef>
                <a:spcPts val="700"/>
              </a:spcBef>
            </a:pPr>
            <a:r>
              <a:rPr sz="1450">
                <a:solidFill>
                  <a:srgbClr val="1E293B"/>
                </a:solidFill>
              </a:rPr>
              <a:t>• 能用1-2个真实例子支撑</a:t>
            </a:r>
          </a:p>
          <a:p>
            <a:pPr>
              <a:spcBef>
                <a:spcPts val="700"/>
              </a:spcBef>
            </a:pPr>
            <a:r>
              <a:rPr sz="1450">
                <a:solidFill>
                  <a:srgbClr val="1E293B"/>
                </a:solidFill>
              </a:rPr>
              <a:t>• 有逻辑推理（能解释WHY）</a:t>
            </a:r>
          </a:p>
          <a:p>
            <a:pPr>
              <a:spcBef>
                <a:spcPts val="700"/>
              </a:spcBef>
            </a:pPr>
            <a:r>
              <a:rPr sz="1450">
                <a:solidFill>
                  <a:srgbClr val="1E293B"/>
                </a:solidFill>
              </a:rPr>
              <a:t>• 与另一个主体段论点不重复</a:t>
            </a:r>
          </a:p>
          <a:p>
            <a:pPr>
              <a:spcBef>
                <a:spcPts val="700"/>
              </a:spcBef>
            </a:pPr>
            <a:r>
              <a:rPr sz="1450">
                <a:solidFill>
                  <a:srgbClr val="1E293B"/>
                </a:solidFill>
              </a:rPr>
              <a:t>• 符合自己选择的立场方向</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差论点的特征</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与题目关联模糊（容易偏题）</a:t>
            </a:r>
          </a:p>
          <a:p>
            <a:pPr>
              <a:spcBef>
                <a:spcPts val="700"/>
              </a:spcBef>
            </a:pPr>
            <a:r>
              <a:rPr sz="1450">
                <a:solidFill>
                  <a:srgbClr val="1E293B"/>
                </a:solidFill>
              </a:rPr>
              <a:t>• 只能泛泛而谈，无具体例子</a:t>
            </a:r>
          </a:p>
          <a:p>
            <a:pPr>
              <a:spcBef>
                <a:spcPts val="700"/>
              </a:spcBef>
            </a:pPr>
            <a:r>
              <a:rPr sz="1450">
                <a:solidFill>
                  <a:srgbClr val="1E293B"/>
                </a:solidFill>
              </a:rPr>
              <a:t>• 只能说WHAT不能解释WHY</a:t>
            </a:r>
          </a:p>
          <a:p>
            <a:pPr>
              <a:spcBef>
                <a:spcPts val="700"/>
              </a:spcBef>
            </a:pPr>
            <a:r>
              <a:rPr sz="1450">
                <a:solidFill>
                  <a:srgbClr val="1E293B"/>
                </a:solidFill>
              </a:rPr>
              <a:t>• 和另一段论点意思重复</a:t>
            </a:r>
          </a:p>
          <a:p>
            <a:pPr>
              <a:spcBef>
                <a:spcPts val="700"/>
              </a:spcBef>
            </a:pPr>
            <a:r>
              <a:rPr sz="1450">
                <a:solidFill>
                  <a:srgbClr val="1E293B"/>
                </a:solidFill>
              </a:rPr>
              <a:t>• 太极端（always/never）难以论证</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2主体段：Band 6 vs Band 7</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Band 6主体段特征</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有主题句但论证不够深入</a:t>
            </a:r>
          </a:p>
          <a:p>
            <a:pPr>
              <a:spcBef>
                <a:spcPts val="700"/>
              </a:spcBef>
            </a:pPr>
            <a:r>
              <a:rPr sz="1450">
                <a:solidFill>
                  <a:srgbClr val="1E293B"/>
                </a:solidFill>
              </a:rPr>
              <a:t>• 例子存在但太模糊（many people）</a:t>
            </a:r>
          </a:p>
          <a:p>
            <a:pPr>
              <a:spcBef>
                <a:spcPts val="700"/>
              </a:spcBef>
            </a:pPr>
            <a:r>
              <a:rPr sz="1450">
                <a:solidFill>
                  <a:srgbClr val="1E293B"/>
                </a:solidFill>
              </a:rPr>
              <a:t>• 有衔接词但使用机械</a:t>
            </a:r>
          </a:p>
          <a:p>
            <a:pPr>
              <a:spcBef>
                <a:spcPts val="700"/>
              </a:spcBef>
            </a:pPr>
            <a:r>
              <a:rPr sz="1450">
                <a:solidFill>
                  <a:srgbClr val="1E293B"/>
                </a:solidFill>
              </a:rPr>
              <a:t>• 简单句为主，偶有从句</a:t>
            </a:r>
          </a:p>
          <a:p>
            <a:pPr>
              <a:spcBef>
                <a:spcPts val="700"/>
              </a:spcBef>
            </a:pPr>
            <a:r>
              <a:rPr sz="1450">
                <a:solidFill>
                  <a:srgbClr val="1E293B"/>
                </a:solidFill>
              </a:rPr>
              <a:t>• 字数达到但内容稀薄</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Band 7主体段特征</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主题句清晰有力，一段一论点</a:t>
            </a:r>
          </a:p>
          <a:p>
            <a:pPr>
              <a:spcBef>
                <a:spcPts val="700"/>
              </a:spcBef>
            </a:pPr>
            <a:r>
              <a:rPr sz="1450">
                <a:solidFill>
                  <a:srgbClr val="1E293B"/>
                </a:solidFill>
              </a:rPr>
              <a:t>• 例子具体（国家/数据/研究）</a:t>
            </a:r>
          </a:p>
          <a:p>
            <a:pPr>
              <a:spcBef>
                <a:spcPts val="700"/>
              </a:spcBef>
            </a:pPr>
            <a:r>
              <a:rPr sz="1450">
                <a:solidFill>
                  <a:srgbClr val="1E293B"/>
                </a:solidFill>
              </a:rPr>
              <a:t>• 衔接词自然多样（not机械罗列）</a:t>
            </a:r>
          </a:p>
          <a:p>
            <a:pPr>
              <a:spcBef>
                <a:spcPts val="700"/>
              </a:spcBef>
            </a:pPr>
            <a:r>
              <a:rPr sz="1450">
                <a:solidFill>
                  <a:srgbClr val="1E293B"/>
                </a:solidFill>
              </a:rPr>
              <a:t>• 复杂句型多样（让步/定语/条件）</a:t>
            </a:r>
          </a:p>
          <a:p>
            <a:pPr>
              <a:spcBef>
                <a:spcPts val="700"/>
              </a:spcBef>
            </a:pPr>
            <a:r>
              <a:rPr sz="1450">
                <a:solidFill>
                  <a:srgbClr val="1E293B"/>
                </a:solidFill>
              </a:rPr>
              <a:t>• 每句都有实质内容，论证充分</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深圳学生主体段提分路径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第一步：解决CC（结构）</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每段写主题句（一句清晰论点）</a:t>
            </a:r>
          </a:p>
          <a:p>
            <a:pPr>
              <a:spcBef>
                <a:spcPts val="700"/>
              </a:spcBef>
            </a:pPr>
            <a:r>
              <a:rPr sz="1450">
                <a:solidFill>
                  <a:srgbClr val="1E293B"/>
                </a:solidFill>
              </a:rPr>
              <a:t>• 检查：这段有PEEL四部分吗？</a:t>
            </a:r>
          </a:p>
          <a:p>
            <a:pPr>
              <a:spcBef>
                <a:spcPts val="700"/>
              </a:spcBef>
            </a:pPr>
            <a:r>
              <a:rPr sz="1450">
                <a:solidFill>
                  <a:srgbClr val="1E293B"/>
                </a:solidFill>
              </a:rPr>
              <a:t>• 每段有1-2个衔接词（不过多）</a:t>
            </a:r>
          </a:p>
          <a:p>
            <a:pPr>
              <a:spcBef>
                <a:spcPts val="700"/>
              </a:spcBef>
            </a:pPr>
            <a:r>
              <a:rPr sz="1450">
                <a:solidFill>
                  <a:srgbClr val="1E293B"/>
                </a:solidFill>
              </a:rPr>
              <a:t>• 每段有结尾句（总结呼应论点）</a:t>
            </a:r>
          </a:p>
          <a:p>
            <a:pPr>
              <a:spcBef>
                <a:spcPts val="700"/>
              </a:spcBef>
            </a:pPr>
            <a:r>
              <a:rPr sz="1450">
                <a:solidFill>
                  <a:srgbClr val="1E293B"/>
                </a:solidFill>
              </a:rPr>
              <a:t>• 目标：CC维度从Band 5→6.5</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第二步：解决LR+GRA（语言）</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例子要具体：用真实国家/数据</a:t>
            </a:r>
          </a:p>
          <a:p>
            <a:pPr>
              <a:spcBef>
                <a:spcPts val="700"/>
              </a:spcBef>
            </a:pPr>
            <a:r>
              <a:rPr sz="1450">
                <a:solidFill>
                  <a:srgbClr val="1E293B"/>
                </a:solidFill>
              </a:rPr>
              <a:t>• 每段至少1个复杂句（从句/让步）</a:t>
            </a:r>
          </a:p>
          <a:p>
            <a:pPr>
              <a:spcBef>
                <a:spcPts val="700"/>
              </a:spcBef>
            </a:pPr>
            <a:r>
              <a:rPr sz="1450">
                <a:solidFill>
                  <a:srgbClr val="1E293B"/>
                </a:solidFill>
              </a:rPr>
              <a:t>• 替换重复词汇（多样化动词）</a:t>
            </a:r>
          </a:p>
          <a:p>
            <a:pPr>
              <a:spcBef>
                <a:spcPts val="700"/>
              </a:spcBef>
            </a:pPr>
            <a:r>
              <a:rPr sz="1450">
                <a:solidFill>
                  <a:srgbClr val="1E293B"/>
                </a:solidFill>
              </a:rPr>
              <a:t>• 加入1处让步反驳（Admittedly...However）</a:t>
            </a:r>
          </a:p>
          <a:p>
            <a:pPr>
              <a:spcBef>
                <a:spcPts val="700"/>
              </a:spcBef>
            </a:pPr>
            <a:r>
              <a:rPr sz="1450">
                <a:solidFill>
                  <a:srgbClr val="1E293B"/>
                </a:solidFill>
              </a:rPr>
              <a:t>• 目标：LR+GRA维度从Band 6→7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L05学完自测：主体段论证技术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理解PEEL结构（Point主题句/Explanation解释/Evidence证据/Link结尾）</a:t>
            </a:r>
          </a:p>
          <a:p>
            <a:pPr>
              <a:spcBef>
                <a:spcPts val="1200"/>
              </a:spcBef>
            </a:pPr>
            <a:r>
              <a:rPr sz="1600">
                <a:solidFill>
                  <a:srgbClr val="1E293B"/>
                </a:solidFill>
              </a:rPr>
              <a:t>☐ 能写出清晰的主题句（一段一论点，第一句就说清楚）</a:t>
            </a:r>
          </a:p>
          <a:p>
            <a:pPr>
              <a:spcBef>
                <a:spcPts val="1200"/>
              </a:spcBef>
            </a:pPr>
            <a:r>
              <a:rPr sz="1600">
                <a:solidFill>
                  <a:srgbClr val="1E293B"/>
                </a:solidFill>
              </a:rPr>
              <a:t>☐ 能用逻辑推理解释论点（WHY，不只说WHAT）</a:t>
            </a:r>
          </a:p>
          <a:p>
            <a:pPr>
              <a:spcBef>
                <a:spcPts val="1200"/>
              </a:spcBef>
            </a:pPr>
            <a:r>
              <a:rPr sz="1600">
                <a:solidFill>
                  <a:srgbClr val="1E293B"/>
                </a:solidFill>
              </a:rPr>
              <a:t>☐ 能用具体例子支撑（具体国家/数据，非"many countries"）</a:t>
            </a:r>
          </a:p>
          <a:p>
            <a:pPr>
              <a:spcBef>
                <a:spcPts val="1200"/>
              </a:spcBef>
            </a:pPr>
            <a:r>
              <a:rPr sz="1600">
                <a:solidFill>
                  <a:srgbClr val="1E293B"/>
                </a:solidFill>
              </a:rPr>
              <a:t>☐ 能用让步反驳技术（Admittedly...However）</a:t>
            </a:r>
          </a:p>
          <a:p>
            <a:pPr>
              <a:spcBef>
                <a:spcPts val="1200"/>
              </a:spcBef>
            </a:pPr>
            <a:r>
              <a:rPr sz="1600">
                <a:solidFill>
                  <a:srgbClr val="1E293B"/>
                </a:solidFill>
              </a:rPr>
              <a:t>☐ 能在100词内完成一个完整的PEEL段落</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L05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PEEL段落结构：P（主题句）+ E（解释WHY）+ E（具体例子）+ L（结尾呼应）</a:t>
            </a:r>
          </a:p>
          <a:p>
            <a:pPr>
              <a:spcBef>
                <a:spcPts val="1100"/>
              </a:spcBef>
            </a:pPr>
            <a:r>
              <a:rPr sz="1550">
                <a:solidFill>
                  <a:srgbClr val="FFFFFF"/>
                </a:solidFill>
              </a:rPr>
              <a:t>✓  主体段字数：每段80-120词，每篇Task 2两个主体段共约200词</a:t>
            </a:r>
          </a:p>
          <a:p>
            <a:pPr>
              <a:spcBef>
                <a:spcPts val="1100"/>
              </a:spcBef>
            </a:pPr>
            <a:r>
              <a:rPr sz="1550">
                <a:solidFill>
                  <a:srgbClr val="FFFFFF"/>
                </a:solidFill>
              </a:rPr>
              <a:t>✓  让步反驳：Admittedly[让步] + However[反驳]——体现平衡思维，至少用1次</a:t>
            </a:r>
          </a:p>
          <a:p>
            <a:pPr>
              <a:spcBef>
                <a:spcPts val="1100"/>
              </a:spcBef>
            </a:pPr>
            <a:r>
              <a:rPr sz="1550">
                <a:solidFill>
                  <a:srgbClr val="FFFFFF"/>
                </a:solidFill>
              </a:rPr>
              <a:t>✓  例子要具体：用真实国家/研究/数据（拒绝模糊的many countries）</a:t>
            </a:r>
          </a:p>
          <a:p>
            <a:pPr>
              <a:spcBef>
                <a:spcPts val="1100"/>
              </a:spcBef>
            </a:pPr>
            <a:r>
              <a:rPr sz="1550">
                <a:solidFill>
                  <a:srgbClr val="FFFFFF"/>
                </a:solidFill>
              </a:rPr>
              <a:t>✓  Task 2全文结构：引言（60词）+主体1（100词）+主体2（100词）+结论（70词）=330词</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L05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建议用时：约90分钟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选一个Task 2题目，用PEEL结构写两个完整主体段（各约100词，计时20分钟）</a:t>
            </a:r>
          </a:p>
          <a:p>
            <a:pPr>
              <a:spcBef>
                <a:spcPts val="1300"/>
              </a:spcBef>
            </a:pPr>
            <a:r>
              <a:rPr sz="1550" b="1">
                <a:solidFill>
                  <a:srgbClr val="1E293B"/>
                </a:solidFill>
              </a:rPr>
              <a:t>作业 2　在主体段2中加入一处让步反驳（Admittedly...However...）</a:t>
            </a:r>
          </a:p>
          <a:p>
            <a:pPr>
              <a:spcBef>
                <a:spcPts val="1300"/>
              </a:spcBef>
            </a:pPr>
            <a:r>
              <a:rPr sz="1550" b="1">
                <a:solidFill>
                  <a:srgbClr val="1E293B"/>
                </a:solidFill>
              </a:rPr>
              <a:t>作业 3　积累5个IELTS高频话题例子（教育/环境/科技各至少1个）</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L06 · Task 2题型专项（讨论文/同意题）</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Discuss Both Views完整策略</a:t>
            </a:r>
          </a:p>
          <a:p>
            <a:pPr>
              <a:spcBef>
                <a:spcPts val="1000"/>
              </a:spcBef>
            </a:pPr>
            <a:r>
              <a:rPr sz="1600">
                <a:solidFill>
                  <a:srgbClr val="CFDCF2"/>
                </a:solidFill>
              </a:rPr>
              <a:t>→ Agree/Disagree高分结构</a:t>
            </a:r>
          </a:p>
          <a:p>
            <a:pPr>
              <a:spcBef>
                <a:spcPts val="1000"/>
              </a:spcBef>
            </a:pPr>
            <a:r>
              <a:rPr sz="1600">
                <a:solidFill>
                  <a:srgbClr val="CFDCF2"/>
                </a:solidFill>
              </a:rPr>
              <a:t>→ 题型快速识别练习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