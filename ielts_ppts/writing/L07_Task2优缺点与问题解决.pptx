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778240" y="0"/>
            <a:ext cx="341345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778240" y="1463040"/>
            <a:ext cx="3413455" cy="1828800"/>
          </a:xfrm>
          <a:prstGeom prst="rect">
            <a:avLst/>
          </a:prstGeom>
          <a:noFill/>
        </p:spPr>
        <p:txBody>
          <a:bodyPr wrap="square" anchor="t">
            <a:spAutoFit/>
          </a:bodyPr>
          <a:lstStyle/>
          <a:p>
            <a:pPr algn="ctr"/>
            <a:r>
              <a:rPr sz="12000" b="1" i="0">
                <a:solidFill>
                  <a:srgbClr val="F2A01D"/>
                </a:solidFill>
                <a:latin typeface="Calibri"/>
              </a:rPr>
              <a:t>L07</a:t>
            </a:r>
          </a:p>
        </p:txBody>
      </p:sp>
      <p:sp>
        <p:nvSpPr>
          <p:cNvPr id="6" name="TextBox 5"/>
          <p:cNvSpPr txBox="1"/>
          <p:nvPr/>
        </p:nvSpPr>
        <p:spPr>
          <a:xfrm>
            <a:off x="8778240" y="3566160"/>
            <a:ext cx="3413455" cy="731520"/>
          </a:xfrm>
          <a:prstGeom prst="rect">
            <a:avLst/>
          </a:prstGeom>
          <a:noFill/>
        </p:spPr>
        <p:txBody>
          <a:bodyPr wrap="square" anchor="t">
            <a:spAutoFit/>
          </a:bodyPr>
          <a:lstStyle/>
          <a:p>
            <a:pPr algn="ctr"/>
            <a:r>
              <a:rPr sz="3000" b="1" i="0">
                <a:solidFill>
                  <a:srgbClr val="FFFFFF"/>
                </a:solidFill>
                <a:latin typeface="Calibri"/>
              </a:rPr>
              <a:t>/ 10</a:t>
            </a:r>
          </a:p>
        </p:txBody>
      </p:sp>
      <p:sp>
        <p:nvSpPr>
          <p:cNvPr id="7" name="TextBox 6"/>
          <p:cNvSpPr txBox="1"/>
          <p:nvPr/>
        </p:nvSpPr>
        <p:spPr>
          <a:xfrm>
            <a:off x="777240" y="1280160"/>
            <a:ext cx="7680960" cy="640080"/>
          </a:xfrm>
          <a:prstGeom prst="rect">
            <a:avLst/>
          </a:prstGeom>
          <a:noFill/>
        </p:spPr>
        <p:txBody>
          <a:bodyPr wrap="square" anchor="t">
            <a:spAutoFit/>
          </a:bodyPr>
          <a:lstStyle/>
          <a:p>
            <a:pPr algn="l"/>
            <a:r>
              <a:rPr sz="2000" b="1" i="0">
                <a:solidFill>
                  <a:srgbClr val="F2A01D"/>
                </a:solidFill>
                <a:latin typeface="Calibri"/>
              </a:rPr>
              <a:t>IELTS Writing 写作</a:t>
            </a:r>
          </a:p>
        </p:txBody>
      </p:sp>
      <p:sp>
        <p:nvSpPr>
          <p:cNvPr id="8" name="TextBox 7"/>
          <p:cNvSpPr txBox="1"/>
          <p:nvPr/>
        </p:nvSpPr>
        <p:spPr>
          <a:xfrm>
            <a:off x="777240" y="1920240"/>
            <a:ext cx="7680960" cy="2194560"/>
          </a:xfrm>
          <a:prstGeom prst="rect">
            <a:avLst/>
          </a:prstGeom>
          <a:noFill/>
        </p:spPr>
        <p:txBody>
          <a:bodyPr wrap="square" anchor="t">
            <a:spAutoFit/>
          </a:bodyPr>
          <a:lstStyle/>
          <a:p>
            <a:pPr algn="l"/>
            <a:r>
              <a:rPr sz="4200" b="1" i="0">
                <a:solidFill>
                  <a:srgbClr val="FFFFFF"/>
                </a:solidFill>
                <a:latin typeface="Calibri"/>
              </a:rPr>
              <a:t>Task 2 题型专项
优缺点 · 问题解决 · 双问题</a:t>
            </a:r>
          </a:p>
        </p:txBody>
      </p:sp>
      <p:sp>
        <p:nvSpPr>
          <p:cNvPr id="9" name="TextBox 8"/>
          <p:cNvSpPr txBox="1"/>
          <p:nvPr/>
        </p:nvSpPr>
        <p:spPr>
          <a:xfrm>
            <a:off x="777240" y="4206240"/>
            <a:ext cx="7498079" cy="1097280"/>
          </a:xfrm>
          <a:prstGeom prst="rect">
            <a:avLst/>
          </a:prstGeom>
          <a:noFill/>
        </p:spPr>
        <p:txBody>
          <a:bodyPr wrap="square" anchor="t">
            <a:spAutoFit/>
          </a:bodyPr>
          <a:lstStyle/>
          <a:p>
            <a:pPr algn="l"/>
            <a:r>
              <a:rPr sz="1800" b="0" i="0">
                <a:solidFill>
                  <a:srgbClr val="CFDCF2"/>
                </a:solidFill>
                <a:latin typeface="Calibri"/>
              </a:rPr>
              <a:t>Advantages/Disadvantages, Problem-Solution &amp; Two-Part Questions</a:t>
            </a:r>
          </a:p>
        </p:txBody>
      </p:sp>
      <p:sp>
        <p:nvSpPr>
          <p:cNvPr id="10" name="Rounded Rectangle 9"/>
          <p:cNvSpPr/>
          <p:nvPr/>
        </p:nvSpPr>
        <p:spPr>
          <a:xfrm>
            <a:off x="777240" y="5669280"/>
            <a:ext cx="3840480" cy="54864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742432"/>
            <a:ext cx="3657600" cy="411480"/>
          </a:xfrm>
          <a:prstGeom prst="rect">
            <a:avLst/>
          </a:prstGeom>
          <a:noFill/>
        </p:spPr>
        <p:txBody>
          <a:bodyPr wrap="square" anchor="t">
            <a:spAutoFit/>
          </a:bodyPr>
          <a:lstStyle/>
          <a:p>
            <a:pPr algn="l"/>
            <a:r>
              <a:rPr sz="1300" b="1" i="0">
                <a:solidFill>
                  <a:srgbClr val="FFFFFF"/>
                </a:solidFill>
                <a:latin typeface="Calibri"/>
              </a:rPr>
              <a:t>第 7 节课 · 课时 90 分钟</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本课流程  Lesson Roadmap</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ounded Rectangle 6"/>
          <p:cNvSpPr/>
          <p:nvPr/>
        </p:nvSpPr>
        <p:spPr>
          <a:xfrm>
            <a:off x="548640" y="1325880"/>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371600"/>
            <a:ext cx="566928" cy="457200"/>
          </a:xfrm>
          <a:prstGeom prst="rect">
            <a:avLst/>
          </a:prstGeom>
          <a:noFill/>
        </p:spPr>
        <p:txBody>
          <a:bodyPr wrap="square" anchor="t">
            <a:spAutoFit/>
          </a:bodyPr>
          <a:lstStyle/>
          <a:p>
            <a:pPr algn="ctr"/>
            <a:r>
              <a:rPr sz="2000" b="1" i="0">
                <a:solidFill>
                  <a:srgbClr val="FFFFFF"/>
                </a:solidFill>
                <a:latin typeface="Calibri"/>
              </a:rPr>
              <a:t>1</a:t>
            </a:r>
          </a:p>
        </p:txBody>
      </p:sp>
      <p:sp>
        <p:nvSpPr>
          <p:cNvPr id="9" name="TextBox 8"/>
          <p:cNvSpPr txBox="1"/>
          <p:nvPr/>
        </p:nvSpPr>
        <p:spPr>
          <a:xfrm>
            <a:off x="1280160" y="1344168"/>
            <a:ext cx="4937760" cy="731520"/>
          </a:xfrm>
          <a:prstGeom prst="rect">
            <a:avLst/>
          </a:prstGeom>
          <a:noFill/>
        </p:spPr>
        <p:txBody>
          <a:bodyPr wrap="square" anchor="ctr">
            <a:spAutoFit/>
          </a:bodyPr>
          <a:lstStyle/>
          <a:p>
            <a:pPr algn="l"/>
            <a:r>
              <a:rPr sz="1450" b="1" i="0">
                <a:solidFill>
                  <a:srgbClr val="1E293B"/>
                </a:solidFill>
                <a:latin typeface="Calibri"/>
              </a:rPr>
              <a:t>优缺点文结构与写法</a:t>
            </a:r>
          </a:p>
        </p:txBody>
      </p:sp>
      <p:sp>
        <p:nvSpPr>
          <p:cNvPr id="10" name="Rounded Rectangle 9"/>
          <p:cNvSpPr/>
          <p:nvPr/>
        </p:nvSpPr>
        <p:spPr>
          <a:xfrm>
            <a:off x="548640" y="2167128"/>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2212848"/>
            <a:ext cx="566928" cy="457200"/>
          </a:xfrm>
          <a:prstGeom prst="rect">
            <a:avLst/>
          </a:prstGeom>
          <a:noFill/>
        </p:spPr>
        <p:txBody>
          <a:bodyPr wrap="square" anchor="t">
            <a:spAutoFit/>
          </a:bodyPr>
          <a:lstStyle/>
          <a:p>
            <a:pPr algn="ctr"/>
            <a:r>
              <a:rPr sz="2000" b="1" i="0">
                <a:solidFill>
                  <a:srgbClr val="FFFFFF"/>
                </a:solidFill>
                <a:latin typeface="Calibri"/>
              </a:rPr>
              <a:t>2</a:t>
            </a:r>
          </a:p>
        </p:txBody>
      </p:sp>
      <p:sp>
        <p:nvSpPr>
          <p:cNvPr id="12" name="TextBox 11"/>
          <p:cNvSpPr txBox="1"/>
          <p:nvPr/>
        </p:nvSpPr>
        <p:spPr>
          <a:xfrm>
            <a:off x="1280160" y="2185416"/>
            <a:ext cx="4937760" cy="731520"/>
          </a:xfrm>
          <a:prstGeom prst="rect">
            <a:avLst/>
          </a:prstGeom>
          <a:noFill/>
        </p:spPr>
        <p:txBody>
          <a:bodyPr wrap="square" anchor="ctr">
            <a:spAutoFit/>
          </a:bodyPr>
          <a:lstStyle/>
          <a:p>
            <a:pPr algn="l"/>
            <a:r>
              <a:rPr sz="1450" b="1" i="0">
                <a:solidFill>
                  <a:srgbClr val="1E293B"/>
                </a:solidFill>
                <a:latin typeface="Calibri"/>
              </a:rPr>
              <a:t>问题解决题写法</a:t>
            </a:r>
          </a:p>
        </p:txBody>
      </p:sp>
      <p:sp>
        <p:nvSpPr>
          <p:cNvPr id="13" name="Rounded Rectangle 12"/>
          <p:cNvSpPr/>
          <p:nvPr/>
        </p:nvSpPr>
        <p:spPr>
          <a:xfrm>
            <a:off x="548640" y="3008376"/>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054096"/>
            <a:ext cx="566928" cy="457200"/>
          </a:xfrm>
          <a:prstGeom prst="rect">
            <a:avLst/>
          </a:prstGeom>
          <a:noFill/>
        </p:spPr>
        <p:txBody>
          <a:bodyPr wrap="square" anchor="t">
            <a:spAutoFit/>
          </a:bodyPr>
          <a:lstStyle/>
          <a:p>
            <a:pPr algn="ctr"/>
            <a:r>
              <a:rPr sz="2000" b="1" i="0">
                <a:solidFill>
                  <a:srgbClr val="FFFFFF"/>
                </a:solidFill>
                <a:latin typeface="Calibri"/>
              </a:rPr>
              <a:t>3</a:t>
            </a:r>
          </a:p>
        </p:txBody>
      </p:sp>
      <p:sp>
        <p:nvSpPr>
          <p:cNvPr id="15" name="TextBox 14"/>
          <p:cNvSpPr txBox="1"/>
          <p:nvPr/>
        </p:nvSpPr>
        <p:spPr>
          <a:xfrm>
            <a:off x="1280160" y="3026664"/>
            <a:ext cx="4937760" cy="731520"/>
          </a:xfrm>
          <a:prstGeom prst="rect">
            <a:avLst/>
          </a:prstGeom>
          <a:noFill/>
        </p:spPr>
        <p:txBody>
          <a:bodyPr wrap="square" anchor="ctr">
            <a:spAutoFit/>
          </a:bodyPr>
          <a:lstStyle/>
          <a:p>
            <a:pPr algn="l"/>
            <a:r>
              <a:rPr sz="1450" b="1" i="0">
                <a:solidFill>
                  <a:srgbClr val="1E293B"/>
                </a:solidFill>
                <a:latin typeface="Calibri"/>
              </a:rPr>
              <a:t>双问题题策略</a:t>
            </a:r>
          </a:p>
        </p:txBody>
      </p:sp>
      <p:sp>
        <p:nvSpPr>
          <p:cNvPr id="16" name="Rounded Rectangle 15"/>
          <p:cNvSpPr/>
          <p:nvPr/>
        </p:nvSpPr>
        <p:spPr>
          <a:xfrm>
            <a:off x="6400800" y="1325880"/>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371600"/>
            <a:ext cx="566928" cy="457200"/>
          </a:xfrm>
          <a:prstGeom prst="rect">
            <a:avLst/>
          </a:prstGeom>
          <a:noFill/>
        </p:spPr>
        <p:txBody>
          <a:bodyPr wrap="square" anchor="t">
            <a:spAutoFit/>
          </a:bodyPr>
          <a:lstStyle/>
          <a:p>
            <a:pPr algn="ctr"/>
            <a:r>
              <a:rPr sz="2000" b="1" i="0">
                <a:solidFill>
                  <a:srgbClr val="FFFFFF"/>
                </a:solidFill>
                <a:latin typeface="Calibri"/>
              </a:rPr>
              <a:t>4</a:t>
            </a:r>
          </a:p>
        </p:txBody>
      </p:sp>
      <p:sp>
        <p:nvSpPr>
          <p:cNvPr id="18" name="TextBox 17"/>
          <p:cNvSpPr txBox="1"/>
          <p:nvPr/>
        </p:nvSpPr>
        <p:spPr>
          <a:xfrm>
            <a:off x="7132320" y="1344168"/>
            <a:ext cx="4937760" cy="731520"/>
          </a:xfrm>
          <a:prstGeom prst="rect">
            <a:avLst/>
          </a:prstGeom>
          <a:noFill/>
        </p:spPr>
        <p:txBody>
          <a:bodyPr wrap="square" anchor="ctr">
            <a:spAutoFit/>
          </a:bodyPr>
          <a:lstStyle/>
          <a:p>
            <a:pPr algn="l"/>
            <a:r>
              <a:rPr sz="1450" b="1" i="0">
                <a:solidFill>
                  <a:srgbClr val="1E293B"/>
                </a:solidFill>
                <a:latin typeface="Calibri"/>
              </a:rPr>
              <a:t>各题型立场处理</a:t>
            </a:r>
          </a:p>
        </p:txBody>
      </p:sp>
      <p:sp>
        <p:nvSpPr>
          <p:cNvPr id="19" name="Rounded Rectangle 18"/>
          <p:cNvSpPr/>
          <p:nvPr/>
        </p:nvSpPr>
        <p:spPr>
          <a:xfrm>
            <a:off x="6400800" y="2167128"/>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2212848"/>
            <a:ext cx="566928" cy="457200"/>
          </a:xfrm>
          <a:prstGeom prst="rect">
            <a:avLst/>
          </a:prstGeom>
          <a:noFill/>
        </p:spPr>
        <p:txBody>
          <a:bodyPr wrap="square" anchor="t">
            <a:spAutoFit/>
          </a:bodyPr>
          <a:lstStyle/>
          <a:p>
            <a:pPr algn="ctr"/>
            <a:r>
              <a:rPr sz="2000" b="1" i="0">
                <a:solidFill>
                  <a:srgbClr val="FFFFFF"/>
                </a:solidFill>
                <a:latin typeface="Calibri"/>
              </a:rPr>
              <a:t>5</a:t>
            </a:r>
          </a:p>
        </p:txBody>
      </p:sp>
      <p:sp>
        <p:nvSpPr>
          <p:cNvPr id="21" name="TextBox 20"/>
          <p:cNvSpPr txBox="1"/>
          <p:nvPr/>
        </p:nvSpPr>
        <p:spPr>
          <a:xfrm>
            <a:off x="7132320" y="2185416"/>
            <a:ext cx="4937760" cy="731520"/>
          </a:xfrm>
          <a:prstGeom prst="rect">
            <a:avLst/>
          </a:prstGeom>
          <a:noFill/>
        </p:spPr>
        <p:txBody>
          <a:bodyPr wrap="square" anchor="ctr">
            <a:spAutoFit/>
          </a:bodyPr>
          <a:lstStyle/>
          <a:p>
            <a:pPr algn="l"/>
            <a:r>
              <a:rPr sz="1450" b="1" i="0">
                <a:solidFill>
                  <a:srgbClr val="1E293B"/>
                </a:solidFill>
                <a:latin typeface="Calibri"/>
              </a:rPr>
              <a:t>综合实战演练</a:t>
            </a:r>
          </a:p>
        </p:txBody>
      </p:sp>
      <p:sp>
        <p:nvSpPr>
          <p:cNvPr id="22" name="Rounded Rectangle 21"/>
          <p:cNvSpPr/>
          <p:nvPr/>
        </p:nvSpPr>
        <p:spPr>
          <a:xfrm>
            <a:off x="6400800" y="3008376"/>
            <a:ext cx="566928" cy="566928"/>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0" y="3054096"/>
            <a:ext cx="566928" cy="457200"/>
          </a:xfrm>
          <a:prstGeom prst="rect">
            <a:avLst/>
          </a:prstGeom>
          <a:noFill/>
        </p:spPr>
        <p:txBody>
          <a:bodyPr wrap="square" anchor="t">
            <a:spAutoFit/>
          </a:bodyPr>
          <a:lstStyle/>
          <a:p>
            <a:pPr algn="ctr"/>
            <a:r>
              <a:rPr sz="2000" b="1" i="0">
                <a:solidFill>
                  <a:srgbClr val="FFFFFF"/>
                </a:solidFill>
                <a:latin typeface="Calibri"/>
              </a:rPr>
              <a:t>6</a:t>
            </a:r>
          </a:p>
        </p:txBody>
      </p:sp>
      <p:sp>
        <p:nvSpPr>
          <p:cNvPr id="24" name="TextBox 23"/>
          <p:cNvSpPr txBox="1"/>
          <p:nvPr/>
        </p:nvSpPr>
        <p:spPr>
          <a:xfrm>
            <a:off x="7132320" y="3026664"/>
            <a:ext cx="4937760" cy="731520"/>
          </a:xfrm>
          <a:prstGeom prst="rect">
            <a:avLst/>
          </a:prstGeom>
          <a:noFill/>
        </p:spPr>
        <p:txBody>
          <a:bodyPr wrap="square" anchor="ctr">
            <a:spAutoFit/>
          </a:bodyPr>
          <a:lstStyle/>
          <a:p>
            <a:pPr algn="l"/>
            <a:r>
              <a:rPr sz="1450" b="1" i="0">
                <a:solidFill>
                  <a:srgbClr val="1E293B"/>
                </a:solidFill>
                <a:latin typeface="Calibri"/>
              </a:rPr>
              <a:t>备考与评分策略</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01</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优缺点文写法</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Advantages/Disadvantages Essay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优缺点文题目识别</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Identifying Advantages/Disadvantages Questions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关键词</a:t>
            </a:r>
          </a:p>
          <a:p>
            <a:pPr>
              <a:spcBef>
                <a:spcPts val="100"/>
              </a:spcBef>
            </a:pPr>
            <a:r>
              <a:rPr sz="1500">
                <a:solidFill>
                  <a:srgbClr val="556075"/>
                </a:solidFill>
              </a:rPr>
              <a:t>   advantages and disadvantages / benefits and drawbacks / pros and cons</a:t>
            </a:r>
          </a:p>
          <a:p>
            <a:pPr>
              <a:spcBef>
                <a:spcPts val="900"/>
              </a:spcBef>
            </a:pPr>
            <a:r>
              <a:rPr sz="1800" b="1">
                <a:solidFill>
                  <a:srgbClr val="472473"/>
                </a:solidFill>
              </a:rPr>
              <a:t>• 是否要立场</a:t>
            </a:r>
          </a:p>
          <a:p>
            <a:pPr>
              <a:spcBef>
                <a:spcPts val="100"/>
              </a:spcBef>
            </a:pPr>
            <a:r>
              <a:rPr sz="1500">
                <a:solidFill>
                  <a:srgbClr val="556075"/>
                </a:solidFill>
              </a:rPr>
              <a:t>   题目有"give your opinion"→必须有立场；没有→可以中立</a:t>
            </a:r>
          </a:p>
          <a:p>
            <a:pPr>
              <a:spcBef>
                <a:spcPts val="900"/>
              </a:spcBef>
            </a:pPr>
            <a:r>
              <a:rPr sz="1800" b="1">
                <a:solidFill>
                  <a:srgbClr val="472473"/>
                </a:solidFill>
              </a:rPr>
              <a:t>• 结构变体1</a:t>
            </a:r>
          </a:p>
          <a:p>
            <a:pPr>
              <a:spcBef>
                <a:spcPts val="100"/>
              </a:spcBef>
            </a:pPr>
            <a:r>
              <a:rPr sz="1500">
                <a:solidFill>
                  <a:srgbClr val="556075"/>
                </a:solidFill>
              </a:rPr>
              <a:t>   优缺点各一段+结论（无明确立场要求时）</a:t>
            </a:r>
          </a:p>
          <a:p>
            <a:pPr>
              <a:spcBef>
                <a:spcPts val="900"/>
              </a:spcBef>
            </a:pPr>
            <a:r>
              <a:rPr sz="1800" b="1">
                <a:solidFill>
                  <a:srgbClr val="472473"/>
                </a:solidFill>
              </a:rPr>
              <a:t>• 结构变体2</a:t>
            </a:r>
          </a:p>
          <a:p>
            <a:pPr>
              <a:spcBef>
                <a:spcPts val="100"/>
              </a:spcBef>
            </a:pPr>
            <a:r>
              <a:rPr sz="1500">
                <a:solidFill>
                  <a:srgbClr val="556075"/>
                </a:solidFill>
              </a:rPr>
              <a:t>   优缺点各一段+结论立场（有"give your opinion"时）</a:t>
            </a:r>
          </a:p>
          <a:p>
            <a:pPr>
              <a:spcBef>
                <a:spcPts val="900"/>
              </a:spcBef>
            </a:pPr>
            <a:r>
              <a:rPr sz="1800" b="1">
                <a:solidFill>
                  <a:srgbClr val="472473"/>
                </a:solidFill>
              </a:rPr>
              <a:t>• 常见错误</a:t>
            </a:r>
          </a:p>
          <a:p>
            <a:pPr>
              <a:spcBef>
                <a:spcPts val="100"/>
              </a:spcBef>
            </a:pPr>
            <a:r>
              <a:rPr sz="1500">
                <a:solidFill>
                  <a:srgbClr val="556075"/>
                </a:solidFill>
              </a:rPr>
              <a:t>   只写优点不写缺点，或优缺点不平衡</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优缺点文段落分配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Paragraph Allocation</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引言段</a:t>
            </a:r>
          </a:p>
          <a:p>
            <a:pPr>
              <a:spcBef>
                <a:spcPts val="100"/>
              </a:spcBef>
            </a:pPr>
            <a:r>
              <a:rPr sz="1500">
                <a:solidFill>
                  <a:srgbClr val="556075"/>
                </a:solidFill>
              </a:rPr>
              <a:t>   背景+引出优缺点争议+（如需）立场预告</a:t>
            </a:r>
          </a:p>
          <a:p>
            <a:pPr>
              <a:spcBef>
                <a:spcPts val="900"/>
              </a:spcBef>
            </a:pPr>
            <a:r>
              <a:rPr sz="1800" b="1">
                <a:solidFill>
                  <a:srgbClr val="472473"/>
                </a:solidFill>
              </a:rPr>
              <a:t>• 优点段</a:t>
            </a:r>
          </a:p>
          <a:p>
            <a:pPr>
              <a:spcBef>
                <a:spcPts val="100"/>
              </a:spcBef>
            </a:pPr>
            <a:r>
              <a:rPr sz="1500">
                <a:solidFill>
                  <a:srgbClr val="556075"/>
                </a:solidFill>
              </a:rPr>
              <a:t>   主题句+至少2个优点+解释+例子</a:t>
            </a:r>
          </a:p>
          <a:p>
            <a:pPr>
              <a:spcBef>
                <a:spcPts val="900"/>
              </a:spcBef>
            </a:pPr>
            <a:r>
              <a:rPr sz="1800" b="1">
                <a:solidFill>
                  <a:srgbClr val="472473"/>
                </a:solidFill>
              </a:rPr>
              <a:t>• 缺点段</a:t>
            </a:r>
          </a:p>
          <a:p>
            <a:pPr>
              <a:spcBef>
                <a:spcPts val="100"/>
              </a:spcBef>
            </a:pPr>
            <a:r>
              <a:rPr sz="1500">
                <a:solidFill>
                  <a:srgbClr val="556075"/>
                </a:solidFill>
              </a:rPr>
              <a:t>   主题句+至少2个缺点+解释+例子</a:t>
            </a:r>
          </a:p>
          <a:p>
            <a:pPr>
              <a:spcBef>
                <a:spcPts val="900"/>
              </a:spcBef>
            </a:pPr>
            <a:r>
              <a:rPr sz="1800" b="1">
                <a:solidFill>
                  <a:srgbClr val="472473"/>
                </a:solidFill>
              </a:rPr>
              <a:t>• 结论段</a:t>
            </a:r>
          </a:p>
          <a:p>
            <a:pPr>
              <a:spcBef>
                <a:spcPts val="100"/>
              </a:spcBef>
            </a:pPr>
            <a:r>
              <a:rPr sz="1500">
                <a:solidFill>
                  <a:srgbClr val="556075"/>
                </a:solidFill>
              </a:rPr>
              <a:t>   总结+（如需）立场+建议</a:t>
            </a:r>
          </a:p>
          <a:p>
            <a:pPr>
              <a:spcBef>
                <a:spcPts val="900"/>
              </a:spcBef>
            </a:pPr>
            <a:r>
              <a:rPr sz="1800" b="1">
                <a:solidFill>
                  <a:srgbClr val="472473"/>
                </a:solidFill>
              </a:rPr>
              <a:t>• 词数目标</a:t>
            </a:r>
          </a:p>
          <a:p>
            <a:pPr>
              <a:spcBef>
                <a:spcPts val="100"/>
              </a:spcBef>
            </a:pPr>
            <a:r>
              <a:rPr sz="1500">
                <a:solidFill>
                  <a:srgbClr val="556075"/>
                </a:solidFill>
              </a:rPr>
              <a:t>   引言60+优点110+缺点100+结论60=约330词</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优缺点文优点段示范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题目："What are the advantages and disadvantages of living in a big city?"
优点段（Band 7）：
"Urban living offers a range of compelling advantages, primarily in terms of employment and cultural opportunities. Large cities typically host a diverse array of industries, providing job seekers with far greater career options than rural areas can offer. Furthermore, cities are cultural hubs, with world-class museums, theatres, and restaurants enriching residents' quality of life. The concentration of educational institutions, from elite universities to specialist vocational colleges, also makes cities particularly attractive for young people seeking academic advancement."
（93词）</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优缺点文缺点段示范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缺点段（Band 7）：
"However, city life carries significant drawbacks, most notably regarding cost and quality of life. The high demand for housing in major urban centres pushes property prices and rents to levels that many residents struggle to afford, often compelling them to endure lengthy commutes from more affordable suburbs. Moreover, urban density contributes to chronic congestion, noise pollution, and diminished access to green spaces, all of which adversely affect both physical and mental wellbeing. Elevated crime rates in certain urban districts represent a further concern for prospective city dwellers."
（88词）</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优缺点文引言与结论示范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引言（无立场要求版）：
"The question of whether city living offers a superior lifestyle to rural alternatives has long divided opinion. While urban environments present unique professional and cultural advantages, they are not without their drawbacks. This essay examines both the benefits and limitations of residing in a large city."
（52词）
结论（有立场版）：
"In conclusion, while city life undeniably presents challenges in terms of cost and congestion, I believe the professional and cultural opportunities it offers are ultimately more valuable for most individuals, particularly those in the early stages of their careers."
（44词）</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引言分析：背景句（1句）→争议说明（1句）→文章内容预告（1句）
结论分析：总结缺点→转折→立场（I believe）→条件限定（particularly）</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无立场版结论不用I believe；有立场版必须用I believe/I maintain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优缺点段主题句写法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优点段主题句公式：
[话题] offers/presents [范围词] advantages, particularly in terms of [领域]
例：Urban living offers a range of compelling advantages, primarily in terms of employment and cultural opportunities.
缺点段主题句公式：
However, [话题] carries/involves significant drawbacks, most notably [具体缺点].
例：However, city life carries significant drawbacks, most notably regarding cost and quality of life.
关键词：
优点段：offer/present/provide/yield/confer
缺点段：carry/involve/pose/create/give rise to</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主题句技巧：①点明本段主旨（优/缺点）②给出最主要的优/缺点作为预告</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02</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问题解决题写法</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Problem-Solution &amp; Cause-Effect Essays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问题解决题识别</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Identifying Problem-Solution Questions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原因题</a:t>
            </a:r>
          </a:p>
          <a:p>
            <a:pPr>
              <a:spcBef>
                <a:spcPts val="100"/>
              </a:spcBef>
            </a:pPr>
            <a:r>
              <a:rPr sz="1500">
                <a:solidFill>
                  <a:srgbClr val="556075"/>
                </a:solidFill>
              </a:rPr>
              <a:t>   What are the causes of X? → 分析原因</a:t>
            </a:r>
          </a:p>
          <a:p>
            <a:pPr>
              <a:spcBef>
                <a:spcPts val="900"/>
              </a:spcBef>
            </a:pPr>
            <a:r>
              <a:rPr sz="1800" b="1">
                <a:solidFill>
                  <a:srgbClr val="472473"/>
                </a:solidFill>
              </a:rPr>
              <a:t>• 影响题</a:t>
            </a:r>
          </a:p>
          <a:p>
            <a:pPr>
              <a:spcBef>
                <a:spcPts val="100"/>
              </a:spcBef>
            </a:pPr>
            <a:r>
              <a:rPr sz="1500">
                <a:solidFill>
                  <a:srgbClr val="556075"/>
                </a:solidFill>
              </a:rPr>
              <a:t>   What are the effects/consequences of X? → 分析影响</a:t>
            </a:r>
          </a:p>
          <a:p>
            <a:pPr>
              <a:spcBef>
                <a:spcPts val="900"/>
              </a:spcBef>
            </a:pPr>
            <a:r>
              <a:rPr sz="1800" b="1">
                <a:solidFill>
                  <a:srgbClr val="472473"/>
                </a:solidFill>
              </a:rPr>
              <a:t>• 解决题</a:t>
            </a:r>
          </a:p>
          <a:p>
            <a:pPr>
              <a:spcBef>
                <a:spcPts val="100"/>
              </a:spcBef>
            </a:pPr>
            <a:r>
              <a:rPr sz="1500">
                <a:solidFill>
                  <a:srgbClr val="556075"/>
                </a:solidFill>
              </a:rPr>
              <a:t>   What solutions/measures can be taken? → 提出解决方案</a:t>
            </a:r>
          </a:p>
          <a:p>
            <a:pPr>
              <a:spcBef>
                <a:spcPts val="900"/>
              </a:spcBef>
            </a:pPr>
            <a:r>
              <a:rPr sz="1800" b="1">
                <a:solidFill>
                  <a:srgbClr val="472473"/>
                </a:solidFill>
              </a:rPr>
              <a:t>• 混合题</a:t>
            </a:r>
          </a:p>
          <a:p>
            <a:pPr>
              <a:spcBef>
                <a:spcPts val="100"/>
              </a:spcBef>
            </a:pPr>
            <a:r>
              <a:rPr sz="1500">
                <a:solidFill>
                  <a:srgbClr val="556075"/>
                </a:solidFill>
              </a:rPr>
              <a:t>   What are causes and what solutions can be proposed? → 各一段</a:t>
            </a:r>
          </a:p>
          <a:p>
            <a:pPr>
              <a:spcBef>
                <a:spcPts val="900"/>
              </a:spcBef>
            </a:pPr>
            <a:r>
              <a:rPr sz="1800" b="1">
                <a:solidFill>
                  <a:srgbClr val="472473"/>
                </a:solidFill>
              </a:rPr>
              <a:t>• 关键</a:t>
            </a:r>
          </a:p>
          <a:p>
            <a:pPr>
              <a:spcBef>
                <a:spcPts val="100"/>
              </a:spcBef>
            </a:pPr>
            <a:r>
              <a:rPr sz="1500">
                <a:solidFill>
                  <a:srgbClr val="556075"/>
                </a:solidFill>
              </a:rPr>
              <a:t>   认真数题目有几个问题——全部必须回答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原因+解决题结构</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Cause + Solution Structure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引言段</a:t>
            </a:r>
          </a:p>
          <a:p>
            <a:pPr>
              <a:spcBef>
                <a:spcPts val="100"/>
              </a:spcBef>
            </a:pPr>
            <a:r>
              <a:rPr sz="1500">
                <a:solidFill>
                  <a:srgbClr val="556075"/>
                </a:solidFill>
              </a:rPr>
              <a:t>   背景+说明这是一个问题+预告原因和解决方案</a:t>
            </a:r>
          </a:p>
          <a:p>
            <a:pPr>
              <a:spcBef>
                <a:spcPts val="900"/>
              </a:spcBef>
            </a:pPr>
            <a:r>
              <a:rPr sz="1800" b="1">
                <a:solidFill>
                  <a:srgbClr val="472473"/>
                </a:solidFill>
              </a:rPr>
              <a:t>• 原因段</a:t>
            </a:r>
          </a:p>
          <a:p>
            <a:pPr>
              <a:spcBef>
                <a:spcPts val="100"/>
              </a:spcBef>
            </a:pPr>
            <a:r>
              <a:rPr sz="1500">
                <a:solidFill>
                  <a:srgbClr val="556075"/>
                </a:solidFill>
              </a:rPr>
              <a:t>   主题句+2-3个主要原因+解释</a:t>
            </a:r>
          </a:p>
          <a:p>
            <a:pPr>
              <a:spcBef>
                <a:spcPts val="900"/>
              </a:spcBef>
            </a:pPr>
            <a:r>
              <a:rPr sz="1800" b="1">
                <a:solidFill>
                  <a:srgbClr val="472473"/>
                </a:solidFill>
              </a:rPr>
              <a:t>• 解决段</a:t>
            </a:r>
          </a:p>
          <a:p>
            <a:pPr>
              <a:spcBef>
                <a:spcPts val="100"/>
              </a:spcBef>
            </a:pPr>
            <a:r>
              <a:rPr sz="1500">
                <a:solidFill>
                  <a:srgbClr val="556075"/>
                </a:solidFill>
              </a:rPr>
              <a:t>   主题句+对应原因的解决方案+解释</a:t>
            </a:r>
          </a:p>
          <a:p>
            <a:pPr>
              <a:spcBef>
                <a:spcPts val="900"/>
              </a:spcBef>
            </a:pPr>
            <a:r>
              <a:rPr sz="1800" b="1">
                <a:solidFill>
                  <a:srgbClr val="472473"/>
                </a:solidFill>
              </a:rPr>
              <a:t>• 结论段</a:t>
            </a:r>
          </a:p>
          <a:p>
            <a:pPr>
              <a:spcBef>
                <a:spcPts val="100"/>
              </a:spcBef>
            </a:pPr>
            <a:r>
              <a:rPr sz="1500">
                <a:solidFill>
                  <a:srgbClr val="556075"/>
                </a:solidFill>
              </a:rPr>
              <a:t>   总结+展望或建议</a:t>
            </a:r>
          </a:p>
          <a:p>
            <a:pPr>
              <a:spcBef>
                <a:spcPts val="900"/>
              </a:spcBef>
            </a:pPr>
            <a:r>
              <a:rPr sz="1800" b="1">
                <a:solidFill>
                  <a:srgbClr val="472473"/>
                </a:solidFill>
              </a:rPr>
              <a:t>• 连接</a:t>
            </a:r>
          </a:p>
          <a:p>
            <a:pPr>
              <a:spcBef>
                <a:spcPts val="100"/>
              </a:spcBef>
            </a:pPr>
            <a:r>
              <a:rPr sz="1500">
                <a:solidFill>
                  <a:srgbClr val="556075"/>
                </a:solidFill>
              </a:rPr>
              <a:t>   解决方案最好与原因一一对应——逻辑更清晰</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原因段写作示范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题目："Rising obesity rates are a major global health concern. What are the causes of this problem and what measures can be taken to address it?"
原因段（Band 7）：
"Several interconnected factors explain the dramatic rise in obesity rates worldwide. The proliferation of processed and fast food, which is typically high in sugar and saturated fats while remaining relatively inexpensive, has made unhealthy dietary choices increasingly accessible. Simultaneously, modern lifestyles have become significantly more sedentary, as office-based employment and digital entertainment have replaced the physical activity that characterised previous generations' daily routines. Inadequate nutrition education in schools further compounds this problem by leaving young people ill-equipped to make informed dietary decisions."
（96词）</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解决段写作示范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解决段（Band 7）：
"Addressing this crisis requires coordinated action on multiple fronts. Governments should implement policies that discourage consumption of unhealthy food, such as sugar taxes on high-calorie beverages, which have demonstrated effectiveness in countries including Mexico and the United Kingdom. Educational institutions have a responsibility to integrate comprehensive nutrition and physical education into curricula from an early age, equipping students with the knowledge and habits needed to maintain a healthy lifestyle. Additionally, urban planning that prioritises walkable neighbourhoods and accessible recreational facilities can naturally encourage greater physical activity among residents."
（90词）</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原因解决对应表（提纲技巧）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提纲写法——让原因和解决方案一一对应：
原因1：processed food便宜易得
解决1：sugar tax + 健康食品补贴
原因2：sedentary lifestyle（久坐生活）
解决2：城市规划+绿地+步行设施
原因3：缺乏营养教育
解决3：学校课程中加入nutrition education
好处：结构逻辑清晰，阅卷人一眼看出你回答了所有问题
注意：不需要每个解决方案独占一句——可以一段写所有解决</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一一对应不是必须——但逻辑对应更清晰，CC评分更高</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提纲时花1分钟列出原因→解决对应表——写作时更流畅</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影响+解决题示范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题目："What are the effects of an ageing population? What measures should governments take?"
影响段主题句：
"An ageing population creates substantial economic and social pressures on governments and welfare systems."
影响1：退休人口↑→养老金压力大
影响2：医疗需求↑→医疗系统负担重
影响3：劳动力↓→经济生产力下降
解决段主题句：
"Governments can adopt several strategies to mitigate these challenges."
解决1：延迟退休年龄
解决2：吸引移民补充劳动力
解决3：增加对老年护理的投资</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影响题不需要立场——客观分析影响即可</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03</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双问题题与混合题型</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Two-Part Questions &amp; Mixed Types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双问题题识别</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Identifying Two-Part Questions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特征</a:t>
            </a:r>
          </a:p>
          <a:p>
            <a:pPr>
              <a:spcBef>
                <a:spcPts val="100"/>
              </a:spcBef>
            </a:pPr>
            <a:r>
              <a:rPr sz="1500">
                <a:solidFill>
                  <a:srgbClr val="556075"/>
                </a:solidFill>
              </a:rPr>
              <a:t>   题目有两个明确不同的问题（各一个问号或"and"连接）</a:t>
            </a:r>
          </a:p>
          <a:p>
            <a:pPr>
              <a:spcBef>
                <a:spcPts val="900"/>
              </a:spcBef>
            </a:pPr>
            <a:r>
              <a:rPr sz="1800" b="1">
                <a:solidFill>
                  <a:srgbClr val="472473"/>
                </a:solidFill>
              </a:rPr>
              <a:t>• 常见形式</a:t>
            </a:r>
          </a:p>
          <a:p>
            <a:pPr>
              <a:spcBef>
                <a:spcPts val="100"/>
              </a:spcBef>
            </a:pPr>
            <a:r>
              <a:rPr sz="1500">
                <a:solidFill>
                  <a:srgbClr val="556075"/>
                </a:solidFill>
              </a:rPr>
              <a:t>   Why is X happening? What can be done about it?</a:t>
            </a:r>
          </a:p>
          <a:p>
            <a:pPr>
              <a:spcBef>
                <a:spcPts val="900"/>
              </a:spcBef>
            </a:pPr>
            <a:r>
              <a:rPr sz="1800" b="1">
                <a:solidFill>
                  <a:srgbClr val="472473"/>
                </a:solidFill>
              </a:rPr>
              <a:t>• 结构</a:t>
            </a:r>
          </a:p>
          <a:p>
            <a:pPr>
              <a:spcBef>
                <a:spcPts val="100"/>
              </a:spcBef>
            </a:pPr>
            <a:r>
              <a:rPr sz="1500">
                <a:solidFill>
                  <a:srgbClr val="556075"/>
                </a:solidFill>
              </a:rPr>
              <a:t>   每个问题用一段回答——两段主体各回应一个问题</a:t>
            </a:r>
          </a:p>
          <a:p>
            <a:pPr>
              <a:spcBef>
                <a:spcPts val="900"/>
              </a:spcBef>
            </a:pPr>
            <a:r>
              <a:rPr sz="1800" b="1">
                <a:solidFill>
                  <a:srgbClr val="472473"/>
                </a:solidFill>
              </a:rPr>
              <a:t>• 常见错误</a:t>
            </a:r>
          </a:p>
          <a:p>
            <a:pPr>
              <a:spcBef>
                <a:spcPts val="100"/>
              </a:spcBef>
            </a:pPr>
            <a:r>
              <a:rPr sz="1500">
                <a:solidFill>
                  <a:srgbClr val="556075"/>
                </a:solidFill>
              </a:rPr>
              <a:t>   只回答一个问题——TA大失分，视为任务未完成</a:t>
            </a:r>
          </a:p>
          <a:p>
            <a:pPr>
              <a:spcBef>
                <a:spcPts val="900"/>
              </a:spcBef>
            </a:pPr>
            <a:r>
              <a:rPr sz="1800" b="1">
                <a:solidFill>
                  <a:srgbClr val="472473"/>
                </a:solidFill>
              </a:rPr>
              <a:t>• 字数分配</a:t>
            </a:r>
          </a:p>
          <a:p>
            <a:pPr>
              <a:spcBef>
                <a:spcPts val="100"/>
              </a:spcBef>
            </a:pPr>
            <a:r>
              <a:rPr sz="1500">
                <a:solidFill>
                  <a:srgbClr val="556075"/>
                </a:solidFill>
              </a:rPr>
              <a:t>   两段主体基本平均——每段约100词</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双问题题引言与结论</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Introduction &amp; Conclusion for Two-Part Questions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引言</a:t>
            </a:r>
          </a:p>
          <a:p>
            <a:pPr>
              <a:spcBef>
                <a:spcPts val="100"/>
              </a:spcBef>
            </a:pPr>
            <a:r>
              <a:rPr sz="1500">
                <a:solidFill>
                  <a:srgbClr val="556075"/>
                </a:solidFill>
              </a:rPr>
              <a:t>   背景+引出两个问题+说明文章结构（This essay will examine X and Y）</a:t>
            </a:r>
          </a:p>
          <a:p>
            <a:pPr>
              <a:spcBef>
                <a:spcPts val="900"/>
              </a:spcBef>
            </a:pPr>
            <a:r>
              <a:rPr sz="1800" b="1">
                <a:solidFill>
                  <a:srgbClr val="472473"/>
                </a:solidFill>
              </a:rPr>
              <a:t>• 主体段1</a:t>
            </a:r>
          </a:p>
          <a:p>
            <a:pPr>
              <a:spcBef>
                <a:spcPts val="100"/>
              </a:spcBef>
            </a:pPr>
            <a:r>
              <a:rPr sz="1500">
                <a:solidFill>
                  <a:srgbClr val="556075"/>
                </a:solidFill>
              </a:rPr>
              <a:t>   第一个问题的回答（原因/影响/观点）</a:t>
            </a:r>
          </a:p>
          <a:p>
            <a:pPr>
              <a:spcBef>
                <a:spcPts val="900"/>
              </a:spcBef>
            </a:pPr>
            <a:r>
              <a:rPr sz="1800" b="1">
                <a:solidFill>
                  <a:srgbClr val="472473"/>
                </a:solidFill>
              </a:rPr>
              <a:t>• 主体段2</a:t>
            </a:r>
          </a:p>
          <a:p>
            <a:pPr>
              <a:spcBef>
                <a:spcPts val="100"/>
              </a:spcBef>
            </a:pPr>
            <a:r>
              <a:rPr sz="1500">
                <a:solidFill>
                  <a:srgbClr val="556075"/>
                </a:solidFill>
              </a:rPr>
              <a:t>   第二个问题的回答（解决/另一方面）</a:t>
            </a:r>
          </a:p>
          <a:p>
            <a:pPr>
              <a:spcBef>
                <a:spcPts val="900"/>
              </a:spcBef>
            </a:pPr>
            <a:r>
              <a:rPr sz="1800" b="1">
                <a:solidFill>
                  <a:srgbClr val="472473"/>
                </a:solidFill>
              </a:rPr>
              <a:t>• 结论</a:t>
            </a:r>
          </a:p>
          <a:p>
            <a:pPr>
              <a:spcBef>
                <a:spcPts val="100"/>
              </a:spcBef>
            </a:pPr>
            <a:r>
              <a:rPr sz="1500">
                <a:solidFill>
                  <a:srgbClr val="556075"/>
                </a:solidFill>
              </a:rPr>
              <a:t>   总结两个问题的回答+展望/建议</a:t>
            </a:r>
          </a:p>
          <a:p>
            <a:pPr>
              <a:spcBef>
                <a:spcPts val="900"/>
              </a:spcBef>
            </a:pPr>
            <a:r>
              <a:rPr sz="1800" b="1">
                <a:solidFill>
                  <a:srgbClr val="472473"/>
                </a:solidFill>
              </a:rPr>
              <a:t>• 立场</a:t>
            </a:r>
          </a:p>
          <a:p>
            <a:pPr>
              <a:spcBef>
                <a:spcPts val="100"/>
              </a:spcBef>
            </a:pPr>
            <a:r>
              <a:rPr sz="1500">
                <a:solidFill>
                  <a:srgbClr val="556075"/>
                </a:solidFill>
              </a:rPr>
              <a:t>   双问题题通常不需要个人立场——除非题目要求</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双问题题完整示范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题目："Why are so many people choosing to live alone? Is this a positive or negative trend?"
提纲：
引言：独居趋势背景+文章探讨两个问题
主体段1（Why）：独居增加的原因
→ 经济独立↑/结婚率↓/城市化/个人主义文化
主体段2（Positive/Negative）：我的判断
→ 我认为是负面趋势（孤独/成本高/社区凝聚力下降）
结论：总结+建议（促进社区连接）
注意：此题最后问"Is this positive or negative?"→需要立场
→ 不同于纯双问题题，这里需要表达判断</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双问题题主体段示范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主体段1（Why people live alone）：
"Several social and economic shifts explain the growing preference for solo living. Rising levels of female participation in the labour market and greater financial independence have made it more feasible for individuals, particularly women, to live independently rather than conforming to traditional household structures. Additionally, urbanisation has concentrated populations in cities where career opportunities exist, often separating people from their family networks and making it more practical to establish single-person households. The rise of individualistic values in many societies has further normalised living alone as a legitimate lifestyle choice."
（91词）</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双问题题常见错误修正</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错误1：两段合并（只写一大段）
→ 修正：必须分开两段，每段有独立主题句
错误2：第一问只写一句，第二问写三段
→ 修正：两个问题词数基本平衡（各约100词）
错误3：引言不预告两个问题
→ 修正：引言最后句说明文章结构
例："This essay will first examine the reasons behind this trend before assessing whether it represents a positive or negative development."
错误4：结论重复引言
→ 修正：结论用不同词汇总结，可加建议/展望</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双问题题铁律：两个问题都必须回答——任何一个未答都是TA大失分</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提纲时先数题目有几个问题——然后确保主体段数量=问题数量</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各题型立场要求速查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讨论文（Discuss both views）：必须有立场
同意/不同意（Agree/Disagree）：必须有明确立场
优缺点（Advantages and disadvantages）：
→ 有"give your opinion"：必须有立场
→ 没有"give your opinion"：可以平衡中立
问题解决（Causes/Solutions）：通常不需要立场
双问题题：视具体问题而定
→ 如果问"Is this positive/negative?"：需要立场
→ 如果只问原因和解决方案：不需要个人立场
记忆技巧：题目有"give your opinion/agree/disagree"→必须有立场</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立场有无是TA评分的关键——没有立场但题目要求有→TA最多Band 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04</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各题型语言策略</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Language Strategies for Each Question Type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优缺点高频句型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Key Phrases for Advantages/Disadvantages</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优点引入</a:t>
            </a:r>
          </a:p>
          <a:p>
            <a:pPr>
              <a:spcBef>
                <a:spcPts val="100"/>
              </a:spcBef>
            </a:pPr>
            <a:r>
              <a:rPr sz="1500">
                <a:solidFill>
                  <a:srgbClr val="556075"/>
                </a:solidFill>
              </a:rPr>
              <a:t>   ...offers the significant advantage of / One key benefit is / A major advantage is that</a:t>
            </a:r>
          </a:p>
          <a:p>
            <a:pPr>
              <a:spcBef>
                <a:spcPts val="900"/>
              </a:spcBef>
            </a:pPr>
            <a:r>
              <a:rPr sz="1800" b="1">
                <a:solidFill>
                  <a:srgbClr val="472473"/>
                </a:solidFill>
              </a:rPr>
              <a:t>• 缺点引入</a:t>
            </a:r>
          </a:p>
          <a:p>
            <a:pPr>
              <a:spcBef>
                <a:spcPts val="100"/>
              </a:spcBef>
            </a:pPr>
            <a:r>
              <a:rPr sz="1500">
                <a:solidFill>
                  <a:srgbClr val="556075"/>
                </a:solidFill>
              </a:rPr>
              <a:t>   ...poses a significant risk of / A notable drawback is / The principal disadvantage is that</a:t>
            </a:r>
          </a:p>
          <a:p>
            <a:pPr>
              <a:spcBef>
                <a:spcPts val="900"/>
              </a:spcBef>
            </a:pPr>
            <a:r>
              <a:rPr sz="1800" b="1">
                <a:solidFill>
                  <a:srgbClr val="472473"/>
                </a:solidFill>
              </a:rPr>
              <a:t>• 权衡表达</a:t>
            </a:r>
          </a:p>
          <a:p>
            <a:pPr>
              <a:spcBef>
                <a:spcPts val="100"/>
              </a:spcBef>
            </a:pPr>
            <a:r>
              <a:rPr sz="1500">
                <a:solidFill>
                  <a:srgbClr val="556075"/>
                </a:solidFill>
              </a:rPr>
              <a:t>   outweigh / outbalance / compensate for / be offset by</a:t>
            </a:r>
          </a:p>
          <a:p>
            <a:pPr>
              <a:spcBef>
                <a:spcPts val="900"/>
              </a:spcBef>
            </a:pPr>
            <a:r>
              <a:rPr sz="1800" b="1">
                <a:solidFill>
                  <a:srgbClr val="472473"/>
                </a:solidFill>
              </a:rPr>
              <a:t>• 结论立场</a:t>
            </a:r>
          </a:p>
          <a:p>
            <a:pPr>
              <a:spcBef>
                <a:spcPts val="100"/>
              </a:spcBef>
            </a:pPr>
            <a:r>
              <a:rPr sz="1500">
                <a:solidFill>
                  <a:srgbClr val="556075"/>
                </a:solidFill>
              </a:rPr>
              <a:t>   On balance, I believe the advantages outweigh the drawbacks because...</a:t>
            </a:r>
          </a:p>
          <a:p>
            <a:pPr>
              <a:spcBef>
                <a:spcPts val="900"/>
              </a:spcBef>
            </a:pPr>
            <a:r>
              <a:rPr sz="1800" b="1">
                <a:solidFill>
                  <a:srgbClr val="472473"/>
                </a:solidFill>
              </a:rPr>
              <a:t>• 中立结论</a:t>
            </a:r>
          </a:p>
          <a:p>
            <a:pPr>
              <a:spcBef>
                <a:spcPts val="100"/>
              </a:spcBef>
            </a:pPr>
            <a:r>
              <a:rPr sz="1500">
                <a:solidFill>
                  <a:srgbClr val="556075"/>
                </a:solidFill>
              </a:rPr>
              <a:t>   While the benefits are considerable, the drawbacks cannot be ignored...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问题解决高频句型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Key Phrases for Problem-Solution</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原因引入</a:t>
            </a:r>
          </a:p>
          <a:p>
            <a:pPr>
              <a:spcBef>
                <a:spcPts val="100"/>
              </a:spcBef>
            </a:pPr>
            <a:r>
              <a:rPr sz="1500">
                <a:solidFill>
                  <a:srgbClr val="556075"/>
                </a:solidFill>
              </a:rPr>
              <a:t>   A primary cause of this is / The main driver behind this trend is / This can be attributed to</a:t>
            </a:r>
          </a:p>
          <a:p>
            <a:pPr>
              <a:spcBef>
                <a:spcPts val="900"/>
              </a:spcBef>
            </a:pPr>
            <a:r>
              <a:rPr sz="1800" b="1">
                <a:solidFill>
                  <a:srgbClr val="472473"/>
                </a:solidFill>
              </a:rPr>
              <a:t>• 解决引入</a:t>
            </a:r>
          </a:p>
          <a:p>
            <a:pPr>
              <a:spcBef>
                <a:spcPts val="100"/>
              </a:spcBef>
            </a:pPr>
            <a:r>
              <a:rPr sz="1500">
                <a:solidFill>
                  <a:srgbClr val="556075"/>
                </a:solidFill>
              </a:rPr>
              <a:t>   To address this issue / A possible solution would be / Governments could consider</a:t>
            </a:r>
          </a:p>
          <a:p>
            <a:pPr>
              <a:spcBef>
                <a:spcPts val="900"/>
              </a:spcBef>
            </a:pPr>
            <a:r>
              <a:rPr sz="1800" b="1">
                <a:solidFill>
                  <a:srgbClr val="472473"/>
                </a:solidFill>
              </a:rPr>
              <a:t>• 效果说明</a:t>
            </a:r>
          </a:p>
          <a:p>
            <a:pPr>
              <a:spcBef>
                <a:spcPts val="100"/>
              </a:spcBef>
            </a:pPr>
            <a:r>
              <a:rPr sz="1500">
                <a:solidFill>
                  <a:srgbClr val="556075"/>
                </a:solidFill>
              </a:rPr>
              <a:t>   This would reduce / This approach has proven effective in / Such measures could significantly</a:t>
            </a:r>
          </a:p>
          <a:p>
            <a:pPr>
              <a:spcBef>
                <a:spcPts val="900"/>
              </a:spcBef>
            </a:pPr>
            <a:r>
              <a:rPr sz="1800" b="1">
                <a:solidFill>
                  <a:srgbClr val="472473"/>
                </a:solidFill>
              </a:rPr>
              <a:t>• 条件句</a:t>
            </a:r>
          </a:p>
          <a:p>
            <a:pPr>
              <a:spcBef>
                <a:spcPts val="100"/>
              </a:spcBef>
            </a:pPr>
            <a:r>
              <a:rPr sz="1500">
                <a:solidFill>
                  <a:srgbClr val="556075"/>
                </a:solidFill>
              </a:rPr>
              <a:t>   If governments invested in... / Were this policy implemented... / Provided that...</a:t>
            </a:r>
          </a:p>
          <a:p>
            <a:pPr>
              <a:spcBef>
                <a:spcPts val="900"/>
              </a:spcBef>
            </a:pPr>
            <a:r>
              <a:rPr sz="1800" b="1">
                <a:solidFill>
                  <a:srgbClr val="472473"/>
                </a:solidFill>
              </a:rPr>
              <a:t>• 建议结尾</a:t>
            </a:r>
          </a:p>
          <a:p>
            <a:pPr>
              <a:spcBef>
                <a:spcPts val="100"/>
              </a:spcBef>
            </a:pPr>
            <a:r>
              <a:rPr sz="1500">
                <a:solidFill>
                  <a:srgbClr val="556075"/>
                </a:solidFill>
              </a:rPr>
              <a:t>   It is therefore imperative that... / Urgent action is required to...</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优缺点文权衡句示范</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权衡两方的学术表达（结论段常用）：
基本型：
"On balance, I believe the advantages of X outweigh its disadvantages."
进阶型：
"While the drawbacks of X are not inconsiderable, the economic and social benefits it offers ultimately justify its adoption."
条件型：
"The advantages of X are likely to outweigh the disadvantages, provided that adequate regulatory measures are put in place to mitigate the risks."
中立型（无立场要求时）：
"In conclusion, X presents both opportunities and challenges; its ultimate impact on society will depend largely on how effectively policymakers manage its implementation."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问题解决题结论写法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原因解决题结论（约55词）示范：
"In conclusion, rising obesity rates can be attributed to unhealthy dietary habits and increasingly sedentary lifestyles, both of which are exacerbated by poor nutrition education. Addressing this public health crisis requires a multifaceted response, including taxation on unhealthy products, enhanced school education programmes, and urban planning policies that encourage physical activity. Without concerted action, the social and economic costs of obesity will continue to escalate."
（72词）
结构：总结原因（1句）→总结解决方案（1句）→展望后果（1句）</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双问题题引言写法示范</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题目："Why are more people working from home? What are the impacts of this change?"
低分引言："Many people now work from home. This has changed the way we work."
→ 无背景，无结构预告，无学术性
高分引言：
"The rise of remote working, accelerated by the COVID-19 pandemic and enabled by digital technology, has fundamentally altered the nature of employment for millions worldwide. Examining the forces driving this trend and its multifaceted consequences is essential to understanding how the relationship between employees and the workplace is being redefined. This essay will explore the primary reasons behind this shift and assess its key implications for workers and organisations alike."
（78词）</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高分引言三部分：背景句+重要性句+结构预告句
"This essay will explore X and assess Y"直接预告两个问题</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双问题引言模板：背景（1句）+争议/重要性（1句）+预告两问题（1句）</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混合题型综合处理</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如果遇到不确定的题型，如：
"Some people think X is a problem. What do you think are the causes? What could be done to solve this problem?"
处理步骤：
1.判断：这是原因+解决题（双问题题变体）
2.立场：题目说"what do you think"→可以有立场，但不强制
3.结构：引言+原因段+解决段+结论
4.重要：必须回答两个问题（causes AND solutions）
5.检查：字数是否均衡（各约100词）？
原则：不确定题型时，把题目每个问号对应一段主体</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不确定题型处理原则：数问号=数主体段（每个问题一段）</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743200"/>
            <a:ext cx="12191695" cy="4572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10058400" cy="548640"/>
          </a:xfrm>
          <a:prstGeom prst="rect">
            <a:avLst/>
          </a:prstGeom>
          <a:noFill/>
        </p:spPr>
        <p:txBody>
          <a:bodyPr wrap="square" anchor="t">
            <a:spAutoFit/>
          </a:bodyPr>
          <a:lstStyle/>
          <a:p>
            <a:pPr algn="l"/>
            <a:r>
              <a:rPr sz="2200" b="1" i="0">
                <a:solidFill>
                  <a:srgbClr val="F2A01D"/>
                </a:solidFill>
                <a:latin typeface="Calibri"/>
              </a:rPr>
              <a:t>PART 05</a:t>
            </a:r>
          </a:p>
        </p:txBody>
      </p:sp>
      <p:sp>
        <p:nvSpPr>
          <p:cNvPr id="5" name="TextBox 4"/>
          <p:cNvSpPr txBox="1"/>
          <p:nvPr/>
        </p:nvSpPr>
        <p:spPr>
          <a:xfrm>
            <a:off x="914400" y="2926080"/>
            <a:ext cx="10332720" cy="1280160"/>
          </a:xfrm>
          <a:prstGeom prst="rect">
            <a:avLst/>
          </a:prstGeom>
          <a:noFill/>
        </p:spPr>
        <p:txBody>
          <a:bodyPr wrap="square" anchor="t">
            <a:spAutoFit/>
          </a:bodyPr>
          <a:lstStyle/>
          <a:p>
            <a:pPr algn="l"/>
            <a:r>
              <a:rPr sz="4000" b="1" i="0">
                <a:solidFill>
                  <a:srgbClr val="FFFFFF"/>
                </a:solidFill>
                <a:latin typeface="Calibri"/>
              </a:rPr>
              <a:t>综合实战与题型总结</a:t>
            </a:r>
          </a:p>
        </p:txBody>
      </p:sp>
      <p:sp>
        <p:nvSpPr>
          <p:cNvPr id="6" name="TextBox 5"/>
          <p:cNvSpPr txBox="1"/>
          <p:nvPr/>
        </p:nvSpPr>
        <p:spPr>
          <a:xfrm>
            <a:off x="914400" y="4297680"/>
            <a:ext cx="10332720" cy="731520"/>
          </a:xfrm>
          <a:prstGeom prst="rect">
            <a:avLst/>
          </a:prstGeom>
          <a:noFill/>
        </p:spPr>
        <p:txBody>
          <a:bodyPr wrap="square" anchor="t">
            <a:spAutoFit/>
          </a:bodyPr>
          <a:lstStyle/>
          <a:p>
            <a:pPr algn="l"/>
            <a:r>
              <a:rPr sz="2000" b="0" i="1">
                <a:solidFill>
                  <a:srgbClr val="B9C8E0"/>
                </a:solidFill>
                <a:latin typeface="Calibri"/>
              </a:rPr>
              <a:t>Full Practice &amp; Question Type Summary</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五大题型结构对比</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5 Question Types: Structure Comparison</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讨论文</a:t>
            </a:r>
          </a:p>
          <a:p>
            <a:pPr>
              <a:spcBef>
                <a:spcPts val="100"/>
              </a:spcBef>
            </a:pPr>
            <a:r>
              <a:rPr sz="1500">
                <a:solidFill>
                  <a:srgbClr val="556075"/>
                </a:solidFill>
              </a:rPr>
              <a:t>   引言（立场）+对方段+自己段+结论（立场）</a:t>
            </a:r>
          </a:p>
          <a:p>
            <a:pPr>
              <a:spcBef>
                <a:spcPts val="900"/>
              </a:spcBef>
            </a:pPr>
            <a:r>
              <a:rPr sz="1800" b="1">
                <a:solidFill>
                  <a:srgbClr val="472473"/>
                </a:solidFill>
              </a:rPr>
              <a:t>• 同意/不同意</a:t>
            </a:r>
          </a:p>
          <a:p>
            <a:pPr>
              <a:spcBef>
                <a:spcPts val="100"/>
              </a:spcBef>
            </a:pPr>
            <a:r>
              <a:rPr sz="1500">
                <a:solidFill>
                  <a:srgbClr val="556075"/>
                </a:solidFill>
              </a:rPr>
              <a:t>   引言（立场）+论点1段+论点2段/让步反驳+结论（立场）</a:t>
            </a:r>
          </a:p>
          <a:p>
            <a:pPr>
              <a:spcBef>
                <a:spcPts val="900"/>
              </a:spcBef>
            </a:pPr>
            <a:r>
              <a:rPr sz="1800" b="1">
                <a:solidFill>
                  <a:srgbClr val="472473"/>
                </a:solidFill>
              </a:rPr>
              <a:t>• 优缺点</a:t>
            </a:r>
          </a:p>
          <a:p>
            <a:pPr>
              <a:spcBef>
                <a:spcPts val="100"/>
              </a:spcBef>
            </a:pPr>
            <a:r>
              <a:rPr sz="1500">
                <a:solidFill>
                  <a:srgbClr val="556075"/>
                </a:solidFill>
              </a:rPr>
              <a:t>   引言（±立场）+优点段+缺点段+结论（±立场）</a:t>
            </a:r>
          </a:p>
          <a:p>
            <a:pPr>
              <a:spcBef>
                <a:spcPts val="900"/>
              </a:spcBef>
            </a:pPr>
            <a:r>
              <a:rPr sz="1800" b="1">
                <a:solidFill>
                  <a:srgbClr val="472473"/>
                </a:solidFill>
              </a:rPr>
              <a:t>• 问题解决</a:t>
            </a:r>
          </a:p>
          <a:p>
            <a:pPr>
              <a:spcBef>
                <a:spcPts val="100"/>
              </a:spcBef>
            </a:pPr>
            <a:r>
              <a:rPr sz="1500">
                <a:solidFill>
                  <a:srgbClr val="556075"/>
                </a:solidFill>
              </a:rPr>
              <a:t>   引言+原因/影响段+解决/建议段+结论</a:t>
            </a:r>
          </a:p>
          <a:p>
            <a:pPr>
              <a:spcBef>
                <a:spcPts val="900"/>
              </a:spcBef>
            </a:pPr>
            <a:r>
              <a:rPr sz="1800" b="1">
                <a:solidFill>
                  <a:srgbClr val="472473"/>
                </a:solidFill>
              </a:rPr>
              <a:t>• 双问题</a:t>
            </a:r>
          </a:p>
          <a:p>
            <a:pPr>
              <a:spcBef>
                <a:spcPts val="100"/>
              </a:spcBef>
            </a:pPr>
            <a:r>
              <a:rPr sz="1500">
                <a:solidFill>
                  <a:srgbClr val="556075"/>
                </a:solidFill>
              </a:rPr>
              <a:t>   引言（预告两问）+问题1段+问题2段+结论</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核心讲解</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题型判断决策流程</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43000"/>
            <a:ext cx="11064240" cy="8686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25296"/>
            <a:ext cx="10607040" cy="731520"/>
          </a:xfrm>
          <a:prstGeom prst="rect">
            <a:avLst/>
          </a:prstGeom>
          <a:noFill/>
        </p:spPr>
        <p:txBody>
          <a:bodyPr wrap="square" anchor="ctr">
            <a:spAutoFit/>
          </a:bodyPr>
          <a:lstStyle/>
          <a:p>
            <a:pPr algn="l"/>
            <a:r>
              <a:rPr sz="1500" b="0" i="1">
                <a:solidFill>
                  <a:srgbClr val="472473"/>
                </a:solidFill>
                <a:latin typeface="Calibri"/>
              </a:rPr>
              <a:t>Question Type Decision Tree</a:t>
            </a:r>
          </a:p>
        </p:txBody>
      </p:sp>
      <p:sp>
        <p:nvSpPr>
          <p:cNvPr id="10" name="TextBox 9"/>
          <p:cNvSpPr txBox="1"/>
          <p:nvPr/>
        </p:nvSpPr>
        <p:spPr>
          <a:xfrm>
            <a:off x="640080" y="2240280"/>
            <a:ext cx="10972800" cy="4297680"/>
          </a:xfrm>
          <a:prstGeom prst="rect">
            <a:avLst/>
          </a:prstGeom>
          <a:noFill/>
        </p:spPr>
        <p:txBody>
          <a:bodyPr wrap="square">
            <a:spAutoFit/>
          </a:bodyPr>
          <a:lstStyle/>
          <a:p>
            <a:r>
              <a:rPr sz="1800" b="1">
                <a:solidFill>
                  <a:srgbClr val="472473"/>
                </a:solidFill>
              </a:rPr>
              <a:t>• Step 1</a:t>
            </a:r>
          </a:p>
          <a:p>
            <a:pPr>
              <a:spcBef>
                <a:spcPts val="100"/>
              </a:spcBef>
            </a:pPr>
            <a:r>
              <a:rPr sz="1500">
                <a:solidFill>
                  <a:srgbClr val="556075"/>
                </a:solidFill>
              </a:rPr>
              <a:t>   读完题目最后一句——这是最关键的</a:t>
            </a:r>
          </a:p>
          <a:p>
            <a:pPr>
              <a:spcBef>
                <a:spcPts val="900"/>
              </a:spcBef>
            </a:pPr>
            <a:r>
              <a:rPr sz="1800" b="1">
                <a:solidFill>
                  <a:srgbClr val="472473"/>
                </a:solidFill>
              </a:rPr>
              <a:t>• Step 2</a:t>
            </a:r>
          </a:p>
          <a:p>
            <a:pPr>
              <a:spcBef>
                <a:spcPts val="100"/>
              </a:spcBef>
            </a:pPr>
            <a:r>
              <a:rPr sz="1500">
                <a:solidFill>
                  <a:srgbClr val="556075"/>
                </a:solidFill>
              </a:rPr>
              <a:t>   找关键词：discuss/agree/advantages/causes/two questions</a:t>
            </a:r>
          </a:p>
          <a:p>
            <a:pPr>
              <a:spcBef>
                <a:spcPts val="900"/>
              </a:spcBef>
            </a:pPr>
            <a:r>
              <a:rPr sz="1800" b="1">
                <a:solidFill>
                  <a:srgbClr val="472473"/>
                </a:solidFill>
              </a:rPr>
              <a:t>• Step 3</a:t>
            </a:r>
          </a:p>
          <a:p>
            <a:pPr>
              <a:spcBef>
                <a:spcPts val="100"/>
              </a:spcBef>
            </a:pPr>
            <a:r>
              <a:rPr sz="1500">
                <a:solidFill>
                  <a:srgbClr val="556075"/>
                </a:solidFill>
              </a:rPr>
              <a:t>   确认立场要求：有"give opinion/agree/disagree"→必须立场</a:t>
            </a:r>
          </a:p>
          <a:p>
            <a:pPr>
              <a:spcBef>
                <a:spcPts val="900"/>
              </a:spcBef>
            </a:pPr>
            <a:r>
              <a:rPr sz="1800" b="1">
                <a:solidFill>
                  <a:srgbClr val="472473"/>
                </a:solidFill>
              </a:rPr>
              <a:t>• Step 4</a:t>
            </a:r>
          </a:p>
          <a:p>
            <a:pPr>
              <a:spcBef>
                <a:spcPts val="100"/>
              </a:spcBef>
            </a:pPr>
            <a:r>
              <a:rPr sz="1500">
                <a:solidFill>
                  <a:srgbClr val="556075"/>
                </a:solidFill>
              </a:rPr>
              <a:t>   确认结构：几个问题→几段主体</a:t>
            </a:r>
          </a:p>
          <a:p>
            <a:pPr>
              <a:spcBef>
                <a:spcPts val="900"/>
              </a:spcBef>
            </a:pPr>
            <a:r>
              <a:rPr sz="1800" b="1">
                <a:solidFill>
                  <a:srgbClr val="472473"/>
                </a:solidFill>
              </a:rPr>
              <a:t>• Step 5</a:t>
            </a:r>
          </a:p>
          <a:p>
            <a:pPr>
              <a:spcBef>
                <a:spcPts val="100"/>
              </a:spcBef>
            </a:pPr>
            <a:r>
              <a:rPr sz="1500">
                <a:solidFill>
                  <a:srgbClr val="556075"/>
                </a:solidFill>
              </a:rPr>
              <a:t>   写引言时预告结构——帮助阅卷人理解你的回答</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五大题型综合实战速判</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5120640"/>
          </a:xfrm>
          <a:prstGeom prst="rect">
            <a:avLst/>
          </a:prstGeom>
          <a:noFill/>
        </p:spPr>
        <p:txBody>
          <a:bodyPr wrap="square">
            <a:spAutoFit/>
          </a:bodyPr>
          <a:lstStyle/>
          <a:p>
            <a:r>
              <a:rPr sz="1650">
                <a:solidFill>
                  <a:srgbClr val="1E293B"/>
                </a:solidFill>
              </a:rPr>
              <a:t>• 快速判断以下5道题的题型：
题1："Online shopping is replacing traditional retail. To what extent is this a positive development?"
→ 题型：同意/不同意（positive/negative = agree/disagree变体）
题2："What are the advantages and disadvantages of international tourism for local communities?"
→ 题型：纯优缺点（无opinion要求→可中立）
题3："Some people argue that education should be free for all. Others believe individuals should pay for their own education. Discuss both views and give your own opinion."
→ 题型：讨论文
题4："Why are languages disappearing? What can governments do to preserve them?"
→ 题型：双问题题（原因+解决）
题5："What are the causes of rising youth unemployment? What are the possible effects of this trend?"
→ 题型：双问题题（原因+影响）</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优缺点文主体段综合练习</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TextBox 6"/>
          <p:cNvSpPr txBox="1"/>
          <p:nvPr/>
        </p:nvSpPr>
        <p:spPr>
          <a:xfrm>
            <a:off x="640080" y="1234440"/>
            <a:ext cx="10972800" cy="4572000"/>
          </a:xfrm>
          <a:prstGeom prst="rect">
            <a:avLst/>
          </a:prstGeom>
          <a:noFill/>
        </p:spPr>
        <p:txBody>
          <a:bodyPr wrap="square">
            <a:spAutoFit/>
          </a:bodyPr>
          <a:lstStyle/>
          <a:p>
            <a:r>
              <a:rPr sz="1650">
                <a:solidFill>
                  <a:srgbClr val="1E293B"/>
                </a:solidFill>
              </a:rPr>
              <a:t>• 题</a:t>
            </a:r>
          </a:p>
          <a:p>
            <a:pPr>
              <a:spcBef>
                <a:spcPts val="1000"/>
              </a:spcBef>
            </a:pPr>
            <a:r>
              <a:rPr sz="1650">
                <a:solidFill>
                  <a:srgbClr val="1E293B"/>
                </a:solidFill>
              </a:rPr>
              <a:t>• 目</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M</a:t>
            </a:r>
          </a:p>
          <a:p>
            <a:pPr>
              <a:spcBef>
                <a:spcPts val="1000"/>
              </a:spcBef>
            </a:pPr>
            <a:r>
              <a:rPr sz="1650">
                <a:solidFill>
                  <a:srgbClr val="1E293B"/>
                </a:solidFill>
              </a:rPr>
              <a:t>• a</a:t>
            </a:r>
          </a:p>
          <a:p>
            <a:pPr>
              <a:spcBef>
                <a:spcPts val="1000"/>
              </a:spcBef>
            </a:pPr>
            <a:r>
              <a:rPr sz="1650">
                <a:solidFill>
                  <a:srgbClr val="1E293B"/>
                </a:solidFill>
              </a:rPr>
              <a:t>• n</a:t>
            </a:r>
          </a:p>
          <a:p>
            <a:pPr>
              <a:spcBef>
                <a:spcPts val="1000"/>
              </a:spcBef>
            </a:pPr>
            <a:r>
              <a:rPr sz="1650">
                <a:solidFill>
                  <a:srgbClr val="1E293B"/>
                </a:solidFill>
              </a:rPr>
              <a:t>• y</a:t>
            </a:r>
          </a:p>
          <a:p>
            <a:pPr>
              <a:spcBef>
                <a:spcPts val="1000"/>
              </a:spcBef>
            </a:pPr>
            <a:r>
              <a:rPr sz="1650">
                <a:solidFill>
                  <a:srgbClr val="1E293B"/>
                </a:solidFill>
              </a:rPr>
              <a:t>•  </a:t>
            </a:r>
          </a:p>
          <a:p>
            <a:pPr>
              <a:spcBef>
                <a:spcPts val="1000"/>
              </a:spcBef>
            </a:pPr>
            <a:r>
              <a:rPr sz="1650">
                <a:solidFill>
                  <a:srgbClr val="1E293B"/>
                </a:solidFill>
              </a:rPr>
              <a:t>• c</a:t>
            </a:r>
          </a:p>
          <a:p>
            <a:pPr>
              <a:spcBef>
                <a:spcPts val="1000"/>
              </a:spcBef>
            </a:pPr>
            <a:r>
              <a:rPr sz="1650">
                <a:solidFill>
                  <a:srgbClr val="1E293B"/>
                </a:solidFill>
              </a:rPr>
              <a:t>• o</a:t>
            </a:r>
          </a:p>
          <a:p>
            <a:pPr>
              <a:spcBef>
                <a:spcPts val="1000"/>
              </a:spcBef>
            </a:pPr>
            <a:r>
              <a:rPr sz="1650">
                <a:solidFill>
                  <a:srgbClr val="1E293B"/>
                </a:solidFill>
              </a:rPr>
              <a:t>• m</a:t>
            </a:r>
          </a:p>
          <a:p>
            <a:pPr>
              <a:spcBef>
                <a:spcPts val="1000"/>
              </a:spcBef>
            </a:pPr>
            <a:r>
              <a:rPr sz="1650">
                <a:solidFill>
                  <a:srgbClr val="1E293B"/>
                </a:solidFill>
              </a:rPr>
              <a:t>• p</a:t>
            </a:r>
          </a:p>
          <a:p>
            <a:pPr>
              <a:spcBef>
                <a:spcPts val="1000"/>
              </a:spcBef>
            </a:pPr>
            <a:r>
              <a:rPr sz="1650">
                <a:solidFill>
                  <a:srgbClr val="1E293B"/>
                </a:solidFill>
              </a:rPr>
              <a:t>• a</a:t>
            </a:r>
          </a:p>
          <a:p>
            <a:pPr>
              <a:spcBef>
                <a:spcPts val="1000"/>
              </a:spcBef>
            </a:pPr>
            <a:r>
              <a:rPr sz="1650">
                <a:solidFill>
                  <a:srgbClr val="1E293B"/>
                </a:solidFill>
              </a:rPr>
              <a:t>• n</a:t>
            </a:r>
          </a:p>
          <a:p>
            <a:pPr>
              <a:spcBef>
                <a:spcPts val="1000"/>
              </a:spcBef>
            </a:pPr>
            <a:r>
              <a:rPr sz="1650">
                <a:solidFill>
                  <a:srgbClr val="1E293B"/>
                </a:solidFill>
              </a:rPr>
              <a:t>• i</a:t>
            </a:r>
          </a:p>
          <a:p>
            <a:pPr>
              <a:spcBef>
                <a:spcPts val="1000"/>
              </a:spcBef>
            </a:pPr>
            <a:r>
              <a:rPr sz="1650">
                <a:solidFill>
                  <a:srgbClr val="1E293B"/>
                </a:solidFill>
              </a:rPr>
              <a:t>• e</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a</a:t>
            </a:r>
          </a:p>
          <a:p>
            <a:pPr>
              <a:spcBef>
                <a:spcPts val="1000"/>
              </a:spcBef>
            </a:pPr>
            <a:r>
              <a:rPr sz="1650">
                <a:solidFill>
                  <a:srgbClr val="1E293B"/>
                </a:solidFill>
              </a:rPr>
              <a:t>• r</a:t>
            </a:r>
          </a:p>
          <a:p>
            <a:pPr>
              <a:spcBef>
                <a:spcPts val="1000"/>
              </a:spcBef>
            </a:pPr>
            <a:r>
              <a:rPr sz="1650">
                <a:solidFill>
                  <a:srgbClr val="1E293B"/>
                </a:solidFill>
              </a:rPr>
              <a:t>• e</a:t>
            </a:r>
          </a:p>
          <a:p>
            <a:pPr>
              <a:spcBef>
                <a:spcPts val="1000"/>
              </a:spcBef>
            </a:pPr>
            <a:r>
              <a:rPr sz="1650">
                <a:solidFill>
                  <a:srgbClr val="1E293B"/>
                </a:solidFill>
              </a:rPr>
              <a:t>•  </a:t>
            </a:r>
          </a:p>
          <a:p>
            <a:pPr>
              <a:spcBef>
                <a:spcPts val="1000"/>
              </a:spcBef>
            </a:pPr>
            <a:r>
              <a:rPr sz="1650">
                <a:solidFill>
                  <a:srgbClr val="1E293B"/>
                </a:solidFill>
              </a:rPr>
              <a:t>• n</a:t>
            </a:r>
          </a:p>
          <a:p>
            <a:pPr>
              <a:spcBef>
                <a:spcPts val="1000"/>
              </a:spcBef>
            </a:pPr>
            <a:r>
              <a:rPr sz="1650">
                <a:solidFill>
                  <a:srgbClr val="1E293B"/>
                </a:solidFill>
              </a:rPr>
              <a:t>• o</a:t>
            </a:r>
          </a:p>
          <a:p>
            <a:pPr>
              <a:spcBef>
                <a:spcPts val="1000"/>
              </a:spcBef>
            </a:pPr>
            <a:r>
              <a:rPr sz="1650">
                <a:solidFill>
                  <a:srgbClr val="1E293B"/>
                </a:solidFill>
              </a:rPr>
              <a:t>• w</a:t>
            </a:r>
          </a:p>
          <a:p>
            <a:pPr>
              <a:spcBef>
                <a:spcPts val="1000"/>
              </a:spcBef>
            </a:pPr>
            <a:r>
              <a:rPr sz="1650">
                <a:solidFill>
                  <a:srgbClr val="1E293B"/>
                </a:solidFill>
              </a:rPr>
              <a:t>•  </a:t>
            </a:r>
          </a:p>
          <a:p>
            <a:pPr>
              <a:spcBef>
                <a:spcPts val="1000"/>
              </a:spcBef>
            </a:pPr>
            <a:r>
              <a:rPr sz="1650">
                <a:solidFill>
                  <a:srgbClr val="1E293B"/>
                </a:solidFill>
              </a:rPr>
              <a:t>• o</a:t>
            </a:r>
          </a:p>
          <a:p>
            <a:pPr>
              <a:spcBef>
                <a:spcPts val="1000"/>
              </a:spcBef>
            </a:pPr>
            <a:r>
              <a:rPr sz="1650">
                <a:solidFill>
                  <a:srgbClr val="1E293B"/>
                </a:solidFill>
              </a:rPr>
              <a:t>• f</a:t>
            </a:r>
          </a:p>
          <a:p>
            <a:pPr>
              <a:spcBef>
                <a:spcPts val="1000"/>
              </a:spcBef>
            </a:pPr>
            <a:r>
              <a:rPr sz="1650">
                <a:solidFill>
                  <a:srgbClr val="1E293B"/>
                </a:solidFill>
              </a:rPr>
              <a:t>• f</a:t>
            </a:r>
          </a:p>
          <a:p>
            <a:pPr>
              <a:spcBef>
                <a:spcPts val="1000"/>
              </a:spcBef>
            </a:pPr>
            <a:r>
              <a:rPr sz="1650">
                <a:solidFill>
                  <a:srgbClr val="1E293B"/>
                </a:solidFill>
              </a:rPr>
              <a:t>• e</a:t>
            </a:r>
          </a:p>
          <a:p>
            <a:pPr>
              <a:spcBef>
                <a:spcPts val="1000"/>
              </a:spcBef>
            </a:pPr>
            <a:r>
              <a:rPr sz="1650">
                <a:solidFill>
                  <a:srgbClr val="1E293B"/>
                </a:solidFill>
              </a:rPr>
              <a:t>• r</a:t>
            </a:r>
          </a:p>
          <a:p>
            <a:pPr>
              <a:spcBef>
                <a:spcPts val="1000"/>
              </a:spcBef>
            </a:pPr>
            <a:r>
              <a:rPr sz="1650">
                <a:solidFill>
                  <a:srgbClr val="1E293B"/>
                </a:solidFill>
              </a:rPr>
              <a:t>• i</a:t>
            </a:r>
          </a:p>
          <a:p>
            <a:pPr>
              <a:spcBef>
                <a:spcPts val="1000"/>
              </a:spcBef>
            </a:pPr>
            <a:r>
              <a:rPr sz="1650">
                <a:solidFill>
                  <a:srgbClr val="1E293B"/>
                </a:solidFill>
              </a:rPr>
              <a:t>• n</a:t>
            </a:r>
          </a:p>
          <a:p>
            <a:pPr>
              <a:spcBef>
                <a:spcPts val="1000"/>
              </a:spcBef>
            </a:pPr>
            <a:r>
              <a:rPr sz="1650">
                <a:solidFill>
                  <a:srgbClr val="1E293B"/>
                </a:solidFill>
              </a:rPr>
              <a:t>• g</a:t>
            </a:r>
          </a:p>
          <a:p>
            <a:pPr>
              <a:spcBef>
                <a:spcPts val="1000"/>
              </a:spcBef>
            </a:pPr>
            <a:r>
              <a:rPr sz="1650">
                <a:solidFill>
                  <a:srgbClr val="1E293B"/>
                </a:solidFill>
              </a:rPr>
              <a:t>•  </a:t>
            </a:r>
          </a:p>
          <a:p>
            <a:pPr>
              <a:spcBef>
                <a:spcPts val="1000"/>
              </a:spcBef>
            </a:pPr>
            <a:r>
              <a:rPr sz="1650">
                <a:solidFill>
                  <a:srgbClr val="1E293B"/>
                </a:solidFill>
              </a:rPr>
              <a:t>• e</a:t>
            </a:r>
          </a:p>
          <a:p>
            <a:pPr>
              <a:spcBef>
                <a:spcPts val="1000"/>
              </a:spcBef>
            </a:pPr>
            <a:r>
              <a:rPr sz="1650">
                <a:solidFill>
                  <a:srgbClr val="1E293B"/>
                </a:solidFill>
              </a:rPr>
              <a:t>• m</a:t>
            </a:r>
          </a:p>
          <a:p>
            <a:pPr>
              <a:spcBef>
                <a:spcPts val="1000"/>
              </a:spcBef>
            </a:pPr>
            <a:r>
              <a:rPr sz="1650">
                <a:solidFill>
                  <a:srgbClr val="1E293B"/>
                </a:solidFill>
              </a:rPr>
              <a:t>• p</a:t>
            </a:r>
          </a:p>
          <a:p>
            <a:pPr>
              <a:spcBef>
                <a:spcPts val="1000"/>
              </a:spcBef>
            </a:pPr>
            <a:r>
              <a:rPr sz="1650">
                <a:solidFill>
                  <a:srgbClr val="1E293B"/>
                </a:solidFill>
              </a:rPr>
              <a:t>• l</a:t>
            </a:r>
          </a:p>
          <a:p>
            <a:pPr>
              <a:spcBef>
                <a:spcPts val="1000"/>
              </a:spcBef>
            </a:pPr>
            <a:r>
              <a:rPr sz="1650">
                <a:solidFill>
                  <a:srgbClr val="1E293B"/>
                </a:solidFill>
              </a:rPr>
              <a:t>• o</a:t>
            </a:r>
          </a:p>
          <a:p>
            <a:pPr>
              <a:spcBef>
                <a:spcPts val="1000"/>
              </a:spcBef>
            </a:pPr>
            <a:r>
              <a:rPr sz="1650">
                <a:solidFill>
                  <a:srgbClr val="1E293B"/>
                </a:solidFill>
              </a:rPr>
              <a:t>• y</a:t>
            </a:r>
          </a:p>
          <a:p>
            <a:pPr>
              <a:spcBef>
                <a:spcPts val="1000"/>
              </a:spcBef>
            </a:pPr>
            <a:r>
              <a:rPr sz="1650">
                <a:solidFill>
                  <a:srgbClr val="1E293B"/>
                </a:solidFill>
              </a:rPr>
              <a:t>• e</a:t>
            </a:r>
          </a:p>
          <a:p>
            <a:pPr>
              <a:spcBef>
                <a:spcPts val="1000"/>
              </a:spcBef>
            </a:pPr>
            <a:r>
              <a:rPr sz="1650">
                <a:solidFill>
                  <a:srgbClr val="1E293B"/>
                </a:solidFill>
              </a:rPr>
              <a:t>• e</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t</a:t>
            </a:r>
          </a:p>
          <a:p>
            <a:pPr>
              <a:spcBef>
                <a:spcPts val="1000"/>
              </a:spcBef>
            </a:pPr>
            <a:r>
              <a:rPr sz="1650">
                <a:solidFill>
                  <a:srgbClr val="1E293B"/>
                </a:solidFill>
              </a:rPr>
              <a:t>• h</a:t>
            </a:r>
          </a:p>
          <a:p>
            <a:pPr>
              <a:spcBef>
                <a:spcPts val="1000"/>
              </a:spcBef>
            </a:pPr>
            <a:r>
              <a:rPr sz="1650">
                <a:solidFill>
                  <a:srgbClr val="1E293B"/>
                </a:solidFill>
              </a:rPr>
              <a:t>• e</a:t>
            </a:r>
          </a:p>
          <a:p>
            <a:pPr>
              <a:spcBef>
                <a:spcPts val="1000"/>
              </a:spcBef>
            </a:pPr>
            <a:r>
              <a:rPr sz="1650">
                <a:solidFill>
                  <a:srgbClr val="1E293B"/>
                </a:solidFill>
              </a:rPr>
              <a:t>•  </a:t>
            </a:r>
          </a:p>
          <a:p>
            <a:pPr>
              <a:spcBef>
                <a:spcPts val="1000"/>
              </a:spcBef>
            </a:pPr>
            <a:r>
              <a:rPr sz="1650">
                <a:solidFill>
                  <a:srgbClr val="1E293B"/>
                </a:solidFill>
              </a:rPr>
              <a:t>• o</a:t>
            </a:r>
          </a:p>
          <a:p>
            <a:pPr>
              <a:spcBef>
                <a:spcPts val="1000"/>
              </a:spcBef>
            </a:pPr>
            <a:r>
              <a:rPr sz="1650">
                <a:solidFill>
                  <a:srgbClr val="1E293B"/>
                </a:solidFill>
              </a:rPr>
              <a:t>• p</a:t>
            </a:r>
          </a:p>
          <a:p>
            <a:pPr>
              <a:spcBef>
                <a:spcPts val="1000"/>
              </a:spcBef>
            </a:pPr>
            <a:r>
              <a:rPr sz="1650">
                <a:solidFill>
                  <a:srgbClr val="1E293B"/>
                </a:solidFill>
              </a:rPr>
              <a:t>• p</a:t>
            </a:r>
          </a:p>
          <a:p>
            <a:pPr>
              <a:spcBef>
                <a:spcPts val="1000"/>
              </a:spcBef>
            </a:pPr>
            <a:r>
              <a:rPr sz="1650">
                <a:solidFill>
                  <a:srgbClr val="1E293B"/>
                </a:solidFill>
              </a:rPr>
              <a:t>• o</a:t>
            </a:r>
          </a:p>
          <a:p>
            <a:pPr>
              <a:spcBef>
                <a:spcPts val="1000"/>
              </a:spcBef>
            </a:pPr>
            <a:r>
              <a:rPr sz="1650">
                <a:solidFill>
                  <a:srgbClr val="1E293B"/>
                </a:solidFill>
              </a:rPr>
              <a:t>• r</a:t>
            </a:r>
          </a:p>
          <a:p>
            <a:pPr>
              <a:spcBef>
                <a:spcPts val="1000"/>
              </a:spcBef>
            </a:pPr>
            <a:r>
              <a:rPr sz="1650">
                <a:solidFill>
                  <a:srgbClr val="1E293B"/>
                </a:solidFill>
              </a:rPr>
              <a:t>• t</a:t>
            </a:r>
          </a:p>
          <a:p>
            <a:pPr>
              <a:spcBef>
                <a:spcPts val="1000"/>
              </a:spcBef>
            </a:pPr>
            <a:r>
              <a:rPr sz="1650">
                <a:solidFill>
                  <a:srgbClr val="1E293B"/>
                </a:solidFill>
              </a:rPr>
              <a:t>• u</a:t>
            </a:r>
          </a:p>
          <a:p>
            <a:pPr>
              <a:spcBef>
                <a:spcPts val="1000"/>
              </a:spcBef>
            </a:pPr>
            <a:r>
              <a:rPr sz="1650">
                <a:solidFill>
                  <a:srgbClr val="1E293B"/>
                </a:solidFill>
              </a:rPr>
              <a:t>• n</a:t>
            </a:r>
          </a:p>
          <a:p>
            <a:pPr>
              <a:spcBef>
                <a:spcPts val="1000"/>
              </a:spcBef>
            </a:pPr>
            <a:r>
              <a:rPr sz="1650">
                <a:solidFill>
                  <a:srgbClr val="1E293B"/>
                </a:solidFill>
              </a:rPr>
              <a:t>• i</a:t>
            </a:r>
          </a:p>
          <a:p>
            <a:pPr>
              <a:spcBef>
                <a:spcPts val="1000"/>
              </a:spcBef>
            </a:pPr>
            <a:r>
              <a:rPr sz="1650">
                <a:solidFill>
                  <a:srgbClr val="1E293B"/>
                </a:solidFill>
              </a:rPr>
              <a:t>• t</a:t>
            </a:r>
          </a:p>
          <a:p>
            <a:pPr>
              <a:spcBef>
                <a:spcPts val="1000"/>
              </a:spcBef>
            </a:pPr>
            <a:r>
              <a:rPr sz="1650">
                <a:solidFill>
                  <a:srgbClr val="1E293B"/>
                </a:solidFill>
              </a:rPr>
              <a:t>• y</a:t>
            </a:r>
          </a:p>
          <a:p>
            <a:pPr>
              <a:spcBef>
                <a:spcPts val="1000"/>
              </a:spcBef>
            </a:pPr>
            <a:r>
              <a:rPr sz="1650">
                <a:solidFill>
                  <a:srgbClr val="1E293B"/>
                </a:solidFill>
              </a:rPr>
              <a:t>•  </a:t>
            </a:r>
          </a:p>
          <a:p>
            <a:pPr>
              <a:spcBef>
                <a:spcPts val="1000"/>
              </a:spcBef>
            </a:pPr>
            <a:r>
              <a:rPr sz="1650">
                <a:solidFill>
                  <a:srgbClr val="1E293B"/>
                </a:solidFill>
              </a:rPr>
              <a:t>• t</a:t>
            </a:r>
          </a:p>
          <a:p>
            <a:pPr>
              <a:spcBef>
                <a:spcPts val="1000"/>
              </a:spcBef>
            </a:pPr>
            <a:r>
              <a:rPr sz="1650">
                <a:solidFill>
                  <a:srgbClr val="1E293B"/>
                </a:solidFill>
              </a:rPr>
              <a:t>• o</a:t>
            </a:r>
          </a:p>
          <a:p>
            <a:pPr>
              <a:spcBef>
                <a:spcPts val="1000"/>
              </a:spcBef>
            </a:pPr>
            <a:r>
              <a:rPr sz="1650">
                <a:solidFill>
                  <a:srgbClr val="1E293B"/>
                </a:solidFill>
              </a:rPr>
              <a:t>•  </a:t>
            </a:r>
          </a:p>
          <a:p>
            <a:pPr>
              <a:spcBef>
                <a:spcPts val="1000"/>
              </a:spcBef>
            </a:pPr>
            <a:r>
              <a:rPr sz="1650">
                <a:solidFill>
                  <a:srgbClr val="1E293B"/>
                </a:solidFill>
              </a:rPr>
              <a:t>• w</a:t>
            </a:r>
          </a:p>
          <a:p>
            <a:pPr>
              <a:spcBef>
                <a:spcPts val="1000"/>
              </a:spcBef>
            </a:pPr>
            <a:r>
              <a:rPr sz="1650">
                <a:solidFill>
                  <a:srgbClr val="1E293B"/>
                </a:solidFill>
              </a:rPr>
              <a:t>• o</a:t>
            </a:r>
          </a:p>
          <a:p>
            <a:pPr>
              <a:spcBef>
                <a:spcPts val="1000"/>
              </a:spcBef>
            </a:pPr>
            <a:r>
              <a:rPr sz="1650">
                <a:solidFill>
                  <a:srgbClr val="1E293B"/>
                </a:solidFill>
              </a:rPr>
              <a:t>• r</a:t>
            </a:r>
          </a:p>
          <a:p>
            <a:pPr>
              <a:spcBef>
                <a:spcPts val="1000"/>
              </a:spcBef>
            </a:pPr>
            <a:r>
              <a:rPr sz="1650">
                <a:solidFill>
                  <a:srgbClr val="1E293B"/>
                </a:solidFill>
              </a:rPr>
              <a:t>• k</a:t>
            </a:r>
          </a:p>
          <a:p>
            <a:pPr>
              <a:spcBef>
                <a:spcPts val="1000"/>
              </a:spcBef>
            </a:pPr>
            <a:r>
              <a:rPr sz="1650">
                <a:solidFill>
                  <a:srgbClr val="1E293B"/>
                </a:solidFill>
              </a:rPr>
              <a:t>•  </a:t>
            </a:r>
          </a:p>
          <a:p>
            <a:pPr>
              <a:spcBef>
                <a:spcPts val="1000"/>
              </a:spcBef>
            </a:pPr>
            <a:r>
              <a:rPr sz="1650">
                <a:solidFill>
                  <a:srgbClr val="1E293B"/>
                </a:solidFill>
              </a:rPr>
              <a:t>• f</a:t>
            </a:r>
          </a:p>
          <a:p>
            <a:pPr>
              <a:spcBef>
                <a:spcPts val="1000"/>
              </a:spcBef>
            </a:pPr>
            <a:r>
              <a:rPr sz="1650">
                <a:solidFill>
                  <a:srgbClr val="1E293B"/>
                </a:solidFill>
              </a:rPr>
              <a:t>• l</a:t>
            </a:r>
          </a:p>
          <a:p>
            <a:pPr>
              <a:spcBef>
                <a:spcPts val="1000"/>
              </a:spcBef>
            </a:pPr>
            <a:r>
              <a:rPr sz="1650">
                <a:solidFill>
                  <a:srgbClr val="1E293B"/>
                </a:solidFill>
              </a:rPr>
              <a:t>• e</a:t>
            </a:r>
          </a:p>
          <a:p>
            <a:pPr>
              <a:spcBef>
                <a:spcPts val="1000"/>
              </a:spcBef>
            </a:pPr>
            <a:r>
              <a:rPr sz="1650">
                <a:solidFill>
                  <a:srgbClr val="1E293B"/>
                </a:solidFill>
              </a:rPr>
              <a:t>• x</a:t>
            </a:r>
          </a:p>
          <a:p>
            <a:pPr>
              <a:spcBef>
                <a:spcPts val="1000"/>
              </a:spcBef>
            </a:pPr>
            <a:r>
              <a:rPr sz="1650">
                <a:solidFill>
                  <a:srgbClr val="1E293B"/>
                </a:solidFill>
              </a:rPr>
              <a:t>• i</a:t>
            </a:r>
          </a:p>
          <a:p>
            <a:pPr>
              <a:spcBef>
                <a:spcPts val="1000"/>
              </a:spcBef>
            </a:pPr>
            <a:r>
              <a:rPr sz="1650">
                <a:solidFill>
                  <a:srgbClr val="1E293B"/>
                </a:solidFill>
              </a:rPr>
              <a:t>• b</a:t>
            </a:r>
          </a:p>
          <a:p>
            <a:pPr>
              <a:spcBef>
                <a:spcPts val="1000"/>
              </a:spcBef>
            </a:pPr>
            <a:r>
              <a:rPr sz="1650">
                <a:solidFill>
                  <a:srgbClr val="1E293B"/>
                </a:solidFill>
              </a:rPr>
              <a:t>• l</a:t>
            </a:r>
          </a:p>
          <a:p>
            <a:pPr>
              <a:spcBef>
                <a:spcPts val="1000"/>
              </a:spcBef>
            </a:pPr>
            <a:r>
              <a:rPr sz="1650">
                <a:solidFill>
                  <a:srgbClr val="1E293B"/>
                </a:solidFill>
              </a:rPr>
              <a:t>• e</a:t>
            </a:r>
          </a:p>
          <a:p>
            <a:pPr>
              <a:spcBef>
                <a:spcPts val="1000"/>
              </a:spcBef>
            </a:pPr>
            <a:r>
              <a:rPr sz="1650">
                <a:solidFill>
                  <a:srgbClr val="1E293B"/>
                </a:solidFill>
              </a:rPr>
              <a:t>•  </a:t>
            </a:r>
          </a:p>
          <a:p>
            <a:pPr>
              <a:spcBef>
                <a:spcPts val="1000"/>
              </a:spcBef>
            </a:pPr>
            <a:r>
              <a:rPr sz="1650">
                <a:solidFill>
                  <a:srgbClr val="1E293B"/>
                </a:solidFill>
              </a:rPr>
              <a:t>• h</a:t>
            </a:r>
          </a:p>
          <a:p>
            <a:pPr>
              <a:spcBef>
                <a:spcPts val="1000"/>
              </a:spcBef>
            </a:pPr>
            <a:r>
              <a:rPr sz="1650">
                <a:solidFill>
                  <a:srgbClr val="1E293B"/>
                </a:solidFill>
              </a:rPr>
              <a:t>• o</a:t>
            </a:r>
          </a:p>
          <a:p>
            <a:pPr>
              <a:spcBef>
                <a:spcPts val="1000"/>
              </a:spcBef>
            </a:pPr>
            <a:r>
              <a:rPr sz="1650">
                <a:solidFill>
                  <a:srgbClr val="1E293B"/>
                </a:solidFill>
              </a:rPr>
              <a:t>• u</a:t>
            </a:r>
          </a:p>
          <a:p>
            <a:pPr>
              <a:spcBef>
                <a:spcPts val="1000"/>
              </a:spcBef>
            </a:pPr>
            <a:r>
              <a:rPr sz="1650">
                <a:solidFill>
                  <a:srgbClr val="1E293B"/>
                </a:solidFill>
              </a:rPr>
              <a:t>• r</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W</a:t>
            </a:r>
          </a:p>
          <a:p>
            <a:pPr>
              <a:spcBef>
                <a:spcPts val="1000"/>
              </a:spcBef>
            </a:pPr>
            <a:r>
              <a:rPr sz="1650">
                <a:solidFill>
                  <a:srgbClr val="1E293B"/>
                </a:solidFill>
              </a:rPr>
              <a:t>• h</a:t>
            </a:r>
          </a:p>
          <a:p>
            <a:pPr>
              <a:spcBef>
                <a:spcPts val="1000"/>
              </a:spcBef>
            </a:pPr>
            <a:r>
              <a:rPr sz="1650">
                <a:solidFill>
                  <a:srgbClr val="1E293B"/>
                </a:solidFill>
              </a:rPr>
              <a:t>• a</a:t>
            </a:r>
          </a:p>
          <a:p>
            <a:pPr>
              <a:spcBef>
                <a:spcPts val="1000"/>
              </a:spcBef>
            </a:pPr>
            <a:r>
              <a:rPr sz="1650">
                <a:solidFill>
                  <a:srgbClr val="1E293B"/>
                </a:solidFill>
              </a:rPr>
              <a:t>• t</a:t>
            </a:r>
          </a:p>
          <a:p>
            <a:pPr>
              <a:spcBef>
                <a:spcPts val="1000"/>
              </a:spcBef>
            </a:pPr>
            <a:r>
              <a:rPr sz="1650">
                <a:solidFill>
                  <a:srgbClr val="1E293B"/>
                </a:solidFill>
              </a:rPr>
              <a:t>•  </a:t>
            </a:r>
          </a:p>
          <a:p>
            <a:pPr>
              <a:spcBef>
                <a:spcPts val="1000"/>
              </a:spcBef>
            </a:pPr>
            <a:r>
              <a:rPr sz="1650">
                <a:solidFill>
                  <a:srgbClr val="1E293B"/>
                </a:solidFill>
              </a:rPr>
              <a:t>• a</a:t>
            </a:r>
          </a:p>
          <a:p>
            <a:pPr>
              <a:spcBef>
                <a:spcPts val="1000"/>
              </a:spcBef>
            </a:pPr>
            <a:r>
              <a:rPr sz="1650">
                <a:solidFill>
                  <a:srgbClr val="1E293B"/>
                </a:solidFill>
              </a:rPr>
              <a:t>• r</a:t>
            </a:r>
          </a:p>
          <a:p>
            <a:pPr>
              <a:spcBef>
                <a:spcPts val="1000"/>
              </a:spcBef>
            </a:pPr>
            <a:r>
              <a:rPr sz="1650">
                <a:solidFill>
                  <a:srgbClr val="1E293B"/>
                </a:solidFill>
              </a:rPr>
              <a:t>• e</a:t>
            </a:r>
          </a:p>
          <a:p>
            <a:pPr>
              <a:spcBef>
                <a:spcPts val="1000"/>
              </a:spcBef>
            </a:pPr>
            <a:r>
              <a:rPr sz="1650">
                <a:solidFill>
                  <a:srgbClr val="1E293B"/>
                </a:solidFill>
              </a:rPr>
              <a:t>•  </a:t>
            </a:r>
          </a:p>
          <a:p>
            <a:pPr>
              <a:spcBef>
                <a:spcPts val="1000"/>
              </a:spcBef>
            </a:pPr>
            <a:r>
              <a:rPr sz="1650">
                <a:solidFill>
                  <a:srgbClr val="1E293B"/>
                </a:solidFill>
              </a:rPr>
              <a:t>• t</a:t>
            </a:r>
          </a:p>
          <a:p>
            <a:pPr>
              <a:spcBef>
                <a:spcPts val="1000"/>
              </a:spcBef>
            </a:pPr>
            <a:r>
              <a:rPr sz="1650">
                <a:solidFill>
                  <a:srgbClr val="1E293B"/>
                </a:solidFill>
              </a:rPr>
              <a:t>• h</a:t>
            </a:r>
          </a:p>
          <a:p>
            <a:pPr>
              <a:spcBef>
                <a:spcPts val="1000"/>
              </a:spcBef>
            </a:pPr>
            <a:r>
              <a:rPr sz="1650">
                <a:solidFill>
                  <a:srgbClr val="1E293B"/>
                </a:solidFill>
              </a:rPr>
              <a:t>• e</a:t>
            </a:r>
          </a:p>
          <a:p>
            <a:pPr>
              <a:spcBef>
                <a:spcPts val="1000"/>
              </a:spcBef>
            </a:pPr>
            <a:r>
              <a:rPr sz="1650">
                <a:solidFill>
                  <a:srgbClr val="1E293B"/>
                </a:solidFill>
              </a:rPr>
              <a:t>•  </a:t>
            </a:r>
          </a:p>
          <a:p>
            <a:pPr>
              <a:spcBef>
                <a:spcPts val="1000"/>
              </a:spcBef>
            </a:pPr>
            <a:r>
              <a:rPr sz="1650">
                <a:solidFill>
                  <a:srgbClr val="1E293B"/>
                </a:solidFill>
              </a:rPr>
              <a:t>• a</a:t>
            </a:r>
          </a:p>
          <a:p>
            <a:pPr>
              <a:spcBef>
                <a:spcPts val="1000"/>
              </a:spcBef>
            </a:pPr>
            <a:r>
              <a:rPr sz="1650">
                <a:solidFill>
                  <a:srgbClr val="1E293B"/>
                </a:solidFill>
              </a:rPr>
              <a:t>• d</a:t>
            </a:r>
          </a:p>
          <a:p>
            <a:pPr>
              <a:spcBef>
                <a:spcPts val="1000"/>
              </a:spcBef>
            </a:pPr>
            <a:r>
              <a:rPr sz="1650">
                <a:solidFill>
                  <a:srgbClr val="1E293B"/>
                </a:solidFill>
              </a:rPr>
              <a:t>• v</a:t>
            </a:r>
          </a:p>
          <a:p>
            <a:pPr>
              <a:spcBef>
                <a:spcPts val="1000"/>
              </a:spcBef>
            </a:pPr>
            <a:r>
              <a:rPr sz="1650">
                <a:solidFill>
                  <a:srgbClr val="1E293B"/>
                </a:solidFill>
              </a:rPr>
              <a:t>• a</a:t>
            </a:r>
          </a:p>
          <a:p>
            <a:pPr>
              <a:spcBef>
                <a:spcPts val="1000"/>
              </a:spcBef>
            </a:pPr>
            <a:r>
              <a:rPr sz="1650">
                <a:solidFill>
                  <a:srgbClr val="1E293B"/>
                </a:solidFill>
              </a:rPr>
              <a:t>• n</a:t>
            </a:r>
          </a:p>
          <a:p>
            <a:pPr>
              <a:spcBef>
                <a:spcPts val="1000"/>
              </a:spcBef>
            </a:pPr>
            <a:r>
              <a:rPr sz="1650">
                <a:solidFill>
                  <a:srgbClr val="1E293B"/>
                </a:solidFill>
              </a:rPr>
              <a:t>• t</a:t>
            </a:r>
          </a:p>
          <a:p>
            <a:pPr>
              <a:spcBef>
                <a:spcPts val="1000"/>
              </a:spcBef>
            </a:pPr>
            <a:r>
              <a:rPr sz="1650">
                <a:solidFill>
                  <a:srgbClr val="1E293B"/>
                </a:solidFill>
              </a:rPr>
              <a:t>• a</a:t>
            </a:r>
          </a:p>
          <a:p>
            <a:pPr>
              <a:spcBef>
                <a:spcPts val="1000"/>
              </a:spcBef>
            </a:pPr>
            <a:r>
              <a:rPr sz="1650">
                <a:solidFill>
                  <a:srgbClr val="1E293B"/>
                </a:solidFill>
              </a:rPr>
              <a:t>• g</a:t>
            </a:r>
          </a:p>
          <a:p>
            <a:pPr>
              <a:spcBef>
                <a:spcPts val="1000"/>
              </a:spcBef>
            </a:pPr>
            <a:r>
              <a:rPr sz="1650">
                <a:solidFill>
                  <a:srgbClr val="1E293B"/>
                </a:solidFill>
              </a:rPr>
              <a:t>• e</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a</a:t>
            </a:r>
          </a:p>
          <a:p>
            <a:pPr>
              <a:spcBef>
                <a:spcPts val="1000"/>
              </a:spcBef>
            </a:pPr>
            <a:r>
              <a:rPr sz="1650">
                <a:solidFill>
                  <a:srgbClr val="1E293B"/>
                </a:solidFill>
              </a:rPr>
              <a:t>• n</a:t>
            </a:r>
          </a:p>
          <a:p>
            <a:pPr>
              <a:spcBef>
                <a:spcPts val="1000"/>
              </a:spcBef>
            </a:pPr>
            <a:r>
              <a:rPr sz="1650">
                <a:solidFill>
                  <a:srgbClr val="1E293B"/>
                </a:solidFill>
              </a:rPr>
              <a:t>• d</a:t>
            </a:r>
          </a:p>
          <a:p>
            <a:pPr>
              <a:spcBef>
                <a:spcPts val="1000"/>
              </a:spcBef>
            </a:pPr>
            <a:r>
              <a:rPr sz="1650">
                <a:solidFill>
                  <a:srgbClr val="1E293B"/>
                </a:solidFill>
              </a:rPr>
              <a:t>•  </a:t>
            </a:r>
          </a:p>
          <a:p>
            <a:pPr>
              <a:spcBef>
                <a:spcPts val="1000"/>
              </a:spcBef>
            </a:pPr>
            <a:r>
              <a:rPr sz="1650">
                <a:solidFill>
                  <a:srgbClr val="1E293B"/>
                </a:solidFill>
              </a:rPr>
              <a:t>• d</a:t>
            </a:r>
          </a:p>
          <a:p>
            <a:pPr>
              <a:spcBef>
                <a:spcPts val="1000"/>
              </a:spcBef>
            </a:pPr>
            <a:r>
              <a:rPr sz="1650">
                <a:solidFill>
                  <a:srgbClr val="1E293B"/>
                </a:solidFill>
              </a:rPr>
              <a:t>• i</a:t>
            </a:r>
          </a:p>
          <a:p>
            <a:pPr>
              <a:spcBef>
                <a:spcPts val="1000"/>
              </a:spcBef>
            </a:pPr>
            <a:r>
              <a:rPr sz="1650">
                <a:solidFill>
                  <a:srgbClr val="1E293B"/>
                </a:solidFill>
              </a:rPr>
              <a:t>• s</a:t>
            </a:r>
          </a:p>
          <a:p>
            <a:pPr>
              <a:spcBef>
                <a:spcPts val="1000"/>
              </a:spcBef>
            </a:pPr>
            <a:r>
              <a:rPr sz="1650">
                <a:solidFill>
                  <a:srgbClr val="1E293B"/>
                </a:solidFill>
              </a:rPr>
              <a:t>• a</a:t>
            </a:r>
          </a:p>
          <a:p>
            <a:pPr>
              <a:spcBef>
                <a:spcPts val="1000"/>
              </a:spcBef>
            </a:pPr>
            <a:r>
              <a:rPr sz="1650">
                <a:solidFill>
                  <a:srgbClr val="1E293B"/>
                </a:solidFill>
              </a:rPr>
              <a:t>• d</a:t>
            </a:r>
          </a:p>
          <a:p>
            <a:pPr>
              <a:spcBef>
                <a:spcPts val="1000"/>
              </a:spcBef>
            </a:pPr>
            <a:r>
              <a:rPr sz="1650">
                <a:solidFill>
                  <a:srgbClr val="1E293B"/>
                </a:solidFill>
              </a:rPr>
              <a:t>• v</a:t>
            </a:r>
          </a:p>
          <a:p>
            <a:pPr>
              <a:spcBef>
                <a:spcPts val="1000"/>
              </a:spcBef>
            </a:pPr>
            <a:r>
              <a:rPr sz="1650">
                <a:solidFill>
                  <a:srgbClr val="1E293B"/>
                </a:solidFill>
              </a:rPr>
              <a:t>• a</a:t>
            </a:r>
          </a:p>
          <a:p>
            <a:pPr>
              <a:spcBef>
                <a:spcPts val="1000"/>
              </a:spcBef>
            </a:pPr>
            <a:r>
              <a:rPr sz="1650">
                <a:solidFill>
                  <a:srgbClr val="1E293B"/>
                </a:solidFill>
              </a:rPr>
              <a:t>• n</a:t>
            </a:r>
          </a:p>
          <a:p>
            <a:pPr>
              <a:spcBef>
                <a:spcPts val="1000"/>
              </a:spcBef>
            </a:pPr>
            <a:r>
              <a:rPr sz="1650">
                <a:solidFill>
                  <a:srgbClr val="1E293B"/>
                </a:solidFill>
              </a:rPr>
              <a:t>• t</a:t>
            </a:r>
          </a:p>
          <a:p>
            <a:pPr>
              <a:spcBef>
                <a:spcPts val="1000"/>
              </a:spcBef>
            </a:pPr>
            <a:r>
              <a:rPr sz="1650">
                <a:solidFill>
                  <a:srgbClr val="1E293B"/>
                </a:solidFill>
              </a:rPr>
              <a:t>• a</a:t>
            </a:r>
          </a:p>
          <a:p>
            <a:pPr>
              <a:spcBef>
                <a:spcPts val="1000"/>
              </a:spcBef>
            </a:pPr>
            <a:r>
              <a:rPr sz="1650">
                <a:solidFill>
                  <a:srgbClr val="1E293B"/>
                </a:solidFill>
              </a:rPr>
              <a:t>• g</a:t>
            </a:r>
          </a:p>
          <a:p>
            <a:pPr>
              <a:spcBef>
                <a:spcPts val="1000"/>
              </a:spcBef>
            </a:pPr>
            <a:r>
              <a:rPr sz="1650">
                <a:solidFill>
                  <a:srgbClr val="1E293B"/>
                </a:solidFill>
              </a:rPr>
              <a:t>• e</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o</a:t>
            </a:r>
          </a:p>
          <a:p>
            <a:pPr>
              <a:spcBef>
                <a:spcPts val="1000"/>
              </a:spcBef>
            </a:pPr>
            <a:r>
              <a:rPr sz="1650">
                <a:solidFill>
                  <a:srgbClr val="1E293B"/>
                </a:solidFill>
              </a:rPr>
              <a:t>• f</a:t>
            </a:r>
          </a:p>
          <a:p>
            <a:pPr>
              <a:spcBef>
                <a:spcPts val="1000"/>
              </a:spcBef>
            </a:pPr>
            <a:r>
              <a:rPr sz="1650">
                <a:solidFill>
                  <a:srgbClr val="1E293B"/>
                </a:solidFill>
              </a:rPr>
              <a:t>•  </a:t>
            </a:r>
          </a:p>
          <a:p>
            <a:pPr>
              <a:spcBef>
                <a:spcPts val="1000"/>
              </a:spcBef>
            </a:pPr>
            <a:r>
              <a:rPr sz="1650">
                <a:solidFill>
                  <a:srgbClr val="1E293B"/>
                </a:solidFill>
              </a:rPr>
              <a:t>• t</a:t>
            </a:r>
          </a:p>
          <a:p>
            <a:pPr>
              <a:spcBef>
                <a:spcPts val="1000"/>
              </a:spcBef>
            </a:pPr>
            <a:r>
              <a:rPr sz="1650">
                <a:solidFill>
                  <a:srgbClr val="1E293B"/>
                </a:solidFill>
              </a:rPr>
              <a:t>• h</a:t>
            </a:r>
          </a:p>
          <a:p>
            <a:pPr>
              <a:spcBef>
                <a:spcPts val="1000"/>
              </a:spcBef>
            </a:pPr>
            <a:r>
              <a:rPr sz="1650">
                <a:solidFill>
                  <a:srgbClr val="1E293B"/>
                </a:solidFill>
              </a:rPr>
              <a:t>• i</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a</a:t>
            </a:r>
          </a:p>
          <a:p>
            <a:pPr>
              <a:spcBef>
                <a:spcPts val="1000"/>
              </a:spcBef>
            </a:pPr>
            <a:r>
              <a:rPr sz="1650">
                <a:solidFill>
                  <a:srgbClr val="1E293B"/>
                </a:solidFill>
              </a:rPr>
              <a:t>• r</a:t>
            </a:r>
          </a:p>
          <a:p>
            <a:pPr>
              <a:spcBef>
                <a:spcPts val="1000"/>
              </a:spcBef>
            </a:pPr>
            <a:r>
              <a:rPr sz="1650">
                <a:solidFill>
                  <a:srgbClr val="1E293B"/>
                </a:solidFill>
              </a:rPr>
              <a:t>• r</a:t>
            </a:r>
          </a:p>
          <a:p>
            <a:pPr>
              <a:spcBef>
                <a:spcPts val="1000"/>
              </a:spcBef>
            </a:pPr>
            <a:r>
              <a:rPr sz="1650">
                <a:solidFill>
                  <a:srgbClr val="1E293B"/>
                </a:solidFill>
              </a:rPr>
              <a:t>• a</a:t>
            </a:r>
          </a:p>
          <a:p>
            <a:pPr>
              <a:spcBef>
                <a:spcPts val="1000"/>
              </a:spcBef>
            </a:pPr>
            <a:r>
              <a:rPr sz="1650">
                <a:solidFill>
                  <a:srgbClr val="1E293B"/>
                </a:solidFill>
              </a:rPr>
              <a:t>• n</a:t>
            </a:r>
          </a:p>
          <a:p>
            <a:pPr>
              <a:spcBef>
                <a:spcPts val="1000"/>
              </a:spcBef>
            </a:pPr>
            <a:r>
              <a:rPr sz="1650">
                <a:solidFill>
                  <a:srgbClr val="1E293B"/>
                </a:solidFill>
              </a:rPr>
              <a:t>• g</a:t>
            </a:r>
          </a:p>
          <a:p>
            <a:pPr>
              <a:spcBef>
                <a:spcPts val="1000"/>
              </a:spcBef>
            </a:pPr>
            <a:r>
              <a:rPr sz="1650">
                <a:solidFill>
                  <a:srgbClr val="1E293B"/>
                </a:solidFill>
              </a:rPr>
              <a:t>• e</a:t>
            </a:r>
          </a:p>
          <a:p>
            <a:pPr>
              <a:spcBef>
                <a:spcPts val="1000"/>
              </a:spcBef>
            </a:pPr>
            <a:r>
              <a:rPr sz="1650">
                <a:solidFill>
                  <a:srgbClr val="1E293B"/>
                </a:solidFill>
              </a:rPr>
              <a:t>• m</a:t>
            </a:r>
          </a:p>
          <a:p>
            <a:pPr>
              <a:spcBef>
                <a:spcPts val="1000"/>
              </a:spcBef>
            </a:pPr>
            <a:r>
              <a:rPr sz="1650">
                <a:solidFill>
                  <a:srgbClr val="1E293B"/>
                </a:solidFill>
              </a:rPr>
              <a:t>• e</a:t>
            </a:r>
          </a:p>
          <a:p>
            <a:pPr>
              <a:spcBef>
                <a:spcPts val="1000"/>
              </a:spcBef>
            </a:pPr>
            <a:r>
              <a:rPr sz="1650">
                <a:solidFill>
                  <a:srgbClr val="1E293B"/>
                </a:solidFill>
              </a:rPr>
              <a:t>• n</a:t>
            </a:r>
          </a:p>
          <a:p>
            <a:pPr>
              <a:spcBef>
                <a:spcPts val="1000"/>
              </a:spcBef>
            </a:pPr>
            <a:r>
              <a:rPr sz="1650">
                <a:solidFill>
                  <a:srgbClr val="1E293B"/>
                </a:solidFill>
              </a:rPr>
              <a:t>• t</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你</a:t>
            </a:r>
          </a:p>
          <a:p>
            <a:pPr>
              <a:spcBef>
                <a:spcPts val="1000"/>
              </a:spcBef>
            </a:pPr>
            <a:r>
              <a:rPr sz="1650">
                <a:solidFill>
                  <a:srgbClr val="1E293B"/>
                </a:solidFill>
              </a:rPr>
              <a:t>• 的</a:t>
            </a:r>
          </a:p>
          <a:p>
            <a:pPr>
              <a:spcBef>
                <a:spcPts val="1000"/>
              </a:spcBef>
            </a:pPr>
            <a:r>
              <a:rPr sz="1650">
                <a:solidFill>
                  <a:srgbClr val="1E293B"/>
                </a:solidFill>
              </a:rPr>
              <a:t>• 任</a:t>
            </a:r>
          </a:p>
          <a:p>
            <a:pPr>
              <a:spcBef>
                <a:spcPts val="1000"/>
              </a:spcBef>
            </a:pPr>
            <a:r>
              <a:rPr sz="1650">
                <a:solidFill>
                  <a:srgbClr val="1E293B"/>
                </a:solidFill>
              </a:rPr>
              <a:t>• 务</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①</a:t>
            </a:r>
          </a:p>
          <a:p>
            <a:pPr>
              <a:spcBef>
                <a:spcPts val="1000"/>
              </a:spcBef>
            </a:pPr>
            <a:r>
              <a:rPr sz="1650">
                <a:solidFill>
                  <a:srgbClr val="1E293B"/>
                </a:solidFill>
              </a:rPr>
              <a:t>•  </a:t>
            </a:r>
          </a:p>
          <a:p>
            <a:pPr>
              <a:spcBef>
                <a:spcPts val="1000"/>
              </a:spcBef>
            </a:pPr>
            <a:r>
              <a:rPr sz="1650">
                <a:solidFill>
                  <a:srgbClr val="1E293B"/>
                </a:solidFill>
              </a:rPr>
              <a:t>• 写</a:t>
            </a:r>
          </a:p>
          <a:p>
            <a:pPr>
              <a:spcBef>
                <a:spcPts val="1000"/>
              </a:spcBef>
            </a:pPr>
            <a:r>
              <a:rPr sz="1650">
                <a:solidFill>
                  <a:srgbClr val="1E293B"/>
                </a:solidFill>
              </a:rPr>
              <a:t>• 优</a:t>
            </a:r>
          </a:p>
          <a:p>
            <a:pPr>
              <a:spcBef>
                <a:spcPts val="1000"/>
              </a:spcBef>
            </a:pPr>
            <a:r>
              <a:rPr sz="1650">
                <a:solidFill>
                  <a:srgbClr val="1E293B"/>
                </a:solidFill>
              </a:rPr>
              <a:t>• 点</a:t>
            </a:r>
          </a:p>
          <a:p>
            <a:pPr>
              <a:spcBef>
                <a:spcPts val="1000"/>
              </a:spcBef>
            </a:pPr>
            <a:r>
              <a:rPr sz="1650">
                <a:solidFill>
                  <a:srgbClr val="1E293B"/>
                </a:solidFill>
              </a:rPr>
              <a:t>• 段</a:t>
            </a:r>
          </a:p>
          <a:p>
            <a:pPr>
              <a:spcBef>
                <a:spcPts val="1000"/>
              </a:spcBef>
            </a:pPr>
            <a:r>
              <a:rPr sz="1650">
                <a:solidFill>
                  <a:srgbClr val="1E293B"/>
                </a:solidFill>
              </a:rPr>
              <a:t>• 主</a:t>
            </a:r>
          </a:p>
          <a:p>
            <a:pPr>
              <a:spcBef>
                <a:spcPts val="1000"/>
              </a:spcBef>
            </a:pPr>
            <a:r>
              <a:rPr sz="1650">
                <a:solidFill>
                  <a:srgbClr val="1E293B"/>
                </a:solidFill>
              </a:rPr>
              <a:t>• 题</a:t>
            </a:r>
          </a:p>
          <a:p>
            <a:pPr>
              <a:spcBef>
                <a:spcPts val="1000"/>
              </a:spcBef>
            </a:pPr>
            <a:r>
              <a:rPr sz="1650">
                <a:solidFill>
                  <a:srgbClr val="1E293B"/>
                </a:solidFill>
              </a:rPr>
              <a:t>• 句</a:t>
            </a:r>
          </a:p>
          <a:p>
            <a:pPr>
              <a:spcBef>
                <a:spcPts val="1000"/>
              </a:spcBef>
            </a:pPr>
            <a:r>
              <a:rPr sz="1650">
                <a:solidFill>
                  <a:srgbClr val="1E293B"/>
                </a:solidFill>
              </a:rPr>
              <a:t>• （</a:t>
            </a:r>
          </a:p>
          <a:p>
            <a:pPr>
              <a:spcBef>
                <a:spcPts val="1000"/>
              </a:spcBef>
            </a:pPr>
            <a:r>
              <a:rPr sz="1650">
                <a:solidFill>
                  <a:srgbClr val="1E293B"/>
                </a:solidFill>
              </a:rPr>
              <a:t>• 1</a:t>
            </a:r>
          </a:p>
          <a:p>
            <a:pPr>
              <a:spcBef>
                <a:spcPts val="1000"/>
              </a:spcBef>
            </a:pPr>
            <a:r>
              <a:rPr sz="1650">
                <a:solidFill>
                  <a:srgbClr val="1E293B"/>
                </a:solidFill>
              </a:rPr>
              <a:t>• 句</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②</a:t>
            </a:r>
          </a:p>
          <a:p>
            <a:pPr>
              <a:spcBef>
                <a:spcPts val="1000"/>
              </a:spcBef>
            </a:pPr>
            <a:r>
              <a:rPr sz="1650">
                <a:solidFill>
                  <a:srgbClr val="1E293B"/>
                </a:solidFill>
              </a:rPr>
              <a:t>•  </a:t>
            </a:r>
          </a:p>
          <a:p>
            <a:pPr>
              <a:spcBef>
                <a:spcPts val="1000"/>
              </a:spcBef>
            </a:pPr>
            <a:r>
              <a:rPr sz="1650">
                <a:solidFill>
                  <a:srgbClr val="1E293B"/>
                </a:solidFill>
              </a:rPr>
              <a:t>• 列</a:t>
            </a:r>
          </a:p>
          <a:p>
            <a:pPr>
              <a:spcBef>
                <a:spcPts val="1000"/>
              </a:spcBef>
            </a:pPr>
            <a:r>
              <a:rPr sz="1650">
                <a:solidFill>
                  <a:srgbClr val="1E293B"/>
                </a:solidFill>
              </a:rPr>
              <a:t>• 出</a:t>
            </a:r>
          </a:p>
          <a:p>
            <a:pPr>
              <a:spcBef>
                <a:spcPts val="1000"/>
              </a:spcBef>
            </a:pPr>
            <a:r>
              <a:rPr sz="1650">
                <a:solidFill>
                  <a:srgbClr val="1E293B"/>
                </a:solidFill>
              </a:rPr>
              <a:t>• 2</a:t>
            </a:r>
          </a:p>
          <a:p>
            <a:pPr>
              <a:spcBef>
                <a:spcPts val="1000"/>
              </a:spcBef>
            </a:pPr>
            <a:r>
              <a:rPr sz="1650">
                <a:solidFill>
                  <a:srgbClr val="1E293B"/>
                </a:solidFill>
              </a:rPr>
              <a:t>• -</a:t>
            </a:r>
          </a:p>
          <a:p>
            <a:pPr>
              <a:spcBef>
                <a:spcPts val="1000"/>
              </a:spcBef>
            </a:pPr>
            <a:r>
              <a:rPr sz="1650">
                <a:solidFill>
                  <a:srgbClr val="1E293B"/>
                </a:solidFill>
              </a:rPr>
              <a:t>• 3</a:t>
            </a:r>
          </a:p>
          <a:p>
            <a:pPr>
              <a:spcBef>
                <a:spcPts val="1000"/>
              </a:spcBef>
            </a:pPr>
            <a:r>
              <a:rPr sz="1650">
                <a:solidFill>
                  <a:srgbClr val="1E293B"/>
                </a:solidFill>
              </a:rPr>
              <a:t>• 个</a:t>
            </a:r>
          </a:p>
          <a:p>
            <a:pPr>
              <a:spcBef>
                <a:spcPts val="1000"/>
              </a:spcBef>
            </a:pPr>
            <a:r>
              <a:rPr sz="1650">
                <a:solidFill>
                  <a:srgbClr val="1E293B"/>
                </a:solidFill>
              </a:rPr>
              <a:t>• 优</a:t>
            </a:r>
          </a:p>
          <a:p>
            <a:pPr>
              <a:spcBef>
                <a:spcPts val="1000"/>
              </a:spcBef>
            </a:pPr>
            <a:r>
              <a:rPr sz="1650">
                <a:solidFill>
                  <a:srgbClr val="1E293B"/>
                </a:solidFill>
              </a:rPr>
              <a:t>• 点</a:t>
            </a:r>
          </a:p>
          <a:p>
            <a:pPr>
              <a:spcBef>
                <a:spcPts val="1000"/>
              </a:spcBef>
            </a:pPr>
            <a:r>
              <a:rPr sz="1650">
                <a:solidFill>
                  <a:srgbClr val="1E293B"/>
                </a:solidFill>
              </a:rPr>
              <a:t>• （</a:t>
            </a:r>
          </a:p>
          <a:p>
            <a:pPr>
              <a:spcBef>
                <a:spcPts val="1000"/>
              </a:spcBef>
            </a:pPr>
            <a:r>
              <a:rPr sz="1650">
                <a:solidFill>
                  <a:srgbClr val="1E293B"/>
                </a:solidFill>
              </a:rPr>
              <a:t>• 关</a:t>
            </a:r>
          </a:p>
          <a:p>
            <a:pPr>
              <a:spcBef>
                <a:spcPts val="1000"/>
              </a:spcBef>
            </a:pPr>
            <a:r>
              <a:rPr sz="1650">
                <a:solidFill>
                  <a:srgbClr val="1E293B"/>
                </a:solidFill>
              </a:rPr>
              <a:t>• 键</a:t>
            </a:r>
          </a:p>
          <a:p>
            <a:pPr>
              <a:spcBef>
                <a:spcPts val="1000"/>
              </a:spcBef>
            </a:pPr>
            <a:r>
              <a:rPr sz="1650">
                <a:solidFill>
                  <a:srgbClr val="1E293B"/>
                </a:solidFill>
              </a:rPr>
              <a:t>• 词</a:t>
            </a:r>
          </a:p>
          <a:p>
            <a:pPr>
              <a:spcBef>
                <a:spcPts val="1000"/>
              </a:spcBef>
            </a:pPr>
            <a:r>
              <a:rPr sz="1650">
                <a:solidFill>
                  <a:srgbClr val="1E293B"/>
                </a:solidFill>
              </a:rPr>
              <a:t>• 即</a:t>
            </a:r>
          </a:p>
          <a:p>
            <a:pPr>
              <a:spcBef>
                <a:spcPts val="1000"/>
              </a:spcBef>
            </a:pPr>
            <a:r>
              <a:rPr sz="1650">
                <a:solidFill>
                  <a:srgbClr val="1E293B"/>
                </a:solidFill>
              </a:rPr>
              <a:t>• 可</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③</a:t>
            </a:r>
          </a:p>
          <a:p>
            <a:pPr>
              <a:spcBef>
                <a:spcPts val="1000"/>
              </a:spcBef>
            </a:pPr>
            <a:r>
              <a:rPr sz="1650">
                <a:solidFill>
                  <a:srgbClr val="1E293B"/>
                </a:solidFill>
              </a:rPr>
              <a:t>•  </a:t>
            </a:r>
          </a:p>
          <a:p>
            <a:pPr>
              <a:spcBef>
                <a:spcPts val="1000"/>
              </a:spcBef>
            </a:pPr>
            <a:r>
              <a:rPr sz="1650">
                <a:solidFill>
                  <a:srgbClr val="1E293B"/>
                </a:solidFill>
              </a:rPr>
              <a:t>• 写</a:t>
            </a:r>
          </a:p>
          <a:p>
            <a:pPr>
              <a:spcBef>
                <a:spcPts val="1000"/>
              </a:spcBef>
            </a:pPr>
            <a:r>
              <a:rPr sz="1650">
                <a:solidFill>
                  <a:srgbClr val="1E293B"/>
                </a:solidFill>
              </a:rPr>
              <a:t>• 缺</a:t>
            </a:r>
          </a:p>
          <a:p>
            <a:pPr>
              <a:spcBef>
                <a:spcPts val="1000"/>
              </a:spcBef>
            </a:pPr>
            <a:r>
              <a:rPr sz="1650">
                <a:solidFill>
                  <a:srgbClr val="1E293B"/>
                </a:solidFill>
              </a:rPr>
              <a:t>• 点</a:t>
            </a:r>
          </a:p>
          <a:p>
            <a:pPr>
              <a:spcBef>
                <a:spcPts val="1000"/>
              </a:spcBef>
            </a:pPr>
            <a:r>
              <a:rPr sz="1650">
                <a:solidFill>
                  <a:srgbClr val="1E293B"/>
                </a:solidFill>
              </a:rPr>
              <a:t>• 段</a:t>
            </a:r>
          </a:p>
          <a:p>
            <a:pPr>
              <a:spcBef>
                <a:spcPts val="1000"/>
              </a:spcBef>
            </a:pPr>
            <a:r>
              <a:rPr sz="1650">
                <a:solidFill>
                  <a:srgbClr val="1E293B"/>
                </a:solidFill>
              </a:rPr>
              <a:t>• 主</a:t>
            </a:r>
          </a:p>
          <a:p>
            <a:pPr>
              <a:spcBef>
                <a:spcPts val="1000"/>
              </a:spcBef>
            </a:pPr>
            <a:r>
              <a:rPr sz="1650">
                <a:solidFill>
                  <a:srgbClr val="1E293B"/>
                </a:solidFill>
              </a:rPr>
              <a:t>• 题</a:t>
            </a:r>
          </a:p>
          <a:p>
            <a:pPr>
              <a:spcBef>
                <a:spcPts val="1000"/>
              </a:spcBef>
            </a:pPr>
            <a:r>
              <a:rPr sz="1650">
                <a:solidFill>
                  <a:srgbClr val="1E293B"/>
                </a:solidFill>
              </a:rPr>
              <a:t>• 句</a:t>
            </a:r>
          </a:p>
          <a:p>
            <a:pPr>
              <a:spcBef>
                <a:spcPts val="1000"/>
              </a:spcBef>
            </a:pPr>
            <a:r>
              <a:rPr sz="1650">
                <a:solidFill>
                  <a:srgbClr val="1E293B"/>
                </a:solidFill>
              </a:rPr>
              <a:t>• （</a:t>
            </a:r>
          </a:p>
          <a:p>
            <a:pPr>
              <a:spcBef>
                <a:spcPts val="1000"/>
              </a:spcBef>
            </a:pPr>
            <a:r>
              <a:rPr sz="1650">
                <a:solidFill>
                  <a:srgbClr val="1E293B"/>
                </a:solidFill>
              </a:rPr>
              <a:t>• 1</a:t>
            </a:r>
          </a:p>
          <a:p>
            <a:pPr>
              <a:spcBef>
                <a:spcPts val="1000"/>
              </a:spcBef>
            </a:pPr>
            <a:r>
              <a:rPr sz="1650">
                <a:solidFill>
                  <a:srgbClr val="1E293B"/>
                </a:solidFill>
              </a:rPr>
              <a:t>• 句</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④</a:t>
            </a:r>
          </a:p>
          <a:p>
            <a:pPr>
              <a:spcBef>
                <a:spcPts val="1000"/>
              </a:spcBef>
            </a:pPr>
            <a:r>
              <a:rPr sz="1650">
                <a:solidFill>
                  <a:srgbClr val="1E293B"/>
                </a:solidFill>
              </a:rPr>
              <a:t>•  </a:t>
            </a:r>
          </a:p>
          <a:p>
            <a:pPr>
              <a:spcBef>
                <a:spcPts val="1000"/>
              </a:spcBef>
            </a:pPr>
            <a:r>
              <a:rPr sz="1650">
                <a:solidFill>
                  <a:srgbClr val="1E293B"/>
                </a:solidFill>
              </a:rPr>
              <a:t>• 列</a:t>
            </a:r>
          </a:p>
          <a:p>
            <a:pPr>
              <a:spcBef>
                <a:spcPts val="1000"/>
              </a:spcBef>
            </a:pPr>
            <a:r>
              <a:rPr sz="1650">
                <a:solidFill>
                  <a:srgbClr val="1E293B"/>
                </a:solidFill>
              </a:rPr>
              <a:t>• 出</a:t>
            </a:r>
          </a:p>
          <a:p>
            <a:pPr>
              <a:spcBef>
                <a:spcPts val="1000"/>
              </a:spcBef>
            </a:pPr>
            <a:r>
              <a:rPr sz="1650">
                <a:solidFill>
                  <a:srgbClr val="1E293B"/>
                </a:solidFill>
              </a:rPr>
              <a:t>• 2</a:t>
            </a:r>
          </a:p>
          <a:p>
            <a:pPr>
              <a:spcBef>
                <a:spcPts val="1000"/>
              </a:spcBef>
            </a:pPr>
            <a:r>
              <a:rPr sz="1650">
                <a:solidFill>
                  <a:srgbClr val="1E293B"/>
                </a:solidFill>
              </a:rPr>
              <a:t>• -</a:t>
            </a:r>
          </a:p>
          <a:p>
            <a:pPr>
              <a:spcBef>
                <a:spcPts val="1000"/>
              </a:spcBef>
            </a:pPr>
            <a:r>
              <a:rPr sz="1650">
                <a:solidFill>
                  <a:srgbClr val="1E293B"/>
                </a:solidFill>
              </a:rPr>
              <a:t>• 3</a:t>
            </a:r>
          </a:p>
          <a:p>
            <a:pPr>
              <a:spcBef>
                <a:spcPts val="1000"/>
              </a:spcBef>
            </a:pPr>
            <a:r>
              <a:rPr sz="1650">
                <a:solidFill>
                  <a:srgbClr val="1E293B"/>
                </a:solidFill>
              </a:rPr>
              <a:t>• 个</a:t>
            </a:r>
          </a:p>
          <a:p>
            <a:pPr>
              <a:spcBef>
                <a:spcPts val="1000"/>
              </a:spcBef>
            </a:pPr>
            <a:r>
              <a:rPr sz="1650">
                <a:solidFill>
                  <a:srgbClr val="1E293B"/>
                </a:solidFill>
              </a:rPr>
              <a:t>• 缺</a:t>
            </a:r>
          </a:p>
          <a:p>
            <a:pPr>
              <a:spcBef>
                <a:spcPts val="1000"/>
              </a:spcBef>
            </a:pPr>
            <a:r>
              <a:rPr sz="1650">
                <a:solidFill>
                  <a:srgbClr val="1E293B"/>
                </a:solidFill>
              </a:rPr>
              <a:t>• 点</a:t>
            </a:r>
          </a:p>
          <a:p>
            <a:pPr>
              <a:spcBef>
                <a:spcPts val="1000"/>
              </a:spcBef>
            </a:pPr>
            <a:r>
              <a:rPr sz="1650">
                <a:solidFill>
                  <a:srgbClr val="1E293B"/>
                </a:solidFill>
              </a:rPr>
              <a:t>• （</a:t>
            </a:r>
          </a:p>
          <a:p>
            <a:pPr>
              <a:spcBef>
                <a:spcPts val="1000"/>
              </a:spcBef>
            </a:pPr>
            <a:r>
              <a:rPr sz="1650">
                <a:solidFill>
                  <a:srgbClr val="1E293B"/>
                </a:solidFill>
              </a:rPr>
              <a:t>• 关</a:t>
            </a:r>
          </a:p>
          <a:p>
            <a:pPr>
              <a:spcBef>
                <a:spcPts val="1000"/>
              </a:spcBef>
            </a:pPr>
            <a:r>
              <a:rPr sz="1650">
                <a:solidFill>
                  <a:srgbClr val="1E293B"/>
                </a:solidFill>
              </a:rPr>
              <a:t>• 键</a:t>
            </a:r>
          </a:p>
          <a:p>
            <a:pPr>
              <a:spcBef>
                <a:spcPts val="1000"/>
              </a:spcBef>
            </a:pPr>
            <a:r>
              <a:rPr sz="1650">
                <a:solidFill>
                  <a:srgbClr val="1E293B"/>
                </a:solidFill>
              </a:rPr>
              <a:t>• 词</a:t>
            </a:r>
          </a:p>
          <a:p>
            <a:pPr>
              <a:spcBef>
                <a:spcPts val="1000"/>
              </a:spcBef>
            </a:pPr>
            <a:r>
              <a:rPr sz="1650">
                <a:solidFill>
                  <a:srgbClr val="1E293B"/>
                </a:solidFill>
              </a:rPr>
              <a:t>• 即</a:t>
            </a:r>
          </a:p>
          <a:p>
            <a:pPr>
              <a:spcBef>
                <a:spcPts val="1000"/>
              </a:spcBef>
            </a:pPr>
            <a:r>
              <a:rPr sz="1650">
                <a:solidFill>
                  <a:srgbClr val="1E293B"/>
                </a:solidFill>
              </a:rPr>
              <a:t>• 可</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参</a:t>
            </a:r>
          </a:p>
          <a:p>
            <a:pPr>
              <a:spcBef>
                <a:spcPts val="1000"/>
              </a:spcBef>
            </a:pPr>
            <a:r>
              <a:rPr sz="1650">
                <a:solidFill>
                  <a:srgbClr val="1E293B"/>
                </a:solidFill>
              </a:rPr>
              <a:t>• 考</a:t>
            </a:r>
          </a:p>
          <a:p>
            <a:pPr>
              <a:spcBef>
                <a:spcPts val="1000"/>
              </a:spcBef>
            </a:pPr>
            <a:r>
              <a:rPr sz="1650">
                <a:solidFill>
                  <a:srgbClr val="1E293B"/>
                </a:solidFill>
              </a:rPr>
              <a:t>• 答</a:t>
            </a:r>
          </a:p>
          <a:p>
            <a:pPr>
              <a:spcBef>
                <a:spcPts val="1000"/>
              </a:spcBef>
            </a:pPr>
            <a:r>
              <a:rPr sz="1650">
                <a:solidFill>
                  <a:srgbClr val="1E293B"/>
                </a:solidFill>
              </a:rPr>
              <a:t>• 案</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优</a:t>
            </a:r>
          </a:p>
          <a:p>
            <a:pPr>
              <a:spcBef>
                <a:spcPts val="1000"/>
              </a:spcBef>
            </a:pPr>
            <a:r>
              <a:rPr sz="1650">
                <a:solidFill>
                  <a:srgbClr val="1E293B"/>
                </a:solidFill>
              </a:rPr>
              <a:t>• 点</a:t>
            </a:r>
          </a:p>
          <a:p>
            <a:pPr>
              <a:spcBef>
                <a:spcPts val="1000"/>
              </a:spcBef>
            </a:pPr>
            <a:r>
              <a:rPr sz="1650">
                <a:solidFill>
                  <a:srgbClr val="1E293B"/>
                </a:solidFill>
              </a:rPr>
              <a:t>• T</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F</a:t>
            </a:r>
          </a:p>
          <a:p>
            <a:pPr>
              <a:spcBef>
                <a:spcPts val="1000"/>
              </a:spcBef>
            </a:pPr>
            <a:r>
              <a:rPr sz="1650">
                <a:solidFill>
                  <a:srgbClr val="1E293B"/>
                </a:solidFill>
              </a:rPr>
              <a:t>• l</a:t>
            </a:r>
          </a:p>
          <a:p>
            <a:pPr>
              <a:spcBef>
                <a:spcPts val="1000"/>
              </a:spcBef>
            </a:pPr>
            <a:r>
              <a:rPr sz="1650">
                <a:solidFill>
                  <a:srgbClr val="1E293B"/>
                </a:solidFill>
              </a:rPr>
              <a:t>• e</a:t>
            </a:r>
          </a:p>
          <a:p>
            <a:pPr>
              <a:spcBef>
                <a:spcPts val="1000"/>
              </a:spcBef>
            </a:pPr>
            <a:r>
              <a:rPr sz="1650">
                <a:solidFill>
                  <a:srgbClr val="1E293B"/>
                </a:solidFill>
              </a:rPr>
              <a:t>• x</a:t>
            </a:r>
          </a:p>
          <a:p>
            <a:pPr>
              <a:spcBef>
                <a:spcPts val="1000"/>
              </a:spcBef>
            </a:pPr>
            <a:r>
              <a:rPr sz="1650">
                <a:solidFill>
                  <a:srgbClr val="1E293B"/>
                </a:solidFill>
              </a:rPr>
              <a:t>• i</a:t>
            </a:r>
          </a:p>
          <a:p>
            <a:pPr>
              <a:spcBef>
                <a:spcPts val="1000"/>
              </a:spcBef>
            </a:pPr>
            <a:r>
              <a:rPr sz="1650">
                <a:solidFill>
                  <a:srgbClr val="1E293B"/>
                </a:solidFill>
              </a:rPr>
              <a:t>• b</a:t>
            </a:r>
          </a:p>
          <a:p>
            <a:pPr>
              <a:spcBef>
                <a:spcPts val="1000"/>
              </a:spcBef>
            </a:pPr>
            <a:r>
              <a:rPr sz="1650">
                <a:solidFill>
                  <a:srgbClr val="1E293B"/>
                </a:solidFill>
              </a:rPr>
              <a:t>• l</a:t>
            </a:r>
          </a:p>
          <a:p>
            <a:pPr>
              <a:spcBef>
                <a:spcPts val="1000"/>
              </a:spcBef>
            </a:pPr>
            <a:r>
              <a:rPr sz="1650">
                <a:solidFill>
                  <a:srgbClr val="1E293B"/>
                </a:solidFill>
              </a:rPr>
              <a:t>• e</a:t>
            </a:r>
          </a:p>
          <a:p>
            <a:pPr>
              <a:spcBef>
                <a:spcPts val="1000"/>
              </a:spcBef>
            </a:pPr>
            <a:r>
              <a:rPr sz="1650">
                <a:solidFill>
                  <a:srgbClr val="1E293B"/>
                </a:solidFill>
              </a:rPr>
              <a:t>•  </a:t>
            </a:r>
          </a:p>
          <a:p>
            <a:pPr>
              <a:spcBef>
                <a:spcPts val="1000"/>
              </a:spcBef>
            </a:pPr>
            <a:r>
              <a:rPr sz="1650">
                <a:solidFill>
                  <a:srgbClr val="1E293B"/>
                </a:solidFill>
              </a:rPr>
              <a:t>• w</a:t>
            </a:r>
          </a:p>
          <a:p>
            <a:pPr>
              <a:spcBef>
                <a:spcPts val="1000"/>
              </a:spcBef>
            </a:pPr>
            <a:r>
              <a:rPr sz="1650">
                <a:solidFill>
                  <a:srgbClr val="1E293B"/>
                </a:solidFill>
              </a:rPr>
              <a:t>• o</a:t>
            </a:r>
          </a:p>
          <a:p>
            <a:pPr>
              <a:spcBef>
                <a:spcPts val="1000"/>
              </a:spcBef>
            </a:pPr>
            <a:r>
              <a:rPr sz="1650">
                <a:solidFill>
                  <a:srgbClr val="1E293B"/>
                </a:solidFill>
              </a:rPr>
              <a:t>• r</a:t>
            </a:r>
          </a:p>
          <a:p>
            <a:pPr>
              <a:spcBef>
                <a:spcPts val="1000"/>
              </a:spcBef>
            </a:pPr>
            <a:r>
              <a:rPr sz="1650">
                <a:solidFill>
                  <a:srgbClr val="1E293B"/>
                </a:solidFill>
              </a:rPr>
              <a:t>• k</a:t>
            </a:r>
          </a:p>
          <a:p>
            <a:pPr>
              <a:spcBef>
                <a:spcPts val="1000"/>
              </a:spcBef>
            </a:pPr>
            <a:r>
              <a:rPr sz="1650">
                <a:solidFill>
                  <a:srgbClr val="1E293B"/>
                </a:solidFill>
              </a:rPr>
              <a:t>• i</a:t>
            </a:r>
          </a:p>
          <a:p>
            <a:pPr>
              <a:spcBef>
                <a:spcPts val="1000"/>
              </a:spcBef>
            </a:pPr>
            <a:r>
              <a:rPr sz="1650">
                <a:solidFill>
                  <a:srgbClr val="1E293B"/>
                </a:solidFill>
              </a:rPr>
              <a:t>• n</a:t>
            </a:r>
          </a:p>
          <a:p>
            <a:pPr>
              <a:spcBef>
                <a:spcPts val="1000"/>
              </a:spcBef>
            </a:pPr>
            <a:r>
              <a:rPr sz="1650">
                <a:solidFill>
                  <a:srgbClr val="1E293B"/>
                </a:solidFill>
              </a:rPr>
              <a:t>• g</a:t>
            </a:r>
          </a:p>
          <a:p>
            <a:pPr>
              <a:spcBef>
                <a:spcPts val="1000"/>
              </a:spcBef>
            </a:pPr>
            <a:r>
              <a:rPr sz="1650">
                <a:solidFill>
                  <a:srgbClr val="1E293B"/>
                </a:solidFill>
              </a:rPr>
              <a:t>•  </a:t>
            </a:r>
          </a:p>
          <a:p>
            <a:pPr>
              <a:spcBef>
                <a:spcPts val="1000"/>
              </a:spcBef>
            </a:pPr>
            <a:r>
              <a:rPr sz="1650">
                <a:solidFill>
                  <a:srgbClr val="1E293B"/>
                </a:solidFill>
              </a:rPr>
              <a:t>• a</a:t>
            </a:r>
          </a:p>
          <a:p>
            <a:pPr>
              <a:spcBef>
                <a:spcPts val="1000"/>
              </a:spcBef>
            </a:pPr>
            <a:r>
              <a:rPr sz="1650">
                <a:solidFill>
                  <a:srgbClr val="1E293B"/>
                </a:solidFill>
              </a:rPr>
              <a:t>• r</a:t>
            </a:r>
          </a:p>
          <a:p>
            <a:pPr>
              <a:spcBef>
                <a:spcPts val="1000"/>
              </a:spcBef>
            </a:pPr>
            <a:r>
              <a:rPr sz="1650">
                <a:solidFill>
                  <a:srgbClr val="1E293B"/>
                </a:solidFill>
              </a:rPr>
              <a:t>• r</a:t>
            </a:r>
          </a:p>
          <a:p>
            <a:pPr>
              <a:spcBef>
                <a:spcPts val="1000"/>
              </a:spcBef>
            </a:pPr>
            <a:r>
              <a:rPr sz="1650">
                <a:solidFill>
                  <a:srgbClr val="1E293B"/>
                </a:solidFill>
              </a:rPr>
              <a:t>• a</a:t>
            </a:r>
          </a:p>
          <a:p>
            <a:pPr>
              <a:spcBef>
                <a:spcPts val="1000"/>
              </a:spcBef>
            </a:pPr>
            <a:r>
              <a:rPr sz="1650">
                <a:solidFill>
                  <a:srgbClr val="1E293B"/>
                </a:solidFill>
              </a:rPr>
              <a:t>• n</a:t>
            </a:r>
          </a:p>
          <a:p>
            <a:pPr>
              <a:spcBef>
                <a:spcPts val="1000"/>
              </a:spcBef>
            </a:pPr>
            <a:r>
              <a:rPr sz="1650">
                <a:solidFill>
                  <a:srgbClr val="1E293B"/>
                </a:solidFill>
              </a:rPr>
              <a:t>• g</a:t>
            </a:r>
          </a:p>
          <a:p>
            <a:pPr>
              <a:spcBef>
                <a:spcPts val="1000"/>
              </a:spcBef>
            </a:pPr>
            <a:r>
              <a:rPr sz="1650">
                <a:solidFill>
                  <a:srgbClr val="1E293B"/>
                </a:solidFill>
              </a:rPr>
              <a:t>• e</a:t>
            </a:r>
          </a:p>
          <a:p>
            <a:pPr>
              <a:spcBef>
                <a:spcPts val="1000"/>
              </a:spcBef>
            </a:pPr>
            <a:r>
              <a:rPr sz="1650">
                <a:solidFill>
                  <a:srgbClr val="1E293B"/>
                </a:solidFill>
              </a:rPr>
              <a:t>• m</a:t>
            </a:r>
          </a:p>
          <a:p>
            <a:pPr>
              <a:spcBef>
                <a:spcPts val="1000"/>
              </a:spcBef>
            </a:pPr>
            <a:r>
              <a:rPr sz="1650">
                <a:solidFill>
                  <a:srgbClr val="1E293B"/>
                </a:solidFill>
              </a:rPr>
              <a:t>• e</a:t>
            </a:r>
          </a:p>
          <a:p>
            <a:pPr>
              <a:spcBef>
                <a:spcPts val="1000"/>
              </a:spcBef>
            </a:pPr>
            <a:r>
              <a:rPr sz="1650">
                <a:solidFill>
                  <a:srgbClr val="1E293B"/>
                </a:solidFill>
              </a:rPr>
              <a:t>• n</a:t>
            </a:r>
          </a:p>
          <a:p>
            <a:pPr>
              <a:spcBef>
                <a:spcPts val="1000"/>
              </a:spcBef>
            </a:pPr>
            <a:r>
              <a:rPr sz="1650">
                <a:solidFill>
                  <a:srgbClr val="1E293B"/>
                </a:solidFill>
              </a:rPr>
              <a:t>• t</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o</a:t>
            </a:r>
          </a:p>
          <a:p>
            <a:pPr>
              <a:spcBef>
                <a:spcPts val="1000"/>
              </a:spcBef>
            </a:pPr>
            <a:r>
              <a:rPr sz="1650">
                <a:solidFill>
                  <a:srgbClr val="1E293B"/>
                </a:solidFill>
              </a:rPr>
              <a:t>• f</a:t>
            </a:r>
          </a:p>
          <a:p>
            <a:pPr>
              <a:spcBef>
                <a:spcPts val="1000"/>
              </a:spcBef>
            </a:pPr>
            <a:r>
              <a:rPr sz="1650">
                <a:solidFill>
                  <a:srgbClr val="1E293B"/>
                </a:solidFill>
              </a:rPr>
              <a:t>• f</a:t>
            </a:r>
          </a:p>
          <a:p>
            <a:pPr>
              <a:spcBef>
                <a:spcPts val="1000"/>
              </a:spcBef>
            </a:pPr>
            <a:r>
              <a:rPr sz="1650">
                <a:solidFill>
                  <a:srgbClr val="1E293B"/>
                </a:solidFill>
              </a:rPr>
              <a:t>• e</a:t>
            </a:r>
          </a:p>
          <a:p>
            <a:pPr>
              <a:spcBef>
                <a:spcPts val="1000"/>
              </a:spcBef>
            </a:pPr>
            <a:r>
              <a:rPr sz="1650">
                <a:solidFill>
                  <a:srgbClr val="1E293B"/>
                </a:solidFill>
              </a:rPr>
              <a:t>• r</a:t>
            </a:r>
          </a:p>
          <a:p>
            <a:pPr>
              <a:spcBef>
                <a:spcPts val="1000"/>
              </a:spcBef>
            </a:pPr>
            <a:r>
              <a:rPr sz="1650">
                <a:solidFill>
                  <a:srgbClr val="1E293B"/>
                </a:solidFill>
              </a:rPr>
              <a:t>•  </a:t>
            </a:r>
          </a:p>
          <a:p>
            <a:pPr>
              <a:spcBef>
                <a:spcPts val="1000"/>
              </a:spcBef>
            </a:pPr>
            <a:r>
              <a:rPr sz="1650">
                <a:solidFill>
                  <a:srgbClr val="1E293B"/>
                </a:solidFill>
              </a:rPr>
              <a:t>• e</a:t>
            </a:r>
          </a:p>
          <a:p>
            <a:pPr>
              <a:spcBef>
                <a:spcPts val="1000"/>
              </a:spcBef>
            </a:pPr>
            <a:r>
              <a:rPr sz="1650">
                <a:solidFill>
                  <a:srgbClr val="1E293B"/>
                </a:solidFill>
              </a:rPr>
              <a:t>• m</a:t>
            </a:r>
          </a:p>
          <a:p>
            <a:pPr>
              <a:spcBef>
                <a:spcPts val="1000"/>
              </a:spcBef>
            </a:pPr>
            <a:r>
              <a:rPr sz="1650">
                <a:solidFill>
                  <a:srgbClr val="1E293B"/>
                </a:solidFill>
              </a:rPr>
              <a:t>• p</a:t>
            </a:r>
          </a:p>
          <a:p>
            <a:pPr>
              <a:spcBef>
                <a:spcPts val="1000"/>
              </a:spcBef>
            </a:pPr>
            <a:r>
              <a:rPr sz="1650">
                <a:solidFill>
                  <a:srgbClr val="1E293B"/>
                </a:solidFill>
              </a:rPr>
              <a:t>• l</a:t>
            </a:r>
          </a:p>
          <a:p>
            <a:pPr>
              <a:spcBef>
                <a:spcPts val="1000"/>
              </a:spcBef>
            </a:pPr>
            <a:r>
              <a:rPr sz="1650">
                <a:solidFill>
                  <a:srgbClr val="1E293B"/>
                </a:solidFill>
              </a:rPr>
              <a:t>• o</a:t>
            </a:r>
          </a:p>
          <a:p>
            <a:pPr>
              <a:spcBef>
                <a:spcPts val="1000"/>
              </a:spcBef>
            </a:pPr>
            <a:r>
              <a:rPr sz="1650">
                <a:solidFill>
                  <a:srgbClr val="1E293B"/>
                </a:solidFill>
              </a:rPr>
              <a:t>• y</a:t>
            </a:r>
          </a:p>
          <a:p>
            <a:pPr>
              <a:spcBef>
                <a:spcPts val="1000"/>
              </a:spcBef>
            </a:pPr>
            <a:r>
              <a:rPr sz="1650">
                <a:solidFill>
                  <a:srgbClr val="1E293B"/>
                </a:solidFill>
              </a:rPr>
              <a:t>• e</a:t>
            </a:r>
          </a:p>
          <a:p>
            <a:pPr>
              <a:spcBef>
                <a:spcPts val="1000"/>
              </a:spcBef>
            </a:pPr>
            <a:r>
              <a:rPr sz="1650">
                <a:solidFill>
                  <a:srgbClr val="1E293B"/>
                </a:solidFill>
              </a:rPr>
              <a:t>• e</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a</a:t>
            </a:r>
          </a:p>
          <a:p>
            <a:pPr>
              <a:spcBef>
                <a:spcPts val="1000"/>
              </a:spcBef>
            </a:pPr>
            <a:r>
              <a:rPr sz="1650">
                <a:solidFill>
                  <a:srgbClr val="1E293B"/>
                </a:solidFill>
              </a:rPr>
              <a:t>•  </a:t>
            </a:r>
          </a:p>
          <a:p>
            <a:pPr>
              <a:spcBef>
                <a:spcPts val="1000"/>
              </a:spcBef>
            </a:pPr>
            <a:r>
              <a:rPr sz="1650">
                <a:solidFill>
                  <a:srgbClr val="1E293B"/>
                </a:solidFill>
              </a:rPr>
              <a:t>• r</a:t>
            </a:r>
          </a:p>
          <a:p>
            <a:pPr>
              <a:spcBef>
                <a:spcPts val="1000"/>
              </a:spcBef>
            </a:pPr>
            <a:r>
              <a:rPr sz="1650">
                <a:solidFill>
                  <a:srgbClr val="1E293B"/>
                </a:solidFill>
              </a:rPr>
              <a:t>• a</a:t>
            </a:r>
          </a:p>
          <a:p>
            <a:pPr>
              <a:spcBef>
                <a:spcPts val="1000"/>
              </a:spcBef>
            </a:pPr>
            <a:r>
              <a:rPr sz="1650">
                <a:solidFill>
                  <a:srgbClr val="1E293B"/>
                </a:solidFill>
              </a:rPr>
              <a:t>• n</a:t>
            </a:r>
          </a:p>
          <a:p>
            <a:pPr>
              <a:spcBef>
                <a:spcPts val="1000"/>
              </a:spcBef>
            </a:pPr>
            <a:r>
              <a:rPr sz="1650">
                <a:solidFill>
                  <a:srgbClr val="1E293B"/>
                </a:solidFill>
              </a:rPr>
              <a:t>• g</a:t>
            </a:r>
          </a:p>
          <a:p>
            <a:pPr>
              <a:spcBef>
                <a:spcPts val="1000"/>
              </a:spcBef>
            </a:pPr>
            <a:r>
              <a:rPr sz="1650">
                <a:solidFill>
                  <a:srgbClr val="1E293B"/>
                </a:solidFill>
              </a:rPr>
              <a:t>• e</a:t>
            </a:r>
          </a:p>
          <a:p>
            <a:pPr>
              <a:spcBef>
                <a:spcPts val="1000"/>
              </a:spcBef>
            </a:pPr>
            <a:r>
              <a:rPr sz="1650">
                <a:solidFill>
                  <a:srgbClr val="1E293B"/>
                </a:solidFill>
              </a:rPr>
              <a:t>•  </a:t>
            </a:r>
          </a:p>
          <a:p>
            <a:pPr>
              <a:spcBef>
                <a:spcPts val="1000"/>
              </a:spcBef>
            </a:pPr>
            <a:r>
              <a:rPr sz="1650">
                <a:solidFill>
                  <a:srgbClr val="1E293B"/>
                </a:solidFill>
              </a:rPr>
              <a:t>• o</a:t>
            </a:r>
          </a:p>
          <a:p>
            <a:pPr>
              <a:spcBef>
                <a:spcPts val="1000"/>
              </a:spcBef>
            </a:pPr>
            <a:r>
              <a:rPr sz="1650">
                <a:solidFill>
                  <a:srgbClr val="1E293B"/>
                </a:solidFill>
              </a:rPr>
              <a:t>• f</a:t>
            </a:r>
          </a:p>
          <a:p>
            <a:pPr>
              <a:spcBef>
                <a:spcPts val="1000"/>
              </a:spcBef>
            </a:pPr>
            <a:r>
              <a:rPr sz="1650">
                <a:solidFill>
                  <a:srgbClr val="1E293B"/>
                </a:solidFill>
              </a:rPr>
              <a:t>•  </a:t>
            </a:r>
          </a:p>
          <a:p>
            <a:pPr>
              <a:spcBef>
                <a:spcPts val="1000"/>
              </a:spcBef>
            </a:pPr>
            <a:r>
              <a:rPr sz="1650">
                <a:solidFill>
                  <a:srgbClr val="1E293B"/>
                </a:solidFill>
              </a:rPr>
              <a:t>• b</a:t>
            </a:r>
          </a:p>
          <a:p>
            <a:pPr>
              <a:spcBef>
                <a:spcPts val="1000"/>
              </a:spcBef>
            </a:pPr>
            <a:r>
              <a:rPr sz="1650">
                <a:solidFill>
                  <a:srgbClr val="1E293B"/>
                </a:solidFill>
              </a:rPr>
              <a:t>• e</a:t>
            </a:r>
          </a:p>
          <a:p>
            <a:pPr>
              <a:spcBef>
                <a:spcPts val="1000"/>
              </a:spcBef>
            </a:pPr>
            <a:r>
              <a:rPr sz="1650">
                <a:solidFill>
                  <a:srgbClr val="1E293B"/>
                </a:solidFill>
              </a:rPr>
              <a:t>• n</a:t>
            </a:r>
          </a:p>
          <a:p>
            <a:pPr>
              <a:spcBef>
                <a:spcPts val="1000"/>
              </a:spcBef>
            </a:pPr>
            <a:r>
              <a:rPr sz="1650">
                <a:solidFill>
                  <a:srgbClr val="1E293B"/>
                </a:solidFill>
              </a:rPr>
              <a:t>• e</a:t>
            </a:r>
          </a:p>
          <a:p>
            <a:pPr>
              <a:spcBef>
                <a:spcPts val="1000"/>
              </a:spcBef>
            </a:pPr>
            <a:r>
              <a:rPr sz="1650">
                <a:solidFill>
                  <a:srgbClr val="1E293B"/>
                </a:solidFill>
              </a:rPr>
              <a:t>• f</a:t>
            </a:r>
          </a:p>
          <a:p>
            <a:pPr>
              <a:spcBef>
                <a:spcPts val="1000"/>
              </a:spcBef>
            </a:pPr>
            <a:r>
              <a:rPr sz="1650">
                <a:solidFill>
                  <a:srgbClr val="1E293B"/>
                </a:solidFill>
              </a:rPr>
              <a:t>• i</a:t>
            </a:r>
          </a:p>
          <a:p>
            <a:pPr>
              <a:spcBef>
                <a:spcPts val="1000"/>
              </a:spcBef>
            </a:pPr>
            <a:r>
              <a:rPr sz="1650">
                <a:solidFill>
                  <a:srgbClr val="1E293B"/>
                </a:solidFill>
              </a:rPr>
              <a:t>• t</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p</a:t>
            </a:r>
          </a:p>
          <a:p>
            <a:pPr>
              <a:spcBef>
                <a:spcPts val="1000"/>
              </a:spcBef>
            </a:pPr>
            <a:r>
              <a:rPr sz="1650">
                <a:solidFill>
                  <a:srgbClr val="1E293B"/>
                </a:solidFill>
              </a:rPr>
              <a:t>• a</a:t>
            </a:r>
          </a:p>
          <a:p>
            <a:pPr>
              <a:spcBef>
                <a:spcPts val="1000"/>
              </a:spcBef>
            </a:pPr>
            <a:r>
              <a:rPr sz="1650">
                <a:solidFill>
                  <a:srgbClr val="1E293B"/>
                </a:solidFill>
              </a:rPr>
              <a:t>• r</a:t>
            </a:r>
          </a:p>
          <a:p>
            <a:pPr>
              <a:spcBef>
                <a:spcPts val="1000"/>
              </a:spcBef>
            </a:pPr>
            <a:r>
              <a:rPr sz="1650">
                <a:solidFill>
                  <a:srgbClr val="1E293B"/>
                </a:solidFill>
              </a:rPr>
              <a:t>• t</a:t>
            </a:r>
          </a:p>
          <a:p>
            <a:pPr>
              <a:spcBef>
                <a:spcPts val="1000"/>
              </a:spcBef>
            </a:pPr>
            <a:r>
              <a:rPr sz="1650">
                <a:solidFill>
                  <a:srgbClr val="1E293B"/>
                </a:solidFill>
              </a:rPr>
              <a:t>• i</a:t>
            </a:r>
          </a:p>
          <a:p>
            <a:pPr>
              <a:spcBef>
                <a:spcPts val="1000"/>
              </a:spcBef>
            </a:pPr>
            <a:r>
              <a:rPr sz="1650">
                <a:solidFill>
                  <a:srgbClr val="1E293B"/>
                </a:solidFill>
              </a:rPr>
              <a:t>• c</a:t>
            </a:r>
          </a:p>
          <a:p>
            <a:pPr>
              <a:spcBef>
                <a:spcPts val="1000"/>
              </a:spcBef>
            </a:pPr>
            <a:r>
              <a:rPr sz="1650">
                <a:solidFill>
                  <a:srgbClr val="1E293B"/>
                </a:solidFill>
              </a:rPr>
              <a:t>• u</a:t>
            </a:r>
          </a:p>
          <a:p>
            <a:pPr>
              <a:spcBef>
                <a:spcPts val="1000"/>
              </a:spcBef>
            </a:pPr>
            <a:r>
              <a:rPr sz="1650">
                <a:solidFill>
                  <a:srgbClr val="1E293B"/>
                </a:solidFill>
              </a:rPr>
              <a:t>• l</a:t>
            </a:r>
          </a:p>
          <a:p>
            <a:pPr>
              <a:spcBef>
                <a:spcPts val="1000"/>
              </a:spcBef>
            </a:pPr>
            <a:r>
              <a:rPr sz="1650">
                <a:solidFill>
                  <a:srgbClr val="1E293B"/>
                </a:solidFill>
              </a:rPr>
              <a:t>• a</a:t>
            </a:r>
          </a:p>
          <a:p>
            <a:pPr>
              <a:spcBef>
                <a:spcPts val="1000"/>
              </a:spcBef>
            </a:pPr>
            <a:r>
              <a:rPr sz="1650">
                <a:solidFill>
                  <a:srgbClr val="1E293B"/>
                </a:solidFill>
              </a:rPr>
              <a:t>• r</a:t>
            </a:r>
          </a:p>
          <a:p>
            <a:pPr>
              <a:spcBef>
                <a:spcPts val="1000"/>
              </a:spcBef>
            </a:pPr>
            <a:r>
              <a:rPr sz="1650">
                <a:solidFill>
                  <a:srgbClr val="1E293B"/>
                </a:solidFill>
              </a:rPr>
              <a:t>• l</a:t>
            </a:r>
          </a:p>
          <a:p>
            <a:pPr>
              <a:spcBef>
                <a:spcPts val="1000"/>
              </a:spcBef>
            </a:pPr>
            <a:r>
              <a:rPr sz="1650">
                <a:solidFill>
                  <a:srgbClr val="1E293B"/>
                </a:solidFill>
              </a:rPr>
              <a:t>• y</a:t>
            </a:r>
          </a:p>
          <a:p>
            <a:pPr>
              <a:spcBef>
                <a:spcPts val="1000"/>
              </a:spcBef>
            </a:pPr>
            <a:r>
              <a:rPr sz="1650">
                <a:solidFill>
                  <a:srgbClr val="1E293B"/>
                </a:solidFill>
              </a:rPr>
              <a:t>•  </a:t>
            </a:r>
          </a:p>
          <a:p>
            <a:pPr>
              <a:spcBef>
                <a:spcPts val="1000"/>
              </a:spcBef>
            </a:pPr>
            <a:r>
              <a:rPr sz="1650">
                <a:solidFill>
                  <a:srgbClr val="1E293B"/>
                </a:solidFill>
              </a:rPr>
              <a:t>• r</a:t>
            </a:r>
          </a:p>
          <a:p>
            <a:pPr>
              <a:spcBef>
                <a:spcPts val="1000"/>
              </a:spcBef>
            </a:pPr>
            <a:r>
              <a:rPr sz="1650">
                <a:solidFill>
                  <a:srgbClr val="1E293B"/>
                </a:solidFill>
              </a:rPr>
              <a:t>• e</a:t>
            </a:r>
          </a:p>
          <a:p>
            <a:pPr>
              <a:spcBef>
                <a:spcPts val="1000"/>
              </a:spcBef>
            </a:pPr>
            <a:r>
              <a:rPr sz="1650">
                <a:solidFill>
                  <a:srgbClr val="1E293B"/>
                </a:solidFill>
              </a:rPr>
              <a:t>• g</a:t>
            </a:r>
          </a:p>
          <a:p>
            <a:pPr>
              <a:spcBef>
                <a:spcPts val="1000"/>
              </a:spcBef>
            </a:pPr>
            <a:r>
              <a:rPr sz="1650">
                <a:solidFill>
                  <a:srgbClr val="1E293B"/>
                </a:solidFill>
              </a:rPr>
              <a:t>• a</a:t>
            </a:r>
          </a:p>
          <a:p>
            <a:pPr>
              <a:spcBef>
                <a:spcPts val="1000"/>
              </a:spcBef>
            </a:pPr>
            <a:r>
              <a:rPr sz="1650">
                <a:solidFill>
                  <a:srgbClr val="1E293B"/>
                </a:solidFill>
              </a:rPr>
              <a:t>• r</a:t>
            </a:r>
          </a:p>
          <a:p>
            <a:pPr>
              <a:spcBef>
                <a:spcPts val="1000"/>
              </a:spcBef>
            </a:pPr>
            <a:r>
              <a:rPr sz="1650">
                <a:solidFill>
                  <a:srgbClr val="1E293B"/>
                </a:solidFill>
              </a:rPr>
              <a:t>• d</a:t>
            </a:r>
          </a:p>
          <a:p>
            <a:pPr>
              <a:spcBef>
                <a:spcPts val="1000"/>
              </a:spcBef>
            </a:pPr>
            <a:r>
              <a:rPr sz="1650">
                <a:solidFill>
                  <a:srgbClr val="1E293B"/>
                </a:solidFill>
              </a:rPr>
              <a:t>• i</a:t>
            </a:r>
          </a:p>
          <a:p>
            <a:pPr>
              <a:spcBef>
                <a:spcPts val="1000"/>
              </a:spcBef>
            </a:pPr>
            <a:r>
              <a:rPr sz="1650">
                <a:solidFill>
                  <a:srgbClr val="1E293B"/>
                </a:solidFill>
              </a:rPr>
              <a:t>• n</a:t>
            </a:r>
          </a:p>
          <a:p>
            <a:pPr>
              <a:spcBef>
                <a:spcPts val="1000"/>
              </a:spcBef>
            </a:pPr>
            <a:r>
              <a:rPr sz="1650">
                <a:solidFill>
                  <a:srgbClr val="1E293B"/>
                </a:solidFill>
              </a:rPr>
              <a:t>• g</a:t>
            </a:r>
          </a:p>
          <a:p>
            <a:pPr>
              <a:spcBef>
                <a:spcPts val="1000"/>
              </a:spcBef>
            </a:pPr>
            <a:r>
              <a:rPr sz="1650">
                <a:solidFill>
                  <a:srgbClr val="1E293B"/>
                </a:solidFill>
              </a:rPr>
              <a:t>•  </a:t>
            </a:r>
          </a:p>
          <a:p>
            <a:pPr>
              <a:spcBef>
                <a:spcPts val="1000"/>
              </a:spcBef>
            </a:pPr>
            <a:r>
              <a:rPr sz="1650">
                <a:solidFill>
                  <a:srgbClr val="1E293B"/>
                </a:solidFill>
              </a:rPr>
              <a:t>• w</a:t>
            </a:r>
          </a:p>
          <a:p>
            <a:pPr>
              <a:spcBef>
                <a:spcPts val="1000"/>
              </a:spcBef>
            </a:pPr>
            <a:r>
              <a:rPr sz="1650">
                <a:solidFill>
                  <a:srgbClr val="1E293B"/>
                </a:solidFill>
              </a:rPr>
              <a:t>• o</a:t>
            </a:r>
          </a:p>
          <a:p>
            <a:pPr>
              <a:spcBef>
                <a:spcPts val="1000"/>
              </a:spcBef>
            </a:pPr>
            <a:r>
              <a:rPr sz="1650">
                <a:solidFill>
                  <a:srgbClr val="1E293B"/>
                </a:solidFill>
              </a:rPr>
              <a:t>• r</a:t>
            </a:r>
          </a:p>
          <a:p>
            <a:pPr>
              <a:spcBef>
                <a:spcPts val="1000"/>
              </a:spcBef>
            </a:pPr>
            <a:r>
              <a:rPr sz="1650">
                <a:solidFill>
                  <a:srgbClr val="1E293B"/>
                </a:solidFill>
              </a:rPr>
              <a:t>• k</a:t>
            </a:r>
          </a:p>
          <a:p>
            <a:pPr>
              <a:spcBef>
                <a:spcPts val="1000"/>
              </a:spcBef>
            </a:pPr>
            <a:r>
              <a:rPr sz="1650">
                <a:solidFill>
                  <a:srgbClr val="1E293B"/>
                </a:solidFill>
              </a:rPr>
              <a:t>• -</a:t>
            </a:r>
          </a:p>
          <a:p>
            <a:pPr>
              <a:spcBef>
                <a:spcPts val="1000"/>
              </a:spcBef>
            </a:pPr>
            <a:r>
              <a:rPr sz="1650">
                <a:solidFill>
                  <a:srgbClr val="1E293B"/>
                </a:solidFill>
              </a:rPr>
              <a:t>• l</a:t>
            </a:r>
          </a:p>
          <a:p>
            <a:pPr>
              <a:spcBef>
                <a:spcPts val="1000"/>
              </a:spcBef>
            </a:pPr>
            <a:r>
              <a:rPr sz="1650">
                <a:solidFill>
                  <a:srgbClr val="1E293B"/>
                </a:solidFill>
              </a:rPr>
              <a:t>• i</a:t>
            </a:r>
          </a:p>
          <a:p>
            <a:pPr>
              <a:spcBef>
                <a:spcPts val="1000"/>
              </a:spcBef>
            </a:pPr>
            <a:r>
              <a:rPr sz="1650">
                <a:solidFill>
                  <a:srgbClr val="1E293B"/>
                </a:solidFill>
              </a:rPr>
              <a:t>• f</a:t>
            </a:r>
          </a:p>
          <a:p>
            <a:pPr>
              <a:spcBef>
                <a:spcPts val="1000"/>
              </a:spcBef>
            </a:pPr>
            <a:r>
              <a:rPr sz="1650">
                <a:solidFill>
                  <a:srgbClr val="1E293B"/>
                </a:solidFill>
              </a:rPr>
              <a:t>• e</a:t>
            </a:r>
          </a:p>
          <a:p>
            <a:pPr>
              <a:spcBef>
                <a:spcPts val="1000"/>
              </a:spcBef>
            </a:pPr>
            <a:r>
              <a:rPr sz="1650">
                <a:solidFill>
                  <a:srgbClr val="1E293B"/>
                </a:solidFill>
              </a:rPr>
              <a:t>•  </a:t>
            </a:r>
          </a:p>
          <a:p>
            <a:pPr>
              <a:spcBef>
                <a:spcPts val="1000"/>
              </a:spcBef>
            </a:pPr>
            <a:r>
              <a:rPr sz="1650">
                <a:solidFill>
                  <a:srgbClr val="1E293B"/>
                </a:solidFill>
              </a:rPr>
              <a:t>• b</a:t>
            </a:r>
          </a:p>
          <a:p>
            <a:pPr>
              <a:spcBef>
                <a:spcPts val="1000"/>
              </a:spcBef>
            </a:pPr>
            <a:r>
              <a:rPr sz="1650">
                <a:solidFill>
                  <a:srgbClr val="1E293B"/>
                </a:solidFill>
              </a:rPr>
              <a:t>• a</a:t>
            </a:r>
          </a:p>
          <a:p>
            <a:pPr>
              <a:spcBef>
                <a:spcPts val="1000"/>
              </a:spcBef>
            </a:pPr>
            <a:r>
              <a:rPr sz="1650">
                <a:solidFill>
                  <a:srgbClr val="1E293B"/>
                </a:solidFill>
              </a:rPr>
              <a:t>• l</a:t>
            </a:r>
          </a:p>
          <a:p>
            <a:pPr>
              <a:spcBef>
                <a:spcPts val="1000"/>
              </a:spcBef>
            </a:pPr>
            <a:r>
              <a:rPr sz="1650">
                <a:solidFill>
                  <a:srgbClr val="1E293B"/>
                </a:solidFill>
              </a:rPr>
              <a:t>• a</a:t>
            </a:r>
          </a:p>
          <a:p>
            <a:pPr>
              <a:spcBef>
                <a:spcPts val="1000"/>
              </a:spcBef>
            </a:pPr>
            <a:r>
              <a:rPr sz="1650">
                <a:solidFill>
                  <a:srgbClr val="1E293B"/>
                </a:solidFill>
              </a:rPr>
              <a:t>• n</a:t>
            </a:r>
          </a:p>
          <a:p>
            <a:pPr>
              <a:spcBef>
                <a:spcPts val="1000"/>
              </a:spcBef>
            </a:pPr>
            <a:r>
              <a:rPr sz="1650">
                <a:solidFill>
                  <a:srgbClr val="1E293B"/>
                </a:solidFill>
              </a:rPr>
              <a:t>• c</a:t>
            </a:r>
          </a:p>
          <a:p>
            <a:pPr>
              <a:spcBef>
                <a:spcPts val="1000"/>
              </a:spcBef>
            </a:pPr>
            <a:r>
              <a:rPr sz="1650">
                <a:solidFill>
                  <a:srgbClr val="1E293B"/>
                </a:solidFill>
              </a:rPr>
              <a:t>• e</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优</a:t>
            </a:r>
          </a:p>
          <a:p>
            <a:pPr>
              <a:spcBef>
                <a:spcPts val="1000"/>
              </a:spcBef>
            </a:pPr>
            <a:r>
              <a:rPr sz="1650">
                <a:solidFill>
                  <a:srgbClr val="1E293B"/>
                </a:solidFill>
              </a:rPr>
              <a:t>• 点</a:t>
            </a:r>
          </a:p>
          <a:p>
            <a:pPr>
              <a:spcBef>
                <a:spcPts val="1000"/>
              </a:spcBef>
            </a:pPr>
            <a:r>
              <a:rPr sz="1650">
                <a:solidFill>
                  <a:srgbClr val="1E293B"/>
                </a:solidFill>
              </a:rPr>
              <a:t>• ：</a:t>
            </a:r>
          </a:p>
          <a:p>
            <a:pPr>
              <a:spcBef>
                <a:spcPts val="1000"/>
              </a:spcBef>
            </a:pPr>
            <a:r>
              <a:rPr sz="1650">
                <a:solidFill>
                  <a:srgbClr val="1E293B"/>
                </a:solidFill>
              </a:rPr>
              <a:t>• 减</a:t>
            </a:r>
          </a:p>
          <a:p>
            <a:pPr>
              <a:spcBef>
                <a:spcPts val="1000"/>
              </a:spcBef>
            </a:pPr>
            <a:r>
              <a:rPr sz="1650">
                <a:solidFill>
                  <a:srgbClr val="1E293B"/>
                </a:solidFill>
              </a:rPr>
              <a:t>• 少</a:t>
            </a:r>
          </a:p>
          <a:p>
            <a:pPr>
              <a:spcBef>
                <a:spcPts val="1000"/>
              </a:spcBef>
            </a:pPr>
            <a:r>
              <a:rPr sz="1650">
                <a:solidFill>
                  <a:srgbClr val="1E293B"/>
                </a:solidFill>
              </a:rPr>
              <a:t>• 通</a:t>
            </a:r>
          </a:p>
          <a:p>
            <a:pPr>
              <a:spcBef>
                <a:spcPts val="1000"/>
              </a:spcBef>
            </a:pPr>
            <a:r>
              <a:rPr sz="1650">
                <a:solidFill>
                  <a:srgbClr val="1E293B"/>
                </a:solidFill>
              </a:rPr>
              <a:t>• 勤</a:t>
            </a:r>
          </a:p>
          <a:p>
            <a:pPr>
              <a:spcBef>
                <a:spcPts val="1000"/>
              </a:spcBef>
            </a:pPr>
            <a:r>
              <a:rPr sz="1650">
                <a:solidFill>
                  <a:srgbClr val="1E293B"/>
                </a:solidFill>
              </a:rPr>
              <a:t>• /</a:t>
            </a:r>
          </a:p>
          <a:p>
            <a:pPr>
              <a:spcBef>
                <a:spcPts val="1000"/>
              </a:spcBef>
            </a:pPr>
            <a:r>
              <a:rPr sz="1650">
                <a:solidFill>
                  <a:srgbClr val="1E293B"/>
                </a:solidFill>
              </a:rPr>
              <a:t>• 家</a:t>
            </a:r>
          </a:p>
          <a:p>
            <a:pPr>
              <a:spcBef>
                <a:spcPts val="1000"/>
              </a:spcBef>
            </a:pPr>
            <a:r>
              <a:rPr sz="1650">
                <a:solidFill>
                  <a:srgbClr val="1E293B"/>
                </a:solidFill>
              </a:rPr>
              <a:t>• 庭</a:t>
            </a:r>
          </a:p>
          <a:p>
            <a:pPr>
              <a:spcBef>
                <a:spcPts val="1000"/>
              </a:spcBef>
            </a:pPr>
            <a:r>
              <a:rPr sz="1650">
                <a:solidFill>
                  <a:srgbClr val="1E293B"/>
                </a:solidFill>
              </a:rPr>
              <a:t>• 责</a:t>
            </a:r>
          </a:p>
          <a:p>
            <a:pPr>
              <a:spcBef>
                <a:spcPts val="1000"/>
              </a:spcBef>
            </a:pPr>
            <a:r>
              <a:rPr sz="1650">
                <a:solidFill>
                  <a:srgbClr val="1E293B"/>
                </a:solidFill>
              </a:rPr>
              <a:t>• 任</a:t>
            </a:r>
          </a:p>
          <a:p>
            <a:pPr>
              <a:spcBef>
                <a:spcPts val="1000"/>
              </a:spcBef>
            </a:pPr>
            <a:r>
              <a:rPr sz="1650">
                <a:solidFill>
                  <a:srgbClr val="1E293B"/>
                </a:solidFill>
              </a:rPr>
              <a:t>• /</a:t>
            </a:r>
          </a:p>
          <a:p>
            <a:pPr>
              <a:spcBef>
                <a:spcPts val="1000"/>
              </a:spcBef>
            </a:pPr>
            <a:r>
              <a:rPr sz="1650">
                <a:solidFill>
                  <a:srgbClr val="1E293B"/>
                </a:solidFill>
              </a:rPr>
              <a:t>• 工</a:t>
            </a:r>
          </a:p>
          <a:p>
            <a:pPr>
              <a:spcBef>
                <a:spcPts val="1000"/>
              </a:spcBef>
            </a:pPr>
            <a:r>
              <a:rPr sz="1650">
                <a:solidFill>
                  <a:srgbClr val="1E293B"/>
                </a:solidFill>
              </a:rPr>
              <a:t>• 作</a:t>
            </a:r>
          </a:p>
          <a:p>
            <a:pPr>
              <a:spcBef>
                <a:spcPts val="1000"/>
              </a:spcBef>
            </a:pPr>
            <a:r>
              <a:rPr sz="1650">
                <a:solidFill>
                  <a:srgbClr val="1E293B"/>
                </a:solidFill>
              </a:rPr>
              <a:t>• 满</a:t>
            </a:r>
          </a:p>
          <a:p>
            <a:pPr>
              <a:spcBef>
                <a:spcPts val="1000"/>
              </a:spcBef>
            </a:pPr>
            <a:r>
              <a:rPr sz="1650">
                <a:solidFill>
                  <a:srgbClr val="1E293B"/>
                </a:solidFill>
              </a:rPr>
              <a:t>• 意</a:t>
            </a:r>
          </a:p>
          <a:p>
            <a:pPr>
              <a:spcBef>
                <a:spcPts val="1000"/>
              </a:spcBef>
            </a:pPr>
            <a:r>
              <a:rPr sz="1650">
                <a:solidFill>
                  <a:srgbClr val="1E293B"/>
                </a:solidFill>
              </a:rPr>
              <a:t>• 度</a:t>
            </a:r>
          </a:p>
          <a:p>
            <a:pPr>
              <a:spcBef>
                <a:spcPts val="1000"/>
              </a:spcBef>
            </a:pPr>
            <a:r>
              <a:rPr sz="1650">
                <a:solidFill>
                  <a:srgbClr val="1E293B"/>
                </a:solidFill>
              </a:rPr>
              <a:t>• 
</a:t>
            </a:r>
          </a:p>
          <a:p>
            <a:pPr>
              <a:spcBef>
                <a:spcPts val="1000"/>
              </a:spcBef>
            </a:pPr>
            <a:r>
              <a:rPr sz="1650">
                <a:solidFill>
                  <a:srgbClr val="1E293B"/>
                </a:solidFill>
              </a:rPr>
              <a:t>• 缺</a:t>
            </a:r>
          </a:p>
          <a:p>
            <a:pPr>
              <a:spcBef>
                <a:spcPts val="1000"/>
              </a:spcBef>
            </a:pPr>
            <a:r>
              <a:rPr sz="1650">
                <a:solidFill>
                  <a:srgbClr val="1E293B"/>
                </a:solidFill>
              </a:rPr>
              <a:t>• 点</a:t>
            </a:r>
          </a:p>
          <a:p>
            <a:pPr>
              <a:spcBef>
                <a:spcPts val="1000"/>
              </a:spcBef>
            </a:pPr>
            <a:r>
              <a:rPr sz="1650">
                <a:solidFill>
                  <a:srgbClr val="1E293B"/>
                </a:solidFill>
              </a:rPr>
              <a:t>• T</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H</a:t>
            </a:r>
          </a:p>
          <a:p>
            <a:pPr>
              <a:spcBef>
                <a:spcPts val="1000"/>
              </a:spcBef>
            </a:pPr>
            <a:r>
              <a:rPr sz="1650">
                <a:solidFill>
                  <a:srgbClr val="1E293B"/>
                </a:solidFill>
              </a:rPr>
              <a:t>• o</a:t>
            </a:r>
          </a:p>
          <a:p>
            <a:pPr>
              <a:spcBef>
                <a:spcPts val="1000"/>
              </a:spcBef>
            </a:pPr>
            <a:r>
              <a:rPr sz="1650">
                <a:solidFill>
                  <a:srgbClr val="1E293B"/>
                </a:solidFill>
              </a:rPr>
              <a:t>• w</a:t>
            </a:r>
          </a:p>
          <a:p>
            <a:pPr>
              <a:spcBef>
                <a:spcPts val="1000"/>
              </a:spcBef>
            </a:pPr>
            <a:r>
              <a:rPr sz="1650">
                <a:solidFill>
                  <a:srgbClr val="1E293B"/>
                </a:solidFill>
              </a:rPr>
              <a:t>• e</a:t>
            </a:r>
          </a:p>
          <a:p>
            <a:pPr>
              <a:spcBef>
                <a:spcPts val="1000"/>
              </a:spcBef>
            </a:pPr>
            <a:r>
              <a:rPr sz="1650">
                <a:solidFill>
                  <a:srgbClr val="1E293B"/>
                </a:solidFill>
              </a:rPr>
              <a:t>• v</a:t>
            </a:r>
          </a:p>
          <a:p>
            <a:pPr>
              <a:spcBef>
                <a:spcPts val="1000"/>
              </a:spcBef>
            </a:pPr>
            <a:r>
              <a:rPr sz="1650">
                <a:solidFill>
                  <a:srgbClr val="1E293B"/>
                </a:solidFill>
              </a:rPr>
              <a:t>• e</a:t>
            </a:r>
          </a:p>
          <a:p>
            <a:pPr>
              <a:spcBef>
                <a:spcPts val="1000"/>
              </a:spcBef>
            </a:pPr>
            <a:r>
              <a:rPr sz="1650">
                <a:solidFill>
                  <a:srgbClr val="1E293B"/>
                </a:solidFill>
              </a:rPr>
              <a:t>• r</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f</a:t>
            </a:r>
          </a:p>
          <a:p>
            <a:pPr>
              <a:spcBef>
                <a:spcPts val="1000"/>
              </a:spcBef>
            </a:pPr>
            <a:r>
              <a:rPr sz="1650">
                <a:solidFill>
                  <a:srgbClr val="1E293B"/>
                </a:solidFill>
              </a:rPr>
              <a:t>• l</a:t>
            </a:r>
          </a:p>
          <a:p>
            <a:pPr>
              <a:spcBef>
                <a:spcPts val="1000"/>
              </a:spcBef>
            </a:pPr>
            <a:r>
              <a:rPr sz="1650">
                <a:solidFill>
                  <a:srgbClr val="1E293B"/>
                </a:solidFill>
              </a:rPr>
              <a:t>• e</a:t>
            </a:r>
          </a:p>
          <a:p>
            <a:pPr>
              <a:spcBef>
                <a:spcPts val="1000"/>
              </a:spcBef>
            </a:pPr>
            <a:r>
              <a:rPr sz="1650">
                <a:solidFill>
                  <a:srgbClr val="1E293B"/>
                </a:solidFill>
              </a:rPr>
              <a:t>• x</a:t>
            </a:r>
          </a:p>
          <a:p>
            <a:pPr>
              <a:spcBef>
                <a:spcPts val="1000"/>
              </a:spcBef>
            </a:pPr>
            <a:r>
              <a:rPr sz="1650">
                <a:solidFill>
                  <a:srgbClr val="1E293B"/>
                </a:solidFill>
              </a:rPr>
              <a:t>• i</a:t>
            </a:r>
          </a:p>
          <a:p>
            <a:pPr>
              <a:spcBef>
                <a:spcPts val="1000"/>
              </a:spcBef>
            </a:pPr>
            <a:r>
              <a:rPr sz="1650">
                <a:solidFill>
                  <a:srgbClr val="1E293B"/>
                </a:solidFill>
              </a:rPr>
              <a:t>• b</a:t>
            </a:r>
          </a:p>
          <a:p>
            <a:pPr>
              <a:spcBef>
                <a:spcPts val="1000"/>
              </a:spcBef>
            </a:pPr>
            <a:r>
              <a:rPr sz="1650">
                <a:solidFill>
                  <a:srgbClr val="1E293B"/>
                </a:solidFill>
              </a:rPr>
              <a:t>• l</a:t>
            </a:r>
          </a:p>
          <a:p>
            <a:pPr>
              <a:spcBef>
                <a:spcPts val="1000"/>
              </a:spcBef>
            </a:pPr>
            <a:r>
              <a:rPr sz="1650">
                <a:solidFill>
                  <a:srgbClr val="1E293B"/>
                </a:solidFill>
              </a:rPr>
              <a:t>• e</a:t>
            </a:r>
          </a:p>
          <a:p>
            <a:pPr>
              <a:spcBef>
                <a:spcPts val="1000"/>
              </a:spcBef>
            </a:pPr>
            <a:r>
              <a:rPr sz="1650">
                <a:solidFill>
                  <a:srgbClr val="1E293B"/>
                </a:solidFill>
              </a:rPr>
              <a:t>•  </a:t>
            </a:r>
          </a:p>
          <a:p>
            <a:pPr>
              <a:spcBef>
                <a:spcPts val="1000"/>
              </a:spcBef>
            </a:pPr>
            <a:r>
              <a:rPr sz="1650">
                <a:solidFill>
                  <a:srgbClr val="1E293B"/>
                </a:solidFill>
              </a:rPr>
              <a:t>• s</a:t>
            </a:r>
          </a:p>
          <a:p>
            <a:pPr>
              <a:spcBef>
                <a:spcPts val="1000"/>
              </a:spcBef>
            </a:pPr>
            <a:r>
              <a:rPr sz="1650">
                <a:solidFill>
                  <a:srgbClr val="1E293B"/>
                </a:solidFill>
              </a:rPr>
              <a:t>• c</a:t>
            </a:r>
          </a:p>
          <a:p>
            <a:pPr>
              <a:spcBef>
                <a:spcPts val="1000"/>
              </a:spcBef>
            </a:pPr>
            <a:r>
              <a:rPr sz="1650">
                <a:solidFill>
                  <a:srgbClr val="1E293B"/>
                </a:solidFill>
              </a:rPr>
              <a:t>• h</a:t>
            </a:r>
          </a:p>
          <a:p>
            <a:pPr>
              <a:spcBef>
                <a:spcPts val="1000"/>
              </a:spcBef>
            </a:pPr>
            <a:r>
              <a:rPr sz="1650">
                <a:solidFill>
                  <a:srgbClr val="1E293B"/>
                </a:solidFill>
              </a:rPr>
              <a:t>• e</a:t>
            </a:r>
          </a:p>
          <a:p>
            <a:pPr>
              <a:spcBef>
                <a:spcPts val="1000"/>
              </a:spcBef>
            </a:pPr>
            <a:r>
              <a:rPr sz="1650">
                <a:solidFill>
                  <a:srgbClr val="1E293B"/>
                </a:solidFill>
              </a:rPr>
              <a:t>• d</a:t>
            </a:r>
          </a:p>
          <a:p>
            <a:pPr>
              <a:spcBef>
                <a:spcPts val="1000"/>
              </a:spcBef>
            </a:pPr>
            <a:r>
              <a:rPr sz="1650">
                <a:solidFill>
                  <a:srgbClr val="1E293B"/>
                </a:solidFill>
              </a:rPr>
              <a:t>• u</a:t>
            </a:r>
          </a:p>
          <a:p>
            <a:pPr>
              <a:spcBef>
                <a:spcPts val="1000"/>
              </a:spcBef>
            </a:pPr>
            <a:r>
              <a:rPr sz="1650">
                <a:solidFill>
                  <a:srgbClr val="1E293B"/>
                </a:solidFill>
              </a:rPr>
              <a:t>• l</a:t>
            </a:r>
          </a:p>
          <a:p>
            <a:pPr>
              <a:spcBef>
                <a:spcPts val="1000"/>
              </a:spcBef>
            </a:pPr>
            <a:r>
              <a:rPr sz="1650">
                <a:solidFill>
                  <a:srgbClr val="1E293B"/>
                </a:solidFill>
              </a:rPr>
              <a:t>• e</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c</a:t>
            </a:r>
          </a:p>
          <a:p>
            <a:pPr>
              <a:spcBef>
                <a:spcPts val="1000"/>
              </a:spcBef>
            </a:pPr>
            <a:r>
              <a:rPr sz="1650">
                <a:solidFill>
                  <a:srgbClr val="1E293B"/>
                </a:solidFill>
              </a:rPr>
              <a:t>• a</a:t>
            </a:r>
          </a:p>
          <a:p>
            <a:pPr>
              <a:spcBef>
                <a:spcPts val="1000"/>
              </a:spcBef>
            </a:pPr>
            <a:r>
              <a:rPr sz="1650">
                <a:solidFill>
                  <a:srgbClr val="1E293B"/>
                </a:solidFill>
              </a:rPr>
              <a:t>• n</a:t>
            </a:r>
          </a:p>
          <a:p>
            <a:pPr>
              <a:spcBef>
                <a:spcPts val="1000"/>
              </a:spcBef>
            </a:pPr>
            <a:r>
              <a:rPr sz="1650">
                <a:solidFill>
                  <a:srgbClr val="1E293B"/>
                </a:solidFill>
              </a:rPr>
              <a:t>•  </a:t>
            </a:r>
          </a:p>
          <a:p>
            <a:pPr>
              <a:spcBef>
                <a:spcPts val="1000"/>
              </a:spcBef>
            </a:pPr>
            <a:r>
              <a:rPr sz="1650">
                <a:solidFill>
                  <a:srgbClr val="1E293B"/>
                </a:solidFill>
              </a:rPr>
              <a:t>• p</a:t>
            </a:r>
          </a:p>
          <a:p>
            <a:pPr>
              <a:spcBef>
                <a:spcPts val="1000"/>
              </a:spcBef>
            </a:pPr>
            <a:r>
              <a:rPr sz="1650">
                <a:solidFill>
                  <a:srgbClr val="1E293B"/>
                </a:solidFill>
              </a:rPr>
              <a:t>• r</a:t>
            </a:r>
          </a:p>
          <a:p>
            <a:pPr>
              <a:spcBef>
                <a:spcPts val="1000"/>
              </a:spcBef>
            </a:pPr>
            <a:r>
              <a:rPr sz="1650">
                <a:solidFill>
                  <a:srgbClr val="1E293B"/>
                </a:solidFill>
              </a:rPr>
              <a:t>• e</a:t>
            </a:r>
          </a:p>
          <a:p>
            <a:pPr>
              <a:spcBef>
                <a:spcPts val="1000"/>
              </a:spcBef>
            </a:pPr>
            <a:r>
              <a:rPr sz="1650">
                <a:solidFill>
                  <a:srgbClr val="1E293B"/>
                </a:solidFill>
              </a:rPr>
              <a:t>• s</a:t>
            </a:r>
          </a:p>
          <a:p>
            <a:pPr>
              <a:spcBef>
                <a:spcPts val="1000"/>
              </a:spcBef>
            </a:pPr>
            <a:r>
              <a:rPr sz="1650">
                <a:solidFill>
                  <a:srgbClr val="1E293B"/>
                </a:solidFill>
              </a:rPr>
              <a:t>• e</a:t>
            </a:r>
          </a:p>
          <a:p>
            <a:pPr>
              <a:spcBef>
                <a:spcPts val="1000"/>
              </a:spcBef>
            </a:pPr>
            <a:r>
              <a:rPr sz="1650">
                <a:solidFill>
                  <a:srgbClr val="1E293B"/>
                </a:solidFill>
              </a:rPr>
              <a:t>• n</a:t>
            </a:r>
          </a:p>
          <a:p>
            <a:pPr>
              <a:spcBef>
                <a:spcPts val="1000"/>
              </a:spcBef>
            </a:pPr>
            <a:r>
              <a:rPr sz="1650">
                <a:solidFill>
                  <a:srgbClr val="1E293B"/>
                </a:solidFill>
              </a:rPr>
              <a:t>• t</a:t>
            </a:r>
          </a:p>
          <a:p>
            <a:pPr>
              <a:spcBef>
                <a:spcPts val="1000"/>
              </a:spcBef>
            </a:pPr>
            <a:r>
              <a:rPr sz="1650">
                <a:solidFill>
                  <a:srgbClr val="1E293B"/>
                </a:solidFill>
              </a:rPr>
              <a:t>•  </a:t>
            </a:r>
          </a:p>
          <a:p>
            <a:pPr>
              <a:spcBef>
                <a:spcPts val="1000"/>
              </a:spcBef>
            </a:pPr>
            <a:r>
              <a:rPr sz="1650">
                <a:solidFill>
                  <a:srgbClr val="1E293B"/>
                </a:solidFill>
              </a:rPr>
              <a:t>• c</a:t>
            </a:r>
          </a:p>
          <a:p>
            <a:pPr>
              <a:spcBef>
                <a:spcPts val="1000"/>
              </a:spcBef>
            </a:pPr>
            <a:r>
              <a:rPr sz="1650">
                <a:solidFill>
                  <a:srgbClr val="1E293B"/>
                </a:solidFill>
              </a:rPr>
              <a:t>• h</a:t>
            </a:r>
          </a:p>
          <a:p>
            <a:pPr>
              <a:spcBef>
                <a:spcPts val="1000"/>
              </a:spcBef>
            </a:pPr>
            <a:r>
              <a:rPr sz="1650">
                <a:solidFill>
                  <a:srgbClr val="1E293B"/>
                </a:solidFill>
              </a:rPr>
              <a:t>• a</a:t>
            </a:r>
          </a:p>
          <a:p>
            <a:pPr>
              <a:spcBef>
                <a:spcPts val="1000"/>
              </a:spcBef>
            </a:pPr>
            <a:r>
              <a:rPr sz="1650">
                <a:solidFill>
                  <a:srgbClr val="1E293B"/>
                </a:solidFill>
              </a:rPr>
              <a:t>• l</a:t>
            </a:r>
          </a:p>
          <a:p>
            <a:pPr>
              <a:spcBef>
                <a:spcPts val="1000"/>
              </a:spcBef>
            </a:pPr>
            <a:r>
              <a:rPr sz="1650">
                <a:solidFill>
                  <a:srgbClr val="1E293B"/>
                </a:solidFill>
              </a:rPr>
              <a:t>• l</a:t>
            </a:r>
          </a:p>
          <a:p>
            <a:pPr>
              <a:spcBef>
                <a:spcPts val="1000"/>
              </a:spcBef>
            </a:pPr>
            <a:r>
              <a:rPr sz="1650">
                <a:solidFill>
                  <a:srgbClr val="1E293B"/>
                </a:solidFill>
              </a:rPr>
              <a:t>• e</a:t>
            </a:r>
          </a:p>
          <a:p>
            <a:pPr>
              <a:spcBef>
                <a:spcPts val="1000"/>
              </a:spcBef>
            </a:pPr>
            <a:r>
              <a:rPr sz="1650">
                <a:solidFill>
                  <a:srgbClr val="1E293B"/>
                </a:solidFill>
              </a:rPr>
              <a:t>• n</a:t>
            </a:r>
          </a:p>
          <a:p>
            <a:pPr>
              <a:spcBef>
                <a:spcPts val="1000"/>
              </a:spcBef>
            </a:pPr>
            <a:r>
              <a:rPr sz="1650">
                <a:solidFill>
                  <a:srgbClr val="1E293B"/>
                </a:solidFill>
              </a:rPr>
              <a:t>• g</a:t>
            </a:r>
          </a:p>
          <a:p>
            <a:pPr>
              <a:spcBef>
                <a:spcPts val="1000"/>
              </a:spcBef>
            </a:pPr>
            <a:r>
              <a:rPr sz="1650">
                <a:solidFill>
                  <a:srgbClr val="1E293B"/>
                </a:solidFill>
              </a:rPr>
              <a:t>• e</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f</a:t>
            </a:r>
          </a:p>
          <a:p>
            <a:pPr>
              <a:spcBef>
                <a:spcPts val="1000"/>
              </a:spcBef>
            </a:pPr>
            <a:r>
              <a:rPr sz="1650">
                <a:solidFill>
                  <a:srgbClr val="1E293B"/>
                </a:solidFill>
              </a:rPr>
              <a:t>• o</a:t>
            </a:r>
          </a:p>
          <a:p>
            <a:pPr>
              <a:spcBef>
                <a:spcPts val="1000"/>
              </a:spcBef>
            </a:pPr>
            <a:r>
              <a:rPr sz="1650">
                <a:solidFill>
                  <a:srgbClr val="1E293B"/>
                </a:solidFill>
              </a:rPr>
              <a:t>• r</a:t>
            </a:r>
          </a:p>
          <a:p>
            <a:pPr>
              <a:spcBef>
                <a:spcPts val="1000"/>
              </a:spcBef>
            </a:pPr>
            <a:r>
              <a:rPr sz="1650">
                <a:solidFill>
                  <a:srgbClr val="1E293B"/>
                </a:solidFill>
              </a:rPr>
              <a:t>•  </a:t>
            </a:r>
          </a:p>
          <a:p>
            <a:pPr>
              <a:spcBef>
                <a:spcPts val="1000"/>
              </a:spcBef>
            </a:pPr>
            <a:r>
              <a:rPr sz="1650">
                <a:solidFill>
                  <a:srgbClr val="1E293B"/>
                </a:solidFill>
              </a:rPr>
              <a:t>• b</a:t>
            </a:r>
          </a:p>
          <a:p>
            <a:pPr>
              <a:spcBef>
                <a:spcPts val="1000"/>
              </a:spcBef>
            </a:pPr>
            <a:r>
              <a:rPr sz="1650">
                <a:solidFill>
                  <a:srgbClr val="1E293B"/>
                </a:solidFill>
              </a:rPr>
              <a:t>• o</a:t>
            </a:r>
          </a:p>
          <a:p>
            <a:pPr>
              <a:spcBef>
                <a:spcPts val="1000"/>
              </a:spcBef>
            </a:pPr>
            <a:r>
              <a:rPr sz="1650">
                <a:solidFill>
                  <a:srgbClr val="1E293B"/>
                </a:solidFill>
              </a:rPr>
              <a:t>• t</a:t>
            </a:r>
          </a:p>
          <a:p>
            <a:pPr>
              <a:spcBef>
                <a:spcPts val="1000"/>
              </a:spcBef>
            </a:pPr>
            <a:r>
              <a:rPr sz="1650">
                <a:solidFill>
                  <a:srgbClr val="1E293B"/>
                </a:solidFill>
              </a:rPr>
              <a:t>• h</a:t>
            </a:r>
          </a:p>
          <a:p>
            <a:pPr>
              <a:spcBef>
                <a:spcPts val="1000"/>
              </a:spcBef>
            </a:pPr>
            <a:r>
              <a:rPr sz="1650">
                <a:solidFill>
                  <a:srgbClr val="1E293B"/>
                </a:solidFill>
              </a:rPr>
              <a:t>•  </a:t>
            </a:r>
          </a:p>
          <a:p>
            <a:pPr>
              <a:spcBef>
                <a:spcPts val="1000"/>
              </a:spcBef>
            </a:pPr>
            <a:r>
              <a:rPr sz="1650">
                <a:solidFill>
                  <a:srgbClr val="1E293B"/>
                </a:solidFill>
              </a:rPr>
              <a:t>• e</a:t>
            </a:r>
          </a:p>
          <a:p>
            <a:pPr>
              <a:spcBef>
                <a:spcPts val="1000"/>
              </a:spcBef>
            </a:pPr>
            <a:r>
              <a:rPr sz="1650">
                <a:solidFill>
                  <a:srgbClr val="1E293B"/>
                </a:solidFill>
              </a:rPr>
              <a:t>• m</a:t>
            </a:r>
          </a:p>
          <a:p>
            <a:pPr>
              <a:spcBef>
                <a:spcPts val="1000"/>
              </a:spcBef>
            </a:pPr>
            <a:r>
              <a:rPr sz="1650">
                <a:solidFill>
                  <a:srgbClr val="1E293B"/>
                </a:solidFill>
              </a:rPr>
              <a:t>• p</a:t>
            </a:r>
          </a:p>
          <a:p>
            <a:pPr>
              <a:spcBef>
                <a:spcPts val="1000"/>
              </a:spcBef>
            </a:pPr>
            <a:r>
              <a:rPr sz="1650">
                <a:solidFill>
                  <a:srgbClr val="1E293B"/>
                </a:solidFill>
              </a:rPr>
              <a:t>• l</a:t>
            </a:r>
          </a:p>
          <a:p>
            <a:pPr>
              <a:spcBef>
                <a:spcPts val="1000"/>
              </a:spcBef>
            </a:pPr>
            <a:r>
              <a:rPr sz="1650">
                <a:solidFill>
                  <a:srgbClr val="1E293B"/>
                </a:solidFill>
              </a:rPr>
              <a:t>• o</a:t>
            </a:r>
          </a:p>
          <a:p>
            <a:pPr>
              <a:spcBef>
                <a:spcPts val="1000"/>
              </a:spcBef>
            </a:pPr>
            <a:r>
              <a:rPr sz="1650">
                <a:solidFill>
                  <a:srgbClr val="1E293B"/>
                </a:solidFill>
              </a:rPr>
              <a:t>• y</a:t>
            </a:r>
          </a:p>
          <a:p>
            <a:pPr>
              <a:spcBef>
                <a:spcPts val="1000"/>
              </a:spcBef>
            </a:pPr>
            <a:r>
              <a:rPr sz="1650">
                <a:solidFill>
                  <a:srgbClr val="1E293B"/>
                </a:solidFill>
              </a:rPr>
              <a:t>• e</a:t>
            </a:r>
          </a:p>
          <a:p>
            <a:pPr>
              <a:spcBef>
                <a:spcPts val="1000"/>
              </a:spcBef>
            </a:pPr>
            <a:r>
              <a:rPr sz="1650">
                <a:solidFill>
                  <a:srgbClr val="1E293B"/>
                </a:solidFill>
              </a:rPr>
              <a:t>• e</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a</a:t>
            </a:r>
          </a:p>
          <a:p>
            <a:pPr>
              <a:spcBef>
                <a:spcPts val="1000"/>
              </a:spcBef>
            </a:pPr>
            <a:r>
              <a:rPr sz="1650">
                <a:solidFill>
                  <a:srgbClr val="1E293B"/>
                </a:solidFill>
              </a:rPr>
              <a:t>• n</a:t>
            </a:r>
          </a:p>
          <a:p>
            <a:pPr>
              <a:spcBef>
                <a:spcPts val="1000"/>
              </a:spcBef>
            </a:pPr>
            <a:r>
              <a:rPr sz="1650">
                <a:solidFill>
                  <a:srgbClr val="1E293B"/>
                </a:solidFill>
              </a:rPr>
              <a:t>• d</a:t>
            </a:r>
          </a:p>
          <a:p>
            <a:pPr>
              <a:spcBef>
                <a:spcPts val="1000"/>
              </a:spcBef>
            </a:pPr>
            <a:r>
              <a:rPr sz="1650">
                <a:solidFill>
                  <a:srgbClr val="1E293B"/>
                </a:solidFill>
              </a:rPr>
              <a:t>•  </a:t>
            </a:r>
          </a:p>
          <a:p>
            <a:pPr>
              <a:spcBef>
                <a:spcPts val="1000"/>
              </a:spcBef>
            </a:pPr>
            <a:r>
              <a:rPr sz="1650">
                <a:solidFill>
                  <a:srgbClr val="1E293B"/>
                </a:solidFill>
              </a:rPr>
              <a:t>• o</a:t>
            </a:r>
          </a:p>
          <a:p>
            <a:pPr>
              <a:spcBef>
                <a:spcPts val="1000"/>
              </a:spcBef>
            </a:pPr>
            <a:r>
              <a:rPr sz="1650">
                <a:solidFill>
                  <a:srgbClr val="1E293B"/>
                </a:solidFill>
              </a:rPr>
              <a:t>• r</a:t>
            </a:r>
          </a:p>
          <a:p>
            <a:pPr>
              <a:spcBef>
                <a:spcPts val="1000"/>
              </a:spcBef>
            </a:pPr>
            <a:r>
              <a:rPr sz="1650">
                <a:solidFill>
                  <a:srgbClr val="1E293B"/>
                </a:solidFill>
              </a:rPr>
              <a:t>• g</a:t>
            </a:r>
          </a:p>
          <a:p>
            <a:pPr>
              <a:spcBef>
                <a:spcPts val="1000"/>
              </a:spcBef>
            </a:pPr>
            <a:r>
              <a:rPr sz="1650">
                <a:solidFill>
                  <a:srgbClr val="1E293B"/>
                </a:solidFill>
              </a:rPr>
              <a:t>• a</a:t>
            </a:r>
          </a:p>
          <a:p>
            <a:pPr>
              <a:spcBef>
                <a:spcPts val="1000"/>
              </a:spcBef>
            </a:pPr>
            <a:r>
              <a:rPr sz="1650">
                <a:solidFill>
                  <a:srgbClr val="1E293B"/>
                </a:solidFill>
              </a:rPr>
              <a:t>• n</a:t>
            </a:r>
          </a:p>
          <a:p>
            <a:pPr>
              <a:spcBef>
                <a:spcPts val="1000"/>
              </a:spcBef>
            </a:pPr>
            <a:r>
              <a:rPr sz="1650">
                <a:solidFill>
                  <a:srgbClr val="1E293B"/>
                </a:solidFill>
              </a:rPr>
              <a:t>• i</a:t>
            </a:r>
          </a:p>
          <a:p>
            <a:pPr>
              <a:spcBef>
                <a:spcPts val="1000"/>
              </a:spcBef>
            </a:pPr>
            <a:r>
              <a:rPr sz="1650">
                <a:solidFill>
                  <a:srgbClr val="1E293B"/>
                </a:solidFill>
              </a:rPr>
              <a:t>• s</a:t>
            </a:r>
          </a:p>
          <a:p>
            <a:pPr>
              <a:spcBef>
                <a:spcPts val="1000"/>
              </a:spcBef>
            </a:pPr>
            <a:r>
              <a:rPr sz="1650">
                <a:solidFill>
                  <a:srgbClr val="1E293B"/>
                </a:solidFill>
              </a:rPr>
              <a:t>• a</a:t>
            </a:r>
          </a:p>
          <a:p>
            <a:pPr>
              <a:spcBef>
                <a:spcPts val="1000"/>
              </a:spcBef>
            </a:pPr>
            <a:r>
              <a:rPr sz="1650">
                <a:solidFill>
                  <a:srgbClr val="1E293B"/>
                </a:solidFill>
              </a:rPr>
              <a:t>• t</a:t>
            </a:r>
          </a:p>
          <a:p>
            <a:pPr>
              <a:spcBef>
                <a:spcPts val="1000"/>
              </a:spcBef>
            </a:pPr>
            <a:r>
              <a:rPr sz="1650">
                <a:solidFill>
                  <a:srgbClr val="1E293B"/>
                </a:solidFill>
              </a:rPr>
              <a:t>• i</a:t>
            </a:r>
          </a:p>
          <a:p>
            <a:pPr>
              <a:spcBef>
                <a:spcPts val="1000"/>
              </a:spcBef>
            </a:pPr>
            <a:r>
              <a:rPr sz="1650">
                <a:solidFill>
                  <a:srgbClr val="1E293B"/>
                </a:solidFill>
              </a:rPr>
              <a:t>• o</a:t>
            </a:r>
          </a:p>
          <a:p>
            <a:pPr>
              <a:spcBef>
                <a:spcPts val="1000"/>
              </a:spcBef>
            </a:pPr>
            <a:r>
              <a:rPr sz="1650">
                <a:solidFill>
                  <a:srgbClr val="1E293B"/>
                </a:solidFill>
              </a:rPr>
              <a:t>• n</a:t>
            </a:r>
          </a:p>
          <a:p>
            <a:pPr>
              <a:spcBef>
                <a:spcPts val="1000"/>
              </a:spcBef>
            </a:pPr>
            <a:r>
              <a:rPr sz="1650">
                <a:solidFill>
                  <a:srgbClr val="1E293B"/>
                </a:solidFill>
              </a:rPr>
              <a:t>• s</a:t>
            </a:r>
          </a:p>
          <a:p>
            <a:pPr>
              <a:spcBef>
                <a:spcPts val="1000"/>
              </a:spcBef>
            </a:pPr>
            <a:r>
              <a:rPr sz="1650">
                <a:solidFill>
                  <a:srgbClr val="1E293B"/>
                </a:solidFill>
              </a:rPr>
              <a:t>• .</a:t>
            </a:r>
          </a:p>
          <a:p>
            <a:pPr>
              <a:spcBef>
                <a:spcPts val="1000"/>
              </a:spcBef>
            </a:pPr>
            <a:r>
              <a:rPr sz="1650">
                <a:solidFill>
                  <a:srgbClr val="1E293B"/>
                </a:solidFill>
              </a:rPr>
              <a:t>• 
</a:t>
            </a:r>
          </a:p>
          <a:p>
            <a:pPr>
              <a:spcBef>
                <a:spcPts val="1000"/>
              </a:spcBef>
            </a:pPr>
            <a:r>
              <a:rPr sz="1650">
                <a:solidFill>
                  <a:srgbClr val="1E293B"/>
                </a:solidFill>
              </a:rPr>
              <a:t>• 缺</a:t>
            </a:r>
          </a:p>
          <a:p>
            <a:pPr>
              <a:spcBef>
                <a:spcPts val="1000"/>
              </a:spcBef>
            </a:pPr>
            <a:r>
              <a:rPr sz="1650">
                <a:solidFill>
                  <a:srgbClr val="1E293B"/>
                </a:solidFill>
              </a:rPr>
              <a:t>• 点</a:t>
            </a:r>
          </a:p>
          <a:p>
            <a:pPr>
              <a:spcBef>
                <a:spcPts val="1000"/>
              </a:spcBef>
            </a:pPr>
            <a:r>
              <a:rPr sz="1650">
                <a:solidFill>
                  <a:srgbClr val="1E293B"/>
                </a:solidFill>
              </a:rPr>
              <a:t>• ：</a:t>
            </a:r>
          </a:p>
          <a:p>
            <a:pPr>
              <a:spcBef>
                <a:spcPts val="1000"/>
              </a:spcBef>
            </a:pPr>
            <a:r>
              <a:rPr sz="1650">
                <a:solidFill>
                  <a:srgbClr val="1E293B"/>
                </a:solidFill>
              </a:rPr>
              <a:t>• 协</a:t>
            </a:r>
          </a:p>
          <a:p>
            <a:pPr>
              <a:spcBef>
                <a:spcPts val="1000"/>
              </a:spcBef>
            </a:pPr>
            <a:r>
              <a:rPr sz="1650">
                <a:solidFill>
                  <a:srgbClr val="1E293B"/>
                </a:solidFill>
              </a:rPr>
              <a:t>• 作</a:t>
            </a:r>
          </a:p>
          <a:p>
            <a:pPr>
              <a:spcBef>
                <a:spcPts val="1000"/>
              </a:spcBef>
            </a:pPr>
            <a:r>
              <a:rPr sz="1650">
                <a:solidFill>
                  <a:srgbClr val="1E293B"/>
                </a:solidFill>
              </a:rPr>
              <a:t>• 困</a:t>
            </a:r>
          </a:p>
          <a:p>
            <a:pPr>
              <a:spcBef>
                <a:spcPts val="1000"/>
              </a:spcBef>
            </a:pPr>
            <a:r>
              <a:rPr sz="1650">
                <a:solidFill>
                  <a:srgbClr val="1E293B"/>
                </a:solidFill>
              </a:rPr>
              <a:t>• 难</a:t>
            </a:r>
          </a:p>
          <a:p>
            <a:pPr>
              <a:spcBef>
                <a:spcPts val="1000"/>
              </a:spcBef>
            </a:pPr>
            <a:r>
              <a:rPr sz="1650">
                <a:solidFill>
                  <a:srgbClr val="1E293B"/>
                </a:solidFill>
              </a:rPr>
              <a:t>• /</a:t>
            </a:r>
          </a:p>
          <a:p>
            <a:pPr>
              <a:spcBef>
                <a:spcPts val="1000"/>
              </a:spcBef>
            </a:pPr>
            <a:r>
              <a:rPr sz="1650">
                <a:solidFill>
                  <a:srgbClr val="1E293B"/>
                </a:solidFill>
              </a:rPr>
              <a:t>• 监</a:t>
            </a:r>
          </a:p>
          <a:p>
            <a:pPr>
              <a:spcBef>
                <a:spcPts val="1000"/>
              </a:spcBef>
            </a:pPr>
            <a:r>
              <a:rPr sz="1650">
                <a:solidFill>
                  <a:srgbClr val="1E293B"/>
                </a:solidFill>
              </a:rPr>
              <a:t>• 督</a:t>
            </a:r>
          </a:p>
          <a:p>
            <a:pPr>
              <a:spcBef>
                <a:spcPts val="1000"/>
              </a:spcBef>
            </a:pPr>
            <a:r>
              <a:rPr sz="1650">
                <a:solidFill>
                  <a:srgbClr val="1E293B"/>
                </a:solidFill>
              </a:rPr>
              <a:t>• 难</a:t>
            </a:r>
          </a:p>
          <a:p>
            <a:pPr>
              <a:spcBef>
                <a:spcPts val="1000"/>
              </a:spcBef>
            </a:pPr>
            <a:r>
              <a:rPr sz="1650">
                <a:solidFill>
                  <a:srgbClr val="1E293B"/>
                </a:solidFill>
              </a:rPr>
              <a:t>• /</a:t>
            </a:r>
          </a:p>
          <a:p>
            <a:pPr>
              <a:spcBef>
                <a:spcPts val="1000"/>
              </a:spcBef>
            </a:pPr>
            <a:r>
              <a:rPr sz="1650">
                <a:solidFill>
                  <a:srgbClr val="1E293B"/>
                </a:solidFill>
              </a:rPr>
              <a:t>• 边</a:t>
            </a:r>
          </a:p>
          <a:p>
            <a:pPr>
              <a:spcBef>
                <a:spcPts val="1000"/>
              </a:spcBef>
            </a:pPr>
            <a:r>
              <a:rPr sz="1650">
                <a:solidFill>
                  <a:srgbClr val="1E293B"/>
                </a:solidFill>
              </a:rPr>
              <a:t>• 界</a:t>
            </a:r>
          </a:p>
          <a:p>
            <a:pPr>
              <a:spcBef>
                <a:spcPts val="1000"/>
              </a:spcBef>
            </a:pPr>
            <a:r>
              <a:rPr sz="1650">
                <a:solidFill>
                  <a:srgbClr val="1E293B"/>
                </a:solidFill>
              </a:rPr>
              <a:t>• 模</a:t>
            </a:r>
          </a:p>
          <a:p>
            <a:pPr>
              <a:spcBef>
                <a:spcPts val="1000"/>
              </a:spcBef>
            </a:pPr>
            <a:r>
              <a:rPr sz="1650">
                <a:solidFill>
                  <a:srgbClr val="1E293B"/>
                </a:solidFill>
              </a:rPr>
              <a:t>• 糊</a:t>
            </a:r>
          </a:p>
          <a:p>
            <a:pPr>
              <a:spcBef>
                <a:spcPts val="1000"/>
              </a:spcBef>
            </a:pPr>
            <a:r>
              <a:rPr sz="1650">
                <a:solidFill>
                  <a:srgbClr val="1E293B"/>
                </a:solidFill>
              </a:rPr>
              <a:t>• 导</a:t>
            </a:r>
          </a:p>
          <a:p>
            <a:pPr>
              <a:spcBef>
                <a:spcPts val="1000"/>
              </a:spcBef>
            </a:pPr>
            <a:r>
              <a:rPr sz="1650">
                <a:solidFill>
                  <a:srgbClr val="1E293B"/>
                </a:solidFill>
              </a:rPr>
              <a:t>• 致</a:t>
            </a:r>
          </a:p>
          <a:p>
            <a:pPr>
              <a:spcBef>
                <a:spcPts val="1000"/>
              </a:spcBef>
            </a:pPr>
            <a:r>
              <a:rPr sz="1650">
                <a:solidFill>
                  <a:srgbClr val="1E293B"/>
                </a:solidFill>
              </a:rPr>
              <a:t>• 过</a:t>
            </a:r>
          </a:p>
          <a:p>
            <a:pPr>
              <a:spcBef>
                <a:spcPts val="1000"/>
              </a:spcBef>
            </a:pPr>
            <a:r>
              <a:rPr sz="1650">
                <a:solidFill>
                  <a:srgbClr val="1E293B"/>
                </a:solidFill>
              </a:rPr>
              <a:t>• 度</a:t>
            </a:r>
          </a:p>
          <a:p>
            <a:pPr>
              <a:spcBef>
                <a:spcPts val="1000"/>
              </a:spcBef>
            </a:pPr>
            <a:r>
              <a:rPr sz="1650">
                <a:solidFill>
                  <a:srgbClr val="1E293B"/>
                </a:solidFill>
              </a:rPr>
              <a:t>• 工</a:t>
            </a:r>
          </a:p>
          <a:p>
            <a:pPr>
              <a:spcBef>
                <a:spcPts val="1000"/>
              </a:spcBef>
            </a:pPr>
            <a:r>
              <a:rPr sz="1650">
                <a:solidFill>
                  <a:srgbClr val="1E293B"/>
                </a:solidFill>
              </a:rPr>
              <a:t>• 作</a:t>
            </a:r>
          </a:p>
        </p:txBody>
      </p:sp>
      <p:sp>
        <p:nvSpPr>
          <p:cNvPr id="8" name="Rectangle 7"/>
          <p:cNvSpPr/>
          <p:nvPr/>
        </p:nvSpPr>
        <p:spPr>
          <a:xfrm>
            <a:off x="548640" y="5989320"/>
            <a:ext cx="11064240" cy="548640"/>
          </a:xfrm>
          <a:prstGeom prst="rect">
            <a:avLst/>
          </a:prstGeom>
          <a:solidFill>
            <a:srgbClr val="FDF0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6035040"/>
            <a:ext cx="10698480" cy="457200"/>
          </a:xfrm>
          <a:prstGeom prst="rect">
            <a:avLst/>
          </a:prstGeom>
          <a:noFill/>
        </p:spPr>
        <p:txBody>
          <a:bodyPr wrap="square" anchor="ctr">
            <a:spAutoFit/>
          </a:bodyPr>
          <a:lstStyle/>
          <a:p>
            <a:pPr algn="l"/>
            <a:r>
              <a:rPr sz="1250" b="0" i="1">
                <a:solidFill>
                  <a:srgbClr val="C02A2A"/>
                </a:solidFill>
                <a:latin typeface="Calibri"/>
              </a:rPr>
              <a:t>⚠ 深圳学生注意：主题句先行——写完主题句再填充细节，结构更清晰</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问题解决题综合实战</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题目："Crime rates in urban areas are increasing. What are the main causes of this, and what measures can be taken to reduce crime?"
提纲（3分钟内完成）：
引言：城市犯罪上升背景+预告分析原因和解决方案
主体1（原因）：贫困/失业/毒品/不平等/家庭破裂
主体2（解决）：经济投资/教育/社区项目/警力加强
结论：总结+展望
写出主体段1主题句：
"The rise in urban crime is driven by a complex interplay of economic and social factors, particularly poverty and unemployment."
写出主体段2主题句：
"Effectively combating urban crime requires a multi-pronged strategy addressing both the economic roots of crime and improving community-level prevention."</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1463040"/>
          </a:xfrm>
          <a:prstGeom prst="rect">
            <a:avLst/>
          </a:prstGeom>
          <a:noFill/>
        </p:spPr>
        <p:txBody>
          <a:bodyPr wrap="square">
            <a:spAutoFit/>
          </a:bodyPr>
          <a:lstStyle/>
          <a:p>
            <a:r>
              <a:rPr sz="1400">
                <a:solidFill>
                  <a:srgbClr val="1B7A3D"/>
                </a:solidFill>
              </a:rPr>
              <a:t>提纲三分钟：引言关键词→原因3个→解决3个→结论关键词</a:t>
            </a:r>
          </a:p>
        </p:txBody>
      </p:sp>
      <p:sp>
        <p:nvSpPr>
          <p:cNvPr id="14" name="Rectangle 13"/>
          <p:cNvSpPr/>
          <p:nvPr/>
        </p:nvSpPr>
        <p:spPr>
          <a:xfrm>
            <a:off x="548640" y="5669279"/>
            <a:ext cx="11064240" cy="36576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5687567"/>
            <a:ext cx="5486400" cy="329184"/>
          </a:xfrm>
          <a:prstGeom prst="rect">
            <a:avLst/>
          </a:prstGeom>
          <a:noFill/>
        </p:spPr>
        <p:txBody>
          <a:bodyPr wrap="square" anchor="ctr">
            <a:spAutoFit/>
          </a:bodyPr>
          <a:lstStyle/>
          <a:p>
            <a:pPr algn="l"/>
            <a:r>
              <a:rPr sz="1250" b="1" i="0">
                <a:solidFill>
                  <a:srgbClr val="FFFFFF"/>
                </a:solidFill>
                <a:latin typeface="Calibri"/>
              </a:rPr>
              <a:t>💡 技巧点拨</a:t>
            </a:r>
          </a:p>
        </p:txBody>
      </p:sp>
      <p:sp>
        <p:nvSpPr>
          <p:cNvPr id="16" name="TextBox 15"/>
          <p:cNvSpPr txBox="1"/>
          <p:nvPr/>
        </p:nvSpPr>
        <p:spPr>
          <a:xfrm>
            <a:off x="594360" y="6126479"/>
            <a:ext cx="10972800" cy="1280160"/>
          </a:xfrm>
          <a:prstGeom prst="rect">
            <a:avLst/>
          </a:prstGeom>
          <a:noFill/>
        </p:spPr>
        <p:txBody>
          <a:bodyPr wrap="square">
            <a:spAutoFit/>
          </a:bodyPr>
          <a:lstStyle/>
          <a:p>
            <a:r>
              <a:rPr sz="1350">
                <a:solidFill>
                  <a:srgbClr val="556075"/>
                </a:solidFill>
              </a:rPr>
              <a:t>高分解决段：解决方案最好与原因一一对应，体现逻辑清晰</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例题精讲</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五大题型综合备考策略</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6576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07008"/>
            <a:ext cx="5486400" cy="329184"/>
          </a:xfrm>
          <a:prstGeom prst="rect">
            <a:avLst/>
          </a:prstGeom>
          <a:noFill/>
        </p:spPr>
        <p:txBody>
          <a:bodyPr wrap="square" anchor="ctr">
            <a:spAutoFit/>
          </a:bodyPr>
          <a:lstStyle/>
          <a:p>
            <a:pPr algn="l"/>
            <a:r>
              <a:rPr sz="1250" b="1" i="0">
                <a:solidFill>
                  <a:srgbClr val="FFFFFF"/>
                </a:solidFill>
                <a:latin typeface="Calibri"/>
              </a:rPr>
              <a:t>【题目 / Question】</a:t>
            </a:r>
          </a:p>
        </p:txBody>
      </p:sp>
      <p:sp>
        <p:nvSpPr>
          <p:cNvPr id="10" name="TextBox 9"/>
          <p:cNvSpPr txBox="1"/>
          <p:nvPr/>
        </p:nvSpPr>
        <p:spPr>
          <a:xfrm>
            <a:off x="594360" y="1645920"/>
            <a:ext cx="10972800" cy="2103120"/>
          </a:xfrm>
          <a:prstGeom prst="rect">
            <a:avLst/>
          </a:prstGeom>
          <a:noFill/>
        </p:spPr>
        <p:txBody>
          <a:bodyPr wrap="square">
            <a:spAutoFit/>
          </a:bodyPr>
          <a:lstStyle/>
          <a:p>
            <a:r>
              <a:rPr sz="1450">
                <a:solidFill>
                  <a:srgbClr val="1E293B"/>
                </a:solidFill>
              </a:rPr>
              <a:t>每种题型至少写5篇——建立题型"肌肉记忆"：
讨论文5篇 → 熟悉平衡两方+自己立场的感觉
同意文5篇 → 熟悉让步-反驳+论证三层
优缺点文5篇 → 熟悉各主题句写法
问题解决题5篇 → 熟悉原因-解决对应
双问题题5篇 → 熟悉两问分段+均衡词数
总计：25篇练习+修改 = Task 2综合能力大幅提升</a:t>
            </a:r>
          </a:p>
        </p:txBody>
      </p:sp>
      <p:sp>
        <p:nvSpPr>
          <p:cNvPr id="11" name="Rectangle 10"/>
          <p:cNvSpPr/>
          <p:nvPr/>
        </p:nvSpPr>
        <p:spPr>
          <a:xfrm>
            <a:off x="548640" y="3749039"/>
            <a:ext cx="11064240" cy="36576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767327"/>
            <a:ext cx="5486400" cy="329184"/>
          </a:xfrm>
          <a:prstGeom prst="rect">
            <a:avLst/>
          </a:prstGeom>
          <a:noFill/>
        </p:spPr>
        <p:txBody>
          <a:bodyPr wrap="square" anchor="ctr">
            <a:spAutoFit/>
          </a:bodyPr>
          <a:lstStyle/>
          <a:p>
            <a:pPr algn="l"/>
            <a:r>
              <a:rPr sz="1250" b="1" i="0">
                <a:solidFill>
                  <a:srgbClr val="FFFFFF"/>
                </a:solidFill>
                <a:latin typeface="Calibri"/>
              </a:rPr>
              <a:t>【参考答案 / Answer】</a:t>
            </a:r>
          </a:p>
        </p:txBody>
      </p:sp>
      <p:sp>
        <p:nvSpPr>
          <p:cNvPr id="13" name="TextBox 12"/>
          <p:cNvSpPr txBox="1"/>
          <p:nvPr/>
        </p:nvSpPr>
        <p:spPr>
          <a:xfrm>
            <a:off x="594360" y="4206240"/>
            <a:ext cx="10972800" cy="2194560"/>
          </a:xfrm>
          <a:prstGeom prst="rect">
            <a:avLst/>
          </a:prstGeom>
          <a:noFill/>
        </p:spPr>
        <p:txBody>
          <a:bodyPr wrap="square">
            <a:spAutoFit/>
          </a:bodyPr>
          <a:lstStyle/>
          <a:p>
            <a:r>
              <a:rPr sz="1400">
                <a:solidFill>
                  <a:srgbClr val="1B7A3D"/>
                </a:solidFill>
              </a:rPr>
              <a:t>最高效的练习：写完→自评4维→改进最弱的维度→再写</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优缺点文Band 7完整引言+结论</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84048"/>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题目：题目："What are the advantages and disadvantages of using social media as a primary news source? Give your own opinion."</a:t>
            </a:r>
          </a:p>
        </p:txBody>
      </p:sp>
      <p:sp>
        <p:nvSpPr>
          <p:cNvPr id="10" name="Rounded Rectangle 9"/>
          <p:cNvSpPr/>
          <p:nvPr/>
        </p:nvSpPr>
        <p:spPr>
          <a:xfrm>
            <a:off x="548640" y="1783080"/>
            <a:ext cx="7040880" cy="416052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引言（Band 7）：
"Social media has rapidly emerged as the primary news source for millions of people worldwide, fundamentally altering how information is consumed and shared. While this shift offers certain advantages in terms of speed and accessibility, it also raises serious concerns about the reliability of information. I believe that the disadvantages of using social media as a primary news source outweigh its benefits, largely due to the unchecked spread of misinformation."
（72词）
结论（Band 7）：
"In conclusion, while social media's immediacy and democratic accessibility are undeniable benefits, these advantages are substantially outweighed by the serious risks posed by misinformation and echo chambers. I maintain that individuals should treat social media as a supplementary rather than primary news source, complementing it with established, editorially accountable journalism."
（56词）</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A0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引言立场：outweigh its benefits（清晰立场）+理由（misinformation）</a:t>
            </a:r>
          </a:p>
          <a:p>
            <a:pPr>
              <a:spcBef>
                <a:spcPts val="700"/>
              </a:spcBef>
            </a:pPr>
            <a:r>
              <a:rPr sz="1200">
                <a:solidFill>
                  <a:srgbClr val="1E293B"/>
                </a:solidFill>
              </a:rPr>
              <a:t>▸ 结论：重申outweigh（与引言呼应）+maintain（立场词）+建议（supplementary）</a:t>
            </a:r>
          </a:p>
          <a:p>
            <a:pPr>
              <a:spcBef>
                <a:spcPts val="700"/>
              </a:spcBef>
            </a:pPr>
            <a:r>
              <a:rPr sz="1200">
                <a:solidFill>
                  <a:srgbClr val="1E293B"/>
                </a:solidFill>
              </a:rPr>
              <a:t>▸ unchecked spread of misinformation：B7词汇，比"fake news spreads"更学术</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高分范例</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双问题题Band 7示范：原因段</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11064240" cy="384048"/>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207008"/>
            <a:ext cx="10789920" cy="347472"/>
          </a:xfrm>
          <a:prstGeom prst="rect">
            <a:avLst/>
          </a:prstGeom>
          <a:noFill/>
        </p:spPr>
        <p:txBody>
          <a:bodyPr wrap="square" anchor="ctr">
            <a:spAutoFit/>
          </a:bodyPr>
          <a:lstStyle/>
          <a:p>
            <a:pPr algn="l"/>
            <a:r>
              <a:rPr sz="1200" b="1" i="0">
                <a:solidFill>
                  <a:srgbClr val="FFFFFF"/>
                </a:solidFill>
                <a:latin typeface="Calibri"/>
              </a:rPr>
              <a:t>题目：题目："Why do many people choose to move from rural areas to cities? What problems can this cause?"</a:t>
            </a:r>
          </a:p>
        </p:txBody>
      </p:sp>
      <p:sp>
        <p:nvSpPr>
          <p:cNvPr id="10" name="Rounded Rectangle 9"/>
          <p:cNvSpPr/>
          <p:nvPr/>
        </p:nvSpPr>
        <p:spPr>
          <a:xfrm>
            <a:off x="548640" y="1783080"/>
            <a:ext cx="7040880" cy="416052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920240"/>
            <a:ext cx="6629400" cy="3977639"/>
          </a:xfrm>
          <a:prstGeom prst="rect">
            <a:avLst/>
          </a:prstGeom>
          <a:noFill/>
        </p:spPr>
        <p:txBody>
          <a:bodyPr wrap="square">
            <a:spAutoFit/>
          </a:bodyPr>
          <a:lstStyle/>
          <a:p>
            <a:r>
              <a:rPr sz="1300">
                <a:solidFill>
                  <a:srgbClr val="1E293B"/>
                </a:solidFill>
              </a:rPr>
              <a:t>原因段（Band 7，91词）：
"Rural-to-urban migration is driven by a confluence of economic and social factors. The most significant pull factor is the concentration of employment opportunities in cities, particularly in manufacturing, technology, and service industries, which offer wages that rural agricultural work cannot match. Additionally, urban areas typically provide superior access to healthcare, education, and cultural amenities, making them especially attractive to younger generations seeking greater opportunities and a higher standard of living. In contrast, rural depopulation and economic decline in some regions create a corresponding push for young people to seek better prospects elsewhere."
分析：
原因1（就业机会）→原因2（医疗/教育）→push factor（农村衰退）</a:t>
            </a:r>
          </a:p>
        </p:txBody>
      </p:sp>
      <p:sp>
        <p:nvSpPr>
          <p:cNvPr id="12" name="TextBox 11"/>
          <p:cNvSpPr txBox="1"/>
          <p:nvPr/>
        </p:nvSpPr>
        <p:spPr>
          <a:xfrm>
            <a:off x="7772400" y="1783080"/>
            <a:ext cx="3931920" cy="365760"/>
          </a:xfrm>
          <a:prstGeom prst="rect">
            <a:avLst/>
          </a:prstGeom>
          <a:noFill/>
        </p:spPr>
        <p:txBody>
          <a:bodyPr wrap="square" anchor="t">
            <a:spAutoFit/>
          </a:bodyPr>
          <a:lstStyle/>
          <a:p>
            <a:pPr algn="l"/>
            <a:r>
              <a:rPr sz="1300" b="1" i="0">
                <a:solidFill>
                  <a:srgbClr val="F2A01D"/>
                </a:solidFill>
                <a:latin typeface="Calibri"/>
              </a:rPr>
              <a:t>✍ 得分点批注</a:t>
            </a:r>
          </a:p>
        </p:txBody>
      </p:sp>
      <p:sp>
        <p:nvSpPr>
          <p:cNvPr id="13" name="TextBox 12"/>
          <p:cNvSpPr txBox="1"/>
          <p:nvPr/>
        </p:nvSpPr>
        <p:spPr>
          <a:xfrm>
            <a:off x="7772400" y="2194560"/>
            <a:ext cx="3931920" cy="3703320"/>
          </a:xfrm>
          <a:prstGeom prst="rect">
            <a:avLst/>
          </a:prstGeom>
          <a:noFill/>
        </p:spPr>
        <p:txBody>
          <a:bodyPr wrap="square">
            <a:spAutoFit/>
          </a:bodyPr>
          <a:lstStyle/>
          <a:p>
            <a:r>
              <a:rPr sz="1200">
                <a:solidFill>
                  <a:srgbClr val="1E293B"/>
                </a:solidFill>
              </a:rPr>
              <a:t>▸ confluence of factors：比"many reasons"更学术的集合名词</a:t>
            </a:r>
          </a:p>
          <a:p>
            <a:pPr>
              <a:spcBef>
                <a:spcPts val="700"/>
              </a:spcBef>
            </a:pPr>
            <a:r>
              <a:rPr sz="1200">
                <a:solidFill>
                  <a:srgbClr val="1E293B"/>
                </a:solidFill>
              </a:rPr>
              <a:t>▸ pull factor / push factor：学术地理词汇，展示词汇广度</a:t>
            </a:r>
          </a:p>
          <a:p>
            <a:pPr>
              <a:spcBef>
                <a:spcPts val="700"/>
              </a:spcBef>
            </a:pPr>
            <a:r>
              <a:rPr sz="1200">
                <a:solidFill>
                  <a:srgbClr val="1E293B"/>
                </a:solidFill>
              </a:rPr>
              <a:t>▸ 两类原因（pull+push）让论证更完整</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优缺点文：有立场 vs 无立场版结论</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有立场版结论</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无立场版结论（中立）</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题目有"give your opinion"时使用</a:t>
            </a:r>
          </a:p>
          <a:p>
            <a:pPr>
              <a:spcBef>
                <a:spcPts val="700"/>
              </a:spcBef>
            </a:pPr>
            <a:r>
              <a:rPr sz="1350">
                <a:solidFill>
                  <a:srgbClr val="C02A2A"/>
                </a:solidFill>
              </a:rPr>
              <a:t>✗ "On balance, I believe the advantages significantly outweigh..."</a:t>
            </a:r>
          </a:p>
          <a:p>
            <a:pPr>
              <a:spcBef>
                <a:spcPts val="700"/>
              </a:spcBef>
            </a:pPr>
            <a:r>
              <a:rPr sz="1350">
                <a:solidFill>
                  <a:srgbClr val="C02A2A"/>
                </a:solidFill>
              </a:rPr>
              <a:t>✗ 用I believe/I maintain明确立场</a:t>
            </a:r>
          </a:p>
          <a:p>
            <a:pPr>
              <a:spcBef>
                <a:spcPts val="700"/>
              </a:spcBef>
            </a:pPr>
            <a:r>
              <a:rPr sz="1350">
                <a:solidFill>
                  <a:srgbClr val="C02A2A"/>
                </a:solidFill>
              </a:rPr>
              <a:t>✗ 说明为什么支持某方</a:t>
            </a:r>
          </a:p>
          <a:p>
            <a:pPr>
              <a:spcBef>
                <a:spcPts val="700"/>
              </a:spcBef>
            </a:pPr>
            <a:r>
              <a:rPr sz="1350">
                <a:solidFill>
                  <a:srgbClr val="C02A2A"/>
                </a:solidFill>
              </a:rPr>
              <a:t>✗ 立场与引言前后呼应</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题目无"give your opinion"时使用</a:t>
            </a:r>
          </a:p>
          <a:p>
            <a:pPr>
              <a:spcBef>
                <a:spcPts val="700"/>
              </a:spcBef>
            </a:pPr>
            <a:r>
              <a:rPr sz="1350">
                <a:solidFill>
                  <a:srgbClr val="1B7A3D"/>
                </a:solidFill>
              </a:rPr>
              <a:t>✓ "In conclusion, X presents both opportunities and challenges..."</a:t>
            </a:r>
          </a:p>
          <a:p>
            <a:pPr>
              <a:spcBef>
                <a:spcPts val="700"/>
              </a:spcBef>
            </a:pPr>
            <a:r>
              <a:rPr sz="1350">
                <a:solidFill>
                  <a:srgbClr val="1B7A3D"/>
                </a:solidFill>
              </a:rPr>
              <a:t>✓ 不用I believe/my opinion</a:t>
            </a:r>
          </a:p>
          <a:p>
            <a:pPr>
              <a:spcBef>
                <a:spcPts val="700"/>
              </a:spcBef>
            </a:pPr>
            <a:r>
              <a:rPr sz="1350">
                <a:solidFill>
                  <a:srgbClr val="1B7A3D"/>
                </a:solidFill>
              </a:rPr>
              <a:t>✓ 客观总结两方</a:t>
            </a:r>
          </a:p>
          <a:p>
            <a:pPr>
              <a:spcBef>
                <a:spcPts val="700"/>
              </a:spcBef>
            </a:pPr>
            <a:r>
              <a:rPr sz="1350">
                <a:solidFill>
                  <a:srgbClr val="1B7A3D"/>
                </a:solidFill>
              </a:rPr>
              <a:t>✓ 可加政策建议（governments should...）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对比示范</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原因段 vs 解决段：写法差异</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188720"/>
            <a:ext cx="5486400" cy="457200"/>
          </a:xfrm>
          <a:prstGeom prst="rect">
            <a:avLst/>
          </a:prstGeom>
          <a:solidFill>
            <a:srgbClr val="C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216152"/>
            <a:ext cx="5212080" cy="402336"/>
          </a:xfrm>
          <a:prstGeom prst="rect">
            <a:avLst/>
          </a:prstGeom>
          <a:noFill/>
        </p:spPr>
        <p:txBody>
          <a:bodyPr wrap="square" anchor="ctr">
            <a:spAutoFit/>
          </a:bodyPr>
          <a:lstStyle/>
          <a:p>
            <a:pPr algn="l"/>
            <a:r>
              <a:rPr sz="1400" b="1" i="0">
                <a:solidFill>
                  <a:srgbClr val="FFFFFF"/>
                </a:solidFill>
                <a:latin typeface="Calibri"/>
              </a:rPr>
              <a:t>原因段（Causes）</a:t>
            </a:r>
          </a:p>
        </p:txBody>
      </p:sp>
      <p:sp>
        <p:nvSpPr>
          <p:cNvPr id="10" name="Rectangle 9"/>
          <p:cNvSpPr/>
          <p:nvPr/>
        </p:nvSpPr>
        <p:spPr>
          <a:xfrm>
            <a:off x="6172200" y="1188720"/>
            <a:ext cx="5486400" cy="457200"/>
          </a:xfrm>
          <a:prstGeom prst="rect">
            <a:avLst/>
          </a:prstGeom>
          <a:solidFill>
            <a:srgbClr val="1B7A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216152"/>
            <a:ext cx="5212080" cy="402336"/>
          </a:xfrm>
          <a:prstGeom prst="rect">
            <a:avLst/>
          </a:prstGeom>
          <a:noFill/>
        </p:spPr>
        <p:txBody>
          <a:bodyPr wrap="square" anchor="ctr">
            <a:spAutoFit/>
          </a:bodyPr>
          <a:lstStyle/>
          <a:p>
            <a:pPr algn="l"/>
            <a:r>
              <a:rPr sz="1400" b="1" i="0">
                <a:solidFill>
                  <a:srgbClr val="FFFFFF"/>
                </a:solidFill>
                <a:latin typeface="Calibri"/>
              </a:rPr>
              <a:t>解决段（Solutions）</a:t>
            </a:r>
          </a:p>
        </p:txBody>
      </p:sp>
      <p:sp>
        <p:nvSpPr>
          <p:cNvPr id="12" name="Rounded Rectangle 11"/>
          <p:cNvSpPr/>
          <p:nvPr/>
        </p:nvSpPr>
        <p:spPr>
          <a:xfrm>
            <a:off x="548640" y="1737360"/>
            <a:ext cx="5486400" cy="4480560"/>
          </a:xfrm>
          <a:prstGeom prst="roundRect">
            <a:avLst/>
          </a:prstGeom>
          <a:solidFill>
            <a:srgbClr val="FBEC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72200" y="1737360"/>
            <a:ext cx="5486400" cy="4480560"/>
          </a:xfrm>
          <a:prstGeom prst="roundRect">
            <a:avLst/>
          </a:prstGeom>
          <a:solidFill>
            <a:srgbClr val="EAF6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20240"/>
            <a:ext cx="5074920" cy="4114800"/>
          </a:xfrm>
          <a:prstGeom prst="rect">
            <a:avLst/>
          </a:prstGeom>
          <a:noFill/>
        </p:spPr>
        <p:txBody>
          <a:bodyPr wrap="square">
            <a:spAutoFit/>
          </a:bodyPr>
          <a:lstStyle/>
          <a:p>
            <a:r>
              <a:rPr sz="1350">
                <a:solidFill>
                  <a:srgbClr val="C02A2A"/>
                </a:solidFill>
              </a:rPr>
              <a:t>✗ 主题句：...can be attributed to several factors</a:t>
            </a:r>
          </a:p>
          <a:p>
            <a:pPr>
              <a:spcBef>
                <a:spcPts val="700"/>
              </a:spcBef>
            </a:pPr>
            <a:r>
              <a:rPr sz="1350">
                <a:solidFill>
                  <a:srgbClr val="C02A2A"/>
                </a:solidFill>
              </a:rPr>
              <a:t>✗ 列举2-3个主要原因</a:t>
            </a:r>
          </a:p>
          <a:p>
            <a:pPr>
              <a:spcBef>
                <a:spcPts val="700"/>
              </a:spcBef>
            </a:pPr>
            <a:r>
              <a:rPr sz="1350">
                <a:solidFill>
                  <a:srgbClr val="C02A2A"/>
                </a:solidFill>
              </a:rPr>
              <a:t>✗ 解释每个原因的机制（why it causes the problem）</a:t>
            </a:r>
          </a:p>
          <a:p>
            <a:pPr>
              <a:spcBef>
                <a:spcPts val="700"/>
              </a:spcBef>
            </a:pPr>
            <a:r>
              <a:rPr sz="1350">
                <a:solidFill>
                  <a:srgbClr val="C02A2A"/>
                </a:solidFill>
              </a:rPr>
              <a:t>✗ 可以没有例子（原因通常是分析性的）</a:t>
            </a:r>
          </a:p>
          <a:p>
            <a:pPr>
              <a:spcBef>
                <a:spcPts val="700"/>
              </a:spcBef>
            </a:pPr>
            <a:r>
              <a:rPr sz="1350">
                <a:solidFill>
                  <a:srgbClr val="C02A2A"/>
                </a:solidFill>
              </a:rPr>
              <a:t>✗ 衔接词：Furthermore/Additionally/Moreover</a:t>
            </a:r>
          </a:p>
        </p:txBody>
      </p:sp>
      <p:sp>
        <p:nvSpPr>
          <p:cNvPr id="15" name="TextBox 14"/>
          <p:cNvSpPr txBox="1"/>
          <p:nvPr/>
        </p:nvSpPr>
        <p:spPr>
          <a:xfrm>
            <a:off x="6400800" y="1920240"/>
            <a:ext cx="5074920" cy="4114800"/>
          </a:xfrm>
          <a:prstGeom prst="rect">
            <a:avLst/>
          </a:prstGeom>
          <a:noFill/>
        </p:spPr>
        <p:txBody>
          <a:bodyPr wrap="square">
            <a:spAutoFit/>
          </a:bodyPr>
          <a:lstStyle/>
          <a:p>
            <a:r>
              <a:rPr sz="1350">
                <a:solidFill>
                  <a:srgbClr val="1B7A3D"/>
                </a:solidFill>
              </a:rPr>
              <a:t>✓ 主题句：Addressing this requires / Solutions include</a:t>
            </a:r>
          </a:p>
          <a:p>
            <a:pPr>
              <a:spcBef>
                <a:spcPts val="700"/>
              </a:spcBef>
            </a:pPr>
            <a:r>
              <a:rPr sz="1350">
                <a:solidFill>
                  <a:srgbClr val="1B7A3D"/>
                </a:solidFill>
              </a:rPr>
              <a:t>✓ 针对性解决方案（最好对应原因）</a:t>
            </a:r>
          </a:p>
          <a:p>
            <a:pPr>
              <a:spcBef>
                <a:spcPts val="700"/>
              </a:spcBef>
            </a:pPr>
            <a:r>
              <a:rPr sz="1350">
                <a:solidFill>
                  <a:srgbClr val="1B7A3D"/>
                </a:solidFill>
              </a:rPr>
              <a:t>✓ 解释如何有效（This would reduce/prevent）</a:t>
            </a:r>
          </a:p>
          <a:p>
            <a:pPr>
              <a:spcBef>
                <a:spcPts val="700"/>
              </a:spcBef>
            </a:pPr>
            <a:r>
              <a:rPr sz="1350">
                <a:solidFill>
                  <a:srgbClr val="1B7A3D"/>
                </a:solidFill>
              </a:rPr>
              <a:t>✓ 可引用成功案例（如某国已实施）</a:t>
            </a:r>
          </a:p>
          <a:p>
            <a:pPr>
              <a:spcBef>
                <a:spcPts val="700"/>
              </a:spcBef>
            </a:pPr>
            <a:r>
              <a:rPr sz="1350">
                <a:solidFill>
                  <a:srgbClr val="1B7A3D"/>
                </a:solidFill>
              </a:rPr>
              <a:t>✓ 衔接词：Additionally/Furthermore/In parallel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方法步骤</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各题型引言写作4步法</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8016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335024"/>
            <a:ext cx="640080" cy="502920"/>
          </a:xfrm>
          <a:prstGeom prst="rect">
            <a:avLst/>
          </a:prstGeom>
          <a:noFill/>
        </p:spPr>
        <p:txBody>
          <a:bodyPr wrap="square" anchor="t">
            <a:spAutoFit/>
          </a:bodyPr>
          <a:lstStyle/>
          <a:p>
            <a:pPr algn="ctr"/>
            <a:r>
              <a:rPr sz="2200" b="1" i="0">
                <a:solidFill>
                  <a:srgbClr val="FFFFFF"/>
                </a:solidFill>
                <a:latin typeface="Calibri"/>
              </a:rPr>
              <a:t>1</a:t>
            </a:r>
          </a:p>
        </p:txBody>
      </p:sp>
      <p:sp>
        <p:nvSpPr>
          <p:cNvPr id="10" name="Rectangle 9"/>
          <p:cNvSpPr/>
          <p:nvPr/>
        </p:nvSpPr>
        <p:spPr>
          <a:xfrm>
            <a:off x="841248" y="1938528"/>
            <a:ext cx="45720" cy="39319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17320" y="1280160"/>
            <a:ext cx="10058400" cy="411480"/>
          </a:xfrm>
          <a:prstGeom prst="rect">
            <a:avLst/>
          </a:prstGeom>
          <a:noFill/>
        </p:spPr>
        <p:txBody>
          <a:bodyPr wrap="square" anchor="t">
            <a:spAutoFit/>
          </a:bodyPr>
          <a:lstStyle/>
          <a:p>
            <a:pPr algn="l"/>
            <a:r>
              <a:rPr sz="1600" b="1" i="0">
                <a:solidFill>
                  <a:srgbClr val="472473"/>
                </a:solidFill>
                <a:latin typeface="Calibri"/>
              </a:rPr>
              <a:t>Step 1（背景句）</a:t>
            </a:r>
          </a:p>
        </p:txBody>
      </p:sp>
      <p:sp>
        <p:nvSpPr>
          <p:cNvPr id="12" name="TextBox 11"/>
          <p:cNvSpPr txBox="1"/>
          <p:nvPr/>
        </p:nvSpPr>
        <p:spPr>
          <a:xfrm>
            <a:off x="1417320" y="1645919"/>
            <a:ext cx="10058400" cy="685799"/>
          </a:xfrm>
          <a:prstGeom prst="rect">
            <a:avLst/>
          </a:prstGeom>
          <a:noFill/>
        </p:spPr>
        <p:txBody>
          <a:bodyPr wrap="square" anchor="t">
            <a:spAutoFit/>
          </a:bodyPr>
          <a:lstStyle/>
          <a:p>
            <a:pPr algn="l"/>
            <a:r>
              <a:rPr sz="1350" b="0" i="0">
                <a:solidFill>
                  <a:srgbClr val="556075"/>
                </a:solidFill>
                <a:latin typeface="Calibri"/>
              </a:rPr>
              <a:t>用自己的话改写题目信息，不要直接抄原文</a:t>
            </a:r>
          </a:p>
        </p:txBody>
      </p:sp>
      <p:sp>
        <p:nvSpPr>
          <p:cNvPr id="13" name="Rounded Rectangle 12"/>
          <p:cNvSpPr/>
          <p:nvPr/>
        </p:nvSpPr>
        <p:spPr>
          <a:xfrm>
            <a:off x="548640" y="233172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2386584"/>
            <a:ext cx="640080" cy="502920"/>
          </a:xfrm>
          <a:prstGeom prst="rect">
            <a:avLst/>
          </a:prstGeom>
          <a:noFill/>
        </p:spPr>
        <p:txBody>
          <a:bodyPr wrap="square" anchor="t">
            <a:spAutoFit/>
          </a:bodyPr>
          <a:lstStyle/>
          <a:p>
            <a:pPr algn="ctr"/>
            <a:r>
              <a:rPr sz="2200" b="1" i="0">
                <a:solidFill>
                  <a:srgbClr val="FFFFFF"/>
                </a:solidFill>
                <a:latin typeface="Calibri"/>
              </a:rPr>
              <a:t>2</a:t>
            </a:r>
          </a:p>
        </p:txBody>
      </p:sp>
      <p:sp>
        <p:nvSpPr>
          <p:cNvPr id="15" name="Rectangle 14"/>
          <p:cNvSpPr/>
          <p:nvPr/>
        </p:nvSpPr>
        <p:spPr>
          <a:xfrm>
            <a:off x="841248" y="2990087"/>
            <a:ext cx="45720" cy="39319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17320" y="2331720"/>
            <a:ext cx="10058400" cy="411480"/>
          </a:xfrm>
          <a:prstGeom prst="rect">
            <a:avLst/>
          </a:prstGeom>
          <a:noFill/>
        </p:spPr>
        <p:txBody>
          <a:bodyPr wrap="square" anchor="t">
            <a:spAutoFit/>
          </a:bodyPr>
          <a:lstStyle/>
          <a:p>
            <a:pPr algn="l"/>
            <a:r>
              <a:rPr sz="1600" b="1" i="0">
                <a:solidFill>
                  <a:srgbClr val="472473"/>
                </a:solidFill>
                <a:latin typeface="Calibri"/>
              </a:rPr>
              <a:t>Step 2（争议/重要性句）</a:t>
            </a:r>
          </a:p>
        </p:txBody>
      </p:sp>
      <p:sp>
        <p:nvSpPr>
          <p:cNvPr id="17" name="TextBox 16"/>
          <p:cNvSpPr txBox="1"/>
          <p:nvPr/>
        </p:nvSpPr>
        <p:spPr>
          <a:xfrm>
            <a:off x="1417320" y="2697479"/>
            <a:ext cx="10058400" cy="685799"/>
          </a:xfrm>
          <a:prstGeom prst="rect">
            <a:avLst/>
          </a:prstGeom>
          <a:noFill/>
        </p:spPr>
        <p:txBody>
          <a:bodyPr wrap="square" anchor="t">
            <a:spAutoFit/>
          </a:bodyPr>
          <a:lstStyle/>
          <a:p>
            <a:pPr algn="l"/>
            <a:r>
              <a:rPr sz="1350" b="0" i="0">
                <a:solidFill>
                  <a:srgbClr val="556075"/>
                </a:solidFill>
                <a:latin typeface="Calibri"/>
              </a:rPr>
              <a:t>说明这个话题为什么有争议或为什么重要</a:t>
            </a:r>
          </a:p>
        </p:txBody>
      </p:sp>
      <p:sp>
        <p:nvSpPr>
          <p:cNvPr id="18" name="Rounded Rectangle 17"/>
          <p:cNvSpPr/>
          <p:nvPr/>
        </p:nvSpPr>
        <p:spPr>
          <a:xfrm>
            <a:off x="548640" y="3383279"/>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3438144"/>
            <a:ext cx="640080" cy="502920"/>
          </a:xfrm>
          <a:prstGeom prst="rect">
            <a:avLst/>
          </a:prstGeom>
          <a:noFill/>
        </p:spPr>
        <p:txBody>
          <a:bodyPr wrap="square" anchor="t">
            <a:spAutoFit/>
          </a:bodyPr>
          <a:lstStyle/>
          <a:p>
            <a:pPr algn="ctr"/>
            <a:r>
              <a:rPr sz="2200" b="1" i="0">
                <a:solidFill>
                  <a:srgbClr val="FFFFFF"/>
                </a:solidFill>
                <a:latin typeface="Calibri"/>
              </a:rPr>
              <a:t>3</a:t>
            </a:r>
          </a:p>
        </p:txBody>
      </p:sp>
      <p:sp>
        <p:nvSpPr>
          <p:cNvPr id="20" name="Rectangle 19"/>
          <p:cNvSpPr/>
          <p:nvPr/>
        </p:nvSpPr>
        <p:spPr>
          <a:xfrm>
            <a:off x="841248" y="4041648"/>
            <a:ext cx="45720" cy="393191"/>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17320" y="3383279"/>
            <a:ext cx="10058400" cy="411480"/>
          </a:xfrm>
          <a:prstGeom prst="rect">
            <a:avLst/>
          </a:prstGeom>
          <a:noFill/>
        </p:spPr>
        <p:txBody>
          <a:bodyPr wrap="square" anchor="t">
            <a:spAutoFit/>
          </a:bodyPr>
          <a:lstStyle/>
          <a:p>
            <a:pPr algn="l"/>
            <a:r>
              <a:rPr sz="1600" b="1" i="0">
                <a:solidFill>
                  <a:srgbClr val="472473"/>
                </a:solidFill>
                <a:latin typeface="Calibri"/>
              </a:rPr>
              <a:t>Step 3（预告结构）</a:t>
            </a:r>
          </a:p>
        </p:txBody>
      </p:sp>
      <p:sp>
        <p:nvSpPr>
          <p:cNvPr id="22" name="TextBox 21"/>
          <p:cNvSpPr txBox="1"/>
          <p:nvPr/>
        </p:nvSpPr>
        <p:spPr>
          <a:xfrm>
            <a:off x="1417320" y="3749039"/>
            <a:ext cx="10058400" cy="685799"/>
          </a:xfrm>
          <a:prstGeom prst="rect">
            <a:avLst/>
          </a:prstGeom>
          <a:noFill/>
        </p:spPr>
        <p:txBody>
          <a:bodyPr wrap="square" anchor="t">
            <a:spAutoFit/>
          </a:bodyPr>
          <a:lstStyle/>
          <a:p>
            <a:pPr algn="l"/>
            <a:r>
              <a:rPr sz="1350" b="0" i="0">
                <a:solidFill>
                  <a:srgbClr val="556075"/>
                </a:solidFill>
                <a:latin typeface="Calibri"/>
              </a:rPr>
              <a:t>This essay will discuss/examine/explore X and Y...</a:t>
            </a:r>
          </a:p>
        </p:txBody>
      </p:sp>
      <p:sp>
        <p:nvSpPr>
          <p:cNvPr id="23" name="Rounded Rectangle 22"/>
          <p:cNvSpPr/>
          <p:nvPr/>
        </p:nvSpPr>
        <p:spPr>
          <a:xfrm>
            <a:off x="548640" y="4434840"/>
            <a:ext cx="640080" cy="640080"/>
          </a:xfrm>
          <a:prstGeom prst="round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4489703"/>
            <a:ext cx="640080" cy="502920"/>
          </a:xfrm>
          <a:prstGeom prst="rect">
            <a:avLst/>
          </a:prstGeom>
          <a:noFill/>
        </p:spPr>
        <p:txBody>
          <a:bodyPr wrap="square" anchor="t">
            <a:spAutoFit/>
          </a:bodyPr>
          <a:lstStyle/>
          <a:p>
            <a:pPr algn="ctr"/>
            <a:r>
              <a:rPr sz="2200" b="1" i="0">
                <a:solidFill>
                  <a:srgbClr val="FFFFFF"/>
                </a:solidFill>
                <a:latin typeface="Calibri"/>
              </a:rPr>
              <a:t>4</a:t>
            </a:r>
          </a:p>
        </p:txBody>
      </p:sp>
      <p:sp>
        <p:nvSpPr>
          <p:cNvPr id="25" name="TextBox 24"/>
          <p:cNvSpPr txBox="1"/>
          <p:nvPr/>
        </p:nvSpPr>
        <p:spPr>
          <a:xfrm>
            <a:off x="1417320" y="4434840"/>
            <a:ext cx="10058400" cy="411480"/>
          </a:xfrm>
          <a:prstGeom prst="rect">
            <a:avLst/>
          </a:prstGeom>
          <a:noFill/>
        </p:spPr>
        <p:txBody>
          <a:bodyPr wrap="square" anchor="t">
            <a:spAutoFit/>
          </a:bodyPr>
          <a:lstStyle/>
          <a:p>
            <a:pPr algn="l"/>
            <a:r>
              <a:rPr sz="1600" b="1" i="0">
                <a:solidFill>
                  <a:srgbClr val="472473"/>
                </a:solidFill>
                <a:latin typeface="Calibri"/>
              </a:rPr>
              <a:t>Step 4（立场句，如需）</a:t>
            </a:r>
          </a:p>
        </p:txBody>
      </p:sp>
      <p:sp>
        <p:nvSpPr>
          <p:cNvPr id="26" name="TextBox 25"/>
          <p:cNvSpPr txBox="1"/>
          <p:nvPr/>
        </p:nvSpPr>
        <p:spPr>
          <a:xfrm>
            <a:off x="1417320" y="4800600"/>
            <a:ext cx="10058400" cy="685799"/>
          </a:xfrm>
          <a:prstGeom prst="rect">
            <a:avLst/>
          </a:prstGeom>
          <a:noFill/>
        </p:spPr>
        <p:txBody>
          <a:bodyPr wrap="square" anchor="t">
            <a:spAutoFit/>
          </a:bodyPr>
          <a:lstStyle/>
          <a:p>
            <a:pPr algn="l"/>
            <a:r>
              <a:rPr sz="1350" b="0" i="0">
                <a:solidFill>
                  <a:srgbClr val="556075"/>
                </a:solidFill>
                <a:latin typeface="Calibri"/>
              </a:rPr>
              <a:t>I believe/I firmly agree that...（有opinion要求时才加）</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课堂练习</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当堂练习：题型识别与结构设计</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188720"/>
            <a:ext cx="11064240" cy="640080"/>
          </a:xfrm>
          <a:prstGeom prst="round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261872"/>
            <a:ext cx="10607040" cy="502920"/>
          </a:xfrm>
          <a:prstGeom prst="rect">
            <a:avLst/>
          </a:prstGeom>
          <a:noFill/>
        </p:spPr>
        <p:txBody>
          <a:bodyPr wrap="square" anchor="ctr">
            <a:spAutoFit/>
          </a:bodyPr>
          <a:lstStyle/>
          <a:p>
            <a:pPr algn="l"/>
            <a:r>
              <a:rPr sz="1400" b="1" i="0">
                <a:solidFill>
                  <a:srgbClr val="FFFFFF"/>
                </a:solidFill>
                <a:latin typeface="Calibri"/>
              </a:rPr>
              <a:t>📝 判断题型并设计主体段结构</a:t>
            </a:r>
          </a:p>
        </p:txBody>
      </p:sp>
      <p:sp>
        <p:nvSpPr>
          <p:cNvPr id="10" name="TextBox 9"/>
          <p:cNvSpPr txBox="1"/>
          <p:nvPr/>
        </p:nvSpPr>
        <p:spPr>
          <a:xfrm>
            <a:off x="640080" y="2057400"/>
            <a:ext cx="10972800" cy="4206240"/>
          </a:xfrm>
          <a:prstGeom prst="rect">
            <a:avLst/>
          </a:prstGeom>
          <a:noFill/>
        </p:spPr>
        <p:txBody>
          <a:bodyPr wrap="square">
            <a:spAutoFit/>
          </a:bodyPr>
          <a:lstStyle/>
          <a:p>
            <a:r>
              <a:rPr sz="1700" b="1">
                <a:solidFill>
                  <a:srgbClr val="472473"/>
                </a:solidFill>
              </a:rPr>
              <a:t>▢ 题目1</a:t>
            </a:r>
          </a:p>
          <a:p>
            <a:pPr>
              <a:spcBef>
                <a:spcPts val="100"/>
              </a:spcBef>
            </a:pPr>
            <a:r>
              <a:rPr sz="1400">
                <a:solidFill>
                  <a:srgbClr val="556075"/>
                </a:solidFill>
              </a:rPr>
              <a:t>   题目："There are many reasons why people today do not get enough sleep. What are the causes of this? What problems does lack of sleep cause?"
判断题型：___
主体段分配：___
【答案】题型：双问题题（原因+影响）
主体段：段1=睡眠不足的原因（压力/屏幕时间/工作时间/咖啡因）+段2=影响（认知/健康/事故/经济效率）</a:t>
            </a:r>
          </a:p>
          <a:p>
            <a:pPr>
              <a:spcBef>
                <a:spcPts val="1100"/>
              </a:spcBef>
            </a:pPr>
            <a:r>
              <a:rPr sz="1700" b="1">
                <a:solidFill>
                  <a:srgbClr val="472473"/>
                </a:solidFill>
              </a:rPr>
              <a:t>▢ 题目2</a:t>
            </a:r>
          </a:p>
          <a:p>
            <a:pPr>
              <a:spcBef>
                <a:spcPts val="100"/>
              </a:spcBef>
            </a:pPr>
            <a:r>
              <a:rPr sz="1400">
                <a:solidFill>
                  <a:srgbClr val="556075"/>
                </a:solidFill>
              </a:rPr>
              <a:t>   题目："Is it better for governments to spend money on public transport or on new roads? Discuss the advantages and disadvantages and give your opinion."
判断题型：___
是否需要立场？___
主体段分配：___
【答案】题型：优缺点文（有give your opinion→需要立场）
结构：引言（立场）+优点段（公交OR公路）+缺点段+结论（立场）
注意：此题可按"公共交通方"vs"修路方"的优缺点，或"公交的优缺点"写</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优缺点文5大技巧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技巧1：确认是否需要立场</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有"give your opinion"→必须有立场；没有→可以中立</a:t>
            </a:r>
          </a:p>
        </p:txBody>
      </p:sp>
      <p:sp>
        <p:nvSpPr>
          <p:cNvPr id="12" name="Rounded Rectangle 11"/>
          <p:cNvSpPr/>
          <p:nvPr/>
        </p:nvSpPr>
        <p:spPr>
          <a:xfrm>
            <a:off x="6355079"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技巧2：两段平衡</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优点段和缺点段词数基本相当——不能严重偏向一方</a:t>
            </a:r>
          </a:p>
        </p:txBody>
      </p:sp>
      <p:sp>
        <p:nvSpPr>
          <p:cNvPr id="16" name="Rounded Rectangle 15"/>
          <p:cNvSpPr/>
          <p:nvPr/>
        </p:nvSpPr>
        <p:spPr>
          <a:xfrm>
            <a:off x="548640"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472473"/>
                </a:solidFill>
                <a:latin typeface="Calibri"/>
              </a:rPr>
              <a:t>技巧3：主题句明确</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优点段/缺点段各自的主题句清晰预告本段内容</a:t>
            </a:r>
          </a:p>
        </p:txBody>
      </p:sp>
      <p:sp>
        <p:nvSpPr>
          <p:cNvPr id="20" name="Rounded Rectangle 19"/>
          <p:cNvSpPr/>
          <p:nvPr/>
        </p:nvSpPr>
        <p:spPr>
          <a:xfrm>
            <a:off x="6355079"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472473"/>
                </a:solidFill>
                <a:latin typeface="Calibri"/>
              </a:rPr>
              <a:t>技巧4：权衡词汇</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outweigh/compensate for/offset/balance——结论用</a:t>
            </a:r>
          </a:p>
        </p:txBody>
      </p:sp>
      <p:sp>
        <p:nvSpPr>
          <p:cNvPr id="24" name="Rounded Rectangle 23"/>
          <p:cNvSpPr/>
          <p:nvPr/>
        </p:nvSpPr>
        <p:spPr>
          <a:xfrm>
            <a:off x="548640" y="449580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472473"/>
                </a:solidFill>
                <a:latin typeface="Calibri"/>
              </a:rPr>
              <a:t>技巧5：真实例子</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优缺点要有解释（why），不只是列举词汇</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问题解决题5大技巧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技巧1：原因解决对应</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解决方案最好针对性地对应分析的原因</a:t>
            </a:r>
          </a:p>
        </p:txBody>
      </p:sp>
      <p:sp>
        <p:nvSpPr>
          <p:cNvPr id="12" name="Rounded Rectangle 11"/>
          <p:cNvSpPr/>
          <p:nvPr/>
        </p:nvSpPr>
        <p:spPr>
          <a:xfrm>
            <a:off x="6355079"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技巧2：条件句使用</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If governments... / Were this policy implemented...</a:t>
            </a:r>
          </a:p>
        </p:txBody>
      </p:sp>
      <p:sp>
        <p:nvSpPr>
          <p:cNvPr id="16" name="Rounded Rectangle 15"/>
          <p:cNvSpPr/>
          <p:nvPr/>
        </p:nvSpPr>
        <p:spPr>
          <a:xfrm>
            <a:off x="548640"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472473"/>
                </a:solidFill>
                <a:latin typeface="Calibri"/>
              </a:rPr>
              <a:t>技巧3：真实案例</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引用某国/某城市的成功经验——增加可信度</a:t>
            </a:r>
          </a:p>
        </p:txBody>
      </p:sp>
      <p:sp>
        <p:nvSpPr>
          <p:cNvPr id="20" name="Rounded Rectangle 19"/>
          <p:cNvSpPr/>
          <p:nvPr/>
        </p:nvSpPr>
        <p:spPr>
          <a:xfrm>
            <a:off x="6355079"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472473"/>
                </a:solidFill>
                <a:latin typeface="Calibri"/>
              </a:rPr>
              <a:t>技巧4：多层解决</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不只是一个方案——展示政府/个人/社区多层次</a:t>
            </a:r>
          </a:p>
        </p:txBody>
      </p:sp>
      <p:sp>
        <p:nvSpPr>
          <p:cNvPr id="24" name="Rounded Rectangle 23"/>
          <p:cNvSpPr/>
          <p:nvPr/>
        </p:nvSpPr>
        <p:spPr>
          <a:xfrm>
            <a:off x="548640" y="449580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472473"/>
                </a:solidFill>
                <a:latin typeface="Calibri"/>
              </a:rPr>
              <a:t>技巧5：影响说明</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解决方案后面说明effect（This would/could reduce...）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双问题题5大技巧</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技巧1：数问号</a:t>
            </a:r>
          </a:p>
        </p:txBody>
      </p:sp>
      <p:sp>
        <p:nvSpPr>
          <p:cNvPr id="11" name="TextBox 10"/>
          <p:cNvSpPr txBox="1"/>
          <p:nvPr/>
        </p:nvSpPr>
        <p:spPr>
          <a:xfrm>
            <a:off x="822959" y="1737360"/>
            <a:ext cx="5029200" cy="853440"/>
          </a:xfrm>
          <a:prstGeom prst="rect">
            <a:avLst/>
          </a:prstGeom>
          <a:noFill/>
        </p:spPr>
        <p:txBody>
          <a:bodyPr wrap="square" anchor="t">
            <a:spAutoFit/>
          </a:bodyPr>
          <a:lstStyle/>
          <a:p>
            <a:pPr algn="l"/>
            <a:r>
              <a:rPr sz="1250" b="0" i="0">
                <a:solidFill>
                  <a:srgbClr val="556075"/>
                </a:solidFill>
                <a:latin typeface="Calibri"/>
              </a:rPr>
              <a:t>题目有几个问号=需要几段主体（或几个部分）</a:t>
            </a:r>
          </a:p>
        </p:txBody>
      </p:sp>
      <p:sp>
        <p:nvSpPr>
          <p:cNvPr id="12" name="Rounded Rectangle 11"/>
          <p:cNvSpPr/>
          <p:nvPr/>
        </p:nvSpPr>
        <p:spPr>
          <a:xfrm>
            <a:off x="6355079" y="123444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技巧2：引言预告</a:t>
            </a:r>
          </a:p>
        </p:txBody>
      </p:sp>
      <p:sp>
        <p:nvSpPr>
          <p:cNvPr id="15" name="TextBox 14"/>
          <p:cNvSpPr txBox="1"/>
          <p:nvPr/>
        </p:nvSpPr>
        <p:spPr>
          <a:xfrm>
            <a:off x="6629399" y="1737360"/>
            <a:ext cx="5029200" cy="853440"/>
          </a:xfrm>
          <a:prstGeom prst="rect">
            <a:avLst/>
          </a:prstGeom>
          <a:noFill/>
        </p:spPr>
        <p:txBody>
          <a:bodyPr wrap="square" anchor="t">
            <a:spAutoFit/>
          </a:bodyPr>
          <a:lstStyle/>
          <a:p>
            <a:pPr algn="l"/>
            <a:r>
              <a:rPr sz="1250" b="0" i="0">
                <a:solidFill>
                  <a:srgbClr val="556075"/>
                </a:solidFill>
                <a:latin typeface="Calibri"/>
              </a:rPr>
              <a:t>引言最后一句预告文章回答两个问题</a:t>
            </a:r>
          </a:p>
        </p:txBody>
      </p:sp>
      <p:sp>
        <p:nvSpPr>
          <p:cNvPr id="16" name="Rounded Rectangle 15"/>
          <p:cNvSpPr/>
          <p:nvPr/>
        </p:nvSpPr>
        <p:spPr>
          <a:xfrm>
            <a:off x="548640"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2956560"/>
            <a:ext cx="5029200" cy="411480"/>
          </a:xfrm>
          <a:prstGeom prst="rect">
            <a:avLst/>
          </a:prstGeom>
          <a:noFill/>
        </p:spPr>
        <p:txBody>
          <a:bodyPr wrap="square" anchor="t">
            <a:spAutoFit/>
          </a:bodyPr>
          <a:lstStyle/>
          <a:p>
            <a:pPr algn="l"/>
            <a:r>
              <a:rPr sz="1400" b="1" i="0">
                <a:solidFill>
                  <a:srgbClr val="472473"/>
                </a:solidFill>
                <a:latin typeface="Calibri"/>
              </a:rPr>
              <a:t>技巧3：词数平衡</a:t>
            </a:r>
          </a:p>
        </p:txBody>
      </p:sp>
      <p:sp>
        <p:nvSpPr>
          <p:cNvPr id="19" name="TextBox 18"/>
          <p:cNvSpPr txBox="1"/>
          <p:nvPr/>
        </p:nvSpPr>
        <p:spPr>
          <a:xfrm>
            <a:off x="822959" y="3368040"/>
            <a:ext cx="5029200" cy="853440"/>
          </a:xfrm>
          <a:prstGeom prst="rect">
            <a:avLst/>
          </a:prstGeom>
          <a:noFill/>
        </p:spPr>
        <p:txBody>
          <a:bodyPr wrap="square" anchor="t">
            <a:spAutoFit/>
          </a:bodyPr>
          <a:lstStyle/>
          <a:p>
            <a:pPr algn="l"/>
            <a:r>
              <a:rPr sz="1250" b="0" i="0">
                <a:solidFill>
                  <a:srgbClr val="556075"/>
                </a:solidFill>
                <a:latin typeface="Calibri"/>
              </a:rPr>
              <a:t>两个问题的主体段词数基本均衡（各约100词）</a:t>
            </a:r>
          </a:p>
        </p:txBody>
      </p:sp>
      <p:sp>
        <p:nvSpPr>
          <p:cNvPr id="20" name="Rounded Rectangle 19"/>
          <p:cNvSpPr/>
          <p:nvPr/>
        </p:nvSpPr>
        <p:spPr>
          <a:xfrm>
            <a:off x="6355079" y="286512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86512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2956560"/>
            <a:ext cx="5029200" cy="411480"/>
          </a:xfrm>
          <a:prstGeom prst="rect">
            <a:avLst/>
          </a:prstGeom>
          <a:noFill/>
        </p:spPr>
        <p:txBody>
          <a:bodyPr wrap="square" anchor="t">
            <a:spAutoFit/>
          </a:bodyPr>
          <a:lstStyle/>
          <a:p>
            <a:pPr algn="l"/>
            <a:r>
              <a:rPr sz="1400" b="1" i="0">
                <a:solidFill>
                  <a:srgbClr val="472473"/>
                </a:solidFill>
                <a:latin typeface="Calibri"/>
              </a:rPr>
              <a:t>技巧4：立场按需</a:t>
            </a:r>
          </a:p>
        </p:txBody>
      </p:sp>
      <p:sp>
        <p:nvSpPr>
          <p:cNvPr id="23" name="TextBox 22"/>
          <p:cNvSpPr txBox="1"/>
          <p:nvPr/>
        </p:nvSpPr>
        <p:spPr>
          <a:xfrm>
            <a:off x="6629399" y="3368040"/>
            <a:ext cx="5029200" cy="853440"/>
          </a:xfrm>
          <a:prstGeom prst="rect">
            <a:avLst/>
          </a:prstGeom>
          <a:noFill/>
        </p:spPr>
        <p:txBody>
          <a:bodyPr wrap="square" anchor="t">
            <a:spAutoFit/>
          </a:bodyPr>
          <a:lstStyle/>
          <a:p>
            <a:pPr algn="l"/>
            <a:r>
              <a:rPr sz="1250" b="0" i="0">
                <a:solidFill>
                  <a:srgbClr val="556075"/>
                </a:solidFill>
                <a:latin typeface="Calibri"/>
              </a:rPr>
              <a:t>有"positive/negative/opinion"→才需要立场</a:t>
            </a:r>
          </a:p>
        </p:txBody>
      </p:sp>
      <p:sp>
        <p:nvSpPr>
          <p:cNvPr id="24" name="Rounded Rectangle 23"/>
          <p:cNvSpPr/>
          <p:nvPr/>
        </p:nvSpPr>
        <p:spPr>
          <a:xfrm>
            <a:off x="548640" y="4495800"/>
            <a:ext cx="5486400" cy="140208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4495800"/>
            <a:ext cx="109728" cy="140208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59" y="4587240"/>
            <a:ext cx="5029200" cy="411480"/>
          </a:xfrm>
          <a:prstGeom prst="rect">
            <a:avLst/>
          </a:prstGeom>
          <a:noFill/>
        </p:spPr>
        <p:txBody>
          <a:bodyPr wrap="square" anchor="t">
            <a:spAutoFit/>
          </a:bodyPr>
          <a:lstStyle/>
          <a:p>
            <a:pPr algn="l"/>
            <a:r>
              <a:rPr sz="1400" b="1" i="0">
                <a:solidFill>
                  <a:srgbClr val="472473"/>
                </a:solidFill>
                <a:latin typeface="Calibri"/>
              </a:rPr>
              <a:t>技巧5：结论总结</a:t>
            </a:r>
          </a:p>
        </p:txBody>
      </p:sp>
      <p:sp>
        <p:nvSpPr>
          <p:cNvPr id="27" name="TextBox 26"/>
          <p:cNvSpPr txBox="1"/>
          <p:nvPr/>
        </p:nvSpPr>
        <p:spPr>
          <a:xfrm>
            <a:off x="822959" y="4998720"/>
            <a:ext cx="5029200" cy="853440"/>
          </a:xfrm>
          <a:prstGeom prst="rect">
            <a:avLst/>
          </a:prstGeom>
          <a:noFill/>
        </p:spPr>
        <p:txBody>
          <a:bodyPr wrap="square" anchor="t">
            <a:spAutoFit/>
          </a:bodyPr>
          <a:lstStyle/>
          <a:p>
            <a:pPr algn="l"/>
            <a:r>
              <a:rPr sz="1250" b="0" i="0">
                <a:solidFill>
                  <a:srgbClr val="556075"/>
                </a:solidFill>
                <a:latin typeface="Calibri"/>
              </a:rPr>
              <a:t>结论分别总结两个问题的回答——不要只总结一个</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技巧速记</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L07考场时间分配</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ounded Rectangle 7"/>
          <p:cNvSpPr/>
          <p:nvPr/>
        </p:nvSpPr>
        <p:spPr>
          <a:xfrm>
            <a:off x="548640"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59" y="1325880"/>
            <a:ext cx="5029200" cy="411480"/>
          </a:xfrm>
          <a:prstGeom prst="rect">
            <a:avLst/>
          </a:prstGeom>
          <a:noFill/>
        </p:spPr>
        <p:txBody>
          <a:bodyPr wrap="square" anchor="t">
            <a:spAutoFit/>
          </a:bodyPr>
          <a:lstStyle/>
          <a:p>
            <a:pPr algn="l"/>
            <a:r>
              <a:rPr sz="1400" b="1" i="0">
                <a:solidFill>
                  <a:srgbClr val="472473"/>
                </a:solidFill>
                <a:latin typeface="Calibri"/>
              </a:rPr>
              <a:t>审题（2分钟）</a:t>
            </a:r>
          </a:p>
        </p:txBody>
      </p:sp>
      <p:sp>
        <p:nvSpPr>
          <p:cNvPr id="11" name="TextBox 10"/>
          <p:cNvSpPr txBox="1"/>
          <p:nvPr/>
        </p:nvSpPr>
        <p:spPr>
          <a:xfrm>
            <a:off x="822959" y="1737360"/>
            <a:ext cx="5029200" cy="914400"/>
          </a:xfrm>
          <a:prstGeom prst="rect">
            <a:avLst/>
          </a:prstGeom>
          <a:noFill/>
        </p:spPr>
        <p:txBody>
          <a:bodyPr wrap="square" anchor="t">
            <a:spAutoFit/>
          </a:bodyPr>
          <a:lstStyle/>
          <a:p>
            <a:pPr algn="l"/>
            <a:r>
              <a:rPr sz="1250" b="0" i="0">
                <a:solidFill>
                  <a:srgbClr val="556075"/>
                </a:solidFill>
                <a:latin typeface="Calibri"/>
              </a:rPr>
              <a:t>读完题目，判断题型，确认需要几段主体</a:t>
            </a:r>
          </a:p>
        </p:txBody>
      </p:sp>
      <p:sp>
        <p:nvSpPr>
          <p:cNvPr id="12" name="Rounded Rectangle 11"/>
          <p:cNvSpPr/>
          <p:nvPr/>
        </p:nvSpPr>
        <p:spPr>
          <a:xfrm>
            <a:off x="6355079" y="123444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55079" y="123444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29399" y="1325880"/>
            <a:ext cx="5029200" cy="411480"/>
          </a:xfrm>
          <a:prstGeom prst="rect">
            <a:avLst/>
          </a:prstGeom>
          <a:noFill/>
        </p:spPr>
        <p:txBody>
          <a:bodyPr wrap="square" anchor="t">
            <a:spAutoFit/>
          </a:bodyPr>
          <a:lstStyle/>
          <a:p>
            <a:pPr algn="l"/>
            <a:r>
              <a:rPr sz="1400" b="1" i="0">
                <a:solidFill>
                  <a:srgbClr val="472473"/>
                </a:solidFill>
                <a:latin typeface="Calibri"/>
              </a:rPr>
              <a:t>提纲（3分钟）</a:t>
            </a:r>
          </a:p>
        </p:txBody>
      </p:sp>
      <p:sp>
        <p:nvSpPr>
          <p:cNvPr id="15" name="TextBox 14"/>
          <p:cNvSpPr txBox="1"/>
          <p:nvPr/>
        </p:nvSpPr>
        <p:spPr>
          <a:xfrm>
            <a:off x="6629399" y="1737360"/>
            <a:ext cx="5029200" cy="914400"/>
          </a:xfrm>
          <a:prstGeom prst="rect">
            <a:avLst/>
          </a:prstGeom>
          <a:noFill/>
        </p:spPr>
        <p:txBody>
          <a:bodyPr wrap="square" anchor="t">
            <a:spAutoFit/>
          </a:bodyPr>
          <a:lstStyle/>
          <a:p>
            <a:pPr algn="l"/>
            <a:r>
              <a:rPr sz="1250" b="0" i="0">
                <a:solidFill>
                  <a:srgbClr val="556075"/>
                </a:solidFill>
                <a:latin typeface="Calibri"/>
              </a:rPr>
              <a:t>各段主题句关键词+例子/数据关键词</a:t>
            </a:r>
          </a:p>
        </p:txBody>
      </p:sp>
      <p:sp>
        <p:nvSpPr>
          <p:cNvPr id="16" name="Rounded Rectangle 15"/>
          <p:cNvSpPr/>
          <p:nvPr/>
        </p:nvSpPr>
        <p:spPr>
          <a:xfrm>
            <a:off x="548640"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 y="3017520"/>
            <a:ext cx="5029200" cy="411480"/>
          </a:xfrm>
          <a:prstGeom prst="rect">
            <a:avLst/>
          </a:prstGeom>
          <a:noFill/>
        </p:spPr>
        <p:txBody>
          <a:bodyPr wrap="square" anchor="t">
            <a:spAutoFit/>
          </a:bodyPr>
          <a:lstStyle/>
          <a:p>
            <a:pPr algn="l"/>
            <a:r>
              <a:rPr sz="1400" b="1" i="0">
                <a:solidFill>
                  <a:srgbClr val="472473"/>
                </a:solidFill>
                <a:latin typeface="Calibri"/>
              </a:rPr>
              <a:t>写作（30分钟）</a:t>
            </a:r>
          </a:p>
        </p:txBody>
      </p:sp>
      <p:sp>
        <p:nvSpPr>
          <p:cNvPr id="19" name="TextBox 18"/>
          <p:cNvSpPr txBox="1"/>
          <p:nvPr/>
        </p:nvSpPr>
        <p:spPr>
          <a:xfrm>
            <a:off x="822959" y="3429000"/>
            <a:ext cx="5029200" cy="914400"/>
          </a:xfrm>
          <a:prstGeom prst="rect">
            <a:avLst/>
          </a:prstGeom>
          <a:noFill/>
        </p:spPr>
        <p:txBody>
          <a:bodyPr wrap="square" anchor="t">
            <a:spAutoFit/>
          </a:bodyPr>
          <a:lstStyle/>
          <a:p>
            <a:pPr algn="l"/>
            <a:r>
              <a:rPr sz="1250" b="0" i="0">
                <a:solidFill>
                  <a:srgbClr val="556075"/>
                </a:solidFill>
                <a:latin typeface="Calibri"/>
              </a:rPr>
              <a:t>引言6分钟+主体各11分钟+结论5分钟-调整（按题型）</a:t>
            </a:r>
          </a:p>
        </p:txBody>
      </p:sp>
      <p:sp>
        <p:nvSpPr>
          <p:cNvPr id="20" name="Rounded Rectangle 19"/>
          <p:cNvSpPr/>
          <p:nvPr/>
        </p:nvSpPr>
        <p:spPr>
          <a:xfrm>
            <a:off x="6355079" y="2926080"/>
            <a:ext cx="5486400" cy="1463040"/>
          </a:xfrm>
          <a:prstGeom prst="round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79" y="2926080"/>
            <a:ext cx="109728" cy="146304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29399" y="3017520"/>
            <a:ext cx="5029200" cy="411480"/>
          </a:xfrm>
          <a:prstGeom prst="rect">
            <a:avLst/>
          </a:prstGeom>
          <a:noFill/>
        </p:spPr>
        <p:txBody>
          <a:bodyPr wrap="square" anchor="t">
            <a:spAutoFit/>
          </a:bodyPr>
          <a:lstStyle/>
          <a:p>
            <a:pPr algn="l"/>
            <a:r>
              <a:rPr sz="1400" b="1" i="0">
                <a:solidFill>
                  <a:srgbClr val="472473"/>
                </a:solidFill>
                <a:latin typeface="Calibri"/>
              </a:rPr>
              <a:t>检查（5分钟）</a:t>
            </a:r>
          </a:p>
        </p:txBody>
      </p:sp>
      <p:sp>
        <p:nvSpPr>
          <p:cNvPr id="23" name="TextBox 22"/>
          <p:cNvSpPr txBox="1"/>
          <p:nvPr/>
        </p:nvSpPr>
        <p:spPr>
          <a:xfrm>
            <a:off x="6629399" y="3429000"/>
            <a:ext cx="5029200" cy="914400"/>
          </a:xfrm>
          <a:prstGeom prst="rect">
            <a:avLst/>
          </a:prstGeom>
          <a:noFill/>
        </p:spPr>
        <p:txBody>
          <a:bodyPr wrap="square" anchor="t">
            <a:spAutoFit/>
          </a:bodyPr>
          <a:lstStyle/>
          <a:p>
            <a:pPr algn="l"/>
            <a:r>
              <a:rPr sz="1250" b="0" i="0">
                <a:solidFill>
                  <a:srgbClr val="556075"/>
                </a:solidFill>
                <a:latin typeface="Calibri"/>
              </a:rPr>
              <a:t>词数？立场（如需）？题目所有问题都答了吗？</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优缺点高频词汇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472473"/>
                </a:solidFill>
                <a:latin typeface="Calibri"/>
              </a:rPr>
              <a:t>advantage</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 benefit/merit/asset/strength/positive aspect</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472473"/>
                </a:solidFill>
                <a:latin typeface="Calibri"/>
              </a:rPr>
              <a:t>disadvantage</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 drawback/limitation/downside/weakness/negative aspect</a:t>
            </a:r>
          </a:p>
        </p:txBody>
      </p:sp>
      <p:sp>
        <p:nvSpPr>
          <p:cNvPr id="20" name="Rectangle 19"/>
          <p:cNvSpPr/>
          <p:nvPr/>
        </p:nvSpPr>
        <p:spPr>
          <a:xfrm>
            <a:off x="548640" y="2543694"/>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472473"/>
                </a:solidFill>
                <a:latin typeface="Calibri"/>
              </a:rPr>
              <a:t>outweigh</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超过；比...重要</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472473"/>
                </a:solidFill>
                <a:latin typeface="Calibri"/>
              </a:rPr>
              <a:t>compensate for</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弥补；补偿</a:t>
            </a:r>
          </a:p>
        </p:txBody>
      </p:sp>
      <p:sp>
        <p:nvSpPr>
          <p:cNvPr id="28" name="Rectangle 27"/>
          <p:cNvSpPr/>
          <p:nvPr/>
        </p:nvSpPr>
        <p:spPr>
          <a:xfrm>
            <a:off x="548640" y="3416530"/>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472473"/>
                </a:solidFill>
                <a:latin typeface="Calibri"/>
              </a:rPr>
              <a:t>offset</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抵消；补偿</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472473"/>
                </a:solidFill>
                <a:latin typeface="Calibri"/>
              </a:rPr>
              <a:t>on balance</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总体而言</a:t>
            </a:r>
          </a:p>
        </p:txBody>
      </p:sp>
      <p:sp>
        <p:nvSpPr>
          <p:cNvPr id="36" name="Rectangle 35"/>
          <p:cNvSpPr/>
          <p:nvPr/>
        </p:nvSpPr>
        <p:spPr>
          <a:xfrm>
            <a:off x="548640" y="4289367"/>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472473"/>
                </a:solidFill>
                <a:latin typeface="Calibri"/>
              </a:rPr>
              <a:t>significant advantage</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显著优势</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472473"/>
                </a:solidFill>
                <a:latin typeface="Calibri"/>
              </a:rPr>
              <a:t>notable drawback</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显著缺点</a:t>
            </a:r>
          </a:p>
        </p:txBody>
      </p:sp>
      <p:sp>
        <p:nvSpPr>
          <p:cNvPr id="44" name="Rectangle 43"/>
          <p:cNvSpPr/>
          <p:nvPr/>
        </p:nvSpPr>
        <p:spPr>
          <a:xfrm>
            <a:off x="548640" y="5162203"/>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472473"/>
                </a:solidFill>
                <a:latin typeface="Calibri"/>
              </a:rPr>
              <a:t>considerable benefit</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相当大的好处</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472473"/>
                </a:solidFill>
                <a:latin typeface="Calibri"/>
              </a:rPr>
              <a:t>potential risk</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潜在风险</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问题解决高频词汇</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472473"/>
                </a:solidFill>
                <a:latin typeface="Calibri"/>
              </a:rPr>
              <a:t>cause</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 factor/driver/trigger/contributor/root cause</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472473"/>
                </a:solidFill>
                <a:latin typeface="Calibri"/>
              </a:rPr>
              <a:t>solution</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 measure/approach/strategy/remedy/response</a:t>
            </a:r>
          </a:p>
        </p:txBody>
      </p:sp>
      <p:sp>
        <p:nvSpPr>
          <p:cNvPr id="20" name="Rectangle 19"/>
          <p:cNvSpPr/>
          <p:nvPr/>
        </p:nvSpPr>
        <p:spPr>
          <a:xfrm>
            <a:off x="548640" y="2543694"/>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472473"/>
                </a:solidFill>
                <a:latin typeface="Calibri"/>
              </a:rPr>
              <a:t>address</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解决；处理</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472473"/>
                </a:solidFill>
                <a:latin typeface="Calibri"/>
              </a:rPr>
              <a:t>tackle</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应对；处理</a:t>
            </a:r>
          </a:p>
        </p:txBody>
      </p:sp>
      <p:sp>
        <p:nvSpPr>
          <p:cNvPr id="28" name="Rectangle 27"/>
          <p:cNvSpPr/>
          <p:nvPr/>
        </p:nvSpPr>
        <p:spPr>
          <a:xfrm>
            <a:off x="548640" y="3416530"/>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472473"/>
                </a:solidFill>
                <a:latin typeface="Calibri"/>
              </a:rPr>
              <a:t>alleviate</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减轻；缓和</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472473"/>
                </a:solidFill>
                <a:latin typeface="Calibri"/>
              </a:rPr>
              <a:t>mitigate</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减轻；缓解</a:t>
            </a:r>
          </a:p>
        </p:txBody>
      </p:sp>
      <p:sp>
        <p:nvSpPr>
          <p:cNvPr id="36" name="Rectangle 35"/>
          <p:cNvSpPr/>
          <p:nvPr/>
        </p:nvSpPr>
        <p:spPr>
          <a:xfrm>
            <a:off x="548640" y="4289367"/>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472473"/>
                </a:solidFill>
                <a:latin typeface="Calibri"/>
              </a:rPr>
              <a:t>implement</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实施；执行</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472473"/>
                </a:solidFill>
                <a:latin typeface="Calibri"/>
              </a:rPr>
              <a:t>introduce</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引入；推出</a:t>
            </a:r>
          </a:p>
        </p:txBody>
      </p:sp>
      <p:sp>
        <p:nvSpPr>
          <p:cNvPr id="44" name="Rectangle 43"/>
          <p:cNvSpPr/>
          <p:nvPr/>
        </p:nvSpPr>
        <p:spPr>
          <a:xfrm>
            <a:off x="548640" y="5162203"/>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472473"/>
                </a:solidFill>
                <a:latin typeface="Calibri"/>
              </a:rPr>
              <a:t>initiative</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倡议；措施</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472473"/>
                </a:solidFill>
                <a:latin typeface="Calibri"/>
              </a:rPr>
              <a:t>policy</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政策</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词汇 · 句型库</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Task 2高频词汇：程度与权衡</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Rectangle 7"/>
          <p:cNvSpPr/>
          <p:nvPr/>
        </p:nvSpPr>
        <p:spPr>
          <a:xfrm>
            <a:off x="548640" y="1234440"/>
            <a:ext cx="493776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234440"/>
            <a:ext cx="6126480" cy="436418"/>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234440"/>
            <a:ext cx="4754880" cy="436418"/>
          </a:xfrm>
          <a:prstGeom prst="rect">
            <a:avLst/>
          </a:prstGeom>
          <a:noFill/>
        </p:spPr>
        <p:txBody>
          <a:bodyPr wrap="square" anchor="ctr">
            <a:spAutoFit/>
          </a:bodyPr>
          <a:lstStyle/>
          <a:p>
            <a:pPr algn="l"/>
            <a:r>
              <a:rPr sz="1300" b="1" i="0">
                <a:solidFill>
                  <a:srgbClr val="FFFFFF"/>
                </a:solidFill>
                <a:latin typeface="Calibri"/>
              </a:rPr>
              <a:t>表达 / Expression</a:t>
            </a:r>
          </a:p>
        </p:txBody>
      </p:sp>
      <p:sp>
        <p:nvSpPr>
          <p:cNvPr id="11" name="TextBox 10"/>
          <p:cNvSpPr txBox="1"/>
          <p:nvPr/>
        </p:nvSpPr>
        <p:spPr>
          <a:xfrm>
            <a:off x="5623560" y="1234440"/>
            <a:ext cx="5852160" cy="436418"/>
          </a:xfrm>
          <a:prstGeom prst="rect">
            <a:avLst/>
          </a:prstGeom>
          <a:noFill/>
        </p:spPr>
        <p:txBody>
          <a:bodyPr wrap="square" anchor="ctr">
            <a:spAutoFit/>
          </a:bodyPr>
          <a:lstStyle/>
          <a:p>
            <a:pPr algn="l"/>
            <a:r>
              <a:rPr sz="1300" b="1" i="0">
                <a:solidFill>
                  <a:srgbClr val="FFFFFF"/>
                </a:solidFill>
                <a:latin typeface="Calibri"/>
              </a:rPr>
              <a:t>用法 / 中文</a:t>
            </a:r>
          </a:p>
        </p:txBody>
      </p:sp>
      <p:sp>
        <p:nvSpPr>
          <p:cNvPr id="12" name="Rectangle 11"/>
          <p:cNvSpPr/>
          <p:nvPr/>
        </p:nvSpPr>
        <p:spPr>
          <a:xfrm>
            <a:off x="548640" y="1670858"/>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0" y="1670858"/>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70858"/>
            <a:ext cx="4754880" cy="436418"/>
          </a:xfrm>
          <a:prstGeom prst="rect">
            <a:avLst/>
          </a:prstGeom>
          <a:noFill/>
        </p:spPr>
        <p:txBody>
          <a:bodyPr wrap="square" anchor="ctr">
            <a:spAutoFit/>
          </a:bodyPr>
          <a:lstStyle/>
          <a:p>
            <a:pPr algn="l"/>
            <a:r>
              <a:rPr sz="1250" b="1" i="0">
                <a:solidFill>
                  <a:srgbClr val="472473"/>
                </a:solidFill>
                <a:latin typeface="Calibri"/>
              </a:rPr>
              <a:t>significantly</a:t>
            </a:r>
          </a:p>
        </p:txBody>
      </p:sp>
      <p:sp>
        <p:nvSpPr>
          <p:cNvPr id="15" name="TextBox 14"/>
          <p:cNvSpPr txBox="1"/>
          <p:nvPr/>
        </p:nvSpPr>
        <p:spPr>
          <a:xfrm>
            <a:off x="5623560" y="1670858"/>
            <a:ext cx="5852160" cy="436418"/>
          </a:xfrm>
          <a:prstGeom prst="rect">
            <a:avLst/>
          </a:prstGeom>
          <a:noFill/>
        </p:spPr>
        <p:txBody>
          <a:bodyPr wrap="square" anchor="ctr">
            <a:spAutoFit/>
          </a:bodyPr>
          <a:lstStyle/>
          <a:p>
            <a:pPr algn="l"/>
            <a:r>
              <a:rPr sz="1250" b="0" i="0">
                <a:solidFill>
                  <a:srgbClr val="1E293B"/>
                </a:solidFill>
                <a:latin typeface="Calibri"/>
              </a:rPr>
              <a:t>显著地；大幅地</a:t>
            </a:r>
          </a:p>
        </p:txBody>
      </p:sp>
      <p:sp>
        <p:nvSpPr>
          <p:cNvPr id="16" name="Rectangle 15"/>
          <p:cNvSpPr/>
          <p:nvPr/>
        </p:nvSpPr>
        <p:spPr>
          <a:xfrm>
            <a:off x="548640" y="2107276"/>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486400" y="2107276"/>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107276"/>
            <a:ext cx="4754880" cy="436418"/>
          </a:xfrm>
          <a:prstGeom prst="rect">
            <a:avLst/>
          </a:prstGeom>
          <a:noFill/>
        </p:spPr>
        <p:txBody>
          <a:bodyPr wrap="square" anchor="ctr">
            <a:spAutoFit/>
          </a:bodyPr>
          <a:lstStyle/>
          <a:p>
            <a:pPr algn="l"/>
            <a:r>
              <a:rPr sz="1250" b="1" i="0">
                <a:solidFill>
                  <a:srgbClr val="472473"/>
                </a:solidFill>
                <a:latin typeface="Calibri"/>
              </a:rPr>
              <a:t>substantially</a:t>
            </a:r>
          </a:p>
        </p:txBody>
      </p:sp>
      <p:sp>
        <p:nvSpPr>
          <p:cNvPr id="19" name="TextBox 18"/>
          <p:cNvSpPr txBox="1"/>
          <p:nvPr/>
        </p:nvSpPr>
        <p:spPr>
          <a:xfrm>
            <a:off x="5623560" y="2107276"/>
            <a:ext cx="5852160" cy="436418"/>
          </a:xfrm>
          <a:prstGeom prst="rect">
            <a:avLst/>
          </a:prstGeom>
          <a:noFill/>
        </p:spPr>
        <p:txBody>
          <a:bodyPr wrap="square" anchor="ctr">
            <a:spAutoFit/>
          </a:bodyPr>
          <a:lstStyle/>
          <a:p>
            <a:pPr algn="l"/>
            <a:r>
              <a:rPr sz="1250" b="0" i="0">
                <a:solidFill>
                  <a:srgbClr val="1E293B"/>
                </a:solidFill>
                <a:latin typeface="Calibri"/>
              </a:rPr>
              <a:t>实质上；大量地</a:t>
            </a:r>
          </a:p>
        </p:txBody>
      </p:sp>
      <p:sp>
        <p:nvSpPr>
          <p:cNvPr id="20" name="Rectangle 19"/>
          <p:cNvSpPr/>
          <p:nvPr/>
        </p:nvSpPr>
        <p:spPr>
          <a:xfrm>
            <a:off x="548640" y="2543694"/>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0" y="2543694"/>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543694"/>
            <a:ext cx="4754880" cy="436418"/>
          </a:xfrm>
          <a:prstGeom prst="rect">
            <a:avLst/>
          </a:prstGeom>
          <a:noFill/>
        </p:spPr>
        <p:txBody>
          <a:bodyPr wrap="square" anchor="ctr">
            <a:spAutoFit/>
          </a:bodyPr>
          <a:lstStyle/>
          <a:p>
            <a:pPr algn="l"/>
            <a:r>
              <a:rPr sz="1250" b="1" i="0">
                <a:solidFill>
                  <a:srgbClr val="472473"/>
                </a:solidFill>
                <a:latin typeface="Calibri"/>
              </a:rPr>
              <a:t>considerably</a:t>
            </a:r>
          </a:p>
        </p:txBody>
      </p:sp>
      <p:sp>
        <p:nvSpPr>
          <p:cNvPr id="23" name="TextBox 22"/>
          <p:cNvSpPr txBox="1"/>
          <p:nvPr/>
        </p:nvSpPr>
        <p:spPr>
          <a:xfrm>
            <a:off x="5623560" y="2543694"/>
            <a:ext cx="5852160" cy="436418"/>
          </a:xfrm>
          <a:prstGeom prst="rect">
            <a:avLst/>
          </a:prstGeom>
          <a:noFill/>
        </p:spPr>
        <p:txBody>
          <a:bodyPr wrap="square" anchor="ctr">
            <a:spAutoFit/>
          </a:bodyPr>
          <a:lstStyle/>
          <a:p>
            <a:pPr algn="l"/>
            <a:r>
              <a:rPr sz="1250" b="0" i="0">
                <a:solidFill>
                  <a:srgbClr val="1E293B"/>
                </a:solidFill>
                <a:latin typeface="Calibri"/>
              </a:rPr>
              <a:t>相当地；大大地</a:t>
            </a:r>
          </a:p>
        </p:txBody>
      </p:sp>
      <p:sp>
        <p:nvSpPr>
          <p:cNvPr id="24" name="Rectangle 23"/>
          <p:cNvSpPr/>
          <p:nvPr/>
        </p:nvSpPr>
        <p:spPr>
          <a:xfrm>
            <a:off x="548640" y="2980112"/>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0" y="2980112"/>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2980112"/>
            <a:ext cx="4754880" cy="436418"/>
          </a:xfrm>
          <a:prstGeom prst="rect">
            <a:avLst/>
          </a:prstGeom>
          <a:noFill/>
        </p:spPr>
        <p:txBody>
          <a:bodyPr wrap="square" anchor="ctr">
            <a:spAutoFit/>
          </a:bodyPr>
          <a:lstStyle/>
          <a:p>
            <a:pPr algn="l"/>
            <a:r>
              <a:rPr sz="1250" b="1" i="0">
                <a:solidFill>
                  <a:srgbClr val="472473"/>
                </a:solidFill>
                <a:latin typeface="Calibri"/>
              </a:rPr>
              <a:t>markedly</a:t>
            </a:r>
          </a:p>
        </p:txBody>
      </p:sp>
      <p:sp>
        <p:nvSpPr>
          <p:cNvPr id="27" name="TextBox 26"/>
          <p:cNvSpPr txBox="1"/>
          <p:nvPr/>
        </p:nvSpPr>
        <p:spPr>
          <a:xfrm>
            <a:off x="5623560" y="2980112"/>
            <a:ext cx="5852160" cy="436418"/>
          </a:xfrm>
          <a:prstGeom prst="rect">
            <a:avLst/>
          </a:prstGeom>
          <a:noFill/>
        </p:spPr>
        <p:txBody>
          <a:bodyPr wrap="square" anchor="ctr">
            <a:spAutoFit/>
          </a:bodyPr>
          <a:lstStyle/>
          <a:p>
            <a:pPr algn="l"/>
            <a:r>
              <a:rPr sz="1250" b="0" i="0">
                <a:solidFill>
                  <a:srgbClr val="1E293B"/>
                </a:solidFill>
                <a:latin typeface="Calibri"/>
              </a:rPr>
              <a:t>显著地；明显地</a:t>
            </a:r>
          </a:p>
        </p:txBody>
      </p:sp>
      <p:sp>
        <p:nvSpPr>
          <p:cNvPr id="28" name="Rectangle 27"/>
          <p:cNvSpPr/>
          <p:nvPr/>
        </p:nvSpPr>
        <p:spPr>
          <a:xfrm>
            <a:off x="548640" y="3416530"/>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0" y="3416530"/>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3416530"/>
            <a:ext cx="4754880" cy="436418"/>
          </a:xfrm>
          <a:prstGeom prst="rect">
            <a:avLst/>
          </a:prstGeom>
          <a:noFill/>
        </p:spPr>
        <p:txBody>
          <a:bodyPr wrap="square" anchor="ctr">
            <a:spAutoFit/>
          </a:bodyPr>
          <a:lstStyle/>
          <a:p>
            <a:pPr algn="l"/>
            <a:r>
              <a:rPr sz="1250" b="1" i="0">
                <a:solidFill>
                  <a:srgbClr val="472473"/>
                </a:solidFill>
                <a:latin typeface="Calibri"/>
              </a:rPr>
              <a:t>primarily</a:t>
            </a:r>
          </a:p>
        </p:txBody>
      </p:sp>
      <p:sp>
        <p:nvSpPr>
          <p:cNvPr id="31" name="TextBox 30"/>
          <p:cNvSpPr txBox="1"/>
          <p:nvPr/>
        </p:nvSpPr>
        <p:spPr>
          <a:xfrm>
            <a:off x="5623560" y="3416530"/>
            <a:ext cx="5852160" cy="436418"/>
          </a:xfrm>
          <a:prstGeom prst="rect">
            <a:avLst/>
          </a:prstGeom>
          <a:noFill/>
        </p:spPr>
        <p:txBody>
          <a:bodyPr wrap="square" anchor="ctr">
            <a:spAutoFit/>
          </a:bodyPr>
          <a:lstStyle/>
          <a:p>
            <a:pPr algn="l"/>
            <a:r>
              <a:rPr sz="1250" b="0" i="0">
                <a:solidFill>
                  <a:srgbClr val="1E293B"/>
                </a:solidFill>
                <a:latin typeface="Calibri"/>
              </a:rPr>
              <a:t>主要地；首要地</a:t>
            </a:r>
          </a:p>
        </p:txBody>
      </p:sp>
      <p:sp>
        <p:nvSpPr>
          <p:cNvPr id="32" name="Rectangle 31"/>
          <p:cNvSpPr/>
          <p:nvPr/>
        </p:nvSpPr>
        <p:spPr>
          <a:xfrm>
            <a:off x="548640" y="3852949"/>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486400" y="3852949"/>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85800" y="3852949"/>
            <a:ext cx="4754880" cy="436418"/>
          </a:xfrm>
          <a:prstGeom prst="rect">
            <a:avLst/>
          </a:prstGeom>
          <a:noFill/>
        </p:spPr>
        <p:txBody>
          <a:bodyPr wrap="square" anchor="ctr">
            <a:spAutoFit/>
          </a:bodyPr>
          <a:lstStyle/>
          <a:p>
            <a:pPr algn="l"/>
            <a:r>
              <a:rPr sz="1250" b="1" i="0">
                <a:solidFill>
                  <a:srgbClr val="472473"/>
                </a:solidFill>
                <a:latin typeface="Calibri"/>
              </a:rPr>
              <a:t>predominantly</a:t>
            </a:r>
          </a:p>
        </p:txBody>
      </p:sp>
      <p:sp>
        <p:nvSpPr>
          <p:cNvPr id="35" name="TextBox 34"/>
          <p:cNvSpPr txBox="1"/>
          <p:nvPr/>
        </p:nvSpPr>
        <p:spPr>
          <a:xfrm>
            <a:off x="5623560" y="3852949"/>
            <a:ext cx="5852160" cy="436418"/>
          </a:xfrm>
          <a:prstGeom prst="rect">
            <a:avLst/>
          </a:prstGeom>
          <a:noFill/>
        </p:spPr>
        <p:txBody>
          <a:bodyPr wrap="square" anchor="ctr">
            <a:spAutoFit/>
          </a:bodyPr>
          <a:lstStyle/>
          <a:p>
            <a:pPr algn="l"/>
            <a:r>
              <a:rPr sz="1250" b="0" i="0">
                <a:solidFill>
                  <a:srgbClr val="1E293B"/>
                </a:solidFill>
                <a:latin typeface="Calibri"/>
              </a:rPr>
              <a:t>主要地；占主导地位地</a:t>
            </a:r>
          </a:p>
        </p:txBody>
      </p:sp>
      <p:sp>
        <p:nvSpPr>
          <p:cNvPr id="36" name="Rectangle 35"/>
          <p:cNvSpPr/>
          <p:nvPr/>
        </p:nvSpPr>
        <p:spPr>
          <a:xfrm>
            <a:off x="548640" y="4289367"/>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486400" y="4289367"/>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85800" y="4289367"/>
            <a:ext cx="4754880" cy="436418"/>
          </a:xfrm>
          <a:prstGeom prst="rect">
            <a:avLst/>
          </a:prstGeom>
          <a:noFill/>
        </p:spPr>
        <p:txBody>
          <a:bodyPr wrap="square" anchor="ctr">
            <a:spAutoFit/>
          </a:bodyPr>
          <a:lstStyle/>
          <a:p>
            <a:pPr algn="l"/>
            <a:r>
              <a:rPr sz="1250" b="1" i="0">
                <a:solidFill>
                  <a:srgbClr val="472473"/>
                </a:solidFill>
                <a:latin typeface="Calibri"/>
              </a:rPr>
              <a:t>largely</a:t>
            </a:r>
          </a:p>
        </p:txBody>
      </p:sp>
      <p:sp>
        <p:nvSpPr>
          <p:cNvPr id="39" name="TextBox 38"/>
          <p:cNvSpPr txBox="1"/>
          <p:nvPr/>
        </p:nvSpPr>
        <p:spPr>
          <a:xfrm>
            <a:off x="5623560" y="4289367"/>
            <a:ext cx="5852160" cy="436418"/>
          </a:xfrm>
          <a:prstGeom prst="rect">
            <a:avLst/>
          </a:prstGeom>
          <a:noFill/>
        </p:spPr>
        <p:txBody>
          <a:bodyPr wrap="square" anchor="ctr">
            <a:spAutoFit/>
          </a:bodyPr>
          <a:lstStyle/>
          <a:p>
            <a:pPr algn="l"/>
            <a:r>
              <a:rPr sz="1250" b="0" i="0">
                <a:solidFill>
                  <a:srgbClr val="1E293B"/>
                </a:solidFill>
                <a:latin typeface="Calibri"/>
              </a:rPr>
              <a:t>很大程度上</a:t>
            </a:r>
          </a:p>
        </p:txBody>
      </p:sp>
      <p:sp>
        <p:nvSpPr>
          <p:cNvPr id="40" name="Rectangle 39"/>
          <p:cNvSpPr/>
          <p:nvPr/>
        </p:nvSpPr>
        <p:spPr>
          <a:xfrm>
            <a:off x="548640" y="4725785"/>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486400" y="4725785"/>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4725785"/>
            <a:ext cx="4754880" cy="436418"/>
          </a:xfrm>
          <a:prstGeom prst="rect">
            <a:avLst/>
          </a:prstGeom>
          <a:noFill/>
        </p:spPr>
        <p:txBody>
          <a:bodyPr wrap="square" anchor="ctr">
            <a:spAutoFit/>
          </a:bodyPr>
          <a:lstStyle/>
          <a:p>
            <a:pPr algn="l"/>
            <a:r>
              <a:rPr sz="1250" b="1" i="0">
                <a:solidFill>
                  <a:srgbClr val="472473"/>
                </a:solidFill>
                <a:latin typeface="Calibri"/>
              </a:rPr>
              <a:t>principally</a:t>
            </a:r>
          </a:p>
        </p:txBody>
      </p:sp>
      <p:sp>
        <p:nvSpPr>
          <p:cNvPr id="43" name="TextBox 42"/>
          <p:cNvSpPr txBox="1"/>
          <p:nvPr/>
        </p:nvSpPr>
        <p:spPr>
          <a:xfrm>
            <a:off x="5623560" y="4725785"/>
            <a:ext cx="5852160" cy="436418"/>
          </a:xfrm>
          <a:prstGeom prst="rect">
            <a:avLst/>
          </a:prstGeom>
          <a:noFill/>
        </p:spPr>
        <p:txBody>
          <a:bodyPr wrap="square" anchor="ctr">
            <a:spAutoFit/>
          </a:bodyPr>
          <a:lstStyle/>
          <a:p>
            <a:pPr algn="l"/>
            <a:r>
              <a:rPr sz="1250" b="0" i="0">
                <a:solidFill>
                  <a:srgbClr val="1E293B"/>
                </a:solidFill>
                <a:latin typeface="Calibri"/>
              </a:rPr>
              <a:t>主要地；首先</a:t>
            </a:r>
          </a:p>
        </p:txBody>
      </p:sp>
      <p:sp>
        <p:nvSpPr>
          <p:cNvPr id="44" name="Rectangle 43"/>
          <p:cNvSpPr/>
          <p:nvPr/>
        </p:nvSpPr>
        <p:spPr>
          <a:xfrm>
            <a:off x="548640" y="5162203"/>
            <a:ext cx="493776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486400" y="5162203"/>
            <a:ext cx="6126480" cy="436418"/>
          </a:xfrm>
          <a:prstGeom prst="rect">
            <a:avLst/>
          </a:prstGeom>
          <a:solidFill>
            <a:srgbClr val="F3E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800" y="5162203"/>
            <a:ext cx="4754880" cy="436418"/>
          </a:xfrm>
          <a:prstGeom prst="rect">
            <a:avLst/>
          </a:prstGeom>
          <a:noFill/>
        </p:spPr>
        <p:txBody>
          <a:bodyPr wrap="square" anchor="ctr">
            <a:spAutoFit/>
          </a:bodyPr>
          <a:lstStyle/>
          <a:p>
            <a:pPr algn="l"/>
            <a:r>
              <a:rPr sz="1250" b="1" i="0">
                <a:solidFill>
                  <a:srgbClr val="472473"/>
                </a:solidFill>
                <a:latin typeface="Calibri"/>
              </a:rPr>
              <a:t>fundamentally</a:t>
            </a:r>
          </a:p>
        </p:txBody>
      </p:sp>
      <p:sp>
        <p:nvSpPr>
          <p:cNvPr id="47" name="TextBox 46"/>
          <p:cNvSpPr txBox="1"/>
          <p:nvPr/>
        </p:nvSpPr>
        <p:spPr>
          <a:xfrm>
            <a:off x="5623560" y="5162203"/>
            <a:ext cx="5852160" cy="436418"/>
          </a:xfrm>
          <a:prstGeom prst="rect">
            <a:avLst/>
          </a:prstGeom>
          <a:noFill/>
        </p:spPr>
        <p:txBody>
          <a:bodyPr wrap="square" anchor="ctr">
            <a:spAutoFit/>
          </a:bodyPr>
          <a:lstStyle/>
          <a:p>
            <a:pPr algn="l"/>
            <a:r>
              <a:rPr sz="1250" b="0" i="0">
                <a:solidFill>
                  <a:srgbClr val="1E293B"/>
                </a:solidFill>
                <a:latin typeface="Calibri"/>
              </a:rPr>
              <a:t>根本上；从本质上</a:t>
            </a:r>
          </a:p>
        </p:txBody>
      </p:sp>
      <p:sp>
        <p:nvSpPr>
          <p:cNvPr id="48" name="Rectangle 47"/>
          <p:cNvSpPr/>
          <p:nvPr/>
        </p:nvSpPr>
        <p:spPr>
          <a:xfrm>
            <a:off x="548640" y="5598621"/>
            <a:ext cx="493776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486400" y="5598621"/>
            <a:ext cx="6126480" cy="43641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800" y="5598621"/>
            <a:ext cx="4754880" cy="436418"/>
          </a:xfrm>
          <a:prstGeom prst="rect">
            <a:avLst/>
          </a:prstGeom>
          <a:noFill/>
        </p:spPr>
        <p:txBody>
          <a:bodyPr wrap="square" anchor="ctr">
            <a:spAutoFit/>
          </a:bodyPr>
          <a:lstStyle/>
          <a:p>
            <a:pPr algn="l"/>
            <a:r>
              <a:rPr sz="1250" b="1" i="0">
                <a:solidFill>
                  <a:srgbClr val="472473"/>
                </a:solidFill>
                <a:latin typeface="Calibri"/>
              </a:rPr>
              <a:t>ultimately</a:t>
            </a:r>
          </a:p>
        </p:txBody>
      </p:sp>
      <p:sp>
        <p:nvSpPr>
          <p:cNvPr id="51" name="TextBox 50"/>
          <p:cNvSpPr txBox="1"/>
          <p:nvPr/>
        </p:nvSpPr>
        <p:spPr>
          <a:xfrm>
            <a:off x="5623560" y="5598621"/>
            <a:ext cx="5852160" cy="436418"/>
          </a:xfrm>
          <a:prstGeom prst="rect">
            <a:avLst/>
          </a:prstGeom>
          <a:noFill/>
        </p:spPr>
        <p:txBody>
          <a:bodyPr wrap="square" anchor="ctr">
            <a:spAutoFit/>
          </a:bodyPr>
          <a:lstStyle/>
          <a:p>
            <a:pPr algn="l"/>
            <a:r>
              <a:rPr sz="1250" b="0" i="0">
                <a:solidFill>
                  <a:srgbClr val="1E293B"/>
                </a:solidFill>
                <a:latin typeface="Calibri"/>
              </a:rPr>
              <a:t>最终；根本上</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L07备考：6.0→7.0提分路径</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6.0→6.5（前4周）</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每周写：讨论文1篇+优缺点1篇+问题解决1篇</a:t>
            </a:r>
          </a:p>
          <a:p>
            <a:pPr>
              <a:spcBef>
                <a:spcPts val="700"/>
              </a:spcBef>
            </a:pPr>
            <a:r>
              <a:rPr sz="1450">
                <a:solidFill>
                  <a:srgbClr val="1E293B"/>
                </a:solidFill>
              </a:rPr>
              <a:t>• 重点：题型识别（每次做前先判断题型）</a:t>
            </a:r>
          </a:p>
          <a:p>
            <a:pPr>
              <a:spcBef>
                <a:spcPts val="700"/>
              </a:spcBef>
            </a:pPr>
            <a:r>
              <a:rPr sz="1450">
                <a:solidFill>
                  <a:srgbClr val="1E293B"/>
                </a:solidFill>
              </a:rPr>
              <a:t>• 练习：不同题型引言段（5篇/周）</a:t>
            </a:r>
          </a:p>
          <a:p>
            <a:pPr>
              <a:spcBef>
                <a:spcPts val="700"/>
              </a:spcBef>
            </a:pPr>
            <a:r>
              <a:rPr sz="1450">
                <a:solidFill>
                  <a:srgbClr val="1E293B"/>
                </a:solidFill>
              </a:rPr>
              <a:t>• 积累：权衡词汇+原因解决词汇</a:t>
            </a:r>
          </a:p>
          <a:p>
            <a:pPr>
              <a:spcBef>
                <a:spcPts val="700"/>
              </a:spcBef>
            </a:pPr>
            <a:r>
              <a:rPr sz="1450">
                <a:solidFill>
                  <a:srgbClr val="1E293B"/>
                </a:solidFill>
              </a:rPr>
              <a:t>• 目标：不再混淆题型</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6.5→7.0（后4周）</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每周写：5大题型各1篇（全面覆盖）</a:t>
            </a:r>
          </a:p>
          <a:p>
            <a:pPr>
              <a:spcBef>
                <a:spcPts val="700"/>
              </a:spcBef>
            </a:pPr>
            <a:r>
              <a:rPr sz="1450">
                <a:solidFill>
                  <a:srgbClr val="1E293B"/>
                </a:solidFill>
              </a:rPr>
              <a:t>• 重点：论证深度（TS+why+evidence三层）</a:t>
            </a:r>
          </a:p>
          <a:p>
            <a:pPr>
              <a:spcBef>
                <a:spcPts val="700"/>
              </a:spcBef>
            </a:pPr>
            <a:r>
              <a:rPr sz="1450">
                <a:solidFill>
                  <a:srgbClr val="1E293B"/>
                </a:solidFill>
              </a:rPr>
              <a:t>• 练习：解决方案的具体性和有效性</a:t>
            </a:r>
          </a:p>
          <a:p>
            <a:pPr>
              <a:spcBef>
                <a:spcPts val="700"/>
              </a:spcBef>
            </a:pPr>
            <a:r>
              <a:rPr sz="1450">
                <a:solidFill>
                  <a:srgbClr val="1E293B"/>
                </a:solidFill>
              </a:rPr>
              <a:t>• 积累：高频学术词汇替换普通词</a:t>
            </a:r>
          </a:p>
          <a:p>
            <a:pPr>
              <a:spcBef>
                <a:spcPts val="700"/>
              </a:spcBef>
            </a:pPr>
            <a:r>
              <a:rPr sz="1450">
                <a:solidFill>
                  <a:srgbClr val="1E293B"/>
                </a:solidFill>
              </a:rPr>
              <a:t>• 目标：四维均达Band 7</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写作L07总结：5大题型备考重点</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必须掌握的要素</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讨论文：两方各一段+立场（必须）</a:t>
            </a:r>
          </a:p>
          <a:p>
            <a:pPr>
              <a:spcBef>
                <a:spcPts val="700"/>
              </a:spcBef>
            </a:pPr>
            <a:r>
              <a:rPr sz="1450">
                <a:solidFill>
                  <a:srgbClr val="1E293B"/>
                </a:solidFill>
              </a:rPr>
              <a:t>• 同意文：全程一个立场+让步反驳</a:t>
            </a:r>
          </a:p>
          <a:p>
            <a:pPr>
              <a:spcBef>
                <a:spcPts val="700"/>
              </a:spcBef>
            </a:pPr>
            <a:r>
              <a:rPr sz="1450">
                <a:solidFill>
                  <a:srgbClr val="1E293B"/>
                </a:solidFill>
              </a:rPr>
              <a:t>• 优缺点：确认是否需要立场+平衡两段</a:t>
            </a:r>
          </a:p>
          <a:p>
            <a:pPr>
              <a:spcBef>
                <a:spcPts val="700"/>
              </a:spcBef>
            </a:pPr>
            <a:r>
              <a:rPr sz="1450">
                <a:solidFill>
                  <a:srgbClr val="1E293B"/>
                </a:solidFill>
              </a:rPr>
              <a:t>• 问题解决：原因解决对应+多层方案</a:t>
            </a:r>
          </a:p>
          <a:p>
            <a:pPr>
              <a:spcBef>
                <a:spcPts val="700"/>
              </a:spcBef>
            </a:pPr>
            <a:r>
              <a:rPr sz="1450">
                <a:solidFill>
                  <a:srgbClr val="1E293B"/>
                </a:solidFill>
              </a:rPr>
              <a:t>• 双问题：数问号=数段+词数均衡</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高分加分要素</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论证深度：TS+why+evidence（不只说what）</a:t>
            </a:r>
          </a:p>
          <a:p>
            <a:pPr>
              <a:spcBef>
                <a:spcPts val="700"/>
              </a:spcBef>
            </a:pPr>
            <a:r>
              <a:rPr sz="1450">
                <a:solidFill>
                  <a:srgbClr val="1E293B"/>
                </a:solidFill>
              </a:rPr>
              <a:t>• 学术词汇：替换普通词（important→crucial）</a:t>
            </a:r>
          </a:p>
          <a:p>
            <a:pPr>
              <a:spcBef>
                <a:spcPts val="700"/>
              </a:spcBef>
            </a:pPr>
            <a:r>
              <a:rPr sz="1450">
                <a:solidFill>
                  <a:srgbClr val="1E293B"/>
                </a:solidFill>
              </a:rPr>
              <a:t>• 复杂句型：让步从句/条件句/定语从句</a:t>
            </a:r>
          </a:p>
          <a:p>
            <a:pPr>
              <a:spcBef>
                <a:spcPts val="700"/>
              </a:spcBef>
            </a:pPr>
            <a:r>
              <a:rPr sz="1450">
                <a:solidFill>
                  <a:srgbClr val="1E293B"/>
                </a:solidFill>
              </a:rPr>
              <a:t>• 真实案例：引用国家/研究增加可信度</a:t>
            </a:r>
          </a:p>
          <a:p>
            <a:pPr>
              <a:spcBef>
                <a:spcPts val="700"/>
              </a:spcBef>
            </a:pPr>
            <a:r>
              <a:rPr sz="1450">
                <a:solidFill>
                  <a:srgbClr val="1E293B"/>
                </a:solidFill>
              </a:rPr>
              <a:t>• 结构清晰：每段主题句+衔接词自然</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优缺点题：高分范例结构拆解</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优势方论证（主体段1）</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TS：科技带来了显著的经济效益（观点）</a:t>
            </a:r>
          </a:p>
          <a:p>
            <a:pPr>
              <a:spcBef>
                <a:spcPts val="700"/>
              </a:spcBef>
            </a:pPr>
            <a:r>
              <a:rPr sz="1450">
                <a:solidFill>
                  <a:srgbClr val="1E293B"/>
                </a:solidFill>
              </a:rPr>
              <a:t>• Why：节省时间和人力，企业利润大幅提升（解释）</a:t>
            </a:r>
          </a:p>
          <a:p>
            <a:pPr>
              <a:spcBef>
                <a:spcPts val="700"/>
              </a:spcBef>
            </a:pPr>
            <a:r>
              <a:rPr sz="1450">
                <a:solidFill>
                  <a:srgbClr val="1E293B"/>
                </a:solidFill>
              </a:rPr>
              <a:t>• Evidence：研究显示自动化使制造业成本降低30%（数据）</a:t>
            </a:r>
          </a:p>
          <a:p>
            <a:pPr>
              <a:spcBef>
                <a:spcPts val="700"/>
              </a:spcBef>
            </a:pPr>
            <a:r>
              <a:rPr sz="1450">
                <a:solidFill>
                  <a:srgbClr val="1E293B"/>
                </a:solidFill>
              </a:rPr>
              <a:t>• Link：因此，从经济角度看，优势十分明显（收尾）</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劣势方论证（主体段2）</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TS：然而，科技发展也带来了严重的就业问题（观点）</a:t>
            </a:r>
          </a:p>
          <a:p>
            <a:pPr>
              <a:spcBef>
                <a:spcPts val="700"/>
              </a:spcBef>
            </a:pPr>
            <a:r>
              <a:rPr sz="1450">
                <a:solidFill>
                  <a:srgbClr val="1E293B"/>
                </a:solidFill>
              </a:rPr>
              <a:t>• Why：机器替代人工，蓝领工人首当其冲（解释）</a:t>
            </a:r>
          </a:p>
          <a:p>
            <a:pPr>
              <a:spcBef>
                <a:spcPts val="700"/>
              </a:spcBef>
            </a:pPr>
            <a:r>
              <a:rPr sz="1450">
                <a:solidFill>
                  <a:srgbClr val="1E293B"/>
                </a:solidFill>
              </a:rPr>
              <a:t>• Evidence：国际劳工组织预计2030年前1.5亿岗位消失（数据）</a:t>
            </a:r>
          </a:p>
          <a:p>
            <a:pPr>
              <a:spcBef>
                <a:spcPts val="700"/>
              </a:spcBef>
            </a:pPr>
            <a:r>
              <a:rPr sz="1450">
                <a:solidFill>
                  <a:srgbClr val="1E293B"/>
                </a:solidFill>
              </a:rPr>
              <a:t>• Link：这一代价不容忽视（收尾）</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问题解决题：论证层次深化练习</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浅层论证（Band 6水平）</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原因：人们使用手机过多</a:t>
            </a:r>
          </a:p>
          <a:p>
            <a:pPr>
              <a:spcBef>
                <a:spcPts val="700"/>
              </a:spcBef>
            </a:pPr>
            <a:r>
              <a:rPr sz="1450">
                <a:solidFill>
                  <a:srgbClr val="1E293B"/>
                </a:solidFill>
              </a:rPr>
              <a:t>• 解决：政府应该限制手机使用</a:t>
            </a:r>
          </a:p>
          <a:p>
            <a:pPr>
              <a:spcBef>
                <a:spcPts val="700"/>
              </a:spcBef>
            </a:pPr>
            <a:r>
              <a:rPr sz="1450">
                <a:solidFill>
                  <a:srgbClr val="1E293B"/>
                </a:solidFill>
              </a:rPr>
              <a:t>• 分析：太简单，没有解释为什么或如何做</a:t>
            </a:r>
          </a:p>
          <a:p>
            <a:pPr>
              <a:spcBef>
                <a:spcPts val="700"/>
              </a:spcBef>
            </a:pPr>
            <a:r>
              <a:rPr sz="1450">
                <a:solidFill>
                  <a:srgbClr val="1E293B"/>
                </a:solidFill>
              </a:rPr>
              <a:t>• 问题：解决方案不具体，不可信</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深层论证（Band 7水平）</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原因：手机成瘾源于应用的即时反馈机制（多巴胺循环）</a:t>
            </a:r>
          </a:p>
          <a:p>
            <a:pPr>
              <a:spcBef>
                <a:spcPts val="700"/>
              </a:spcBef>
            </a:pPr>
            <a:r>
              <a:rPr sz="1450">
                <a:solidFill>
                  <a:srgbClr val="1E293B"/>
                </a:solidFill>
              </a:rPr>
              <a:t>• 解决：平台应引入使用时间提醒和强制休息功能</a:t>
            </a:r>
          </a:p>
          <a:p>
            <a:pPr>
              <a:spcBef>
                <a:spcPts val="700"/>
              </a:spcBef>
            </a:pPr>
            <a:r>
              <a:rPr sz="1450">
                <a:solidFill>
                  <a:srgbClr val="1E293B"/>
                </a:solidFill>
              </a:rPr>
              <a:t>• 分析：方案直接针对成因，可操作性强</a:t>
            </a:r>
          </a:p>
          <a:p>
            <a:pPr>
              <a:spcBef>
                <a:spcPts val="700"/>
              </a:spcBef>
            </a:pPr>
            <a:r>
              <a:rPr sz="1450">
                <a:solidFill>
                  <a:srgbClr val="1E293B"/>
                </a:solidFill>
              </a:rPr>
              <a:t>• 效果：减少平均使用时长约25%（研究支持）</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双问题题：引言与结论配套写法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双问题引言模板</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背景句：话题背景（1句）</a:t>
            </a:r>
          </a:p>
          <a:p>
            <a:pPr>
              <a:spcBef>
                <a:spcPts val="700"/>
              </a:spcBef>
            </a:pPr>
            <a:r>
              <a:rPr sz="1450">
                <a:solidFill>
                  <a:srgbClr val="1E293B"/>
                </a:solidFill>
              </a:rPr>
              <a:t>• 问题改写句：paraphrase两个问题（1-2句）</a:t>
            </a:r>
          </a:p>
          <a:p>
            <a:pPr>
              <a:spcBef>
                <a:spcPts val="700"/>
              </a:spcBef>
            </a:pPr>
            <a:r>
              <a:rPr sz="1450">
                <a:solidFill>
                  <a:srgbClr val="1E293B"/>
                </a:solidFill>
              </a:rPr>
              <a:t>• 预告句：This essay will examine the reasons for X and suggest ways to Y（1句）</a:t>
            </a:r>
          </a:p>
          <a:p>
            <a:pPr>
              <a:spcBef>
                <a:spcPts val="700"/>
              </a:spcBef>
            </a:pPr>
            <a:r>
              <a:rPr sz="1450">
                <a:solidFill>
                  <a:srgbClr val="1E293B"/>
                </a:solidFill>
              </a:rPr>
              <a:t>• 技巧：预告句同时回应两个问题，考官一眼看出你理解了题目</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双问题结论模板</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过渡词：In conclusion / To sum up</a:t>
            </a:r>
          </a:p>
          <a:p>
            <a:pPr>
              <a:spcBef>
                <a:spcPts val="700"/>
              </a:spcBef>
            </a:pPr>
            <a:r>
              <a:rPr sz="1450">
                <a:solidFill>
                  <a:srgbClr val="1E293B"/>
                </a:solidFill>
              </a:rPr>
              <a:t>• 总结问题1：X is mainly caused by A and B</a:t>
            </a:r>
          </a:p>
          <a:p>
            <a:pPr>
              <a:spcBef>
                <a:spcPts val="700"/>
              </a:spcBef>
            </a:pPr>
            <a:r>
              <a:rPr sz="1450">
                <a:solidFill>
                  <a:srgbClr val="1E293B"/>
                </a:solidFill>
              </a:rPr>
              <a:t>• 总结问题2：To address this, governments should C and D</a:t>
            </a:r>
          </a:p>
          <a:p>
            <a:pPr>
              <a:spcBef>
                <a:spcPts val="700"/>
              </a:spcBef>
            </a:pPr>
            <a:r>
              <a:rPr sz="1450">
                <a:solidFill>
                  <a:srgbClr val="1E293B"/>
                </a:solidFill>
              </a:rPr>
              <a:t>• 前瞻句（可选）：Only through these measures can we E</a:t>
            </a:r>
          </a:p>
          <a:p>
            <a:pPr>
              <a:spcBef>
                <a:spcPts val="700"/>
              </a:spcBef>
            </a:pPr>
            <a:r>
              <a:rPr sz="1450">
                <a:solidFill>
                  <a:srgbClr val="1E293B"/>
                </a:solidFill>
              </a:rPr>
              <a:t>• 技巧：两个问题都要出现在结论——对称呼应引言预告</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64592"/>
            <a:ext cx="11338560" cy="603504"/>
          </a:xfrm>
          <a:prstGeom prst="rect">
            <a:avLst/>
          </a:prstGeom>
          <a:noFill/>
        </p:spPr>
        <p:txBody>
          <a:bodyPr wrap="square" anchor="ctr">
            <a:spAutoFit/>
          </a:bodyPr>
          <a:lstStyle/>
          <a:p>
            <a:pPr algn="l"/>
            <a:r>
              <a:rPr sz="2200" b="1" i="0">
                <a:solidFill>
                  <a:srgbClr val="FFFFFF"/>
                </a:solidFill>
                <a:latin typeface="Calibri"/>
              </a:rPr>
              <a:t>Task 2写作全程检查清单</a:t>
            </a:r>
          </a:p>
        </p:txBody>
      </p:sp>
      <p:sp>
        <p:nvSpPr>
          <p:cNvPr id="6" name="TextBox 5"/>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7" name="Rectangle 6"/>
          <p:cNvSpPr/>
          <p:nvPr/>
        </p:nvSpPr>
        <p:spPr>
          <a:xfrm>
            <a:off x="548640" y="1188720"/>
            <a:ext cx="5486400" cy="4572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225296"/>
            <a:ext cx="5212080" cy="384048"/>
          </a:xfrm>
          <a:prstGeom prst="rect">
            <a:avLst/>
          </a:prstGeom>
          <a:noFill/>
        </p:spPr>
        <p:txBody>
          <a:bodyPr wrap="square" anchor="ctr">
            <a:spAutoFit/>
          </a:bodyPr>
          <a:lstStyle/>
          <a:p>
            <a:pPr algn="l"/>
            <a:r>
              <a:rPr sz="1450" b="1" i="0">
                <a:solidFill>
                  <a:srgbClr val="FFFFFF"/>
                </a:solidFill>
                <a:latin typeface="Calibri"/>
              </a:rPr>
              <a:t>写完即查（5分钟内）</a:t>
            </a:r>
          </a:p>
        </p:txBody>
      </p:sp>
      <p:sp>
        <p:nvSpPr>
          <p:cNvPr id="9" name="TextBox 8"/>
          <p:cNvSpPr txBox="1"/>
          <p:nvPr/>
        </p:nvSpPr>
        <p:spPr>
          <a:xfrm>
            <a:off x="640080" y="1783080"/>
            <a:ext cx="5349240" cy="4480560"/>
          </a:xfrm>
          <a:prstGeom prst="rect">
            <a:avLst/>
          </a:prstGeom>
          <a:noFill/>
        </p:spPr>
        <p:txBody>
          <a:bodyPr wrap="square">
            <a:spAutoFit/>
          </a:bodyPr>
          <a:lstStyle/>
          <a:p>
            <a:r>
              <a:rPr sz="1450">
                <a:solidFill>
                  <a:srgbClr val="1E293B"/>
                </a:solidFill>
              </a:rPr>
              <a:t>• 题型确认：优缺/问解/双问 → 结构是否匹配？</a:t>
            </a:r>
          </a:p>
          <a:p>
            <a:pPr>
              <a:spcBef>
                <a:spcPts val="700"/>
              </a:spcBef>
            </a:pPr>
            <a:r>
              <a:rPr sz="1450">
                <a:solidFill>
                  <a:srgbClr val="1E293B"/>
                </a:solidFill>
              </a:rPr>
              <a:t>• 词数确认：至少250词（最好260-270）</a:t>
            </a:r>
          </a:p>
          <a:p>
            <a:pPr>
              <a:spcBef>
                <a:spcPts val="700"/>
              </a:spcBef>
            </a:pPr>
            <a:r>
              <a:rPr sz="1450">
                <a:solidFill>
                  <a:srgbClr val="1E293B"/>
                </a:solidFill>
              </a:rPr>
              <a:t>• 立场确认：题目有opinion → 全文立场一致？</a:t>
            </a:r>
          </a:p>
          <a:p>
            <a:pPr>
              <a:spcBef>
                <a:spcPts val="700"/>
              </a:spcBef>
            </a:pPr>
            <a:r>
              <a:rPr sz="1450">
                <a:solidFill>
                  <a:srgbClr val="1E293B"/>
                </a:solidFill>
              </a:rPr>
              <a:t>• 答题完整：题目所有问题都在文章中回答了？</a:t>
            </a:r>
          </a:p>
          <a:p>
            <a:pPr>
              <a:spcBef>
                <a:spcPts val="700"/>
              </a:spcBef>
            </a:pPr>
            <a:r>
              <a:rPr sz="1450">
                <a:solidFill>
                  <a:srgbClr val="1E293B"/>
                </a:solidFill>
              </a:rPr>
              <a:t>• 主题句检查：每段第一句能独立表达段落观点？</a:t>
            </a:r>
          </a:p>
        </p:txBody>
      </p:sp>
      <p:sp>
        <p:nvSpPr>
          <p:cNvPr id="10" name="Rectangle 9"/>
          <p:cNvSpPr/>
          <p:nvPr/>
        </p:nvSpPr>
        <p:spPr>
          <a:xfrm>
            <a:off x="6355079" y="1188720"/>
            <a:ext cx="5486400" cy="4572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225296"/>
            <a:ext cx="5212080" cy="384048"/>
          </a:xfrm>
          <a:prstGeom prst="rect">
            <a:avLst/>
          </a:prstGeom>
          <a:noFill/>
        </p:spPr>
        <p:txBody>
          <a:bodyPr wrap="square" anchor="ctr">
            <a:spAutoFit/>
          </a:bodyPr>
          <a:lstStyle/>
          <a:p>
            <a:pPr algn="l"/>
            <a:r>
              <a:rPr sz="1450" b="1" i="0">
                <a:solidFill>
                  <a:srgbClr val="FFFFFF"/>
                </a:solidFill>
                <a:latin typeface="Calibri"/>
              </a:rPr>
              <a:t>深度检查（有时间则做）</a:t>
            </a:r>
          </a:p>
        </p:txBody>
      </p:sp>
      <p:sp>
        <p:nvSpPr>
          <p:cNvPr id="12" name="TextBox 11"/>
          <p:cNvSpPr txBox="1"/>
          <p:nvPr/>
        </p:nvSpPr>
        <p:spPr>
          <a:xfrm>
            <a:off x="6446519" y="1783080"/>
            <a:ext cx="5349240" cy="4480560"/>
          </a:xfrm>
          <a:prstGeom prst="rect">
            <a:avLst/>
          </a:prstGeom>
          <a:noFill/>
        </p:spPr>
        <p:txBody>
          <a:bodyPr wrap="square">
            <a:spAutoFit/>
          </a:bodyPr>
          <a:lstStyle/>
          <a:p>
            <a:r>
              <a:rPr sz="1450">
                <a:solidFill>
                  <a:srgbClr val="1E293B"/>
                </a:solidFill>
              </a:rPr>
              <a:t>• 论证深度：TS+why+evidence三层是否都有？</a:t>
            </a:r>
          </a:p>
          <a:p>
            <a:pPr>
              <a:spcBef>
                <a:spcPts val="700"/>
              </a:spcBef>
            </a:pPr>
            <a:r>
              <a:rPr sz="1450">
                <a:solidFill>
                  <a:srgbClr val="1E293B"/>
                </a:solidFill>
              </a:rPr>
              <a:t>• 词汇替换：有没有重复使用同一个词？</a:t>
            </a:r>
          </a:p>
          <a:p>
            <a:pPr>
              <a:spcBef>
                <a:spcPts val="700"/>
              </a:spcBef>
            </a:pPr>
            <a:r>
              <a:rPr sz="1450">
                <a:solidFill>
                  <a:srgbClr val="1E293B"/>
                </a:solidFill>
              </a:rPr>
              <a:t>• 句式多样：有没有至少1个复杂句（从句/条件句）？</a:t>
            </a:r>
          </a:p>
          <a:p>
            <a:pPr>
              <a:spcBef>
                <a:spcPts val="700"/>
              </a:spcBef>
            </a:pPr>
            <a:r>
              <a:rPr sz="1450">
                <a:solidFill>
                  <a:srgbClr val="1E293B"/>
                </a:solidFill>
              </a:rPr>
              <a:t>• 衔接词：段落之间用了连接词？段内逻辑词自然？</a:t>
            </a:r>
          </a:p>
          <a:p>
            <a:pPr>
              <a:spcBef>
                <a:spcPts val="700"/>
              </a:spcBef>
            </a:pPr>
            <a:r>
              <a:rPr sz="1450">
                <a:solidFill>
                  <a:srgbClr val="1E293B"/>
                </a:solidFill>
              </a:rPr>
              <a:t>• 拼写语法：快速扫一遍明显错误</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自检清单</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L07学完自测：多题型掌握度</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TextBox 7"/>
          <p:cNvSpPr txBox="1"/>
          <p:nvPr/>
        </p:nvSpPr>
        <p:spPr>
          <a:xfrm>
            <a:off x="731520" y="1371600"/>
            <a:ext cx="10789920" cy="4846320"/>
          </a:xfrm>
          <a:prstGeom prst="rect">
            <a:avLst/>
          </a:prstGeom>
          <a:noFill/>
        </p:spPr>
        <p:txBody>
          <a:bodyPr wrap="square">
            <a:spAutoFit/>
          </a:bodyPr>
          <a:lstStyle/>
          <a:p>
            <a:r>
              <a:rPr sz="1600">
                <a:solidFill>
                  <a:srgbClr val="1E293B"/>
                </a:solidFill>
              </a:rPr>
              <a:t>☐ 能快速识别5种Task 2题型（30秒内判断完毕）</a:t>
            </a:r>
          </a:p>
          <a:p>
            <a:pPr>
              <a:spcBef>
                <a:spcPts val="1200"/>
              </a:spcBef>
            </a:pPr>
            <a:r>
              <a:rPr sz="1600">
                <a:solidFill>
                  <a:srgbClr val="1E293B"/>
                </a:solidFill>
              </a:rPr>
              <a:t>☐ 优缺点文知道什么时候需要个人立场</a:t>
            </a:r>
          </a:p>
          <a:p>
            <a:pPr>
              <a:spcBef>
                <a:spcPts val="1200"/>
              </a:spcBef>
            </a:pPr>
            <a:r>
              <a:rPr sz="1600">
                <a:solidFill>
                  <a:srgbClr val="1E293B"/>
                </a:solidFill>
              </a:rPr>
              <a:t>☐ 问题解决题能写出原因-解决对应的提纲</a:t>
            </a:r>
          </a:p>
          <a:p>
            <a:pPr>
              <a:spcBef>
                <a:spcPts val="1200"/>
              </a:spcBef>
            </a:pPr>
            <a:r>
              <a:rPr sz="1600">
                <a:solidFill>
                  <a:srgbClr val="1E293B"/>
                </a:solidFill>
              </a:rPr>
              <a:t>☐ 双问题题每个问题都用一段独立回答</a:t>
            </a:r>
          </a:p>
          <a:p>
            <a:pPr>
              <a:spcBef>
                <a:spcPts val="1200"/>
              </a:spcBef>
            </a:pPr>
            <a:r>
              <a:rPr sz="1600">
                <a:solidFill>
                  <a:srgbClr val="1E293B"/>
                </a:solidFill>
              </a:rPr>
              <a:t>☐ 每种题型的引言段能预告文章结构</a:t>
            </a:r>
          </a:p>
          <a:p>
            <a:pPr>
              <a:spcBef>
                <a:spcPts val="1200"/>
              </a:spcBef>
            </a:pPr>
            <a:r>
              <a:rPr sz="1600">
                <a:solidFill>
                  <a:srgbClr val="1E293B"/>
                </a:solidFill>
              </a:rPr>
              <a:t>☐ 结论段能用不同词汇重申立场/总结要点</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60" cy="6858000"/>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65760"/>
            <a:ext cx="10058400" cy="731520"/>
          </a:xfrm>
          <a:prstGeom prst="rect">
            <a:avLst/>
          </a:prstGeom>
          <a:noFill/>
        </p:spPr>
        <p:txBody>
          <a:bodyPr wrap="square" anchor="t">
            <a:spAutoFit/>
          </a:bodyPr>
          <a:lstStyle/>
          <a:p>
            <a:pPr algn="l"/>
            <a:r>
              <a:rPr sz="3000" b="1" i="0">
                <a:solidFill>
                  <a:srgbClr val="FFFFFF"/>
                </a:solidFill>
                <a:latin typeface="Calibri"/>
              </a:rPr>
              <a:t>L07 课堂小结</a:t>
            </a:r>
          </a:p>
        </p:txBody>
      </p:sp>
      <p:sp>
        <p:nvSpPr>
          <p:cNvPr id="5" name="TextBox 4"/>
          <p:cNvSpPr txBox="1"/>
          <p:nvPr/>
        </p:nvSpPr>
        <p:spPr>
          <a:xfrm>
            <a:off x="731520" y="1325880"/>
            <a:ext cx="10058400" cy="457200"/>
          </a:xfrm>
          <a:prstGeom prst="rect">
            <a:avLst/>
          </a:prstGeom>
          <a:noFill/>
        </p:spPr>
        <p:txBody>
          <a:bodyPr wrap="square" anchor="t">
            <a:spAutoFit/>
          </a:bodyPr>
          <a:lstStyle/>
          <a:p>
            <a:pPr algn="l"/>
            <a:r>
              <a:rPr sz="1600" b="1" i="0">
                <a:solidFill>
                  <a:srgbClr val="F2A01D"/>
                </a:solidFill>
                <a:latin typeface="Calibri"/>
              </a:rPr>
              <a:t>📌 本课核心要点</a:t>
            </a:r>
          </a:p>
        </p:txBody>
      </p:sp>
      <p:sp>
        <p:nvSpPr>
          <p:cNvPr id="6" name="TextBox 5"/>
          <p:cNvSpPr txBox="1"/>
          <p:nvPr/>
        </p:nvSpPr>
        <p:spPr>
          <a:xfrm>
            <a:off x="731520" y="1874519"/>
            <a:ext cx="10698480" cy="3474720"/>
          </a:xfrm>
          <a:prstGeom prst="rect">
            <a:avLst/>
          </a:prstGeom>
          <a:noFill/>
        </p:spPr>
        <p:txBody>
          <a:bodyPr wrap="square">
            <a:spAutoFit/>
          </a:bodyPr>
          <a:lstStyle/>
          <a:p>
            <a:r>
              <a:rPr sz="1550">
                <a:solidFill>
                  <a:srgbClr val="FFFFFF"/>
                </a:solidFill>
              </a:rPr>
              <a:t>✓  优缺点文：优/缺点各一段，题目有opinion要求→必须有立场</a:t>
            </a:r>
          </a:p>
          <a:p>
            <a:pPr>
              <a:spcBef>
                <a:spcPts val="1100"/>
              </a:spcBef>
            </a:pPr>
            <a:r>
              <a:rPr sz="1550">
                <a:solidFill>
                  <a:srgbClr val="FFFFFF"/>
                </a:solidFill>
              </a:rPr>
              <a:t>✓  问题解决题：原因段+解决段，解决方案对应原因，可用条件句</a:t>
            </a:r>
          </a:p>
          <a:p>
            <a:pPr>
              <a:spcBef>
                <a:spcPts val="1100"/>
              </a:spcBef>
            </a:pPr>
            <a:r>
              <a:rPr sz="1550">
                <a:solidFill>
                  <a:srgbClr val="FFFFFF"/>
                </a:solidFill>
              </a:rPr>
              <a:t>✓  双问题题：每个问题一段，词数均衡，引言预告两个问题</a:t>
            </a:r>
          </a:p>
          <a:p>
            <a:pPr>
              <a:spcBef>
                <a:spcPts val="1100"/>
              </a:spcBef>
            </a:pPr>
            <a:r>
              <a:rPr sz="1550">
                <a:solidFill>
                  <a:srgbClr val="FFFFFF"/>
                </a:solidFill>
              </a:rPr>
              <a:t>✓  五大题型立场要求：有agree/disagree/opinion→必须有立场</a:t>
            </a:r>
          </a:p>
          <a:p>
            <a:pPr>
              <a:spcBef>
                <a:spcPts val="1100"/>
              </a:spcBef>
            </a:pPr>
            <a:r>
              <a:rPr sz="1550">
                <a:solidFill>
                  <a:srgbClr val="FFFFFF"/>
                </a:solidFill>
              </a:rPr>
              <a:t>✓  论证质量：每个论点三层（TS+why+evidence）——这是Band 6→7的关键差距</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0"/>
          </a:xfrm>
          <a:prstGeom prst="rect">
            <a:avLst/>
          </a:prstGeom>
          <a:solidFill>
            <a:srgbClr val="47247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14400"/>
            <a:ext cx="12191695" cy="73152"/>
          </a:xfrm>
          <a:prstGeom prst="rect">
            <a:avLst/>
          </a:prstGeom>
          <a:solidFill>
            <a:srgbClr val="F2A0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09728"/>
            <a:ext cx="10058400" cy="274320"/>
          </a:xfrm>
          <a:prstGeom prst="rect">
            <a:avLst/>
          </a:prstGeom>
          <a:noFill/>
        </p:spPr>
        <p:txBody>
          <a:bodyPr wrap="square" anchor="t">
            <a:spAutoFit/>
          </a:bodyPr>
          <a:lstStyle/>
          <a:p>
            <a:pPr algn="l"/>
            <a:r>
              <a:rPr sz="1100" b="1" i="0">
                <a:solidFill>
                  <a:srgbClr val="F2A01D"/>
                </a:solidFill>
                <a:latin typeface="Calibri"/>
              </a:rPr>
              <a:t>练习巩固</a:t>
            </a:r>
          </a:p>
        </p:txBody>
      </p:sp>
      <p:sp>
        <p:nvSpPr>
          <p:cNvPr id="6" name="TextBox 5"/>
          <p:cNvSpPr txBox="1"/>
          <p:nvPr/>
        </p:nvSpPr>
        <p:spPr>
          <a:xfrm>
            <a:off x="411480" y="347472"/>
            <a:ext cx="11338560" cy="530352"/>
          </a:xfrm>
          <a:prstGeom prst="rect">
            <a:avLst/>
          </a:prstGeom>
          <a:noFill/>
        </p:spPr>
        <p:txBody>
          <a:bodyPr wrap="square" anchor="t">
            <a:spAutoFit/>
          </a:bodyPr>
          <a:lstStyle/>
          <a:p>
            <a:pPr algn="l"/>
            <a:r>
              <a:rPr sz="2100" b="1" i="0">
                <a:solidFill>
                  <a:srgbClr val="FFFFFF"/>
                </a:solidFill>
                <a:latin typeface="Calibri"/>
              </a:rPr>
              <a:t>L07 课后作业  Homework</a:t>
            </a:r>
          </a:p>
        </p:txBody>
      </p:sp>
      <p:sp>
        <p:nvSpPr>
          <p:cNvPr id="7" name="TextBox 6"/>
          <p:cNvSpPr txBox="1"/>
          <p:nvPr/>
        </p:nvSpPr>
        <p:spPr>
          <a:xfrm>
            <a:off x="411480" y="6510528"/>
            <a:ext cx="5486400" cy="274320"/>
          </a:xfrm>
          <a:prstGeom prst="rect">
            <a:avLst/>
          </a:prstGeom>
          <a:noFill/>
        </p:spPr>
        <p:txBody>
          <a:bodyPr wrap="square" anchor="t">
            <a:spAutoFit/>
          </a:bodyPr>
          <a:lstStyle/>
          <a:p>
            <a:pPr algn="l"/>
            <a:r>
              <a:rPr sz="900" b="0" i="0">
                <a:solidFill>
                  <a:srgbClr val="8A93A6"/>
                </a:solidFill>
                <a:latin typeface="Calibri"/>
              </a:rPr>
              <a:t>IELTS Writing · 深圳提分课程</a:t>
            </a:r>
          </a:p>
        </p:txBody>
      </p:sp>
      <p:sp>
        <p:nvSpPr>
          <p:cNvPr id="8" name="TextBox 7"/>
          <p:cNvSpPr txBox="1"/>
          <p:nvPr/>
        </p:nvSpPr>
        <p:spPr>
          <a:xfrm>
            <a:off x="548640" y="1143000"/>
            <a:ext cx="10058400" cy="365760"/>
          </a:xfrm>
          <a:prstGeom prst="rect">
            <a:avLst/>
          </a:prstGeom>
          <a:noFill/>
        </p:spPr>
        <p:txBody>
          <a:bodyPr wrap="square" anchor="t">
            <a:spAutoFit/>
          </a:bodyPr>
          <a:lstStyle/>
          <a:p>
            <a:pPr algn="l"/>
            <a:r>
              <a:rPr sz="1300" b="1" i="0">
                <a:solidFill>
                  <a:srgbClr val="F2A01D"/>
                </a:solidFill>
                <a:latin typeface="Calibri"/>
              </a:rPr>
              <a:t>⏱ 建议用时：约3小时</a:t>
            </a:r>
          </a:p>
        </p:txBody>
      </p:sp>
      <p:sp>
        <p:nvSpPr>
          <p:cNvPr id="9" name="TextBox 8"/>
          <p:cNvSpPr txBox="1"/>
          <p:nvPr/>
        </p:nvSpPr>
        <p:spPr>
          <a:xfrm>
            <a:off x="640080" y="1645920"/>
            <a:ext cx="10972800" cy="4572000"/>
          </a:xfrm>
          <a:prstGeom prst="rect">
            <a:avLst/>
          </a:prstGeom>
          <a:noFill/>
        </p:spPr>
        <p:txBody>
          <a:bodyPr wrap="square">
            <a:spAutoFit/>
          </a:bodyPr>
          <a:lstStyle/>
          <a:p>
            <a:r>
              <a:rPr sz="1550" b="1">
                <a:solidFill>
                  <a:srgbClr val="1E293B"/>
                </a:solidFill>
              </a:rPr>
              <a:t>作业 1　分别写：优缺点文1篇+问题解决题1篇+双问题题1篇（各计时40分钟）</a:t>
            </a:r>
          </a:p>
          <a:p>
            <a:pPr>
              <a:spcBef>
                <a:spcPts val="1300"/>
              </a:spcBef>
            </a:pPr>
            <a:r>
              <a:rPr sz="1550" b="1">
                <a:solidFill>
                  <a:srgbClr val="1E293B"/>
                </a:solidFill>
              </a:rPr>
              <a:t>作业 2　练习：每种题型的引言段（各5篇引言），重点确认题型识别准确</a:t>
            </a:r>
          </a:p>
          <a:p>
            <a:pPr>
              <a:spcBef>
                <a:spcPts val="1300"/>
              </a:spcBef>
            </a:pPr>
            <a:r>
              <a:rPr sz="1550" b="1">
                <a:solidFill>
                  <a:srgbClr val="1E293B"/>
                </a:solidFill>
              </a:rPr>
              <a:t>作业 3　积累：为原因类和解决类各积累10个高频词汇（causes/measures等）</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C0D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280160"/>
            <a:ext cx="10058400" cy="548640"/>
          </a:xfrm>
          <a:prstGeom prst="rect">
            <a:avLst/>
          </a:prstGeom>
          <a:noFill/>
        </p:spPr>
        <p:txBody>
          <a:bodyPr wrap="square" anchor="t">
            <a:spAutoFit/>
          </a:bodyPr>
          <a:lstStyle/>
          <a:p>
            <a:pPr algn="l"/>
            <a:r>
              <a:rPr sz="1800" b="1" i="0">
                <a:solidFill>
                  <a:srgbClr val="F2A01D"/>
                </a:solidFill>
                <a:latin typeface="Calibri"/>
              </a:rPr>
              <a:t>下节预告  Next Lesson</a:t>
            </a:r>
          </a:p>
        </p:txBody>
      </p:sp>
      <p:sp>
        <p:nvSpPr>
          <p:cNvPr id="4" name="TextBox 3"/>
          <p:cNvSpPr txBox="1"/>
          <p:nvPr/>
        </p:nvSpPr>
        <p:spPr>
          <a:xfrm>
            <a:off x="914400" y="1920240"/>
            <a:ext cx="10332720" cy="914400"/>
          </a:xfrm>
          <a:prstGeom prst="rect">
            <a:avLst/>
          </a:prstGeom>
          <a:noFill/>
        </p:spPr>
        <p:txBody>
          <a:bodyPr wrap="square" anchor="t">
            <a:spAutoFit/>
          </a:bodyPr>
          <a:lstStyle/>
          <a:p>
            <a:pPr algn="l"/>
            <a:r>
              <a:rPr sz="3000" b="1" i="0">
                <a:solidFill>
                  <a:srgbClr val="FFFFFF"/>
                </a:solidFill>
                <a:latin typeface="Calibri"/>
              </a:rPr>
              <a:t>L08 · 词汇与语法精进专项</a:t>
            </a:r>
          </a:p>
        </p:txBody>
      </p:sp>
      <p:sp>
        <p:nvSpPr>
          <p:cNvPr id="5" name="TextBox 4"/>
          <p:cNvSpPr txBox="1"/>
          <p:nvPr/>
        </p:nvSpPr>
        <p:spPr>
          <a:xfrm>
            <a:off x="914400" y="3200400"/>
            <a:ext cx="10332720" cy="2743200"/>
          </a:xfrm>
          <a:prstGeom prst="rect">
            <a:avLst/>
          </a:prstGeom>
          <a:noFill/>
        </p:spPr>
        <p:txBody>
          <a:bodyPr wrap="square">
            <a:spAutoFit/>
          </a:bodyPr>
          <a:lstStyle/>
          <a:p>
            <a:r>
              <a:rPr sz="1600">
                <a:solidFill>
                  <a:srgbClr val="CFDCF2"/>
                </a:solidFill>
              </a:rPr>
              <a:t>→ 学术词汇替换策略</a:t>
            </a:r>
          </a:p>
          <a:p>
            <a:pPr>
              <a:spcBef>
                <a:spcPts val="1000"/>
              </a:spcBef>
            </a:pPr>
            <a:r>
              <a:rPr sz="1600">
                <a:solidFill>
                  <a:srgbClr val="CFDCF2"/>
                </a:solidFill>
              </a:rPr>
              <a:t>→ Task 2复杂句型精讲</a:t>
            </a:r>
          </a:p>
          <a:p>
            <a:pPr>
              <a:spcBef>
                <a:spcPts val="1000"/>
              </a:spcBef>
            </a:pPr>
            <a:r>
              <a:rPr sz="1600">
                <a:solidFill>
                  <a:srgbClr val="CFDCF2"/>
                </a:solidFill>
              </a:rPr>
              <a:t>→ 常用搭配（collocation）积累</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