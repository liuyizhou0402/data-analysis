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F2A01D"/>
                </a:solidFill>
                <a:latin typeface="Calibri"/>
              </a:rPr>
              <a:t>L02</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F2A01D"/>
                </a:solidFill>
                <a:latin typeface="Calibri"/>
              </a:rPr>
              <a:t>IELTS Writing 写作</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Task 1 图表描述精讲</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Line Graphs · Bar Charts · Pie Charts</a:t>
            </a:r>
          </a:p>
        </p:txBody>
      </p:sp>
      <p:sp>
        <p:nvSpPr>
          <p:cNvPr id="10" name="Rounded Rectangle 9"/>
          <p:cNvSpPr/>
          <p:nvPr/>
        </p:nvSpPr>
        <p:spPr>
          <a:xfrm>
            <a:off x="777240" y="5669280"/>
            <a:ext cx="3840480" cy="54864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2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ounded Rectangle 6"/>
          <p:cNvSpPr/>
          <p:nvPr/>
        </p:nvSpPr>
        <p:spPr>
          <a:xfrm>
            <a:off x="548640" y="1325880"/>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折线图：趋势与变化描述</a:t>
            </a:r>
          </a:p>
        </p:txBody>
      </p:sp>
      <p:sp>
        <p:nvSpPr>
          <p:cNvPr id="10" name="Rounded Rectangle 9"/>
          <p:cNvSpPr/>
          <p:nvPr/>
        </p:nvSpPr>
        <p:spPr>
          <a:xfrm>
            <a:off x="548640" y="2167128"/>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柱状图：比较与对比策略</a:t>
            </a:r>
          </a:p>
        </p:txBody>
      </p:sp>
      <p:sp>
        <p:nvSpPr>
          <p:cNvPr id="13" name="Rounded Rectangle 12"/>
          <p:cNvSpPr/>
          <p:nvPr/>
        </p:nvSpPr>
        <p:spPr>
          <a:xfrm>
            <a:off x="548640" y="3008376"/>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饼图：比例与百分比表达</a:t>
            </a:r>
          </a:p>
        </p:txBody>
      </p:sp>
      <p:sp>
        <p:nvSpPr>
          <p:cNvPr id="16" name="Rounded Rectangle 15"/>
          <p:cNvSpPr/>
          <p:nvPr/>
        </p:nvSpPr>
        <p:spPr>
          <a:xfrm>
            <a:off x="6400800" y="1325880"/>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数据选择与关键特征</a:t>
            </a:r>
          </a:p>
        </p:txBody>
      </p:sp>
      <p:sp>
        <p:nvSpPr>
          <p:cNvPr id="19" name="Rounded Rectangle 18"/>
          <p:cNvSpPr/>
          <p:nvPr/>
        </p:nvSpPr>
        <p:spPr>
          <a:xfrm>
            <a:off x="6400800" y="2167128"/>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Overview概述段写法</a:t>
            </a:r>
          </a:p>
        </p:txBody>
      </p:sp>
      <p:sp>
        <p:nvSpPr>
          <p:cNvPr id="22" name="Rounded Rectangle 21"/>
          <p:cNvSpPr/>
          <p:nvPr/>
        </p:nvSpPr>
        <p:spPr>
          <a:xfrm>
            <a:off x="6400800" y="3008376"/>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054096"/>
            <a:ext cx="566928" cy="457200"/>
          </a:xfrm>
          <a:prstGeom prst="rect">
            <a:avLst/>
          </a:prstGeom>
          <a:noFill/>
        </p:spPr>
        <p:txBody>
          <a:bodyPr wrap="square" anchor="t">
            <a:spAutoFit/>
          </a:bodyPr>
          <a:lstStyle/>
          <a:p>
            <a:pPr algn="ctr"/>
            <a:r>
              <a:rPr sz="2000" b="1" i="0">
                <a:solidFill>
                  <a:srgbClr val="FFFFFF"/>
                </a:solidFill>
                <a:latin typeface="Calibri"/>
              </a:rPr>
              <a:t>6</a:t>
            </a:r>
          </a:p>
        </p:txBody>
      </p:sp>
      <p:sp>
        <p:nvSpPr>
          <p:cNvPr id="24" name="TextBox 23"/>
          <p:cNvSpPr txBox="1"/>
          <p:nvPr/>
        </p:nvSpPr>
        <p:spPr>
          <a:xfrm>
            <a:off x="7132320" y="3026664"/>
            <a:ext cx="4937760" cy="731520"/>
          </a:xfrm>
          <a:prstGeom prst="rect">
            <a:avLst/>
          </a:prstGeom>
          <a:noFill/>
        </p:spPr>
        <p:txBody>
          <a:bodyPr wrap="square" anchor="ctr">
            <a:spAutoFit/>
          </a:bodyPr>
          <a:lstStyle/>
          <a:p>
            <a:pPr algn="l"/>
            <a:r>
              <a:rPr sz="1450" b="1" i="0">
                <a:solidFill>
                  <a:srgbClr val="1E293B"/>
                </a:solidFill>
                <a:latin typeface="Calibri"/>
              </a:rPr>
              <a:t>综合练习与高分示范</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折线图描述方法</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Line Graph Description Techniques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折线图核心词汇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Key Vocabulary for Line Graphs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上升类</a:t>
            </a:r>
          </a:p>
          <a:p>
            <a:pPr>
              <a:spcBef>
                <a:spcPts val="100"/>
              </a:spcBef>
            </a:pPr>
            <a:r>
              <a:rPr sz="1500">
                <a:solidFill>
                  <a:srgbClr val="556075"/>
                </a:solidFill>
              </a:rPr>
              <a:t>   increase / rise / grow / climb / surge / soar</a:t>
            </a:r>
          </a:p>
          <a:p>
            <a:pPr>
              <a:spcBef>
                <a:spcPts val="900"/>
              </a:spcBef>
            </a:pPr>
            <a:r>
              <a:rPr sz="1800" b="1">
                <a:solidFill>
                  <a:srgbClr val="472473"/>
                </a:solidFill>
              </a:rPr>
              <a:t>• 下降类</a:t>
            </a:r>
          </a:p>
          <a:p>
            <a:pPr>
              <a:spcBef>
                <a:spcPts val="100"/>
              </a:spcBef>
            </a:pPr>
            <a:r>
              <a:rPr sz="1500">
                <a:solidFill>
                  <a:srgbClr val="556075"/>
                </a:solidFill>
              </a:rPr>
              <a:t>   decrease / fall / drop / decline / plummet / dip</a:t>
            </a:r>
          </a:p>
          <a:p>
            <a:pPr>
              <a:spcBef>
                <a:spcPts val="900"/>
              </a:spcBef>
            </a:pPr>
            <a:r>
              <a:rPr sz="1800" b="1">
                <a:solidFill>
                  <a:srgbClr val="472473"/>
                </a:solidFill>
              </a:rPr>
              <a:t>• 平稳类</a:t>
            </a:r>
          </a:p>
          <a:p>
            <a:pPr>
              <a:spcBef>
                <a:spcPts val="100"/>
              </a:spcBef>
            </a:pPr>
            <a:r>
              <a:rPr sz="1500">
                <a:solidFill>
                  <a:srgbClr val="556075"/>
                </a:solidFill>
              </a:rPr>
              <a:t>   remain stable / plateau / level off / stabilise</a:t>
            </a:r>
          </a:p>
          <a:p>
            <a:pPr>
              <a:spcBef>
                <a:spcPts val="900"/>
              </a:spcBef>
            </a:pPr>
            <a:r>
              <a:rPr sz="1800" b="1">
                <a:solidFill>
                  <a:srgbClr val="472473"/>
                </a:solidFill>
              </a:rPr>
              <a:t>• 波动类</a:t>
            </a:r>
          </a:p>
          <a:p>
            <a:pPr>
              <a:spcBef>
                <a:spcPts val="100"/>
              </a:spcBef>
            </a:pPr>
            <a:r>
              <a:rPr sz="1500">
                <a:solidFill>
                  <a:srgbClr val="556075"/>
                </a:solidFill>
              </a:rPr>
              <a:t>   fluctuate / vary / oscillate / experience variations</a:t>
            </a:r>
          </a:p>
          <a:p>
            <a:pPr>
              <a:spcBef>
                <a:spcPts val="900"/>
              </a:spcBef>
            </a:pPr>
            <a:r>
              <a:rPr sz="1800" b="1">
                <a:solidFill>
                  <a:srgbClr val="472473"/>
                </a:solidFill>
              </a:rPr>
              <a:t>• 峰值类</a:t>
            </a:r>
          </a:p>
          <a:p>
            <a:pPr>
              <a:spcBef>
                <a:spcPts val="100"/>
              </a:spcBef>
            </a:pPr>
            <a:r>
              <a:rPr sz="1500">
                <a:solidFill>
                  <a:srgbClr val="556075"/>
                </a:solidFill>
              </a:rPr>
              <a:t>   reach a peak / peak at / hit a high of / soar to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折线图程度副词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Adverbs of Degree for Line Graphs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大幅度</a:t>
            </a:r>
          </a:p>
          <a:p>
            <a:pPr>
              <a:spcBef>
                <a:spcPts val="100"/>
              </a:spcBef>
            </a:pPr>
            <a:r>
              <a:rPr sz="1500">
                <a:solidFill>
                  <a:srgbClr val="556075"/>
                </a:solidFill>
              </a:rPr>
              <a:t>   dramatically / significantly / sharply / steeply / considerably</a:t>
            </a:r>
          </a:p>
          <a:p>
            <a:pPr>
              <a:spcBef>
                <a:spcPts val="900"/>
              </a:spcBef>
            </a:pPr>
            <a:r>
              <a:rPr sz="1800" b="1">
                <a:solidFill>
                  <a:srgbClr val="472473"/>
                </a:solidFill>
              </a:rPr>
              <a:t>• 小幅度</a:t>
            </a:r>
          </a:p>
          <a:p>
            <a:pPr>
              <a:spcBef>
                <a:spcPts val="100"/>
              </a:spcBef>
            </a:pPr>
            <a:r>
              <a:rPr sz="1500">
                <a:solidFill>
                  <a:srgbClr val="556075"/>
                </a:solidFill>
              </a:rPr>
              <a:t>   slightly / marginally / modestly / gradually / gently</a:t>
            </a:r>
          </a:p>
          <a:p>
            <a:pPr>
              <a:spcBef>
                <a:spcPts val="900"/>
              </a:spcBef>
            </a:pPr>
            <a:r>
              <a:rPr sz="1800" b="1">
                <a:solidFill>
                  <a:srgbClr val="472473"/>
                </a:solidFill>
              </a:rPr>
              <a:t>• 快速地</a:t>
            </a:r>
          </a:p>
          <a:p>
            <a:pPr>
              <a:spcBef>
                <a:spcPts val="100"/>
              </a:spcBef>
            </a:pPr>
            <a:r>
              <a:rPr sz="1500">
                <a:solidFill>
                  <a:srgbClr val="556075"/>
                </a:solidFill>
              </a:rPr>
              <a:t>   rapidly / swiftly / suddenly / abruptly</a:t>
            </a:r>
          </a:p>
          <a:p>
            <a:pPr>
              <a:spcBef>
                <a:spcPts val="900"/>
              </a:spcBef>
            </a:pPr>
            <a:r>
              <a:rPr sz="1800" b="1">
                <a:solidFill>
                  <a:srgbClr val="472473"/>
                </a:solidFill>
              </a:rPr>
              <a:t>• 缓慢地</a:t>
            </a:r>
          </a:p>
          <a:p>
            <a:pPr>
              <a:spcBef>
                <a:spcPts val="100"/>
              </a:spcBef>
            </a:pPr>
            <a:r>
              <a:rPr sz="1500">
                <a:solidFill>
                  <a:srgbClr val="556075"/>
                </a:solidFill>
              </a:rPr>
              <a:t>   slowly / steadily / progressively</a:t>
            </a:r>
          </a:p>
          <a:p>
            <a:pPr>
              <a:spcBef>
                <a:spcPts val="900"/>
              </a:spcBef>
            </a:pPr>
            <a:r>
              <a:rPr sz="1800" b="1">
                <a:solidFill>
                  <a:srgbClr val="472473"/>
                </a:solidFill>
              </a:rPr>
              <a:t>• 近似地</a:t>
            </a:r>
          </a:p>
          <a:p>
            <a:pPr>
              <a:spcBef>
                <a:spcPts val="100"/>
              </a:spcBef>
            </a:pPr>
            <a:r>
              <a:rPr sz="1500">
                <a:solidFill>
                  <a:srgbClr val="556075"/>
                </a:solidFill>
              </a:rPr>
              <a:t>   approximately / roughly / around / nearly / about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折线图句型模板</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基本句型：
主语 + 动词 + 程度副词 + from X to Y / by Z
例句模板：
① Sales increased dramatically from 100 to 500 units between 2010 and 2020.
② The number of users rose sharply by 300% over the period.
③ Temperatures fluctuated significantly throughout the year.
④ Production levels remained relatively stable at around 400 units.
⑤ After peaking at 800 in 2015, figures declined gradually to 600 by 2020.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折线图时间表达</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时间范围表达：
• over the period / throughout the period
• from [year] to [year] / between [year] and [year]
• during the [decade/period]
时间点表达：
• in [year] / by [year] / at [year]
• in the early/mid/late [decade]
变化时间表达：
• after [time] / following [event]
• before [year] / prior to [year]
• subsequently / thereafter / afterwards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折线图描述练习1</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折线图数据：
英国失业率（%）：1990年=7%，1995年=10%，2000年=5%，2005年=4%，2010年=8%，2015年=5%
任务：描述1990-2015年的整体趋势</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高分描述：
The unemployment rate in the UK showed considerable fluctuation over the 25-year period. After rising sharply from 7% to a peak of 10% in 1995, it fell dramatically to 5% by 2000, before declining further to reach its lowest point of 4% in 2005. However, the rate surged again to 8% in 2010, likely due to the global financial crisis, before recovering to 5% by 2015.</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描述折线图时：①先写整体趋势 ②再描述各阶段变化 ③标注峰值和谷值</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折线图描述练习2</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折线图数据：
三个城市（北京/上海/广州）的月均气温（°C）
北京：1月=-4°C, 7月=26°C（冬冷夏热）
上海：1月=4°C, 7月=28°C（温差大）
广州：1月=13°C, 7月=29°C（全年温暖）
任务：写一个Overview概述段</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高分Overview：
Overall, all three cities experienced higher temperatures in summer than in winter, with July recording the highest values across the board. The most striking difference was the significantly greater temperature range in Beijing compared to Guangzhou, which maintained relatively mild conditions throughout the year.</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Overview规则：①不写具体数据 ②覆盖最主要趋势 ③指出最突出的对比/特征</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柱状图描述方法</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Bar Chart Description Techniques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柱状图核心表达</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Key Expressions for Bar Charts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最高/最大</a:t>
            </a:r>
          </a:p>
          <a:p>
            <a:pPr>
              <a:spcBef>
                <a:spcPts val="100"/>
              </a:spcBef>
            </a:pPr>
            <a:r>
              <a:rPr sz="1500">
                <a:solidFill>
                  <a:srgbClr val="556075"/>
                </a:solidFill>
              </a:rPr>
              <a:t>   the highest / the largest / the greatest / topped the list</a:t>
            </a:r>
          </a:p>
          <a:p>
            <a:pPr>
              <a:spcBef>
                <a:spcPts val="900"/>
              </a:spcBef>
            </a:pPr>
            <a:r>
              <a:rPr sz="1800" b="1">
                <a:solidFill>
                  <a:srgbClr val="472473"/>
                </a:solidFill>
              </a:rPr>
              <a:t>• 最低/最小</a:t>
            </a:r>
          </a:p>
          <a:p>
            <a:pPr>
              <a:spcBef>
                <a:spcPts val="100"/>
              </a:spcBef>
            </a:pPr>
            <a:r>
              <a:rPr sz="1500">
                <a:solidFill>
                  <a:srgbClr val="556075"/>
                </a:solidFill>
              </a:rPr>
              <a:t>   the lowest / the smallest / the least / ranked last</a:t>
            </a:r>
          </a:p>
          <a:p>
            <a:pPr>
              <a:spcBef>
                <a:spcPts val="900"/>
              </a:spcBef>
            </a:pPr>
            <a:r>
              <a:rPr sz="1800" b="1">
                <a:solidFill>
                  <a:srgbClr val="472473"/>
                </a:solidFill>
              </a:rPr>
              <a:t>• 排名表达</a:t>
            </a:r>
          </a:p>
          <a:p>
            <a:pPr>
              <a:spcBef>
                <a:spcPts val="100"/>
              </a:spcBef>
            </a:pPr>
            <a:r>
              <a:rPr sz="1500">
                <a:solidFill>
                  <a:srgbClr val="556075"/>
                </a:solidFill>
              </a:rPr>
              <a:t>   ranked first/second / came first / followed by / in second place</a:t>
            </a:r>
          </a:p>
          <a:p>
            <a:pPr>
              <a:spcBef>
                <a:spcPts val="900"/>
              </a:spcBef>
            </a:pPr>
            <a:r>
              <a:rPr sz="1800" b="1">
                <a:solidFill>
                  <a:srgbClr val="472473"/>
                </a:solidFill>
              </a:rPr>
              <a:t>• 倍数比较</a:t>
            </a:r>
          </a:p>
          <a:p>
            <a:pPr>
              <a:spcBef>
                <a:spcPts val="100"/>
              </a:spcBef>
            </a:pPr>
            <a:r>
              <a:rPr sz="1500">
                <a:solidFill>
                  <a:srgbClr val="556075"/>
                </a:solidFill>
              </a:rPr>
              <a:t>   twice as much as / three times higher than / double the figure</a:t>
            </a:r>
          </a:p>
          <a:p>
            <a:pPr>
              <a:spcBef>
                <a:spcPts val="900"/>
              </a:spcBef>
            </a:pPr>
            <a:r>
              <a:rPr sz="1800" b="1">
                <a:solidFill>
                  <a:srgbClr val="472473"/>
                </a:solidFill>
              </a:rPr>
              <a:t>• 差距表达</a:t>
            </a:r>
          </a:p>
          <a:p>
            <a:pPr>
              <a:spcBef>
                <a:spcPts val="100"/>
              </a:spcBef>
            </a:pPr>
            <a:r>
              <a:rPr sz="1500">
                <a:solidFill>
                  <a:srgbClr val="556075"/>
                </a:solidFill>
              </a:rPr>
              <a:t>   the gap between / a difference of / compared to / while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柱状图比较句型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Comparison Sentence Patterns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直接比较</a:t>
            </a:r>
          </a:p>
          <a:p>
            <a:pPr>
              <a:spcBef>
                <a:spcPts val="100"/>
              </a:spcBef>
            </a:pPr>
            <a:r>
              <a:rPr sz="1500">
                <a:solidFill>
                  <a:srgbClr val="556075"/>
                </a:solidFill>
              </a:rPr>
              <a:t>   X was significantly higher than Y, at Z% compared to W%</a:t>
            </a:r>
          </a:p>
          <a:p>
            <a:pPr>
              <a:spcBef>
                <a:spcPts val="900"/>
              </a:spcBef>
            </a:pPr>
            <a:r>
              <a:rPr sz="1800" b="1">
                <a:solidFill>
                  <a:srgbClr val="472473"/>
                </a:solidFill>
              </a:rPr>
              <a:t>• 倍数表达</a:t>
            </a:r>
          </a:p>
          <a:p>
            <a:pPr>
              <a:spcBef>
                <a:spcPts val="100"/>
              </a:spcBef>
            </a:pPr>
            <a:r>
              <a:rPr sz="1500">
                <a:solidFill>
                  <a:srgbClr val="556075"/>
                </a:solidFill>
              </a:rPr>
              <a:t>   X was approximately twice the figure for Y</a:t>
            </a:r>
          </a:p>
          <a:p>
            <a:pPr>
              <a:spcBef>
                <a:spcPts val="900"/>
              </a:spcBef>
            </a:pPr>
            <a:r>
              <a:rPr sz="1800" b="1">
                <a:solidFill>
                  <a:srgbClr val="472473"/>
                </a:solidFill>
              </a:rPr>
              <a:t>• 差距表达</a:t>
            </a:r>
          </a:p>
          <a:p>
            <a:pPr>
              <a:spcBef>
                <a:spcPts val="100"/>
              </a:spcBef>
            </a:pPr>
            <a:r>
              <a:rPr sz="1500">
                <a:solidFill>
                  <a:srgbClr val="556075"/>
                </a:solidFill>
              </a:rPr>
              <a:t>   There was a notable gap between X and Y, with a difference of Z</a:t>
            </a:r>
          </a:p>
          <a:p>
            <a:pPr>
              <a:spcBef>
                <a:spcPts val="900"/>
              </a:spcBef>
            </a:pPr>
            <a:r>
              <a:rPr sz="1800" b="1">
                <a:solidFill>
                  <a:srgbClr val="472473"/>
                </a:solidFill>
              </a:rPr>
              <a:t>• 排名表达</a:t>
            </a:r>
          </a:p>
          <a:p>
            <a:pPr>
              <a:spcBef>
                <a:spcPts val="100"/>
              </a:spcBef>
            </a:pPr>
            <a:r>
              <a:rPr sz="1500">
                <a:solidFill>
                  <a:srgbClr val="556075"/>
                </a:solidFill>
              </a:rPr>
              <a:t>   X ranked first with Z%, followed by Y at W%</a:t>
            </a:r>
          </a:p>
          <a:p>
            <a:pPr>
              <a:spcBef>
                <a:spcPts val="900"/>
              </a:spcBef>
            </a:pPr>
            <a:r>
              <a:rPr sz="1800" b="1">
                <a:solidFill>
                  <a:srgbClr val="472473"/>
                </a:solidFill>
              </a:rPr>
              <a:t>• 相似表达</a:t>
            </a:r>
          </a:p>
          <a:p>
            <a:pPr>
              <a:spcBef>
                <a:spcPts val="100"/>
              </a:spcBef>
            </a:pPr>
            <a:r>
              <a:rPr sz="1500">
                <a:solidFill>
                  <a:srgbClr val="556075"/>
                </a:solidFill>
              </a:rPr>
              <a:t>   X and Y showed similar figures, both recording approximately Z%</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柱状图描述三步法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第一步：整体概述（Overview）
→ 指出最高和最低，以及整体规律
第二步：详细描述（主要特征）
→ 按高→低排序，或按组别分析
第三步：对比说明
→ 指出最大差距，或最相似的项目
示例结构（4个国家能源消耗柱状图）：
Overview：美国最高，法国最低；整体西方国家高于亚洲
详细：美国（500万吨）&gt; 德国（350万吨）&gt; 日本（300万吨）&gt; 法国（200万吨）
对比：美国与法国差距最大（2.5倍）</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柱状图vs折线图的描述差异</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折线图（强调时间变化）：
→ 重点描述趋势：rise/fall/fluctuate
→ 使用时间副词：from...to.../between...and
→ 语法：过去时（if historical）/ 现在时（if general）
柱状图（强调数量比较）：
→ 重点描述比较：higher than/lower than
→ 使用排名和差距表达
→ 如果有时间轴：还需描述变化趋势
关键原则：图表类型决定描述策略！</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柱状图描述练习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柱状图数据（2020年五个国家人均咖啡消费量，kg/年）：
芬兰: 12kg，挪威: 9.9kg，冰岛: 9kg，丹麦: 8.7kg，荷兰: 8.4kg，中国: 0.4kg
任务：写一个描述段（不含Overview）</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高分描述段：
Finland recorded by far the highest per capita coffee consumption at 12 kg per year, more than twice the figure for Denmark and the Netherlands. Norway came in second place at 9.9 kg, followed closely by Iceland and Denmark at 9 kg and 8.7 kg respectively. The Netherlands ranked fifth with a similar figure of 8.4 kg. In stark contrast, China's consumption was negligible at just 0.4 kg, representing less than one thirtieth of Finland's figure.</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关键技巧：①used "by far" 强调最大差距 ②"respectively"列出相近数据 ③用分数表达比例关系</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柱状图分组比较练习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柱状图数据（男女大学毕业生就业率%）：
工程类：男85%，女68%
商科类：男78%，女81%
文学类：男62%，女72%
医学类：男91%，女89%
任务：描述性别差异的主要特征</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高分描述：
The most notable gender difference was observed in engineering, where male graduates' employment rate (85%) was considerably higher than that of their female counterparts (68%), a gap of 17 percentage points. In contrast, business showed the opposite pattern, with females slightly outperforming males (81% vs 78%). Medical graduates of both genders achieved the highest rates overall, with minimal gender disparity. Only in arts did females show a clear advantage over males (72% vs 62%).</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分组柱状图技巧：①找最大差距 ②找相反趋势 ③找相似项目</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饼图描述方法</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Pie Chart Description Techniques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饼图核心表达</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Key Expressions for Pie Charts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占比表达</a:t>
            </a:r>
          </a:p>
          <a:p>
            <a:pPr>
              <a:spcBef>
                <a:spcPts val="100"/>
              </a:spcBef>
            </a:pPr>
            <a:r>
              <a:rPr sz="1500">
                <a:solidFill>
                  <a:srgbClr val="556075"/>
                </a:solidFill>
              </a:rPr>
              <a:t>   account for / make up / constitute / represent / comprise</a:t>
            </a:r>
          </a:p>
          <a:p>
            <a:pPr>
              <a:spcBef>
                <a:spcPts val="900"/>
              </a:spcBef>
            </a:pPr>
            <a:r>
              <a:rPr sz="1800" b="1">
                <a:solidFill>
                  <a:srgbClr val="472473"/>
                </a:solidFill>
              </a:rPr>
              <a:t>• 最大份额</a:t>
            </a:r>
          </a:p>
          <a:p>
            <a:pPr>
              <a:spcBef>
                <a:spcPts val="100"/>
              </a:spcBef>
            </a:pPr>
            <a:r>
              <a:rPr sz="1500">
                <a:solidFill>
                  <a:srgbClr val="556075"/>
                </a:solidFill>
              </a:rPr>
              <a:t>   the largest share / the greatest proportion / dominated</a:t>
            </a:r>
          </a:p>
          <a:p>
            <a:pPr>
              <a:spcBef>
                <a:spcPts val="900"/>
              </a:spcBef>
            </a:pPr>
            <a:r>
              <a:rPr sz="1800" b="1">
                <a:solidFill>
                  <a:srgbClr val="472473"/>
                </a:solidFill>
              </a:rPr>
              <a:t>• 最小份额</a:t>
            </a:r>
          </a:p>
          <a:p>
            <a:pPr>
              <a:spcBef>
                <a:spcPts val="100"/>
              </a:spcBef>
            </a:pPr>
            <a:r>
              <a:rPr sz="1500">
                <a:solidFill>
                  <a:srgbClr val="556075"/>
                </a:solidFill>
              </a:rPr>
              <a:t>   the smallest portion / the least significant / a minor share</a:t>
            </a:r>
          </a:p>
          <a:p>
            <a:pPr>
              <a:spcBef>
                <a:spcPts val="900"/>
              </a:spcBef>
            </a:pPr>
            <a:r>
              <a:rPr sz="1800" b="1">
                <a:solidFill>
                  <a:srgbClr val="472473"/>
                </a:solidFill>
              </a:rPr>
              <a:t>• 接近表达</a:t>
            </a:r>
          </a:p>
          <a:p>
            <a:pPr>
              <a:spcBef>
                <a:spcPts val="100"/>
              </a:spcBef>
            </a:pPr>
            <a:r>
              <a:rPr sz="1500">
                <a:solidFill>
                  <a:srgbClr val="556075"/>
                </a:solidFill>
              </a:rPr>
              <a:t>   nearly / almost / approximately / just over / just under</a:t>
            </a:r>
          </a:p>
          <a:p>
            <a:pPr>
              <a:spcBef>
                <a:spcPts val="900"/>
              </a:spcBef>
            </a:pPr>
            <a:r>
              <a:rPr sz="1800" b="1">
                <a:solidFill>
                  <a:srgbClr val="472473"/>
                </a:solidFill>
              </a:rPr>
              <a:t>• 组合表达</a:t>
            </a:r>
          </a:p>
          <a:p>
            <a:pPr>
              <a:spcBef>
                <a:spcPts val="100"/>
              </a:spcBef>
            </a:pPr>
            <a:r>
              <a:rPr sz="1500">
                <a:solidFill>
                  <a:srgbClr val="556075"/>
                </a:solidFill>
              </a:rPr>
              <a:t>   combined / together / collectively / in total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饼图百分比描述</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Percentage Description Patterns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超过50%</a:t>
            </a:r>
          </a:p>
          <a:p>
            <a:pPr>
              <a:spcBef>
                <a:spcPts val="100"/>
              </a:spcBef>
            </a:pPr>
            <a:r>
              <a:rPr sz="1500">
                <a:solidFill>
                  <a:srgbClr val="556075"/>
                </a:solidFill>
              </a:rPr>
              <a:t>   more than half / the majority / over half / dominated</a:t>
            </a:r>
          </a:p>
          <a:p>
            <a:pPr>
              <a:spcBef>
                <a:spcPts val="900"/>
              </a:spcBef>
            </a:pPr>
            <a:r>
              <a:rPr sz="1800" b="1">
                <a:solidFill>
                  <a:srgbClr val="472473"/>
                </a:solidFill>
              </a:rPr>
              <a:t>• 接近50%</a:t>
            </a:r>
          </a:p>
          <a:p>
            <a:pPr>
              <a:spcBef>
                <a:spcPts val="100"/>
              </a:spcBef>
            </a:pPr>
            <a:r>
              <a:rPr sz="1500">
                <a:solidFill>
                  <a:srgbClr val="556075"/>
                </a:solidFill>
              </a:rPr>
              <a:t>   nearly half / almost half / approximately 50%</a:t>
            </a:r>
          </a:p>
          <a:p>
            <a:pPr>
              <a:spcBef>
                <a:spcPts val="900"/>
              </a:spcBef>
            </a:pPr>
            <a:r>
              <a:rPr sz="1800" b="1">
                <a:solidFill>
                  <a:srgbClr val="472473"/>
                </a:solidFill>
              </a:rPr>
              <a:t>• 25%-50%</a:t>
            </a:r>
          </a:p>
          <a:p>
            <a:pPr>
              <a:spcBef>
                <a:spcPts val="100"/>
              </a:spcBef>
            </a:pPr>
            <a:r>
              <a:rPr sz="1500">
                <a:solidFill>
                  <a:srgbClr val="556075"/>
                </a:solidFill>
              </a:rPr>
              <a:t>   a significant proportion / about a quarter to half</a:t>
            </a:r>
          </a:p>
          <a:p>
            <a:pPr>
              <a:spcBef>
                <a:spcPts val="900"/>
              </a:spcBef>
            </a:pPr>
            <a:r>
              <a:rPr sz="1800" b="1">
                <a:solidFill>
                  <a:srgbClr val="472473"/>
                </a:solidFill>
              </a:rPr>
              <a:t>• 10%-25%</a:t>
            </a:r>
          </a:p>
          <a:p>
            <a:pPr>
              <a:spcBef>
                <a:spcPts val="100"/>
              </a:spcBef>
            </a:pPr>
            <a:r>
              <a:rPr sz="1500">
                <a:solidFill>
                  <a:srgbClr val="556075"/>
                </a:solidFill>
              </a:rPr>
              <a:t>   a notable minority / around one fifth/quarter</a:t>
            </a:r>
          </a:p>
          <a:p>
            <a:pPr>
              <a:spcBef>
                <a:spcPts val="900"/>
              </a:spcBef>
            </a:pPr>
            <a:r>
              <a:rPr sz="1800" b="1">
                <a:solidFill>
                  <a:srgbClr val="472473"/>
                </a:solidFill>
              </a:rPr>
              <a:t>• 低于10%</a:t>
            </a:r>
          </a:p>
          <a:p>
            <a:pPr>
              <a:spcBef>
                <a:spcPts val="100"/>
              </a:spcBef>
            </a:pPr>
            <a:r>
              <a:rPr sz="1500">
                <a:solidFill>
                  <a:srgbClr val="556075"/>
                </a:solidFill>
              </a:rPr>
              <a:t>   a small fraction / a minor proportion / less than one tenth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饼图描述要点</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饼图描述三步法：
第一步：最大和最小份额
"The largest category was X, accounting for Z% of the total, while Y represented the smallest share at just W%"
第二步：其他主要类别
按比例从大到小排列，注意"接近"等修饰语
第三步：整体特征
指出是否集中（某类占一半以上）或分散（各类相近）
注意：饼图通常不描述"变化趋势"——只比较各部分大小</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多个饼图（时间对比）的描述</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两个饼图（不同年份）的描述策略：
不能只列各年数据——要找出变化！
高分策略：
① 指出哪类增长最大（比例从X增到Y）
② 指出哪类下降最大
③ 指出哪类相对稳定
④ 整体Overview：某类越来越重要 / 某类明显缩小
示例：
"While Category A's share grew substantially from 20% to 35% over the period, Category B experienced a corresponding decline from 40% to 25%, suggesting a significant shift in preference."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饼图描述练习1</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饼图数据（某城市居民交通出行方式）：
私家车: 45%，公共汽车: 25%，地铁: 15%，步行: 10%，自行车: 5%
任务：写一段完整的饼图描述（含Overview）</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高分描述：
Overall, private car use dominated transportation in the city, while non-motorised options collectively represented only a small fraction of journeys.
Private cars accounted for the largest share at 45%, meaning that nearly half of all trips were made by this mode. Public buses were the second most popular choice, comprising a quarter of journeys, followed by the subway at 15%. Walking represented one tenth of trips, while cycling was the least common option, making up only 5% of the total.</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Overview先总后分：①先说整体主导 ②再按比例从大到小描述</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饼图描述练习2：两时期对比</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两个饼图（2000年 vs 2020年家庭支出结构）：
2000年：住房30%，食物35%，交通15%，娱乐10%，其他10%
2020年：住房40%，食物20%，交通20%，娱乐12%，其他8%
任务：描述主要变化</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高分描述：
The most significant change over the two decades was the substantial rise in housing costs, whose share increased from 30% to 40%, making it the single largest expenditure by 2020. In contrast, spending on food fell dramatically, dropping from the largest category at 35% to just 20%. Transport costs grew modestly from 15% to 20%, while entertainment and other categories remained relatively stable.</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对比饼图：用increased from...to / fell from...to / rose/dropped/remained stable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Overview概述段写法</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Writing the Overview Paragraph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Overview的定义与要求</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Overview: Definition &amp; Requirements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位置</a:t>
            </a:r>
          </a:p>
          <a:p>
            <a:pPr>
              <a:spcBef>
                <a:spcPts val="100"/>
              </a:spcBef>
            </a:pPr>
            <a:r>
              <a:rPr sz="1500">
                <a:solidFill>
                  <a:srgbClr val="556075"/>
                </a:solidFill>
              </a:rPr>
              <a:t>   通常放在引言段之后，细节段之前（第二段）</a:t>
            </a:r>
          </a:p>
          <a:p>
            <a:pPr>
              <a:spcBef>
                <a:spcPts val="900"/>
              </a:spcBef>
            </a:pPr>
            <a:r>
              <a:rPr sz="1800" b="1">
                <a:solidFill>
                  <a:srgbClr val="472473"/>
                </a:solidFill>
              </a:rPr>
              <a:t>• 内容</a:t>
            </a:r>
          </a:p>
          <a:p>
            <a:pPr>
              <a:spcBef>
                <a:spcPts val="100"/>
              </a:spcBef>
            </a:pPr>
            <a:r>
              <a:rPr sz="1500">
                <a:solidFill>
                  <a:srgbClr val="556075"/>
                </a:solidFill>
              </a:rPr>
              <a:t>   总结图表最主要的趋势、特征或差异——不写具体数字</a:t>
            </a:r>
          </a:p>
          <a:p>
            <a:pPr>
              <a:spcBef>
                <a:spcPts val="900"/>
              </a:spcBef>
            </a:pPr>
            <a:r>
              <a:rPr sz="1800" b="1">
                <a:solidFill>
                  <a:srgbClr val="472473"/>
                </a:solidFill>
              </a:rPr>
              <a:t>• 开头词</a:t>
            </a:r>
          </a:p>
          <a:p>
            <a:pPr>
              <a:spcBef>
                <a:spcPts val="100"/>
              </a:spcBef>
            </a:pPr>
            <a:r>
              <a:rPr sz="1500">
                <a:solidFill>
                  <a:srgbClr val="556075"/>
                </a:solidFill>
              </a:rPr>
              <a:t>   通常用Overall开头（Overall, it is clear that...）</a:t>
            </a:r>
          </a:p>
          <a:p>
            <a:pPr>
              <a:spcBef>
                <a:spcPts val="900"/>
              </a:spcBef>
            </a:pPr>
            <a:r>
              <a:rPr sz="1800" b="1">
                <a:solidFill>
                  <a:srgbClr val="472473"/>
                </a:solidFill>
              </a:rPr>
              <a:t>• 字数</a:t>
            </a:r>
          </a:p>
          <a:p>
            <a:pPr>
              <a:spcBef>
                <a:spcPts val="100"/>
              </a:spcBef>
            </a:pPr>
            <a:r>
              <a:rPr sz="1500">
                <a:solidFill>
                  <a:srgbClr val="556075"/>
                </a:solidFill>
              </a:rPr>
              <a:t>   约40-60词——简洁准确</a:t>
            </a:r>
          </a:p>
          <a:p>
            <a:pPr>
              <a:spcBef>
                <a:spcPts val="900"/>
              </a:spcBef>
            </a:pPr>
            <a:r>
              <a:rPr sz="1800" b="1">
                <a:solidFill>
                  <a:srgbClr val="472473"/>
                </a:solidFill>
              </a:rPr>
              <a:t>• 必要性</a:t>
            </a:r>
          </a:p>
          <a:p>
            <a:pPr>
              <a:spcBef>
                <a:spcPts val="100"/>
              </a:spcBef>
            </a:pPr>
            <a:r>
              <a:rPr sz="1500">
                <a:solidFill>
                  <a:srgbClr val="556075"/>
                </a:solidFill>
              </a:rPr>
              <a:t>   没有Overview，Task 1 TA项最高只能Band 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Overview写什么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What to Include in Overview</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折线图</a:t>
            </a:r>
          </a:p>
          <a:p>
            <a:pPr>
              <a:spcBef>
                <a:spcPts val="100"/>
              </a:spcBef>
            </a:pPr>
            <a:r>
              <a:rPr sz="1500">
                <a:solidFill>
                  <a:srgbClr val="556075"/>
                </a:solidFill>
              </a:rPr>
              <a:t>   最主要的趋势（整体上升/下降/波动）和最突出的对比</a:t>
            </a:r>
          </a:p>
          <a:p>
            <a:pPr>
              <a:spcBef>
                <a:spcPts val="900"/>
              </a:spcBef>
            </a:pPr>
            <a:r>
              <a:rPr sz="1800" b="1">
                <a:solidFill>
                  <a:srgbClr val="472473"/>
                </a:solidFill>
              </a:rPr>
              <a:t>• 柱状图</a:t>
            </a:r>
          </a:p>
          <a:p>
            <a:pPr>
              <a:spcBef>
                <a:spcPts val="100"/>
              </a:spcBef>
            </a:pPr>
            <a:r>
              <a:rPr sz="1500">
                <a:solidFill>
                  <a:srgbClr val="556075"/>
                </a:solidFill>
              </a:rPr>
              <a:t>   最高和最低，以及整体规律（如：某组普遍高于另一组）</a:t>
            </a:r>
          </a:p>
          <a:p>
            <a:pPr>
              <a:spcBef>
                <a:spcPts val="900"/>
              </a:spcBef>
            </a:pPr>
            <a:r>
              <a:rPr sz="1800" b="1">
                <a:solidFill>
                  <a:srgbClr val="472473"/>
                </a:solidFill>
              </a:rPr>
              <a:t>• 饼图</a:t>
            </a:r>
          </a:p>
          <a:p>
            <a:pPr>
              <a:spcBef>
                <a:spcPts val="100"/>
              </a:spcBef>
            </a:pPr>
            <a:r>
              <a:rPr sz="1500">
                <a:solidFill>
                  <a:srgbClr val="556075"/>
                </a:solidFill>
              </a:rPr>
              <a:t>   最大份额，以及是否高度集中或分散</a:t>
            </a:r>
          </a:p>
          <a:p>
            <a:pPr>
              <a:spcBef>
                <a:spcPts val="900"/>
              </a:spcBef>
            </a:pPr>
            <a:r>
              <a:rPr sz="1800" b="1">
                <a:solidFill>
                  <a:srgbClr val="472473"/>
                </a:solidFill>
              </a:rPr>
              <a:t>• 流程图</a:t>
            </a:r>
          </a:p>
          <a:p>
            <a:pPr>
              <a:spcBef>
                <a:spcPts val="100"/>
              </a:spcBef>
            </a:pPr>
            <a:r>
              <a:rPr sz="1500">
                <a:solidFill>
                  <a:srgbClr val="556075"/>
                </a:solidFill>
              </a:rPr>
              <a:t>   流程的起点和终点，总步骤数</a:t>
            </a:r>
          </a:p>
          <a:p>
            <a:pPr>
              <a:spcBef>
                <a:spcPts val="900"/>
              </a:spcBef>
            </a:pPr>
            <a:r>
              <a:rPr sz="1800" b="1">
                <a:solidFill>
                  <a:srgbClr val="472473"/>
                </a:solidFill>
              </a:rPr>
              <a:t>• 地图</a:t>
            </a:r>
          </a:p>
          <a:p>
            <a:pPr>
              <a:spcBef>
                <a:spcPts val="100"/>
              </a:spcBef>
            </a:pPr>
            <a:r>
              <a:rPr sz="1500">
                <a:solidFill>
                  <a:srgbClr val="556075"/>
                </a:solidFill>
              </a:rPr>
              <a:t>   主要变化（新增/移除/改建了什么区域）</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Overview三种常见错误</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错误1：写了具体数字
❌ "Overall, the UK's GDP increased from $1.2 trillion in 2000 to $2.8 trillion in 2020."
→ Overview不应包含具体数据
错误2：只是重复图表标题
❌ "Overall, this pie chart shows the distribution of household spending."
→ 没有概括任何趋势或特征
错误3：遗漏最重要的特征
❌ （图表中国折线增长最显著，但Overview只提了其他国家）
→ 最突出的特征必须包含在Overview中</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Overview高分模板</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折线图Overview模板：
"Overall, [subject A] showed a [general trend], while [subject B] experienced [contrasting trend]. The most notable feature is that [most striking observation]."
柱状图Overview模板：
"Overall, [highest category] recorded the highest figures, while [lowest category] was the least significant. [Optional: general pattern across groups]."
饼图Overview模板：
"Overall, [largest segment] dominated, accounting for the majority of [total]. In contrast, [smallest segment] represented only a minor fraction."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Overview写作练习：折线图</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折线图数据：
1990-2020年四个国家互联网用户比例（%）
美国：1990=1%, 2000=50%, 2010=75%, 2020=90%
中国：1990=0%, 2000=2%, 2010=35%, 2020=73%
印度：1990=0%, 2000=1%, 2010=10%, 2020=45%
英国：1990=0%, 2000=40%, 2010=80%, 2020=95%
任务：写一个高分Overview</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高分Overview：
Overall, all four countries experienced dramatic growth in internet penetration over the 30-year period, though the rate of increase varied considerably. The UK and the United States led the way and maintained the highest proportions throughout, while China and India, despite starting from negligible levels, showed the most rapid growth in the latter half of the period.</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Overview技巧：①说明整体共同趋势 ②指出最突出的对比 ③不写具体数据</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Overview写作练习：饼图</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饼图数据（深圳市2023年电力来源）：
煤电: 38%，核电: 28%，天然气: 18%，太阳能: 10%，其他可再生: 6%
任务：写一个高分Overview（不超过50词）</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高分Overview：
Overall, fossil fuel sources—particularly coal-fired power—dominated electricity generation in Shenzhen in 2023, collectively accounting for more than half of total output. Renewable energy sources, while present, represented a relatively minor share of the overall energy mix.</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短小精悍：①集中描述最大特征 ②用collectively合并同类项 ③不超过60词</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数据选择与描述策略</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Data Selection &amp; Description Strategy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关键数据的选择原则</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Principles for Selecting Key Data</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选最高</a:t>
            </a:r>
          </a:p>
          <a:p>
            <a:pPr>
              <a:spcBef>
                <a:spcPts val="100"/>
              </a:spcBef>
            </a:pPr>
            <a:r>
              <a:rPr sz="1500">
                <a:solidFill>
                  <a:srgbClr val="556075"/>
                </a:solidFill>
              </a:rPr>
              <a:t>   描述图表中最高的数值及对应类别</a:t>
            </a:r>
          </a:p>
          <a:p>
            <a:pPr>
              <a:spcBef>
                <a:spcPts val="900"/>
              </a:spcBef>
            </a:pPr>
            <a:r>
              <a:rPr sz="1800" b="1">
                <a:solidFill>
                  <a:srgbClr val="472473"/>
                </a:solidFill>
              </a:rPr>
              <a:t>• 选最低</a:t>
            </a:r>
          </a:p>
          <a:p>
            <a:pPr>
              <a:spcBef>
                <a:spcPts val="100"/>
              </a:spcBef>
            </a:pPr>
            <a:r>
              <a:rPr sz="1500">
                <a:solidFill>
                  <a:srgbClr val="556075"/>
                </a:solidFill>
              </a:rPr>
              <a:t>   描述图表中最低的数值及对应类别</a:t>
            </a:r>
          </a:p>
          <a:p>
            <a:pPr>
              <a:spcBef>
                <a:spcPts val="900"/>
              </a:spcBef>
            </a:pPr>
            <a:r>
              <a:rPr sz="1800" b="1">
                <a:solidFill>
                  <a:srgbClr val="472473"/>
                </a:solidFill>
              </a:rPr>
              <a:t>• 选最大变化</a:t>
            </a:r>
          </a:p>
          <a:p>
            <a:pPr>
              <a:spcBef>
                <a:spcPts val="100"/>
              </a:spcBef>
            </a:pPr>
            <a:r>
              <a:rPr sz="1500">
                <a:solidFill>
                  <a:srgbClr val="556075"/>
                </a:solidFill>
              </a:rPr>
              <a:t>   折线图中变化幅度最大的趋势</a:t>
            </a:r>
          </a:p>
          <a:p>
            <a:pPr>
              <a:spcBef>
                <a:spcPts val="900"/>
              </a:spcBef>
            </a:pPr>
            <a:r>
              <a:rPr sz="1800" b="1">
                <a:solidFill>
                  <a:srgbClr val="472473"/>
                </a:solidFill>
              </a:rPr>
              <a:t>• 选最大差距</a:t>
            </a:r>
          </a:p>
          <a:p>
            <a:pPr>
              <a:spcBef>
                <a:spcPts val="100"/>
              </a:spcBef>
            </a:pPr>
            <a:r>
              <a:rPr sz="1500">
                <a:solidFill>
                  <a:srgbClr val="556075"/>
                </a:solidFill>
              </a:rPr>
              <a:t>   柱状图中类别间差距最大的比较</a:t>
            </a:r>
          </a:p>
          <a:p>
            <a:pPr>
              <a:spcBef>
                <a:spcPts val="900"/>
              </a:spcBef>
            </a:pPr>
            <a:r>
              <a:rPr sz="1800" b="1">
                <a:solidFill>
                  <a:srgbClr val="472473"/>
                </a:solidFill>
              </a:rPr>
              <a:t>• 选异常</a:t>
            </a:r>
          </a:p>
          <a:p>
            <a:pPr>
              <a:spcBef>
                <a:spcPts val="100"/>
              </a:spcBef>
            </a:pPr>
            <a:r>
              <a:rPr sz="1500">
                <a:solidFill>
                  <a:srgbClr val="556075"/>
                </a:solidFill>
              </a:rPr>
              <a:t>   与其他数据明显不同的"异常点"</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数据描述的准确性要求</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Accuracy Requirements for Data</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数字要准确</a:t>
            </a:r>
          </a:p>
          <a:p>
            <a:pPr>
              <a:spcBef>
                <a:spcPts val="100"/>
              </a:spcBef>
            </a:pPr>
            <a:r>
              <a:rPr sz="1500">
                <a:solidFill>
                  <a:srgbClr val="556075"/>
                </a:solidFill>
              </a:rPr>
              <a:t>   直接引用数据，不能改变</a:t>
            </a:r>
          </a:p>
          <a:p>
            <a:pPr>
              <a:spcBef>
                <a:spcPts val="900"/>
              </a:spcBef>
            </a:pPr>
            <a:r>
              <a:rPr sz="1800" b="1">
                <a:solidFill>
                  <a:srgbClr val="472473"/>
                </a:solidFill>
              </a:rPr>
              <a:t>• 单位要正确</a:t>
            </a:r>
          </a:p>
          <a:p>
            <a:pPr>
              <a:spcBef>
                <a:spcPts val="100"/>
              </a:spcBef>
            </a:pPr>
            <a:r>
              <a:rPr sz="1500">
                <a:solidFill>
                  <a:srgbClr val="556075"/>
                </a:solidFill>
              </a:rPr>
              <a:t>   注意图表中的单位（%/万/百万/billion）</a:t>
            </a:r>
          </a:p>
          <a:p>
            <a:pPr>
              <a:spcBef>
                <a:spcPts val="900"/>
              </a:spcBef>
            </a:pPr>
            <a:r>
              <a:rPr sz="1800" b="1">
                <a:solidFill>
                  <a:srgbClr val="472473"/>
                </a:solidFill>
              </a:rPr>
              <a:t>• 时间要正确</a:t>
            </a:r>
          </a:p>
          <a:p>
            <a:pPr>
              <a:spcBef>
                <a:spcPts val="100"/>
              </a:spcBef>
            </a:pPr>
            <a:r>
              <a:rPr sz="1500">
                <a:solidFill>
                  <a:srgbClr val="556075"/>
                </a:solidFill>
              </a:rPr>
              <a:t>   确认时间轴的刻度和具体年份</a:t>
            </a:r>
          </a:p>
          <a:p>
            <a:pPr>
              <a:spcBef>
                <a:spcPts val="900"/>
              </a:spcBef>
            </a:pPr>
            <a:r>
              <a:rPr sz="1800" b="1">
                <a:solidFill>
                  <a:srgbClr val="472473"/>
                </a:solidFill>
              </a:rPr>
              <a:t>• 不能推断</a:t>
            </a:r>
          </a:p>
          <a:p>
            <a:pPr>
              <a:spcBef>
                <a:spcPts val="100"/>
              </a:spcBef>
            </a:pPr>
            <a:r>
              <a:rPr sz="1500">
                <a:solidFill>
                  <a:srgbClr val="556075"/>
                </a:solidFill>
              </a:rPr>
              <a:t>   不描述图表没有显示的信息</a:t>
            </a:r>
          </a:p>
          <a:p>
            <a:pPr>
              <a:spcBef>
                <a:spcPts val="900"/>
              </a:spcBef>
            </a:pPr>
            <a:r>
              <a:rPr sz="1800" b="1">
                <a:solidFill>
                  <a:srgbClr val="472473"/>
                </a:solidFill>
              </a:rPr>
              <a:t>• 不写原因</a:t>
            </a:r>
          </a:p>
          <a:p>
            <a:pPr>
              <a:spcBef>
                <a:spcPts val="100"/>
              </a:spcBef>
            </a:pPr>
            <a:r>
              <a:rPr sz="1500">
                <a:solidFill>
                  <a:srgbClr val="556075"/>
                </a:solidFill>
              </a:rPr>
              <a:t>   Task 1描述现象，不解释原因（除非题目要求）</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高分Task 1的结构规范</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标准Task 1结构（150词以上）：
第1段（引言/改写题目）：20-25词
→ 用自己的话改写图表标题
→ 不能直接抄题目！要同义替换
第2段（Overview概述）：40-60词
→ 最重要的整体趋势和特征
→ 用Overall开头
第3段（细节1）：40-50词
→ 描述一组数据或一个时期
第4段（细节2）：40-50词
→ 描述另一组数据或另一个时期
注意：四段清晰，层次分明，符合评分标准</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改写图表标题的方法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改写题目三步：
原题目："The graph shows the number of tourists visiting three Asian countries from 2000 to 2020."
第一步：同义替换名词
tourists → visitors / travellers
number → figure / statistics
visiting → arriving in / travelling to
第二步：改变句型
The graph shows → The line graph illustrates / The chart provides data on
第三步：合并改写
"The line graph illustrates the number of visitors travelling to three Asian nations between 2000 and 2020."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综合练习：完整Task 1写作</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题目：
柱状图显示2022年六个城市（北京/上海/广州/深圳/成都/武汉）平均月租金（元）：
北京: 5800，上海: 6200，广州: 3800，深圳: 5400，成都: 2600，武汉: 2400
要求：写完整Task 1报告（150词，含引言+Overview+两个细节段）</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高分范文：
引言：The bar chart illustrates the average monthly rental prices across six major Chinese cities in 2022.
Overall, Shanghai and Beijing recorded the highest rental costs by a considerable margin, while inland cities such as Wuhan and Chengdu were significantly more affordable.
Shanghai topped the list at 6,200 yuan per month, closely followed by Beijing at 5,800 yuan. Shenzhen ranked third at 5,400 yuan. These three cities, all located in major economic hubs or coastal regions, clearly commanded premium rental prices.
In contrast, rental costs were substantially lower in the inland cities. Chengdu recorded 2,600 yuan, marginally above Wuhan, which was the most affordable at 2,400 yuan. Guangzhou fell between the two groups at 3,800 yuan, representing approximately 60% of Shanghai's figure.</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150词检验：①引言改写 ②Overview不含数字 ③细节段含具体数字 ④对比有层次</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1常见失分点自检</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考生最常见的Task 1失分原因：
1. 没有写Overview段（TA扣分最多）
2. 直接抄题目作为引言（LR失分）
3. 列举所有数据，没有选择关键特征（TA失分）
4. 数据描述没有按逻辑顺序（CC失分）
5. 写了个人观点（TA失分——Task 1不写观点）
6. 时态错误（历史数据用现在时）（GRA失分）
自检清单：
□ 有引言段（改写题目）
□ 有Overview段（整体趋势）
□ 有细节描述（关键数据）
□ 词数150以上
□ 没有个人观点</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Task 1最重要的一句话：先写Overall，再写细节</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Band 7 Task 1折线图范文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84048"/>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题目：折线图显示1990-2020年英国、德国、法国三国可再生能源占总能源比例（%）
英国：5%→8%→15%→32%，德国：3%→10%→25%→45%，法国：12%→14%→16%→22%</a:t>
            </a:r>
          </a:p>
        </p:txBody>
      </p:sp>
      <p:sp>
        <p:nvSpPr>
          <p:cNvPr id="10" name="Rounded Rectangle 9"/>
          <p:cNvSpPr/>
          <p:nvPr/>
        </p:nvSpPr>
        <p:spPr>
          <a:xfrm>
            <a:off x="548640" y="1783080"/>
            <a:ext cx="7040880" cy="416052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高分范文要点：
引言：The line graph illustrates the proportion of energy derived from renewable sources in three European countries between 1990 and 2020.
Overall，Germany experienced the most dramatic growth, rising from just 3% to 45%, while France, despite starting from the highest base, showed the most modest increase over the period.
细节段1：Germany and the UK both showed strong upward trends. Germany's share surged from 3% in 1990 to 45% by 2020, while the UK also grew considerably from 5% to 32%.
细节段2：In contrast, France's renewable proportion grew only gradually, rising from 12% to 22% — the smallest increase among the three nations, despite its higher starting point.</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A0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引言改写：使用illustrates/proportion替换shows/percentage</a:t>
            </a:r>
          </a:p>
          <a:p>
            <a:pPr>
              <a:spcBef>
                <a:spcPts val="700"/>
              </a:spcBef>
            </a:pPr>
            <a:r>
              <a:rPr sz="1200">
                <a:solidFill>
                  <a:srgbClr val="1E293B"/>
                </a:solidFill>
              </a:rPr>
              <a:t>▸ Overview：德国增长最大（3%→45%），法国起点最高但增幅最小</a:t>
            </a:r>
          </a:p>
          <a:p>
            <a:pPr>
              <a:spcBef>
                <a:spcPts val="700"/>
              </a:spcBef>
            </a:pPr>
            <a:r>
              <a:rPr sz="1200">
                <a:solidFill>
                  <a:srgbClr val="1E293B"/>
                </a:solidFill>
              </a:rPr>
              <a:t>▸ 细节段1：描述德国和英国的快速增长趋势</a:t>
            </a:r>
          </a:p>
          <a:p>
            <a:pPr>
              <a:spcBef>
                <a:spcPts val="700"/>
              </a:spcBef>
            </a:pPr>
            <a:r>
              <a:rPr sz="1200">
                <a:solidFill>
                  <a:srgbClr val="1E293B"/>
                </a:solidFill>
              </a:rPr>
              <a:t>▸ Detail2：描述法国相对平稳的增长，并与德国对比</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Band 7 Task 1饼图对比范文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84048"/>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题目：两个饼图显示2000年和2020年某国家能源结构
2000：煤炭60%，石油25%，天然气10%，可再生5%
2020：煤炭35%，石油20%，天然气25%，可再生20%</a:t>
            </a:r>
          </a:p>
        </p:txBody>
      </p:sp>
      <p:sp>
        <p:nvSpPr>
          <p:cNvPr id="10" name="Rounded Rectangle 9"/>
          <p:cNvSpPr/>
          <p:nvPr/>
        </p:nvSpPr>
        <p:spPr>
          <a:xfrm>
            <a:off x="548640" y="1783080"/>
            <a:ext cx="7040880" cy="416052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高分范文要点：
Overall，化石燃料依然主导能源结构，但其整体比重有所下降；与此同时，可再生能源取得了显著增长。
煤炭比例从2000年的60%大幅下降至2020年的35%，降幅为25个百分点，是变化最大的类别。相比之下，可再生能源从仅占5%增长至20%，实现了四倍增长，增势最为显著。
天然气也有明显增长，从10%上升至25%，而石油则小幅下降，从25%降至20%，在所有类别中变化最为温和。</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A0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Overview：化石燃料依然主导，但比重下降；可再生能源显著增长</a:t>
            </a:r>
          </a:p>
          <a:p>
            <a:pPr>
              <a:spcBef>
                <a:spcPts val="700"/>
              </a:spcBef>
            </a:pPr>
            <a:r>
              <a:rPr sz="1200">
                <a:solidFill>
                  <a:srgbClr val="1E293B"/>
                </a:solidFill>
              </a:rPr>
              <a:t>▸ 关键变化1：煤炭从60%大幅下降至35%（降幅最大）</a:t>
            </a:r>
          </a:p>
          <a:p>
            <a:pPr>
              <a:spcBef>
                <a:spcPts val="700"/>
              </a:spcBef>
            </a:pPr>
            <a:r>
              <a:rPr sz="1200">
                <a:solidFill>
                  <a:srgbClr val="1E293B"/>
                </a:solidFill>
              </a:rPr>
              <a:t>▸ 关键变化2：可再生能源从5%增长至20%（四倍增长）</a:t>
            </a:r>
          </a:p>
          <a:p>
            <a:pPr>
              <a:spcBef>
                <a:spcPts val="700"/>
              </a:spcBef>
            </a:pPr>
            <a:r>
              <a:rPr sz="1200">
                <a:solidFill>
                  <a:srgbClr val="1E293B"/>
                </a:solidFill>
              </a:rPr>
              <a:t>▸ 对比收尾：天然气也有显著增长，而石油小幅下降</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折线图 vs 柱状图：描述策略对比</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折线图（Line Graph）</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柱状图（Bar Chart）</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重点：时间变化和趋势</a:t>
            </a:r>
          </a:p>
          <a:p>
            <a:pPr>
              <a:spcBef>
                <a:spcPts val="700"/>
              </a:spcBef>
            </a:pPr>
            <a:r>
              <a:rPr sz="1350">
                <a:solidFill>
                  <a:srgbClr val="C02A2A"/>
                </a:solidFill>
              </a:rPr>
              <a:t>✗ 核心词：rise/fall/fluctuate/peak</a:t>
            </a:r>
          </a:p>
          <a:p>
            <a:pPr>
              <a:spcBef>
                <a:spcPts val="700"/>
              </a:spcBef>
            </a:pPr>
            <a:r>
              <a:rPr sz="1350">
                <a:solidFill>
                  <a:srgbClr val="C02A2A"/>
                </a:solidFill>
              </a:rPr>
              <a:t>✗ 副词：dramatically/gradually/steadily</a:t>
            </a:r>
          </a:p>
          <a:p>
            <a:pPr>
              <a:spcBef>
                <a:spcPts val="700"/>
              </a:spcBef>
            </a:pPr>
            <a:r>
              <a:rPr sz="1350">
                <a:solidFill>
                  <a:srgbClr val="C02A2A"/>
                </a:solidFill>
              </a:rPr>
              <a:t>✗ 时态：过去时（历史数据）</a:t>
            </a:r>
          </a:p>
          <a:p>
            <a:pPr>
              <a:spcBef>
                <a:spcPts val="700"/>
              </a:spcBef>
            </a:pPr>
            <a:r>
              <a:rPr sz="1350">
                <a:solidFill>
                  <a:srgbClr val="C02A2A"/>
                </a:solidFill>
              </a:rPr>
              <a:t>✗ Overview：整体趋势方向和最突出的变化</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重点：数量比较和排名</a:t>
            </a:r>
          </a:p>
          <a:p>
            <a:pPr>
              <a:spcBef>
                <a:spcPts val="700"/>
              </a:spcBef>
            </a:pPr>
            <a:r>
              <a:rPr sz="1350">
                <a:solidFill>
                  <a:srgbClr val="1B7A3D"/>
                </a:solidFill>
              </a:rPr>
              <a:t>✓ 核心词：highest/lowest/followed by</a:t>
            </a:r>
          </a:p>
          <a:p>
            <a:pPr>
              <a:spcBef>
                <a:spcPts val="700"/>
              </a:spcBef>
            </a:pPr>
            <a:r>
              <a:rPr sz="1350">
                <a:solidFill>
                  <a:srgbClr val="1B7A3D"/>
                </a:solidFill>
              </a:rPr>
              <a:t>✓ 表达：twice as much/a gap of</a:t>
            </a:r>
          </a:p>
          <a:p>
            <a:pPr>
              <a:spcBef>
                <a:spcPts val="700"/>
              </a:spcBef>
            </a:pPr>
            <a:r>
              <a:rPr sz="1350">
                <a:solidFill>
                  <a:srgbClr val="1B7A3D"/>
                </a:solidFill>
              </a:rPr>
              <a:t>✓ 时态：根据数据时间选择</a:t>
            </a:r>
          </a:p>
          <a:p>
            <a:pPr>
              <a:spcBef>
                <a:spcPts val="700"/>
              </a:spcBef>
            </a:pPr>
            <a:r>
              <a:rPr sz="1350">
                <a:solidFill>
                  <a:srgbClr val="1B7A3D"/>
                </a:solidFill>
              </a:rPr>
              <a:t>✓ Overview：最高最低，整体分布规律</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低分 vs 高分Task 1：核心差距</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低分Task 1（Band 5）</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高分Task 1（Band 7+）</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没有Overview段，直接写数据</a:t>
            </a:r>
          </a:p>
          <a:p>
            <a:pPr>
              <a:spcBef>
                <a:spcPts val="700"/>
              </a:spcBef>
            </a:pPr>
            <a:r>
              <a:rPr sz="1350">
                <a:solidFill>
                  <a:srgbClr val="C02A2A"/>
                </a:solidFill>
              </a:rPr>
              <a:t>✗ 逐一列举所有数字（流水账）</a:t>
            </a:r>
          </a:p>
          <a:p>
            <a:pPr>
              <a:spcBef>
                <a:spcPts val="700"/>
              </a:spcBef>
            </a:pPr>
            <a:r>
              <a:rPr sz="1350">
                <a:solidFill>
                  <a:srgbClr val="C02A2A"/>
                </a:solidFill>
              </a:rPr>
              <a:t>✗ 没有比较，没有趋势描述</a:t>
            </a:r>
          </a:p>
          <a:p>
            <a:pPr>
              <a:spcBef>
                <a:spcPts val="700"/>
              </a:spcBef>
            </a:pPr>
            <a:r>
              <a:rPr sz="1350">
                <a:solidFill>
                  <a:srgbClr val="C02A2A"/>
                </a:solidFill>
              </a:rPr>
              <a:t>✗ 直接抄题目作引言</a:t>
            </a:r>
          </a:p>
          <a:p>
            <a:pPr>
              <a:spcBef>
                <a:spcPts val="700"/>
              </a:spcBef>
            </a:pPr>
            <a:r>
              <a:rPr sz="1350">
                <a:solidFill>
                  <a:srgbClr val="C02A2A"/>
                </a:solidFill>
              </a:rPr>
              <a:t>✗ 词汇单调（increase/decrease重复）</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有清晰Overview（整体趋势）</a:t>
            </a:r>
          </a:p>
          <a:p>
            <a:pPr>
              <a:spcBef>
                <a:spcPts val="700"/>
              </a:spcBef>
            </a:pPr>
            <a:r>
              <a:rPr sz="1350">
                <a:solidFill>
                  <a:srgbClr val="1B7A3D"/>
                </a:solidFill>
              </a:rPr>
              <a:t>✓ 选择关键数据，有比较有分析</a:t>
            </a:r>
          </a:p>
          <a:p>
            <a:pPr>
              <a:spcBef>
                <a:spcPts val="700"/>
              </a:spcBef>
            </a:pPr>
            <a:r>
              <a:rPr sz="1350">
                <a:solidFill>
                  <a:srgbClr val="1B7A3D"/>
                </a:solidFill>
              </a:rPr>
              <a:t>✓ 使用多种描述词汇和句型</a:t>
            </a:r>
          </a:p>
          <a:p>
            <a:pPr>
              <a:spcBef>
                <a:spcPts val="700"/>
              </a:spcBef>
            </a:pPr>
            <a:r>
              <a:rPr sz="1350">
                <a:solidFill>
                  <a:srgbClr val="1B7A3D"/>
                </a:solidFill>
              </a:rPr>
              <a:t>✓ 引言用同义词改写题目</a:t>
            </a:r>
          </a:p>
          <a:p>
            <a:pPr>
              <a:spcBef>
                <a:spcPts val="700"/>
              </a:spcBef>
            </a:pPr>
            <a:r>
              <a:rPr sz="1350">
                <a:solidFill>
                  <a:srgbClr val="1B7A3D"/>
                </a:solidFill>
              </a:rPr>
              <a:t>✓ 词汇丰富：surge/plummet/level off</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1写作步骤（20分钟）</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80160"/>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13411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472473"/>
                </a:solidFill>
                <a:latin typeface="Calibri"/>
              </a:rPr>
              <a:t>第1步 读图（2分钟）</a:t>
            </a:r>
          </a:p>
        </p:txBody>
      </p:sp>
      <p:sp>
        <p:nvSpPr>
          <p:cNvPr id="12" name="TextBox 11"/>
          <p:cNvSpPr txBox="1"/>
          <p:nvPr/>
        </p:nvSpPr>
        <p:spPr>
          <a:xfrm>
            <a:off x="1417320" y="1645919"/>
            <a:ext cx="10058400" cy="426719"/>
          </a:xfrm>
          <a:prstGeom prst="rect">
            <a:avLst/>
          </a:prstGeom>
          <a:noFill/>
        </p:spPr>
        <p:txBody>
          <a:bodyPr wrap="square" anchor="t">
            <a:spAutoFit/>
          </a:bodyPr>
          <a:lstStyle/>
          <a:p>
            <a:pPr algn="l"/>
            <a:r>
              <a:rPr sz="1350" b="0" i="0">
                <a:solidFill>
                  <a:srgbClr val="556075"/>
                </a:solidFill>
                <a:latin typeface="Calibri"/>
              </a:rPr>
              <a:t>确认图表类型、时间范围、单位；找出最高、最低、最大变化</a:t>
            </a:r>
          </a:p>
        </p:txBody>
      </p:sp>
      <p:sp>
        <p:nvSpPr>
          <p:cNvPr id="13" name="Rounded Rectangle 12"/>
          <p:cNvSpPr/>
          <p:nvPr/>
        </p:nvSpPr>
        <p:spPr>
          <a:xfrm>
            <a:off x="548640" y="2072640"/>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12750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731007"/>
            <a:ext cx="45720" cy="13411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072640"/>
            <a:ext cx="10058400" cy="411480"/>
          </a:xfrm>
          <a:prstGeom prst="rect">
            <a:avLst/>
          </a:prstGeom>
          <a:noFill/>
        </p:spPr>
        <p:txBody>
          <a:bodyPr wrap="square" anchor="t">
            <a:spAutoFit/>
          </a:bodyPr>
          <a:lstStyle/>
          <a:p>
            <a:pPr algn="l"/>
            <a:r>
              <a:rPr sz="1600" b="1" i="0">
                <a:solidFill>
                  <a:srgbClr val="472473"/>
                </a:solidFill>
                <a:latin typeface="Calibri"/>
              </a:rPr>
              <a:t>第2步 定Overview（1分钟）</a:t>
            </a:r>
          </a:p>
        </p:txBody>
      </p:sp>
      <p:sp>
        <p:nvSpPr>
          <p:cNvPr id="17" name="TextBox 16"/>
          <p:cNvSpPr txBox="1"/>
          <p:nvPr/>
        </p:nvSpPr>
        <p:spPr>
          <a:xfrm>
            <a:off x="1417320" y="2438400"/>
            <a:ext cx="10058400" cy="426719"/>
          </a:xfrm>
          <a:prstGeom prst="rect">
            <a:avLst/>
          </a:prstGeom>
          <a:noFill/>
        </p:spPr>
        <p:txBody>
          <a:bodyPr wrap="square" anchor="t">
            <a:spAutoFit/>
          </a:bodyPr>
          <a:lstStyle/>
          <a:p>
            <a:pPr algn="l"/>
            <a:r>
              <a:rPr sz="1350" b="0" i="0">
                <a:solidFill>
                  <a:srgbClr val="556075"/>
                </a:solidFill>
                <a:latin typeface="Calibri"/>
              </a:rPr>
              <a:t>想好要写什么整体趋势，不超过2句话</a:t>
            </a:r>
          </a:p>
        </p:txBody>
      </p:sp>
      <p:sp>
        <p:nvSpPr>
          <p:cNvPr id="18" name="Rounded Rectangle 17"/>
          <p:cNvSpPr/>
          <p:nvPr/>
        </p:nvSpPr>
        <p:spPr>
          <a:xfrm>
            <a:off x="548640" y="2865119"/>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919983"/>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3523487"/>
            <a:ext cx="45720" cy="13411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2865119"/>
            <a:ext cx="10058400" cy="411480"/>
          </a:xfrm>
          <a:prstGeom prst="rect">
            <a:avLst/>
          </a:prstGeom>
          <a:noFill/>
        </p:spPr>
        <p:txBody>
          <a:bodyPr wrap="square" anchor="t">
            <a:spAutoFit/>
          </a:bodyPr>
          <a:lstStyle/>
          <a:p>
            <a:pPr algn="l"/>
            <a:r>
              <a:rPr sz="1600" b="1" i="0">
                <a:solidFill>
                  <a:srgbClr val="472473"/>
                </a:solidFill>
                <a:latin typeface="Calibri"/>
              </a:rPr>
              <a:t>第3步 写引言（2分钟）</a:t>
            </a:r>
          </a:p>
        </p:txBody>
      </p:sp>
      <p:sp>
        <p:nvSpPr>
          <p:cNvPr id="22" name="TextBox 21"/>
          <p:cNvSpPr txBox="1"/>
          <p:nvPr/>
        </p:nvSpPr>
        <p:spPr>
          <a:xfrm>
            <a:off x="1417320" y="3230879"/>
            <a:ext cx="10058400" cy="426719"/>
          </a:xfrm>
          <a:prstGeom prst="rect">
            <a:avLst/>
          </a:prstGeom>
          <a:noFill/>
        </p:spPr>
        <p:txBody>
          <a:bodyPr wrap="square" anchor="t">
            <a:spAutoFit/>
          </a:bodyPr>
          <a:lstStyle/>
          <a:p>
            <a:pPr algn="l"/>
            <a:r>
              <a:rPr sz="1350" b="0" i="0">
                <a:solidFill>
                  <a:srgbClr val="556075"/>
                </a:solidFill>
                <a:latin typeface="Calibri"/>
              </a:rPr>
              <a:t>用同义词改写题目，不超过30词</a:t>
            </a:r>
          </a:p>
        </p:txBody>
      </p:sp>
      <p:sp>
        <p:nvSpPr>
          <p:cNvPr id="23" name="Rounded Rectangle 22"/>
          <p:cNvSpPr/>
          <p:nvPr/>
        </p:nvSpPr>
        <p:spPr>
          <a:xfrm>
            <a:off x="548640" y="3657599"/>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712463"/>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Rectangle 24"/>
          <p:cNvSpPr/>
          <p:nvPr/>
        </p:nvSpPr>
        <p:spPr>
          <a:xfrm>
            <a:off x="841248" y="4315968"/>
            <a:ext cx="45720" cy="13411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17320" y="3657599"/>
            <a:ext cx="10058400" cy="411480"/>
          </a:xfrm>
          <a:prstGeom prst="rect">
            <a:avLst/>
          </a:prstGeom>
          <a:noFill/>
        </p:spPr>
        <p:txBody>
          <a:bodyPr wrap="square" anchor="t">
            <a:spAutoFit/>
          </a:bodyPr>
          <a:lstStyle/>
          <a:p>
            <a:pPr algn="l"/>
            <a:r>
              <a:rPr sz="1600" b="1" i="0">
                <a:solidFill>
                  <a:srgbClr val="472473"/>
                </a:solidFill>
                <a:latin typeface="Calibri"/>
              </a:rPr>
              <a:t>第4步 写Overview（3分钟）</a:t>
            </a:r>
          </a:p>
        </p:txBody>
      </p:sp>
      <p:sp>
        <p:nvSpPr>
          <p:cNvPr id="27" name="TextBox 26"/>
          <p:cNvSpPr txBox="1"/>
          <p:nvPr/>
        </p:nvSpPr>
        <p:spPr>
          <a:xfrm>
            <a:off x="1417320" y="4023359"/>
            <a:ext cx="10058400" cy="426719"/>
          </a:xfrm>
          <a:prstGeom prst="rect">
            <a:avLst/>
          </a:prstGeom>
          <a:noFill/>
        </p:spPr>
        <p:txBody>
          <a:bodyPr wrap="square" anchor="t">
            <a:spAutoFit/>
          </a:bodyPr>
          <a:lstStyle/>
          <a:p>
            <a:pPr algn="l"/>
            <a:r>
              <a:rPr sz="1350" b="0" i="0">
                <a:solidFill>
                  <a:srgbClr val="556075"/>
                </a:solidFill>
                <a:latin typeface="Calibri"/>
              </a:rPr>
              <a:t>Overall开头，覆盖最主要趋势，不含具体数字</a:t>
            </a:r>
          </a:p>
        </p:txBody>
      </p:sp>
      <p:sp>
        <p:nvSpPr>
          <p:cNvPr id="28" name="Rounded Rectangle 27"/>
          <p:cNvSpPr/>
          <p:nvPr/>
        </p:nvSpPr>
        <p:spPr>
          <a:xfrm>
            <a:off x="548640" y="4450080"/>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4504943"/>
            <a:ext cx="640080" cy="502920"/>
          </a:xfrm>
          <a:prstGeom prst="rect">
            <a:avLst/>
          </a:prstGeom>
          <a:noFill/>
        </p:spPr>
        <p:txBody>
          <a:bodyPr wrap="square" anchor="t">
            <a:spAutoFit/>
          </a:bodyPr>
          <a:lstStyle/>
          <a:p>
            <a:pPr algn="ctr"/>
            <a:r>
              <a:rPr sz="2200" b="1" i="0">
                <a:solidFill>
                  <a:srgbClr val="FFFFFF"/>
                </a:solidFill>
                <a:latin typeface="Calibri"/>
              </a:rPr>
              <a:t>5</a:t>
            </a:r>
          </a:p>
        </p:txBody>
      </p:sp>
      <p:sp>
        <p:nvSpPr>
          <p:cNvPr id="30" name="Rectangle 29"/>
          <p:cNvSpPr/>
          <p:nvPr/>
        </p:nvSpPr>
        <p:spPr>
          <a:xfrm>
            <a:off x="841248" y="5108447"/>
            <a:ext cx="45720" cy="13411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417320" y="4450080"/>
            <a:ext cx="10058400" cy="411480"/>
          </a:xfrm>
          <a:prstGeom prst="rect">
            <a:avLst/>
          </a:prstGeom>
          <a:noFill/>
        </p:spPr>
        <p:txBody>
          <a:bodyPr wrap="square" anchor="t">
            <a:spAutoFit/>
          </a:bodyPr>
          <a:lstStyle/>
          <a:p>
            <a:pPr algn="l"/>
            <a:r>
              <a:rPr sz="1600" b="1" i="0">
                <a:solidFill>
                  <a:srgbClr val="472473"/>
                </a:solidFill>
                <a:latin typeface="Calibri"/>
              </a:rPr>
              <a:t>第5步 写细节段（10分钟）</a:t>
            </a:r>
          </a:p>
        </p:txBody>
      </p:sp>
      <p:sp>
        <p:nvSpPr>
          <p:cNvPr id="32" name="TextBox 31"/>
          <p:cNvSpPr txBox="1"/>
          <p:nvPr/>
        </p:nvSpPr>
        <p:spPr>
          <a:xfrm>
            <a:off x="1417320" y="4815840"/>
            <a:ext cx="10058400" cy="426719"/>
          </a:xfrm>
          <a:prstGeom prst="rect">
            <a:avLst/>
          </a:prstGeom>
          <a:noFill/>
        </p:spPr>
        <p:txBody>
          <a:bodyPr wrap="square" anchor="t">
            <a:spAutoFit/>
          </a:bodyPr>
          <a:lstStyle/>
          <a:p>
            <a:pPr algn="l"/>
            <a:r>
              <a:rPr sz="1350" b="0" i="0">
                <a:solidFill>
                  <a:srgbClr val="556075"/>
                </a:solidFill>
                <a:latin typeface="Calibri"/>
              </a:rPr>
              <a:t>按逻辑顺序描述关键数据（两段，各约50词）</a:t>
            </a:r>
          </a:p>
        </p:txBody>
      </p:sp>
      <p:sp>
        <p:nvSpPr>
          <p:cNvPr id="33" name="Rounded Rectangle 32"/>
          <p:cNvSpPr/>
          <p:nvPr/>
        </p:nvSpPr>
        <p:spPr>
          <a:xfrm>
            <a:off x="548640" y="5242559"/>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5297423"/>
            <a:ext cx="640080" cy="502920"/>
          </a:xfrm>
          <a:prstGeom prst="rect">
            <a:avLst/>
          </a:prstGeom>
          <a:noFill/>
        </p:spPr>
        <p:txBody>
          <a:bodyPr wrap="square" anchor="t">
            <a:spAutoFit/>
          </a:bodyPr>
          <a:lstStyle/>
          <a:p>
            <a:pPr algn="ctr"/>
            <a:r>
              <a:rPr sz="2200" b="1" i="0">
                <a:solidFill>
                  <a:srgbClr val="FFFFFF"/>
                </a:solidFill>
                <a:latin typeface="Calibri"/>
              </a:rPr>
              <a:t>6</a:t>
            </a:r>
          </a:p>
        </p:txBody>
      </p:sp>
      <p:sp>
        <p:nvSpPr>
          <p:cNvPr id="35" name="TextBox 34"/>
          <p:cNvSpPr txBox="1"/>
          <p:nvPr/>
        </p:nvSpPr>
        <p:spPr>
          <a:xfrm>
            <a:off x="1417320" y="5242559"/>
            <a:ext cx="10058400" cy="411480"/>
          </a:xfrm>
          <a:prstGeom prst="rect">
            <a:avLst/>
          </a:prstGeom>
          <a:noFill/>
        </p:spPr>
        <p:txBody>
          <a:bodyPr wrap="square" anchor="t">
            <a:spAutoFit/>
          </a:bodyPr>
          <a:lstStyle/>
          <a:p>
            <a:pPr algn="l"/>
            <a:r>
              <a:rPr sz="1600" b="1" i="0">
                <a:solidFill>
                  <a:srgbClr val="472473"/>
                </a:solidFill>
                <a:latin typeface="Calibri"/>
              </a:rPr>
              <a:t>第6步 检查（2分钟）</a:t>
            </a:r>
          </a:p>
        </p:txBody>
      </p:sp>
      <p:sp>
        <p:nvSpPr>
          <p:cNvPr id="36" name="TextBox 35"/>
          <p:cNvSpPr txBox="1"/>
          <p:nvPr/>
        </p:nvSpPr>
        <p:spPr>
          <a:xfrm>
            <a:off x="1417320" y="5608320"/>
            <a:ext cx="10058400" cy="426719"/>
          </a:xfrm>
          <a:prstGeom prst="rect">
            <a:avLst/>
          </a:prstGeom>
          <a:noFill/>
        </p:spPr>
        <p:txBody>
          <a:bodyPr wrap="square" anchor="t">
            <a:spAutoFit/>
          </a:bodyPr>
          <a:lstStyle/>
          <a:p>
            <a:pPr algn="l"/>
            <a:r>
              <a:rPr sz="1350" b="0" i="0">
                <a:solidFill>
                  <a:srgbClr val="556075"/>
                </a:solidFill>
                <a:latin typeface="Calibri"/>
              </a:rPr>
              <a:t>核查：词数≥150、数字准确、时态正确、有Overview</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折线图描述：分段策略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80160"/>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13411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472473"/>
                </a:solidFill>
                <a:latin typeface="Calibri"/>
              </a:rPr>
              <a:t>观察整体</a:t>
            </a:r>
          </a:p>
        </p:txBody>
      </p:sp>
      <p:sp>
        <p:nvSpPr>
          <p:cNvPr id="12" name="TextBox 11"/>
          <p:cNvSpPr txBox="1"/>
          <p:nvPr/>
        </p:nvSpPr>
        <p:spPr>
          <a:xfrm>
            <a:off x="1417320" y="1645919"/>
            <a:ext cx="10058400" cy="426719"/>
          </a:xfrm>
          <a:prstGeom prst="rect">
            <a:avLst/>
          </a:prstGeom>
          <a:noFill/>
        </p:spPr>
        <p:txBody>
          <a:bodyPr wrap="square" anchor="t">
            <a:spAutoFit/>
          </a:bodyPr>
          <a:lstStyle/>
          <a:p>
            <a:pPr algn="l"/>
            <a:r>
              <a:rPr sz="1350" b="0" i="0">
                <a:solidFill>
                  <a:srgbClr val="556075"/>
                </a:solidFill>
                <a:latin typeface="Calibri"/>
              </a:rPr>
              <a:t>先看全图：总体上升、下降、还是波动？有几条线？</a:t>
            </a:r>
          </a:p>
        </p:txBody>
      </p:sp>
      <p:sp>
        <p:nvSpPr>
          <p:cNvPr id="13" name="Rounded Rectangle 12"/>
          <p:cNvSpPr/>
          <p:nvPr/>
        </p:nvSpPr>
        <p:spPr>
          <a:xfrm>
            <a:off x="548640" y="2072640"/>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12750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731007"/>
            <a:ext cx="45720" cy="13411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072640"/>
            <a:ext cx="10058400" cy="411480"/>
          </a:xfrm>
          <a:prstGeom prst="rect">
            <a:avLst/>
          </a:prstGeom>
          <a:noFill/>
        </p:spPr>
        <p:txBody>
          <a:bodyPr wrap="square" anchor="t">
            <a:spAutoFit/>
          </a:bodyPr>
          <a:lstStyle/>
          <a:p>
            <a:pPr algn="l"/>
            <a:r>
              <a:rPr sz="1600" b="1" i="0">
                <a:solidFill>
                  <a:srgbClr val="472473"/>
                </a:solidFill>
                <a:latin typeface="Calibri"/>
              </a:rPr>
              <a:t>找关键点</a:t>
            </a:r>
          </a:p>
        </p:txBody>
      </p:sp>
      <p:sp>
        <p:nvSpPr>
          <p:cNvPr id="17" name="TextBox 16"/>
          <p:cNvSpPr txBox="1"/>
          <p:nvPr/>
        </p:nvSpPr>
        <p:spPr>
          <a:xfrm>
            <a:off x="1417320" y="2438400"/>
            <a:ext cx="10058400" cy="426719"/>
          </a:xfrm>
          <a:prstGeom prst="rect">
            <a:avLst/>
          </a:prstGeom>
          <a:noFill/>
        </p:spPr>
        <p:txBody>
          <a:bodyPr wrap="square" anchor="t">
            <a:spAutoFit/>
          </a:bodyPr>
          <a:lstStyle/>
          <a:p>
            <a:pPr algn="l"/>
            <a:r>
              <a:rPr sz="1350" b="0" i="0">
                <a:solidFill>
                  <a:srgbClr val="556075"/>
                </a:solidFill>
                <a:latin typeface="Calibri"/>
              </a:rPr>
              <a:t>峰值点（最高）、谷值点（最低）、转折点（方向改变）</a:t>
            </a:r>
          </a:p>
        </p:txBody>
      </p:sp>
      <p:sp>
        <p:nvSpPr>
          <p:cNvPr id="18" name="Rounded Rectangle 17"/>
          <p:cNvSpPr/>
          <p:nvPr/>
        </p:nvSpPr>
        <p:spPr>
          <a:xfrm>
            <a:off x="548640" y="2865119"/>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919983"/>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3523487"/>
            <a:ext cx="45720" cy="13411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2865119"/>
            <a:ext cx="10058400" cy="411480"/>
          </a:xfrm>
          <a:prstGeom prst="rect">
            <a:avLst/>
          </a:prstGeom>
          <a:noFill/>
        </p:spPr>
        <p:txBody>
          <a:bodyPr wrap="square" anchor="t">
            <a:spAutoFit/>
          </a:bodyPr>
          <a:lstStyle/>
          <a:p>
            <a:pPr algn="l"/>
            <a:r>
              <a:rPr sz="1600" b="1" i="0">
                <a:solidFill>
                  <a:srgbClr val="472473"/>
                </a:solidFill>
                <a:latin typeface="Calibri"/>
              </a:rPr>
              <a:t>分时间段</a:t>
            </a:r>
          </a:p>
        </p:txBody>
      </p:sp>
      <p:sp>
        <p:nvSpPr>
          <p:cNvPr id="22" name="TextBox 21"/>
          <p:cNvSpPr txBox="1"/>
          <p:nvPr/>
        </p:nvSpPr>
        <p:spPr>
          <a:xfrm>
            <a:off x="1417320" y="3230879"/>
            <a:ext cx="10058400" cy="426719"/>
          </a:xfrm>
          <a:prstGeom prst="rect">
            <a:avLst/>
          </a:prstGeom>
          <a:noFill/>
        </p:spPr>
        <p:txBody>
          <a:bodyPr wrap="square" anchor="t">
            <a:spAutoFit/>
          </a:bodyPr>
          <a:lstStyle/>
          <a:p>
            <a:pPr algn="l"/>
            <a:r>
              <a:rPr sz="1350" b="0" i="0">
                <a:solidFill>
                  <a:srgbClr val="556075"/>
                </a:solidFill>
                <a:latin typeface="Calibri"/>
              </a:rPr>
              <a:t>把时间轴分为2-3个阶段（如：前期/中期/后期）</a:t>
            </a:r>
          </a:p>
        </p:txBody>
      </p:sp>
      <p:sp>
        <p:nvSpPr>
          <p:cNvPr id="23" name="Rounded Rectangle 22"/>
          <p:cNvSpPr/>
          <p:nvPr/>
        </p:nvSpPr>
        <p:spPr>
          <a:xfrm>
            <a:off x="548640" y="3657599"/>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712463"/>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Rectangle 24"/>
          <p:cNvSpPr/>
          <p:nvPr/>
        </p:nvSpPr>
        <p:spPr>
          <a:xfrm>
            <a:off x="841248" y="4315968"/>
            <a:ext cx="45720" cy="13411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17320" y="3657599"/>
            <a:ext cx="10058400" cy="411480"/>
          </a:xfrm>
          <a:prstGeom prst="rect">
            <a:avLst/>
          </a:prstGeom>
          <a:noFill/>
        </p:spPr>
        <p:txBody>
          <a:bodyPr wrap="square" anchor="t">
            <a:spAutoFit/>
          </a:bodyPr>
          <a:lstStyle/>
          <a:p>
            <a:pPr algn="l"/>
            <a:r>
              <a:rPr sz="1600" b="1" i="0">
                <a:solidFill>
                  <a:srgbClr val="472473"/>
                </a:solidFill>
                <a:latin typeface="Calibri"/>
              </a:rPr>
              <a:t>写第一细节段</a:t>
            </a:r>
          </a:p>
        </p:txBody>
      </p:sp>
      <p:sp>
        <p:nvSpPr>
          <p:cNvPr id="27" name="TextBox 26"/>
          <p:cNvSpPr txBox="1"/>
          <p:nvPr/>
        </p:nvSpPr>
        <p:spPr>
          <a:xfrm>
            <a:off x="1417320" y="4023359"/>
            <a:ext cx="10058400" cy="426719"/>
          </a:xfrm>
          <a:prstGeom prst="rect">
            <a:avLst/>
          </a:prstGeom>
          <a:noFill/>
        </p:spPr>
        <p:txBody>
          <a:bodyPr wrap="square" anchor="t">
            <a:spAutoFit/>
          </a:bodyPr>
          <a:lstStyle/>
          <a:p>
            <a:pPr algn="l"/>
            <a:r>
              <a:rPr sz="1350" b="0" i="0">
                <a:solidFill>
                  <a:srgbClr val="556075"/>
                </a:solidFill>
                <a:latin typeface="Calibri"/>
              </a:rPr>
              <a:t>描述整体趋势最明显的时期或最主要的线</a:t>
            </a:r>
          </a:p>
        </p:txBody>
      </p:sp>
      <p:sp>
        <p:nvSpPr>
          <p:cNvPr id="28" name="Rounded Rectangle 27"/>
          <p:cNvSpPr/>
          <p:nvPr/>
        </p:nvSpPr>
        <p:spPr>
          <a:xfrm>
            <a:off x="548640" y="4450080"/>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4504943"/>
            <a:ext cx="640080" cy="502920"/>
          </a:xfrm>
          <a:prstGeom prst="rect">
            <a:avLst/>
          </a:prstGeom>
          <a:noFill/>
        </p:spPr>
        <p:txBody>
          <a:bodyPr wrap="square" anchor="t">
            <a:spAutoFit/>
          </a:bodyPr>
          <a:lstStyle/>
          <a:p>
            <a:pPr algn="ctr"/>
            <a:r>
              <a:rPr sz="2200" b="1" i="0">
                <a:solidFill>
                  <a:srgbClr val="FFFFFF"/>
                </a:solidFill>
                <a:latin typeface="Calibri"/>
              </a:rPr>
              <a:t>5</a:t>
            </a:r>
          </a:p>
        </p:txBody>
      </p:sp>
      <p:sp>
        <p:nvSpPr>
          <p:cNvPr id="30" name="Rectangle 29"/>
          <p:cNvSpPr/>
          <p:nvPr/>
        </p:nvSpPr>
        <p:spPr>
          <a:xfrm>
            <a:off x="841248" y="5108447"/>
            <a:ext cx="45720" cy="13411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417320" y="4450080"/>
            <a:ext cx="10058400" cy="411480"/>
          </a:xfrm>
          <a:prstGeom prst="rect">
            <a:avLst/>
          </a:prstGeom>
          <a:noFill/>
        </p:spPr>
        <p:txBody>
          <a:bodyPr wrap="square" anchor="t">
            <a:spAutoFit/>
          </a:bodyPr>
          <a:lstStyle/>
          <a:p>
            <a:pPr algn="l"/>
            <a:r>
              <a:rPr sz="1600" b="1" i="0">
                <a:solidFill>
                  <a:srgbClr val="472473"/>
                </a:solidFill>
                <a:latin typeface="Calibri"/>
              </a:rPr>
              <a:t>写第二细节段</a:t>
            </a:r>
          </a:p>
        </p:txBody>
      </p:sp>
      <p:sp>
        <p:nvSpPr>
          <p:cNvPr id="32" name="TextBox 31"/>
          <p:cNvSpPr txBox="1"/>
          <p:nvPr/>
        </p:nvSpPr>
        <p:spPr>
          <a:xfrm>
            <a:off x="1417320" y="4815840"/>
            <a:ext cx="10058400" cy="426719"/>
          </a:xfrm>
          <a:prstGeom prst="rect">
            <a:avLst/>
          </a:prstGeom>
          <a:noFill/>
        </p:spPr>
        <p:txBody>
          <a:bodyPr wrap="square" anchor="t">
            <a:spAutoFit/>
          </a:bodyPr>
          <a:lstStyle/>
          <a:p>
            <a:pPr algn="l"/>
            <a:r>
              <a:rPr sz="1350" b="0" i="0">
                <a:solidFill>
                  <a:srgbClr val="556075"/>
                </a:solidFill>
                <a:latin typeface="Calibri"/>
              </a:rPr>
              <a:t>描述其他线/其他时期，重点放在对比和差异</a:t>
            </a:r>
          </a:p>
        </p:txBody>
      </p:sp>
      <p:sp>
        <p:nvSpPr>
          <p:cNvPr id="33" name="Rounded Rectangle 32"/>
          <p:cNvSpPr/>
          <p:nvPr/>
        </p:nvSpPr>
        <p:spPr>
          <a:xfrm>
            <a:off x="548640" y="5242559"/>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5297423"/>
            <a:ext cx="640080" cy="502920"/>
          </a:xfrm>
          <a:prstGeom prst="rect">
            <a:avLst/>
          </a:prstGeom>
          <a:noFill/>
        </p:spPr>
        <p:txBody>
          <a:bodyPr wrap="square" anchor="t">
            <a:spAutoFit/>
          </a:bodyPr>
          <a:lstStyle/>
          <a:p>
            <a:pPr algn="ctr"/>
            <a:r>
              <a:rPr sz="2200" b="1" i="0">
                <a:solidFill>
                  <a:srgbClr val="FFFFFF"/>
                </a:solidFill>
                <a:latin typeface="Calibri"/>
              </a:rPr>
              <a:t>6</a:t>
            </a:r>
          </a:p>
        </p:txBody>
      </p:sp>
      <p:sp>
        <p:nvSpPr>
          <p:cNvPr id="35" name="TextBox 34"/>
          <p:cNvSpPr txBox="1"/>
          <p:nvPr/>
        </p:nvSpPr>
        <p:spPr>
          <a:xfrm>
            <a:off x="1417320" y="5242559"/>
            <a:ext cx="10058400" cy="411480"/>
          </a:xfrm>
          <a:prstGeom prst="rect">
            <a:avLst/>
          </a:prstGeom>
          <a:noFill/>
        </p:spPr>
        <p:txBody>
          <a:bodyPr wrap="square" anchor="t">
            <a:spAutoFit/>
          </a:bodyPr>
          <a:lstStyle/>
          <a:p>
            <a:pPr algn="l"/>
            <a:r>
              <a:rPr sz="1600" b="1" i="0">
                <a:solidFill>
                  <a:srgbClr val="472473"/>
                </a:solidFill>
                <a:latin typeface="Calibri"/>
              </a:rPr>
              <a:t>检查完整性</a:t>
            </a:r>
          </a:p>
        </p:txBody>
      </p:sp>
      <p:sp>
        <p:nvSpPr>
          <p:cNvPr id="36" name="TextBox 35"/>
          <p:cNvSpPr txBox="1"/>
          <p:nvPr/>
        </p:nvSpPr>
        <p:spPr>
          <a:xfrm>
            <a:off x="1417320" y="5608320"/>
            <a:ext cx="10058400" cy="426719"/>
          </a:xfrm>
          <a:prstGeom prst="rect">
            <a:avLst/>
          </a:prstGeom>
          <a:noFill/>
        </p:spPr>
        <p:txBody>
          <a:bodyPr wrap="square" anchor="t">
            <a:spAutoFit/>
          </a:bodyPr>
          <a:lstStyle/>
          <a:p>
            <a:pPr algn="l"/>
            <a:r>
              <a:rPr sz="1350" b="0" i="0">
                <a:solidFill>
                  <a:srgbClr val="556075"/>
                </a:solidFill>
                <a:latin typeface="Calibri"/>
              </a:rPr>
              <a:t>确保覆盖了Overview中提到的所有主要特征</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快速练习：图表描述词汇填空</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88720"/>
            <a:ext cx="11064240" cy="640080"/>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用正确的词汇填写以下图表描述（选词：surged / levelled off / plummeted / fluctuated / peaked）</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472473"/>
                </a:solidFill>
              </a:rPr>
              <a:t>▢ 句子1-3填空</a:t>
            </a:r>
          </a:p>
          <a:p>
            <a:pPr>
              <a:spcBef>
                <a:spcPts val="100"/>
              </a:spcBef>
            </a:pPr>
            <a:r>
              <a:rPr sz="1400">
                <a:solidFill>
                  <a:srgbClr val="556075"/>
                </a:solidFill>
              </a:rPr>
              <a:t>   1. Sales _____ at 500 units in 2015, before declining sharply.
2. After years of growth, production _____ at around 300 units from 2018 to 2020.
3. The unemployment rate _____ significantly between 2008 and 2012, rising and falling unpredictably.
【答案】1=peaked / 2=levelled off / 3=fluctuated</a:t>
            </a:r>
          </a:p>
          <a:p>
            <a:pPr>
              <a:spcBef>
                <a:spcPts val="1100"/>
              </a:spcBef>
            </a:pPr>
            <a:r>
              <a:rPr sz="1700" b="1">
                <a:solidFill>
                  <a:srgbClr val="472473"/>
                </a:solidFill>
              </a:rPr>
              <a:t>▢ 句子4-5填空</a:t>
            </a:r>
          </a:p>
          <a:p>
            <a:pPr>
              <a:spcBef>
                <a:spcPts val="100"/>
              </a:spcBef>
            </a:pPr>
            <a:r>
              <a:rPr sz="1400">
                <a:solidFill>
                  <a:srgbClr val="556075"/>
                </a:solidFill>
              </a:rPr>
              <a:t>   4. Following the economic crisis, export volumes _____ from $800m to just $200m in a single year.
5. After the policy change, visitor numbers _____ from 10,000 to 85,000 within five years.
【答案】4=plummeted / 5=surged
重点记忆：
• surge/soar = 急剧上升
• plummet/plunge = 急剧下降
• level off/plateau = 趋于平稳
• peak at = 达到峰值
• fluctuate = 波动</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改写练习：引言段同义替换</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88720"/>
            <a:ext cx="11064240" cy="640080"/>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用同义词改写以下Task 1题目引言（不能直接抄原文）</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472473"/>
                </a:solidFill>
              </a:rPr>
              <a:t>▢ 原文1</a:t>
            </a:r>
          </a:p>
          <a:p>
            <a:pPr>
              <a:spcBef>
                <a:spcPts val="100"/>
              </a:spcBef>
            </a:pPr>
            <a:r>
              <a:rPr sz="1400">
                <a:solidFill>
                  <a:srgbClr val="556075"/>
                </a:solidFill>
              </a:rPr>
              <a:t>   原文："The graph shows the number of students studying abroad from three countries between 2000 and 2020."
改写要求：替换shows/number/studying abroad/countries
【参考答案】"The line graph illustrates the figures for students pursuing education overseas from three nations over a 20-year period from 2000 to 2020."</a:t>
            </a:r>
          </a:p>
          <a:p>
            <a:pPr>
              <a:spcBef>
                <a:spcPts val="1100"/>
              </a:spcBef>
            </a:pPr>
            <a:r>
              <a:rPr sz="1700" b="1">
                <a:solidFill>
                  <a:srgbClr val="472473"/>
                </a:solidFill>
              </a:rPr>
              <a:t>▢ 原文2</a:t>
            </a:r>
          </a:p>
          <a:p>
            <a:pPr>
              <a:spcBef>
                <a:spcPts val="100"/>
              </a:spcBef>
            </a:pPr>
            <a:r>
              <a:rPr sz="1400">
                <a:solidFill>
                  <a:srgbClr val="556075"/>
                </a:solidFill>
              </a:rPr>
              <a:t>   原文："The pie chart shows the percentage of household income spent on different categories in the UK in 2022."
改写要求：替换shows/percentage/household income/categories
【参考答案】"The pie chart depicts the proportion of domestic expenditure allocated to various items in the United Kingdom in 2022."</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1高分5大原则</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原则1：必须写Overview</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每篇Task 1必须有Overall段——这是TA分的关键</a:t>
            </a:r>
          </a:p>
        </p:txBody>
      </p:sp>
      <p:sp>
        <p:nvSpPr>
          <p:cNvPr id="12" name="Rounded Rectangle 11"/>
          <p:cNvSpPr/>
          <p:nvPr/>
        </p:nvSpPr>
        <p:spPr>
          <a:xfrm>
            <a:off x="6355079"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原则2：引言必须改写</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不能照抄题目——用同义词替换关键词</a:t>
            </a:r>
          </a:p>
        </p:txBody>
      </p:sp>
      <p:sp>
        <p:nvSpPr>
          <p:cNvPr id="16" name="Rounded Rectangle 15"/>
          <p:cNvSpPr/>
          <p:nvPr/>
        </p:nvSpPr>
        <p:spPr>
          <a:xfrm>
            <a:off x="548640"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472473"/>
                </a:solidFill>
                <a:latin typeface="Calibri"/>
              </a:rPr>
              <a:t>原则3：选关键数据</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不要列举所有数字——选最重要的3-5个</a:t>
            </a:r>
          </a:p>
        </p:txBody>
      </p:sp>
      <p:sp>
        <p:nvSpPr>
          <p:cNvPr id="20" name="Rounded Rectangle 19"/>
          <p:cNvSpPr/>
          <p:nvPr/>
        </p:nvSpPr>
        <p:spPr>
          <a:xfrm>
            <a:off x="6355079"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472473"/>
                </a:solidFill>
                <a:latin typeface="Calibri"/>
              </a:rPr>
              <a:t>原则4：不写个人观点</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Task 1是客观描述——不写I think/In my opinion</a:t>
            </a:r>
          </a:p>
        </p:txBody>
      </p:sp>
      <p:sp>
        <p:nvSpPr>
          <p:cNvPr id="24" name="Rounded Rectangle 23"/>
          <p:cNvSpPr/>
          <p:nvPr/>
        </p:nvSpPr>
        <p:spPr>
          <a:xfrm>
            <a:off x="548640" y="449580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472473"/>
                </a:solidFill>
                <a:latin typeface="Calibri"/>
              </a:rPr>
              <a:t>原则5：时态要正确</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历史数据用过去时，普遍规律用现在时</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图表描述高频搭配速记</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折线图搭配</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rose sharply / fell dramatically / remained relatively stable / peaked at / fluctuated significantly</a:t>
            </a:r>
          </a:p>
        </p:txBody>
      </p:sp>
      <p:sp>
        <p:nvSpPr>
          <p:cNvPr id="12" name="Rounded Rectangle 11"/>
          <p:cNvSpPr/>
          <p:nvPr/>
        </p:nvSpPr>
        <p:spPr>
          <a:xfrm>
            <a:off x="6355079"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柱状图搭配</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ranked first with / accounted for / was significantly higher than / showed a notable difference</a:t>
            </a:r>
          </a:p>
        </p:txBody>
      </p:sp>
      <p:sp>
        <p:nvSpPr>
          <p:cNvPr id="16" name="Rounded Rectangle 15"/>
          <p:cNvSpPr/>
          <p:nvPr/>
        </p:nvSpPr>
        <p:spPr>
          <a:xfrm>
            <a:off x="548640"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472473"/>
                </a:solidFill>
                <a:latin typeface="Calibri"/>
              </a:rPr>
              <a:t>饼图搭配</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dominated with / made up / constituted / the largest share / a minor fraction</a:t>
            </a:r>
          </a:p>
        </p:txBody>
      </p:sp>
      <p:sp>
        <p:nvSpPr>
          <p:cNvPr id="20" name="Rounded Rectangle 19"/>
          <p:cNvSpPr/>
          <p:nvPr/>
        </p:nvSpPr>
        <p:spPr>
          <a:xfrm>
            <a:off x="6355079"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472473"/>
                </a:solidFill>
                <a:latin typeface="Calibri"/>
              </a:rPr>
              <a:t>通用比较</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compared to / in contrast to / while / whereas / unlike / in comparison with</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Overview写作速查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折线图</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整体趋势（上升/下降/波动）+ 最突出对比 + Overall开头 + 不含数字</a:t>
            </a:r>
          </a:p>
        </p:txBody>
      </p:sp>
      <p:sp>
        <p:nvSpPr>
          <p:cNvPr id="12" name="Rounded Rectangle 11"/>
          <p:cNvSpPr/>
          <p:nvPr/>
        </p:nvSpPr>
        <p:spPr>
          <a:xfrm>
            <a:off x="6355079"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柱状图</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最高类别 + 最低类别 + 整体分布规律 + 不含具体数字</a:t>
            </a:r>
          </a:p>
        </p:txBody>
      </p:sp>
      <p:sp>
        <p:nvSpPr>
          <p:cNvPr id="16" name="Rounded Rectangle 15"/>
          <p:cNvSpPr/>
          <p:nvPr/>
        </p:nvSpPr>
        <p:spPr>
          <a:xfrm>
            <a:off x="548640"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472473"/>
                </a:solidFill>
                <a:latin typeface="Calibri"/>
              </a:rPr>
              <a:t>饼图</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最大份额 + 是否集中/分散 + 最突出的特征</a:t>
            </a:r>
          </a:p>
        </p:txBody>
      </p:sp>
      <p:sp>
        <p:nvSpPr>
          <p:cNvPr id="20" name="Rounded Rectangle 19"/>
          <p:cNvSpPr/>
          <p:nvPr/>
        </p:nvSpPr>
        <p:spPr>
          <a:xfrm>
            <a:off x="6355079"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472473"/>
                </a:solidFill>
                <a:latin typeface="Calibri"/>
              </a:rPr>
              <a:t>多图对比</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最主要的变化方向 + 哪类增/减最明显</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1词数与结构检查清单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词数要求</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完成后数词数——确保≥150词（低于150词TA扣分）</a:t>
            </a:r>
          </a:p>
        </p:txBody>
      </p:sp>
      <p:sp>
        <p:nvSpPr>
          <p:cNvPr id="12" name="Rounded Rectangle 11"/>
          <p:cNvSpPr/>
          <p:nvPr/>
        </p:nvSpPr>
        <p:spPr>
          <a:xfrm>
            <a:off x="6355079"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四段结构</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引言+Overview+细节1+细节2（每段清晰分开）</a:t>
            </a:r>
          </a:p>
        </p:txBody>
      </p:sp>
      <p:sp>
        <p:nvSpPr>
          <p:cNvPr id="16" name="Rounded Rectangle 15"/>
          <p:cNvSpPr/>
          <p:nvPr/>
        </p:nvSpPr>
        <p:spPr>
          <a:xfrm>
            <a:off x="548640"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472473"/>
                </a:solidFill>
                <a:latin typeface="Calibri"/>
              </a:rPr>
              <a:t>数据准确</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核对所有引用的数字是否与图表一致</a:t>
            </a:r>
          </a:p>
        </p:txBody>
      </p:sp>
      <p:sp>
        <p:nvSpPr>
          <p:cNvPr id="20" name="Rounded Rectangle 19"/>
          <p:cNvSpPr/>
          <p:nvPr/>
        </p:nvSpPr>
        <p:spPr>
          <a:xfrm>
            <a:off x="6355079"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472473"/>
                </a:solidFill>
                <a:latin typeface="Calibri"/>
              </a:rPr>
              <a:t>时态检查</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历史数据→过去时；当前数据→现在时；预测→将来时</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1高频动词：上升与下降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234440"/>
            <a:ext cx="4937760" cy="533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33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33400"/>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33400"/>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7678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7678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767840"/>
            <a:ext cx="4754880" cy="533400"/>
          </a:xfrm>
          <a:prstGeom prst="rect">
            <a:avLst/>
          </a:prstGeom>
          <a:noFill/>
        </p:spPr>
        <p:txBody>
          <a:bodyPr wrap="square" anchor="ctr">
            <a:spAutoFit/>
          </a:bodyPr>
          <a:lstStyle/>
          <a:p>
            <a:pPr algn="l"/>
            <a:r>
              <a:rPr sz="1250" b="1" i="0">
                <a:solidFill>
                  <a:srgbClr val="472473"/>
                </a:solidFill>
                <a:latin typeface="Calibri"/>
              </a:rPr>
              <a:t>rise / increase</a:t>
            </a:r>
          </a:p>
        </p:txBody>
      </p:sp>
      <p:sp>
        <p:nvSpPr>
          <p:cNvPr id="15" name="TextBox 14"/>
          <p:cNvSpPr txBox="1"/>
          <p:nvPr/>
        </p:nvSpPr>
        <p:spPr>
          <a:xfrm>
            <a:off x="5623560" y="1767840"/>
            <a:ext cx="5852160" cy="533400"/>
          </a:xfrm>
          <a:prstGeom prst="rect">
            <a:avLst/>
          </a:prstGeom>
          <a:noFill/>
        </p:spPr>
        <p:txBody>
          <a:bodyPr wrap="square" anchor="ctr">
            <a:spAutoFit/>
          </a:bodyPr>
          <a:lstStyle/>
          <a:p>
            <a:pPr algn="l"/>
            <a:r>
              <a:rPr sz="1250" b="0" i="0">
                <a:solidFill>
                  <a:srgbClr val="1E293B"/>
                </a:solidFill>
                <a:latin typeface="Calibri"/>
              </a:rPr>
              <a:t>上升/增加（通用）— rose/increased in the past</a:t>
            </a:r>
          </a:p>
        </p:txBody>
      </p:sp>
      <p:sp>
        <p:nvSpPr>
          <p:cNvPr id="16" name="Rectangle 15"/>
          <p:cNvSpPr/>
          <p:nvPr/>
        </p:nvSpPr>
        <p:spPr>
          <a:xfrm>
            <a:off x="548640" y="23012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012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01240"/>
            <a:ext cx="4754880" cy="533400"/>
          </a:xfrm>
          <a:prstGeom prst="rect">
            <a:avLst/>
          </a:prstGeom>
          <a:noFill/>
        </p:spPr>
        <p:txBody>
          <a:bodyPr wrap="square" anchor="ctr">
            <a:spAutoFit/>
          </a:bodyPr>
          <a:lstStyle/>
          <a:p>
            <a:pPr algn="l"/>
            <a:r>
              <a:rPr sz="1250" b="1" i="0">
                <a:solidFill>
                  <a:srgbClr val="472473"/>
                </a:solidFill>
                <a:latin typeface="Calibri"/>
              </a:rPr>
              <a:t>surge / soar</a:t>
            </a:r>
          </a:p>
        </p:txBody>
      </p:sp>
      <p:sp>
        <p:nvSpPr>
          <p:cNvPr id="19" name="TextBox 18"/>
          <p:cNvSpPr txBox="1"/>
          <p:nvPr/>
        </p:nvSpPr>
        <p:spPr>
          <a:xfrm>
            <a:off x="5623560" y="2301240"/>
            <a:ext cx="5852160" cy="533400"/>
          </a:xfrm>
          <a:prstGeom prst="rect">
            <a:avLst/>
          </a:prstGeom>
          <a:noFill/>
        </p:spPr>
        <p:txBody>
          <a:bodyPr wrap="square" anchor="ctr">
            <a:spAutoFit/>
          </a:bodyPr>
          <a:lstStyle/>
          <a:p>
            <a:pPr algn="l"/>
            <a:r>
              <a:rPr sz="1250" b="0" i="0">
                <a:solidFill>
                  <a:srgbClr val="1E293B"/>
                </a:solidFill>
                <a:latin typeface="Calibri"/>
              </a:rPr>
              <a:t>急剧上升 — surged to 500 / soared by 200%</a:t>
            </a:r>
          </a:p>
        </p:txBody>
      </p:sp>
      <p:sp>
        <p:nvSpPr>
          <p:cNvPr id="20" name="Rectangle 19"/>
          <p:cNvSpPr/>
          <p:nvPr/>
        </p:nvSpPr>
        <p:spPr>
          <a:xfrm>
            <a:off x="548640" y="28346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8346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834640"/>
            <a:ext cx="4754880" cy="533400"/>
          </a:xfrm>
          <a:prstGeom prst="rect">
            <a:avLst/>
          </a:prstGeom>
          <a:noFill/>
        </p:spPr>
        <p:txBody>
          <a:bodyPr wrap="square" anchor="ctr">
            <a:spAutoFit/>
          </a:bodyPr>
          <a:lstStyle/>
          <a:p>
            <a:pPr algn="l"/>
            <a:r>
              <a:rPr sz="1250" b="1" i="0">
                <a:solidFill>
                  <a:srgbClr val="472473"/>
                </a:solidFill>
                <a:latin typeface="Calibri"/>
              </a:rPr>
              <a:t>climb / grow</a:t>
            </a:r>
          </a:p>
        </p:txBody>
      </p:sp>
      <p:sp>
        <p:nvSpPr>
          <p:cNvPr id="23" name="TextBox 22"/>
          <p:cNvSpPr txBox="1"/>
          <p:nvPr/>
        </p:nvSpPr>
        <p:spPr>
          <a:xfrm>
            <a:off x="5623560" y="2834640"/>
            <a:ext cx="5852160" cy="533400"/>
          </a:xfrm>
          <a:prstGeom prst="rect">
            <a:avLst/>
          </a:prstGeom>
          <a:noFill/>
        </p:spPr>
        <p:txBody>
          <a:bodyPr wrap="square" anchor="ctr">
            <a:spAutoFit/>
          </a:bodyPr>
          <a:lstStyle/>
          <a:p>
            <a:pPr algn="l"/>
            <a:r>
              <a:rPr sz="1250" b="0" i="0">
                <a:solidFill>
                  <a:srgbClr val="1E293B"/>
                </a:solidFill>
                <a:latin typeface="Calibri"/>
              </a:rPr>
              <a:t>稳步上升 — climbed steadily / grew consistently</a:t>
            </a:r>
          </a:p>
        </p:txBody>
      </p:sp>
      <p:sp>
        <p:nvSpPr>
          <p:cNvPr id="24" name="Rectangle 23"/>
          <p:cNvSpPr/>
          <p:nvPr/>
        </p:nvSpPr>
        <p:spPr>
          <a:xfrm>
            <a:off x="548640" y="33680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3680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368040"/>
            <a:ext cx="4754880" cy="533400"/>
          </a:xfrm>
          <a:prstGeom prst="rect">
            <a:avLst/>
          </a:prstGeom>
          <a:noFill/>
        </p:spPr>
        <p:txBody>
          <a:bodyPr wrap="square" anchor="ctr">
            <a:spAutoFit/>
          </a:bodyPr>
          <a:lstStyle/>
          <a:p>
            <a:pPr algn="l"/>
            <a:r>
              <a:rPr sz="1250" b="1" i="0">
                <a:solidFill>
                  <a:srgbClr val="472473"/>
                </a:solidFill>
                <a:latin typeface="Calibri"/>
              </a:rPr>
              <a:t>fall / decrease</a:t>
            </a:r>
          </a:p>
        </p:txBody>
      </p:sp>
      <p:sp>
        <p:nvSpPr>
          <p:cNvPr id="27" name="TextBox 26"/>
          <p:cNvSpPr txBox="1"/>
          <p:nvPr/>
        </p:nvSpPr>
        <p:spPr>
          <a:xfrm>
            <a:off x="5623560" y="3368040"/>
            <a:ext cx="5852160" cy="533400"/>
          </a:xfrm>
          <a:prstGeom prst="rect">
            <a:avLst/>
          </a:prstGeom>
          <a:noFill/>
        </p:spPr>
        <p:txBody>
          <a:bodyPr wrap="square" anchor="ctr">
            <a:spAutoFit/>
          </a:bodyPr>
          <a:lstStyle/>
          <a:p>
            <a:pPr algn="l"/>
            <a:r>
              <a:rPr sz="1250" b="0" i="0">
                <a:solidFill>
                  <a:srgbClr val="1E293B"/>
                </a:solidFill>
                <a:latin typeface="Calibri"/>
              </a:rPr>
              <a:t>下降（通用）— fell/decreased in the past</a:t>
            </a:r>
          </a:p>
        </p:txBody>
      </p:sp>
      <p:sp>
        <p:nvSpPr>
          <p:cNvPr id="28" name="Rectangle 27"/>
          <p:cNvSpPr/>
          <p:nvPr/>
        </p:nvSpPr>
        <p:spPr>
          <a:xfrm>
            <a:off x="548640" y="39014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9014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901440"/>
            <a:ext cx="4754880" cy="533400"/>
          </a:xfrm>
          <a:prstGeom prst="rect">
            <a:avLst/>
          </a:prstGeom>
          <a:noFill/>
        </p:spPr>
        <p:txBody>
          <a:bodyPr wrap="square" anchor="ctr">
            <a:spAutoFit/>
          </a:bodyPr>
          <a:lstStyle/>
          <a:p>
            <a:pPr algn="l"/>
            <a:r>
              <a:rPr sz="1250" b="1" i="0">
                <a:solidFill>
                  <a:srgbClr val="472473"/>
                </a:solidFill>
                <a:latin typeface="Calibri"/>
              </a:rPr>
              <a:t>plummet / plunge</a:t>
            </a:r>
          </a:p>
        </p:txBody>
      </p:sp>
      <p:sp>
        <p:nvSpPr>
          <p:cNvPr id="31" name="TextBox 30"/>
          <p:cNvSpPr txBox="1"/>
          <p:nvPr/>
        </p:nvSpPr>
        <p:spPr>
          <a:xfrm>
            <a:off x="5623560" y="3901440"/>
            <a:ext cx="5852160" cy="533400"/>
          </a:xfrm>
          <a:prstGeom prst="rect">
            <a:avLst/>
          </a:prstGeom>
          <a:noFill/>
        </p:spPr>
        <p:txBody>
          <a:bodyPr wrap="square" anchor="ctr">
            <a:spAutoFit/>
          </a:bodyPr>
          <a:lstStyle/>
          <a:p>
            <a:pPr algn="l"/>
            <a:r>
              <a:rPr sz="1250" b="0" i="0">
                <a:solidFill>
                  <a:srgbClr val="1E293B"/>
                </a:solidFill>
                <a:latin typeface="Calibri"/>
              </a:rPr>
              <a:t>急剧下降 — plummeted to / plunged by</a:t>
            </a:r>
          </a:p>
        </p:txBody>
      </p:sp>
      <p:sp>
        <p:nvSpPr>
          <p:cNvPr id="32" name="Rectangle 31"/>
          <p:cNvSpPr/>
          <p:nvPr/>
        </p:nvSpPr>
        <p:spPr>
          <a:xfrm>
            <a:off x="548640" y="44348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4348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434840"/>
            <a:ext cx="4754880" cy="533400"/>
          </a:xfrm>
          <a:prstGeom prst="rect">
            <a:avLst/>
          </a:prstGeom>
          <a:noFill/>
        </p:spPr>
        <p:txBody>
          <a:bodyPr wrap="square" anchor="ctr">
            <a:spAutoFit/>
          </a:bodyPr>
          <a:lstStyle/>
          <a:p>
            <a:pPr algn="l"/>
            <a:r>
              <a:rPr sz="1250" b="1" i="0">
                <a:solidFill>
                  <a:srgbClr val="472473"/>
                </a:solidFill>
                <a:latin typeface="Calibri"/>
              </a:rPr>
              <a:t>dip / slip</a:t>
            </a:r>
          </a:p>
        </p:txBody>
      </p:sp>
      <p:sp>
        <p:nvSpPr>
          <p:cNvPr id="35" name="TextBox 34"/>
          <p:cNvSpPr txBox="1"/>
          <p:nvPr/>
        </p:nvSpPr>
        <p:spPr>
          <a:xfrm>
            <a:off x="5623560" y="4434840"/>
            <a:ext cx="5852160" cy="533400"/>
          </a:xfrm>
          <a:prstGeom prst="rect">
            <a:avLst/>
          </a:prstGeom>
          <a:noFill/>
        </p:spPr>
        <p:txBody>
          <a:bodyPr wrap="square" anchor="ctr">
            <a:spAutoFit/>
          </a:bodyPr>
          <a:lstStyle/>
          <a:p>
            <a:pPr algn="l"/>
            <a:r>
              <a:rPr sz="1250" b="0" i="0">
                <a:solidFill>
                  <a:srgbClr val="1E293B"/>
                </a:solidFill>
                <a:latin typeface="Calibri"/>
              </a:rPr>
              <a:t>小幅下降 — dipped slightly / slipped marginally</a:t>
            </a:r>
          </a:p>
        </p:txBody>
      </p:sp>
      <p:sp>
        <p:nvSpPr>
          <p:cNvPr id="36" name="Rectangle 35"/>
          <p:cNvSpPr/>
          <p:nvPr/>
        </p:nvSpPr>
        <p:spPr>
          <a:xfrm>
            <a:off x="548640" y="49682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9682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968240"/>
            <a:ext cx="4754880" cy="533400"/>
          </a:xfrm>
          <a:prstGeom prst="rect">
            <a:avLst/>
          </a:prstGeom>
          <a:noFill/>
        </p:spPr>
        <p:txBody>
          <a:bodyPr wrap="square" anchor="ctr">
            <a:spAutoFit/>
          </a:bodyPr>
          <a:lstStyle/>
          <a:p>
            <a:pPr algn="l"/>
            <a:r>
              <a:rPr sz="1250" b="1" i="0">
                <a:solidFill>
                  <a:srgbClr val="472473"/>
                </a:solidFill>
                <a:latin typeface="Calibri"/>
              </a:rPr>
              <a:t>level off</a:t>
            </a:r>
          </a:p>
        </p:txBody>
      </p:sp>
      <p:sp>
        <p:nvSpPr>
          <p:cNvPr id="39" name="TextBox 38"/>
          <p:cNvSpPr txBox="1"/>
          <p:nvPr/>
        </p:nvSpPr>
        <p:spPr>
          <a:xfrm>
            <a:off x="5623560" y="4968240"/>
            <a:ext cx="5852160" cy="533400"/>
          </a:xfrm>
          <a:prstGeom prst="rect">
            <a:avLst/>
          </a:prstGeom>
          <a:noFill/>
        </p:spPr>
        <p:txBody>
          <a:bodyPr wrap="square" anchor="ctr">
            <a:spAutoFit/>
          </a:bodyPr>
          <a:lstStyle/>
          <a:p>
            <a:pPr algn="l"/>
            <a:r>
              <a:rPr sz="1250" b="0" i="0">
                <a:solidFill>
                  <a:srgbClr val="1E293B"/>
                </a:solidFill>
                <a:latin typeface="Calibri"/>
              </a:rPr>
              <a:t>趋于平稳 — levelled off at 300</a:t>
            </a:r>
          </a:p>
        </p:txBody>
      </p:sp>
      <p:sp>
        <p:nvSpPr>
          <p:cNvPr id="40" name="Rectangle 39"/>
          <p:cNvSpPr/>
          <p:nvPr/>
        </p:nvSpPr>
        <p:spPr>
          <a:xfrm>
            <a:off x="548640" y="55016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55016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501640"/>
            <a:ext cx="4754880" cy="533400"/>
          </a:xfrm>
          <a:prstGeom prst="rect">
            <a:avLst/>
          </a:prstGeom>
          <a:noFill/>
        </p:spPr>
        <p:txBody>
          <a:bodyPr wrap="square" anchor="ctr">
            <a:spAutoFit/>
          </a:bodyPr>
          <a:lstStyle/>
          <a:p>
            <a:pPr algn="l"/>
            <a:r>
              <a:rPr sz="1250" b="1" i="0">
                <a:solidFill>
                  <a:srgbClr val="472473"/>
                </a:solidFill>
                <a:latin typeface="Calibri"/>
              </a:rPr>
              <a:t>plateau</a:t>
            </a:r>
          </a:p>
        </p:txBody>
      </p:sp>
      <p:sp>
        <p:nvSpPr>
          <p:cNvPr id="43" name="TextBox 42"/>
          <p:cNvSpPr txBox="1"/>
          <p:nvPr/>
        </p:nvSpPr>
        <p:spPr>
          <a:xfrm>
            <a:off x="5623560" y="5501640"/>
            <a:ext cx="5852160" cy="533400"/>
          </a:xfrm>
          <a:prstGeom prst="rect">
            <a:avLst/>
          </a:prstGeom>
          <a:noFill/>
        </p:spPr>
        <p:txBody>
          <a:bodyPr wrap="square" anchor="ctr">
            <a:spAutoFit/>
          </a:bodyPr>
          <a:lstStyle/>
          <a:p>
            <a:pPr algn="l"/>
            <a:r>
              <a:rPr sz="1250" b="0" i="0">
                <a:solidFill>
                  <a:srgbClr val="1E293B"/>
                </a:solidFill>
                <a:latin typeface="Calibri"/>
              </a:rPr>
              <a:t>持平 — plateaued for three years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1高频形容词与副词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234440"/>
            <a:ext cx="4937760" cy="533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33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33400"/>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33400"/>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7678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7678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767840"/>
            <a:ext cx="4754880" cy="533400"/>
          </a:xfrm>
          <a:prstGeom prst="rect">
            <a:avLst/>
          </a:prstGeom>
          <a:noFill/>
        </p:spPr>
        <p:txBody>
          <a:bodyPr wrap="square" anchor="ctr">
            <a:spAutoFit/>
          </a:bodyPr>
          <a:lstStyle/>
          <a:p>
            <a:pPr algn="l"/>
            <a:r>
              <a:rPr sz="1250" b="1" i="0">
                <a:solidFill>
                  <a:srgbClr val="472473"/>
                </a:solidFill>
                <a:latin typeface="Calibri"/>
              </a:rPr>
              <a:t>dramatic(ally)</a:t>
            </a:r>
          </a:p>
        </p:txBody>
      </p:sp>
      <p:sp>
        <p:nvSpPr>
          <p:cNvPr id="15" name="TextBox 14"/>
          <p:cNvSpPr txBox="1"/>
          <p:nvPr/>
        </p:nvSpPr>
        <p:spPr>
          <a:xfrm>
            <a:off x="5623560" y="1767840"/>
            <a:ext cx="5852160" cy="533400"/>
          </a:xfrm>
          <a:prstGeom prst="rect">
            <a:avLst/>
          </a:prstGeom>
          <a:noFill/>
        </p:spPr>
        <p:txBody>
          <a:bodyPr wrap="square" anchor="ctr">
            <a:spAutoFit/>
          </a:bodyPr>
          <a:lstStyle/>
          <a:p>
            <a:pPr algn="l"/>
            <a:r>
              <a:rPr sz="1250" b="0" i="0">
                <a:solidFill>
                  <a:srgbClr val="1E293B"/>
                </a:solidFill>
                <a:latin typeface="Calibri"/>
              </a:rPr>
              <a:t>急剧的/地 — a dramatic increase / increased dramatically</a:t>
            </a:r>
          </a:p>
        </p:txBody>
      </p:sp>
      <p:sp>
        <p:nvSpPr>
          <p:cNvPr id="16" name="Rectangle 15"/>
          <p:cNvSpPr/>
          <p:nvPr/>
        </p:nvSpPr>
        <p:spPr>
          <a:xfrm>
            <a:off x="548640" y="23012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012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01240"/>
            <a:ext cx="4754880" cy="533400"/>
          </a:xfrm>
          <a:prstGeom prst="rect">
            <a:avLst/>
          </a:prstGeom>
          <a:noFill/>
        </p:spPr>
        <p:txBody>
          <a:bodyPr wrap="square" anchor="ctr">
            <a:spAutoFit/>
          </a:bodyPr>
          <a:lstStyle/>
          <a:p>
            <a:pPr algn="l"/>
            <a:r>
              <a:rPr sz="1250" b="1" i="0">
                <a:solidFill>
                  <a:srgbClr val="472473"/>
                </a:solidFill>
                <a:latin typeface="Calibri"/>
              </a:rPr>
              <a:t>significant(ly)</a:t>
            </a:r>
          </a:p>
        </p:txBody>
      </p:sp>
      <p:sp>
        <p:nvSpPr>
          <p:cNvPr id="19" name="TextBox 18"/>
          <p:cNvSpPr txBox="1"/>
          <p:nvPr/>
        </p:nvSpPr>
        <p:spPr>
          <a:xfrm>
            <a:off x="5623560" y="2301240"/>
            <a:ext cx="5852160" cy="533400"/>
          </a:xfrm>
          <a:prstGeom prst="rect">
            <a:avLst/>
          </a:prstGeom>
          <a:noFill/>
        </p:spPr>
        <p:txBody>
          <a:bodyPr wrap="square" anchor="ctr">
            <a:spAutoFit/>
          </a:bodyPr>
          <a:lstStyle/>
          <a:p>
            <a:pPr algn="l"/>
            <a:r>
              <a:rPr sz="1250" b="0" i="0">
                <a:solidFill>
                  <a:srgbClr val="1E293B"/>
                </a:solidFill>
                <a:latin typeface="Calibri"/>
              </a:rPr>
              <a:t>显著的/地 — significant growth / grew significantly</a:t>
            </a:r>
          </a:p>
        </p:txBody>
      </p:sp>
      <p:sp>
        <p:nvSpPr>
          <p:cNvPr id="20" name="Rectangle 19"/>
          <p:cNvSpPr/>
          <p:nvPr/>
        </p:nvSpPr>
        <p:spPr>
          <a:xfrm>
            <a:off x="548640" y="28346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8346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834640"/>
            <a:ext cx="4754880" cy="533400"/>
          </a:xfrm>
          <a:prstGeom prst="rect">
            <a:avLst/>
          </a:prstGeom>
          <a:noFill/>
        </p:spPr>
        <p:txBody>
          <a:bodyPr wrap="square" anchor="ctr">
            <a:spAutoFit/>
          </a:bodyPr>
          <a:lstStyle/>
          <a:p>
            <a:pPr algn="l"/>
            <a:r>
              <a:rPr sz="1250" b="1" i="0">
                <a:solidFill>
                  <a:srgbClr val="472473"/>
                </a:solidFill>
                <a:latin typeface="Calibri"/>
              </a:rPr>
              <a:t>gradual(ly)</a:t>
            </a:r>
          </a:p>
        </p:txBody>
      </p:sp>
      <p:sp>
        <p:nvSpPr>
          <p:cNvPr id="23" name="TextBox 22"/>
          <p:cNvSpPr txBox="1"/>
          <p:nvPr/>
        </p:nvSpPr>
        <p:spPr>
          <a:xfrm>
            <a:off x="5623560" y="2834640"/>
            <a:ext cx="5852160" cy="533400"/>
          </a:xfrm>
          <a:prstGeom prst="rect">
            <a:avLst/>
          </a:prstGeom>
          <a:noFill/>
        </p:spPr>
        <p:txBody>
          <a:bodyPr wrap="square" anchor="ctr">
            <a:spAutoFit/>
          </a:bodyPr>
          <a:lstStyle/>
          <a:p>
            <a:pPr algn="l"/>
            <a:r>
              <a:rPr sz="1250" b="0" i="0">
                <a:solidFill>
                  <a:srgbClr val="1E293B"/>
                </a:solidFill>
                <a:latin typeface="Calibri"/>
              </a:rPr>
              <a:t>逐步的/地 — a gradual decline / declined gradually</a:t>
            </a:r>
          </a:p>
        </p:txBody>
      </p:sp>
      <p:sp>
        <p:nvSpPr>
          <p:cNvPr id="24" name="Rectangle 23"/>
          <p:cNvSpPr/>
          <p:nvPr/>
        </p:nvSpPr>
        <p:spPr>
          <a:xfrm>
            <a:off x="548640" y="33680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3680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368040"/>
            <a:ext cx="4754880" cy="533400"/>
          </a:xfrm>
          <a:prstGeom prst="rect">
            <a:avLst/>
          </a:prstGeom>
          <a:noFill/>
        </p:spPr>
        <p:txBody>
          <a:bodyPr wrap="square" anchor="ctr">
            <a:spAutoFit/>
          </a:bodyPr>
          <a:lstStyle/>
          <a:p>
            <a:pPr algn="l"/>
            <a:r>
              <a:rPr sz="1250" b="1" i="0">
                <a:solidFill>
                  <a:srgbClr val="472473"/>
                </a:solidFill>
                <a:latin typeface="Calibri"/>
              </a:rPr>
              <a:t>slight(ly)</a:t>
            </a:r>
          </a:p>
        </p:txBody>
      </p:sp>
      <p:sp>
        <p:nvSpPr>
          <p:cNvPr id="27" name="TextBox 26"/>
          <p:cNvSpPr txBox="1"/>
          <p:nvPr/>
        </p:nvSpPr>
        <p:spPr>
          <a:xfrm>
            <a:off x="5623560" y="3368040"/>
            <a:ext cx="5852160" cy="533400"/>
          </a:xfrm>
          <a:prstGeom prst="rect">
            <a:avLst/>
          </a:prstGeom>
          <a:noFill/>
        </p:spPr>
        <p:txBody>
          <a:bodyPr wrap="square" anchor="ctr">
            <a:spAutoFit/>
          </a:bodyPr>
          <a:lstStyle/>
          <a:p>
            <a:pPr algn="l"/>
            <a:r>
              <a:rPr sz="1250" b="0" i="0">
                <a:solidFill>
                  <a:srgbClr val="1E293B"/>
                </a:solidFill>
                <a:latin typeface="Calibri"/>
              </a:rPr>
              <a:t>轻微的/地 — a slight drop / dropped slightly</a:t>
            </a:r>
          </a:p>
        </p:txBody>
      </p:sp>
      <p:sp>
        <p:nvSpPr>
          <p:cNvPr id="28" name="Rectangle 27"/>
          <p:cNvSpPr/>
          <p:nvPr/>
        </p:nvSpPr>
        <p:spPr>
          <a:xfrm>
            <a:off x="548640" y="39014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9014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901440"/>
            <a:ext cx="4754880" cy="533400"/>
          </a:xfrm>
          <a:prstGeom prst="rect">
            <a:avLst/>
          </a:prstGeom>
          <a:noFill/>
        </p:spPr>
        <p:txBody>
          <a:bodyPr wrap="square" anchor="ctr">
            <a:spAutoFit/>
          </a:bodyPr>
          <a:lstStyle/>
          <a:p>
            <a:pPr algn="l"/>
            <a:r>
              <a:rPr sz="1250" b="1" i="0">
                <a:solidFill>
                  <a:srgbClr val="472473"/>
                </a:solidFill>
                <a:latin typeface="Calibri"/>
              </a:rPr>
              <a:t>steady / steadily</a:t>
            </a:r>
          </a:p>
        </p:txBody>
      </p:sp>
      <p:sp>
        <p:nvSpPr>
          <p:cNvPr id="31" name="TextBox 30"/>
          <p:cNvSpPr txBox="1"/>
          <p:nvPr/>
        </p:nvSpPr>
        <p:spPr>
          <a:xfrm>
            <a:off x="5623560" y="3901440"/>
            <a:ext cx="5852160" cy="533400"/>
          </a:xfrm>
          <a:prstGeom prst="rect">
            <a:avLst/>
          </a:prstGeom>
          <a:noFill/>
        </p:spPr>
        <p:txBody>
          <a:bodyPr wrap="square" anchor="ctr">
            <a:spAutoFit/>
          </a:bodyPr>
          <a:lstStyle/>
          <a:p>
            <a:pPr algn="l"/>
            <a:r>
              <a:rPr sz="1250" b="0" i="0">
                <a:solidFill>
                  <a:srgbClr val="1E293B"/>
                </a:solidFill>
                <a:latin typeface="Calibri"/>
              </a:rPr>
              <a:t>稳定的/地 — steady growth / grew steadily</a:t>
            </a:r>
          </a:p>
        </p:txBody>
      </p:sp>
      <p:sp>
        <p:nvSpPr>
          <p:cNvPr id="32" name="Rectangle 31"/>
          <p:cNvSpPr/>
          <p:nvPr/>
        </p:nvSpPr>
        <p:spPr>
          <a:xfrm>
            <a:off x="548640" y="44348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4348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434840"/>
            <a:ext cx="4754880" cy="533400"/>
          </a:xfrm>
          <a:prstGeom prst="rect">
            <a:avLst/>
          </a:prstGeom>
          <a:noFill/>
        </p:spPr>
        <p:txBody>
          <a:bodyPr wrap="square" anchor="ctr">
            <a:spAutoFit/>
          </a:bodyPr>
          <a:lstStyle/>
          <a:p>
            <a:pPr algn="l"/>
            <a:r>
              <a:rPr sz="1250" b="1" i="0">
                <a:solidFill>
                  <a:srgbClr val="472473"/>
                </a:solidFill>
                <a:latin typeface="Calibri"/>
              </a:rPr>
              <a:t>sharp(ly)</a:t>
            </a:r>
          </a:p>
        </p:txBody>
      </p:sp>
      <p:sp>
        <p:nvSpPr>
          <p:cNvPr id="35" name="TextBox 34"/>
          <p:cNvSpPr txBox="1"/>
          <p:nvPr/>
        </p:nvSpPr>
        <p:spPr>
          <a:xfrm>
            <a:off x="5623560" y="4434840"/>
            <a:ext cx="5852160" cy="533400"/>
          </a:xfrm>
          <a:prstGeom prst="rect">
            <a:avLst/>
          </a:prstGeom>
          <a:noFill/>
        </p:spPr>
        <p:txBody>
          <a:bodyPr wrap="square" anchor="ctr">
            <a:spAutoFit/>
          </a:bodyPr>
          <a:lstStyle/>
          <a:p>
            <a:pPr algn="l"/>
            <a:r>
              <a:rPr sz="1250" b="0" i="0">
                <a:solidFill>
                  <a:srgbClr val="1E293B"/>
                </a:solidFill>
                <a:latin typeface="Calibri"/>
              </a:rPr>
              <a:t>急速的/地 — a sharp rise / rose sharply</a:t>
            </a:r>
          </a:p>
        </p:txBody>
      </p:sp>
      <p:sp>
        <p:nvSpPr>
          <p:cNvPr id="36" name="Rectangle 35"/>
          <p:cNvSpPr/>
          <p:nvPr/>
        </p:nvSpPr>
        <p:spPr>
          <a:xfrm>
            <a:off x="548640" y="49682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9682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968240"/>
            <a:ext cx="4754880" cy="533400"/>
          </a:xfrm>
          <a:prstGeom prst="rect">
            <a:avLst/>
          </a:prstGeom>
          <a:noFill/>
        </p:spPr>
        <p:txBody>
          <a:bodyPr wrap="square" anchor="ctr">
            <a:spAutoFit/>
          </a:bodyPr>
          <a:lstStyle/>
          <a:p>
            <a:pPr algn="l"/>
            <a:r>
              <a:rPr sz="1250" b="1" i="0">
                <a:solidFill>
                  <a:srgbClr val="472473"/>
                </a:solidFill>
                <a:latin typeface="Calibri"/>
              </a:rPr>
              <a:t>marginal(ly)</a:t>
            </a:r>
          </a:p>
        </p:txBody>
      </p:sp>
      <p:sp>
        <p:nvSpPr>
          <p:cNvPr id="39" name="TextBox 38"/>
          <p:cNvSpPr txBox="1"/>
          <p:nvPr/>
        </p:nvSpPr>
        <p:spPr>
          <a:xfrm>
            <a:off x="5623560" y="4968240"/>
            <a:ext cx="5852160" cy="533400"/>
          </a:xfrm>
          <a:prstGeom prst="rect">
            <a:avLst/>
          </a:prstGeom>
          <a:noFill/>
        </p:spPr>
        <p:txBody>
          <a:bodyPr wrap="square" anchor="ctr">
            <a:spAutoFit/>
          </a:bodyPr>
          <a:lstStyle/>
          <a:p>
            <a:pPr algn="l"/>
            <a:r>
              <a:rPr sz="1250" b="0" i="0">
                <a:solidFill>
                  <a:srgbClr val="1E293B"/>
                </a:solidFill>
                <a:latin typeface="Calibri"/>
              </a:rPr>
              <a:t>边际的/地 — a marginal increase / increased marginally</a:t>
            </a:r>
          </a:p>
        </p:txBody>
      </p:sp>
      <p:sp>
        <p:nvSpPr>
          <p:cNvPr id="40" name="Rectangle 39"/>
          <p:cNvSpPr/>
          <p:nvPr/>
        </p:nvSpPr>
        <p:spPr>
          <a:xfrm>
            <a:off x="548640" y="55016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55016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501640"/>
            <a:ext cx="4754880" cy="533400"/>
          </a:xfrm>
          <a:prstGeom prst="rect">
            <a:avLst/>
          </a:prstGeom>
          <a:noFill/>
        </p:spPr>
        <p:txBody>
          <a:bodyPr wrap="square" anchor="ctr">
            <a:spAutoFit/>
          </a:bodyPr>
          <a:lstStyle/>
          <a:p>
            <a:pPr algn="l"/>
            <a:r>
              <a:rPr sz="1250" b="1" i="0">
                <a:solidFill>
                  <a:srgbClr val="472473"/>
                </a:solidFill>
                <a:latin typeface="Calibri"/>
              </a:rPr>
              <a:t>considerable / considerably</a:t>
            </a:r>
          </a:p>
        </p:txBody>
      </p:sp>
      <p:sp>
        <p:nvSpPr>
          <p:cNvPr id="43" name="TextBox 42"/>
          <p:cNvSpPr txBox="1"/>
          <p:nvPr/>
        </p:nvSpPr>
        <p:spPr>
          <a:xfrm>
            <a:off x="5623560" y="5501640"/>
            <a:ext cx="5852160" cy="533400"/>
          </a:xfrm>
          <a:prstGeom prst="rect">
            <a:avLst/>
          </a:prstGeom>
          <a:noFill/>
        </p:spPr>
        <p:txBody>
          <a:bodyPr wrap="square" anchor="ctr">
            <a:spAutoFit/>
          </a:bodyPr>
          <a:lstStyle/>
          <a:p>
            <a:pPr algn="l"/>
            <a:r>
              <a:rPr sz="1250" b="0" i="0">
                <a:solidFill>
                  <a:srgbClr val="1E293B"/>
                </a:solidFill>
                <a:latin typeface="Calibri"/>
              </a:rPr>
              <a:t>相当大的/地 — considerable fluctuation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1比较与概述高频表达</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234440"/>
            <a:ext cx="4937760" cy="533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33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33400"/>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33400"/>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7678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7678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767840"/>
            <a:ext cx="4754880" cy="533400"/>
          </a:xfrm>
          <a:prstGeom prst="rect">
            <a:avLst/>
          </a:prstGeom>
          <a:noFill/>
        </p:spPr>
        <p:txBody>
          <a:bodyPr wrap="square" anchor="ctr">
            <a:spAutoFit/>
          </a:bodyPr>
          <a:lstStyle/>
          <a:p>
            <a:pPr algn="l"/>
            <a:r>
              <a:rPr sz="1250" b="1" i="0">
                <a:solidFill>
                  <a:srgbClr val="472473"/>
                </a:solidFill>
                <a:latin typeface="Calibri"/>
              </a:rPr>
              <a:t>account for</a:t>
            </a:r>
          </a:p>
        </p:txBody>
      </p:sp>
      <p:sp>
        <p:nvSpPr>
          <p:cNvPr id="15" name="TextBox 14"/>
          <p:cNvSpPr txBox="1"/>
          <p:nvPr/>
        </p:nvSpPr>
        <p:spPr>
          <a:xfrm>
            <a:off x="5623560" y="1767840"/>
            <a:ext cx="5852160" cy="533400"/>
          </a:xfrm>
          <a:prstGeom prst="rect">
            <a:avLst/>
          </a:prstGeom>
          <a:noFill/>
        </p:spPr>
        <p:txBody>
          <a:bodyPr wrap="square" anchor="ctr">
            <a:spAutoFit/>
          </a:bodyPr>
          <a:lstStyle/>
          <a:p>
            <a:pPr algn="l"/>
            <a:r>
              <a:rPr sz="1250" b="0" i="0">
                <a:solidFill>
                  <a:srgbClr val="1E293B"/>
                </a:solidFill>
                <a:latin typeface="Calibri"/>
              </a:rPr>
              <a:t>占（比例）— accounted for 35% of the total</a:t>
            </a:r>
          </a:p>
        </p:txBody>
      </p:sp>
      <p:sp>
        <p:nvSpPr>
          <p:cNvPr id="16" name="Rectangle 15"/>
          <p:cNvSpPr/>
          <p:nvPr/>
        </p:nvSpPr>
        <p:spPr>
          <a:xfrm>
            <a:off x="548640" y="23012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012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01240"/>
            <a:ext cx="4754880" cy="533400"/>
          </a:xfrm>
          <a:prstGeom prst="rect">
            <a:avLst/>
          </a:prstGeom>
          <a:noFill/>
        </p:spPr>
        <p:txBody>
          <a:bodyPr wrap="square" anchor="ctr">
            <a:spAutoFit/>
          </a:bodyPr>
          <a:lstStyle/>
          <a:p>
            <a:pPr algn="l"/>
            <a:r>
              <a:rPr sz="1250" b="1" i="0">
                <a:solidFill>
                  <a:srgbClr val="472473"/>
                </a:solidFill>
                <a:latin typeface="Calibri"/>
              </a:rPr>
              <a:t>compared to / with</a:t>
            </a:r>
          </a:p>
        </p:txBody>
      </p:sp>
      <p:sp>
        <p:nvSpPr>
          <p:cNvPr id="19" name="TextBox 18"/>
          <p:cNvSpPr txBox="1"/>
          <p:nvPr/>
        </p:nvSpPr>
        <p:spPr>
          <a:xfrm>
            <a:off x="5623560" y="2301240"/>
            <a:ext cx="5852160" cy="533400"/>
          </a:xfrm>
          <a:prstGeom prst="rect">
            <a:avLst/>
          </a:prstGeom>
          <a:noFill/>
        </p:spPr>
        <p:txBody>
          <a:bodyPr wrap="square" anchor="ctr">
            <a:spAutoFit/>
          </a:bodyPr>
          <a:lstStyle/>
          <a:p>
            <a:pPr algn="l"/>
            <a:r>
              <a:rPr sz="1250" b="0" i="0">
                <a:solidFill>
                  <a:srgbClr val="1E293B"/>
                </a:solidFill>
                <a:latin typeface="Calibri"/>
              </a:rPr>
              <a:t>与...相比 — compared to the previous year</a:t>
            </a:r>
          </a:p>
        </p:txBody>
      </p:sp>
      <p:sp>
        <p:nvSpPr>
          <p:cNvPr id="20" name="Rectangle 19"/>
          <p:cNvSpPr/>
          <p:nvPr/>
        </p:nvSpPr>
        <p:spPr>
          <a:xfrm>
            <a:off x="548640" y="28346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8346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834640"/>
            <a:ext cx="4754880" cy="533400"/>
          </a:xfrm>
          <a:prstGeom prst="rect">
            <a:avLst/>
          </a:prstGeom>
          <a:noFill/>
        </p:spPr>
        <p:txBody>
          <a:bodyPr wrap="square" anchor="ctr">
            <a:spAutoFit/>
          </a:bodyPr>
          <a:lstStyle/>
          <a:p>
            <a:pPr algn="l"/>
            <a:r>
              <a:rPr sz="1250" b="1" i="0">
                <a:solidFill>
                  <a:srgbClr val="472473"/>
                </a:solidFill>
                <a:latin typeface="Calibri"/>
              </a:rPr>
              <a:t>in contrast</a:t>
            </a:r>
          </a:p>
        </p:txBody>
      </p:sp>
      <p:sp>
        <p:nvSpPr>
          <p:cNvPr id="23" name="TextBox 22"/>
          <p:cNvSpPr txBox="1"/>
          <p:nvPr/>
        </p:nvSpPr>
        <p:spPr>
          <a:xfrm>
            <a:off x="5623560" y="2834640"/>
            <a:ext cx="5852160" cy="533400"/>
          </a:xfrm>
          <a:prstGeom prst="rect">
            <a:avLst/>
          </a:prstGeom>
          <a:noFill/>
        </p:spPr>
        <p:txBody>
          <a:bodyPr wrap="square" anchor="ctr">
            <a:spAutoFit/>
          </a:bodyPr>
          <a:lstStyle/>
          <a:p>
            <a:pPr algn="l"/>
            <a:r>
              <a:rPr sz="1250" b="0" i="0">
                <a:solidFill>
                  <a:srgbClr val="1E293B"/>
                </a:solidFill>
                <a:latin typeface="Calibri"/>
              </a:rPr>
              <a:t>相比之下 — In contrast, sales declined</a:t>
            </a:r>
          </a:p>
        </p:txBody>
      </p:sp>
      <p:sp>
        <p:nvSpPr>
          <p:cNvPr id="24" name="Rectangle 23"/>
          <p:cNvSpPr/>
          <p:nvPr/>
        </p:nvSpPr>
        <p:spPr>
          <a:xfrm>
            <a:off x="548640" y="33680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3680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368040"/>
            <a:ext cx="4754880" cy="533400"/>
          </a:xfrm>
          <a:prstGeom prst="rect">
            <a:avLst/>
          </a:prstGeom>
          <a:noFill/>
        </p:spPr>
        <p:txBody>
          <a:bodyPr wrap="square" anchor="ctr">
            <a:spAutoFit/>
          </a:bodyPr>
          <a:lstStyle/>
          <a:p>
            <a:pPr algn="l"/>
            <a:r>
              <a:rPr sz="1250" b="1" i="0">
                <a:solidFill>
                  <a:srgbClr val="472473"/>
                </a:solidFill>
                <a:latin typeface="Calibri"/>
              </a:rPr>
              <a:t>respectively</a:t>
            </a:r>
          </a:p>
        </p:txBody>
      </p:sp>
      <p:sp>
        <p:nvSpPr>
          <p:cNvPr id="27" name="TextBox 26"/>
          <p:cNvSpPr txBox="1"/>
          <p:nvPr/>
        </p:nvSpPr>
        <p:spPr>
          <a:xfrm>
            <a:off x="5623560" y="3368040"/>
            <a:ext cx="5852160" cy="533400"/>
          </a:xfrm>
          <a:prstGeom prst="rect">
            <a:avLst/>
          </a:prstGeom>
          <a:noFill/>
        </p:spPr>
        <p:txBody>
          <a:bodyPr wrap="square" anchor="ctr">
            <a:spAutoFit/>
          </a:bodyPr>
          <a:lstStyle/>
          <a:p>
            <a:pPr algn="l"/>
            <a:r>
              <a:rPr sz="1250" b="0" i="0">
                <a:solidFill>
                  <a:srgbClr val="1E293B"/>
                </a:solidFill>
                <a:latin typeface="Calibri"/>
              </a:rPr>
              <a:t>分别地 — at 30% and 25% respectively</a:t>
            </a:r>
          </a:p>
        </p:txBody>
      </p:sp>
      <p:sp>
        <p:nvSpPr>
          <p:cNvPr id="28" name="Rectangle 27"/>
          <p:cNvSpPr/>
          <p:nvPr/>
        </p:nvSpPr>
        <p:spPr>
          <a:xfrm>
            <a:off x="548640" y="39014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9014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901440"/>
            <a:ext cx="4754880" cy="533400"/>
          </a:xfrm>
          <a:prstGeom prst="rect">
            <a:avLst/>
          </a:prstGeom>
          <a:noFill/>
        </p:spPr>
        <p:txBody>
          <a:bodyPr wrap="square" anchor="ctr">
            <a:spAutoFit/>
          </a:bodyPr>
          <a:lstStyle/>
          <a:p>
            <a:pPr algn="l"/>
            <a:r>
              <a:rPr sz="1250" b="1" i="0">
                <a:solidFill>
                  <a:srgbClr val="472473"/>
                </a:solidFill>
                <a:latin typeface="Calibri"/>
              </a:rPr>
              <a:t>overall</a:t>
            </a:r>
          </a:p>
        </p:txBody>
      </p:sp>
      <p:sp>
        <p:nvSpPr>
          <p:cNvPr id="31" name="TextBox 30"/>
          <p:cNvSpPr txBox="1"/>
          <p:nvPr/>
        </p:nvSpPr>
        <p:spPr>
          <a:xfrm>
            <a:off x="5623560" y="3901440"/>
            <a:ext cx="5852160" cy="533400"/>
          </a:xfrm>
          <a:prstGeom prst="rect">
            <a:avLst/>
          </a:prstGeom>
          <a:noFill/>
        </p:spPr>
        <p:txBody>
          <a:bodyPr wrap="square" anchor="ctr">
            <a:spAutoFit/>
          </a:bodyPr>
          <a:lstStyle/>
          <a:p>
            <a:pPr algn="l"/>
            <a:r>
              <a:rPr sz="1250" b="0" i="0">
                <a:solidFill>
                  <a:srgbClr val="1E293B"/>
                </a:solidFill>
                <a:latin typeface="Calibri"/>
              </a:rPr>
              <a:t>总体上 — Overall, the trend was upward</a:t>
            </a:r>
          </a:p>
        </p:txBody>
      </p:sp>
      <p:sp>
        <p:nvSpPr>
          <p:cNvPr id="32" name="Rectangle 31"/>
          <p:cNvSpPr/>
          <p:nvPr/>
        </p:nvSpPr>
        <p:spPr>
          <a:xfrm>
            <a:off x="548640" y="44348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4348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434840"/>
            <a:ext cx="4754880" cy="533400"/>
          </a:xfrm>
          <a:prstGeom prst="rect">
            <a:avLst/>
          </a:prstGeom>
          <a:noFill/>
        </p:spPr>
        <p:txBody>
          <a:bodyPr wrap="square" anchor="ctr">
            <a:spAutoFit/>
          </a:bodyPr>
          <a:lstStyle/>
          <a:p>
            <a:pPr algn="l"/>
            <a:r>
              <a:rPr sz="1250" b="1" i="0">
                <a:solidFill>
                  <a:srgbClr val="472473"/>
                </a:solidFill>
                <a:latin typeface="Calibri"/>
              </a:rPr>
              <a:t>in total</a:t>
            </a:r>
          </a:p>
        </p:txBody>
      </p:sp>
      <p:sp>
        <p:nvSpPr>
          <p:cNvPr id="35" name="TextBox 34"/>
          <p:cNvSpPr txBox="1"/>
          <p:nvPr/>
        </p:nvSpPr>
        <p:spPr>
          <a:xfrm>
            <a:off x="5623560" y="4434840"/>
            <a:ext cx="5852160" cy="533400"/>
          </a:xfrm>
          <a:prstGeom prst="rect">
            <a:avLst/>
          </a:prstGeom>
          <a:noFill/>
        </p:spPr>
        <p:txBody>
          <a:bodyPr wrap="square" anchor="ctr">
            <a:spAutoFit/>
          </a:bodyPr>
          <a:lstStyle/>
          <a:p>
            <a:pPr algn="l"/>
            <a:r>
              <a:rPr sz="1250" b="0" i="0">
                <a:solidFill>
                  <a:srgbClr val="1E293B"/>
                </a:solidFill>
                <a:latin typeface="Calibri"/>
              </a:rPr>
              <a:t>总计 — amounting to 500 units in total</a:t>
            </a:r>
          </a:p>
        </p:txBody>
      </p:sp>
      <p:sp>
        <p:nvSpPr>
          <p:cNvPr id="36" name="Rectangle 35"/>
          <p:cNvSpPr/>
          <p:nvPr/>
        </p:nvSpPr>
        <p:spPr>
          <a:xfrm>
            <a:off x="548640" y="49682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9682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968240"/>
            <a:ext cx="4754880" cy="533400"/>
          </a:xfrm>
          <a:prstGeom prst="rect">
            <a:avLst/>
          </a:prstGeom>
          <a:noFill/>
        </p:spPr>
        <p:txBody>
          <a:bodyPr wrap="square" anchor="ctr">
            <a:spAutoFit/>
          </a:bodyPr>
          <a:lstStyle/>
          <a:p>
            <a:pPr algn="l"/>
            <a:r>
              <a:rPr sz="1250" b="1" i="0">
                <a:solidFill>
                  <a:srgbClr val="472473"/>
                </a:solidFill>
                <a:latin typeface="Calibri"/>
              </a:rPr>
              <a:t>by contrast</a:t>
            </a:r>
          </a:p>
        </p:txBody>
      </p:sp>
      <p:sp>
        <p:nvSpPr>
          <p:cNvPr id="39" name="TextBox 38"/>
          <p:cNvSpPr txBox="1"/>
          <p:nvPr/>
        </p:nvSpPr>
        <p:spPr>
          <a:xfrm>
            <a:off x="5623560" y="4968240"/>
            <a:ext cx="5852160" cy="533400"/>
          </a:xfrm>
          <a:prstGeom prst="rect">
            <a:avLst/>
          </a:prstGeom>
          <a:noFill/>
        </p:spPr>
        <p:txBody>
          <a:bodyPr wrap="square" anchor="ctr">
            <a:spAutoFit/>
          </a:bodyPr>
          <a:lstStyle/>
          <a:p>
            <a:pPr algn="l"/>
            <a:r>
              <a:rPr sz="1250" b="0" i="0">
                <a:solidFill>
                  <a:srgbClr val="1E293B"/>
                </a:solidFill>
                <a:latin typeface="Calibri"/>
              </a:rPr>
              <a:t>相比之下 — By contrast, France recorded lower figures</a:t>
            </a:r>
          </a:p>
        </p:txBody>
      </p:sp>
      <p:sp>
        <p:nvSpPr>
          <p:cNvPr id="40" name="Rectangle 39"/>
          <p:cNvSpPr/>
          <p:nvPr/>
        </p:nvSpPr>
        <p:spPr>
          <a:xfrm>
            <a:off x="548640" y="55016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55016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501640"/>
            <a:ext cx="4754880" cy="533400"/>
          </a:xfrm>
          <a:prstGeom prst="rect">
            <a:avLst/>
          </a:prstGeom>
          <a:noFill/>
        </p:spPr>
        <p:txBody>
          <a:bodyPr wrap="square" anchor="ctr">
            <a:spAutoFit/>
          </a:bodyPr>
          <a:lstStyle/>
          <a:p>
            <a:pPr algn="l"/>
            <a:r>
              <a:rPr sz="1250" b="1" i="0">
                <a:solidFill>
                  <a:srgbClr val="472473"/>
                </a:solidFill>
                <a:latin typeface="Calibri"/>
              </a:rPr>
              <a:t>while / whereas</a:t>
            </a:r>
          </a:p>
        </p:txBody>
      </p:sp>
      <p:sp>
        <p:nvSpPr>
          <p:cNvPr id="43" name="TextBox 42"/>
          <p:cNvSpPr txBox="1"/>
          <p:nvPr/>
        </p:nvSpPr>
        <p:spPr>
          <a:xfrm>
            <a:off x="5623560" y="5501640"/>
            <a:ext cx="5852160" cy="533400"/>
          </a:xfrm>
          <a:prstGeom prst="rect">
            <a:avLst/>
          </a:prstGeom>
          <a:noFill/>
        </p:spPr>
        <p:txBody>
          <a:bodyPr wrap="square" anchor="ctr">
            <a:spAutoFit/>
          </a:bodyPr>
          <a:lstStyle/>
          <a:p>
            <a:pPr algn="l"/>
            <a:r>
              <a:rPr sz="1250" b="0" i="0">
                <a:solidFill>
                  <a:srgbClr val="1E293B"/>
                </a:solidFill>
                <a:latin typeface="Calibri"/>
              </a:rPr>
              <a:t>而/然而 — while X increased, Y decreased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Task 1引言段：改写技巧对照</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原题目词汇</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shows → illustrates / depicts / presents / provides data on</a:t>
            </a:r>
          </a:p>
          <a:p>
            <a:pPr>
              <a:spcBef>
                <a:spcPts val="700"/>
              </a:spcBef>
            </a:pPr>
            <a:r>
              <a:rPr sz="1450">
                <a:solidFill>
                  <a:srgbClr val="1E293B"/>
                </a:solidFill>
              </a:rPr>
              <a:t>• graph → chart / figure / diagram</a:t>
            </a:r>
          </a:p>
          <a:p>
            <a:pPr>
              <a:spcBef>
                <a:spcPts val="700"/>
              </a:spcBef>
            </a:pPr>
            <a:r>
              <a:rPr sz="1450">
                <a:solidFill>
                  <a:srgbClr val="1E293B"/>
                </a:solidFill>
              </a:rPr>
              <a:t>• number → figure / quantity / amount / total</a:t>
            </a:r>
          </a:p>
          <a:p>
            <a:pPr>
              <a:spcBef>
                <a:spcPts val="700"/>
              </a:spcBef>
            </a:pPr>
            <a:r>
              <a:rPr sz="1450">
                <a:solidFill>
                  <a:srgbClr val="1E293B"/>
                </a:solidFill>
              </a:rPr>
              <a:t>• percentage → proportion / share / fraction</a:t>
            </a:r>
          </a:p>
          <a:p>
            <a:pPr>
              <a:spcBef>
                <a:spcPts val="700"/>
              </a:spcBef>
            </a:pPr>
            <a:r>
              <a:rPr sz="1450">
                <a:solidFill>
                  <a:srgbClr val="1E293B"/>
                </a:solidFill>
              </a:rPr>
              <a:t>• between [year] and [year] → over a [X]-year period / from...to</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改写后更学术的表达</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The bar chart illustrates...</a:t>
            </a:r>
          </a:p>
          <a:p>
            <a:pPr>
              <a:spcBef>
                <a:spcPts val="700"/>
              </a:spcBef>
            </a:pPr>
            <a:r>
              <a:rPr sz="1450">
                <a:solidFill>
                  <a:srgbClr val="1E293B"/>
                </a:solidFill>
              </a:rPr>
              <a:t>• The line graph depicts...</a:t>
            </a:r>
          </a:p>
          <a:p>
            <a:pPr>
              <a:spcBef>
                <a:spcPts val="700"/>
              </a:spcBef>
            </a:pPr>
            <a:r>
              <a:rPr sz="1450">
                <a:solidFill>
                  <a:srgbClr val="1E293B"/>
                </a:solidFill>
              </a:rPr>
              <a:t>• The pie chart presents data on...</a:t>
            </a:r>
          </a:p>
          <a:p>
            <a:pPr>
              <a:spcBef>
                <a:spcPts val="700"/>
              </a:spcBef>
            </a:pPr>
            <a:r>
              <a:rPr sz="1450">
                <a:solidFill>
                  <a:srgbClr val="1E293B"/>
                </a:solidFill>
              </a:rPr>
              <a:t>• The diagram provides information about...</a:t>
            </a:r>
          </a:p>
          <a:p>
            <a:pPr>
              <a:spcBef>
                <a:spcPts val="700"/>
              </a:spcBef>
            </a:pPr>
            <a:r>
              <a:rPr sz="1450">
                <a:solidFill>
                  <a:srgbClr val="1E293B"/>
                </a:solidFill>
              </a:rPr>
              <a:t>• The figure shows the distribution of...</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Task 1细节段：数据描述对照</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低分描述（流水账）</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In 2000, the figure was 100.</a:t>
            </a:r>
          </a:p>
          <a:p>
            <a:pPr>
              <a:spcBef>
                <a:spcPts val="700"/>
              </a:spcBef>
            </a:pPr>
            <a:r>
              <a:rPr sz="1450">
                <a:solidFill>
                  <a:srgbClr val="1E293B"/>
                </a:solidFill>
              </a:rPr>
              <a:t>• In 2005, the figure was 150.</a:t>
            </a:r>
          </a:p>
          <a:p>
            <a:pPr>
              <a:spcBef>
                <a:spcPts val="700"/>
              </a:spcBef>
            </a:pPr>
            <a:r>
              <a:rPr sz="1450">
                <a:solidFill>
                  <a:srgbClr val="1E293B"/>
                </a:solidFill>
              </a:rPr>
              <a:t>• In 2010, the figure was 200.</a:t>
            </a:r>
          </a:p>
          <a:p>
            <a:pPr>
              <a:spcBef>
                <a:spcPts val="700"/>
              </a:spcBef>
            </a:pPr>
            <a:r>
              <a:rPr sz="1450">
                <a:solidFill>
                  <a:srgbClr val="1E293B"/>
                </a:solidFill>
              </a:rPr>
              <a:t>• In 2015, the figure was 180.</a:t>
            </a:r>
          </a:p>
          <a:p>
            <a:pPr>
              <a:spcBef>
                <a:spcPts val="700"/>
              </a:spcBef>
            </a:pPr>
            <a:r>
              <a:rPr sz="1450">
                <a:solidFill>
                  <a:srgbClr val="1E293B"/>
                </a:solidFill>
              </a:rPr>
              <a:t>• In 2020, the figure was 220.</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高分描述（趋势+数据）</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The figures rose steadily from 100 in 2000 to 200 by 2010.</a:t>
            </a:r>
          </a:p>
          <a:p>
            <a:pPr>
              <a:spcBef>
                <a:spcPts val="700"/>
              </a:spcBef>
            </a:pPr>
            <a:r>
              <a:rPr sz="1450">
                <a:solidFill>
                  <a:srgbClr val="1E293B"/>
                </a:solidFill>
              </a:rPr>
              <a:t>• After a slight dip to 180 in 2015, they recovered to 220 by 2020.</a:t>
            </a:r>
          </a:p>
          <a:p>
            <a:pPr>
              <a:spcBef>
                <a:spcPts val="700"/>
              </a:spcBef>
            </a:pPr>
            <a:r>
              <a:rPr sz="1450">
                <a:solidFill>
                  <a:srgbClr val="1E293B"/>
                </a:solidFill>
              </a:rPr>
              <a:t>• → 合并相似趋势，指出转折点</a:t>
            </a:r>
          </a:p>
          <a:p>
            <a:pPr>
              <a:spcBef>
                <a:spcPts val="700"/>
              </a:spcBef>
            </a:pPr>
            <a:r>
              <a:rPr sz="1450">
                <a:solidFill>
                  <a:srgbClr val="1E293B"/>
                </a:solidFill>
              </a:rPr>
              <a:t>• → 使用趋势动词而非只列数字</a:t>
            </a:r>
          </a:p>
          <a:p>
            <a:pPr>
              <a:spcBef>
                <a:spcPts val="700"/>
              </a:spcBef>
            </a:pPr>
            <a:r>
              <a:rPr sz="1450">
                <a:solidFill>
                  <a:srgbClr val="1E293B"/>
                </a:solidFill>
              </a:rPr>
              <a:t>• → 覆盖关键节点即可，不需每年都写</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Task 1 vs Task 2写作规范对比</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Task 1（图表描述）</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客观描述——绝不写个人观点</a:t>
            </a:r>
          </a:p>
          <a:p>
            <a:pPr>
              <a:spcBef>
                <a:spcPts val="700"/>
              </a:spcBef>
            </a:pPr>
            <a:r>
              <a:rPr sz="1450">
                <a:solidFill>
                  <a:srgbClr val="1E293B"/>
                </a:solidFill>
              </a:rPr>
              <a:t>• 必须有Overview概述段</a:t>
            </a:r>
          </a:p>
          <a:p>
            <a:pPr>
              <a:spcBef>
                <a:spcPts val="700"/>
              </a:spcBef>
            </a:pPr>
            <a:r>
              <a:rPr sz="1450">
                <a:solidFill>
                  <a:srgbClr val="1E293B"/>
                </a:solidFill>
              </a:rPr>
              <a:t>• 用图表中的数据支撑描述</a:t>
            </a:r>
          </a:p>
          <a:p>
            <a:pPr>
              <a:spcBef>
                <a:spcPts val="700"/>
              </a:spcBef>
            </a:pPr>
            <a:r>
              <a:rPr sz="1450">
                <a:solidFill>
                  <a:srgbClr val="1E293B"/>
                </a:solidFill>
              </a:rPr>
              <a:t>• 引言必须改写题目（同义替换）</a:t>
            </a:r>
          </a:p>
          <a:p>
            <a:pPr>
              <a:spcBef>
                <a:spcPts val="700"/>
              </a:spcBef>
            </a:pPr>
            <a:r>
              <a:rPr sz="1450">
                <a:solidFill>
                  <a:srgbClr val="1E293B"/>
                </a:solidFill>
              </a:rPr>
              <a:t>• 150词以上，建议160-180词</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Task 2（议论文）</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必须表明个人立场和观点</a:t>
            </a:r>
          </a:p>
          <a:p>
            <a:pPr>
              <a:spcBef>
                <a:spcPts val="700"/>
              </a:spcBef>
            </a:pPr>
            <a:r>
              <a:rPr sz="1450">
                <a:solidFill>
                  <a:srgbClr val="1E293B"/>
                </a:solidFill>
              </a:rPr>
              <a:t>• 必须有清晰的引言和结论</a:t>
            </a:r>
          </a:p>
          <a:p>
            <a:pPr>
              <a:spcBef>
                <a:spcPts val="700"/>
              </a:spcBef>
            </a:pPr>
            <a:r>
              <a:rPr sz="1450">
                <a:solidFill>
                  <a:srgbClr val="1E293B"/>
                </a:solidFill>
              </a:rPr>
              <a:t>• 用例子和理由支撑论点</a:t>
            </a:r>
          </a:p>
          <a:p>
            <a:pPr>
              <a:spcBef>
                <a:spcPts val="700"/>
              </a:spcBef>
            </a:pPr>
            <a:r>
              <a:rPr sz="1450">
                <a:solidFill>
                  <a:srgbClr val="1E293B"/>
                </a:solidFill>
              </a:rPr>
              <a:t>• 引言需要背景+立场</a:t>
            </a:r>
          </a:p>
          <a:p>
            <a:pPr>
              <a:spcBef>
                <a:spcPts val="700"/>
              </a:spcBef>
            </a:pPr>
            <a:r>
              <a:rPr sz="1450">
                <a:solidFill>
                  <a:srgbClr val="1E293B"/>
                </a:solidFill>
              </a:rPr>
              <a:t>• 250词以上，建议260-280词</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深圳学生Task 1提分实例</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提分前（Band 5.5）</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问题1：没有Overview段——TA最大失分</a:t>
            </a:r>
          </a:p>
          <a:p>
            <a:pPr>
              <a:spcBef>
                <a:spcPts val="700"/>
              </a:spcBef>
            </a:pPr>
            <a:r>
              <a:rPr sz="1450">
                <a:solidFill>
                  <a:srgbClr val="1E293B"/>
                </a:solidFill>
              </a:rPr>
              <a:t>• 问题2：直接抄题目作引言——LR失分</a:t>
            </a:r>
          </a:p>
          <a:p>
            <a:pPr>
              <a:spcBef>
                <a:spcPts val="700"/>
              </a:spcBef>
            </a:pPr>
            <a:r>
              <a:rPr sz="1450">
                <a:solidFill>
                  <a:srgbClr val="1E293B"/>
                </a:solidFill>
              </a:rPr>
              <a:t>• 问题3：所有数据都写——没有选择关键特征</a:t>
            </a:r>
          </a:p>
          <a:p>
            <a:pPr>
              <a:spcBef>
                <a:spcPts val="700"/>
              </a:spcBef>
            </a:pPr>
            <a:r>
              <a:rPr sz="1450">
                <a:solidFill>
                  <a:srgbClr val="1E293B"/>
                </a:solidFill>
              </a:rPr>
              <a:t>• 问题4：只有一个词描述上升（increase）</a:t>
            </a:r>
          </a:p>
          <a:p>
            <a:pPr>
              <a:spcBef>
                <a:spcPts val="700"/>
              </a:spcBef>
            </a:pPr>
            <a:r>
              <a:rPr sz="1450">
                <a:solidFill>
                  <a:srgbClr val="1E293B"/>
                </a:solidFill>
              </a:rPr>
              <a:t>• 结果：Task 1 Band 5.5</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提分后（Band 7）</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改进1：每篇必写Overall概述段</a:t>
            </a:r>
          </a:p>
          <a:p>
            <a:pPr>
              <a:spcBef>
                <a:spcPts val="700"/>
              </a:spcBef>
            </a:pPr>
            <a:r>
              <a:rPr sz="1450">
                <a:solidFill>
                  <a:srgbClr val="1E293B"/>
                </a:solidFill>
              </a:rPr>
              <a:t>• 改进2：引言用同义词改写题目</a:t>
            </a:r>
          </a:p>
          <a:p>
            <a:pPr>
              <a:spcBef>
                <a:spcPts val="700"/>
              </a:spcBef>
            </a:pPr>
            <a:r>
              <a:rPr sz="1450">
                <a:solidFill>
                  <a:srgbClr val="1E293B"/>
                </a:solidFill>
              </a:rPr>
              <a:t>• 改进3：只描述关键数据和趋势</a:t>
            </a:r>
          </a:p>
          <a:p>
            <a:pPr>
              <a:spcBef>
                <a:spcPts val="700"/>
              </a:spcBef>
            </a:pPr>
            <a:r>
              <a:rPr sz="1450">
                <a:solidFill>
                  <a:srgbClr val="1E293B"/>
                </a:solidFill>
              </a:rPr>
              <a:t>• 改进4：积累surge/plummet/level off等词</a:t>
            </a:r>
          </a:p>
          <a:p>
            <a:pPr>
              <a:spcBef>
                <a:spcPts val="700"/>
              </a:spcBef>
            </a:pPr>
            <a:r>
              <a:rPr sz="1450">
                <a:solidFill>
                  <a:srgbClr val="1E293B"/>
                </a:solidFill>
              </a:rPr>
              <a:t>• 结果：Task 1 Band 7（6周提升）</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L02学完自测：Task 1图表描述</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掌握折线图上升/下降/平稳/波动的核心词汇和程度副词</a:t>
            </a:r>
          </a:p>
          <a:p>
            <a:pPr>
              <a:spcBef>
                <a:spcPts val="1200"/>
              </a:spcBef>
            </a:pPr>
            <a:r>
              <a:rPr sz="1600">
                <a:solidFill>
                  <a:srgbClr val="1E293B"/>
                </a:solidFill>
              </a:rPr>
              <a:t>☐ 能写出有效的Overview概述段（Overall开头，不含具体数字）</a:t>
            </a:r>
          </a:p>
          <a:p>
            <a:pPr>
              <a:spcBef>
                <a:spcPts val="1200"/>
              </a:spcBef>
            </a:pPr>
            <a:r>
              <a:rPr sz="1600">
                <a:solidFill>
                  <a:srgbClr val="1E293B"/>
                </a:solidFill>
              </a:rPr>
              <a:t>☐ 能用同义词改写Task 1题目引言（不直接抄题目）</a:t>
            </a:r>
          </a:p>
          <a:p>
            <a:pPr>
              <a:spcBef>
                <a:spcPts val="1200"/>
              </a:spcBef>
            </a:pPr>
            <a:r>
              <a:rPr sz="1600">
                <a:solidFill>
                  <a:srgbClr val="1E293B"/>
                </a:solidFill>
              </a:rPr>
              <a:t>☐ 掌握柱状图比较表达（最高/最低/倍数/差距）</a:t>
            </a:r>
          </a:p>
          <a:p>
            <a:pPr>
              <a:spcBef>
                <a:spcPts val="1200"/>
              </a:spcBef>
            </a:pPr>
            <a:r>
              <a:rPr sz="1600">
                <a:solidFill>
                  <a:srgbClr val="1E293B"/>
                </a:solidFill>
              </a:rPr>
              <a:t>☐ 掌握饼图比例表达（account for/make up/constitute）</a:t>
            </a:r>
          </a:p>
          <a:p>
            <a:pPr>
              <a:spcBef>
                <a:spcPts val="1200"/>
              </a:spcBef>
            </a:pPr>
            <a:r>
              <a:rPr sz="1600">
                <a:solidFill>
                  <a:srgbClr val="1E293B"/>
                </a:solidFill>
              </a:rPr>
              <a:t>☐ 能在20分钟内完成一篇结构完整的Task 1（150词以上）</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L02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F2A01D"/>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Task 1图表描述：引言（改写题目）+ Overview（不含数字）+ 细节段（关键数据）</a:t>
            </a:r>
          </a:p>
          <a:p>
            <a:pPr>
              <a:spcBef>
                <a:spcPts val="1100"/>
              </a:spcBef>
            </a:pPr>
            <a:r>
              <a:rPr sz="1550">
                <a:solidFill>
                  <a:srgbClr val="FFFFFF"/>
                </a:solidFill>
              </a:rPr>
              <a:t>✓  折线图：趋势动词（rise/fall/surge/plummet）+ 程度副词（dramatically/gradually）</a:t>
            </a:r>
          </a:p>
          <a:p>
            <a:pPr>
              <a:spcBef>
                <a:spcPts val="1100"/>
              </a:spcBef>
            </a:pPr>
            <a:r>
              <a:rPr sz="1550">
                <a:solidFill>
                  <a:srgbClr val="FFFFFF"/>
                </a:solidFill>
              </a:rPr>
              <a:t>✓  柱状图：比较表达（highest/followed by/twice as much/a gap of）</a:t>
            </a:r>
          </a:p>
          <a:p>
            <a:pPr>
              <a:spcBef>
                <a:spcPts val="1100"/>
              </a:spcBef>
            </a:pPr>
            <a:r>
              <a:rPr sz="1550">
                <a:solidFill>
                  <a:srgbClr val="FFFFFF"/>
                </a:solidFill>
              </a:rPr>
              <a:t>✓  饼图：比例表达（account for/make up/dominate/a minor fraction）</a:t>
            </a:r>
          </a:p>
          <a:p>
            <a:pPr>
              <a:spcBef>
                <a:spcPts val="1100"/>
              </a:spcBef>
            </a:pPr>
            <a:r>
              <a:rPr sz="1550">
                <a:solidFill>
                  <a:srgbClr val="FFFFFF"/>
                </a:solidFill>
              </a:rPr>
              <a:t>✓  Overview必写：Overall开头，最主要趋势，不含具体数字——没有Overview最高Band 5</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L02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F2A01D"/>
                </a:solidFill>
                <a:latin typeface="Calibri"/>
              </a:rPr>
              <a:t>⏱ 建议用时：约90分钟</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找一张折线图，按照四段结构写完整Task 1报告（≥150词，计时20分钟）</a:t>
            </a:r>
          </a:p>
          <a:p>
            <a:pPr>
              <a:spcBef>
                <a:spcPts val="1300"/>
              </a:spcBef>
            </a:pPr>
            <a:r>
              <a:rPr sz="1550" b="1">
                <a:solidFill>
                  <a:srgbClr val="1E293B"/>
                </a:solidFill>
              </a:rPr>
              <a:t>作业 2　找一张柱状图，只写Overview段（40-60词，不含具体数字）</a:t>
            </a:r>
          </a:p>
          <a:p>
            <a:pPr>
              <a:spcBef>
                <a:spcPts val="1300"/>
              </a:spcBef>
            </a:pPr>
            <a:r>
              <a:rPr sz="1550" b="1">
                <a:solidFill>
                  <a:srgbClr val="1E293B"/>
                </a:solidFill>
              </a:rPr>
              <a:t>作业 3　积累Task 1词汇：每类图表各5个核心词汇+搭配例句</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058400" cy="548640"/>
          </a:xfrm>
          <a:prstGeom prst="rect">
            <a:avLst/>
          </a:prstGeom>
          <a:noFill/>
        </p:spPr>
        <p:txBody>
          <a:bodyPr wrap="square" anchor="t">
            <a:spAutoFit/>
          </a:bodyPr>
          <a:lstStyle/>
          <a:p>
            <a:pPr algn="l"/>
            <a:r>
              <a:rPr sz="1800" b="1" i="0">
                <a:solidFill>
                  <a:srgbClr val="F2A01D"/>
                </a:solidFill>
                <a:latin typeface="Calibri"/>
              </a:rPr>
              <a:t>下节预告  Next Lesson</a:t>
            </a:r>
          </a:p>
        </p:txBody>
      </p:sp>
      <p:sp>
        <p:nvSpPr>
          <p:cNvPr id="4" name="TextBox 3"/>
          <p:cNvSpPr txBox="1"/>
          <p:nvPr/>
        </p:nvSpPr>
        <p:spPr>
          <a:xfrm>
            <a:off x="914400" y="1920240"/>
            <a:ext cx="10332720" cy="914400"/>
          </a:xfrm>
          <a:prstGeom prst="rect">
            <a:avLst/>
          </a:prstGeom>
          <a:noFill/>
        </p:spPr>
        <p:txBody>
          <a:bodyPr wrap="square" anchor="t">
            <a:spAutoFit/>
          </a:bodyPr>
          <a:lstStyle/>
          <a:p>
            <a:pPr algn="l"/>
            <a:r>
              <a:rPr sz="3000" b="1" i="0">
                <a:solidFill>
                  <a:srgbClr val="FFFFFF"/>
                </a:solidFill>
                <a:latin typeface="Calibri"/>
              </a:rPr>
              <a:t>L03 · Task 1 流程图/地图/表格</a:t>
            </a:r>
          </a:p>
        </p:txBody>
      </p:sp>
      <p:sp>
        <p:nvSpPr>
          <p:cNvPr id="5" name="TextBox 4"/>
          <p:cNvSpPr txBox="1"/>
          <p:nvPr/>
        </p:nvSpPr>
        <p:spPr>
          <a:xfrm>
            <a:off x="914400" y="3200400"/>
            <a:ext cx="10332720" cy="2743200"/>
          </a:xfrm>
          <a:prstGeom prst="rect">
            <a:avLst/>
          </a:prstGeom>
          <a:noFill/>
        </p:spPr>
        <p:txBody>
          <a:bodyPr wrap="square">
            <a:spAutoFit/>
          </a:bodyPr>
          <a:lstStyle/>
          <a:p>
            <a:r>
              <a:rPr sz="1600">
                <a:solidFill>
                  <a:srgbClr val="CFDCF2"/>
                </a:solidFill>
              </a:rPr>
              <a:t>→ 流程图步骤描述方法</a:t>
            </a:r>
          </a:p>
          <a:p>
            <a:pPr>
              <a:spcBef>
                <a:spcPts val="1000"/>
              </a:spcBef>
            </a:pPr>
            <a:r>
              <a:rPr sz="1600">
                <a:solidFill>
                  <a:srgbClr val="CFDCF2"/>
                </a:solidFill>
              </a:rPr>
              <a:t>→ 地图变化描述策略</a:t>
            </a:r>
          </a:p>
          <a:p>
            <a:pPr>
              <a:spcBef>
                <a:spcPts val="1000"/>
              </a:spcBef>
            </a:pPr>
            <a:r>
              <a:rPr sz="1600">
                <a:solidFill>
                  <a:srgbClr val="CFDCF2"/>
                </a:solidFill>
              </a:rPr>
              <a:t>→ 表格数据选择技巧</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