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L08</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词汇与语法精进</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Vocabulary &amp; Grammar Enhancement</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8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学术词汇替换策略</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Task 2 复杂句型精讲</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常用搭配（Collocation）积累</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语法正确性与常见错误</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综合练习：词汇与语法整合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学术词汇替换策略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Academic Vocabulary Substitution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为什么要替换普通词汇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考官特别看重LR（词汇丰富度）维度，重复使用相同词汇会显著拉低分数。Band 7要求使用"less common vocabulary with some awareness of style and collocation"（不常见词汇并有文体和搭配意识）。</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替</a:t>
            </a:r>
          </a:p>
          <a:p>
            <a:pPr>
              <a:spcBef>
                <a:spcPts val="900"/>
              </a:spcBef>
            </a:pPr>
            <a:r>
              <a:rPr sz="1600">
                <a:solidFill>
                  <a:srgbClr val="1E293B"/>
                </a:solidFill>
              </a:rPr>
              <a:t>• 换</a:t>
            </a:r>
          </a:p>
          <a:p>
            <a:pPr>
              <a:spcBef>
                <a:spcPts val="900"/>
              </a:spcBef>
            </a:pPr>
            <a:r>
              <a:rPr sz="1600">
                <a:solidFill>
                  <a:srgbClr val="1E293B"/>
                </a:solidFill>
              </a:rPr>
              <a:t>• 策</a:t>
            </a:r>
          </a:p>
          <a:p>
            <a:pPr>
              <a:spcBef>
                <a:spcPts val="900"/>
              </a:spcBef>
            </a:pPr>
            <a:r>
              <a:rPr sz="1600">
                <a:solidFill>
                  <a:srgbClr val="1E293B"/>
                </a:solidFill>
              </a:rPr>
              <a:t>• 略</a:t>
            </a:r>
          </a:p>
          <a:p>
            <a:pPr>
              <a:spcBef>
                <a:spcPts val="900"/>
              </a:spcBef>
            </a:pPr>
            <a:r>
              <a:rPr sz="1600">
                <a:solidFill>
                  <a:srgbClr val="1E293B"/>
                </a:solidFill>
              </a:rPr>
              <a:t>• 核</a:t>
            </a:r>
          </a:p>
          <a:p>
            <a:pPr>
              <a:spcBef>
                <a:spcPts val="900"/>
              </a:spcBef>
            </a:pPr>
            <a:r>
              <a:rPr sz="1600">
                <a:solidFill>
                  <a:srgbClr val="1E293B"/>
                </a:solidFill>
              </a:rPr>
              <a:t>• 心</a:t>
            </a:r>
          </a:p>
          <a:p>
            <a:pPr>
              <a:spcBef>
                <a:spcPts val="900"/>
              </a:spcBef>
            </a:pPr>
            <a:r>
              <a:rPr sz="1600">
                <a:solidFill>
                  <a:srgbClr val="1E293B"/>
                </a:solidFill>
              </a:rPr>
              <a:t>• ：</a:t>
            </a:r>
          </a:p>
          <a:p>
            <a:pPr>
              <a:spcBef>
                <a:spcPts val="900"/>
              </a:spcBef>
            </a:pPr>
            <a:r>
              <a:rPr sz="1600">
                <a:solidFill>
                  <a:srgbClr val="1E293B"/>
                </a:solidFill>
              </a:rPr>
              <a:t>• 同</a:t>
            </a:r>
          </a:p>
          <a:p>
            <a:pPr>
              <a:spcBef>
                <a:spcPts val="900"/>
              </a:spcBef>
            </a:pPr>
            <a:r>
              <a:rPr sz="1600">
                <a:solidFill>
                  <a:srgbClr val="1E293B"/>
                </a:solidFill>
              </a:rPr>
              <a:t>• 义</a:t>
            </a:r>
          </a:p>
          <a:p>
            <a:pPr>
              <a:spcBef>
                <a:spcPts val="900"/>
              </a:spcBef>
            </a:pPr>
            <a:r>
              <a:rPr sz="1600">
                <a:solidFill>
                  <a:srgbClr val="1E293B"/>
                </a:solidFill>
              </a:rPr>
              <a:t>• 替</a:t>
            </a:r>
          </a:p>
          <a:p>
            <a:pPr>
              <a:spcBef>
                <a:spcPts val="900"/>
              </a:spcBef>
            </a:pPr>
            <a:r>
              <a:rPr sz="1600">
                <a:solidFill>
                  <a:srgbClr val="1E293B"/>
                </a:solidFill>
              </a:rPr>
              <a:t>• 换</a:t>
            </a:r>
          </a:p>
          <a:p>
            <a:pPr>
              <a:spcBef>
                <a:spcPts val="900"/>
              </a:spcBef>
            </a:pPr>
            <a:r>
              <a:rPr sz="1600">
                <a:solidFill>
                  <a:srgbClr val="1E293B"/>
                </a:solidFill>
              </a:rPr>
              <a:t>• +</a:t>
            </a:r>
          </a:p>
          <a:p>
            <a:pPr>
              <a:spcBef>
                <a:spcPts val="900"/>
              </a:spcBef>
            </a:pPr>
            <a:r>
              <a:rPr sz="1600">
                <a:solidFill>
                  <a:srgbClr val="1E293B"/>
                </a:solidFill>
              </a:rPr>
              <a:t>• 升</a:t>
            </a:r>
          </a:p>
          <a:p>
            <a:pPr>
              <a:spcBef>
                <a:spcPts val="900"/>
              </a:spcBef>
            </a:pPr>
            <a:r>
              <a:rPr sz="1600">
                <a:solidFill>
                  <a:srgbClr val="1E293B"/>
                </a:solidFill>
              </a:rPr>
              <a:t>• 级</a:t>
            </a:r>
          </a:p>
          <a:p>
            <a:pPr>
              <a:spcBef>
                <a:spcPts val="900"/>
              </a:spcBef>
            </a:pPr>
            <a:r>
              <a:rPr sz="1600">
                <a:solidFill>
                  <a:srgbClr val="1E293B"/>
                </a:solidFill>
              </a:rPr>
              <a:t>• 替</a:t>
            </a:r>
          </a:p>
          <a:p>
            <a:pPr>
              <a:spcBef>
                <a:spcPts val="900"/>
              </a:spcBef>
            </a:pPr>
            <a:r>
              <a:rPr sz="1600">
                <a:solidFill>
                  <a:srgbClr val="1E293B"/>
                </a:solidFill>
              </a:rPr>
              <a:t>• 换</a:t>
            </a:r>
          </a:p>
          <a:p>
            <a:pPr>
              <a:spcBef>
                <a:spcPts val="900"/>
              </a:spcBef>
            </a:pPr>
            <a:r>
              <a:rPr sz="1600">
                <a:solidFill>
                  <a:srgbClr val="1E293B"/>
                </a:solidFill>
              </a:rPr>
              <a:t>• +</a:t>
            </a:r>
          </a:p>
          <a:p>
            <a:pPr>
              <a:spcBef>
                <a:spcPts val="900"/>
              </a:spcBef>
            </a:pPr>
            <a:r>
              <a:rPr sz="1600">
                <a:solidFill>
                  <a:srgbClr val="1E293B"/>
                </a:solidFill>
              </a:rPr>
              <a:t>• 多</a:t>
            </a:r>
          </a:p>
          <a:p>
            <a:pPr>
              <a:spcBef>
                <a:spcPts val="900"/>
              </a:spcBef>
            </a:pPr>
            <a:r>
              <a:rPr sz="1600">
                <a:solidFill>
                  <a:srgbClr val="1E293B"/>
                </a:solidFill>
              </a:rPr>
              <a:t>• 样</a:t>
            </a:r>
          </a:p>
          <a:p>
            <a:pPr>
              <a:spcBef>
                <a:spcPts val="900"/>
              </a:spcBef>
            </a:pPr>
            <a:r>
              <a:rPr sz="1600">
                <a:solidFill>
                  <a:srgbClr val="1E293B"/>
                </a:solidFill>
              </a:rPr>
              <a:t>• 化</a:t>
            </a:r>
          </a:p>
          <a:p>
            <a:pPr>
              <a:spcBef>
                <a:spcPts val="900"/>
              </a:spcBef>
            </a:pPr>
            <a:r>
              <a:rPr sz="1600">
                <a:solidFill>
                  <a:srgbClr val="1E293B"/>
                </a:solidFill>
              </a:rPr>
              <a:t>• 句</a:t>
            </a:r>
          </a:p>
          <a:p>
            <a:pPr>
              <a:spcBef>
                <a:spcPts val="900"/>
              </a:spcBef>
            </a:pPr>
            <a:r>
              <a:rPr sz="1600">
                <a:solidFill>
                  <a:srgbClr val="1E293B"/>
                </a:solidFill>
              </a:rPr>
              <a:t>• 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替换三原则：准确、地道、多样</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原则1·准确：替换词含义要和原词匹配，勿因追求高级而用错（e.g. "big"→"enormous"有程度差异）
原则2·地道：使用词汇的正确搭配，如"make a contribution"而非"do a contribution"
原则3·多样：同一文章中同一概念最多出现同一词2次，之后必须换词</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判</a:t>
            </a:r>
          </a:p>
          <a:p>
            <a:pPr>
              <a:spcBef>
                <a:spcPts val="900"/>
              </a:spcBef>
            </a:pPr>
            <a:r>
              <a:rPr sz="1600">
                <a:solidFill>
                  <a:srgbClr val="1E293B"/>
                </a:solidFill>
              </a:rPr>
              <a:t>• 断</a:t>
            </a:r>
          </a:p>
          <a:p>
            <a:pPr>
              <a:spcBef>
                <a:spcPts val="900"/>
              </a:spcBef>
            </a:pPr>
            <a:r>
              <a:rPr sz="1600">
                <a:solidFill>
                  <a:srgbClr val="1E293B"/>
                </a:solidFill>
              </a:rPr>
              <a:t>• 标</a:t>
            </a:r>
          </a:p>
          <a:p>
            <a:pPr>
              <a:spcBef>
                <a:spcPts val="900"/>
              </a:spcBef>
            </a:pPr>
            <a:r>
              <a:rPr sz="1600">
                <a:solidFill>
                  <a:srgbClr val="1E293B"/>
                </a:solidFill>
              </a:rPr>
              <a:t>• 准</a:t>
            </a:r>
          </a:p>
          <a:p>
            <a:pPr>
              <a:spcBef>
                <a:spcPts val="900"/>
              </a:spcBef>
            </a:pPr>
            <a:r>
              <a:rPr sz="1600">
                <a:solidFill>
                  <a:srgbClr val="1E293B"/>
                </a:solidFill>
              </a:rPr>
              <a:t>• ：</a:t>
            </a:r>
          </a:p>
          <a:p>
            <a:pPr>
              <a:spcBef>
                <a:spcPts val="900"/>
              </a:spcBef>
            </a:pPr>
            <a:r>
              <a:rPr sz="1600">
                <a:solidFill>
                  <a:srgbClr val="1E293B"/>
                </a:solidFill>
              </a:rPr>
              <a:t>• 如</a:t>
            </a:r>
          </a:p>
          <a:p>
            <a:pPr>
              <a:spcBef>
                <a:spcPts val="900"/>
              </a:spcBef>
            </a:pPr>
            <a:r>
              <a:rPr sz="1600">
                <a:solidFill>
                  <a:srgbClr val="1E293B"/>
                </a:solidFill>
              </a:rPr>
              <a:t>• 果</a:t>
            </a:r>
          </a:p>
          <a:p>
            <a:pPr>
              <a:spcBef>
                <a:spcPts val="900"/>
              </a:spcBef>
            </a:pPr>
            <a:r>
              <a:rPr sz="1600">
                <a:solidFill>
                  <a:srgbClr val="1E293B"/>
                </a:solidFill>
              </a:rPr>
              <a:t>• 中</a:t>
            </a:r>
          </a:p>
          <a:p>
            <a:pPr>
              <a:spcBef>
                <a:spcPts val="900"/>
              </a:spcBef>
            </a:pPr>
            <a:r>
              <a:rPr sz="1600">
                <a:solidFill>
                  <a:srgbClr val="1E293B"/>
                </a:solidFill>
              </a:rPr>
              <a:t>• 国</a:t>
            </a:r>
          </a:p>
          <a:p>
            <a:pPr>
              <a:spcBef>
                <a:spcPts val="900"/>
              </a:spcBef>
            </a:pPr>
            <a:r>
              <a:rPr sz="1600">
                <a:solidFill>
                  <a:srgbClr val="1E293B"/>
                </a:solidFill>
              </a:rPr>
              <a:t>• 学</a:t>
            </a:r>
          </a:p>
          <a:p>
            <a:pPr>
              <a:spcBef>
                <a:spcPts val="900"/>
              </a:spcBef>
            </a:pPr>
            <a:r>
              <a:rPr sz="1600">
                <a:solidFill>
                  <a:srgbClr val="1E293B"/>
                </a:solidFill>
              </a:rPr>
              <a:t>• 生</a:t>
            </a:r>
          </a:p>
          <a:p>
            <a:pPr>
              <a:spcBef>
                <a:spcPts val="900"/>
              </a:spcBef>
            </a:pPr>
            <a:r>
              <a:rPr sz="1600">
                <a:solidFill>
                  <a:srgbClr val="1E293B"/>
                </a:solidFill>
              </a:rPr>
              <a:t>• 普</a:t>
            </a:r>
          </a:p>
          <a:p>
            <a:pPr>
              <a:spcBef>
                <a:spcPts val="900"/>
              </a:spcBef>
            </a:pPr>
            <a:r>
              <a:rPr sz="1600">
                <a:solidFill>
                  <a:srgbClr val="1E293B"/>
                </a:solidFill>
              </a:rPr>
              <a:t>• 遍</a:t>
            </a:r>
          </a:p>
          <a:p>
            <a:pPr>
              <a:spcBef>
                <a:spcPts val="900"/>
              </a:spcBef>
            </a:pPr>
            <a:r>
              <a:rPr sz="1600">
                <a:solidFill>
                  <a:srgbClr val="1E293B"/>
                </a:solidFill>
              </a:rPr>
              <a:t>• 使</a:t>
            </a:r>
          </a:p>
          <a:p>
            <a:pPr>
              <a:spcBef>
                <a:spcPts val="900"/>
              </a:spcBef>
            </a:pPr>
            <a:r>
              <a:rPr sz="1600">
                <a:solidFill>
                  <a:srgbClr val="1E293B"/>
                </a:solidFill>
              </a:rPr>
              <a:t>• 用</a:t>
            </a:r>
          </a:p>
          <a:p>
            <a:pPr>
              <a:spcBef>
                <a:spcPts val="900"/>
              </a:spcBef>
            </a:pPr>
            <a:r>
              <a:rPr sz="1600">
                <a:solidFill>
                  <a:srgbClr val="1E293B"/>
                </a:solidFill>
              </a:rPr>
              <a:t>• 这</a:t>
            </a:r>
          </a:p>
          <a:p>
            <a:pPr>
              <a:spcBef>
                <a:spcPts val="900"/>
              </a:spcBef>
            </a:pPr>
            <a:r>
              <a:rPr sz="1600">
                <a:solidFill>
                  <a:srgbClr val="1E293B"/>
                </a:solidFill>
              </a:rPr>
              <a:t>• 个</a:t>
            </a:r>
          </a:p>
          <a:p>
            <a:pPr>
              <a:spcBef>
                <a:spcPts val="900"/>
              </a:spcBef>
            </a:pPr>
            <a:r>
              <a:rPr sz="1600">
                <a:solidFill>
                  <a:srgbClr val="1E293B"/>
                </a:solidFill>
              </a:rPr>
              <a:t>• 词</a:t>
            </a:r>
          </a:p>
          <a:p>
            <a:pPr>
              <a:spcBef>
                <a:spcPts val="900"/>
              </a:spcBef>
            </a:pPr>
            <a:r>
              <a:rPr sz="1600">
                <a:solidFill>
                  <a:srgbClr val="1E293B"/>
                </a:solidFill>
              </a:rPr>
              <a:t>• ，</a:t>
            </a:r>
          </a:p>
          <a:p>
            <a:pPr>
              <a:spcBef>
                <a:spcPts val="900"/>
              </a:spcBef>
            </a:pPr>
            <a:r>
              <a:rPr sz="1600">
                <a:solidFill>
                  <a:srgbClr val="1E293B"/>
                </a:solidFill>
              </a:rPr>
              <a:t>• 就</a:t>
            </a:r>
          </a:p>
          <a:p>
            <a:pPr>
              <a:spcBef>
                <a:spcPts val="900"/>
              </a:spcBef>
            </a:pPr>
            <a:r>
              <a:rPr sz="1600">
                <a:solidFill>
                  <a:srgbClr val="1E293B"/>
                </a:solidFill>
              </a:rPr>
              <a:t>• 换</a:t>
            </a:r>
          </a:p>
          <a:p>
            <a:pPr>
              <a:spcBef>
                <a:spcPts val="900"/>
              </a:spcBef>
            </a:pPr>
            <a:r>
              <a:rPr sz="1600">
                <a:solidFill>
                  <a:srgbClr val="1E293B"/>
                </a:solidFill>
              </a:rPr>
              <a:t>• 掉</a:t>
            </a:r>
          </a:p>
          <a:p>
            <a:pPr>
              <a:spcBef>
                <a:spcPts val="900"/>
              </a:spcBef>
            </a:pPr>
            <a:r>
              <a:rPr sz="1600">
                <a:solidFill>
                  <a:srgbClr val="1E293B"/>
                </a:solidFill>
              </a:rPr>
              <a:t>• 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形容词替换：从普通到学术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important → crucial/vital/significant/pivotal/paramount</a:t>
            </a:r>
          </a:p>
          <a:p>
            <a:pPr>
              <a:spcBef>
                <a:spcPts val="1000"/>
              </a:spcBef>
            </a:pPr>
            <a:r>
              <a:rPr sz="1650">
                <a:solidFill>
                  <a:srgbClr val="1E293B"/>
                </a:solidFill>
              </a:rPr>
              <a:t>• big → substantial/considerable/significant/enormous/extensive</a:t>
            </a:r>
          </a:p>
          <a:p>
            <a:pPr>
              <a:spcBef>
                <a:spcPts val="1000"/>
              </a:spcBef>
            </a:pPr>
            <a:r>
              <a:rPr sz="1650">
                <a:solidFill>
                  <a:srgbClr val="1E293B"/>
                </a:solidFill>
              </a:rPr>
              <a:t>• bad → detrimental/harmful/adverse/negative/unfavorable</a:t>
            </a:r>
          </a:p>
          <a:p>
            <a:pPr>
              <a:spcBef>
                <a:spcPts val="1000"/>
              </a:spcBef>
            </a:pPr>
            <a:r>
              <a:rPr sz="1650">
                <a:solidFill>
                  <a:srgbClr val="1E293B"/>
                </a:solidFill>
              </a:rPr>
              <a:t>• good → beneficial/advantageous/favorable/positive/constructive</a:t>
            </a:r>
          </a:p>
          <a:p>
            <a:pPr>
              <a:spcBef>
                <a:spcPts val="1000"/>
              </a:spcBef>
            </a:pPr>
            <a:r>
              <a:rPr sz="1650">
                <a:solidFill>
                  <a:srgbClr val="1E293B"/>
                </a:solidFill>
              </a:rPr>
              <a:t>• many → numerous/a multitude of/a wide range of/countless</a:t>
            </a:r>
          </a:p>
          <a:p>
            <a:pPr>
              <a:spcBef>
                <a:spcPts val="1000"/>
              </a:spcBef>
            </a:pPr>
            <a:r>
              <a:rPr sz="1650">
                <a:solidFill>
                  <a:srgbClr val="1E293B"/>
                </a:solidFill>
              </a:rPr>
              <a:t>• need → require/necessitate/demand/call for/entail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动词替换：强化论证力度</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show → demonstrate/indicate/reveal/illustrate/suggest</a:t>
            </a:r>
          </a:p>
          <a:p>
            <a:pPr>
              <a:spcBef>
                <a:spcPts val="1000"/>
              </a:spcBef>
            </a:pPr>
            <a:r>
              <a:rPr sz="1650">
                <a:solidFill>
                  <a:srgbClr val="1E293B"/>
                </a:solidFill>
              </a:rPr>
              <a:t>• increase → rise/surge/escalate/soar/grow/expand</a:t>
            </a:r>
          </a:p>
          <a:p>
            <a:pPr>
              <a:spcBef>
                <a:spcPts val="1000"/>
              </a:spcBef>
            </a:pPr>
            <a:r>
              <a:rPr sz="1650">
                <a:solidFill>
                  <a:srgbClr val="1E293B"/>
                </a:solidFill>
              </a:rPr>
              <a:t>• decrease → fall/decline/drop/plummet/diminish/reduce</a:t>
            </a:r>
          </a:p>
          <a:p>
            <a:pPr>
              <a:spcBef>
                <a:spcPts val="1000"/>
              </a:spcBef>
            </a:pPr>
            <a:r>
              <a:rPr sz="1650">
                <a:solidFill>
                  <a:srgbClr val="1E293B"/>
                </a:solidFill>
              </a:rPr>
              <a:t>• cause → lead to/result in/give rise to/contribute to/trigger</a:t>
            </a:r>
          </a:p>
          <a:p>
            <a:pPr>
              <a:spcBef>
                <a:spcPts val="1000"/>
              </a:spcBef>
            </a:pPr>
            <a:r>
              <a:rPr sz="1650">
                <a:solidFill>
                  <a:srgbClr val="1E293B"/>
                </a:solidFill>
              </a:rPr>
              <a:t>• think → believe/argue/contend/maintain/assert/suggest</a:t>
            </a:r>
          </a:p>
          <a:p>
            <a:pPr>
              <a:spcBef>
                <a:spcPts val="1000"/>
              </a:spcBef>
            </a:pPr>
            <a:r>
              <a:rPr sz="1650">
                <a:solidFill>
                  <a:srgbClr val="1E293B"/>
                </a:solidFill>
              </a:rPr>
              <a:t>• help → facilitate/enable/allow/assist/promote/foster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词汇替换实战：改写下面的句子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原句：Many people think that using technology is important for kids because it can help them learn and it is good for their future.
请将标记词（Many/think/important/help/good）全部升级替换。</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参考改写：Numerous individuals contend that incorporating technology is crucial for children because it can facilitate their learning and is beneficial for their future development.</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注意：避免一次替换过多生僻词，保持句子自然流畅</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搭配陷阱：这些替换为什么错误？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错误1："make a big progress" → big不搭配progress（应用significant/considerable/great）
错误2："strong evidence" → 正确；"hard evidence" → 也正确；"powerful evidence" → 不自然
错误3："solve the problem" → 正确；但避免用"fix the problem"在学术文体中
请判断：Which is correct? (A) "a strong increase" or (B) "a sharp increase"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答案：(B) "a sharp increase"更地道。"Strong"不常与increase搭配。常见搭配：sharp/dramatic/significant/steady/slight increase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搭配（collocation）无法靠逻辑推导，必须积累记忆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Task 2复杂句型精讲</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Complex Sentence Structures for Task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为什么需要复杂句型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评分标准GRA（语法多样性与准确性）要求：Band 7= "uses a variety of complex structures with some flexibility and accuracy"（使用多种复杂结构，有一定灵活性和准确性）。只用简单句无法达到Band 7，复杂句型必须占文章30-40%。</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复</a:t>
            </a:r>
          </a:p>
          <a:p>
            <a:pPr>
              <a:spcBef>
                <a:spcPts val="900"/>
              </a:spcBef>
            </a:pPr>
            <a:r>
              <a:rPr sz="1600">
                <a:solidFill>
                  <a:srgbClr val="1E293B"/>
                </a:solidFill>
              </a:rPr>
              <a:t>• 杂</a:t>
            </a:r>
          </a:p>
          <a:p>
            <a:pPr>
              <a:spcBef>
                <a:spcPts val="900"/>
              </a:spcBef>
            </a:pPr>
            <a:r>
              <a:rPr sz="1600">
                <a:solidFill>
                  <a:srgbClr val="1E293B"/>
                </a:solidFill>
              </a:rPr>
              <a:t>• 句</a:t>
            </a:r>
          </a:p>
          <a:p>
            <a:pPr>
              <a:spcBef>
                <a:spcPts val="900"/>
              </a:spcBef>
            </a:pPr>
            <a:r>
              <a:rPr sz="1600">
                <a:solidFill>
                  <a:srgbClr val="1E293B"/>
                </a:solidFill>
              </a:rPr>
              <a:t>• ≠</a:t>
            </a:r>
          </a:p>
          <a:p>
            <a:pPr>
              <a:spcBef>
                <a:spcPts val="900"/>
              </a:spcBef>
            </a:pPr>
            <a:r>
              <a:rPr sz="1600">
                <a:solidFill>
                  <a:srgbClr val="1E293B"/>
                </a:solidFill>
              </a:rPr>
              <a:t>• 长</a:t>
            </a:r>
          </a:p>
          <a:p>
            <a:pPr>
              <a:spcBef>
                <a:spcPts val="900"/>
              </a:spcBef>
            </a:pPr>
            <a:r>
              <a:rPr sz="1600">
                <a:solidFill>
                  <a:srgbClr val="1E293B"/>
                </a:solidFill>
              </a:rPr>
              <a:t>• 句</a:t>
            </a:r>
          </a:p>
          <a:p>
            <a:pPr>
              <a:spcBef>
                <a:spcPts val="900"/>
              </a:spcBef>
            </a:pPr>
            <a:r>
              <a:rPr sz="1600">
                <a:solidFill>
                  <a:srgbClr val="1E293B"/>
                </a:solidFill>
              </a:rPr>
              <a:t>• ：</a:t>
            </a:r>
          </a:p>
          <a:p>
            <a:pPr>
              <a:spcBef>
                <a:spcPts val="900"/>
              </a:spcBef>
            </a:pPr>
            <a:r>
              <a:rPr sz="1600">
                <a:solidFill>
                  <a:srgbClr val="1E293B"/>
                </a:solidFill>
              </a:rPr>
              <a:t>• 结</a:t>
            </a:r>
          </a:p>
          <a:p>
            <a:pPr>
              <a:spcBef>
                <a:spcPts val="900"/>
              </a:spcBef>
            </a:pPr>
            <a:r>
              <a:rPr sz="1600">
                <a:solidFill>
                  <a:srgbClr val="1E293B"/>
                </a:solidFill>
              </a:rPr>
              <a:t>• 构</a:t>
            </a:r>
          </a:p>
          <a:p>
            <a:pPr>
              <a:spcBef>
                <a:spcPts val="900"/>
              </a:spcBef>
            </a:pPr>
            <a:r>
              <a:rPr sz="1600">
                <a:solidFill>
                  <a:srgbClr val="1E293B"/>
                </a:solidFill>
              </a:rPr>
              <a:t>• 复</a:t>
            </a:r>
          </a:p>
          <a:p>
            <a:pPr>
              <a:spcBef>
                <a:spcPts val="900"/>
              </a:spcBef>
            </a:pPr>
            <a:r>
              <a:rPr sz="1600">
                <a:solidFill>
                  <a:srgbClr val="1E293B"/>
                </a:solidFill>
              </a:rPr>
              <a:t>• 杂</a:t>
            </a:r>
          </a:p>
          <a:p>
            <a:pPr>
              <a:spcBef>
                <a:spcPts val="900"/>
              </a:spcBef>
            </a:pPr>
            <a:r>
              <a:rPr sz="1600">
                <a:solidFill>
                  <a:srgbClr val="1E293B"/>
                </a:solidFill>
              </a:rPr>
              <a:t>• （</a:t>
            </a:r>
          </a:p>
          <a:p>
            <a:pPr>
              <a:spcBef>
                <a:spcPts val="900"/>
              </a:spcBef>
            </a:pPr>
            <a:r>
              <a:rPr sz="1600">
                <a:solidFill>
                  <a:srgbClr val="1E293B"/>
                </a:solidFill>
              </a:rPr>
              <a:t>• 含</a:t>
            </a:r>
          </a:p>
          <a:p>
            <a:pPr>
              <a:spcBef>
                <a:spcPts val="900"/>
              </a:spcBef>
            </a:pPr>
            <a:r>
              <a:rPr sz="1600">
                <a:solidFill>
                  <a:srgbClr val="1E293B"/>
                </a:solidFill>
              </a:rPr>
              <a:t>• 从</a:t>
            </a:r>
          </a:p>
          <a:p>
            <a:pPr>
              <a:spcBef>
                <a:spcPts val="900"/>
              </a:spcBef>
            </a:pPr>
            <a:r>
              <a:rPr sz="1600">
                <a:solidFill>
                  <a:srgbClr val="1E293B"/>
                </a:solidFill>
              </a:rPr>
              <a:t>• 句</a:t>
            </a:r>
          </a:p>
          <a:p>
            <a:pPr>
              <a:spcBef>
                <a:spcPts val="900"/>
              </a:spcBef>
            </a:pPr>
            <a:r>
              <a:rPr sz="1600">
                <a:solidFill>
                  <a:srgbClr val="1E293B"/>
                </a:solidFill>
              </a:rPr>
              <a:t>• ）</a:t>
            </a:r>
          </a:p>
          <a:p>
            <a:pPr>
              <a:spcBef>
                <a:spcPts val="900"/>
              </a:spcBef>
            </a:pPr>
            <a:r>
              <a:rPr sz="1600">
                <a:solidFill>
                  <a:srgbClr val="1E293B"/>
                </a:solidFill>
              </a:rPr>
              <a:t>• 才</a:t>
            </a:r>
          </a:p>
          <a:p>
            <a:pPr>
              <a:spcBef>
                <a:spcPts val="900"/>
              </a:spcBef>
            </a:pPr>
            <a:r>
              <a:rPr sz="1600">
                <a:solidFill>
                  <a:srgbClr val="1E293B"/>
                </a:solidFill>
              </a:rPr>
              <a:t>• 是</a:t>
            </a:r>
          </a:p>
          <a:p>
            <a:pPr>
              <a:spcBef>
                <a:spcPts val="900"/>
              </a:spcBef>
            </a:pPr>
            <a:r>
              <a:rPr sz="1600">
                <a:solidFill>
                  <a:srgbClr val="1E293B"/>
                </a:solidFill>
              </a:rPr>
              <a:t>• 评</a:t>
            </a:r>
          </a:p>
          <a:p>
            <a:pPr>
              <a:spcBef>
                <a:spcPts val="900"/>
              </a:spcBef>
            </a:pPr>
            <a:r>
              <a:rPr sz="1600">
                <a:solidFill>
                  <a:srgbClr val="1E293B"/>
                </a:solidFill>
              </a:rPr>
              <a:t>• 分</a:t>
            </a:r>
          </a:p>
          <a:p>
            <a:pPr>
              <a:spcBef>
                <a:spcPts val="900"/>
              </a:spcBef>
            </a:pPr>
            <a:r>
              <a:rPr sz="1600">
                <a:solidFill>
                  <a:srgbClr val="1E293B"/>
                </a:solidFill>
              </a:rPr>
              <a:t>• 要</a:t>
            </a:r>
          </a:p>
          <a:p>
            <a:pPr>
              <a:spcBef>
                <a:spcPts val="900"/>
              </a:spcBef>
            </a:pPr>
            <a:r>
              <a:rPr sz="1600">
                <a:solidFill>
                  <a:srgbClr val="1E293B"/>
                </a:solidFill>
              </a:rPr>
              <a:t>• 点</a:t>
            </a:r>
          </a:p>
          <a:p>
            <a:pPr>
              <a:spcBef>
                <a:spcPts val="900"/>
              </a:spcBef>
            </a:pPr>
            <a:r>
              <a:rPr sz="1600">
                <a:solidFill>
                  <a:srgbClr val="1E293B"/>
                </a:solidFill>
              </a:rPr>
              <a:t>• ，</a:t>
            </a:r>
          </a:p>
          <a:p>
            <a:pPr>
              <a:spcBef>
                <a:spcPts val="900"/>
              </a:spcBef>
            </a:pPr>
            <a:r>
              <a:rPr sz="1600">
                <a:solidFill>
                  <a:srgbClr val="1E293B"/>
                </a:solidFill>
              </a:rPr>
              <a:t>• 不</a:t>
            </a:r>
          </a:p>
          <a:p>
            <a:pPr>
              <a:spcBef>
                <a:spcPts val="900"/>
              </a:spcBef>
            </a:pPr>
            <a:r>
              <a:rPr sz="1600">
                <a:solidFill>
                  <a:srgbClr val="1E293B"/>
                </a:solidFill>
              </a:rPr>
              <a:t>• 是</a:t>
            </a:r>
          </a:p>
          <a:p>
            <a:pPr>
              <a:spcBef>
                <a:spcPts val="900"/>
              </a:spcBef>
            </a:pPr>
            <a:r>
              <a:rPr sz="1600">
                <a:solidFill>
                  <a:srgbClr val="1E293B"/>
                </a:solidFill>
              </a:rPr>
              <a:t>• 字</a:t>
            </a:r>
          </a:p>
          <a:p>
            <a:pPr>
              <a:spcBef>
                <a:spcPts val="900"/>
              </a:spcBef>
            </a:pPr>
            <a:r>
              <a:rPr sz="1600">
                <a:solidFill>
                  <a:srgbClr val="1E293B"/>
                </a:solidFill>
              </a:rPr>
              <a:t>• 数</a:t>
            </a:r>
          </a:p>
          <a:p>
            <a:pPr>
              <a:spcBef>
                <a:spcPts val="900"/>
              </a:spcBef>
            </a:pPr>
            <a:r>
              <a:rPr sz="1600">
                <a:solidFill>
                  <a:srgbClr val="1E293B"/>
                </a:solidFill>
              </a:rPr>
              <a:t>• 多</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核心复杂句型一览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类型1·名词性从句：I believe that / It is clear that / The fact that...
类型2·状语从句：Although / While / Since / If / Unless / Whereas...
类型3·定语从句：who/which/that/whose/where + 完整句
类型4·分词短语：Having done... / Seen from... / Given that...
类型5·强调/倒装：Not only...but also / Rarely do we... / Only when...</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每</a:t>
            </a:r>
          </a:p>
          <a:p>
            <a:pPr>
              <a:spcBef>
                <a:spcPts val="900"/>
              </a:spcBef>
            </a:pPr>
            <a:r>
              <a:rPr sz="1600">
                <a:solidFill>
                  <a:srgbClr val="1E293B"/>
                </a:solidFill>
              </a:rPr>
              <a:t>• 篇</a:t>
            </a:r>
          </a:p>
          <a:p>
            <a:pPr>
              <a:spcBef>
                <a:spcPts val="900"/>
              </a:spcBef>
            </a:pPr>
            <a:r>
              <a:rPr sz="1600">
                <a:solidFill>
                  <a:srgbClr val="1E293B"/>
                </a:solidFill>
              </a:rPr>
              <a:t>• 文</a:t>
            </a:r>
          </a:p>
          <a:p>
            <a:pPr>
              <a:spcBef>
                <a:spcPts val="900"/>
              </a:spcBef>
            </a:pPr>
            <a:r>
              <a:rPr sz="1600">
                <a:solidFill>
                  <a:srgbClr val="1E293B"/>
                </a:solidFill>
              </a:rPr>
              <a:t>• 章</a:t>
            </a:r>
          </a:p>
          <a:p>
            <a:pPr>
              <a:spcBef>
                <a:spcPts val="900"/>
              </a:spcBef>
            </a:pPr>
            <a:r>
              <a:rPr sz="1600">
                <a:solidFill>
                  <a:srgbClr val="1E293B"/>
                </a:solidFill>
              </a:rPr>
              <a:t>• 至</a:t>
            </a:r>
          </a:p>
          <a:p>
            <a:pPr>
              <a:spcBef>
                <a:spcPts val="900"/>
              </a:spcBef>
            </a:pPr>
            <a:r>
              <a:rPr sz="1600">
                <a:solidFill>
                  <a:srgbClr val="1E293B"/>
                </a:solidFill>
              </a:rPr>
              <a:t>• 少</a:t>
            </a:r>
          </a:p>
          <a:p>
            <a:pPr>
              <a:spcBef>
                <a:spcPts val="900"/>
              </a:spcBef>
            </a:pPr>
            <a:r>
              <a:rPr sz="1600">
                <a:solidFill>
                  <a:srgbClr val="1E293B"/>
                </a:solidFill>
              </a:rPr>
              <a:t>• 出</a:t>
            </a:r>
          </a:p>
          <a:p>
            <a:pPr>
              <a:spcBef>
                <a:spcPts val="900"/>
              </a:spcBef>
            </a:pPr>
            <a:r>
              <a:rPr sz="1600">
                <a:solidFill>
                  <a:srgbClr val="1E293B"/>
                </a:solidFill>
              </a:rPr>
              <a:t>• 现</a:t>
            </a:r>
          </a:p>
          <a:p>
            <a:pPr>
              <a:spcBef>
                <a:spcPts val="900"/>
              </a:spcBef>
            </a:pPr>
            <a:r>
              <a:rPr sz="1600">
                <a:solidFill>
                  <a:srgbClr val="1E293B"/>
                </a:solidFill>
              </a:rPr>
              <a:t>• 上</a:t>
            </a:r>
          </a:p>
          <a:p>
            <a:pPr>
              <a:spcBef>
                <a:spcPts val="900"/>
              </a:spcBef>
            </a:pPr>
            <a:r>
              <a:rPr sz="1600">
                <a:solidFill>
                  <a:srgbClr val="1E293B"/>
                </a:solidFill>
              </a:rPr>
              <a:t>• 述</a:t>
            </a:r>
          </a:p>
          <a:p>
            <a:pPr>
              <a:spcBef>
                <a:spcPts val="900"/>
              </a:spcBef>
            </a:pPr>
            <a:r>
              <a:rPr sz="1600">
                <a:solidFill>
                  <a:srgbClr val="1E293B"/>
                </a:solidFill>
              </a:rPr>
              <a:t>• 5</a:t>
            </a:r>
          </a:p>
          <a:p>
            <a:pPr>
              <a:spcBef>
                <a:spcPts val="900"/>
              </a:spcBef>
            </a:pPr>
            <a:r>
              <a:rPr sz="1600">
                <a:solidFill>
                  <a:srgbClr val="1E293B"/>
                </a:solidFill>
              </a:rPr>
              <a:t>• 种</a:t>
            </a:r>
          </a:p>
          <a:p>
            <a:pPr>
              <a:spcBef>
                <a:spcPts val="900"/>
              </a:spcBef>
            </a:pPr>
            <a:r>
              <a:rPr sz="1600">
                <a:solidFill>
                  <a:srgbClr val="1E293B"/>
                </a:solidFill>
              </a:rPr>
              <a:t>• 句</a:t>
            </a:r>
          </a:p>
          <a:p>
            <a:pPr>
              <a:spcBef>
                <a:spcPts val="900"/>
              </a:spcBef>
            </a:pPr>
            <a:r>
              <a:rPr sz="1600">
                <a:solidFill>
                  <a:srgbClr val="1E293B"/>
                </a:solidFill>
              </a:rPr>
              <a:t>• 型</a:t>
            </a:r>
          </a:p>
          <a:p>
            <a:pPr>
              <a:spcBef>
                <a:spcPts val="900"/>
              </a:spcBef>
            </a:pPr>
            <a:r>
              <a:rPr sz="1600">
                <a:solidFill>
                  <a:srgbClr val="1E293B"/>
                </a:solidFill>
              </a:rPr>
              <a:t>• 中</a:t>
            </a:r>
          </a:p>
          <a:p>
            <a:pPr>
              <a:spcBef>
                <a:spcPts val="900"/>
              </a:spcBef>
            </a:pPr>
            <a:r>
              <a:rPr sz="1600">
                <a:solidFill>
                  <a:srgbClr val="1E293B"/>
                </a:solidFill>
              </a:rPr>
              <a:t>• 的</a:t>
            </a:r>
          </a:p>
          <a:p>
            <a:pPr>
              <a:spcBef>
                <a:spcPts val="900"/>
              </a:spcBef>
            </a:pPr>
            <a:r>
              <a:rPr sz="1600">
                <a:solidFill>
                  <a:srgbClr val="1E293B"/>
                </a:solidFill>
              </a:rPr>
              <a:t>• 3</a:t>
            </a:r>
          </a:p>
          <a:p>
            <a:pPr>
              <a:spcBef>
                <a:spcPts val="900"/>
              </a:spcBef>
            </a:pPr>
            <a:r>
              <a:rPr sz="1600">
                <a:solidFill>
                  <a:srgbClr val="1E293B"/>
                </a:solidFill>
              </a:rPr>
              <a:t>• 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让步状语从句：Although/While/Whereas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Although + 反方观点, 主句（本方立场）更强调本方</a:t>
            </a:r>
          </a:p>
          <a:p>
            <a:pPr>
              <a:spcBef>
                <a:spcPts val="1000"/>
              </a:spcBef>
            </a:pPr>
            <a:r>
              <a:rPr sz="1650">
                <a:solidFill>
                  <a:srgbClr val="1E293B"/>
                </a:solidFill>
              </a:rPr>
              <a:t>• While this argument has some merit, it overlooks the fact that...</a:t>
            </a:r>
          </a:p>
          <a:p>
            <a:pPr>
              <a:spcBef>
                <a:spcPts val="1000"/>
              </a:spcBef>
            </a:pPr>
            <a:r>
              <a:rPr sz="1650">
                <a:solidFill>
                  <a:srgbClr val="1E293B"/>
                </a:solidFill>
              </a:rPr>
              <a:t>• Whereas developed countries can afford such measures, developing nations...</a:t>
            </a:r>
          </a:p>
          <a:p>
            <a:pPr>
              <a:spcBef>
                <a:spcPts val="1000"/>
              </a:spcBef>
            </a:pPr>
            <a:r>
              <a:rPr sz="1650">
                <a:solidFill>
                  <a:srgbClr val="1E293B"/>
                </a:solidFill>
              </a:rPr>
              <a:t>• 用法：让步从句承认对方，主句更有力反击——是论证成熟度的体现</a:t>
            </a:r>
          </a:p>
          <a:p>
            <a:pPr>
              <a:spcBef>
                <a:spcPts val="1000"/>
              </a:spcBef>
            </a:pPr>
            <a:r>
              <a:rPr sz="1650">
                <a:solidFill>
                  <a:srgbClr val="1E293B"/>
                </a:solidFill>
              </a:rPr>
              <a:t>• 错误：Although...but...（两个连词不能同时使用）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定语从句：who/which/where精要</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修饰人用who/that：People who exercise regularly tend to live longer.</a:t>
            </a:r>
          </a:p>
          <a:p>
            <a:pPr>
              <a:spcBef>
                <a:spcPts val="1000"/>
              </a:spcBef>
            </a:pPr>
            <a:r>
              <a:rPr sz="1650">
                <a:solidFill>
                  <a:srgbClr val="1E293B"/>
                </a:solidFill>
              </a:rPr>
              <a:t>• 修饰物用which/that：Technology, which has transformed our lives, also poses risks.</a:t>
            </a:r>
          </a:p>
          <a:p>
            <a:pPr>
              <a:spcBef>
                <a:spcPts val="1000"/>
              </a:spcBef>
            </a:pPr>
            <a:r>
              <a:rPr sz="1650">
                <a:solidFill>
                  <a:srgbClr val="1E293B"/>
                </a:solidFill>
              </a:rPr>
              <a:t>• 非限制性（加逗号）：提供额外信息；限制性（不加逗号）：识别修饰对象</a:t>
            </a:r>
          </a:p>
          <a:p>
            <a:pPr>
              <a:spcBef>
                <a:spcPts val="1000"/>
              </a:spcBef>
            </a:pPr>
            <a:r>
              <a:rPr sz="1650">
                <a:solidFill>
                  <a:srgbClr val="1E293B"/>
                </a:solidFill>
              </a:rPr>
              <a:t>• 修饰地点用where：Countries where education is prioritized show higher GDP.</a:t>
            </a:r>
          </a:p>
          <a:p>
            <a:pPr>
              <a:spcBef>
                <a:spcPts val="1000"/>
              </a:spcBef>
            </a:pPr>
            <a:r>
              <a:rPr sz="1650">
                <a:solidFill>
                  <a:srgbClr val="1E293B"/>
                </a:solidFill>
              </a:rPr>
              <a:t>• 修饰所有关系用whose：Students whose parents are educated tend to do better.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复杂句型改写练习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原句（简单句组合）：
"Technology is useful. It helps students. Students can learn better."
任务：将三句改写为1个含定语从句+让步状语从句的复杂句。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参考答案：Although technology has its limitations, it is a powerful tool which enables students to engage with learning materials more effectively, ultimately improving their academic performance.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一个复杂句可以替代三个简单句，同时展示句法多样性</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倒装句型：只需掌握2种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类型1·Not only...but also（前置需倒装）：
Not only does exercise improve physical health, but it also enhances mental well-being.
类型2·Only when/Only by/Only through（前置需倒装）：
Only by addressing the root causes can governments effectively solve this problem.
请将以下句子改写为倒装：
"Governments can solve this problem only through comprehensive policies."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改写：Only through comprehensive policies can governments effectively solve this problem.</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倒装句出现1次即可展示语法意识，不要用超过2次</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常用搭配（Collocation）积累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Collocation Building for IELTS Writing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搭配能力是词汇评分的隐形分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Collocation（搭配）是指词与词之间固定的组合关系。错误搭配即使语法正确，也会让母语者感觉不自然，直接影响LR分数。例："make research"（错）→ "conduct/carry out research"（对）。Band 7要求"some awareness of style and collocation"。</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搭</a:t>
            </a:r>
          </a:p>
          <a:p>
            <a:pPr>
              <a:spcBef>
                <a:spcPts val="900"/>
              </a:spcBef>
            </a:pPr>
            <a:r>
              <a:rPr sz="1600">
                <a:solidFill>
                  <a:srgbClr val="1E293B"/>
                </a:solidFill>
              </a:rPr>
              <a:t>• 配</a:t>
            </a:r>
          </a:p>
          <a:p>
            <a:pPr>
              <a:spcBef>
                <a:spcPts val="900"/>
              </a:spcBef>
            </a:pPr>
            <a:r>
              <a:rPr sz="1600">
                <a:solidFill>
                  <a:srgbClr val="1E293B"/>
                </a:solidFill>
              </a:rPr>
              <a:t>• 无</a:t>
            </a:r>
          </a:p>
          <a:p>
            <a:pPr>
              <a:spcBef>
                <a:spcPts val="900"/>
              </a:spcBef>
            </a:pPr>
            <a:r>
              <a:rPr sz="1600">
                <a:solidFill>
                  <a:srgbClr val="1E293B"/>
                </a:solidFill>
              </a:rPr>
              <a:t>• 法</a:t>
            </a:r>
          </a:p>
          <a:p>
            <a:pPr>
              <a:spcBef>
                <a:spcPts val="900"/>
              </a:spcBef>
            </a:pPr>
            <a:r>
              <a:rPr sz="1600">
                <a:solidFill>
                  <a:srgbClr val="1E293B"/>
                </a:solidFill>
              </a:rPr>
              <a:t>• 靠</a:t>
            </a:r>
          </a:p>
          <a:p>
            <a:pPr>
              <a:spcBef>
                <a:spcPts val="900"/>
              </a:spcBef>
            </a:pPr>
            <a:r>
              <a:rPr sz="1600">
                <a:solidFill>
                  <a:srgbClr val="1E293B"/>
                </a:solidFill>
              </a:rPr>
              <a:t>• 规</a:t>
            </a:r>
          </a:p>
          <a:p>
            <a:pPr>
              <a:spcBef>
                <a:spcPts val="900"/>
              </a:spcBef>
            </a:pPr>
            <a:r>
              <a:rPr sz="1600">
                <a:solidFill>
                  <a:srgbClr val="1E293B"/>
                </a:solidFill>
              </a:rPr>
              <a:t>• 则</a:t>
            </a:r>
          </a:p>
          <a:p>
            <a:pPr>
              <a:spcBef>
                <a:spcPts val="900"/>
              </a:spcBef>
            </a:pPr>
            <a:r>
              <a:rPr sz="1600">
                <a:solidFill>
                  <a:srgbClr val="1E293B"/>
                </a:solidFill>
              </a:rPr>
              <a:t>• 推</a:t>
            </a:r>
          </a:p>
          <a:p>
            <a:pPr>
              <a:spcBef>
                <a:spcPts val="900"/>
              </a:spcBef>
            </a:pPr>
            <a:r>
              <a:rPr sz="1600">
                <a:solidFill>
                  <a:srgbClr val="1E293B"/>
                </a:solidFill>
              </a:rPr>
              <a:t>• 导</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必</a:t>
            </a:r>
          </a:p>
          <a:p>
            <a:pPr>
              <a:spcBef>
                <a:spcPts val="900"/>
              </a:spcBef>
            </a:pPr>
            <a:r>
              <a:rPr sz="1600">
                <a:solidFill>
                  <a:srgbClr val="1E293B"/>
                </a:solidFill>
              </a:rPr>
              <a:t>• 须</a:t>
            </a:r>
          </a:p>
          <a:p>
            <a:pPr>
              <a:spcBef>
                <a:spcPts val="900"/>
              </a:spcBef>
            </a:pPr>
            <a:r>
              <a:rPr sz="1600">
                <a:solidFill>
                  <a:srgbClr val="1E293B"/>
                </a:solidFill>
              </a:rPr>
              <a:t>• 大</a:t>
            </a:r>
          </a:p>
          <a:p>
            <a:pPr>
              <a:spcBef>
                <a:spcPts val="900"/>
              </a:spcBef>
            </a:pPr>
            <a:r>
              <a:rPr sz="1600">
                <a:solidFill>
                  <a:srgbClr val="1E293B"/>
                </a:solidFill>
              </a:rPr>
              <a:t>• 量</a:t>
            </a:r>
          </a:p>
          <a:p>
            <a:pPr>
              <a:spcBef>
                <a:spcPts val="900"/>
              </a:spcBef>
            </a:pPr>
            <a:r>
              <a:rPr sz="1600">
                <a:solidFill>
                  <a:srgbClr val="1E293B"/>
                </a:solidFill>
              </a:rPr>
              <a:t>• 阅</a:t>
            </a:r>
          </a:p>
          <a:p>
            <a:pPr>
              <a:spcBef>
                <a:spcPts val="900"/>
              </a:spcBef>
            </a:pPr>
            <a:r>
              <a:rPr sz="1600">
                <a:solidFill>
                  <a:srgbClr val="1E293B"/>
                </a:solidFill>
              </a:rPr>
              <a:t>• 读</a:t>
            </a:r>
          </a:p>
          <a:p>
            <a:pPr>
              <a:spcBef>
                <a:spcPts val="900"/>
              </a:spcBef>
            </a:pPr>
            <a:r>
              <a:rPr sz="1600">
                <a:solidFill>
                  <a:srgbClr val="1E293B"/>
                </a:solidFill>
              </a:rPr>
              <a:t>• +</a:t>
            </a:r>
          </a:p>
          <a:p>
            <a:pPr>
              <a:spcBef>
                <a:spcPts val="900"/>
              </a:spcBef>
            </a:pPr>
            <a:r>
              <a:rPr sz="1600">
                <a:solidFill>
                  <a:srgbClr val="1E293B"/>
                </a:solidFill>
              </a:rPr>
              <a:t>• 刻</a:t>
            </a:r>
          </a:p>
          <a:p>
            <a:pPr>
              <a:spcBef>
                <a:spcPts val="900"/>
              </a:spcBef>
            </a:pPr>
            <a:r>
              <a:rPr sz="1600">
                <a:solidFill>
                  <a:srgbClr val="1E293B"/>
                </a:solidFill>
              </a:rPr>
              <a:t>• 意</a:t>
            </a:r>
          </a:p>
          <a:p>
            <a:pPr>
              <a:spcBef>
                <a:spcPts val="900"/>
              </a:spcBef>
            </a:pPr>
            <a:r>
              <a:rPr sz="1600">
                <a:solidFill>
                  <a:srgbClr val="1E293B"/>
                </a:solidFill>
              </a:rPr>
              <a:t>• 积</a:t>
            </a:r>
          </a:p>
          <a:p>
            <a:pPr>
              <a:spcBef>
                <a:spcPts val="900"/>
              </a:spcBef>
            </a:pPr>
            <a:r>
              <a:rPr sz="1600">
                <a:solidFill>
                  <a:srgbClr val="1E293B"/>
                </a:solidFill>
              </a:rPr>
              <a:t>• 累</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搭配类型速览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类型1·动词+名词：conduct research / raise awareness / address issues / tackle problems
类型2·形容词+名词：significant impact / widespread concern / growing trend / mounting pressure
类型3·名词+名词：crime rate / pollution level / living standard / income gap
类型4·副词+形容词：highly effective / deeply concerned / widely recognized / increasingly common
类型5·动词+副词：argue convincingly / grow rapidly / change dramatically / improve significantly</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记</a:t>
            </a:r>
          </a:p>
          <a:p>
            <a:pPr>
              <a:spcBef>
                <a:spcPts val="900"/>
              </a:spcBef>
            </a:pPr>
            <a:r>
              <a:rPr sz="1600">
                <a:solidFill>
                  <a:srgbClr val="1E293B"/>
                </a:solidFill>
              </a:rPr>
              <a:t>• 忆</a:t>
            </a:r>
          </a:p>
          <a:p>
            <a:pPr>
              <a:spcBef>
                <a:spcPts val="900"/>
              </a:spcBef>
            </a:pPr>
            <a:r>
              <a:rPr sz="1600">
                <a:solidFill>
                  <a:srgbClr val="1E293B"/>
                </a:solidFill>
              </a:rPr>
              <a:t>• 技</a:t>
            </a:r>
          </a:p>
          <a:p>
            <a:pPr>
              <a:spcBef>
                <a:spcPts val="900"/>
              </a:spcBef>
            </a:pPr>
            <a:r>
              <a:rPr sz="1600">
                <a:solidFill>
                  <a:srgbClr val="1E293B"/>
                </a:solidFill>
              </a:rPr>
              <a:t>• 巧</a:t>
            </a:r>
          </a:p>
          <a:p>
            <a:pPr>
              <a:spcBef>
                <a:spcPts val="900"/>
              </a:spcBef>
            </a:pPr>
            <a:r>
              <a:rPr sz="1600">
                <a:solidFill>
                  <a:srgbClr val="1E293B"/>
                </a:solidFill>
              </a:rPr>
              <a:t>• ：</a:t>
            </a:r>
          </a:p>
          <a:p>
            <a:pPr>
              <a:spcBef>
                <a:spcPts val="900"/>
              </a:spcBef>
            </a:pPr>
            <a:r>
              <a:rPr sz="1600">
                <a:solidFill>
                  <a:srgbClr val="1E293B"/>
                </a:solidFill>
              </a:rPr>
              <a:t>• 遇</a:t>
            </a:r>
          </a:p>
          <a:p>
            <a:pPr>
              <a:spcBef>
                <a:spcPts val="900"/>
              </a:spcBef>
            </a:pPr>
            <a:r>
              <a:rPr sz="1600">
                <a:solidFill>
                  <a:srgbClr val="1E293B"/>
                </a:solidFill>
              </a:rPr>
              <a:t>• 到</a:t>
            </a:r>
          </a:p>
          <a:p>
            <a:pPr>
              <a:spcBef>
                <a:spcPts val="900"/>
              </a:spcBef>
            </a:pPr>
            <a:r>
              <a:rPr sz="1600">
                <a:solidFill>
                  <a:srgbClr val="1E293B"/>
                </a:solidFill>
              </a:rPr>
              <a:t>• 好</a:t>
            </a:r>
          </a:p>
          <a:p>
            <a:pPr>
              <a:spcBef>
                <a:spcPts val="900"/>
              </a:spcBef>
            </a:pPr>
            <a:r>
              <a:rPr sz="1600">
                <a:solidFill>
                  <a:srgbClr val="1E293B"/>
                </a:solidFill>
              </a:rPr>
              <a:t>• 搭</a:t>
            </a:r>
          </a:p>
          <a:p>
            <a:pPr>
              <a:spcBef>
                <a:spcPts val="900"/>
              </a:spcBef>
            </a:pPr>
            <a:r>
              <a:rPr sz="1600">
                <a:solidFill>
                  <a:srgbClr val="1E293B"/>
                </a:solidFill>
              </a:rPr>
              <a:t>• 配</a:t>
            </a:r>
          </a:p>
          <a:p>
            <a:pPr>
              <a:spcBef>
                <a:spcPts val="900"/>
              </a:spcBef>
            </a:pPr>
            <a:r>
              <a:rPr sz="1600">
                <a:solidFill>
                  <a:srgbClr val="1E293B"/>
                </a:solidFill>
              </a:rPr>
              <a:t>• 立</a:t>
            </a:r>
          </a:p>
          <a:p>
            <a:pPr>
              <a:spcBef>
                <a:spcPts val="900"/>
              </a:spcBef>
            </a:pPr>
            <a:r>
              <a:rPr sz="1600">
                <a:solidFill>
                  <a:srgbClr val="1E293B"/>
                </a:solidFill>
              </a:rPr>
              <a:t>• 刻</a:t>
            </a:r>
          </a:p>
          <a:p>
            <a:pPr>
              <a:spcBef>
                <a:spcPts val="900"/>
              </a:spcBef>
            </a:pPr>
            <a:r>
              <a:rPr sz="1600">
                <a:solidFill>
                  <a:srgbClr val="1E293B"/>
                </a:solidFill>
              </a:rPr>
              <a:t>• 记</a:t>
            </a:r>
          </a:p>
          <a:p>
            <a:pPr>
              <a:spcBef>
                <a:spcPts val="900"/>
              </a:spcBef>
            </a:pPr>
            <a:r>
              <a:rPr sz="1600">
                <a:solidFill>
                  <a:srgbClr val="1E293B"/>
                </a:solidFill>
              </a:rPr>
              <a:t>• 下</a:t>
            </a:r>
          </a:p>
          <a:p>
            <a:pPr>
              <a:spcBef>
                <a:spcPts val="900"/>
              </a:spcBef>
            </a:pPr>
            <a:r>
              <a:rPr sz="1600">
                <a:solidFill>
                  <a:srgbClr val="1E293B"/>
                </a:solidFill>
              </a:rPr>
              <a:t>• ，</a:t>
            </a:r>
          </a:p>
          <a:p>
            <a:pPr>
              <a:spcBef>
                <a:spcPts val="900"/>
              </a:spcBef>
            </a:pPr>
            <a:r>
              <a:rPr sz="1600">
                <a:solidFill>
                  <a:srgbClr val="1E293B"/>
                </a:solidFill>
              </a:rPr>
              <a:t>• 每</a:t>
            </a:r>
          </a:p>
          <a:p>
            <a:pPr>
              <a:spcBef>
                <a:spcPts val="900"/>
              </a:spcBef>
            </a:pPr>
            <a:r>
              <a:rPr sz="1600">
                <a:solidFill>
                  <a:srgbClr val="1E293B"/>
                </a:solidFill>
              </a:rPr>
              <a:t>• 天</a:t>
            </a:r>
          </a:p>
          <a:p>
            <a:pPr>
              <a:spcBef>
                <a:spcPts val="900"/>
              </a:spcBef>
            </a:pPr>
            <a:r>
              <a:rPr sz="1600">
                <a:solidFill>
                  <a:srgbClr val="1E293B"/>
                </a:solidFill>
              </a:rPr>
              <a:t>• 5</a:t>
            </a:r>
          </a:p>
          <a:p>
            <a:pPr>
              <a:spcBef>
                <a:spcPts val="900"/>
              </a:spcBef>
            </a:pPr>
            <a:r>
              <a:rPr sz="1600">
                <a:solidFill>
                  <a:srgbClr val="1E293B"/>
                </a:solidFill>
              </a:rPr>
              <a:t>• 组</a:t>
            </a:r>
          </a:p>
          <a:p>
            <a:pPr>
              <a:spcBef>
                <a:spcPts val="900"/>
              </a:spcBef>
            </a:pPr>
            <a:r>
              <a:rPr sz="1600">
                <a:solidFill>
                  <a:srgbClr val="1E293B"/>
                </a:solidFill>
              </a:rPr>
              <a:t>• ，</a:t>
            </a:r>
          </a:p>
          <a:p>
            <a:pPr>
              <a:spcBef>
                <a:spcPts val="900"/>
              </a:spcBef>
            </a:pPr>
            <a:r>
              <a:rPr sz="1600">
                <a:solidFill>
                  <a:srgbClr val="1E293B"/>
                </a:solidFill>
              </a:rPr>
              <a:t>• 一</a:t>
            </a:r>
          </a:p>
          <a:p>
            <a:pPr>
              <a:spcBef>
                <a:spcPts val="900"/>
              </a:spcBef>
            </a:pPr>
            <a:r>
              <a:rPr sz="1600">
                <a:solidFill>
                  <a:srgbClr val="1E293B"/>
                </a:solidFill>
              </a:rPr>
              <a:t>• 个</a:t>
            </a:r>
          </a:p>
          <a:p>
            <a:pPr>
              <a:spcBef>
                <a:spcPts val="900"/>
              </a:spcBef>
            </a:pPr>
            <a:r>
              <a:rPr sz="1600">
                <a:solidFill>
                  <a:srgbClr val="1E293B"/>
                </a:solidFill>
              </a:rPr>
              <a:t>• 月</a:t>
            </a:r>
          </a:p>
          <a:p>
            <a:pPr>
              <a:spcBef>
                <a:spcPts val="900"/>
              </a:spcBef>
            </a:pPr>
            <a:r>
              <a:rPr sz="1600">
                <a:solidFill>
                  <a:srgbClr val="1E293B"/>
                </a:solidFill>
              </a:rPr>
              <a:t>• 积</a:t>
            </a:r>
          </a:p>
          <a:p>
            <a:pPr>
              <a:spcBef>
                <a:spcPts val="900"/>
              </a:spcBef>
            </a:pPr>
            <a:r>
              <a:rPr sz="1600">
                <a:solidFill>
                  <a:srgbClr val="1E293B"/>
                </a:solidFill>
              </a:rPr>
              <a:t>• 累</a:t>
            </a:r>
          </a:p>
          <a:p>
            <a:pPr>
              <a:spcBef>
                <a:spcPts val="900"/>
              </a:spcBef>
            </a:pPr>
            <a:r>
              <a:rPr sz="1600">
                <a:solidFill>
                  <a:srgbClr val="1E293B"/>
                </a:solidFill>
              </a:rPr>
              <a:t>• 1</a:t>
            </a:r>
          </a:p>
          <a:p>
            <a:pPr>
              <a:spcBef>
                <a:spcPts val="900"/>
              </a:spcBef>
            </a:pPr>
            <a:r>
              <a:rPr sz="1600">
                <a:solidFill>
                  <a:srgbClr val="1E293B"/>
                </a:solidFill>
              </a:rPr>
              <a:t>• 5</a:t>
            </a:r>
          </a:p>
          <a:p>
            <a:pPr>
              <a:spcBef>
                <a:spcPts val="900"/>
              </a:spcBef>
            </a:pPr>
            <a:r>
              <a:rPr sz="1600">
                <a:solidFill>
                  <a:srgbClr val="1E293B"/>
                </a:solidFill>
              </a:rPr>
              <a:t>• 0</a:t>
            </a:r>
          </a:p>
          <a:p>
            <a:pPr>
              <a:spcBef>
                <a:spcPts val="900"/>
              </a:spcBef>
            </a:pPr>
            <a:r>
              <a:rPr sz="1600">
                <a:solidFill>
                  <a:srgbClr val="1E293B"/>
                </a:solidFill>
              </a:rPr>
              <a: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2高频搭配：社会类话题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address/tackle/alleviate + poverty/crime/unemployment/pollution</a:t>
            </a:r>
          </a:p>
          <a:p>
            <a:pPr>
              <a:spcBef>
                <a:spcPts val="1000"/>
              </a:spcBef>
            </a:pPr>
            <a:r>
              <a:rPr sz="1650">
                <a:solidFill>
                  <a:srgbClr val="1E293B"/>
                </a:solidFill>
              </a:rPr>
              <a:t>• bridge the gap between + rich and poor/urban and rural/developed and developing</a:t>
            </a:r>
          </a:p>
          <a:p>
            <a:pPr>
              <a:spcBef>
                <a:spcPts val="1000"/>
              </a:spcBef>
            </a:pPr>
            <a:r>
              <a:rPr sz="1650">
                <a:solidFill>
                  <a:srgbClr val="1E293B"/>
                </a:solidFill>
              </a:rPr>
              <a:t>• impose + restrictions/regulations/penalties/taxes + on</a:t>
            </a:r>
          </a:p>
          <a:p>
            <a:pPr>
              <a:spcBef>
                <a:spcPts val="1000"/>
              </a:spcBef>
            </a:pPr>
            <a:r>
              <a:rPr sz="1650">
                <a:solidFill>
                  <a:srgbClr val="1E293B"/>
                </a:solidFill>
              </a:rPr>
              <a:t>• raise/promote + awareness of / standards of / quality of</a:t>
            </a:r>
          </a:p>
          <a:p>
            <a:pPr>
              <a:spcBef>
                <a:spcPts val="1000"/>
              </a:spcBef>
            </a:pPr>
            <a:r>
              <a:rPr sz="1650">
                <a:solidFill>
                  <a:srgbClr val="1E293B"/>
                </a:solidFill>
              </a:rPr>
              <a:t>• enhance/boost/improve + productivity/efficiency/competitiveness</a:t>
            </a:r>
          </a:p>
          <a:p>
            <a:pPr>
              <a:spcBef>
                <a:spcPts val="1000"/>
              </a:spcBef>
            </a:pPr>
            <a:r>
              <a:rPr sz="1650">
                <a:solidFill>
                  <a:srgbClr val="1E293B"/>
                </a:solidFill>
              </a:rPr>
              <a:t>• foster/encourage/cultivate + creativity/cooperation/innovation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2高频搭配：教育与科技类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broaden/expand + horizons/knowledge/opportunities</a:t>
            </a:r>
          </a:p>
          <a:p>
            <a:pPr>
              <a:spcBef>
                <a:spcPts val="1000"/>
              </a:spcBef>
            </a:pPr>
            <a:r>
              <a:rPr sz="1650">
                <a:solidFill>
                  <a:srgbClr val="1E293B"/>
                </a:solidFill>
              </a:rPr>
              <a:t>• develop/cultivate + critical thinking/problem-solving skills</a:t>
            </a:r>
          </a:p>
          <a:p>
            <a:pPr>
              <a:spcBef>
                <a:spcPts val="1000"/>
              </a:spcBef>
            </a:pPr>
            <a:r>
              <a:rPr sz="1650">
                <a:solidFill>
                  <a:srgbClr val="1E293B"/>
                </a:solidFill>
              </a:rPr>
              <a:t>• enhance/improve + academic performance/learning outcomes</a:t>
            </a:r>
          </a:p>
          <a:p>
            <a:pPr>
              <a:spcBef>
                <a:spcPts val="1000"/>
              </a:spcBef>
            </a:pPr>
            <a:r>
              <a:rPr sz="1650">
                <a:solidFill>
                  <a:srgbClr val="1E293B"/>
                </a:solidFill>
              </a:rPr>
              <a:t>• revolutionize/transform + the way we + live/work/communicate</a:t>
            </a:r>
          </a:p>
          <a:p>
            <a:pPr>
              <a:spcBef>
                <a:spcPts val="1000"/>
              </a:spcBef>
            </a:pPr>
            <a:r>
              <a:rPr sz="1650">
                <a:solidFill>
                  <a:srgbClr val="1E293B"/>
                </a:solidFill>
              </a:rPr>
              <a:t>• access/have access to + information/resources/technology/education</a:t>
            </a:r>
          </a:p>
          <a:p>
            <a:pPr>
              <a:spcBef>
                <a:spcPts val="1000"/>
              </a:spcBef>
            </a:pPr>
            <a:r>
              <a:rPr sz="1650">
                <a:solidFill>
                  <a:srgbClr val="1E293B"/>
                </a:solidFill>
              </a:rPr>
              <a:t>• pose/present + challenges/risks/threats/opportunities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搭配纠错：找出并改正搭配错误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1. "do a mistake" → ?
2. "make a research" → ?
3. "strong pollution" → ?
4. "solve the crime" → ?
5. "pay attention in something" → ?
请逐一判断哪个词搭配错误并给出正确搭配。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 "make a mistake" ✓
2. "conduct/carry out research" ✓
3. "serious/severe/heavy pollution" ✓
4. "tackle/reduce/combat crime" ✓
5. "pay attention to something" ✓</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记住：pay attention TO（不是in），make a mistake（不是do），conduct research（不是make/do research）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搭配填空：选择正确的动词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选词：impose / raise / address / foster / tackle
1. The government should ___ the issue of rising unemployment rates.
2. Schools should ___ creativity by encouraging project-based learning.
3. Authorities need to ___ stricter regulations on industrial waste.
4. Education campaigns can ___ public awareness of environmental issues.
5. Policymakers must ___ the root causes of urban poverty.</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 address（处理/解决问题）
2. foster（培养创造力）
3. impose（施加/实施法规）
4. raise（提升意识）
5. tackle（应对根本原因）</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这5个动词是Task 2最高频的"解决类"动词，务必区分其搭配</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语法正确性与常见错误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Grammar Accuracy &amp; Common Errors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GRA维度：四大语法陷阱</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中国考生最常犯的四类语法错误：
①冠词错误（a/an/the缺失或滥用）
②主谓一致（单复数判断错误）
③时态混用（全文时态不统一）
④句子碎片（不完整的句子当完整句用）
Band 6考生通常有频繁的上述错误；Band 7考生偶发且能自纠。</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语</a:t>
            </a:r>
          </a:p>
          <a:p>
            <a:pPr>
              <a:spcBef>
                <a:spcPts val="900"/>
              </a:spcBef>
            </a:pPr>
            <a:r>
              <a:rPr sz="1600">
                <a:solidFill>
                  <a:srgbClr val="1E293B"/>
                </a:solidFill>
              </a:rPr>
              <a:t>• 法</a:t>
            </a:r>
          </a:p>
          <a:p>
            <a:pPr>
              <a:spcBef>
                <a:spcPts val="900"/>
              </a:spcBef>
            </a:pPr>
            <a:r>
              <a:rPr sz="1600">
                <a:solidFill>
                  <a:srgbClr val="1E293B"/>
                </a:solidFill>
              </a:rPr>
              <a:t>• 准</a:t>
            </a:r>
          </a:p>
          <a:p>
            <a:pPr>
              <a:spcBef>
                <a:spcPts val="900"/>
              </a:spcBef>
            </a:pPr>
            <a:r>
              <a:rPr sz="1600">
                <a:solidFill>
                  <a:srgbClr val="1E293B"/>
                </a:solidFill>
              </a:rPr>
              <a:t>• 确</a:t>
            </a:r>
          </a:p>
          <a:p>
            <a:pPr>
              <a:spcBef>
                <a:spcPts val="900"/>
              </a:spcBef>
            </a:pPr>
            <a:r>
              <a:rPr sz="1600">
                <a:solidFill>
                  <a:srgbClr val="1E293B"/>
                </a:solidFill>
              </a:rPr>
              <a:t>• 性</a:t>
            </a:r>
          </a:p>
          <a:p>
            <a:pPr>
              <a:spcBef>
                <a:spcPts val="900"/>
              </a:spcBef>
            </a:pPr>
            <a:r>
              <a:rPr sz="1600">
                <a:solidFill>
                  <a:srgbClr val="1E293B"/>
                </a:solidFill>
              </a:rPr>
              <a:t>• 是</a:t>
            </a:r>
          </a:p>
          <a:p>
            <a:pPr>
              <a:spcBef>
                <a:spcPts val="900"/>
              </a:spcBef>
            </a:pPr>
            <a:r>
              <a:rPr sz="1600">
                <a:solidFill>
                  <a:srgbClr val="1E293B"/>
                </a:solidFill>
              </a:rPr>
              <a:t>• G</a:t>
            </a:r>
          </a:p>
          <a:p>
            <a:pPr>
              <a:spcBef>
                <a:spcPts val="900"/>
              </a:spcBef>
            </a:pPr>
            <a:r>
              <a:rPr sz="1600">
                <a:solidFill>
                  <a:srgbClr val="1E293B"/>
                </a:solidFill>
              </a:rPr>
              <a:t>• R</a:t>
            </a:r>
          </a:p>
          <a:p>
            <a:pPr>
              <a:spcBef>
                <a:spcPts val="900"/>
              </a:spcBef>
            </a:pPr>
            <a:r>
              <a:rPr sz="1600">
                <a:solidFill>
                  <a:srgbClr val="1E293B"/>
                </a:solidFill>
              </a:rPr>
              <a:t>• A</a:t>
            </a:r>
          </a:p>
          <a:p>
            <a:pPr>
              <a:spcBef>
                <a:spcPts val="900"/>
              </a:spcBef>
            </a:pPr>
            <a:r>
              <a:rPr sz="1600">
                <a:solidFill>
                  <a:srgbClr val="1E293B"/>
                </a:solidFill>
              </a:rPr>
              <a:t>• 的</a:t>
            </a:r>
          </a:p>
          <a:p>
            <a:pPr>
              <a:spcBef>
                <a:spcPts val="900"/>
              </a:spcBef>
            </a:pPr>
            <a:r>
              <a:rPr sz="1600">
                <a:solidFill>
                  <a:srgbClr val="1E293B"/>
                </a:solidFill>
              </a:rPr>
              <a:t>• 基</a:t>
            </a:r>
          </a:p>
          <a:p>
            <a:pPr>
              <a:spcBef>
                <a:spcPts val="900"/>
              </a:spcBef>
            </a:pPr>
            <a:r>
              <a:rPr sz="1600">
                <a:solidFill>
                  <a:srgbClr val="1E293B"/>
                </a:solidFill>
              </a:rPr>
              <a:t>• 础</a:t>
            </a:r>
          </a:p>
          <a:p>
            <a:pPr>
              <a:spcBef>
                <a:spcPts val="900"/>
              </a:spcBef>
            </a:pPr>
            <a:r>
              <a:rPr sz="1600">
                <a:solidFill>
                  <a:srgbClr val="1E293B"/>
                </a:solidFill>
              </a:rPr>
              <a:t>• 分</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先</a:t>
            </a:r>
          </a:p>
          <a:p>
            <a:pPr>
              <a:spcBef>
                <a:spcPts val="900"/>
              </a:spcBef>
            </a:pPr>
            <a:r>
              <a:rPr sz="1600">
                <a:solidFill>
                  <a:srgbClr val="1E293B"/>
                </a:solidFill>
              </a:rPr>
              <a:t>• 保</a:t>
            </a:r>
          </a:p>
          <a:p>
            <a:pPr>
              <a:spcBef>
                <a:spcPts val="900"/>
              </a:spcBef>
            </a:pPr>
            <a:r>
              <a:rPr sz="1600">
                <a:solidFill>
                  <a:srgbClr val="1E293B"/>
                </a:solidFill>
              </a:rPr>
              <a:t>• 准</a:t>
            </a:r>
          </a:p>
          <a:p>
            <a:pPr>
              <a:spcBef>
                <a:spcPts val="900"/>
              </a:spcBef>
            </a:pPr>
            <a:r>
              <a:rPr sz="1600">
                <a:solidFill>
                  <a:srgbClr val="1E293B"/>
                </a:solidFill>
              </a:rPr>
              <a:t>• 确</a:t>
            </a:r>
          </a:p>
          <a:p>
            <a:pPr>
              <a:spcBef>
                <a:spcPts val="900"/>
              </a:spcBef>
            </a:pPr>
            <a:r>
              <a:rPr sz="1600">
                <a:solidFill>
                  <a:srgbClr val="1E293B"/>
                </a:solidFill>
              </a:rPr>
              <a:t>• ，</a:t>
            </a:r>
          </a:p>
          <a:p>
            <a:pPr>
              <a:spcBef>
                <a:spcPts val="900"/>
              </a:spcBef>
            </a:pPr>
            <a:r>
              <a:rPr sz="1600">
                <a:solidFill>
                  <a:srgbClr val="1E293B"/>
                </a:solidFill>
              </a:rPr>
              <a:t>• 再</a:t>
            </a:r>
          </a:p>
          <a:p>
            <a:pPr>
              <a:spcBef>
                <a:spcPts val="900"/>
              </a:spcBef>
            </a:pPr>
            <a:r>
              <a:rPr sz="1600">
                <a:solidFill>
                  <a:srgbClr val="1E293B"/>
                </a:solidFill>
              </a:rPr>
              <a:t>• 追</a:t>
            </a:r>
          </a:p>
          <a:p>
            <a:pPr>
              <a:spcBef>
                <a:spcPts val="900"/>
              </a:spcBef>
            </a:pPr>
            <a:r>
              <a:rPr sz="1600">
                <a:solidFill>
                  <a:srgbClr val="1E293B"/>
                </a:solidFill>
              </a:rPr>
              <a:t>• 多</a:t>
            </a:r>
          </a:p>
          <a:p>
            <a:pPr>
              <a:spcBef>
                <a:spcPts val="900"/>
              </a:spcBef>
            </a:pPr>
            <a:r>
              <a:rPr sz="1600">
                <a:solidFill>
                  <a:srgbClr val="1E293B"/>
                </a:solidFill>
              </a:rPr>
              <a:t>• 样</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冠词使用四条规则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规则1：第一次提到可数名词用a/an，再次提到用the
规则2：泛指不可数名词和复数可数名词→不加冠词
规则3：特指唯一事物/已知事物→用the（the government/the environment）
规则4：固定搭配记忆：play a role / have an impact / make a difference / in the long run</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错</a:t>
            </a:r>
          </a:p>
          <a:p>
            <a:pPr>
              <a:spcBef>
                <a:spcPts val="900"/>
              </a:spcBef>
            </a:pPr>
            <a:r>
              <a:rPr sz="1600">
                <a:solidFill>
                  <a:srgbClr val="1E293B"/>
                </a:solidFill>
              </a:rPr>
              <a:t>• 误</a:t>
            </a:r>
          </a:p>
          <a:p>
            <a:pPr>
              <a:spcBef>
                <a:spcPts val="900"/>
              </a:spcBef>
            </a:pPr>
            <a:r>
              <a:rPr sz="1600">
                <a:solidFill>
                  <a:srgbClr val="1E293B"/>
                </a:solidFill>
              </a:rPr>
              <a:t>• 示</a:t>
            </a:r>
          </a:p>
          <a:p>
            <a:pPr>
              <a:spcBef>
                <a:spcPts val="900"/>
              </a:spcBef>
            </a:pPr>
            <a:r>
              <a:rPr sz="1600">
                <a:solidFill>
                  <a:srgbClr val="1E293B"/>
                </a:solidFill>
              </a:rPr>
              <a:t>• 例</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T</a:t>
            </a:r>
          </a:p>
          <a:p>
            <a:pPr>
              <a:spcBef>
                <a:spcPts val="900"/>
              </a:spcBef>
            </a:pPr>
            <a:r>
              <a:rPr sz="1600">
                <a:solidFill>
                  <a:srgbClr val="1E293B"/>
                </a:solidFill>
              </a:rPr>
              <a:t>• h</a:t>
            </a:r>
          </a:p>
          <a:p>
            <a:pPr>
              <a:spcBef>
                <a:spcPts val="900"/>
              </a:spcBef>
            </a:pPr>
            <a:r>
              <a:rPr sz="1600">
                <a:solidFill>
                  <a:srgbClr val="1E293B"/>
                </a:solidFill>
              </a:rPr>
              <a:t>• e</a:t>
            </a:r>
          </a:p>
          <a:p>
            <a:pPr>
              <a:spcBef>
                <a:spcPts val="900"/>
              </a:spcBef>
            </a:pPr>
            <a:r>
              <a:rPr sz="1600">
                <a:solidFill>
                  <a:srgbClr val="1E293B"/>
                </a:solidFill>
              </a:rPr>
              <a:t>•  </a:t>
            </a:r>
          </a:p>
          <a:p>
            <a:pPr>
              <a:spcBef>
                <a:spcPts val="900"/>
              </a:spcBef>
            </a:pPr>
            <a:r>
              <a:rPr sz="1600">
                <a:solidFill>
                  <a:srgbClr val="1E293B"/>
                </a:solidFill>
              </a:rPr>
              <a:t>• t</a:t>
            </a:r>
          </a:p>
          <a:p>
            <a:pPr>
              <a:spcBef>
                <a:spcPts val="900"/>
              </a:spcBef>
            </a:pPr>
            <a:r>
              <a:rPr sz="1600">
                <a:solidFill>
                  <a:srgbClr val="1E293B"/>
                </a:solidFill>
              </a:rPr>
              <a:t>• e</a:t>
            </a:r>
          </a:p>
          <a:p>
            <a:pPr>
              <a:spcBef>
                <a:spcPts val="900"/>
              </a:spcBef>
            </a:pPr>
            <a:r>
              <a:rPr sz="1600">
                <a:solidFill>
                  <a:srgbClr val="1E293B"/>
                </a:solidFill>
              </a:rPr>
              <a:t>• c</a:t>
            </a:r>
          </a:p>
          <a:p>
            <a:pPr>
              <a:spcBef>
                <a:spcPts val="900"/>
              </a:spcBef>
            </a:pPr>
            <a:r>
              <a:rPr sz="1600">
                <a:solidFill>
                  <a:srgbClr val="1E293B"/>
                </a:solidFill>
              </a:rPr>
              <a:t>• h</a:t>
            </a:r>
          </a:p>
          <a:p>
            <a:pPr>
              <a:spcBef>
                <a:spcPts val="900"/>
              </a:spcBef>
            </a:pPr>
            <a:r>
              <a:rPr sz="1600">
                <a:solidFill>
                  <a:srgbClr val="1E293B"/>
                </a:solidFill>
              </a:rPr>
              <a:t>• n</a:t>
            </a:r>
          </a:p>
          <a:p>
            <a:pPr>
              <a:spcBef>
                <a:spcPts val="900"/>
              </a:spcBef>
            </a:pPr>
            <a:r>
              <a:rPr sz="1600">
                <a:solidFill>
                  <a:srgbClr val="1E293B"/>
                </a:solidFill>
              </a:rPr>
              <a:t>• o</a:t>
            </a:r>
          </a:p>
          <a:p>
            <a:pPr>
              <a:spcBef>
                <a:spcPts val="900"/>
              </a:spcBef>
            </a:pPr>
            <a:r>
              <a:rPr sz="1600">
                <a:solidFill>
                  <a:srgbClr val="1E293B"/>
                </a:solidFill>
              </a:rPr>
              <a:t>• l</a:t>
            </a:r>
          </a:p>
          <a:p>
            <a:pPr>
              <a:spcBef>
                <a:spcPts val="900"/>
              </a:spcBef>
            </a:pPr>
            <a:r>
              <a:rPr sz="1600">
                <a:solidFill>
                  <a:srgbClr val="1E293B"/>
                </a:solidFill>
              </a:rPr>
              <a:t>• o</a:t>
            </a:r>
          </a:p>
          <a:p>
            <a:pPr>
              <a:spcBef>
                <a:spcPts val="900"/>
              </a:spcBef>
            </a:pPr>
            <a:r>
              <a:rPr sz="1600">
                <a:solidFill>
                  <a:srgbClr val="1E293B"/>
                </a:solidFill>
              </a:rPr>
              <a:t>• g</a:t>
            </a:r>
          </a:p>
          <a:p>
            <a:pPr>
              <a:spcBef>
                <a:spcPts val="900"/>
              </a:spcBef>
            </a:pPr>
            <a:r>
              <a:rPr sz="1600">
                <a:solidFill>
                  <a:srgbClr val="1E293B"/>
                </a:solidFill>
              </a:rPr>
              <a:t>• y</a:t>
            </a:r>
          </a:p>
          <a:p>
            <a:pPr>
              <a:spcBef>
                <a:spcPts val="900"/>
              </a:spcBef>
            </a:pPr>
            <a:r>
              <a:rPr sz="1600">
                <a:solidFill>
                  <a:srgbClr val="1E293B"/>
                </a:solidFill>
              </a:rPr>
              <a:t>•  </a:t>
            </a:r>
          </a:p>
          <a:p>
            <a:pPr>
              <a:spcBef>
                <a:spcPts val="900"/>
              </a:spcBef>
            </a:pPr>
            <a:r>
              <a:rPr sz="1600">
                <a:solidFill>
                  <a:srgbClr val="1E293B"/>
                </a:solidFill>
              </a:rPr>
              <a:t>• i</a:t>
            </a:r>
          </a:p>
          <a:p>
            <a:pPr>
              <a:spcBef>
                <a:spcPts val="900"/>
              </a:spcBef>
            </a:pPr>
            <a:r>
              <a:rPr sz="1600">
                <a:solidFill>
                  <a:srgbClr val="1E293B"/>
                </a:solidFill>
              </a:rPr>
              <a:t>• s</a:t>
            </a:r>
          </a:p>
          <a:p>
            <a:pPr>
              <a:spcBef>
                <a:spcPts val="900"/>
              </a:spcBef>
            </a:pPr>
            <a:r>
              <a:rPr sz="1600">
                <a:solidFill>
                  <a:srgbClr val="1E293B"/>
                </a:solidFill>
              </a:rPr>
              <a:t>•  </a:t>
            </a:r>
          </a:p>
          <a:p>
            <a:pPr>
              <a:spcBef>
                <a:spcPts val="900"/>
              </a:spcBef>
            </a:pPr>
            <a:r>
              <a:rPr sz="1600">
                <a:solidFill>
                  <a:srgbClr val="1E293B"/>
                </a:solidFill>
              </a:rPr>
              <a:t>• c</a:t>
            </a:r>
          </a:p>
          <a:p>
            <a:pPr>
              <a:spcBef>
                <a:spcPts val="900"/>
              </a:spcBef>
            </a:pPr>
            <a:r>
              <a:rPr sz="1600">
                <a:solidFill>
                  <a:srgbClr val="1E293B"/>
                </a:solidFill>
              </a:rPr>
              <a:t>• h</a:t>
            </a:r>
          </a:p>
          <a:p>
            <a:pPr>
              <a:spcBef>
                <a:spcPts val="900"/>
              </a:spcBef>
            </a:pPr>
            <a:r>
              <a:rPr sz="1600">
                <a:solidFill>
                  <a:srgbClr val="1E293B"/>
                </a:solidFill>
              </a:rPr>
              <a:t>• a</a:t>
            </a:r>
          </a:p>
          <a:p>
            <a:pPr>
              <a:spcBef>
                <a:spcPts val="900"/>
              </a:spcBef>
            </a:pPr>
            <a:r>
              <a:rPr sz="1600">
                <a:solidFill>
                  <a:srgbClr val="1E293B"/>
                </a:solidFill>
              </a:rPr>
              <a:t>• n</a:t>
            </a:r>
          </a:p>
          <a:p>
            <a:pPr>
              <a:spcBef>
                <a:spcPts val="900"/>
              </a:spcBef>
            </a:pPr>
            <a:r>
              <a:rPr sz="1600">
                <a:solidFill>
                  <a:srgbClr val="1E293B"/>
                </a:solidFill>
              </a:rPr>
              <a:t>• g</a:t>
            </a:r>
          </a:p>
          <a:p>
            <a:pPr>
              <a:spcBef>
                <a:spcPts val="900"/>
              </a:spcBef>
            </a:pPr>
            <a:r>
              <a:rPr sz="1600">
                <a:solidFill>
                  <a:srgbClr val="1E293B"/>
                </a:solidFill>
              </a:rPr>
              <a:t>• i</a:t>
            </a:r>
          </a:p>
          <a:p>
            <a:pPr>
              <a:spcBef>
                <a:spcPts val="900"/>
              </a:spcBef>
            </a:pPr>
            <a:r>
              <a:rPr sz="1600">
                <a:solidFill>
                  <a:srgbClr val="1E293B"/>
                </a:solidFill>
              </a:rPr>
              <a:t>• n</a:t>
            </a:r>
          </a:p>
          <a:p>
            <a:pPr>
              <a:spcBef>
                <a:spcPts val="900"/>
              </a:spcBef>
            </a:pPr>
            <a:r>
              <a:rPr sz="1600">
                <a:solidFill>
                  <a:srgbClr val="1E293B"/>
                </a:solidFill>
              </a:rPr>
              <a:t>• g</a:t>
            </a:r>
          </a:p>
          <a:p>
            <a:pPr>
              <a:spcBef>
                <a:spcPts val="900"/>
              </a:spcBef>
            </a:pPr>
            <a:r>
              <a:rPr sz="1600">
                <a:solidFill>
                  <a:srgbClr val="1E293B"/>
                </a:solidFill>
              </a:rPr>
              <a:t>•  </a:t>
            </a:r>
          </a:p>
          <a:p>
            <a:pPr>
              <a:spcBef>
                <a:spcPts val="900"/>
              </a:spcBef>
            </a:pPr>
            <a:r>
              <a:rPr sz="1600">
                <a:solidFill>
                  <a:srgbClr val="1E293B"/>
                </a:solidFill>
              </a:rPr>
              <a:t>• o</a:t>
            </a:r>
          </a:p>
          <a:p>
            <a:pPr>
              <a:spcBef>
                <a:spcPts val="900"/>
              </a:spcBef>
            </a:pPr>
            <a:r>
              <a:rPr sz="1600">
                <a:solidFill>
                  <a:srgbClr val="1E293B"/>
                </a:solidFill>
              </a:rPr>
              <a:t>• u</a:t>
            </a:r>
          </a:p>
          <a:p>
            <a:pPr>
              <a:spcBef>
                <a:spcPts val="900"/>
              </a:spcBef>
            </a:pPr>
            <a:r>
              <a:rPr sz="1600">
                <a:solidFill>
                  <a:srgbClr val="1E293B"/>
                </a:solidFill>
              </a:rPr>
              <a:t>• r</a:t>
            </a:r>
          </a:p>
          <a:p>
            <a:pPr>
              <a:spcBef>
                <a:spcPts val="900"/>
              </a:spcBef>
            </a:pPr>
            <a:r>
              <a:rPr sz="1600">
                <a:solidFill>
                  <a:srgbClr val="1E293B"/>
                </a:solidFill>
              </a:rPr>
              <a:t>•  </a:t>
            </a:r>
          </a:p>
          <a:p>
            <a:pPr>
              <a:spcBef>
                <a:spcPts val="900"/>
              </a:spcBef>
            </a:pPr>
            <a:r>
              <a:rPr sz="1600">
                <a:solidFill>
                  <a:srgbClr val="1E293B"/>
                </a:solidFill>
              </a:rPr>
              <a:t>• l</a:t>
            </a:r>
          </a:p>
          <a:p>
            <a:pPr>
              <a:spcBef>
                <a:spcPts val="900"/>
              </a:spcBef>
            </a:pPr>
            <a:r>
              <a:rPr sz="1600">
                <a:solidFill>
                  <a:srgbClr val="1E293B"/>
                </a:solidFill>
              </a:rPr>
              <a:t>• i</a:t>
            </a:r>
          </a:p>
          <a:p>
            <a:pPr>
              <a:spcBef>
                <a:spcPts val="900"/>
              </a:spcBef>
            </a:pPr>
            <a:r>
              <a:rPr sz="1600">
                <a:solidFill>
                  <a:srgbClr val="1E293B"/>
                </a:solidFill>
              </a:rPr>
              <a:t>• v</a:t>
            </a:r>
          </a:p>
          <a:p>
            <a:pPr>
              <a:spcBef>
                <a:spcPts val="900"/>
              </a:spcBef>
            </a:pPr>
            <a:r>
              <a:rPr sz="1600">
                <a:solidFill>
                  <a:srgbClr val="1E293B"/>
                </a:solidFill>
              </a:rPr>
              <a:t>• e</a:t>
            </a:r>
          </a:p>
          <a:p>
            <a:pPr>
              <a:spcBef>
                <a:spcPts val="900"/>
              </a:spcBef>
            </a:pPr>
            <a:r>
              <a:rPr sz="1600">
                <a:solidFill>
                  <a:srgbClr val="1E293B"/>
                </a:solidFill>
              </a:rPr>
              <a:t>• s</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泛</a:t>
            </a:r>
          </a:p>
          <a:p>
            <a:pPr>
              <a:spcBef>
                <a:spcPts val="900"/>
              </a:spcBef>
            </a:pPr>
            <a:r>
              <a:rPr sz="1600">
                <a:solidFill>
                  <a:srgbClr val="1E293B"/>
                </a:solidFill>
              </a:rPr>
              <a:t>• 指</a:t>
            </a:r>
          </a:p>
          <a:p>
            <a:pPr>
              <a:spcBef>
                <a:spcPts val="900"/>
              </a:spcBef>
            </a:pPr>
            <a:r>
              <a:rPr sz="1600">
                <a:solidFill>
                  <a:srgbClr val="1E293B"/>
                </a:solidFill>
              </a:rPr>
              <a:t>• 时</a:t>
            </a:r>
          </a:p>
          <a:p>
            <a:pPr>
              <a:spcBef>
                <a:spcPts val="900"/>
              </a:spcBef>
            </a:pPr>
            <a:r>
              <a:rPr sz="1600">
                <a:solidFill>
                  <a:srgbClr val="1E293B"/>
                </a:solidFill>
              </a:rPr>
              <a:t>• 应</a:t>
            </a:r>
          </a:p>
          <a:p>
            <a:pPr>
              <a:spcBef>
                <a:spcPts val="900"/>
              </a:spcBef>
            </a:pPr>
            <a:r>
              <a:rPr sz="1600">
                <a:solidFill>
                  <a:srgbClr val="1E293B"/>
                </a:solidFill>
              </a:rPr>
              <a:t>• 去</a:t>
            </a:r>
          </a:p>
          <a:p>
            <a:pPr>
              <a:spcBef>
                <a:spcPts val="900"/>
              </a:spcBef>
            </a:pPr>
            <a:r>
              <a:rPr sz="1600">
                <a:solidFill>
                  <a:srgbClr val="1E293B"/>
                </a:solidFill>
              </a:rPr>
              <a:t>• 掉</a:t>
            </a:r>
          </a:p>
          <a:p>
            <a:pPr>
              <a:spcBef>
                <a:spcPts val="900"/>
              </a:spcBef>
            </a:pPr>
            <a:r>
              <a:rPr sz="1600">
                <a:solidFill>
                  <a:srgbClr val="1E293B"/>
                </a:solidFill>
              </a:rPr>
              <a:t>• t</a:t>
            </a:r>
          </a:p>
          <a:p>
            <a:pPr>
              <a:spcBef>
                <a:spcPts val="900"/>
              </a:spcBef>
            </a:pPr>
            <a:r>
              <a:rPr sz="1600">
                <a:solidFill>
                  <a:srgbClr val="1E293B"/>
                </a:solidFill>
              </a:rPr>
              <a:t>• h</a:t>
            </a:r>
          </a:p>
          <a:p>
            <a:pPr>
              <a:spcBef>
                <a:spcPts val="900"/>
              </a:spcBef>
            </a:pPr>
            <a:r>
              <a:rPr sz="1600">
                <a:solidFill>
                  <a:srgbClr val="1E293B"/>
                </a:solidFill>
              </a:rPr>
              <a:t>• e</a:t>
            </a:r>
          </a:p>
          <a:p>
            <a:pPr>
              <a:spcBef>
                <a:spcPts val="900"/>
              </a:spcBef>
            </a:pPr>
            <a:r>
              <a:rPr sz="1600">
                <a:solidFill>
                  <a:srgbClr val="1E293B"/>
                </a:solidFill>
              </a:rPr>
              <a: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主谓一致：6大易错场景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场景1：介词短语隔离主语→谓语随主语（最近的名词）变化</a:t>
            </a:r>
          </a:p>
          <a:p>
            <a:pPr>
              <a:spcBef>
                <a:spcPts val="1000"/>
              </a:spcBef>
            </a:pPr>
            <a:r>
              <a:rPr sz="1650">
                <a:solidFill>
                  <a:srgbClr val="1E293B"/>
                </a:solidFill>
              </a:rPr>
              <a:t>• ✓ The impact of social media platforms IS significant（主语是impact，单数）</a:t>
            </a:r>
          </a:p>
          <a:p>
            <a:pPr>
              <a:spcBef>
                <a:spcPts val="1000"/>
              </a:spcBef>
            </a:pPr>
            <a:r>
              <a:rPr sz="1650">
                <a:solidFill>
                  <a:srgbClr val="1E293B"/>
                </a:solidFill>
              </a:rPr>
              <a:t>• 场景2：either...or/neither...nor→谓语随最近主语变化</a:t>
            </a:r>
          </a:p>
          <a:p>
            <a:pPr>
              <a:spcBef>
                <a:spcPts val="1000"/>
              </a:spcBef>
            </a:pPr>
            <a:r>
              <a:rPr sz="1650">
                <a:solidFill>
                  <a:srgbClr val="1E293B"/>
                </a:solidFill>
              </a:rPr>
              <a:t>• ✓ Either the teachers or the principal IS responsible.</a:t>
            </a:r>
          </a:p>
          <a:p>
            <a:pPr>
              <a:spcBef>
                <a:spcPts val="1000"/>
              </a:spcBef>
            </a:pPr>
            <a:r>
              <a:rPr sz="1650">
                <a:solidFill>
                  <a:srgbClr val="1E293B"/>
                </a:solidFill>
              </a:rPr>
              <a:t>• 场景3：集合名词（government/team/society）→通常单数</a:t>
            </a:r>
          </a:p>
          <a:p>
            <a:pPr>
              <a:spcBef>
                <a:spcPts val="1000"/>
              </a:spcBef>
            </a:pPr>
            <a:r>
              <a:rPr sz="1650">
                <a:solidFill>
                  <a:srgbClr val="1E293B"/>
                </a:solidFill>
              </a:rPr>
              <a:t>• 场景4：every/each/one of → 单数动词（每个都是单数）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时态规则：Task 2全文用一般现在时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Task 2论述观点/事实→一般现在时（presents, argues, leads to）</a:t>
            </a:r>
          </a:p>
          <a:p>
            <a:pPr>
              <a:spcBef>
                <a:spcPts val="1000"/>
              </a:spcBef>
            </a:pPr>
            <a:r>
              <a:rPr sz="1650">
                <a:solidFill>
                  <a:srgbClr val="1E293B"/>
                </a:solidFill>
              </a:rPr>
              <a:t>• 引用历史事实/研究数据→可用一般过去时（a 2020 study found that...）</a:t>
            </a:r>
          </a:p>
          <a:p>
            <a:pPr>
              <a:spcBef>
                <a:spcPts val="1000"/>
              </a:spcBef>
            </a:pPr>
            <a:r>
              <a:rPr sz="1650">
                <a:solidFill>
                  <a:srgbClr val="1E293B"/>
                </a:solidFill>
              </a:rPr>
              <a:t>• 预测/假设→情态动词（may/might/could/would）</a:t>
            </a:r>
          </a:p>
          <a:p>
            <a:pPr>
              <a:spcBef>
                <a:spcPts val="1000"/>
              </a:spcBef>
            </a:pPr>
            <a:r>
              <a:rPr sz="1650">
                <a:solidFill>
                  <a:srgbClr val="1E293B"/>
                </a:solidFill>
              </a:rPr>
              <a:t>• 错误：全文突然切换过去时叙述（"People used cars and this caused pollution"）</a:t>
            </a:r>
          </a:p>
          <a:p>
            <a:pPr>
              <a:spcBef>
                <a:spcPts val="1000"/>
              </a:spcBef>
            </a:pPr>
            <a:r>
              <a:rPr sz="1650">
                <a:solidFill>
                  <a:srgbClr val="1E293B"/>
                </a:solidFill>
              </a:rPr>
              <a:t>• 建议：写作前决定时态框架，写完后统一检查动词时态</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语法纠错：找出并改正以下段落中的错误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原段落（含5个语法错误）：
"Nowadays, the number of people who using smartphones are increasing rapidly. This have led to a serious problem: young peoples spend too much time on a screen. Governments should imposing regulations to limiting the usage."
请找出所有语法错误并改正。</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错误1：who using → who USE（定语从句需助动词）
错误2：are increasing → IS increasing（主语是number，单数）
错误3：This have → This HAS（This是单数）
错误4：young peoples → young PEOPLE（people已是复数）
错误5：should imposing → should IMPOSE（情态动词+动词原形）
正确句：Nowadays, the number of people who use smartphones is increasing rapidly. This has led to a serious problem: young people spend too much time on screens. Governments should impose regulations to limit usage.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每次写完文章后专门扫描这5类错误——2分钟可以避免大量失分</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冠词填空练习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请在空格处填入a/an/the或∅（不需要冠词）：
1. ___ education is crucial for economic development.
2. ___ government should take responsibility for this issue.
3. She made ___ important contribution to ___ field of medicine.
4. ___ Internet has transformed ___ way we communicate.
5. There is ___ growing trend towards remote working.</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 ∅ education（泛指，不加冠词）
2. The government（特指这个政府）
3. an important contribution（第一次提到，辅音音节前用an）
4. The Internet（专有名词）/ the way（特指那种方式）
5. a growing trend（第一次提到，可数名词）</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记住：泛指抽象概念/学科/语言不加冠词（education/technology/society）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综合练习：词汇与语法整合</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Integrated Vocabulary &amp; Grammar Practice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词汇与语法联动策略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高分写作= 准确词汇 × 多样结构。孤立练习词汇或语法效果有限，真正的提升来自整合使用：用复杂句型承载高级词汇，用精准搭配填充句子骨架。策略：先写简单正确版，再升级1-2个词汇，再加1个复杂结构。</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先</a:t>
            </a:r>
          </a:p>
          <a:p>
            <a:pPr>
              <a:spcBef>
                <a:spcPts val="900"/>
              </a:spcBef>
            </a:pPr>
            <a:r>
              <a:rPr sz="1600">
                <a:solidFill>
                  <a:srgbClr val="1E293B"/>
                </a:solidFill>
              </a:rPr>
              <a:t>• 对</a:t>
            </a:r>
          </a:p>
          <a:p>
            <a:pPr>
              <a:spcBef>
                <a:spcPts val="900"/>
              </a:spcBef>
            </a:pPr>
            <a:r>
              <a:rPr sz="1600">
                <a:solidFill>
                  <a:srgbClr val="1E293B"/>
                </a:solidFill>
              </a:rPr>
              <a:t>• 再</a:t>
            </a:r>
          </a:p>
          <a:p>
            <a:pPr>
              <a:spcBef>
                <a:spcPts val="900"/>
              </a:spcBef>
            </a:pPr>
            <a:r>
              <a:rPr sz="1600">
                <a:solidFill>
                  <a:srgbClr val="1E293B"/>
                </a:solidFill>
              </a:rPr>
              <a:t>• 好</a:t>
            </a:r>
          </a:p>
          <a:p>
            <a:pPr>
              <a:spcBef>
                <a:spcPts val="900"/>
              </a:spcBef>
            </a:pPr>
            <a:r>
              <a:rPr sz="1600">
                <a:solidFill>
                  <a:srgbClr val="1E293B"/>
                </a:solidFill>
              </a:rPr>
              <a:t>• ：</a:t>
            </a:r>
          </a:p>
          <a:p>
            <a:pPr>
              <a:spcBef>
                <a:spcPts val="900"/>
              </a:spcBef>
            </a:pPr>
            <a:r>
              <a:rPr sz="1600">
                <a:solidFill>
                  <a:srgbClr val="1E293B"/>
                </a:solidFill>
              </a:rPr>
              <a:t>• 准</a:t>
            </a:r>
          </a:p>
          <a:p>
            <a:pPr>
              <a:spcBef>
                <a:spcPts val="900"/>
              </a:spcBef>
            </a:pPr>
            <a:r>
              <a:rPr sz="1600">
                <a:solidFill>
                  <a:srgbClr val="1E293B"/>
                </a:solidFill>
              </a:rPr>
              <a:t>• 确</a:t>
            </a:r>
          </a:p>
          <a:p>
            <a:pPr>
              <a:spcBef>
                <a:spcPts val="900"/>
              </a:spcBef>
            </a:pPr>
            <a:r>
              <a:rPr sz="1600">
                <a:solidFill>
                  <a:srgbClr val="1E293B"/>
                </a:solidFill>
              </a:rPr>
              <a:t>• 性</a:t>
            </a:r>
          </a:p>
          <a:p>
            <a:pPr>
              <a:spcBef>
                <a:spcPts val="900"/>
              </a:spcBef>
            </a:pPr>
            <a:r>
              <a:rPr sz="1600">
                <a:solidFill>
                  <a:srgbClr val="1E293B"/>
                </a:solidFill>
              </a:rPr>
              <a:t>•  </a:t>
            </a:r>
          </a:p>
          <a:p>
            <a:pPr>
              <a:spcBef>
                <a:spcPts val="900"/>
              </a:spcBef>
            </a:pPr>
            <a:r>
              <a:rPr sz="1600">
                <a:solidFill>
                  <a:srgbClr val="1E293B"/>
                </a:solidFill>
              </a:rPr>
              <a:t>• &gt;</a:t>
            </a:r>
          </a:p>
          <a:p>
            <a:pPr>
              <a:spcBef>
                <a:spcPts val="900"/>
              </a:spcBef>
            </a:pPr>
            <a:r>
              <a:rPr sz="1600">
                <a:solidFill>
                  <a:srgbClr val="1E293B"/>
                </a:solidFill>
              </a:rPr>
              <a:t>•  </a:t>
            </a:r>
          </a:p>
          <a:p>
            <a:pPr>
              <a:spcBef>
                <a:spcPts val="900"/>
              </a:spcBef>
            </a:pPr>
            <a:r>
              <a:rPr sz="1600">
                <a:solidFill>
                  <a:srgbClr val="1E293B"/>
                </a:solidFill>
              </a:rPr>
              <a:t>• 复</a:t>
            </a:r>
          </a:p>
          <a:p>
            <a:pPr>
              <a:spcBef>
                <a:spcPts val="900"/>
              </a:spcBef>
            </a:pPr>
            <a:r>
              <a:rPr sz="1600">
                <a:solidFill>
                  <a:srgbClr val="1E293B"/>
                </a:solidFill>
              </a:rPr>
              <a:t>• 杂</a:t>
            </a:r>
          </a:p>
          <a:p>
            <a:pPr>
              <a:spcBef>
                <a:spcPts val="900"/>
              </a:spcBef>
            </a:pPr>
            <a:r>
              <a:rPr sz="1600">
                <a:solidFill>
                  <a:srgbClr val="1E293B"/>
                </a:solidFill>
              </a:rPr>
              <a:t>• 性</a:t>
            </a:r>
          </a:p>
          <a:p>
            <a:pPr>
              <a:spcBef>
                <a:spcPts val="900"/>
              </a:spcBef>
            </a:pPr>
            <a:r>
              <a:rPr sz="1600">
                <a:solidFill>
                  <a:srgbClr val="1E293B"/>
                </a:solidFill>
              </a:rPr>
              <a:t>• ，</a:t>
            </a:r>
          </a:p>
          <a:p>
            <a:pPr>
              <a:spcBef>
                <a:spcPts val="900"/>
              </a:spcBef>
            </a:pPr>
            <a:r>
              <a:rPr sz="1600">
                <a:solidFill>
                  <a:srgbClr val="1E293B"/>
                </a:solidFill>
              </a:rPr>
              <a:t>• 不</a:t>
            </a:r>
          </a:p>
          <a:p>
            <a:pPr>
              <a:spcBef>
                <a:spcPts val="900"/>
              </a:spcBef>
            </a:pPr>
            <a:r>
              <a:rPr sz="1600">
                <a:solidFill>
                  <a:srgbClr val="1E293B"/>
                </a:solidFill>
              </a:rPr>
              <a:t>• 要</a:t>
            </a:r>
          </a:p>
          <a:p>
            <a:pPr>
              <a:spcBef>
                <a:spcPts val="900"/>
              </a:spcBef>
            </a:pPr>
            <a:r>
              <a:rPr sz="1600">
                <a:solidFill>
                  <a:srgbClr val="1E293B"/>
                </a:solidFill>
              </a:rPr>
              <a:t>• 为</a:t>
            </a:r>
          </a:p>
          <a:p>
            <a:pPr>
              <a:spcBef>
                <a:spcPts val="900"/>
              </a:spcBef>
            </a:pPr>
            <a:r>
              <a:rPr sz="1600">
                <a:solidFill>
                  <a:srgbClr val="1E293B"/>
                </a:solidFill>
              </a:rPr>
              <a:t>• 了</a:t>
            </a:r>
          </a:p>
          <a:p>
            <a:pPr>
              <a:spcBef>
                <a:spcPts val="900"/>
              </a:spcBef>
            </a:pPr>
            <a:r>
              <a:rPr sz="1600">
                <a:solidFill>
                  <a:srgbClr val="1E293B"/>
                </a:solidFill>
              </a:rPr>
              <a:t>• 高</a:t>
            </a:r>
          </a:p>
          <a:p>
            <a:pPr>
              <a:spcBef>
                <a:spcPts val="900"/>
              </a:spcBef>
            </a:pPr>
            <a:r>
              <a:rPr sz="1600">
                <a:solidFill>
                  <a:srgbClr val="1E293B"/>
                </a:solidFill>
              </a:rPr>
              <a:t>• 级</a:t>
            </a:r>
          </a:p>
          <a:p>
            <a:pPr>
              <a:spcBef>
                <a:spcPts val="900"/>
              </a:spcBef>
            </a:pPr>
            <a:r>
              <a:rPr sz="1600">
                <a:solidFill>
                  <a:srgbClr val="1E293B"/>
                </a:solidFill>
              </a:rPr>
              <a:t>• 感</a:t>
            </a:r>
          </a:p>
          <a:p>
            <a:pPr>
              <a:spcBef>
                <a:spcPts val="900"/>
              </a:spcBef>
            </a:pPr>
            <a:r>
              <a:rPr sz="1600">
                <a:solidFill>
                  <a:srgbClr val="1E293B"/>
                </a:solidFill>
              </a:rPr>
              <a:t>• 而</a:t>
            </a:r>
          </a:p>
          <a:p>
            <a:pPr>
              <a:spcBef>
                <a:spcPts val="900"/>
              </a:spcBef>
            </a:pPr>
            <a:r>
              <a:rPr sz="1600">
                <a:solidFill>
                  <a:srgbClr val="1E293B"/>
                </a:solidFill>
              </a:rPr>
              <a:t>• 牺</a:t>
            </a:r>
          </a:p>
          <a:p>
            <a:pPr>
              <a:spcBef>
                <a:spcPts val="900"/>
              </a:spcBef>
            </a:pPr>
            <a:r>
              <a:rPr sz="1600">
                <a:solidFill>
                  <a:srgbClr val="1E293B"/>
                </a:solidFill>
              </a:rPr>
              <a:t>• 牲</a:t>
            </a:r>
          </a:p>
          <a:p>
            <a:pPr>
              <a:spcBef>
                <a:spcPts val="900"/>
              </a:spcBef>
            </a:pPr>
            <a:r>
              <a:rPr sz="1600">
                <a:solidFill>
                  <a:srgbClr val="1E293B"/>
                </a:solidFill>
              </a:rPr>
              <a:t>• 准</a:t>
            </a:r>
          </a:p>
          <a:p>
            <a:pPr>
              <a:spcBef>
                <a:spcPts val="900"/>
              </a:spcBef>
            </a:pPr>
            <a:r>
              <a:rPr sz="1600">
                <a:solidFill>
                  <a:srgbClr val="1E293B"/>
                </a:solidFill>
              </a:rPr>
              <a:t>• 确</a:t>
            </a:r>
          </a:p>
          <a:p>
            <a:pPr>
              <a:spcBef>
                <a:spcPts val="900"/>
              </a:spcBef>
            </a:pPr>
            <a:r>
              <a:rPr sz="1600">
                <a:solidFill>
                  <a:srgbClr val="1E293B"/>
                </a:solidFill>
              </a:rPr>
              <a:t>• 性</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提分路径：从Band 6到Band 7词法升级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Band 6特征：
- 词汇有一定多样性，但重复较多
- 语法基本正确，有少量错误
- 句型以简单句和少量从句为主
Band 7特征：
- 使用不常见词汇，有搭配意识
- 语法多样且基本准确
- 复杂句型占30-40%，灵活运用</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提</a:t>
            </a:r>
          </a:p>
          <a:p>
            <a:pPr>
              <a:spcBef>
                <a:spcPts val="900"/>
              </a:spcBef>
            </a:pPr>
            <a:r>
              <a:rPr sz="1600">
                <a:solidFill>
                  <a:srgbClr val="1E293B"/>
                </a:solidFill>
              </a:rPr>
              <a:t>• 升</a:t>
            </a:r>
          </a:p>
          <a:p>
            <a:pPr>
              <a:spcBef>
                <a:spcPts val="900"/>
              </a:spcBef>
            </a:pPr>
            <a:r>
              <a:rPr sz="1600">
                <a:solidFill>
                  <a:srgbClr val="1E293B"/>
                </a:solidFill>
              </a:rPr>
              <a:t>• 关</a:t>
            </a:r>
          </a:p>
          <a:p>
            <a:pPr>
              <a:spcBef>
                <a:spcPts val="900"/>
              </a:spcBef>
            </a:pPr>
            <a:r>
              <a:rPr sz="1600">
                <a:solidFill>
                  <a:srgbClr val="1E293B"/>
                </a:solidFill>
              </a:rPr>
              <a:t>• 键</a:t>
            </a:r>
          </a:p>
          <a:p>
            <a:pPr>
              <a:spcBef>
                <a:spcPts val="900"/>
              </a:spcBef>
            </a:pPr>
            <a:r>
              <a:rPr sz="1600">
                <a:solidFill>
                  <a:srgbClr val="1E293B"/>
                </a:solidFill>
              </a:rPr>
              <a:t>• ：</a:t>
            </a:r>
          </a:p>
          <a:p>
            <a:pPr>
              <a:spcBef>
                <a:spcPts val="900"/>
              </a:spcBef>
            </a:pPr>
            <a:r>
              <a:rPr sz="1600">
                <a:solidFill>
                  <a:srgbClr val="1E293B"/>
                </a:solidFill>
              </a:rPr>
              <a:t>• 每</a:t>
            </a:r>
          </a:p>
          <a:p>
            <a:pPr>
              <a:spcBef>
                <a:spcPts val="900"/>
              </a:spcBef>
            </a:pPr>
            <a:r>
              <a:rPr sz="1600">
                <a:solidFill>
                  <a:srgbClr val="1E293B"/>
                </a:solidFill>
              </a:rPr>
              <a:t>• 次</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后</a:t>
            </a:r>
          </a:p>
          <a:p>
            <a:pPr>
              <a:spcBef>
                <a:spcPts val="900"/>
              </a:spcBef>
            </a:pPr>
            <a:r>
              <a:rPr sz="1600">
                <a:solidFill>
                  <a:srgbClr val="1E293B"/>
                </a:solidFill>
              </a:rPr>
              <a:t>• 刻</a:t>
            </a:r>
          </a:p>
          <a:p>
            <a:pPr>
              <a:spcBef>
                <a:spcPts val="900"/>
              </a:spcBef>
            </a:pPr>
            <a:r>
              <a:rPr sz="1600">
                <a:solidFill>
                  <a:srgbClr val="1E293B"/>
                </a:solidFill>
              </a:rPr>
              <a:t>• 意</a:t>
            </a:r>
          </a:p>
          <a:p>
            <a:pPr>
              <a:spcBef>
                <a:spcPts val="900"/>
              </a:spcBef>
            </a:pPr>
            <a:r>
              <a:rPr sz="1600">
                <a:solidFill>
                  <a:srgbClr val="1E293B"/>
                </a:solidFill>
              </a:rPr>
              <a:t>• 检</a:t>
            </a:r>
          </a:p>
          <a:p>
            <a:pPr>
              <a:spcBef>
                <a:spcPts val="900"/>
              </a:spcBef>
            </a:pPr>
            <a:r>
              <a:rPr sz="1600">
                <a:solidFill>
                  <a:srgbClr val="1E293B"/>
                </a:solidFill>
              </a:rPr>
              <a:t>• 查</a:t>
            </a:r>
          </a:p>
          <a:p>
            <a:pPr>
              <a:spcBef>
                <a:spcPts val="900"/>
              </a:spcBef>
            </a:pPr>
            <a:r>
              <a:rPr sz="1600">
                <a:solidFill>
                  <a:srgbClr val="1E293B"/>
                </a:solidFill>
              </a:rPr>
              <a:t>• 3</a:t>
            </a:r>
          </a:p>
          <a:p>
            <a:pPr>
              <a:spcBef>
                <a:spcPts val="900"/>
              </a:spcBef>
            </a:pPr>
            <a:r>
              <a:rPr sz="1600">
                <a:solidFill>
                  <a:srgbClr val="1E293B"/>
                </a:solidFill>
              </a:rPr>
              <a:t>• 项</a:t>
            </a:r>
          </a:p>
          <a:p>
            <a:pPr>
              <a:spcBef>
                <a:spcPts val="900"/>
              </a:spcBef>
            </a:pPr>
            <a:r>
              <a:rPr sz="1600">
                <a:solidFill>
                  <a:srgbClr val="1E293B"/>
                </a:solidFill>
              </a:rPr>
              <a:t>• ：</a:t>
            </a:r>
          </a:p>
          <a:p>
            <a:pPr>
              <a:spcBef>
                <a:spcPts val="900"/>
              </a:spcBef>
            </a:pPr>
            <a:r>
              <a:rPr sz="1600">
                <a:solidFill>
                  <a:srgbClr val="1E293B"/>
                </a:solidFill>
              </a:rPr>
              <a:t>• 词</a:t>
            </a:r>
          </a:p>
          <a:p>
            <a:pPr>
              <a:spcBef>
                <a:spcPts val="900"/>
              </a:spcBef>
            </a:pPr>
            <a:r>
              <a:rPr sz="1600">
                <a:solidFill>
                  <a:srgbClr val="1E293B"/>
                </a:solidFill>
              </a:rPr>
              <a:t>• 汇</a:t>
            </a:r>
          </a:p>
          <a:p>
            <a:pPr>
              <a:spcBef>
                <a:spcPts val="900"/>
              </a:spcBef>
            </a:pPr>
            <a:r>
              <a:rPr sz="1600">
                <a:solidFill>
                  <a:srgbClr val="1E293B"/>
                </a:solidFill>
              </a:rPr>
              <a:t>• 替</a:t>
            </a:r>
          </a:p>
          <a:p>
            <a:pPr>
              <a:spcBef>
                <a:spcPts val="900"/>
              </a:spcBef>
            </a:pPr>
            <a:r>
              <a:rPr sz="1600">
                <a:solidFill>
                  <a:srgbClr val="1E293B"/>
                </a:solidFill>
              </a:rPr>
              <a:t>• 换</a:t>
            </a:r>
          </a:p>
          <a:p>
            <a:pPr>
              <a:spcBef>
                <a:spcPts val="900"/>
              </a:spcBef>
            </a:pPr>
            <a:r>
              <a:rPr sz="1600">
                <a:solidFill>
                  <a:srgbClr val="1E293B"/>
                </a:solidFill>
              </a:rPr>
              <a:t>• 、</a:t>
            </a:r>
          </a:p>
          <a:p>
            <a:pPr>
              <a:spcBef>
                <a:spcPts val="900"/>
              </a:spcBef>
            </a:pPr>
            <a:r>
              <a:rPr sz="1600">
                <a:solidFill>
                  <a:srgbClr val="1E293B"/>
                </a:solidFill>
              </a:rPr>
              <a:t>• 搭</a:t>
            </a:r>
          </a:p>
          <a:p>
            <a:pPr>
              <a:spcBef>
                <a:spcPts val="900"/>
              </a:spcBef>
            </a:pPr>
            <a:r>
              <a:rPr sz="1600">
                <a:solidFill>
                  <a:srgbClr val="1E293B"/>
                </a:solidFill>
              </a:rPr>
              <a:t>• 配</a:t>
            </a:r>
          </a:p>
          <a:p>
            <a:pPr>
              <a:spcBef>
                <a:spcPts val="900"/>
              </a:spcBef>
            </a:pPr>
            <a:r>
              <a:rPr sz="1600">
                <a:solidFill>
                  <a:srgbClr val="1E293B"/>
                </a:solidFill>
              </a:rPr>
              <a:t>• 准</a:t>
            </a:r>
          </a:p>
          <a:p>
            <a:pPr>
              <a:spcBef>
                <a:spcPts val="900"/>
              </a:spcBef>
            </a:pPr>
            <a:r>
              <a:rPr sz="1600">
                <a:solidFill>
                  <a:srgbClr val="1E293B"/>
                </a:solidFill>
              </a:rPr>
              <a:t>• 确</a:t>
            </a:r>
          </a:p>
          <a:p>
            <a:pPr>
              <a:spcBef>
                <a:spcPts val="900"/>
              </a:spcBef>
            </a:pPr>
            <a:r>
              <a:rPr sz="1600">
                <a:solidFill>
                  <a:srgbClr val="1E293B"/>
                </a:solidFill>
              </a:rPr>
              <a:t>• 、</a:t>
            </a:r>
          </a:p>
          <a:p>
            <a:pPr>
              <a:spcBef>
                <a:spcPts val="900"/>
              </a:spcBef>
            </a:pPr>
            <a:r>
              <a:rPr sz="1600">
                <a:solidFill>
                  <a:srgbClr val="1E293B"/>
                </a:solidFill>
              </a:rPr>
              <a:t>• 复</a:t>
            </a:r>
          </a:p>
          <a:p>
            <a:pPr>
              <a:spcBef>
                <a:spcPts val="900"/>
              </a:spcBef>
            </a:pPr>
            <a:r>
              <a:rPr sz="1600">
                <a:solidFill>
                  <a:srgbClr val="1E293B"/>
                </a:solidFill>
              </a:rPr>
              <a:t>• 杂</a:t>
            </a:r>
          </a:p>
          <a:p>
            <a:pPr>
              <a:spcBef>
                <a:spcPts val="900"/>
              </a:spcBef>
            </a:pPr>
            <a:r>
              <a:rPr sz="1600">
                <a:solidFill>
                  <a:srgbClr val="1E293B"/>
                </a:solidFill>
              </a:rPr>
              <a:t>• 句</a:t>
            </a:r>
          </a:p>
          <a:p>
            <a:pPr>
              <a:spcBef>
                <a:spcPts val="900"/>
              </a:spcBef>
            </a:pPr>
            <a:r>
              <a:rPr sz="1600">
                <a:solidFill>
                  <a:srgbClr val="1E293B"/>
                </a:solidFill>
              </a:rPr>
              <a:t>• 比</a:t>
            </a:r>
          </a:p>
          <a:p>
            <a:pPr>
              <a:spcBef>
                <a:spcPts val="900"/>
              </a:spcBef>
            </a:pPr>
            <a:r>
              <a:rPr sz="1600">
                <a:solidFill>
                  <a:srgbClr val="1E293B"/>
                </a:solidFill>
              </a:rPr>
              <a:t>• 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词汇升级四步流程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第一步·识别普通词：标记所有常见词（big/good/bad/many/show/think等）</a:t>
            </a:r>
          </a:p>
          <a:p>
            <a:pPr>
              <a:spcBef>
                <a:spcPts val="1000"/>
              </a:spcBef>
            </a:pPr>
            <a:r>
              <a:rPr sz="1650">
                <a:solidFill>
                  <a:srgbClr val="1E293B"/>
                </a:solidFill>
              </a:rPr>
              <a:t>• 第二步·替换备选：为每个词列出2-3个升级词</a:t>
            </a:r>
          </a:p>
          <a:p>
            <a:pPr>
              <a:spcBef>
                <a:spcPts val="1000"/>
              </a:spcBef>
            </a:pPr>
            <a:r>
              <a:rPr sz="1650">
                <a:solidFill>
                  <a:srgbClr val="1E293B"/>
                </a:solidFill>
              </a:rPr>
              <a:t>• 第三步·搭配检验：确认升级词与前后词搭配自然</a:t>
            </a:r>
          </a:p>
          <a:p>
            <a:pPr>
              <a:spcBef>
                <a:spcPts val="1000"/>
              </a:spcBef>
            </a:pPr>
            <a:r>
              <a:rPr sz="1650">
                <a:solidFill>
                  <a:srgbClr val="1E293B"/>
                </a:solidFill>
              </a:rPr>
              <a:t>• 第四步·多样检查：全文同一概念是否已使用2种以上表达？</a:t>
            </a:r>
          </a:p>
          <a:p>
            <a:pPr>
              <a:spcBef>
                <a:spcPts val="1000"/>
              </a:spcBef>
            </a:pPr>
            <a:r>
              <a:rPr sz="1650">
                <a:solidFill>
                  <a:srgbClr val="1E293B"/>
                </a:solidFill>
              </a:rPr>
              <a:t>• 工具提示：Collocations Dictionary（搭配词典）是备考利器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语法检查三步流程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第一步·主谓扫描：找出每个句子的主语，检查动词数的一致</a:t>
            </a:r>
          </a:p>
          <a:p>
            <a:pPr>
              <a:spcBef>
                <a:spcPts val="1000"/>
              </a:spcBef>
            </a:pPr>
            <a:r>
              <a:rPr sz="1650">
                <a:solidFill>
                  <a:srgbClr val="1E293B"/>
                </a:solidFill>
              </a:rPr>
              <a:t>• 第二步·冠词扫描：逐个检查可数名词前是否有正确冠词</a:t>
            </a:r>
          </a:p>
          <a:p>
            <a:pPr>
              <a:spcBef>
                <a:spcPts val="1000"/>
              </a:spcBef>
            </a:pPr>
            <a:r>
              <a:rPr sz="1650">
                <a:solidFill>
                  <a:srgbClr val="1E293B"/>
                </a:solidFill>
              </a:rPr>
              <a:t>• 第三步·时态扫描：Task 2全文应统一用一般现在时，引用数据可用过去时</a:t>
            </a:r>
          </a:p>
          <a:p>
            <a:pPr>
              <a:spcBef>
                <a:spcPts val="1000"/>
              </a:spcBef>
            </a:pPr>
            <a:r>
              <a:rPr sz="1650">
                <a:solidFill>
                  <a:srgbClr val="1E293B"/>
                </a:solidFill>
              </a:rPr>
              <a:t>• 检查顺序建议：先看第一段（引言）→再看主体段的第一句（主题句）→最后看结论</a:t>
            </a:r>
          </a:p>
          <a:p>
            <a:pPr>
              <a:spcBef>
                <a:spcPts val="1000"/>
              </a:spcBef>
            </a:pPr>
            <a:r>
              <a:rPr sz="1650">
                <a:solidFill>
                  <a:srgbClr val="1E293B"/>
                </a:solidFill>
              </a:rPr>
              <a:t>• 时间分配：5分钟检查时间，词汇2分钟+语法3分钟</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综合升级练习：改写以下段落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原段落（Band 6水平）：
"Many people think that using computers is good for students. Students can find a lot of information on the internet. This can help them learn better. Also, computers can make students more creative."
任务：①替换所有标记词汇 ②添加至少1个定语从句 ③添加至少1个让步从句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参考答案（Band 7水平）：
Although some critics argue that excessive screen time poses risks, the majority of educators contend that technology, which provides instant access to a wealth of information, is highly beneficial for students. Not only does it enable learners to conduct independent research more efficiently, but it also fosters creativity by exposing them to diverse perspectives and innovative problem-solving approaches.</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对比原文：词汇升级（many→majority, good→beneficial, help→enable, creative→creativity），结构升级（添加让步从句、定语从句、not only...but also倒装）</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模拟检查：以下段落有几个错误？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
"The government should takes action to address the issue of rising crime rate in urban area. Research shows that unemployment often leads peoples to criminal activity. Therefore, creating more job opportunity are essential for reducing crimes in the cities."
请逐句检查：主谓一致、冠词、单复数。</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错误1：should takes → should TAKE（情态动词后接原形）
错误2：crime rate → THE crime rate 或 crime rates（特指或复数）
错误3：in urban area → in urban AREAS（可数复数）
错误4：leads peoples → leads PEOPLE（people无需加s）
错误5：creating...ARE → creating...IS（动名词短语作主语，谓语单数）
错误6：crimes in the cities → crime in cities（泛指）
共6个错误</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这6类错误是中国考生最高频失误，每次写作后专项检查</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2词汇升级范文：科技与教育</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题目：Topic: Some people believe that technology has made us more dependent rather than more independent. To what extent do you agree or disagree?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引言：While technology undoubtedly fosters certain dependencies, I firmly believe that, on balance, it significantly enhances human autonomy and capability.
主体段1：Admittedly, there are contexts in which technology creates unhealthy reliance. Individuals who depend heavily on navigation applications may gradually lose their innate sense of direction. Similarly, the widespread availability of spell-checkers has arguably diminished motivation to develop writing skills independently.
主体段2：Nevertheless, this perspective overlooks the extent to which technology empowers individuals. The Internet, which provides instant access to a vast repository of knowledge, enables people to educate themselves on virtually any subject.
结论：In conclusion, although technology inevitably introduces some dependencies, its capacity to expand human knowledge far outweighs these drawbacks. Ultimately, how independent we become is largely determined by how thoughtfully we use the tools available.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词汇亮点：undoubtedly/foster/dependency/autonomy（不常见词汇）</a:t>
            </a:r>
          </a:p>
          <a:p>
            <a:pPr>
              <a:spcBef>
                <a:spcPts val="700"/>
              </a:spcBef>
            </a:pPr>
            <a:r>
              <a:rPr sz="1200">
                <a:solidFill>
                  <a:srgbClr val="1E293B"/>
                </a:solidFill>
              </a:rPr>
              <a:t>▸ innate/arguably/diminished — 让步开头Admittedly展示成熟论证</a:t>
            </a:r>
          </a:p>
          <a:p>
            <a:pPr>
              <a:spcBef>
                <a:spcPts val="700"/>
              </a:spcBef>
            </a:pPr>
            <a:r>
              <a:rPr sz="1200">
                <a:solidFill>
                  <a:srgbClr val="1E293B"/>
                </a:solidFill>
              </a:rPr>
              <a:t>▸ overlooks/empower/repository/virtually — 高级动词提升表达层次</a:t>
            </a:r>
          </a:p>
          <a:p>
            <a:pPr>
              <a:spcBef>
                <a:spcPts val="700"/>
              </a:spcBef>
            </a:pPr>
            <a:r>
              <a:rPr sz="1200">
                <a:solidFill>
                  <a:srgbClr val="1E293B"/>
                </a:solidFill>
              </a:rPr>
              <a:t>▸ inevitably/outweighs/ultimately/thoughtfully — 结论段学术副词</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2语法多样范文：城市发展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题目：Topic: In many countries, people are moving from rural areas to cities. Why is this happening and what problems does this cause?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引言：The migration of populations from rural to urban areas is a phenomenon that has accelerated dramatically over recent decades. This essay will examine the principal drivers of this trend and analyze the challenges it creates.
主体段1（原因）：The most compelling factor driving rural-urban migration is the pursuit of economic opportunity. Cities, which tend to concentrate industries and commercial enterprises, offer significantly higher wages. Moreover, urban areas provide access to healthcare and educational facilities, both of which are often severely lacking in rural regions.
主体段2（问题）：However, this mass movement inevitably places considerable strain on urban infrastructure. Rapidly expanding cities struggle to provide adequate housing, leading to the proliferation of overcrowded settlements. Furthermore, transportation networks are frequently overwhelmed, resulting in declining quality of life.
结论：In conclusion, while the economic appeal of cities continues to attract rural populations, the resulting pressures demand urgent policy responses. Only through sustained investment in both rural development and urban planning can governments address this challenge.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定语从句：a phenomenon that has... / both of which are... / Cities, which tend to...</a:t>
            </a:r>
          </a:p>
          <a:p>
            <a:pPr>
              <a:spcBef>
                <a:spcPts val="700"/>
              </a:spcBef>
            </a:pPr>
            <a:r>
              <a:rPr sz="1200">
                <a:solidFill>
                  <a:srgbClr val="1E293B"/>
                </a:solidFill>
              </a:rPr>
              <a:t>▸ 分词短语：leading to the proliferation... / resulting in declining quality...</a:t>
            </a:r>
          </a:p>
          <a:p>
            <a:pPr>
              <a:spcBef>
                <a:spcPts val="700"/>
              </a:spcBef>
            </a:pPr>
            <a:r>
              <a:rPr sz="1200">
                <a:solidFill>
                  <a:srgbClr val="1E293B"/>
                </a:solidFill>
              </a:rPr>
              <a:t>▸ 倒装句：Only through sustained investment can governments...（最高级语法亮点）</a:t>
            </a:r>
          </a:p>
          <a:p>
            <a:pPr>
              <a:spcBef>
                <a:spcPts val="700"/>
              </a:spcBef>
            </a:pPr>
            <a:r>
              <a:rPr sz="1200">
                <a:solidFill>
                  <a:srgbClr val="1E293B"/>
                </a:solidFill>
              </a:rPr>
              <a:t>▸ 让步从句：while the economic appeal continues... — 结构与第一段引言呼应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词汇对比：Band 6 vs Band 7表达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Band 6（常见词汇）</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Band 7（学术词汇）</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Many people think technology is important.</a:t>
            </a:r>
          </a:p>
          <a:p>
            <a:pPr>
              <a:spcBef>
                <a:spcPts val="700"/>
              </a:spcBef>
            </a:pPr>
            <a:r>
              <a:rPr sz="1350">
                <a:solidFill>
                  <a:srgbClr val="C02A2A"/>
                </a:solidFill>
              </a:rPr>
              <a:t>✗ The problem is getting more serious.</a:t>
            </a:r>
          </a:p>
          <a:p>
            <a:pPr>
              <a:spcBef>
                <a:spcPts val="700"/>
              </a:spcBef>
            </a:pPr>
            <a:r>
              <a:rPr sz="1350">
                <a:solidFill>
                  <a:srgbClr val="C02A2A"/>
                </a:solidFill>
              </a:rPr>
              <a:t>✗ Governments should help poor people.</a:t>
            </a:r>
          </a:p>
          <a:p>
            <a:pPr>
              <a:spcBef>
                <a:spcPts val="700"/>
              </a:spcBef>
            </a:pPr>
            <a:r>
              <a:rPr sz="1350">
                <a:solidFill>
                  <a:srgbClr val="C02A2A"/>
                </a:solidFill>
              </a:rPr>
              <a:t>✗ This can cause bad effects on health.</a:t>
            </a:r>
          </a:p>
          <a:p>
            <a:pPr>
              <a:spcBef>
                <a:spcPts val="700"/>
              </a:spcBef>
            </a:pPr>
            <a:r>
              <a:rPr sz="1350">
                <a:solidFill>
                  <a:srgbClr val="C02A2A"/>
                </a:solidFill>
              </a:rPr>
              <a:t>✗ Students need to study hard to get good results.</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A significant proportion of the population contends that technology is vital.</a:t>
            </a:r>
          </a:p>
          <a:p>
            <a:pPr>
              <a:spcBef>
                <a:spcPts val="700"/>
              </a:spcBef>
            </a:pPr>
            <a:r>
              <a:rPr sz="1350">
                <a:solidFill>
                  <a:srgbClr val="1B7A3D"/>
                </a:solidFill>
              </a:rPr>
              <a:t>✓ The issue is becoming increasingly acute/pressing.</a:t>
            </a:r>
          </a:p>
          <a:p>
            <a:pPr>
              <a:spcBef>
                <a:spcPts val="700"/>
              </a:spcBef>
            </a:pPr>
            <a:r>
              <a:rPr sz="1350">
                <a:solidFill>
                  <a:srgbClr val="1B7A3D"/>
                </a:solidFill>
              </a:rPr>
              <a:t>✓ Governments should implement targeted measures to support disadvantaged groups.</a:t>
            </a:r>
          </a:p>
          <a:p>
            <a:pPr>
              <a:spcBef>
                <a:spcPts val="700"/>
              </a:spcBef>
            </a:pPr>
            <a:r>
              <a:rPr sz="1350">
                <a:solidFill>
                  <a:srgbClr val="1B7A3D"/>
                </a:solidFill>
              </a:rPr>
              <a:t>✓ This may have detrimental consequences for public health.</a:t>
            </a:r>
          </a:p>
          <a:p>
            <a:pPr>
              <a:spcBef>
                <a:spcPts val="700"/>
              </a:spcBef>
            </a:pPr>
            <a:r>
              <a:rPr sz="1350">
                <a:solidFill>
                  <a:srgbClr val="1B7A3D"/>
                </a:solidFill>
              </a:rPr>
              <a:t>✓ Students are required to engage diligently with their studies to achieve favorable academic outcomes.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语法对比：简单句 vs 复杂句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简单句组合（Band 6）</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复杂句整合（Band 7）</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Technology is useful. It helps students.</a:t>
            </a:r>
          </a:p>
          <a:p>
            <a:pPr>
              <a:spcBef>
                <a:spcPts val="700"/>
              </a:spcBef>
            </a:pPr>
            <a:r>
              <a:rPr sz="1350">
                <a:solidFill>
                  <a:srgbClr val="C02A2A"/>
                </a:solidFill>
              </a:rPr>
              <a:t>✗ People use cars. Cars cause pollution.</a:t>
            </a:r>
          </a:p>
          <a:p>
            <a:pPr>
              <a:spcBef>
                <a:spcPts val="700"/>
              </a:spcBef>
            </a:pPr>
            <a:r>
              <a:rPr sz="1350">
                <a:solidFill>
                  <a:srgbClr val="C02A2A"/>
                </a:solidFill>
              </a:rPr>
              <a:t>✗ Education is important. It reduces poverty.</a:t>
            </a:r>
          </a:p>
          <a:p>
            <a:pPr>
              <a:spcBef>
                <a:spcPts val="700"/>
              </a:spcBef>
            </a:pPr>
            <a:r>
              <a:rPr sz="1350">
                <a:solidFill>
                  <a:srgbClr val="C02A2A"/>
                </a:solidFill>
              </a:rPr>
              <a:t>✗ The government has a plan. The plan will help.</a:t>
            </a:r>
          </a:p>
          <a:p>
            <a:pPr>
              <a:spcBef>
                <a:spcPts val="700"/>
              </a:spcBef>
            </a:pPr>
            <a:r>
              <a:rPr sz="1350">
                <a:solidFill>
                  <a:srgbClr val="C02A2A"/>
                </a:solidFill>
              </a:rPr>
              <a:t>✗ 特点：信息清晰但句式单调，缺乏结构多样性</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Technology, which is highly accessible today, enables students to learn independently.</a:t>
            </a:r>
          </a:p>
          <a:p>
            <a:pPr>
              <a:spcBef>
                <a:spcPts val="700"/>
              </a:spcBef>
            </a:pPr>
            <a:r>
              <a:rPr sz="1350">
                <a:solidFill>
                  <a:srgbClr val="1B7A3D"/>
                </a:solidFill>
              </a:rPr>
              <a:t>✓ Although cars provide convenience, they contribute significantly to air pollution.</a:t>
            </a:r>
          </a:p>
          <a:p>
            <a:pPr>
              <a:spcBef>
                <a:spcPts val="700"/>
              </a:spcBef>
            </a:pPr>
            <a:r>
              <a:rPr sz="1350">
                <a:solidFill>
                  <a:srgbClr val="1B7A3D"/>
                </a:solidFill>
              </a:rPr>
              <a:t>✓ Education, when prioritized by governments, has the potential to alleviate poverty considerably.</a:t>
            </a:r>
          </a:p>
          <a:p>
            <a:pPr>
              <a:spcBef>
                <a:spcPts val="700"/>
              </a:spcBef>
            </a:pPr>
            <a:r>
              <a:rPr sz="1350">
                <a:solidFill>
                  <a:srgbClr val="1B7A3D"/>
                </a:solidFill>
              </a:rPr>
              <a:t>✓ The government has implemented a comprehensive plan that is expected to yield positive outcomes.</a:t>
            </a:r>
          </a:p>
          <a:p>
            <a:pPr>
              <a:spcBef>
                <a:spcPts val="700"/>
              </a:spcBef>
            </a:pPr>
            <a:r>
              <a:rPr sz="1350">
                <a:solidFill>
                  <a:srgbClr val="1B7A3D"/>
                </a:solidFill>
              </a:rPr>
              <a:t>✓ 特点：相同信息量，句式多样，逻辑关系更清晰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词汇与语法提升五步法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第一步·建立词汇库</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创建个人词汇本：分类记录（社会/教育/环境/科技）。每类至少记20组替换词+10组搭配。格式：原词→替换词→例句（含搭配）</a:t>
            </a:r>
          </a:p>
        </p:txBody>
      </p:sp>
      <p:sp>
        <p:nvSpPr>
          <p:cNvPr id="13" name="Rounded Rectangle 12"/>
          <p:cNvSpPr/>
          <p:nvPr/>
        </p:nvSpPr>
        <p:spPr>
          <a:xfrm>
            <a:off x="548640" y="2231135"/>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472473"/>
                </a:solidFill>
                <a:latin typeface="Calibri"/>
              </a:rPr>
              <a:t>第二步·输入高质量范文</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每天阅读1篇Band 8-9满分范文，专门标注：①不常见词汇②高频搭配③复杂句型，复制到笔记本并分析结构</a:t>
            </a:r>
          </a:p>
        </p:txBody>
      </p:sp>
      <p:sp>
        <p:nvSpPr>
          <p:cNvPr id="18" name="Rounded Rectangle 17"/>
          <p:cNvSpPr/>
          <p:nvPr/>
        </p:nvSpPr>
        <p:spPr>
          <a:xfrm>
            <a:off x="548640" y="3182111"/>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472473"/>
                </a:solidFill>
                <a:latin typeface="Calibri"/>
              </a:rPr>
              <a:t>第三步·刻意练习写作</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每次写作前设定目标：今天重点练习定语从句/今天重点替换动词词汇。写完后自评达成度</a:t>
            </a:r>
          </a:p>
        </p:txBody>
      </p:sp>
      <p:sp>
        <p:nvSpPr>
          <p:cNvPr id="23" name="Rounded Rectangle 22"/>
          <p:cNvSpPr/>
          <p:nvPr/>
        </p:nvSpPr>
        <p:spPr>
          <a:xfrm>
            <a:off x="548640" y="4133087"/>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472473"/>
                </a:solidFill>
                <a:latin typeface="Calibri"/>
              </a:rPr>
              <a:t>第四步·专项检查习惯</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固定5分钟检查时间：词汇替换2分钟+语法准确3分钟。建立自己的错误清单，每次写作后对照检查</a:t>
            </a:r>
          </a:p>
        </p:txBody>
      </p:sp>
      <p:sp>
        <p:nvSpPr>
          <p:cNvPr id="28" name="Rounded Rectangle 27"/>
          <p:cNvSpPr/>
          <p:nvPr/>
        </p:nvSpPr>
        <p:spPr>
          <a:xfrm>
            <a:off x="548640" y="5084063"/>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472473"/>
                </a:solidFill>
                <a:latin typeface="Calibri"/>
              </a:rPr>
              <a:t>第五步·反馈与修正</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找老师批改或使用写作批改工具。重点看：词汇评语是否提到repetitive/basic？语法评语是否提到frequent errors？针对反馈刻意修正</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词汇替换快速训练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请完成词汇替换和句型改写练习，提升LR和GRA维度表达</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训练题1：替换以下段落中所有普通词（括号内）</a:t>
            </a:r>
          </a:p>
          <a:p>
            <a:pPr>
              <a:spcBef>
                <a:spcPts val="100"/>
              </a:spcBef>
            </a:pPr>
            <a:r>
              <a:rPr sz="1400">
                <a:solidFill>
                  <a:srgbClr val="556075"/>
                </a:solidFill>
              </a:rPr>
              <a:t>   The (number of) people who (use) social media has (increased) (a lot) in recent years. This (big) change has had a (good) (effect) on communication but also some (bad) (results).</a:t>
            </a:r>
          </a:p>
          <a:p>
            <a:pPr>
              <a:spcBef>
                <a:spcPts val="1100"/>
              </a:spcBef>
            </a:pPr>
            <a:r>
              <a:rPr sz="1700" b="1">
                <a:solidFill>
                  <a:srgbClr val="472473"/>
                </a:solidFill>
              </a:rPr>
              <a:t>▢ 参考答案</a:t>
            </a:r>
          </a:p>
          <a:p>
            <a:pPr>
              <a:spcBef>
                <a:spcPts val="100"/>
              </a:spcBef>
            </a:pPr>
            <a:r>
              <a:rPr sz="1400">
                <a:solidFill>
                  <a:srgbClr val="556075"/>
                </a:solidFill>
              </a:rPr>
              <a:t>   proportion of individuals who engage with / has risen considerably / dramatic / positive impact / detrimental consequences — 注意搭配：dramatic rise/considerable increase/positive impact/detrimental consequences</a:t>
            </a:r>
          </a:p>
          <a:p>
            <a:pPr>
              <a:spcBef>
                <a:spcPts val="1100"/>
              </a:spcBef>
            </a:pPr>
            <a:r>
              <a:rPr sz="1700" b="1">
                <a:solidFill>
                  <a:srgbClr val="472473"/>
                </a:solidFill>
              </a:rPr>
              <a:t>▢ 训练题2：将简单句改为含从句的复杂句</a:t>
            </a:r>
          </a:p>
          <a:p>
            <a:pPr>
              <a:spcBef>
                <a:spcPts val="100"/>
              </a:spcBef>
            </a:pPr>
            <a:r>
              <a:rPr sz="1400">
                <a:solidFill>
                  <a:srgbClr val="556075"/>
                </a:solidFill>
              </a:rPr>
              <a:t>   1."The government introduced new policies. The policies reduced crime." → （使用which定语从句）
2."Students study hard. They achieve better results." → （使用条件句if/when）
3."Technology has many benefits. It also has some risks." → （使用让步从句although）</a:t>
            </a:r>
          </a:p>
          <a:p>
            <a:pPr>
              <a:spcBef>
                <a:spcPts val="1100"/>
              </a:spcBef>
            </a:pPr>
            <a:r>
              <a:rPr sz="1700" b="1">
                <a:solidFill>
                  <a:srgbClr val="472473"/>
                </a:solidFill>
              </a:rPr>
              <a:t>▢ 参考答案</a:t>
            </a:r>
          </a:p>
          <a:p>
            <a:pPr>
              <a:spcBef>
                <a:spcPts val="100"/>
              </a:spcBef>
            </a:pPr>
            <a:r>
              <a:rPr sz="1400">
                <a:solidFill>
                  <a:srgbClr val="556075"/>
                </a:solidFill>
              </a:rPr>
              <a:t>   1. The government introduced new policies, which significantly reduced crime rates.
2. When students engage diligently with their studies, they tend to achieve significantly better academic results.
3. Although technology offers numerous benefits, it also poses certain risks that must be carefully managed.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语法纠错快速训练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找出并改正以下句子中的所有语法错误（主谓一致/冠词/情态动词）</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纠错练习：找出每句中的所有错误（主谓/冠词/时态/搭配）</a:t>
            </a:r>
          </a:p>
          <a:p>
            <a:pPr>
              <a:spcBef>
                <a:spcPts val="100"/>
              </a:spcBef>
            </a:pPr>
            <a:r>
              <a:rPr sz="1400">
                <a:solidFill>
                  <a:srgbClr val="556075"/>
                </a:solidFill>
              </a:rPr>
              <a:t>   1."The informations are very helpful for students." 
2."Neither the teacher nor the students was present at the meeting."
3."Government should takes strong action to solving this problem."
4."Research shows that people who smokes regularly are likely to developing serious illness."</a:t>
            </a:r>
          </a:p>
          <a:p>
            <a:pPr>
              <a:spcBef>
                <a:spcPts val="1100"/>
              </a:spcBef>
            </a:pPr>
            <a:r>
              <a:rPr sz="1700" b="1">
                <a:solidFill>
                  <a:srgbClr val="472473"/>
                </a:solidFill>
              </a:rPr>
              <a:t>▢ 答案详解</a:t>
            </a:r>
          </a:p>
          <a:p>
            <a:pPr>
              <a:spcBef>
                <a:spcPts val="100"/>
              </a:spcBef>
            </a:pPr>
            <a:r>
              <a:rPr sz="1400">
                <a:solidFill>
                  <a:srgbClr val="556075"/>
                </a:solidFill>
              </a:rPr>
              <a:t>   1.information（不可数）→ IS helpful（单数）
2.neither...nor→谓语随最近名词→students WERE
3.should TAKE（情态+原形）；to SOLVE（to+原形，不是solving）
4.smokes→SMOKE（who后动词随先行词people→复数）；developing→DEVELOP（likely to+原形）</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词汇升级备忘：考场必记替换词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社会类核心词</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重要→crucial/vital/paramount；问题→issue/challenge/concern；解决→address/tackle/alleviate</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教育类核心词</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学习→acquire/develop/enhance；学生→learners/individuals/students；成绩→outcomes/performance/results</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环境类核心词</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污染→contamination/degradation；减少→mitigate/reduce/combat；保护→preserve/conserve/safeguard</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科技类核心词</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改变→revolutionize/transform/reshape；使用→utilize/employ/leverage；影响→impact/implications/consequences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语法备忘：考场必查六项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主谓一致</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每个句子找到主语→单数主语配单数动词，复数主语配复数动词</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冠词使用</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泛指抽象概念∅；特指/再次提到→the；第一次提到可数单数→a/an</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情态动词</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should/must/can/may + 动词原形（不加to，不加-ing，不加-s）</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定语从句</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修饰人→who/that；修饰物→which/that；有逗号=非限制性=提供额外信息</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搭配备忘：10大高频动词搭配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address/tackle + issue/problem/challenge</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解决问题类（最高频）</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raise/promote + awareness/standards/quality</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提升类（接名词）</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impose + regulations/restrictions/penalties/taxes</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施加/实施类</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foster/encourage/cultivate + skills/creativity/cooperation</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培养类</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pose/present + challenges/risks/threats</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带来（负面）类</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写作L08：Band 7词法标准自查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LR（词汇丰富度）自查</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全文有没有同一个词出现超过2次？有没有使用不常见词汇（非高中词汇）？搭配是否自然？</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GRA（语法多样性）自查</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全文有没有至少3种不同的从句类型？有没有分词短语或倒装句？简单句是否低于60%？</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语法准确性自查</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主谓一致全部正确？冠词没有明显遗漏/多余？时态全文统一（Task 2用现在时）？</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整体平衡</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词汇高级但拼写无误？结构复杂但意思清楚？不要为了复杂而牺牲清晰度</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词汇替换核心清单（社会/教育）</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important</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 crucial/vital/significant/pivotal/essential</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problem</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 issue/challenge/concern/obstacle/dilemma</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increase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 rise/surge/escalate/soar/grow/expand</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decrease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 fall/decline/drop/plummet/diminish</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show</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 demonstrate/indicate/reveal/illustrate/suggest</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think</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 argue/contend/maintain/assert/believe/suggest</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help</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 facilitate/enable/allow/assist/promote/foster</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cause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 lead to/result in/give rise to/trigger/contribute to</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need</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 require/necessitate/demand/call for</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many</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 numerous/a wide range of/a multitude of/countless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搭配核心清单（动词+名词）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conduct</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 research/a survey/an investigation/an experiment</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address</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 issues/problems/challenges/concerns/inequalities</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raise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 awareness/standards/questions/funds/concerns</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impose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 regulations/restrictions/penalties/taxes/fines</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foster</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 creativity/cooperation/innovation/a sense of/skills</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tackle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 crime/poverty/unemployment/climate change/inequality</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enhance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 performance/quality/efficiency/understanding/skills</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achieve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 goals/outcomes/results/balance/harmony/success</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maintain</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 standards/balance/stability/relationships/quality</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develop</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 skills/strategies/policies/habits/awareness/solutions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复杂句型模板：即用句式库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让步从句</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Although/While/Whereas + 观点, 主句反驳</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定语从句</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...technology, which has transformed our lives, also poses risks.</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条件从句</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If/Unless governments take action, the situation will worsen.</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结果从句</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...leading to/resulting in/causing + 结果</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强调倒装</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Not only does X, but it also Y / Only through X can Y</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分词短语</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Having addressed the causes, we can now focus on solutions.</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名词从句</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The fact that X is Y suggests that.../ It is clear that...</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比较结构</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...far more significant than.../...not as effective as...</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目的状语</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...in order to/so as to/with the aim of + V-ing/doing</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范围限定</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...particularly among/especially in/notably in the context of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词汇与语法提升：每日练习计划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每日10分钟词汇练习</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Day 1-2：社会类替换词（5组+例句）</a:t>
            </a:r>
          </a:p>
          <a:p>
            <a:pPr>
              <a:spcBef>
                <a:spcPts val="700"/>
              </a:spcBef>
            </a:pPr>
            <a:r>
              <a:rPr sz="1450">
                <a:solidFill>
                  <a:srgbClr val="1E293B"/>
                </a:solidFill>
              </a:rPr>
              <a:t>• Day 3-4：教育类替换词（5组+例句）</a:t>
            </a:r>
          </a:p>
          <a:p>
            <a:pPr>
              <a:spcBef>
                <a:spcPts val="700"/>
              </a:spcBef>
            </a:pPr>
            <a:r>
              <a:rPr sz="1450">
                <a:solidFill>
                  <a:srgbClr val="1E293B"/>
                </a:solidFill>
              </a:rPr>
              <a:t>• Day 5-6：科技类替换词+搭配（5组）</a:t>
            </a:r>
          </a:p>
          <a:p>
            <a:pPr>
              <a:spcBef>
                <a:spcPts val="700"/>
              </a:spcBef>
            </a:pPr>
            <a:r>
              <a:rPr sz="1450">
                <a:solidFill>
                  <a:srgbClr val="1E293B"/>
                </a:solidFill>
              </a:rPr>
              <a:t>• Day 7：综合复习+造句练习</a:t>
            </a:r>
          </a:p>
          <a:p>
            <a:pPr>
              <a:spcBef>
                <a:spcPts val="700"/>
              </a:spcBef>
            </a:pPr>
            <a:r>
              <a:rPr sz="1450">
                <a:solidFill>
                  <a:srgbClr val="1E293B"/>
                </a:solidFill>
              </a:rPr>
              <a:t>• 方法：看中文→想英文→造句→对照答案</a:t>
            </a:r>
          </a:p>
          <a:p>
            <a:pPr>
              <a:spcBef>
                <a:spcPts val="700"/>
              </a:spcBef>
            </a:pPr>
            <a:r>
              <a:rPr sz="1450">
                <a:solidFill>
                  <a:srgbClr val="1E293B"/>
                </a:solidFill>
              </a:rPr>
              <a:t>• 目标：4周后自动替换高频普通词</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每日5分钟语法练习</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Day 1：主谓一致练习（10句纠错）</a:t>
            </a:r>
          </a:p>
          <a:p>
            <a:pPr>
              <a:spcBef>
                <a:spcPts val="700"/>
              </a:spcBef>
            </a:pPr>
            <a:r>
              <a:rPr sz="1450">
                <a:solidFill>
                  <a:srgbClr val="1E293B"/>
                </a:solidFill>
              </a:rPr>
              <a:t>• Day 2：冠词使用练习（10句填空）</a:t>
            </a:r>
          </a:p>
          <a:p>
            <a:pPr>
              <a:spcBef>
                <a:spcPts val="700"/>
              </a:spcBef>
            </a:pPr>
            <a:r>
              <a:rPr sz="1450">
                <a:solidFill>
                  <a:srgbClr val="1E293B"/>
                </a:solidFill>
              </a:rPr>
              <a:t>• Day 3：定语从句改写（5句）</a:t>
            </a:r>
          </a:p>
          <a:p>
            <a:pPr>
              <a:spcBef>
                <a:spcPts val="700"/>
              </a:spcBef>
            </a:pPr>
            <a:r>
              <a:rPr sz="1450">
                <a:solidFill>
                  <a:srgbClr val="1E293B"/>
                </a:solidFill>
              </a:rPr>
              <a:t>• Day 4：让步从句改写（5句）</a:t>
            </a:r>
          </a:p>
          <a:p>
            <a:pPr>
              <a:spcBef>
                <a:spcPts val="700"/>
              </a:spcBef>
            </a:pPr>
            <a:r>
              <a:rPr sz="1450">
                <a:solidFill>
                  <a:srgbClr val="1E293B"/>
                </a:solidFill>
              </a:rPr>
              <a:t>• Day 5：时态一致性检查（1篇范文）</a:t>
            </a:r>
          </a:p>
          <a:p>
            <a:pPr>
              <a:spcBef>
                <a:spcPts val="700"/>
              </a:spcBef>
            </a:pPr>
            <a:r>
              <a:rPr sz="1450">
                <a:solidFill>
                  <a:srgbClr val="1E293B"/>
                </a:solidFill>
              </a:rPr>
              <a:t>• 目标：4周后语法错误率降低80%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L08备考：词法两维度提升策略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词汇丰富度（LR）提升</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输入：每天阅读1篇学术文章，标记不熟悉词汇</a:t>
            </a:r>
          </a:p>
          <a:p>
            <a:pPr>
              <a:spcBef>
                <a:spcPts val="700"/>
              </a:spcBef>
            </a:pPr>
            <a:r>
              <a:rPr sz="1450">
                <a:solidFill>
                  <a:srgbClr val="1E293B"/>
                </a:solidFill>
              </a:rPr>
              <a:t>• 积累：建立分类词汇本，每类20组替换词</a:t>
            </a:r>
          </a:p>
          <a:p>
            <a:pPr>
              <a:spcBef>
                <a:spcPts val="700"/>
              </a:spcBef>
            </a:pPr>
            <a:r>
              <a:rPr sz="1450">
                <a:solidFill>
                  <a:srgbClr val="1E293B"/>
                </a:solidFill>
              </a:rPr>
              <a:t>• 激活：每次写作刻意使用5个新词汇</a:t>
            </a:r>
          </a:p>
          <a:p>
            <a:pPr>
              <a:spcBef>
                <a:spcPts val="700"/>
              </a:spcBef>
            </a:pPr>
            <a:r>
              <a:rPr sz="1450">
                <a:solidFill>
                  <a:srgbClr val="1E293B"/>
                </a:solidFill>
              </a:rPr>
              <a:t>• 搭配：用搭配词典验证每个新词的搭配</a:t>
            </a:r>
          </a:p>
          <a:p>
            <a:pPr>
              <a:spcBef>
                <a:spcPts val="700"/>
              </a:spcBef>
            </a:pPr>
            <a:r>
              <a:rPr sz="1450">
                <a:solidFill>
                  <a:srgbClr val="1E293B"/>
                </a:solidFill>
              </a:rPr>
              <a:t>• 目标：词汇从重复变为多样，从常见变为学术</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语法多样性（GRA）提升</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分析：每周分析1篇满分范文的句型分布</a:t>
            </a:r>
          </a:p>
          <a:p>
            <a:pPr>
              <a:spcBef>
                <a:spcPts val="700"/>
              </a:spcBef>
            </a:pPr>
            <a:r>
              <a:rPr sz="1450">
                <a:solidFill>
                  <a:srgbClr val="1E293B"/>
                </a:solidFill>
              </a:rPr>
              <a:t>• 模仿：找出3种复杂句型，各造句5个</a:t>
            </a:r>
          </a:p>
          <a:p>
            <a:pPr>
              <a:spcBef>
                <a:spcPts val="700"/>
              </a:spcBef>
            </a:pPr>
            <a:r>
              <a:rPr sz="1450">
                <a:solidFill>
                  <a:srgbClr val="1E293B"/>
                </a:solidFill>
              </a:rPr>
              <a:t>• 整合：写作时刻意混合简单句和复杂句</a:t>
            </a:r>
          </a:p>
          <a:p>
            <a:pPr>
              <a:spcBef>
                <a:spcPts val="700"/>
              </a:spcBef>
            </a:pPr>
            <a:r>
              <a:rPr sz="1450">
                <a:solidFill>
                  <a:srgbClr val="1E293B"/>
                </a:solidFill>
              </a:rPr>
              <a:t>• 检查：写完后数句型：定语从句/状语从句各几句？</a:t>
            </a:r>
          </a:p>
          <a:p>
            <a:pPr>
              <a:spcBef>
                <a:spcPts val="700"/>
              </a:spcBef>
            </a:pPr>
            <a:r>
              <a:rPr sz="1450">
                <a:solidFill>
                  <a:srgbClr val="1E293B"/>
                </a:solidFill>
              </a:rPr>
              <a:t>• 目标：复杂句比例达到30-40%，错误率低于5%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词汇常见搭配：形容词+名词组合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社会科技类搭配</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significant impact（显著影响）</a:t>
            </a:r>
          </a:p>
          <a:p>
            <a:pPr>
              <a:spcBef>
                <a:spcPts val="700"/>
              </a:spcBef>
            </a:pPr>
            <a:r>
              <a:rPr sz="1450">
                <a:solidFill>
                  <a:srgbClr val="1E293B"/>
                </a:solidFill>
              </a:rPr>
              <a:t>• growing concern（日益增长的担忧）</a:t>
            </a:r>
          </a:p>
          <a:p>
            <a:pPr>
              <a:spcBef>
                <a:spcPts val="700"/>
              </a:spcBef>
            </a:pPr>
            <a:r>
              <a:rPr sz="1450">
                <a:solidFill>
                  <a:srgbClr val="1E293B"/>
                </a:solidFill>
              </a:rPr>
              <a:t>• widespread phenomenon（普遍现象）</a:t>
            </a:r>
          </a:p>
          <a:p>
            <a:pPr>
              <a:spcBef>
                <a:spcPts val="700"/>
              </a:spcBef>
            </a:pPr>
            <a:r>
              <a:rPr sz="1450">
                <a:solidFill>
                  <a:srgbClr val="1E293B"/>
                </a:solidFill>
              </a:rPr>
              <a:t>• mounting pressure（不断增加的压力）</a:t>
            </a:r>
          </a:p>
          <a:p>
            <a:pPr>
              <a:spcBef>
                <a:spcPts val="700"/>
              </a:spcBef>
            </a:pPr>
            <a:r>
              <a:rPr sz="1450">
                <a:solidFill>
                  <a:srgbClr val="1E293B"/>
                </a:solidFill>
              </a:rPr>
              <a:t>• sustainable development（可持续发展）</a:t>
            </a:r>
          </a:p>
          <a:p>
            <a:pPr>
              <a:spcBef>
                <a:spcPts val="700"/>
              </a:spcBef>
            </a:pPr>
            <a:r>
              <a:rPr sz="1450">
                <a:solidFill>
                  <a:srgbClr val="1E293B"/>
                </a:solidFill>
              </a:rPr>
              <a:t>• comprehensive solution（全面解决方案）</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教育环境类搭配</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academic performance（学业表现）</a:t>
            </a:r>
          </a:p>
          <a:p>
            <a:pPr>
              <a:spcBef>
                <a:spcPts val="700"/>
              </a:spcBef>
            </a:pPr>
            <a:r>
              <a:rPr sz="1450">
                <a:solidFill>
                  <a:srgbClr val="1E293B"/>
                </a:solidFill>
              </a:rPr>
              <a:t>• critical thinking（批判性思维）</a:t>
            </a:r>
          </a:p>
          <a:p>
            <a:pPr>
              <a:spcBef>
                <a:spcPts val="700"/>
              </a:spcBef>
            </a:pPr>
            <a:r>
              <a:rPr sz="1450">
                <a:solidFill>
                  <a:srgbClr val="1E293B"/>
                </a:solidFill>
              </a:rPr>
              <a:t>• environmental degradation（环境退化）</a:t>
            </a:r>
          </a:p>
          <a:p>
            <a:pPr>
              <a:spcBef>
                <a:spcPts val="700"/>
              </a:spcBef>
            </a:pPr>
            <a:r>
              <a:rPr sz="1450">
                <a:solidFill>
                  <a:srgbClr val="1E293B"/>
                </a:solidFill>
              </a:rPr>
              <a:t>• renewable energy（可再生能源）</a:t>
            </a:r>
          </a:p>
          <a:p>
            <a:pPr>
              <a:spcBef>
                <a:spcPts val="700"/>
              </a:spcBef>
            </a:pPr>
            <a:r>
              <a:rPr sz="1450">
                <a:solidFill>
                  <a:srgbClr val="1E293B"/>
                </a:solidFill>
              </a:rPr>
              <a:t>• living standards（生活水平）</a:t>
            </a:r>
          </a:p>
          <a:p>
            <a:pPr>
              <a:spcBef>
                <a:spcPts val="700"/>
              </a:spcBef>
            </a:pPr>
            <a:r>
              <a:rPr sz="1450">
                <a:solidFill>
                  <a:srgbClr val="1E293B"/>
                </a:solidFill>
              </a:rPr>
              <a:t>• income inequality（收入不平等）</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L08重点回顾：词汇语法速查卡</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词汇升级三原则</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准确：替换词含义必须匹配（程度差异要注意）</a:t>
            </a:r>
          </a:p>
          <a:p>
            <a:pPr>
              <a:spcBef>
                <a:spcPts val="700"/>
              </a:spcBef>
            </a:pPr>
            <a:r>
              <a:rPr sz="1450">
                <a:solidFill>
                  <a:srgbClr val="1E293B"/>
                </a:solidFill>
              </a:rPr>
              <a:t>• 地道：使用正确搭配（conduct research非make research）</a:t>
            </a:r>
          </a:p>
          <a:p>
            <a:pPr>
              <a:spcBef>
                <a:spcPts val="700"/>
              </a:spcBef>
            </a:pPr>
            <a:r>
              <a:rPr sz="1450">
                <a:solidFill>
                  <a:srgbClr val="1E293B"/>
                </a:solidFill>
              </a:rPr>
              <a:t>• 多样：同一概念全文不超过2次相同词</a:t>
            </a:r>
          </a:p>
          <a:p>
            <a:pPr>
              <a:spcBef>
                <a:spcPts val="700"/>
              </a:spcBef>
            </a:pPr>
            <a:r>
              <a:rPr sz="1450">
                <a:solidFill>
                  <a:srgbClr val="1E293B"/>
                </a:solidFill>
              </a:rPr>
              <a:t>• 检查顺序：先识别→列备选→验搭配→看全文</a:t>
            </a:r>
          </a:p>
          <a:p>
            <a:pPr>
              <a:spcBef>
                <a:spcPts val="700"/>
              </a:spcBef>
            </a:pPr>
            <a:r>
              <a:rPr sz="1450">
                <a:solidFill>
                  <a:srgbClr val="1E293B"/>
                </a:solidFill>
              </a:rPr>
              <a:t>• 工具：搭配词典（Macmillan Collocations Dictionary）</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语法准确四重检查</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主谓一致：找到真正主语→匹配动词数</a:t>
            </a:r>
          </a:p>
          <a:p>
            <a:pPr>
              <a:spcBef>
                <a:spcPts val="700"/>
              </a:spcBef>
            </a:pPr>
            <a:r>
              <a:rPr sz="1450">
                <a:solidFill>
                  <a:srgbClr val="1E293B"/>
                </a:solidFill>
              </a:rPr>
              <a:t>• 冠词正确：泛指∅/特指the/第一次a或an</a:t>
            </a:r>
          </a:p>
          <a:p>
            <a:pPr>
              <a:spcBef>
                <a:spcPts val="700"/>
              </a:spcBef>
            </a:pPr>
            <a:r>
              <a:rPr sz="1450">
                <a:solidFill>
                  <a:srgbClr val="1E293B"/>
                </a:solidFill>
              </a:rPr>
              <a:t>• 时态统一：Task 2用现在时，引用数据用过去时</a:t>
            </a:r>
          </a:p>
          <a:p>
            <a:pPr>
              <a:spcBef>
                <a:spcPts val="700"/>
              </a:spcBef>
            </a:pPr>
            <a:r>
              <a:rPr sz="1450">
                <a:solidFill>
                  <a:srgbClr val="1E293B"/>
                </a:solidFill>
              </a:rPr>
              <a:t>• 句型核查：简单句&lt;70%，有定语/状语/名词从句</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L08词法备考总表：快速对照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词汇升级对照（常见→学术）</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important→crucial/vital/significant</a:t>
            </a:r>
          </a:p>
          <a:p>
            <a:pPr>
              <a:spcBef>
                <a:spcPts val="700"/>
              </a:spcBef>
            </a:pPr>
            <a:r>
              <a:rPr sz="1450">
                <a:solidFill>
                  <a:srgbClr val="1E293B"/>
                </a:solidFill>
              </a:rPr>
              <a:t>• problem→issue/challenge/concern</a:t>
            </a:r>
          </a:p>
          <a:p>
            <a:pPr>
              <a:spcBef>
                <a:spcPts val="700"/>
              </a:spcBef>
            </a:pPr>
            <a:r>
              <a:rPr sz="1450">
                <a:solidFill>
                  <a:srgbClr val="1E293B"/>
                </a:solidFill>
              </a:rPr>
              <a:t>• increase→rise/surge/escalate</a:t>
            </a:r>
          </a:p>
          <a:p>
            <a:pPr>
              <a:spcBef>
                <a:spcPts val="700"/>
              </a:spcBef>
            </a:pPr>
            <a:r>
              <a:rPr sz="1450">
                <a:solidFill>
                  <a:srgbClr val="1E293B"/>
                </a:solidFill>
              </a:rPr>
              <a:t>• show→demonstrate/indicate/reveal</a:t>
            </a:r>
          </a:p>
          <a:p>
            <a:pPr>
              <a:spcBef>
                <a:spcPts val="700"/>
              </a:spcBef>
            </a:pPr>
            <a:r>
              <a:rPr sz="1450">
                <a:solidFill>
                  <a:srgbClr val="1E293B"/>
                </a:solidFill>
              </a:rPr>
              <a:t>• help→facilitate/enable/foster</a:t>
            </a:r>
          </a:p>
          <a:p>
            <a:pPr>
              <a:spcBef>
                <a:spcPts val="700"/>
              </a:spcBef>
            </a:pPr>
            <a:r>
              <a:rPr sz="1450">
                <a:solidFill>
                  <a:srgbClr val="1E293B"/>
                </a:solidFill>
              </a:rPr>
              <a:t>• think→argue/contend/maintain</a:t>
            </a:r>
          </a:p>
          <a:p>
            <a:pPr>
              <a:spcBef>
                <a:spcPts val="700"/>
              </a:spcBef>
            </a:pPr>
            <a:r>
              <a:rPr sz="1450">
                <a:solidFill>
                  <a:srgbClr val="1E293B"/>
                </a:solidFill>
              </a:rPr>
              <a:t>• need→require/necessitate/demand</a:t>
            </a:r>
          </a:p>
          <a:p>
            <a:pPr>
              <a:spcBef>
                <a:spcPts val="700"/>
              </a:spcBef>
            </a:pPr>
            <a:r>
              <a:rPr sz="1450">
                <a:solidFill>
                  <a:srgbClr val="1E293B"/>
                </a:solidFill>
              </a:rPr>
              <a:t>• many→numerous/a wide range of</a:t>
            </a:r>
          </a:p>
          <a:p>
            <a:pPr>
              <a:spcBef>
                <a:spcPts val="700"/>
              </a:spcBef>
            </a:pPr>
            <a:r>
              <a:rPr sz="1450">
                <a:solidFill>
                  <a:srgbClr val="1E293B"/>
                </a:solidFill>
              </a:rPr>
              <a:t>• bad→detrimental/adverse/harmful</a:t>
            </a:r>
          </a:p>
          <a:p>
            <a:pPr>
              <a:spcBef>
                <a:spcPts val="700"/>
              </a:spcBef>
            </a:pPr>
            <a:r>
              <a:rPr sz="1450">
                <a:solidFill>
                  <a:srgbClr val="1E293B"/>
                </a:solidFill>
              </a:rPr>
              <a:t>• good→beneficial/favorable/constructive</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语法检查对照（错误→正确）</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informations→information（不可数）</a:t>
            </a:r>
          </a:p>
          <a:p>
            <a:pPr>
              <a:spcBef>
                <a:spcPts val="700"/>
              </a:spcBef>
            </a:pPr>
            <a:r>
              <a:rPr sz="1450">
                <a:solidFill>
                  <a:srgbClr val="1E293B"/>
                </a:solidFill>
              </a:rPr>
              <a:t>• should takes→should take（情态+原形）</a:t>
            </a:r>
          </a:p>
          <a:p>
            <a:pPr>
              <a:spcBef>
                <a:spcPts val="700"/>
              </a:spcBef>
            </a:pPr>
            <a:r>
              <a:rPr sz="1450">
                <a:solidFill>
                  <a:srgbClr val="1E293B"/>
                </a:solidFill>
              </a:rPr>
              <a:t>• peoples→people（people已是复数）</a:t>
            </a:r>
          </a:p>
          <a:p>
            <a:pPr>
              <a:spcBef>
                <a:spcPts val="700"/>
              </a:spcBef>
            </a:pPr>
            <a:r>
              <a:rPr sz="1450">
                <a:solidFill>
                  <a:srgbClr val="1E293B"/>
                </a:solidFill>
              </a:rPr>
              <a:t>• Although...but...→删掉but（两连词不共存）</a:t>
            </a:r>
          </a:p>
          <a:p>
            <a:pPr>
              <a:spcBef>
                <a:spcPts val="700"/>
              </a:spcBef>
            </a:pPr>
            <a:r>
              <a:rPr sz="1450">
                <a:solidFill>
                  <a:srgbClr val="1E293B"/>
                </a:solidFill>
              </a:rPr>
              <a:t>• 冠词：泛指education∅/特指the environment</a:t>
            </a:r>
          </a:p>
          <a:p>
            <a:pPr>
              <a:spcBef>
                <a:spcPts val="700"/>
              </a:spcBef>
            </a:pPr>
            <a:r>
              <a:rPr sz="1450">
                <a:solidFill>
                  <a:srgbClr val="1E293B"/>
                </a:solidFill>
              </a:rPr>
              <a:t>• 主谓：The number of...IS（主语number）</a:t>
            </a:r>
          </a:p>
          <a:p>
            <a:pPr>
              <a:spcBef>
                <a:spcPts val="700"/>
              </a:spcBef>
            </a:pPr>
            <a:r>
              <a:rPr sz="1450">
                <a:solidFill>
                  <a:srgbClr val="1E293B"/>
                </a:solidFill>
              </a:rPr>
              <a:t>• 时态：Task 2用一般现在时（不用过去时）</a:t>
            </a:r>
          </a:p>
          <a:p>
            <a:pPr>
              <a:spcBef>
                <a:spcPts val="700"/>
              </a:spcBef>
            </a:pPr>
            <a:r>
              <a:rPr sz="1450">
                <a:solidFill>
                  <a:srgbClr val="1E293B"/>
                </a:solidFill>
              </a:rPr>
              <a:t>• 搭配：make research→conduct research</a:t>
            </a:r>
          </a:p>
          <a:p>
            <a:pPr>
              <a:spcBef>
                <a:spcPts val="700"/>
              </a:spcBef>
            </a:pPr>
            <a:r>
              <a:rPr sz="1450">
                <a:solidFill>
                  <a:srgbClr val="1E293B"/>
                </a:solidFill>
              </a:rPr>
              <a:t>• 搭配：strong pollution→serious pollution</a:t>
            </a:r>
          </a:p>
          <a:p>
            <a:pPr>
              <a:spcBef>
                <a:spcPts val="700"/>
              </a:spcBef>
            </a:pPr>
            <a:r>
              <a:rPr sz="1450">
                <a:solidFill>
                  <a:srgbClr val="1E293B"/>
                </a:solidFill>
              </a:rPr>
              <a:t>• 搭配：pay attention in→pay attention to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L08学完自测：词法能力</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能为"important/show/help/many/cause"各说出3个替换词</a:t>
            </a:r>
          </a:p>
          <a:p>
            <a:pPr>
              <a:spcBef>
                <a:spcPts val="1200"/>
              </a:spcBef>
            </a:pPr>
            <a:r>
              <a:rPr sz="1600">
                <a:solidFill>
                  <a:srgbClr val="1E293B"/>
                </a:solidFill>
              </a:rPr>
              <a:t>☐ 知道"conduct research/raise awareness/address issues"是正确搭配</a:t>
            </a:r>
          </a:p>
          <a:p>
            <a:pPr>
              <a:spcBef>
                <a:spcPts val="1200"/>
              </a:spcBef>
            </a:pPr>
            <a:r>
              <a:rPr sz="1600">
                <a:solidFill>
                  <a:srgbClr val="1E293B"/>
                </a:solidFill>
              </a:rPr>
              <a:t>☐ 能写出含定语从句和让步从句的双重复杂句</a:t>
            </a:r>
          </a:p>
          <a:p>
            <a:pPr>
              <a:spcBef>
                <a:spcPts val="1200"/>
              </a:spcBef>
            </a:pPr>
            <a:r>
              <a:rPr sz="1600">
                <a:solidFill>
                  <a:srgbClr val="1E293B"/>
                </a:solidFill>
              </a:rPr>
              <a:t>☐ 记住了情态动词后接动词原形（不加to/s/-ing）</a:t>
            </a:r>
          </a:p>
          <a:p>
            <a:pPr>
              <a:spcBef>
                <a:spcPts val="1200"/>
              </a:spcBef>
            </a:pPr>
            <a:r>
              <a:rPr sz="1600">
                <a:solidFill>
                  <a:srgbClr val="1E293B"/>
                </a:solidFill>
              </a:rPr>
              <a:t>☐ 能在5分钟内完成一段落的词汇升级+语法检查</a:t>
            </a:r>
          </a:p>
          <a:p>
            <a:pPr>
              <a:spcBef>
                <a:spcPts val="1200"/>
              </a:spcBef>
            </a:pPr>
            <a:r>
              <a:rPr sz="1600">
                <a:solidFill>
                  <a:srgbClr val="1E293B"/>
                </a:solidFill>
              </a:rPr>
              <a:t>☐ 理解Band 7词法标准：不常见词汇+多样句型+基本准确</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L08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词汇替换三原则：准确（含义匹配）+地道（搭配正确）+多样（全文不重复）</a:t>
            </a:r>
          </a:p>
          <a:p>
            <a:pPr>
              <a:spcBef>
                <a:spcPts val="1100"/>
              </a:spcBef>
            </a:pPr>
            <a:r>
              <a:rPr sz="1550">
                <a:solidFill>
                  <a:srgbClr val="FFFFFF"/>
                </a:solidFill>
              </a:rPr>
              <a:t>✓  高频替换：important→crucial/vital；show→demonstrate；help→facilitate/enable</a:t>
            </a:r>
          </a:p>
          <a:p>
            <a:pPr>
              <a:spcBef>
                <a:spcPts val="1100"/>
              </a:spcBef>
            </a:pPr>
            <a:r>
              <a:rPr sz="1550">
                <a:solidFill>
                  <a:srgbClr val="FFFFFF"/>
                </a:solidFill>
              </a:rPr>
              <a:t>✓  复杂句型必备：定语从句（who/which）+让步从句（Although/While）+倒装（Not only/Only）</a:t>
            </a:r>
          </a:p>
          <a:p>
            <a:pPr>
              <a:spcBef>
                <a:spcPts val="1100"/>
              </a:spcBef>
            </a:pPr>
            <a:r>
              <a:rPr sz="1550">
                <a:solidFill>
                  <a:srgbClr val="FFFFFF"/>
                </a:solidFill>
              </a:rPr>
              <a:t>✓  语法四大陷阱：冠词错误/主谓一致/时态混用/情态动词后不接原形</a:t>
            </a:r>
          </a:p>
          <a:p>
            <a:pPr>
              <a:spcBef>
                <a:spcPts val="1100"/>
              </a:spcBef>
            </a:pPr>
            <a:r>
              <a:rPr sz="1550">
                <a:solidFill>
                  <a:srgbClr val="FFFFFF"/>
                </a:solidFill>
              </a:rPr>
              <a:t>✓  提升路径：输入范文→积累词汇→刻意练习→专项检查→根据反馈修正</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建议用时：约2小时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词汇练习：将一篇旧作文中所有"Band 6词汇"全部升级，目标：每段替换3-5个词</a:t>
            </a:r>
          </a:p>
          <a:p>
            <a:pPr>
              <a:spcBef>
                <a:spcPts val="1300"/>
              </a:spcBef>
            </a:pPr>
            <a:r>
              <a:rPr sz="1550" b="1">
                <a:solidFill>
                  <a:srgbClr val="1E293B"/>
                </a:solidFill>
              </a:rPr>
              <a:t>作业 2　语法练习：写3段话（各含定语从句/让步从句/条件从句），并完成自查纠错</a:t>
            </a:r>
          </a:p>
          <a:p>
            <a:pPr>
              <a:spcBef>
                <a:spcPts val="1300"/>
              </a:spcBef>
            </a:pPr>
            <a:r>
              <a:rPr sz="1550" b="1">
                <a:solidFill>
                  <a:srgbClr val="1E293B"/>
                </a:solidFill>
              </a:rPr>
              <a:t>作业 3　搭配积累：为"address/raise/impose/foster/tackle"各造3个含搭配的例句</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L09 · 写作常见错误与修正专项</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中国考生十大写作失误诊断</a:t>
            </a:r>
          </a:p>
          <a:p>
            <a:pPr>
              <a:spcBef>
                <a:spcPts val="1000"/>
              </a:spcBef>
            </a:pPr>
            <a:r>
              <a:rPr sz="1600">
                <a:solidFill>
                  <a:srgbClr val="CFDCF2"/>
                </a:solidFill>
              </a:rPr>
              <a:t>→ 错误模式识别与自纠技巧</a:t>
            </a:r>
          </a:p>
          <a:p>
            <a:pPr>
              <a:spcBef>
                <a:spcPts val="1000"/>
              </a:spcBef>
            </a:pPr>
            <a:r>
              <a:rPr sz="1600">
                <a:solidFill>
                  <a:srgbClr val="CFDCF2"/>
                </a:solidFill>
              </a:rPr>
              <a:t>→ 高分改写对比练习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