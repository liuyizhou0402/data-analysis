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F2A01D"/>
                </a:solidFill>
                <a:latin typeface="Calibri"/>
              </a:rPr>
              <a:t>L04</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F2A01D"/>
                </a:solidFill>
                <a:latin typeface="Calibri"/>
              </a:rPr>
              <a:t>IELTS Writing 写作</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Task 2 引言与结论写法</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Introductions &amp; Conclusions for Task 2</a:t>
            </a:r>
          </a:p>
        </p:txBody>
      </p:sp>
      <p:sp>
        <p:nvSpPr>
          <p:cNvPr id="10" name="Rounded Rectangle 9"/>
          <p:cNvSpPr/>
          <p:nvPr/>
        </p:nvSpPr>
        <p:spPr>
          <a:xfrm>
            <a:off x="777240" y="5669280"/>
            <a:ext cx="3840480" cy="54864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4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ounded Rectangle 6"/>
          <p:cNvSpPr/>
          <p:nvPr/>
        </p:nvSpPr>
        <p:spPr>
          <a:xfrm>
            <a:off x="548640" y="1325880"/>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Task 2题型分类与审题</a:t>
            </a:r>
          </a:p>
        </p:txBody>
      </p:sp>
      <p:sp>
        <p:nvSpPr>
          <p:cNvPr id="10" name="Rounded Rectangle 9"/>
          <p:cNvSpPr/>
          <p:nvPr/>
        </p:nvSpPr>
        <p:spPr>
          <a:xfrm>
            <a:off x="548640" y="2167128"/>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引言段三段式结构</a:t>
            </a:r>
          </a:p>
        </p:txBody>
      </p:sp>
      <p:sp>
        <p:nvSpPr>
          <p:cNvPr id="13" name="Rounded Rectangle 12"/>
          <p:cNvSpPr/>
          <p:nvPr/>
        </p:nvSpPr>
        <p:spPr>
          <a:xfrm>
            <a:off x="548640" y="3008376"/>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立场表达高分模板</a:t>
            </a:r>
          </a:p>
        </p:txBody>
      </p:sp>
      <p:sp>
        <p:nvSpPr>
          <p:cNvPr id="16" name="Rounded Rectangle 15"/>
          <p:cNvSpPr/>
          <p:nvPr/>
        </p:nvSpPr>
        <p:spPr>
          <a:xfrm>
            <a:off x="6400800" y="1325880"/>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结论段写法与功能</a:t>
            </a:r>
          </a:p>
        </p:txBody>
      </p:sp>
      <p:sp>
        <p:nvSpPr>
          <p:cNvPr id="19" name="Rounded Rectangle 18"/>
          <p:cNvSpPr/>
          <p:nvPr/>
        </p:nvSpPr>
        <p:spPr>
          <a:xfrm>
            <a:off x="6400800" y="2167128"/>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引言与结论联动</a:t>
            </a:r>
          </a:p>
        </p:txBody>
      </p:sp>
      <p:sp>
        <p:nvSpPr>
          <p:cNvPr id="22" name="Rounded Rectangle 21"/>
          <p:cNvSpPr/>
          <p:nvPr/>
        </p:nvSpPr>
        <p:spPr>
          <a:xfrm>
            <a:off x="6400800" y="3008376"/>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综合练习与高分示范</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Task 2题型分类与审题</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Task 2 Question Types &amp; Analysis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2常见题型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Common Task 2 Question Types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同意/不同意</a:t>
            </a:r>
          </a:p>
          <a:p>
            <a:pPr>
              <a:spcBef>
                <a:spcPts val="100"/>
              </a:spcBef>
            </a:pPr>
            <a:r>
              <a:rPr sz="1500">
                <a:solidFill>
                  <a:srgbClr val="556075"/>
                </a:solidFill>
              </a:rPr>
              <a:t>   Agree/Disagree: "To what extent do you agree or disagree?"</a:t>
            </a:r>
          </a:p>
          <a:p>
            <a:pPr>
              <a:spcBef>
                <a:spcPts val="900"/>
              </a:spcBef>
            </a:pPr>
            <a:r>
              <a:rPr sz="1800" b="1">
                <a:solidFill>
                  <a:srgbClr val="472473"/>
                </a:solidFill>
              </a:rPr>
              <a:t>• 讨论两观点</a:t>
            </a:r>
          </a:p>
          <a:p>
            <a:pPr>
              <a:spcBef>
                <a:spcPts val="100"/>
              </a:spcBef>
            </a:pPr>
            <a:r>
              <a:rPr sz="1500">
                <a:solidFill>
                  <a:srgbClr val="556075"/>
                </a:solidFill>
              </a:rPr>
              <a:t>   Discuss both views: "Discuss both views and give your opinion."</a:t>
            </a:r>
          </a:p>
          <a:p>
            <a:pPr>
              <a:spcBef>
                <a:spcPts val="900"/>
              </a:spcBef>
            </a:pPr>
            <a:r>
              <a:rPr sz="1800" b="1">
                <a:solidFill>
                  <a:srgbClr val="472473"/>
                </a:solidFill>
              </a:rPr>
              <a:t>• 优势/劣势</a:t>
            </a:r>
          </a:p>
          <a:p>
            <a:pPr>
              <a:spcBef>
                <a:spcPts val="100"/>
              </a:spcBef>
            </a:pPr>
            <a:r>
              <a:rPr sz="1500">
                <a:solidFill>
                  <a:srgbClr val="556075"/>
                </a:solidFill>
              </a:rPr>
              <a:t>   Advantages/Disadvantages: "Do the advantages outweigh the disadvantages?"</a:t>
            </a:r>
          </a:p>
          <a:p>
            <a:pPr>
              <a:spcBef>
                <a:spcPts val="900"/>
              </a:spcBef>
            </a:pPr>
            <a:r>
              <a:rPr sz="1800" b="1">
                <a:solidFill>
                  <a:srgbClr val="472473"/>
                </a:solidFill>
              </a:rPr>
              <a:t>• 问题与解决</a:t>
            </a:r>
          </a:p>
          <a:p>
            <a:pPr>
              <a:spcBef>
                <a:spcPts val="100"/>
              </a:spcBef>
            </a:pPr>
            <a:r>
              <a:rPr sz="1500">
                <a:solidFill>
                  <a:srgbClr val="556075"/>
                </a:solidFill>
              </a:rPr>
              <a:t>   Problems/Solutions: "What are the problems and what solutions can be suggested?"</a:t>
            </a:r>
          </a:p>
          <a:p>
            <a:pPr>
              <a:spcBef>
                <a:spcPts val="900"/>
              </a:spcBef>
            </a:pPr>
            <a:r>
              <a:rPr sz="1800" b="1">
                <a:solidFill>
                  <a:srgbClr val="472473"/>
                </a:solidFill>
              </a:rPr>
              <a:t>• 两问式</a:t>
            </a:r>
          </a:p>
          <a:p>
            <a:pPr>
              <a:spcBef>
                <a:spcPts val="100"/>
              </a:spcBef>
            </a:pPr>
            <a:r>
              <a:rPr sz="1500">
                <a:solidFill>
                  <a:srgbClr val="556075"/>
                </a:solidFill>
              </a:rPr>
              <a:t>   Two-part: "Why is this? What can be done about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审题三步法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Three Steps for Question Analysis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Step 1</a:t>
            </a:r>
          </a:p>
          <a:p>
            <a:pPr>
              <a:spcBef>
                <a:spcPts val="100"/>
              </a:spcBef>
            </a:pPr>
            <a:r>
              <a:rPr sz="1500">
                <a:solidFill>
                  <a:srgbClr val="556075"/>
                </a:solidFill>
              </a:rPr>
              <a:t>   找题目类型（是哪种题型？）</a:t>
            </a:r>
          </a:p>
          <a:p>
            <a:pPr>
              <a:spcBef>
                <a:spcPts val="900"/>
              </a:spcBef>
            </a:pPr>
            <a:r>
              <a:rPr sz="1800" b="1">
                <a:solidFill>
                  <a:srgbClr val="472473"/>
                </a:solidFill>
              </a:rPr>
              <a:t>• Step 2</a:t>
            </a:r>
          </a:p>
          <a:p>
            <a:pPr>
              <a:spcBef>
                <a:spcPts val="100"/>
              </a:spcBef>
            </a:pPr>
            <a:r>
              <a:rPr sz="1500">
                <a:solidFill>
                  <a:srgbClr val="556075"/>
                </a:solidFill>
              </a:rPr>
              <a:t>   找关键词（主题是什么？涉及哪些方面？）</a:t>
            </a:r>
          </a:p>
          <a:p>
            <a:pPr>
              <a:spcBef>
                <a:spcPts val="900"/>
              </a:spcBef>
            </a:pPr>
            <a:r>
              <a:rPr sz="1800" b="1">
                <a:solidFill>
                  <a:srgbClr val="472473"/>
                </a:solidFill>
              </a:rPr>
              <a:t>• Step 3</a:t>
            </a:r>
          </a:p>
          <a:p>
            <a:pPr>
              <a:spcBef>
                <a:spcPts val="100"/>
              </a:spcBef>
            </a:pPr>
            <a:r>
              <a:rPr sz="1500">
                <a:solidFill>
                  <a:srgbClr val="556075"/>
                </a:solidFill>
              </a:rPr>
              <a:t>   确定立场（你同意/不同意？程度多少？）</a:t>
            </a:r>
          </a:p>
          <a:p>
            <a:pPr>
              <a:spcBef>
                <a:spcPts val="900"/>
              </a:spcBef>
            </a:pPr>
            <a:r>
              <a:rPr sz="1800" b="1">
                <a:solidFill>
                  <a:srgbClr val="472473"/>
                </a:solidFill>
              </a:rPr>
              <a:t>• 重要提示</a:t>
            </a:r>
          </a:p>
          <a:p>
            <a:pPr>
              <a:spcBef>
                <a:spcPts val="100"/>
              </a:spcBef>
            </a:pPr>
            <a:r>
              <a:rPr sz="1500">
                <a:solidFill>
                  <a:srgbClr val="556075"/>
                </a:solidFill>
              </a:rPr>
              <a:t>   审题失误=失分最大原因——先审题再动笔</a:t>
            </a:r>
          </a:p>
          <a:p>
            <a:pPr>
              <a:spcBef>
                <a:spcPts val="900"/>
              </a:spcBef>
            </a:pPr>
            <a:r>
              <a:rPr sz="1800" b="1">
                <a:solidFill>
                  <a:srgbClr val="472473"/>
                </a:solidFill>
              </a:rPr>
              <a:t>• 时间分配</a:t>
            </a:r>
          </a:p>
          <a:p>
            <a:pPr>
              <a:spcBef>
                <a:spcPts val="100"/>
              </a:spcBef>
            </a:pPr>
            <a:r>
              <a:rPr sz="1500">
                <a:solidFill>
                  <a:srgbClr val="556075"/>
                </a:solidFill>
              </a:rPr>
              <a:t>   审题+立场+提纲：5分钟——不能省略这5分钟</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题目关键词识别练习</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练习：找出以下题目的类型和关键词
题目1："Some people believe that governments should spend money on building new roads, while others think this money should be spent on public transport. Discuss both views and give your opinion."
→ 题型：Discuss both views
→ 关键词：governments/spend money/roads vs public transport
→ 立场：需要表明更支持哪方
题目2："The increase in the number of people choosing to work from home is a positive development. To what extent do you agree or disagree?"
→ 题型：Agree/Disagree
→ 关键词：work from home/positive development
→ 立场：同意/不同意/部分同意</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立场决策：深圳学生常见错误</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错误1：立场模糊
写法："There are both advantages and disadvantages of technology."
→ 问题：没有表明具体立场，不回应题目
错误2：立场矛盾
写法：引言说"I agree"，结论说"I disagree"
→ 问题：立场前后不一致——严重失分
错误3：过于极端
写法："I completely agree that technology is always beneficial."
→ 问题："always"等绝对词难以论证，改用"largely/predominantly"
正确策略：选一个你能论证的明确立场，并坚持到底</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Agree/Disagree题型：立场选择练习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题目："Online education will eventually replace traditional classroom learning. To what extent do you agree or disagree?"
任务：用中文决定你的立场，并说明理由（3个论点）
立场选项：
A. 完全同意（firmly agree）
B. 基本同意（largely agree）
C. 部分同意（partially agree）
D. 基本不同意（largely disagree）
E. 完全不同意（firmly disagree）</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
• 完全同意/不同意：论点单一，风险高
• 部分同意（推荐）：能平衡讨论，展示思维深度
建议立场C（部分同意）：
论点1：在线教育在某些领域（技能培训/继续教育）确实可替代传统课堂
论点2：然而，传统课堂在社交技能培养、实验室课程等方面有不可替代的优势
论点3：未来最可能是混合模式（hybrid learning）而非完全替代
引言立场句：
"While online education has undoubtedly expanded access to learning, I believe it is unlikely to fully replace traditional classrooms, particularly for younger students who require in-person interaction and hands-on experiences."</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立场选择原则：选能论证3个不同角度的立场，不选最极端的立场</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Discuss Both Views题型特点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题目："Some people believe that children should be taught to be competitive, while others think that cooperation is more important. Discuss both views and give your own opinion."
特点：
✓ 必须讨论两种观点（各一个主体段）
✓ 还必须表明自己的观点（不能说"both are equally valid"）
✓ 个人观点可以在引言表明，也可以在结论强调
结构：
引言：背景+两观点概述+自己立场
主体1：竞争重要的论点
主体2：合作重要的论点
结论：重申自己的立场</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引言示范：
"The question of whether schools should prioritise competitiveness or cooperation has long divided educators. While advocates of competition argue it prepares children for real-world challenges, supporters of cooperative learning contend it builds more essential social skills. In my view, while both approaches have merit, nurturing a cooperative spirit is ultimately more valuable for long-term personal and social development."</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Discuss Both Views引言：两方各一句→明确表明哪方更支持</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引言段三段式结构</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Introduction: Three-Part Structure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引言三段式</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Introduction: Three Components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背景句</a:t>
            </a:r>
          </a:p>
          <a:p>
            <a:pPr>
              <a:spcBef>
                <a:spcPts val="100"/>
              </a:spcBef>
            </a:pPr>
            <a:r>
              <a:rPr sz="1500">
                <a:solidFill>
                  <a:srgbClr val="556075"/>
                </a:solidFill>
              </a:rPr>
              <a:t>   1-2句：引入话题背景，点明讨论领域</a:t>
            </a:r>
          </a:p>
          <a:p>
            <a:pPr>
              <a:spcBef>
                <a:spcPts val="900"/>
              </a:spcBef>
            </a:pPr>
            <a:r>
              <a:rPr sz="1800" b="1">
                <a:solidFill>
                  <a:srgbClr val="472473"/>
                </a:solidFill>
              </a:rPr>
              <a:t>• 立场/观点预告</a:t>
            </a:r>
          </a:p>
          <a:p>
            <a:pPr>
              <a:spcBef>
                <a:spcPts val="100"/>
              </a:spcBef>
            </a:pPr>
            <a:r>
              <a:rPr sz="1500">
                <a:solidFill>
                  <a:srgbClr val="556075"/>
                </a:solidFill>
              </a:rPr>
              <a:t>   表明自己的立场，或概述两种不同观点</a:t>
            </a:r>
          </a:p>
          <a:p>
            <a:pPr>
              <a:spcBef>
                <a:spcPts val="900"/>
              </a:spcBef>
            </a:pPr>
            <a:r>
              <a:rPr sz="1800" b="1">
                <a:solidFill>
                  <a:srgbClr val="472473"/>
                </a:solidFill>
              </a:rPr>
              <a:t>• 范围限定（可选）</a:t>
            </a:r>
          </a:p>
          <a:p>
            <a:pPr>
              <a:spcBef>
                <a:spcPts val="100"/>
              </a:spcBef>
            </a:pPr>
            <a:r>
              <a:rPr sz="1500">
                <a:solidFill>
                  <a:srgbClr val="556075"/>
                </a:solidFill>
              </a:rPr>
              <a:t>   说明文章将讨论的具体方面（可合并在立场句中）</a:t>
            </a:r>
          </a:p>
          <a:p>
            <a:pPr>
              <a:spcBef>
                <a:spcPts val="900"/>
              </a:spcBef>
            </a:pPr>
            <a:r>
              <a:rPr sz="1800" b="1">
                <a:solidFill>
                  <a:srgbClr val="472473"/>
                </a:solidFill>
              </a:rPr>
              <a:t>• 字数</a:t>
            </a:r>
          </a:p>
          <a:p>
            <a:pPr>
              <a:spcBef>
                <a:spcPts val="100"/>
              </a:spcBef>
            </a:pPr>
            <a:r>
              <a:rPr sz="1500">
                <a:solidFill>
                  <a:srgbClr val="556075"/>
                </a:solidFill>
              </a:rPr>
              <a:t>   约50-80词——不能太短，不能太长</a:t>
            </a:r>
          </a:p>
          <a:p>
            <a:pPr>
              <a:spcBef>
                <a:spcPts val="900"/>
              </a:spcBef>
            </a:pPr>
            <a:r>
              <a:rPr sz="1800" b="1">
                <a:solidFill>
                  <a:srgbClr val="472473"/>
                </a:solidFill>
              </a:rPr>
              <a:t>• 不写例子</a:t>
            </a:r>
          </a:p>
          <a:p>
            <a:pPr>
              <a:spcBef>
                <a:spcPts val="100"/>
              </a:spcBef>
            </a:pPr>
            <a:r>
              <a:rPr sz="1500">
                <a:solidFill>
                  <a:srgbClr val="556075"/>
                </a:solidFill>
              </a:rPr>
              <a:t>   引言段不写具体例子——留给主体段</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引言各题型写法差异</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Introduction Variations by Question Type</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Agree/Disagree</a:t>
            </a:r>
          </a:p>
          <a:p>
            <a:pPr>
              <a:spcBef>
                <a:spcPts val="100"/>
              </a:spcBef>
            </a:pPr>
            <a:r>
              <a:rPr sz="1500">
                <a:solidFill>
                  <a:srgbClr val="556075"/>
                </a:solidFill>
              </a:rPr>
              <a:t>   背景句+表明立场（agree/disagree/partially agree）</a:t>
            </a:r>
          </a:p>
          <a:p>
            <a:pPr>
              <a:spcBef>
                <a:spcPts val="900"/>
              </a:spcBef>
            </a:pPr>
            <a:r>
              <a:rPr sz="1800" b="1">
                <a:solidFill>
                  <a:srgbClr val="472473"/>
                </a:solidFill>
              </a:rPr>
              <a:t>• Discuss both views</a:t>
            </a:r>
          </a:p>
          <a:p>
            <a:pPr>
              <a:spcBef>
                <a:spcPts val="100"/>
              </a:spcBef>
            </a:pPr>
            <a:r>
              <a:rPr sz="1500">
                <a:solidFill>
                  <a:srgbClr val="556075"/>
                </a:solidFill>
              </a:rPr>
              <a:t>   背景句+概述两种观点+自己更支持哪方</a:t>
            </a:r>
          </a:p>
          <a:p>
            <a:pPr>
              <a:spcBef>
                <a:spcPts val="900"/>
              </a:spcBef>
            </a:pPr>
            <a:r>
              <a:rPr sz="1800" b="1">
                <a:solidFill>
                  <a:srgbClr val="472473"/>
                </a:solidFill>
              </a:rPr>
              <a:t>• Adv/Disadv</a:t>
            </a:r>
          </a:p>
          <a:p>
            <a:pPr>
              <a:spcBef>
                <a:spcPts val="100"/>
              </a:spcBef>
            </a:pPr>
            <a:r>
              <a:rPr sz="1500">
                <a:solidFill>
                  <a:srgbClr val="556075"/>
                </a:solidFill>
              </a:rPr>
              <a:t>   背景句+说明讨论的现象+自己认为利大于弊还是弊大于利</a:t>
            </a:r>
          </a:p>
          <a:p>
            <a:pPr>
              <a:spcBef>
                <a:spcPts val="900"/>
              </a:spcBef>
            </a:pPr>
            <a:r>
              <a:rPr sz="1800" b="1">
                <a:solidFill>
                  <a:srgbClr val="472473"/>
                </a:solidFill>
              </a:rPr>
              <a:t>• Problem/Solution</a:t>
            </a:r>
          </a:p>
          <a:p>
            <a:pPr>
              <a:spcBef>
                <a:spcPts val="100"/>
              </a:spcBef>
            </a:pPr>
            <a:r>
              <a:rPr sz="1500">
                <a:solidFill>
                  <a:srgbClr val="556075"/>
                </a:solidFill>
              </a:rPr>
              <a:t>   背景句+确认问题存在+预告将讨论原因和解决方案</a:t>
            </a:r>
          </a:p>
          <a:p>
            <a:pPr>
              <a:spcBef>
                <a:spcPts val="900"/>
              </a:spcBef>
            </a:pPr>
            <a:r>
              <a:rPr sz="1800" b="1">
                <a:solidFill>
                  <a:srgbClr val="472473"/>
                </a:solidFill>
              </a:rPr>
              <a:t>• Two-part</a:t>
            </a:r>
          </a:p>
          <a:p>
            <a:pPr>
              <a:spcBef>
                <a:spcPts val="100"/>
              </a:spcBef>
            </a:pPr>
            <a:r>
              <a:rPr sz="1500">
                <a:solidFill>
                  <a:srgbClr val="556075"/>
                </a:solidFill>
              </a:rPr>
              <a:t>   背景句+明确回应两个问题的方向</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引言段模板：Agree/Disagree</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题目："Governments should invest more in space exploration. To what extent do you agree?"
背景句：
"Space exploration has long captured human imagination, and in recent decades, governments worldwide have devoted substantial resources to advancing our understanding of the cosmos."
立场句（同意为主）：
"While I acknowledge the significant costs involved, I firmly believe that continued investment in space exploration is justified, as it drives technological innovation and has the potential to address long-term challenges facing humanity."
分析：
→ 背景句：引入话题（space exploration/governments/resources）
→ 立场句：While...I firmly believe（让步+明确立场）
→ 预告理由：technological innovation + long-term challenges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引言段模板：Discuss Both Views</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题目："Some believe social media connects people, while others think it isolates individuals. Discuss both views and give your opinion."
引言示范：
"Social media platforms have fundamentally transformed the way people communicate and share information in the modern era. While proponents argue that these technologies have created unprecedented opportunities for global connection and community-building, critics contend that they foster superficial relationships and contribute to social isolation. In my view, although social media can indeed facilitate meaningful connections, its potential to deepen loneliness — particularly among young people — is a concern that should not be dismissed."
分析：
→ 背景句：描述现象（social media/transform/communicate）
→ 两观点概述：proponents argue...critics contend
→ 个人立场：In my view...although...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引言段写作练习1</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题目："The widespread use of smartphones has had a negative impact on face-to-face communication. To what extent do you agree or disagree?"
任务：写一个高分引言段（约60词）
提示：
①背景句：描述智能手机普及的现象
②立场：你同意/不同意/部分同意？
③预告理由（1-2个方向）</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高分引言示范：
"The proliferation of smartphones has irrevocably altered social dynamics, with individuals increasingly choosing digital communication over face-to-face interaction. While I concede that smartphones can sometimes create barriers to in-person connection, I largely disagree with the notion that their impact on communication has been predominantly negative, as they also enable people to maintain relationships across geographic boundaries."
（约65词，背景+让步+立场+理由预告）</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引言写作三步：①写背景 ②写让步（while/although）③写明确立场</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引言段写作练习2</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题目："Some people argue that zoos serve an important educational purpose, while others believe keeping animals in captivity is unethical. Discuss both views and give your own opinion."
任务：写引言段（约70词）
提示：两种观点都要概述，并表明自己的立场</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高分引言示范：
"The ethics of keeping animals in captivity for public display has long been debated. Advocates of zoos argue that they play a vital role in conservation efforts and public education, providing opportunities for people to connect with wildlife. However, opponents maintain that confining animals to artificial environments is fundamentally cruel and ethically unjustifiable. In my opinion, while zoos can serve valuable conservation purposes, these benefits must be balanced against the welfare of the animals they house."
（约80词，两观点+明确立场）</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讨论题引言：两观点各一句→个人立场（In my opinion/In my view）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立场表达高分模板</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High-Scoring Opinion Expression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立场表达词汇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Opinion Expression Vocabulary</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强烈同意</a:t>
            </a:r>
          </a:p>
          <a:p>
            <a:pPr>
              <a:spcBef>
                <a:spcPts val="100"/>
              </a:spcBef>
            </a:pPr>
            <a:r>
              <a:rPr sz="1500">
                <a:solidFill>
                  <a:srgbClr val="556075"/>
                </a:solidFill>
              </a:rPr>
              <a:t>   I firmly/strongly believe / I am convinced that / It is my firm view that</a:t>
            </a:r>
          </a:p>
          <a:p>
            <a:pPr>
              <a:spcBef>
                <a:spcPts val="900"/>
              </a:spcBef>
            </a:pPr>
            <a:r>
              <a:rPr sz="1800" b="1">
                <a:solidFill>
                  <a:srgbClr val="472473"/>
                </a:solidFill>
              </a:rPr>
              <a:t>• 基本同意</a:t>
            </a:r>
          </a:p>
          <a:p>
            <a:pPr>
              <a:spcBef>
                <a:spcPts val="100"/>
              </a:spcBef>
            </a:pPr>
            <a:r>
              <a:rPr sz="1500">
                <a:solidFill>
                  <a:srgbClr val="556075"/>
                </a:solidFill>
              </a:rPr>
              <a:t>   I largely/predominantly agree / I tend to agree / I broadly support</a:t>
            </a:r>
          </a:p>
          <a:p>
            <a:pPr>
              <a:spcBef>
                <a:spcPts val="900"/>
              </a:spcBef>
            </a:pPr>
            <a:r>
              <a:rPr sz="1800" b="1">
                <a:solidFill>
                  <a:srgbClr val="472473"/>
                </a:solidFill>
              </a:rPr>
              <a:t>• 部分同意</a:t>
            </a:r>
          </a:p>
          <a:p>
            <a:pPr>
              <a:spcBef>
                <a:spcPts val="100"/>
              </a:spcBef>
            </a:pPr>
            <a:r>
              <a:rPr sz="1500">
                <a:solidFill>
                  <a:srgbClr val="556075"/>
                </a:solidFill>
              </a:rPr>
              <a:t>   I partially agree / While I acknowledge...I believe / To some extent</a:t>
            </a:r>
          </a:p>
          <a:p>
            <a:pPr>
              <a:spcBef>
                <a:spcPts val="900"/>
              </a:spcBef>
            </a:pPr>
            <a:r>
              <a:rPr sz="1800" b="1">
                <a:solidFill>
                  <a:srgbClr val="472473"/>
                </a:solidFill>
              </a:rPr>
              <a:t>• 基本不同意</a:t>
            </a:r>
          </a:p>
          <a:p>
            <a:pPr>
              <a:spcBef>
                <a:spcPts val="100"/>
              </a:spcBef>
            </a:pPr>
            <a:r>
              <a:rPr sz="1500">
                <a:solidFill>
                  <a:srgbClr val="556075"/>
                </a:solidFill>
              </a:rPr>
              <a:t>   I largely disagree / I would argue against / I am unconvinced that</a:t>
            </a:r>
          </a:p>
          <a:p>
            <a:pPr>
              <a:spcBef>
                <a:spcPts val="900"/>
              </a:spcBef>
            </a:pPr>
            <a:r>
              <a:rPr sz="1800" b="1">
                <a:solidFill>
                  <a:srgbClr val="472473"/>
                </a:solidFill>
              </a:rPr>
              <a:t>• 强烈不同意</a:t>
            </a:r>
          </a:p>
          <a:p>
            <a:pPr>
              <a:spcBef>
                <a:spcPts val="100"/>
              </a:spcBef>
            </a:pPr>
            <a:r>
              <a:rPr sz="1500">
                <a:solidFill>
                  <a:srgbClr val="556075"/>
                </a:solidFill>
              </a:rPr>
              <a:t>   I strongly disagree / I firmly reject / I am firmly opposed to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让步句型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Concession Sentence Patterns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While...</a:t>
            </a:r>
          </a:p>
          <a:p>
            <a:pPr>
              <a:spcBef>
                <a:spcPts val="100"/>
              </a:spcBef>
            </a:pPr>
            <a:r>
              <a:rPr sz="1500">
                <a:solidFill>
                  <a:srgbClr val="556075"/>
                </a:solidFill>
              </a:rPr>
              <a:t>   While X has some merit, I believe Y is more important.</a:t>
            </a:r>
          </a:p>
          <a:p>
            <a:pPr>
              <a:spcBef>
                <a:spcPts val="900"/>
              </a:spcBef>
            </a:pPr>
            <a:r>
              <a:rPr sz="1800" b="1">
                <a:solidFill>
                  <a:srgbClr val="472473"/>
                </a:solidFill>
              </a:rPr>
              <a:t>• Although...</a:t>
            </a:r>
          </a:p>
          <a:p>
            <a:pPr>
              <a:spcBef>
                <a:spcPts val="100"/>
              </a:spcBef>
            </a:pPr>
            <a:r>
              <a:rPr sz="1500">
                <a:solidFill>
                  <a:srgbClr val="556075"/>
                </a:solidFill>
              </a:rPr>
              <a:t>   Although X can be true in some cases, the evidence suggests Y.</a:t>
            </a:r>
          </a:p>
          <a:p>
            <a:pPr>
              <a:spcBef>
                <a:spcPts val="900"/>
              </a:spcBef>
            </a:pPr>
            <a:r>
              <a:rPr sz="1800" b="1">
                <a:solidFill>
                  <a:srgbClr val="472473"/>
                </a:solidFill>
              </a:rPr>
              <a:t>• Despite...</a:t>
            </a:r>
          </a:p>
          <a:p>
            <a:pPr>
              <a:spcBef>
                <a:spcPts val="100"/>
              </a:spcBef>
            </a:pPr>
            <a:r>
              <a:rPr sz="1500">
                <a:solidFill>
                  <a:srgbClr val="556075"/>
                </a:solidFill>
              </a:rPr>
              <a:t>   Despite the advantages of X, I maintain that Y is preferable.</a:t>
            </a:r>
          </a:p>
          <a:p>
            <a:pPr>
              <a:spcBef>
                <a:spcPts val="900"/>
              </a:spcBef>
            </a:pPr>
            <a:r>
              <a:rPr sz="1800" b="1">
                <a:solidFill>
                  <a:srgbClr val="472473"/>
                </a:solidFill>
              </a:rPr>
              <a:t>• Admittedly...</a:t>
            </a:r>
          </a:p>
          <a:p>
            <a:pPr>
              <a:spcBef>
                <a:spcPts val="100"/>
              </a:spcBef>
            </a:pPr>
            <a:r>
              <a:rPr sz="1500">
                <a:solidFill>
                  <a:srgbClr val="556075"/>
                </a:solidFill>
              </a:rPr>
              <a:t>   Admittedly, X is a valid concern. However, I would argue that Y.</a:t>
            </a:r>
          </a:p>
          <a:p>
            <a:pPr>
              <a:spcBef>
                <a:spcPts val="900"/>
              </a:spcBef>
            </a:pPr>
            <a:r>
              <a:rPr sz="1800" b="1">
                <a:solidFill>
                  <a:srgbClr val="472473"/>
                </a:solidFill>
              </a:rPr>
              <a:t>• I acknowledge...</a:t>
            </a:r>
          </a:p>
          <a:p>
            <a:pPr>
              <a:spcBef>
                <a:spcPts val="100"/>
              </a:spcBef>
            </a:pPr>
            <a:r>
              <a:rPr sz="1500">
                <a:solidFill>
                  <a:srgbClr val="556075"/>
                </a:solidFill>
              </a:rPr>
              <a:t>   I acknowledge that X, but I firmly believe that Y outweighs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立场句写作：从弱到强</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弱立场（Band 5，不清晰）：
"I think social media is good and bad."
→ 没有明确立场，模糊
中立场（Band 6，有立场但缺论证预告）：
"I believe social media has more positive effects than negative ones."
→ 有立场，但没有预告具体理由
强立场（Band 7+，清晰+预告理由）：
"I firmly believe that social media's positive impact — particularly its role in facilitating global communication and accelerating information sharing — substantially outweighs its drawbacks, provided users develop adequate digital literacy skills."
→ 立场明确（firmly believe）
→ 预告具体理由（communication + information sharing）
→ 有条件修饰（provided users...）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不同题型的立场表达模板</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Agree/Disagree模板：
"While [对方观点], I [firmly/largely] [agree/disagree] because [理由A] and [理由B]."
Discuss Both Views模板：
"While some argue [观点A], others contend [观点B]. In my view, [自己的立场], as [最主要理由]."
Advantages/Disadvantages模板：
"Although [主要劣势/优势], I believe the [advantages/disadvantages] outweigh the [disadvantages/advantages], particularly with regard to [最重要方面]."
Problem/Solution模板：
"While [问题描述], I believe this issue can be addressed through [解决方案], which would [预期效果]."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立场表达练习1：Agree/Disagree</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题目："University education should be free for all students."
任务：写一个明确的立场句（包含让步+立场+理由预告）
要求：
① 使用一个让步连接词（While/Although/Despite）
② 表明立场（firmly/largely agree/disagree）
③ 预告1-2个具体理由</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高分示范：
"While free university education would undoubtedly improve access for students from lower-income backgrounds, I largely disagree that it should be universally free, as it places an unsustainable burden on government finances and may reduce incentives for academic excellence without adequate alternative funding mechanisms."
（50词，让步+立场+理由预告）</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立场句公式：While [让步], I [largely/firmly] [agree/disagree] because [理由].</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立场表达练习2：Discuss Both Views</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题目："Some think that cities are the best places to live, while others prefer rural areas. Discuss both views and give your own opinion."
任务：写一个引言段（含背景+两观点概述+个人立场）
提示：个人立场推荐选城市或农村中的一个</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高分示范：
"The question of where people choose to live has become increasingly relevant as urbanisation accelerates globally. Those who prefer city life cite greater career opportunities and cultural amenities, while rural advocates emphasise the benefits of natural surroundings and a slower pace of life. In my view, despite the undeniable attractions of rural living, cities offer a superior quality of life for the majority of people due to their unmatched professional and educational opportunities."
（75词，三部分齐全）</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两观点讨论：cite greater...while...emphasise— 两个动词并列展示两方</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结论段写法与功能</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Conclusion: Function &amp; Techniques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结论段核心要素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Conclusion: Core Elements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重申立场</a:t>
            </a:r>
          </a:p>
          <a:p>
            <a:pPr>
              <a:spcBef>
                <a:spcPts val="100"/>
              </a:spcBef>
            </a:pPr>
            <a:r>
              <a:rPr sz="1500">
                <a:solidFill>
                  <a:srgbClr val="556075"/>
                </a:solidFill>
              </a:rPr>
              <a:t>   用不同词汇重申引言中的立场——不能用完全相同的话</a:t>
            </a:r>
          </a:p>
          <a:p>
            <a:pPr>
              <a:spcBef>
                <a:spcPts val="900"/>
              </a:spcBef>
            </a:pPr>
            <a:r>
              <a:rPr sz="1800" b="1">
                <a:solidFill>
                  <a:srgbClr val="472473"/>
                </a:solidFill>
              </a:rPr>
              <a:t>• 总结要点</a:t>
            </a:r>
          </a:p>
          <a:p>
            <a:pPr>
              <a:spcBef>
                <a:spcPts val="100"/>
              </a:spcBef>
            </a:pPr>
            <a:r>
              <a:rPr sz="1500">
                <a:solidFill>
                  <a:srgbClr val="556075"/>
                </a:solidFill>
              </a:rPr>
              <a:t>   简短概括主要论点（用不同措辞）</a:t>
            </a:r>
          </a:p>
          <a:p>
            <a:pPr>
              <a:spcBef>
                <a:spcPts val="900"/>
              </a:spcBef>
            </a:pPr>
            <a:r>
              <a:rPr sz="1800" b="1">
                <a:solidFill>
                  <a:srgbClr val="472473"/>
                </a:solidFill>
              </a:rPr>
              <a:t>• 展望/建议（可选）</a:t>
            </a:r>
          </a:p>
          <a:p>
            <a:pPr>
              <a:spcBef>
                <a:spcPts val="100"/>
              </a:spcBef>
            </a:pPr>
            <a:r>
              <a:rPr sz="1500">
                <a:solidFill>
                  <a:srgbClr val="556075"/>
                </a:solidFill>
              </a:rPr>
              <a:t>   可加一句对未来的展望或给出建议</a:t>
            </a:r>
          </a:p>
          <a:p>
            <a:pPr>
              <a:spcBef>
                <a:spcPts val="900"/>
              </a:spcBef>
            </a:pPr>
            <a:r>
              <a:rPr sz="1800" b="1">
                <a:solidFill>
                  <a:srgbClr val="472473"/>
                </a:solidFill>
              </a:rPr>
              <a:t>• 不引入新论点</a:t>
            </a:r>
          </a:p>
          <a:p>
            <a:pPr>
              <a:spcBef>
                <a:spcPts val="100"/>
              </a:spcBef>
            </a:pPr>
            <a:r>
              <a:rPr sz="1500">
                <a:solidFill>
                  <a:srgbClr val="556075"/>
                </a:solidFill>
              </a:rPr>
              <a:t>   结论段不能出现引言和主体段中没有的新信息</a:t>
            </a:r>
          </a:p>
          <a:p>
            <a:pPr>
              <a:spcBef>
                <a:spcPts val="900"/>
              </a:spcBef>
            </a:pPr>
            <a:r>
              <a:rPr sz="1800" b="1">
                <a:solidFill>
                  <a:srgbClr val="472473"/>
                </a:solidFill>
              </a:rPr>
              <a:t>• 字数</a:t>
            </a:r>
          </a:p>
          <a:p>
            <a:pPr>
              <a:spcBef>
                <a:spcPts val="100"/>
              </a:spcBef>
            </a:pPr>
            <a:r>
              <a:rPr sz="1500">
                <a:solidFill>
                  <a:srgbClr val="556075"/>
                </a:solidFill>
              </a:rPr>
              <a:t>   约60-80词——与引言段相似长度</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结论段开头词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Conclusion Opener Vocabulary</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In conclusion</a:t>
            </a:r>
          </a:p>
          <a:p>
            <a:pPr>
              <a:spcBef>
                <a:spcPts val="100"/>
              </a:spcBef>
            </a:pPr>
            <a:r>
              <a:rPr sz="1500">
                <a:solidFill>
                  <a:srgbClr val="556075"/>
                </a:solidFill>
              </a:rPr>
              <a:t>   最常用——In conclusion, I firmly believe that...</a:t>
            </a:r>
          </a:p>
          <a:p>
            <a:pPr>
              <a:spcBef>
                <a:spcPts val="900"/>
              </a:spcBef>
            </a:pPr>
            <a:r>
              <a:rPr sz="1800" b="1">
                <a:solidFill>
                  <a:srgbClr val="472473"/>
                </a:solidFill>
              </a:rPr>
              <a:t>• To conclude</a:t>
            </a:r>
          </a:p>
          <a:p>
            <a:pPr>
              <a:spcBef>
                <a:spcPts val="100"/>
              </a:spcBef>
            </a:pPr>
            <a:r>
              <a:rPr sz="1500">
                <a:solidFill>
                  <a:srgbClr val="556075"/>
                </a:solidFill>
              </a:rPr>
              <a:t>   正式——To conclude, the evidence suggests that...</a:t>
            </a:r>
          </a:p>
          <a:p>
            <a:pPr>
              <a:spcBef>
                <a:spcPts val="900"/>
              </a:spcBef>
            </a:pPr>
            <a:r>
              <a:rPr sz="1800" b="1">
                <a:solidFill>
                  <a:srgbClr val="472473"/>
                </a:solidFill>
              </a:rPr>
              <a:t>• In summary</a:t>
            </a:r>
          </a:p>
          <a:p>
            <a:pPr>
              <a:spcBef>
                <a:spcPts val="100"/>
              </a:spcBef>
            </a:pPr>
            <a:r>
              <a:rPr sz="1500">
                <a:solidFill>
                  <a:srgbClr val="556075"/>
                </a:solidFill>
              </a:rPr>
              <a:t>   总结——In summary, while X is valid, Y remains...</a:t>
            </a:r>
          </a:p>
          <a:p>
            <a:pPr>
              <a:spcBef>
                <a:spcPts val="900"/>
              </a:spcBef>
            </a:pPr>
            <a:r>
              <a:rPr sz="1800" b="1">
                <a:solidFill>
                  <a:srgbClr val="472473"/>
                </a:solidFill>
              </a:rPr>
              <a:t>• To summarise</a:t>
            </a:r>
          </a:p>
          <a:p>
            <a:pPr>
              <a:spcBef>
                <a:spcPts val="100"/>
              </a:spcBef>
            </a:pPr>
            <a:r>
              <a:rPr sz="1500">
                <a:solidFill>
                  <a:srgbClr val="556075"/>
                </a:solidFill>
              </a:rPr>
              <a:t>   总结——To summarise the key arguments...</a:t>
            </a:r>
          </a:p>
          <a:p>
            <a:pPr>
              <a:spcBef>
                <a:spcPts val="900"/>
              </a:spcBef>
            </a:pPr>
            <a:r>
              <a:rPr sz="1800" b="1">
                <a:solidFill>
                  <a:srgbClr val="472473"/>
                </a:solidFill>
              </a:rPr>
              <a:t>• Overall</a:t>
            </a:r>
          </a:p>
          <a:p>
            <a:pPr>
              <a:spcBef>
                <a:spcPts val="100"/>
              </a:spcBef>
            </a:pPr>
            <a:r>
              <a:rPr sz="1500">
                <a:solidFill>
                  <a:srgbClr val="556075"/>
                </a:solidFill>
              </a:rPr>
              <a:t>   整体——Overall, it is clear that...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结论段写法示范：Agree/Disagree</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题目立场：强烈同意"政府应增加可再生能源投资"
引言立场句：
"I firmly believe that governments should substantially increase investment in renewable energy, as it addresses both environmental crises and long-term energy security."
结论段示范：
"In conclusion, I maintain that prioritising renewable energy investment is not merely a desirable policy but an urgent necessity. Governments that fail to redirect resources towards sustainable energy risk exacerbating climate change while also missing significant economic opportunities in the growing green technology sector. The long-term benefits of such investment far outweigh the short-term financial costs."
分析：
→ 重申立场：maintain/prioritising（替换firmly believe/substantially increase）
→ 总结理由：climate change + economic opportunities
→ 收尾句：benefits far outweigh costs（有力结语）</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结论段写法示范：Discuss Both Views</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题目：讨论政府建路 vs 公共交通
立场：更支持公共交通投资
结论段示范：
"In conclusion, while road construction clearly plays a role in facilitating transport, I am persuaded that investing in public transport systems offers greater long-term benefits for society as a whole. As cities grow and environmental concerns intensify, prioritising affordable, efficient and low-carbon transit is the more forward-thinking approach. Governments should therefore direct the majority of their transport budgets towards expanding and improving public transit networks."
分析：
→ 让步（while road construction...）
→ 重申立场（persuaded that/greater long-term benefits）
→ 展望（As cities grow...intensify）
→ 建议（Governments should therefore...）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结论段练习：重申立场</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引言立场句："I firmly believe that social media has a predominantly positive impact on society, as it facilitates global communication and democratises access to information."
任务：写一个结论段（约70词），要求：
① 用不同词汇重申立场
② 简要总结两个主要论点
③ 不引入新论点</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高分结论示范：
"In conclusion, I maintain that the societal benefits of social media substantially outweigh its drawbacks. By enabling people across the world to communicate instantaneously and access information freely, these platforms have democratised knowledge and fostered global communities in ways that were previously unimaginable. Provided users engage with these tools responsibly, social media represents a profoundly positive development for modern society."
（68词，重申+总结+有力收尾）</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结论段公式：In conclusion + 重申立场 + 总结论点 + 有力收尾句</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结论段常见错误分析</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题目立场：同意"某观点"
考生常见错误示例：
错误1引入新论点："In conclusion, I believe social media is beneficial. Moreover, it also helps businesses market products more efficiently." → 新论点不能在结论出现！
错误2立场矛盾：引言"I firmly agree"，结论"I think it has both merits and drawbacks" → 前后矛盾严重失分
错误3结论过短："In conclusion, I agree." → 太短，没有价值</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修正：结论段至少60词，重申立场+总结论点+有力收尾句</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最安全结论模板：In conclusion, I maintain that [重申立场]. [总结理由]. [展望/建议句].</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引言与结论联动</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Introduction-Conclusion Coherence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引言结论一致性要求</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Introduction-Conclusion Consistency</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立场一致</a:t>
            </a:r>
          </a:p>
          <a:p>
            <a:pPr>
              <a:spcBef>
                <a:spcPts val="100"/>
              </a:spcBef>
            </a:pPr>
            <a:r>
              <a:rPr sz="1500">
                <a:solidFill>
                  <a:srgbClr val="556075"/>
                </a:solidFill>
              </a:rPr>
              <a:t>   引言中的立场必须在结论中被重申（用不同词汇）</a:t>
            </a:r>
          </a:p>
          <a:p>
            <a:pPr>
              <a:spcBef>
                <a:spcPts val="900"/>
              </a:spcBef>
            </a:pPr>
            <a:r>
              <a:rPr sz="1800" b="1">
                <a:solidFill>
                  <a:srgbClr val="472473"/>
                </a:solidFill>
              </a:rPr>
              <a:t>• 词汇替换</a:t>
            </a:r>
          </a:p>
          <a:p>
            <a:pPr>
              <a:spcBef>
                <a:spcPts val="100"/>
              </a:spcBef>
            </a:pPr>
            <a:r>
              <a:rPr sz="1500">
                <a:solidFill>
                  <a:srgbClr val="556075"/>
                </a:solidFill>
              </a:rPr>
              <a:t>   结论中用同义词替换引言词汇——不能完全复制</a:t>
            </a:r>
          </a:p>
          <a:p>
            <a:pPr>
              <a:spcBef>
                <a:spcPts val="900"/>
              </a:spcBef>
            </a:pPr>
            <a:r>
              <a:rPr sz="1800" b="1">
                <a:solidFill>
                  <a:srgbClr val="472473"/>
                </a:solidFill>
              </a:rPr>
              <a:t>• 理由呼应</a:t>
            </a:r>
          </a:p>
          <a:p>
            <a:pPr>
              <a:spcBef>
                <a:spcPts val="100"/>
              </a:spcBef>
            </a:pPr>
            <a:r>
              <a:rPr sz="1500">
                <a:solidFill>
                  <a:srgbClr val="556075"/>
                </a:solidFill>
              </a:rPr>
              <a:t>   结论中总结的论点应与主体段中论证的一致</a:t>
            </a:r>
          </a:p>
          <a:p>
            <a:pPr>
              <a:spcBef>
                <a:spcPts val="900"/>
              </a:spcBef>
            </a:pPr>
            <a:r>
              <a:rPr sz="1800" b="1">
                <a:solidFill>
                  <a:srgbClr val="472473"/>
                </a:solidFill>
              </a:rPr>
              <a:t>• 语气一致</a:t>
            </a:r>
          </a:p>
          <a:p>
            <a:pPr>
              <a:spcBef>
                <a:spcPts val="100"/>
              </a:spcBef>
            </a:pPr>
            <a:r>
              <a:rPr sz="1500">
                <a:solidFill>
                  <a:srgbClr val="556075"/>
                </a:solidFill>
              </a:rPr>
              <a:t>   强烈立场的引言对应强有力的结论</a:t>
            </a:r>
          </a:p>
          <a:p>
            <a:pPr>
              <a:spcBef>
                <a:spcPts val="900"/>
              </a:spcBef>
            </a:pPr>
            <a:r>
              <a:rPr sz="1800" b="1">
                <a:solidFill>
                  <a:srgbClr val="472473"/>
                </a:solidFill>
              </a:rPr>
              <a:t>• 不矛盾</a:t>
            </a:r>
          </a:p>
          <a:p>
            <a:pPr>
              <a:spcBef>
                <a:spcPts val="100"/>
              </a:spcBef>
            </a:pPr>
            <a:r>
              <a:rPr sz="1500">
                <a:solidFill>
                  <a:srgbClr val="556075"/>
                </a:solidFill>
              </a:rPr>
              <a:t>   结论不能推翻或弱化引言中的立场</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引言结论词汇替换策略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Paraphrasing Between Introduction and Conclusion</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立场词替换</a:t>
            </a:r>
          </a:p>
          <a:p>
            <a:pPr>
              <a:spcBef>
                <a:spcPts val="100"/>
              </a:spcBef>
            </a:pPr>
            <a:r>
              <a:rPr sz="1500">
                <a:solidFill>
                  <a:srgbClr val="556075"/>
                </a:solidFill>
              </a:rPr>
              <a:t>   引言用firmly believe→结论用maintain/am convinced/hold</a:t>
            </a:r>
          </a:p>
          <a:p>
            <a:pPr>
              <a:spcBef>
                <a:spcPts val="900"/>
              </a:spcBef>
            </a:pPr>
            <a:r>
              <a:rPr sz="1800" b="1">
                <a:solidFill>
                  <a:srgbClr val="472473"/>
                </a:solidFill>
              </a:rPr>
              <a:t>• 动词替换</a:t>
            </a:r>
          </a:p>
          <a:p>
            <a:pPr>
              <a:spcBef>
                <a:spcPts val="100"/>
              </a:spcBef>
            </a:pPr>
            <a:r>
              <a:rPr sz="1500">
                <a:solidFill>
                  <a:srgbClr val="556075"/>
                </a:solidFill>
              </a:rPr>
              <a:t>   引言用argue→结论用contend/assert/maintain</a:t>
            </a:r>
          </a:p>
          <a:p>
            <a:pPr>
              <a:spcBef>
                <a:spcPts val="900"/>
              </a:spcBef>
            </a:pPr>
            <a:r>
              <a:rPr sz="1800" b="1">
                <a:solidFill>
                  <a:srgbClr val="472473"/>
                </a:solidFill>
              </a:rPr>
              <a:t>• 理由替换</a:t>
            </a:r>
          </a:p>
          <a:p>
            <a:pPr>
              <a:spcBef>
                <a:spcPts val="100"/>
              </a:spcBef>
            </a:pPr>
            <a:r>
              <a:rPr sz="1500">
                <a:solidFill>
                  <a:srgbClr val="556075"/>
                </a:solidFill>
              </a:rPr>
              <a:t>   引言说"innovation"→结论说"technological progress/advancement"</a:t>
            </a:r>
          </a:p>
          <a:p>
            <a:pPr>
              <a:spcBef>
                <a:spcPts val="900"/>
              </a:spcBef>
            </a:pPr>
            <a:r>
              <a:rPr sz="1800" b="1">
                <a:solidFill>
                  <a:srgbClr val="472473"/>
                </a:solidFill>
              </a:rPr>
              <a:t>• 量词替换</a:t>
            </a:r>
          </a:p>
          <a:p>
            <a:pPr>
              <a:spcBef>
                <a:spcPts val="100"/>
              </a:spcBef>
            </a:pPr>
            <a:r>
              <a:rPr sz="1500">
                <a:solidFill>
                  <a:srgbClr val="556075"/>
                </a:solidFill>
              </a:rPr>
              <a:t>   引言说"substantially"→结论说"considerably/significantly"</a:t>
            </a:r>
          </a:p>
          <a:p>
            <a:pPr>
              <a:spcBef>
                <a:spcPts val="900"/>
              </a:spcBef>
            </a:pPr>
            <a:r>
              <a:rPr sz="1800" b="1">
                <a:solidFill>
                  <a:srgbClr val="472473"/>
                </a:solidFill>
              </a:rPr>
              <a:t>• 句型变化</a:t>
            </a:r>
          </a:p>
          <a:p>
            <a:pPr>
              <a:spcBef>
                <a:spcPts val="100"/>
              </a:spcBef>
            </a:pPr>
            <a:r>
              <a:rPr sz="1500">
                <a:solidFill>
                  <a:srgbClr val="556075"/>
                </a:solidFill>
              </a:rPr>
              <a:t>   引言用复合句→结论用简单+复合句混合</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引言结论配对练习</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以下引言和结论是否配对良好？判断并说明原因：
引言："I firmly believe that cities offer a superior quality of life, primarily due to their unmatched career and educational opportunities."
结论版本A："In conclusion, I maintain that urban living provides distinct advantages over rural alternatives, particularly in terms of professional development and access to world-class education facilities. For these reasons, the trend towards urbanisation is likely to continue and, in my view, should be supported."
结论版本B："In conclusion, I think rural life is actually better because it is more peaceful and natural. Cities are too crowded and stressful."
【判断】A：✓ 配对良好（立场一致，词汇替换恰当，总结论点）
B：✗ 立场矛盾——引言支持城市，结论支持农村</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完整引言结论写作示范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题目："Technology has made modern life easier. Do the advantages outweigh the disadvantages?"
引言：
"The rapid advancement of technology has transformed virtually every aspect of contemporary life, from communication and healthcare to transportation and education. In my view, despite some legitimate concerns regarding job displacement and privacy, the advantages of modern technology considerably outweigh its drawbacks, as it has dramatically enhanced human productivity and quality of life."
结论：
"In conclusion, I am firmly of the view that technology's contribution to modern life has been overwhelmingly positive. By revolutionising how we communicate, work, and access information, technological innovation has elevated living standards in ways that earlier generations could scarcely have imagined. The challenges it presents, while real, are far outweighed by the tangible benefits it delivers to billions of people worldwide."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引言结论配套写作练习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题目："More people are choosing to live alone. Is this a positive or negative development?"
任务：写一组配套的引言段（约70词）和结论段（约70词）
要求：
① 引言：背景+立场（positive or negative？）+理由预告
② 结论：重申立场+总结论点（用不同词汇）</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引言示范：
"The growing trend of single-person households has become a defining feature of modern urban societies, particularly in developed nations. While some view this as a concerning sign of social fragmentation, I believe that choosing to live alone largely represents a positive development, as it reflects greater personal autonomy and changing social values that should be celebrated rather than stigmatised."
结论示范：
"In conclusion, I maintain that the rise of solo living is a broadly positive phenomenon. As individuals increasingly prioritise personal freedom and self-fulfilment over traditional household arrangements, society should adapt by ensuring adequate housing, support systems and social opportunities for those who choose this lifestyle."</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引言用represents a positive development → 结论用broadly positive phenomenon（词汇替换）</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审题→立场→引言→结论：完整决策链</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题目："Some people think that the government should control what people eat to improve public health. To what extent do you agree?"
完整决策链：
① 题型：Agree/Disagree
② 关键词：government/control/what people eat/public health
③ 立场：largely disagree（政府不应控制饮食选择）
④ 引言：背景（公众健康问题）+让步（健康很重要）+立场（不同意政府控制）+理由预告（个人自由+政策难实施）
⑤ 结论：重申立场+总结理由（个人自由+替代方案更有效）</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记住：立场在第③步决定，引言结论都要和这个立场一致！</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7 引言段范文：Agree/Disagree</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84048"/>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题目："The government should ban all forms of advertising aimed at children. To what extent do you agree or disagree?"</a:t>
            </a:r>
          </a:p>
        </p:txBody>
      </p:sp>
      <p:sp>
        <p:nvSpPr>
          <p:cNvPr id="10" name="Rounded Rectangle 9"/>
          <p:cNvSpPr/>
          <p:nvPr/>
        </p:nvSpPr>
        <p:spPr>
          <a:xfrm>
            <a:off x="548640" y="1783080"/>
            <a:ext cx="7040880" cy="416052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高分引言（约75词）：
"Advertising directed at young consumers has long been a contentious issue, with critics arguing that it exploits children's vulnerability to commercial manipulation. While I recognise that certain types of child-directed advertising may be harmful — particularly those promoting unhealthy food — I largely disagree that an outright ban is the appropriate solution, as it would restrict legitimate communication from educational organisations and overstep government authority in a domain that primarily requires parental guidance and media literacy education."</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A0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背景句：contentious issue — 引出话题的争议性</a:t>
            </a:r>
          </a:p>
          <a:p>
            <a:pPr>
              <a:spcBef>
                <a:spcPts val="700"/>
              </a:spcBef>
            </a:pPr>
            <a:r>
              <a:rPr sz="1200">
                <a:solidFill>
                  <a:srgbClr val="1E293B"/>
                </a:solidFill>
              </a:rPr>
              <a:t>▸ 让步：While I recognise...may be harmful — 承认对方论点</a:t>
            </a:r>
          </a:p>
          <a:p>
            <a:pPr>
              <a:spcBef>
                <a:spcPts val="700"/>
              </a:spcBef>
            </a:pPr>
            <a:r>
              <a:rPr sz="1200">
                <a:solidFill>
                  <a:srgbClr val="1E293B"/>
                </a:solidFill>
              </a:rPr>
              <a:t>▸ 立场：I largely disagree — 明确程度（largely，非完全）</a:t>
            </a:r>
          </a:p>
          <a:p>
            <a:pPr>
              <a:spcBef>
                <a:spcPts val="700"/>
              </a:spcBef>
            </a:pPr>
            <a:r>
              <a:rPr sz="1200">
                <a:solidFill>
                  <a:srgbClr val="1E293B"/>
                </a:solidFill>
              </a:rPr>
              <a:t>▸ 理由预告：restrict legitimate communication + overstep authority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7 结论段范文：Discuss Both Views</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84048"/>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题目："Some people think children should begin formal education at a very early age. Others believe they should not start school until they are older. Discuss both views and give your opinion."</a:t>
            </a:r>
          </a:p>
        </p:txBody>
      </p:sp>
      <p:sp>
        <p:nvSpPr>
          <p:cNvPr id="10" name="Rounded Rectangle 9"/>
          <p:cNvSpPr/>
          <p:nvPr/>
        </p:nvSpPr>
        <p:spPr>
          <a:xfrm>
            <a:off x="548640" y="1783080"/>
            <a:ext cx="7040880" cy="416052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高分结论（约80词）：
"In conclusion, while early formal education can provide structured learning opportunities that benefit some children, I remain persuaded that delaying school entry until children are developmentally ready yields superior long-term outcomes. The evidence from educational research strongly suggests that play-based learning in early childhood fosters creativity and emotional resilience that formal instruction cannot replicate. Policymakers should therefore resist pressure to lower school starting ages and instead invest in high-quality pre-school play environments."</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A0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In conclusion + 让步（while early education...can）—— 结论也可以有让步</a:t>
            </a:r>
          </a:p>
          <a:p>
            <a:pPr>
              <a:spcBef>
                <a:spcPts val="700"/>
              </a:spcBef>
            </a:pPr>
            <a:r>
              <a:rPr sz="1200">
                <a:solidFill>
                  <a:srgbClr val="1E293B"/>
                </a:solidFill>
              </a:rPr>
              <a:t>▸ 重申立场：I remain persuaded — 替换引言中的I believe</a:t>
            </a:r>
          </a:p>
          <a:p>
            <a:pPr>
              <a:spcBef>
                <a:spcPts val="700"/>
              </a:spcBef>
            </a:pPr>
            <a:r>
              <a:rPr sz="1200">
                <a:solidFill>
                  <a:srgbClr val="1E293B"/>
                </a:solidFill>
              </a:rPr>
              <a:t>▸ 总结理由：evidence from educational research — 呼应主体段论证</a:t>
            </a:r>
          </a:p>
          <a:p>
            <a:pPr>
              <a:spcBef>
                <a:spcPts val="700"/>
              </a:spcBef>
            </a:pPr>
            <a:r>
              <a:rPr sz="1200">
                <a:solidFill>
                  <a:srgbClr val="1E293B"/>
                </a:solidFill>
              </a:rPr>
              <a:t>▸ 结尾建议：Policymakers should... — 有力的行动号召结语</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强引言 vs 弱引言：Band 7 差距</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弱引言（Band 5-6）</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强引言（Band 7+）</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直接从话题写起，没有背景铺垫</a:t>
            </a:r>
          </a:p>
          <a:p>
            <a:pPr>
              <a:spcBef>
                <a:spcPts val="700"/>
              </a:spcBef>
            </a:pPr>
            <a:r>
              <a:rPr sz="1350">
                <a:solidFill>
                  <a:srgbClr val="C02A2A"/>
                </a:solidFill>
              </a:rPr>
              <a:t>✗ 立场不明确或完全没有立场</a:t>
            </a:r>
          </a:p>
          <a:p>
            <a:pPr>
              <a:spcBef>
                <a:spcPts val="700"/>
              </a:spcBef>
            </a:pPr>
            <a:r>
              <a:rPr sz="1350">
                <a:solidFill>
                  <a:srgbClr val="C02A2A"/>
                </a:solidFill>
              </a:rPr>
              <a:t>✗ 不知道文章要讨论什么方向</a:t>
            </a:r>
          </a:p>
          <a:p>
            <a:pPr>
              <a:spcBef>
                <a:spcPts val="700"/>
              </a:spcBef>
            </a:pPr>
            <a:r>
              <a:rPr sz="1350">
                <a:solidFill>
                  <a:srgbClr val="C02A2A"/>
                </a:solidFill>
              </a:rPr>
              <a:t>✗ 直接用题目的语言（没有改写）</a:t>
            </a:r>
          </a:p>
          <a:p>
            <a:pPr>
              <a:spcBef>
                <a:spcPts val="700"/>
              </a:spcBef>
            </a:pPr>
            <a:r>
              <a:rPr sz="1350">
                <a:solidFill>
                  <a:srgbClr val="C02A2A"/>
                </a:solidFill>
              </a:rPr>
              <a:t>✗ 字数太短（少于40词）</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有1-2句背景句引入话题</a:t>
            </a:r>
          </a:p>
          <a:p>
            <a:pPr>
              <a:spcBef>
                <a:spcPts val="700"/>
              </a:spcBef>
            </a:pPr>
            <a:r>
              <a:rPr sz="1350">
                <a:solidFill>
                  <a:srgbClr val="1B7A3D"/>
                </a:solidFill>
              </a:rPr>
              <a:t>✓ 立场清晰明确（firmly/largely）</a:t>
            </a:r>
          </a:p>
          <a:p>
            <a:pPr>
              <a:spcBef>
                <a:spcPts val="700"/>
              </a:spcBef>
            </a:pPr>
            <a:r>
              <a:rPr sz="1350">
                <a:solidFill>
                  <a:srgbClr val="1B7A3D"/>
                </a:solidFill>
              </a:rPr>
              <a:t>✓ 预告主要论证方向（1-2个理由）</a:t>
            </a:r>
          </a:p>
          <a:p>
            <a:pPr>
              <a:spcBef>
                <a:spcPts val="700"/>
              </a:spcBef>
            </a:pPr>
            <a:r>
              <a:rPr sz="1350">
                <a:solidFill>
                  <a:srgbClr val="1B7A3D"/>
                </a:solidFill>
              </a:rPr>
              <a:t>✓ 用同义词改写题目关键词</a:t>
            </a:r>
          </a:p>
          <a:p>
            <a:pPr>
              <a:spcBef>
                <a:spcPts val="700"/>
              </a:spcBef>
            </a:pPr>
            <a:r>
              <a:rPr sz="1350">
                <a:solidFill>
                  <a:srgbClr val="1B7A3D"/>
                </a:solidFill>
              </a:rPr>
              <a:t>✓ 约60-80词，结构完整</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强结论 vs 弱结论：关键差距</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弱结论（Band 5-6）</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强结论（Band 7+）</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"In conclusion, I agree with this statement."</a:t>
            </a:r>
          </a:p>
          <a:p>
            <a:pPr>
              <a:spcBef>
                <a:spcPts val="700"/>
              </a:spcBef>
            </a:pPr>
            <a:r>
              <a:rPr sz="1350">
                <a:solidFill>
                  <a:srgbClr val="C02A2A"/>
                </a:solidFill>
              </a:rPr>
              <a:t>✗ 字数太短（少于40词）</a:t>
            </a:r>
          </a:p>
          <a:p>
            <a:pPr>
              <a:spcBef>
                <a:spcPts val="700"/>
              </a:spcBef>
            </a:pPr>
            <a:r>
              <a:rPr sz="1350">
                <a:solidFill>
                  <a:srgbClr val="C02A2A"/>
                </a:solidFill>
              </a:rPr>
              <a:t>✗ 没有重申论点，只有立场</a:t>
            </a:r>
          </a:p>
          <a:p>
            <a:pPr>
              <a:spcBef>
                <a:spcPts val="700"/>
              </a:spcBef>
            </a:pPr>
            <a:r>
              <a:rPr sz="1350">
                <a:solidFill>
                  <a:srgbClr val="C02A2A"/>
                </a:solidFill>
              </a:rPr>
              <a:t>✗ 立场与引言不一致或矛盾</a:t>
            </a:r>
          </a:p>
          <a:p>
            <a:pPr>
              <a:spcBef>
                <a:spcPts val="700"/>
              </a:spcBef>
            </a:pPr>
            <a:r>
              <a:rPr sz="1350">
                <a:solidFill>
                  <a:srgbClr val="C02A2A"/>
                </a:solidFill>
              </a:rPr>
              <a:t>✗ 引入了新的论点或例子</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"In conclusion, I maintain that..." + 重申理由</a:t>
            </a:r>
          </a:p>
          <a:p>
            <a:pPr>
              <a:spcBef>
                <a:spcPts val="700"/>
              </a:spcBef>
            </a:pPr>
            <a:r>
              <a:rPr sz="1350">
                <a:solidFill>
                  <a:srgbClr val="1B7A3D"/>
                </a:solidFill>
              </a:rPr>
              <a:t>✓ 约60-80词，与引言长度相当</a:t>
            </a:r>
          </a:p>
          <a:p>
            <a:pPr>
              <a:spcBef>
                <a:spcPts val="700"/>
              </a:spcBef>
            </a:pPr>
            <a:r>
              <a:rPr sz="1350">
                <a:solidFill>
                  <a:srgbClr val="1B7A3D"/>
                </a:solidFill>
              </a:rPr>
              <a:t>✓ 重申立场+总结2个主要论点</a:t>
            </a:r>
          </a:p>
          <a:p>
            <a:pPr>
              <a:spcBef>
                <a:spcPts val="700"/>
              </a:spcBef>
            </a:pPr>
            <a:r>
              <a:rPr sz="1350">
                <a:solidFill>
                  <a:srgbClr val="1B7A3D"/>
                </a:solidFill>
              </a:rPr>
              <a:t>✓ 立场词汇替换（maintain/hold/assert）</a:t>
            </a:r>
          </a:p>
          <a:p>
            <a:pPr>
              <a:spcBef>
                <a:spcPts val="700"/>
              </a:spcBef>
            </a:pPr>
            <a:r>
              <a:rPr sz="1350">
                <a:solidFill>
                  <a:srgbClr val="1B7A3D"/>
                </a:solidFill>
              </a:rPr>
              <a:t>✓ 有力的收尾句（展望/建议/强调重要性）</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引言段写作5步法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8016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292607"/>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472473"/>
                </a:solidFill>
                <a:latin typeface="Calibri"/>
              </a:rPr>
              <a:t>Step 1 审题</a:t>
            </a:r>
          </a:p>
        </p:txBody>
      </p:sp>
      <p:sp>
        <p:nvSpPr>
          <p:cNvPr id="12" name="TextBox 11"/>
          <p:cNvSpPr txBox="1"/>
          <p:nvPr/>
        </p:nvSpPr>
        <p:spPr>
          <a:xfrm>
            <a:off x="1417320" y="1645919"/>
            <a:ext cx="10058400" cy="585215"/>
          </a:xfrm>
          <a:prstGeom prst="rect">
            <a:avLst/>
          </a:prstGeom>
          <a:noFill/>
        </p:spPr>
        <p:txBody>
          <a:bodyPr wrap="square" anchor="t">
            <a:spAutoFit/>
          </a:bodyPr>
          <a:lstStyle/>
          <a:p>
            <a:pPr algn="l"/>
            <a:r>
              <a:rPr sz="1350" b="0" i="0">
                <a:solidFill>
                  <a:srgbClr val="556075"/>
                </a:solidFill>
                <a:latin typeface="Calibri"/>
              </a:rPr>
              <a:t>读题→找题型→找关键词→确认需回答几个问题</a:t>
            </a:r>
          </a:p>
        </p:txBody>
      </p:sp>
      <p:sp>
        <p:nvSpPr>
          <p:cNvPr id="13" name="Rounded Rectangle 12"/>
          <p:cNvSpPr/>
          <p:nvPr/>
        </p:nvSpPr>
        <p:spPr>
          <a:xfrm>
            <a:off x="548640" y="2231135"/>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285999"/>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889503"/>
            <a:ext cx="45720" cy="292607"/>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231135"/>
            <a:ext cx="10058400" cy="411480"/>
          </a:xfrm>
          <a:prstGeom prst="rect">
            <a:avLst/>
          </a:prstGeom>
          <a:noFill/>
        </p:spPr>
        <p:txBody>
          <a:bodyPr wrap="square" anchor="t">
            <a:spAutoFit/>
          </a:bodyPr>
          <a:lstStyle/>
          <a:p>
            <a:pPr algn="l"/>
            <a:r>
              <a:rPr sz="1600" b="1" i="0">
                <a:solidFill>
                  <a:srgbClr val="472473"/>
                </a:solidFill>
                <a:latin typeface="Calibri"/>
              </a:rPr>
              <a:t>Step 2 确立场</a:t>
            </a:r>
          </a:p>
        </p:txBody>
      </p:sp>
      <p:sp>
        <p:nvSpPr>
          <p:cNvPr id="17" name="TextBox 16"/>
          <p:cNvSpPr txBox="1"/>
          <p:nvPr/>
        </p:nvSpPr>
        <p:spPr>
          <a:xfrm>
            <a:off x="1417320" y="2596895"/>
            <a:ext cx="10058400" cy="585215"/>
          </a:xfrm>
          <a:prstGeom prst="rect">
            <a:avLst/>
          </a:prstGeom>
          <a:noFill/>
        </p:spPr>
        <p:txBody>
          <a:bodyPr wrap="square" anchor="t">
            <a:spAutoFit/>
          </a:bodyPr>
          <a:lstStyle/>
          <a:p>
            <a:pPr algn="l"/>
            <a:r>
              <a:rPr sz="1350" b="0" i="0">
                <a:solidFill>
                  <a:srgbClr val="556075"/>
                </a:solidFill>
                <a:latin typeface="Calibri"/>
              </a:rPr>
              <a:t>决定立场方向（同意/不同意/程度如何？）</a:t>
            </a:r>
          </a:p>
        </p:txBody>
      </p:sp>
      <p:sp>
        <p:nvSpPr>
          <p:cNvPr id="18" name="Rounded Rectangle 17"/>
          <p:cNvSpPr/>
          <p:nvPr/>
        </p:nvSpPr>
        <p:spPr>
          <a:xfrm>
            <a:off x="548640" y="3182111"/>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236975"/>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3840479"/>
            <a:ext cx="45720" cy="292607"/>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182111"/>
            <a:ext cx="10058400" cy="411480"/>
          </a:xfrm>
          <a:prstGeom prst="rect">
            <a:avLst/>
          </a:prstGeom>
          <a:noFill/>
        </p:spPr>
        <p:txBody>
          <a:bodyPr wrap="square" anchor="t">
            <a:spAutoFit/>
          </a:bodyPr>
          <a:lstStyle/>
          <a:p>
            <a:pPr algn="l"/>
            <a:r>
              <a:rPr sz="1600" b="1" i="0">
                <a:solidFill>
                  <a:srgbClr val="472473"/>
                </a:solidFill>
                <a:latin typeface="Calibri"/>
              </a:rPr>
              <a:t>Step 3 写背景</a:t>
            </a:r>
          </a:p>
        </p:txBody>
      </p:sp>
      <p:sp>
        <p:nvSpPr>
          <p:cNvPr id="22" name="TextBox 21"/>
          <p:cNvSpPr txBox="1"/>
          <p:nvPr/>
        </p:nvSpPr>
        <p:spPr>
          <a:xfrm>
            <a:off x="1417320" y="3547871"/>
            <a:ext cx="10058400" cy="585215"/>
          </a:xfrm>
          <a:prstGeom prst="rect">
            <a:avLst/>
          </a:prstGeom>
          <a:noFill/>
        </p:spPr>
        <p:txBody>
          <a:bodyPr wrap="square" anchor="t">
            <a:spAutoFit/>
          </a:bodyPr>
          <a:lstStyle/>
          <a:p>
            <a:pPr algn="l"/>
            <a:r>
              <a:rPr sz="1350" b="0" i="0">
                <a:solidFill>
                  <a:srgbClr val="556075"/>
                </a:solidFill>
                <a:latin typeface="Calibri"/>
              </a:rPr>
              <a:t>1-2句话引入话题，改写题目关键词</a:t>
            </a:r>
          </a:p>
        </p:txBody>
      </p:sp>
      <p:sp>
        <p:nvSpPr>
          <p:cNvPr id="23" name="Rounded Rectangle 22"/>
          <p:cNvSpPr/>
          <p:nvPr/>
        </p:nvSpPr>
        <p:spPr>
          <a:xfrm>
            <a:off x="548640" y="4133087"/>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187951"/>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Rectangle 24"/>
          <p:cNvSpPr/>
          <p:nvPr/>
        </p:nvSpPr>
        <p:spPr>
          <a:xfrm>
            <a:off x="841248" y="4791455"/>
            <a:ext cx="45720" cy="292607"/>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4133087"/>
            <a:ext cx="10058400" cy="411480"/>
          </a:xfrm>
          <a:prstGeom prst="rect">
            <a:avLst/>
          </a:prstGeom>
          <a:noFill/>
        </p:spPr>
        <p:txBody>
          <a:bodyPr wrap="square" anchor="t">
            <a:spAutoFit/>
          </a:bodyPr>
          <a:lstStyle/>
          <a:p>
            <a:pPr algn="l"/>
            <a:r>
              <a:rPr sz="1600" b="1" i="0">
                <a:solidFill>
                  <a:srgbClr val="472473"/>
                </a:solidFill>
                <a:latin typeface="Calibri"/>
              </a:rPr>
              <a:t>Step 4 写立场</a:t>
            </a:r>
          </a:p>
        </p:txBody>
      </p:sp>
      <p:sp>
        <p:nvSpPr>
          <p:cNvPr id="27" name="TextBox 26"/>
          <p:cNvSpPr txBox="1"/>
          <p:nvPr/>
        </p:nvSpPr>
        <p:spPr>
          <a:xfrm>
            <a:off x="1417320" y="4498848"/>
            <a:ext cx="10058400" cy="585215"/>
          </a:xfrm>
          <a:prstGeom prst="rect">
            <a:avLst/>
          </a:prstGeom>
          <a:noFill/>
        </p:spPr>
        <p:txBody>
          <a:bodyPr wrap="square" anchor="t">
            <a:spAutoFit/>
          </a:bodyPr>
          <a:lstStyle/>
          <a:p>
            <a:pPr algn="l"/>
            <a:r>
              <a:rPr sz="1350" b="0" i="0">
                <a:solidFill>
                  <a:srgbClr val="556075"/>
                </a:solidFill>
                <a:latin typeface="Calibri"/>
              </a:rPr>
              <a:t>用firmly/largely/partially表明程度，加让步（While/Although）</a:t>
            </a:r>
          </a:p>
        </p:txBody>
      </p:sp>
      <p:sp>
        <p:nvSpPr>
          <p:cNvPr id="28" name="Rounded Rectangle 27"/>
          <p:cNvSpPr/>
          <p:nvPr/>
        </p:nvSpPr>
        <p:spPr>
          <a:xfrm>
            <a:off x="548640" y="5084063"/>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138927"/>
            <a:ext cx="640080" cy="502920"/>
          </a:xfrm>
          <a:prstGeom prst="rect">
            <a:avLst/>
          </a:prstGeom>
          <a:noFill/>
        </p:spPr>
        <p:txBody>
          <a:bodyPr wrap="square" anchor="t">
            <a:spAutoFit/>
          </a:bodyPr>
          <a:lstStyle/>
          <a:p>
            <a:pPr algn="ctr"/>
            <a:r>
              <a:rPr sz="2200" b="1" i="0">
                <a:solidFill>
                  <a:srgbClr val="FFFFFF"/>
                </a:solidFill>
                <a:latin typeface="Calibri"/>
              </a:rPr>
              <a:t>5</a:t>
            </a:r>
          </a:p>
        </p:txBody>
      </p:sp>
      <p:sp>
        <p:nvSpPr>
          <p:cNvPr id="30" name="TextBox 29"/>
          <p:cNvSpPr txBox="1"/>
          <p:nvPr/>
        </p:nvSpPr>
        <p:spPr>
          <a:xfrm>
            <a:off x="1417320" y="5084063"/>
            <a:ext cx="10058400" cy="411480"/>
          </a:xfrm>
          <a:prstGeom prst="rect">
            <a:avLst/>
          </a:prstGeom>
          <a:noFill/>
        </p:spPr>
        <p:txBody>
          <a:bodyPr wrap="square" anchor="t">
            <a:spAutoFit/>
          </a:bodyPr>
          <a:lstStyle/>
          <a:p>
            <a:pPr algn="l"/>
            <a:r>
              <a:rPr sz="1600" b="1" i="0">
                <a:solidFill>
                  <a:srgbClr val="472473"/>
                </a:solidFill>
                <a:latin typeface="Calibri"/>
              </a:rPr>
              <a:t>Step 5 预告</a:t>
            </a:r>
          </a:p>
        </p:txBody>
      </p:sp>
      <p:sp>
        <p:nvSpPr>
          <p:cNvPr id="31" name="TextBox 30"/>
          <p:cNvSpPr txBox="1"/>
          <p:nvPr/>
        </p:nvSpPr>
        <p:spPr>
          <a:xfrm>
            <a:off x="1417320" y="5449823"/>
            <a:ext cx="10058400" cy="585215"/>
          </a:xfrm>
          <a:prstGeom prst="rect">
            <a:avLst/>
          </a:prstGeom>
          <a:noFill/>
        </p:spPr>
        <p:txBody>
          <a:bodyPr wrap="square" anchor="t">
            <a:spAutoFit/>
          </a:bodyPr>
          <a:lstStyle/>
          <a:p>
            <a:pPr algn="l"/>
            <a:r>
              <a:rPr sz="1350" b="0" i="0">
                <a:solidFill>
                  <a:srgbClr val="556075"/>
                </a:solidFill>
                <a:latin typeface="Calibri"/>
              </a:rPr>
              <a:t>提前提1-2个支撑立场的理由（不展开）</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结论段写作4步法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8016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472473"/>
                </a:solidFill>
                <a:latin typeface="Calibri"/>
              </a:rPr>
              <a:t>Step 1 开头</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用In conclusion/To conclude/In summary开头</a:t>
            </a:r>
          </a:p>
        </p:txBody>
      </p:sp>
      <p:sp>
        <p:nvSpPr>
          <p:cNvPr id="13" name="Rounded Rectangle 12"/>
          <p:cNvSpPr/>
          <p:nvPr/>
        </p:nvSpPr>
        <p:spPr>
          <a:xfrm>
            <a:off x="548640" y="233172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472473"/>
                </a:solidFill>
                <a:latin typeface="Calibri"/>
              </a:rPr>
              <a:t>Step 2 重申</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用不同词汇重申引言中的立场（替换词汇）</a:t>
            </a:r>
          </a:p>
        </p:txBody>
      </p:sp>
      <p:sp>
        <p:nvSpPr>
          <p:cNvPr id="18" name="Rounded Rectangle 17"/>
          <p:cNvSpPr/>
          <p:nvPr/>
        </p:nvSpPr>
        <p:spPr>
          <a:xfrm>
            <a:off x="548640" y="3383279"/>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4041648"/>
            <a:ext cx="45720" cy="39319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383279"/>
            <a:ext cx="10058400" cy="411480"/>
          </a:xfrm>
          <a:prstGeom prst="rect">
            <a:avLst/>
          </a:prstGeom>
          <a:noFill/>
        </p:spPr>
        <p:txBody>
          <a:bodyPr wrap="square" anchor="t">
            <a:spAutoFit/>
          </a:bodyPr>
          <a:lstStyle/>
          <a:p>
            <a:pPr algn="l"/>
            <a:r>
              <a:rPr sz="1600" b="1" i="0">
                <a:solidFill>
                  <a:srgbClr val="472473"/>
                </a:solidFill>
                <a:latin typeface="Calibri"/>
              </a:rPr>
              <a:t>Step 3 总结</a:t>
            </a:r>
          </a:p>
        </p:txBody>
      </p:sp>
      <p:sp>
        <p:nvSpPr>
          <p:cNvPr id="22" name="TextBox 21"/>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用1-2句话概括主要论点（不引入新信息）</a:t>
            </a:r>
          </a:p>
        </p:txBody>
      </p:sp>
      <p:sp>
        <p:nvSpPr>
          <p:cNvPr id="23" name="Rounded Rectangle 22"/>
          <p:cNvSpPr/>
          <p:nvPr/>
        </p:nvSpPr>
        <p:spPr>
          <a:xfrm>
            <a:off x="548640" y="443484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48970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TextBox 24"/>
          <p:cNvSpPr txBox="1"/>
          <p:nvPr/>
        </p:nvSpPr>
        <p:spPr>
          <a:xfrm>
            <a:off x="1417320" y="4434840"/>
            <a:ext cx="10058400" cy="411480"/>
          </a:xfrm>
          <a:prstGeom prst="rect">
            <a:avLst/>
          </a:prstGeom>
          <a:noFill/>
        </p:spPr>
        <p:txBody>
          <a:bodyPr wrap="square" anchor="t">
            <a:spAutoFit/>
          </a:bodyPr>
          <a:lstStyle/>
          <a:p>
            <a:pPr algn="l"/>
            <a:r>
              <a:rPr sz="1600" b="1" i="0">
                <a:solidFill>
                  <a:srgbClr val="472473"/>
                </a:solidFill>
                <a:latin typeface="Calibri"/>
              </a:rPr>
              <a:t>Step 4 收尾</a:t>
            </a:r>
          </a:p>
        </p:txBody>
      </p:sp>
      <p:sp>
        <p:nvSpPr>
          <p:cNvPr id="26" name="TextBox 25"/>
          <p:cNvSpPr txBox="1"/>
          <p:nvPr/>
        </p:nvSpPr>
        <p:spPr>
          <a:xfrm>
            <a:off x="1417320" y="4800600"/>
            <a:ext cx="10058400" cy="685799"/>
          </a:xfrm>
          <a:prstGeom prst="rect">
            <a:avLst/>
          </a:prstGeom>
          <a:noFill/>
        </p:spPr>
        <p:txBody>
          <a:bodyPr wrap="square" anchor="t">
            <a:spAutoFit/>
          </a:bodyPr>
          <a:lstStyle/>
          <a:p>
            <a:pPr algn="l"/>
            <a:r>
              <a:rPr sz="1350" b="0" i="0">
                <a:solidFill>
                  <a:srgbClr val="556075"/>
                </a:solidFill>
                <a:latin typeface="Calibri"/>
              </a:rPr>
              <a:t>写一句有力的结尾：展望/建议/强调重要性</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引言立场句识别练习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88720"/>
            <a:ext cx="11064240" cy="640080"/>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判断以下立场句的Band等级，并说明原因</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472473"/>
                </a:solidFill>
              </a:rPr>
              <a:t>▢ 立场句评级</a:t>
            </a:r>
          </a:p>
          <a:p>
            <a:pPr>
              <a:spcBef>
                <a:spcPts val="100"/>
              </a:spcBef>
            </a:pPr>
            <a:r>
              <a:rPr sz="1400">
                <a:solidFill>
                  <a:srgbClr val="556075"/>
                </a:solidFill>
              </a:rPr>
              <a:t>   A："I think this is a good idea."
→ Band: ___  原因：___
B："While technology presents some challenges, I firmly believe its benefits to society outweigh its drawbacks, particularly in terms of healthcare and education."
→ Band: ___  原因：___
【答案】A：Band 5（太模糊，没有具体立场，没有理由预告）
B：Band 7+（让步+明确立场+程度词firmly+预告理由）</a:t>
            </a:r>
          </a:p>
          <a:p>
            <a:pPr>
              <a:spcBef>
                <a:spcPts val="1100"/>
              </a:spcBef>
            </a:pPr>
            <a:r>
              <a:rPr sz="1700" b="1">
                <a:solidFill>
                  <a:srgbClr val="472473"/>
                </a:solidFill>
              </a:rPr>
              <a:t>▢ 立场句改写练习</a:t>
            </a:r>
          </a:p>
          <a:p>
            <a:pPr>
              <a:spcBef>
                <a:spcPts val="100"/>
              </a:spcBef>
            </a:pPr>
            <a:r>
              <a:rPr sz="1400">
                <a:solidFill>
                  <a:srgbClr val="556075"/>
                </a:solidFill>
              </a:rPr>
              <a:t>   改写以下弱立场句为强立场句：
弱："I agree that the environment is important."
→ 改写为Band 7+立场句（含让步+程度词+理由预告）
【参考答案】"While economic development is undeniably important for human progress, I firmly believe that protecting the natural environment must take priority, as the long-term consequences of ecological destruction — including climate change and biodiversity loss — far outweigh any short-term economic gains."
（让步+firmly+具体理由预告）</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结论段配对选择练习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88720"/>
            <a:ext cx="11064240" cy="640080"/>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选择与以下引言最匹配的结论段</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472473"/>
                </a:solidFill>
              </a:rPr>
              <a:t>▢ 配对练习</a:t>
            </a:r>
          </a:p>
          <a:p>
            <a:pPr>
              <a:spcBef>
                <a:spcPts val="100"/>
              </a:spcBef>
            </a:pPr>
            <a:r>
              <a:rPr sz="1400">
                <a:solidFill>
                  <a:srgbClr val="556075"/>
                </a:solidFill>
              </a:rPr>
              <a:t>   引言立场："I firmly believe that public transport is more beneficial for cities than private car use, due to its environmental advantages and ability to reduce congestion."
结论A："In conclusion, cars and public transport both have their advantages. Cities should offer both options."
结论B："In conclusion, I maintain that investing in public transport remains the most effective strategy for creating sustainable, liveable cities. By reducing emissions and alleviating traffic, well-funded transit systems deliver benefits that private car culture simply cannot match."
【答案】B更好：立场一致（maintain/most effective）；总结了引言中的理由；有力收尾</a:t>
            </a:r>
          </a:p>
          <a:p>
            <a:pPr>
              <a:spcBef>
                <a:spcPts val="1100"/>
              </a:spcBef>
            </a:pPr>
            <a:r>
              <a:rPr sz="1700" b="1">
                <a:solidFill>
                  <a:srgbClr val="472473"/>
                </a:solidFill>
              </a:rPr>
              <a:t>▢ 结论段改写练习</a:t>
            </a:r>
          </a:p>
          <a:p>
            <a:pPr>
              <a:spcBef>
                <a:spcPts val="100"/>
              </a:spcBef>
            </a:pPr>
            <a:r>
              <a:rPr sz="1400">
                <a:solidFill>
                  <a:srgbClr val="556075"/>
                </a:solidFill>
              </a:rPr>
              <a:t>   改写以下弱结论为高分结论（约70词）：
弱结论："In conclusion, I think that social media is good. It helps people communicate. So we should use it more."
要求：①用不同词汇重申立场 ②总结2个论点 ③有力收尾
【参考答案】"In conclusion, I am firmly of the view that social media represents a predominantly positive development in modern communication. By enabling instantaneous global connection and democratising access to information, these platforms have fundamentally enhanced human interaction. Provided users engage with them responsibly and critically, the benefits of social media far outweigh its widely publicised drawbacks."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引言段5大原则</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原则1：不抄题目</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用同义词改写题目关键词——直接抄是LR失分</a:t>
            </a:r>
          </a:p>
        </p:txBody>
      </p:sp>
      <p:sp>
        <p:nvSpPr>
          <p:cNvPr id="12" name="Rounded Rectangle 11"/>
          <p:cNvSpPr/>
          <p:nvPr/>
        </p:nvSpPr>
        <p:spPr>
          <a:xfrm>
            <a:off x="6355079"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原则2：立场必须明确</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In my view/I firmly believe/I largely agree——不能模糊</a:t>
            </a:r>
          </a:p>
        </p:txBody>
      </p:sp>
      <p:sp>
        <p:nvSpPr>
          <p:cNvPr id="16" name="Rounded Rectangle 15"/>
          <p:cNvSpPr/>
          <p:nvPr/>
        </p:nvSpPr>
        <p:spPr>
          <a:xfrm>
            <a:off x="548640"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472473"/>
                </a:solidFill>
                <a:latin typeface="Calibri"/>
              </a:rPr>
              <a:t>原则3：预告理由</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引言中提前提1-2个主要论点方向（主体段再展开）</a:t>
            </a:r>
          </a:p>
        </p:txBody>
      </p:sp>
      <p:sp>
        <p:nvSpPr>
          <p:cNvPr id="20" name="Rounded Rectangle 19"/>
          <p:cNvSpPr/>
          <p:nvPr/>
        </p:nvSpPr>
        <p:spPr>
          <a:xfrm>
            <a:off x="6355079"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472473"/>
                </a:solidFill>
                <a:latin typeface="Calibri"/>
              </a:rPr>
              <a:t>原则4：有让步</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While/Although/Despite——体现思维的深度和平衡</a:t>
            </a:r>
          </a:p>
        </p:txBody>
      </p:sp>
      <p:sp>
        <p:nvSpPr>
          <p:cNvPr id="24" name="Rounded Rectangle 23"/>
          <p:cNvSpPr/>
          <p:nvPr/>
        </p:nvSpPr>
        <p:spPr>
          <a:xfrm>
            <a:off x="548640" y="449580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472473"/>
                </a:solidFill>
                <a:latin typeface="Calibri"/>
              </a:rPr>
              <a:t>原则5：60-80词</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不能太短（40词以下）也不能太长（超过100词）</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结论段5大原则</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原则1：重申立场</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用不同词汇表达与引言相同的立场——maintain/hold/assert</a:t>
            </a:r>
          </a:p>
        </p:txBody>
      </p:sp>
      <p:sp>
        <p:nvSpPr>
          <p:cNvPr id="12" name="Rounded Rectangle 11"/>
          <p:cNvSpPr/>
          <p:nvPr/>
        </p:nvSpPr>
        <p:spPr>
          <a:xfrm>
            <a:off x="6355079"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原则2：总结论点</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1-2句概括主体段的主要论点——不能凭空引入新信息</a:t>
            </a:r>
          </a:p>
        </p:txBody>
      </p:sp>
      <p:sp>
        <p:nvSpPr>
          <p:cNvPr id="16" name="Rounded Rectangle 15"/>
          <p:cNvSpPr/>
          <p:nvPr/>
        </p:nvSpPr>
        <p:spPr>
          <a:xfrm>
            <a:off x="548640"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472473"/>
                </a:solidFill>
                <a:latin typeface="Calibri"/>
              </a:rPr>
              <a:t>原则3：不引新信息</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结论段绝对不能出现主体段没有讨论过的内容</a:t>
            </a:r>
          </a:p>
        </p:txBody>
      </p:sp>
      <p:sp>
        <p:nvSpPr>
          <p:cNvPr id="20" name="Rounded Rectangle 19"/>
          <p:cNvSpPr/>
          <p:nvPr/>
        </p:nvSpPr>
        <p:spPr>
          <a:xfrm>
            <a:off x="6355079"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472473"/>
                </a:solidFill>
                <a:latin typeface="Calibri"/>
              </a:rPr>
              <a:t>原则4：有力收尾</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展望/建议/强调重要性——避免平淡收尾</a:t>
            </a:r>
          </a:p>
        </p:txBody>
      </p:sp>
      <p:sp>
        <p:nvSpPr>
          <p:cNvPr id="24" name="Rounded Rectangle 23"/>
          <p:cNvSpPr/>
          <p:nvPr/>
        </p:nvSpPr>
        <p:spPr>
          <a:xfrm>
            <a:off x="548640" y="449580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472473"/>
                </a:solidFill>
                <a:latin typeface="Calibri"/>
              </a:rPr>
              <a:t>原则5：60-80词</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结论段长度应与引言段相近——不能比引言短太多</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2题型对应引言策略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Agree/Disagree</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背景+让步+立场（firmly/largely）+理由预告</a:t>
            </a:r>
          </a:p>
        </p:txBody>
      </p:sp>
      <p:sp>
        <p:nvSpPr>
          <p:cNvPr id="12" name="Rounded Rectangle 11"/>
          <p:cNvSpPr/>
          <p:nvPr/>
        </p:nvSpPr>
        <p:spPr>
          <a:xfrm>
            <a:off x="6355079"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Discuss Both Views</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背景+两观点概述+个人更支持哪方</a:t>
            </a:r>
          </a:p>
        </p:txBody>
      </p:sp>
      <p:sp>
        <p:nvSpPr>
          <p:cNvPr id="16" name="Rounded Rectangle 15"/>
          <p:cNvSpPr/>
          <p:nvPr/>
        </p:nvSpPr>
        <p:spPr>
          <a:xfrm>
            <a:off x="548640"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472473"/>
                </a:solidFill>
                <a:latin typeface="Calibri"/>
              </a:rPr>
              <a:t>Advantages/Disadvantages</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背景+说明现象+利大于弊/弊大于利</a:t>
            </a:r>
          </a:p>
        </p:txBody>
      </p:sp>
      <p:sp>
        <p:nvSpPr>
          <p:cNvPr id="20" name="Rounded Rectangle 19"/>
          <p:cNvSpPr/>
          <p:nvPr/>
        </p:nvSpPr>
        <p:spPr>
          <a:xfrm>
            <a:off x="6355079"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472473"/>
                </a:solidFill>
                <a:latin typeface="Calibri"/>
              </a:rPr>
              <a:t>Problems/Solutions</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背景+确认问题存在+预告讨论原因和方案</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引言结论联动速查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立场词替换</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firmly believe→maintain/hold/am convinced/am persuaded</a:t>
            </a:r>
          </a:p>
        </p:txBody>
      </p:sp>
      <p:sp>
        <p:nvSpPr>
          <p:cNvPr id="12" name="Rounded Rectangle 11"/>
          <p:cNvSpPr/>
          <p:nvPr/>
        </p:nvSpPr>
        <p:spPr>
          <a:xfrm>
            <a:off x="6355079"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动词替换</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argue→contend/assert/maintain/claim</a:t>
            </a:r>
          </a:p>
        </p:txBody>
      </p:sp>
      <p:sp>
        <p:nvSpPr>
          <p:cNvPr id="16" name="Rounded Rectangle 15"/>
          <p:cNvSpPr/>
          <p:nvPr/>
        </p:nvSpPr>
        <p:spPr>
          <a:xfrm>
            <a:off x="548640"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472473"/>
                </a:solidFill>
                <a:latin typeface="Calibri"/>
              </a:rPr>
              <a:t>形容词替换</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positive→beneficial/advantageous/constructive</a:t>
            </a:r>
          </a:p>
        </p:txBody>
      </p:sp>
      <p:sp>
        <p:nvSpPr>
          <p:cNvPr id="20" name="Rounded Rectangle 19"/>
          <p:cNvSpPr/>
          <p:nvPr/>
        </p:nvSpPr>
        <p:spPr>
          <a:xfrm>
            <a:off x="6355079"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472473"/>
                </a:solidFill>
                <a:latin typeface="Calibri"/>
              </a:rPr>
              <a:t>收尾句型</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benefits far outweigh / should be prioritised / is an urgent necessity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引言高频词汇：背景句表达</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33400"/>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33400"/>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7678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7678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767840"/>
            <a:ext cx="4754880" cy="533400"/>
          </a:xfrm>
          <a:prstGeom prst="rect">
            <a:avLst/>
          </a:prstGeom>
          <a:noFill/>
        </p:spPr>
        <p:txBody>
          <a:bodyPr wrap="square" anchor="ctr">
            <a:spAutoFit/>
          </a:bodyPr>
          <a:lstStyle/>
          <a:p>
            <a:pPr algn="l"/>
            <a:r>
              <a:rPr sz="1250" b="1" i="0">
                <a:solidFill>
                  <a:srgbClr val="472473"/>
                </a:solidFill>
                <a:latin typeface="Calibri"/>
              </a:rPr>
              <a:t>has become a contentious issue</a:t>
            </a:r>
          </a:p>
        </p:txBody>
      </p:sp>
      <p:sp>
        <p:nvSpPr>
          <p:cNvPr id="15" name="TextBox 14"/>
          <p:cNvSpPr txBox="1"/>
          <p:nvPr/>
        </p:nvSpPr>
        <p:spPr>
          <a:xfrm>
            <a:off x="5623560" y="1767840"/>
            <a:ext cx="5852160" cy="533400"/>
          </a:xfrm>
          <a:prstGeom prst="rect">
            <a:avLst/>
          </a:prstGeom>
          <a:noFill/>
        </p:spPr>
        <p:txBody>
          <a:bodyPr wrap="square" anchor="ctr">
            <a:spAutoFit/>
          </a:bodyPr>
          <a:lstStyle/>
          <a:p>
            <a:pPr algn="l"/>
            <a:r>
              <a:rPr sz="1250" b="0" i="0">
                <a:solidFill>
                  <a:srgbClr val="1E293B"/>
                </a:solidFill>
                <a:latin typeface="Calibri"/>
              </a:rPr>
              <a:t>已成为争议性话题 — commonly used for social topics</a:t>
            </a:r>
          </a:p>
        </p:txBody>
      </p:sp>
      <p:sp>
        <p:nvSpPr>
          <p:cNvPr id="16" name="Rectangle 15"/>
          <p:cNvSpPr/>
          <p:nvPr/>
        </p:nvSpPr>
        <p:spPr>
          <a:xfrm>
            <a:off x="548640" y="23012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012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01240"/>
            <a:ext cx="4754880" cy="533400"/>
          </a:xfrm>
          <a:prstGeom prst="rect">
            <a:avLst/>
          </a:prstGeom>
          <a:noFill/>
        </p:spPr>
        <p:txBody>
          <a:bodyPr wrap="square" anchor="ctr">
            <a:spAutoFit/>
          </a:bodyPr>
          <a:lstStyle/>
          <a:p>
            <a:pPr algn="l"/>
            <a:r>
              <a:rPr sz="1250" b="1" i="0">
                <a:solidFill>
                  <a:srgbClr val="472473"/>
                </a:solidFill>
                <a:latin typeface="Calibri"/>
              </a:rPr>
              <a:t>has transformed/revolutionised</a:t>
            </a:r>
          </a:p>
        </p:txBody>
      </p:sp>
      <p:sp>
        <p:nvSpPr>
          <p:cNvPr id="19" name="TextBox 18"/>
          <p:cNvSpPr txBox="1"/>
          <p:nvPr/>
        </p:nvSpPr>
        <p:spPr>
          <a:xfrm>
            <a:off x="5623560" y="2301240"/>
            <a:ext cx="5852160" cy="533400"/>
          </a:xfrm>
          <a:prstGeom prst="rect">
            <a:avLst/>
          </a:prstGeom>
          <a:noFill/>
        </p:spPr>
        <p:txBody>
          <a:bodyPr wrap="square" anchor="ctr">
            <a:spAutoFit/>
          </a:bodyPr>
          <a:lstStyle/>
          <a:p>
            <a:pPr algn="l"/>
            <a:r>
              <a:rPr sz="1250" b="0" i="0">
                <a:solidFill>
                  <a:srgbClr val="1E293B"/>
                </a:solidFill>
                <a:latin typeface="Calibri"/>
              </a:rPr>
              <a:t>已彻底改变 — technology has transformed communication</a:t>
            </a:r>
          </a:p>
        </p:txBody>
      </p:sp>
      <p:sp>
        <p:nvSpPr>
          <p:cNvPr id="20" name="Rectangle 19"/>
          <p:cNvSpPr/>
          <p:nvPr/>
        </p:nvSpPr>
        <p:spPr>
          <a:xfrm>
            <a:off x="548640" y="28346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8346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34640"/>
            <a:ext cx="4754880" cy="533400"/>
          </a:xfrm>
          <a:prstGeom prst="rect">
            <a:avLst/>
          </a:prstGeom>
          <a:noFill/>
        </p:spPr>
        <p:txBody>
          <a:bodyPr wrap="square" anchor="ctr">
            <a:spAutoFit/>
          </a:bodyPr>
          <a:lstStyle/>
          <a:p>
            <a:pPr algn="l"/>
            <a:r>
              <a:rPr sz="1250" b="1" i="0">
                <a:solidFill>
                  <a:srgbClr val="472473"/>
                </a:solidFill>
                <a:latin typeface="Calibri"/>
              </a:rPr>
              <a:t>in recent decades/years</a:t>
            </a:r>
          </a:p>
        </p:txBody>
      </p:sp>
      <p:sp>
        <p:nvSpPr>
          <p:cNvPr id="23" name="TextBox 22"/>
          <p:cNvSpPr txBox="1"/>
          <p:nvPr/>
        </p:nvSpPr>
        <p:spPr>
          <a:xfrm>
            <a:off x="5623560" y="2834640"/>
            <a:ext cx="5852160" cy="533400"/>
          </a:xfrm>
          <a:prstGeom prst="rect">
            <a:avLst/>
          </a:prstGeom>
          <a:noFill/>
        </p:spPr>
        <p:txBody>
          <a:bodyPr wrap="square" anchor="ctr">
            <a:spAutoFit/>
          </a:bodyPr>
          <a:lstStyle/>
          <a:p>
            <a:pPr algn="l"/>
            <a:r>
              <a:rPr sz="1250" b="0" i="0">
                <a:solidFill>
                  <a:srgbClr val="1E293B"/>
                </a:solidFill>
                <a:latin typeface="Calibri"/>
              </a:rPr>
              <a:t>近几十年/几年 — used for contemporary issues</a:t>
            </a:r>
          </a:p>
        </p:txBody>
      </p:sp>
      <p:sp>
        <p:nvSpPr>
          <p:cNvPr id="24" name="Rectangle 23"/>
          <p:cNvSpPr/>
          <p:nvPr/>
        </p:nvSpPr>
        <p:spPr>
          <a:xfrm>
            <a:off x="548640" y="33680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3680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68040"/>
            <a:ext cx="4754880" cy="533400"/>
          </a:xfrm>
          <a:prstGeom prst="rect">
            <a:avLst/>
          </a:prstGeom>
          <a:noFill/>
        </p:spPr>
        <p:txBody>
          <a:bodyPr wrap="square" anchor="ctr">
            <a:spAutoFit/>
          </a:bodyPr>
          <a:lstStyle/>
          <a:p>
            <a:pPr algn="l"/>
            <a:r>
              <a:rPr sz="1250" b="1" i="0">
                <a:solidFill>
                  <a:srgbClr val="472473"/>
                </a:solidFill>
                <a:latin typeface="Calibri"/>
              </a:rPr>
              <a:t>is widely debated</a:t>
            </a:r>
          </a:p>
        </p:txBody>
      </p:sp>
      <p:sp>
        <p:nvSpPr>
          <p:cNvPr id="27" name="TextBox 26"/>
          <p:cNvSpPr txBox="1"/>
          <p:nvPr/>
        </p:nvSpPr>
        <p:spPr>
          <a:xfrm>
            <a:off x="5623560" y="3368040"/>
            <a:ext cx="5852160" cy="533400"/>
          </a:xfrm>
          <a:prstGeom prst="rect">
            <a:avLst/>
          </a:prstGeom>
          <a:noFill/>
        </p:spPr>
        <p:txBody>
          <a:bodyPr wrap="square" anchor="ctr">
            <a:spAutoFit/>
          </a:bodyPr>
          <a:lstStyle/>
          <a:p>
            <a:pPr algn="l"/>
            <a:r>
              <a:rPr sz="1250" b="0" i="0">
                <a:solidFill>
                  <a:srgbClr val="1E293B"/>
                </a:solidFill>
                <a:latin typeface="Calibri"/>
              </a:rPr>
              <a:t>被广泛讨论 — the question is widely debated</a:t>
            </a:r>
          </a:p>
        </p:txBody>
      </p:sp>
      <p:sp>
        <p:nvSpPr>
          <p:cNvPr id="28" name="Rectangle 27"/>
          <p:cNvSpPr/>
          <p:nvPr/>
        </p:nvSpPr>
        <p:spPr>
          <a:xfrm>
            <a:off x="548640" y="39014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9014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901440"/>
            <a:ext cx="4754880" cy="533400"/>
          </a:xfrm>
          <a:prstGeom prst="rect">
            <a:avLst/>
          </a:prstGeom>
          <a:noFill/>
        </p:spPr>
        <p:txBody>
          <a:bodyPr wrap="square" anchor="ctr">
            <a:spAutoFit/>
          </a:bodyPr>
          <a:lstStyle/>
          <a:p>
            <a:pPr algn="l"/>
            <a:r>
              <a:rPr sz="1250" b="1" i="0">
                <a:solidFill>
                  <a:srgbClr val="472473"/>
                </a:solidFill>
                <a:latin typeface="Calibri"/>
              </a:rPr>
              <a:t>has drawn considerable attention</a:t>
            </a:r>
          </a:p>
        </p:txBody>
      </p:sp>
      <p:sp>
        <p:nvSpPr>
          <p:cNvPr id="31" name="TextBox 30"/>
          <p:cNvSpPr txBox="1"/>
          <p:nvPr/>
        </p:nvSpPr>
        <p:spPr>
          <a:xfrm>
            <a:off x="5623560" y="3901440"/>
            <a:ext cx="5852160" cy="533400"/>
          </a:xfrm>
          <a:prstGeom prst="rect">
            <a:avLst/>
          </a:prstGeom>
          <a:noFill/>
        </p:spPr>
        <p:txBody>
          <a:bodyPr wrap="square" anchor="ctr">
            <a:spAutoFit/>
          </a:bodyPr>
          <a:lstStyle/>
          <a:p>
            <a:pPr algn="l"/>
            <a:r>
              <a:rPr sz="1250" b="0" i="0">
                <a:solidFill>
                  <a:srgbClr val="1E293B"/>
                </a:solidFill>
                <a:latin typeface="Calibri"/>
              </a:rPr>
              <a:t>引起了广泛关注 — has drawn attention from policymakers</a:t>
            </a:r>
          </a:p>
        </p:txBody>
      </p:sp>
      <p:sp>
        <p:nvSpPr>
          <p:cNvPr id="32" name="Rectangle 31"/>
          <p:cNvSpPr/>
          <p:nvPr/>
        </p:nvSpPr>
        <p:spPr>
          <a:xfrm>
            <a:off x="548640" y="44348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4348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34840"/>
            <a:ext cx="4754880" cy="533400"/>
          </a:xfrm>
          <a:prstGeom prst="rect">
            <a:avLst/>
          </a:prstGeom>
          <a:noFill/>
        </p:spPr>
        <p:txBody>
          <a:bodyPr wrap="square" anchor="ctr">
            <a:spAutoFit/>
          </a:bodyPr>
          <a:lstStyle/>
          <a:p>
            <a:pPr algn="l"/>
            <a:r>
              <a:rPr sz="1250" b="1" i="0">
                <a:solidFill>
                  <a:srgbClr val="472473"/>
                </a:solidFill>
                <a:latin typeface="Calibri"/>
              </a:rPr>
              <a:t>plays a significant role in</a:t>
            </a:r>
          </a:p>
        </p:txBody>
      </p:sp>
      <p:sp>
        <p:nvSpPr>
          <p:cNvPr id="35" name="TextBox 34"/>
          <p:cNvSpPr txBox="1"/>
          <p:nvPr/>
        </p:nvSpPr>
        <p:spPr>
          <a:xfrm>
            <a:off x="5623560" y="4434840"/>
            <a:ext cx="5852160" cy="533400"/>
          </a:xfrm>
          <a:prstGeom prst="rect">
            <a:avLst/>
          </a:prstGeom>
          <a:noFill/>
        </p:spPr>
        <p:txBody>
          <a:bodyPr wrap="square" anchor="ctr">
            <a:spAutoFit/>
          </a:bodyPr>
          <a:lstStyle/>
          <a:p>
            <a:pPr algn="l"/>
            <a:r>
              <a:rPr sz="1250" b="0" i="0">
                <a:solidFill>
                  <a:srgbClr val="1E293B"/>
                </a:solidFill>
                <a:latin typeface="Calibri"/>
              </a:rPr>
              <a:t>在...中发挥重要作用 — education plays a role in development</a:t>
            </a:r>
          </a:p>
        </p:txBody>
      </p:sp>
      <p:sp>
        <p:nvSpPr>
          <p:cNvPr id="36" name="Rectangle 35"/>
          <p:cNvSpPr/>
          <p:nvPr/>
        </p:nvSpPr>
        <p:spPr>
          <a:xfrm>
            <a:off x="548640" y="49682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9682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968240"/>
            <a:ext cx="4754880" cy="533400"/>
          </a:xfrm>
          <a:prstGeom prst="rect">
            <a:avLst/>
          </a:prstGeom>
          <a:noFill/>
        </p:spPr>
        <p:txBody>
          <a:bodyPr wrap="square" anchor="ctr">
            <a:spAutoFit/>
          </a:bodyPr>
          <a:lstStyle/>
          <a:p>
            <a:pPr algn="l"/>
            <a:r>
              <a:rPr sz="1250" b="1" i="0">
                <a:solidFill>
                  <a:srgbClr val="472473"/>
                </a:solidFill>
                <a:latin typeface="Calibri"/>
              </a:rPr>
              <a:t>is increasingly prevalent</a:t>
            </a:r>
          </a:p>
        </p:txBody>
      </p:sp>
      <p:sp>
        <p:nvSpPr>
          <p:cNvPr id="39" name="TextBox 38"/>
          <p:cNvSpPr txBox="1"/>
          <p:nvPr/>
        </p:nvSpPr>
        <p:spPr>
          <a:xfrm>
            <a:off x="5623560" y="4968240"/>
            <a:ext cx="5852160" cy="533400"/>
          </a:xfrm>
          <a:prstGeom prst="rect">
            <a:avLst/>
          </a:prstGeom>
          <a:noFill/>
        </p:spPr>
        <p:txBody>
          <a:bodyPr wrap="square" anchor="ctr">
            <a:spAutoFit/>
          </a:bodyPr>
          <a:lstStyle/>
          <a:p>
            <a:pPr algn="l"/>
            <a:r>
              <a:rPr sz="1250" b="0" i="0">
                <a:solidFill>
                  <a:srgbClr val="1E293B"/>
                </a:solidFill>
                <a:latin typeface="Calibri"/>
              </a:rPr>
              <a:t>越来越普遍 — online shopping is increasingly prevalent</a:t>
            </a:r>
          </a:p>
        </p:txBody>
      </p:sp>
      <p:sp>
        <p:nvSpPr>
          <p:cNvPr id="40" name="Rectangle 39"/>
          <p:cNvSpPr/>
          <p:nvPr/>
        </p:nvSpPr>
        <p:spPr>
          <a:xfrm>
            <a:off x="548640" y="55016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55016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501640"/>
            <a:ext cx="4754880" cy="533400"/>
          </a:xfrm>
          <a:prstGeom prst="rect">
            <a:avLst/>
          </a:prstGeom>
          <a:noFill/>
        </p:spPr>
        <p:txBody>
          <a:bodyPr wrap="square" anchor="ctr">
            <a:spAutoFit/>
          </a:bodyPr>
          <a:lstStyle/>
          <a:p>
            <a:pPr algn="l"/>
            <a:r>
              <a:rPr sz="1250" b="1" i="0">
                <a:solidFill>
                  <a:srgbClr val="472473"/>
                </a:solidFill>
                <a:latin typeface="Calibri"/>
              </a:rPr>
              <a:t>has given rise to</a:t>
            </a:r>
          </a:p>
        </p:txBody>
      </p:sp>
      <p:sp>
        <p:nvSpPr>
          <p:cNvPr id="43" name="TextBox 42"/>
          <p:cNvSpPr txBox="1"/>
          <p:nvPr/>
        </p:nvSpPr>
        <p:spPr>
          <a:xfrm>
            <a:off x="5623560" y="5501640"/>
            <a:ext cx="5852160" cy="533400"/>
          </a:xfrm>
          <a:prstGeom prst="rect">
            <a:avLst/>
          </a:prstGeom>
          <a:noFill/>
        </p:spPr>
        <p:txBody>
          <a:bodyPr wrap="square" anchor="ctr">
            <a:spAutoFit/>
          </a:bodyPr>
          <a:lstStyle/>
          <a:p>
            <a:pPr algn="l"/>
            <a:r>
              <a:rPr sz="1250" b="0" i="0">
                <a:solidFill>
                  <a:srgbClr val="1E293B"/>
                </a:solidFill>
                <a:latin typeface="Calibri"/>
              </a:rPr>
              <a:t>引发了 — urbanisation has given rise to new challenges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立场与让步高频词汇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33400"/>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33400"/>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7678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7678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767840"/>
            <a:ext cx="4754880" cy="533400"/>
          </a:xfrm>
          <a:prstGeom prst="rect">
            <a:avLst/>
          </a:prstGeom>
          <a:noFill/>
        </p:spPr>
        <p:txBody>
          <a:bodyPr wrap="square" anchor="ctr">
            <a:spAutoFit/>
          </a:bodyPr>
          <a:lstStyle/>
          <a:p>
            <a:pPr algn="l"/>
            <a:r>
              <a:rPr sz="1250" b="1" i="0">
                <a:solidFill>
                  <a:srgbClr val="472473"/>
                </a:solidFill>
                <a:latin typeface="Calibri"/>
              </a:rPr>
              <a:t>I firmly believe</a:t>
            </a:r>
          </a:p>
        </p:txBody>
      </p:sp>
      <p:sp>
        <p:nvSpPr>
          <p:cNvPr id="15" name="TextBox 14"/>
          <p:cNvSpPr txBox="1"/>
          <p:nvPr/>
        </p:nvSpPr>
        <p:spPr>
          <a:xfrm>
            <a:off x="5623560" y="1767840"/>
            <a:ext cx="5852160" cy="533400"/>
          </a:xfrm>
          <a:prstGeom prst="rect">
            <a:avLst/>
          </a:prstGeom>
          <a:noFill/>
        </p:spPr>
        <p:txBody>
          <a:bodyPr wrap="square" anchor="ctr">
            <a:spAutoFit/>
          </a:bodyPr>
          <a:lstStyle/>
          <a:p>
            <a:pPr algn="l"/>
            <a:r>
              <a:rPr sz="1250" b="0" i="0">
                <a:solidFill>
                  <a:srgbClr val="1E293B"/>
                </a:solidFill>
                <a:latin typeface="Calibri"/>
              </a:rPr>
              <a:t>我坚定地认为 — formal, strong opinion</a:t>
            </a:r>
          </a:p>
        </p:txBody>
      </p:sp>
      <p:sp>
        <p:nvSpPr>
          <p:cNvPr id="16" name="Rectangle 15"/>
          <p:cNvSpPr/>
          <p:nvPr/>
        </p:nvSpPr>
        <p:spPr>
          <a:xfrm>
            <a:off x="548640" y="23012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012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01240"/>
            <a:ext cx="4754880" cy="533400"/>
          </a:xfrm>
          <a:prstGeom prst="rect">
            <a:avLst/>
          </a:prstGeom>
          <a:noFill/>
        </p:spPr>
        <p:txBody>
          <a:bodyPr wrap="square" anchor="ctr">
            <a:spAutoFit/>
          </a:bodyPr>
          <a:lstStyle/>
          <a:p>
            <a:pPr algn="l"/>
            <a:r>
              <a:rPr sz="1250" b="1" i="0">
                <a:solidFill>
                  <a:srgbClr val="472473"/>
                </a:solidFill>
                <a:latin typeface="Calibri"/>
              </a:rPr>
              <a:t>I largely agree</a:t>
            </a:r>
          </a:p>
        </p:txBody>
      </p:sp>
      <p:sp>
        <p:nvSpPr>
          <p:cNvPr id="19" name="TextBox 18"/>
          <p:cNvSpPr txBox="1"/>
          <p:nvPr/>
        </p:nvSpPr>
        <p:spPr>
          <a:xfrm>
            <a:off x="5623560" y="2301240"/>
            <a:ext cx="5852160" cy="533400"/>
          </a:xfrm>
          <a:prstGeom prst="rect">
            <a:avLst/>
          </a:prstGeom>
          <a:noFill/>
        </p:spPr>
        <p:txBody>
          <a:bodyPr wrap="square" anchor="ctr">
            <a:spAutoFit/>
          </a:bodyPr>
          <a:lstStyle/>
          <a:p>
            <a:pPr algn="l"/>
            <a:r>
              <a:rPr sz="1250" b="0" i="0">
                <a:solidFill>
                  <a:srgbClr val="1E293B"/>
                </a:solidFill>
                <a:latin typeface="Calibri"/>
              </a:rPr>
              <a:t>我基本同意 — moderate, not absolute</a:t>
            </a:r>
          </a:p>
        </p:txBody>
      </p:sp>
      <p:sp>
        <p:nvSpPr>
          <p:cNvPr id="20" name="Rectangle 19"/>
          <p:cNvSpPr/>
          <p:nvPr/>
        </p:nvSpPr>
        <p:spPr>
          <a:xfrm>
            <a:off x="548640" y="28346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8346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34640"/>
            <a:ext cx="4754880" cy="533400"/>
          </a:xfrm>
          <a:prstGeom prst="rect">
            <a:avLst/>
          </a:prstGeom>
          <a:noFill/>
        </p:spPr>
        <p:txBody>
          <a:bodyPr wrap="square" anchor="ctr">
            <a:spAutoFit/>
          </a:bodyPr>
          <a:lstStyle/>
          <a:p>
            <a:pPr algn="l"/>
            <a:r>
              <a:rPr sz="1250" b="1" i="0">
                <a:solidFill>
                  <a:srgbClr val="472473"/>
                </a:solidFill>
                <a:latin typeface="Calibri"/>
              </a:rPr>
              <a:t>I partially agree</a:t>
            </a:r>
          </a:p>
        </p:txBody>
      </p:sp>
      <p:sp>
        <p:nvSpPr>
          <p:cNvPr id="23" name="TextBox 22"/>
          <p:cNvSpPr txBox="1"/>
          <p:nvPr/>
        </p:nvSpPr>
        <p:spPr>
          <a:xfrm>
            <a:off x="5623560" y="2834640"/>
            <a:ext cx="5852160" cy="533400"/>
          </a:xfrm>
          <a:prstGeom prst="rect">
            <a:avLst/>
          </a:prstGeom>
          <a:noFill/>
        </p:spPr>
        <p:txBody>
          <a:bodyPr wrap="square" anchor="ctr">
            <a:spAutoFit/>
          </a:bodyPr>
          <a:lstStyle/>
          <a:p>
            <a:pPr algn="l"/>
            <a:r>
              <a:rPr sz="1250" b="0" i="0">
                <a:solidFill>
                  <a:srgbClr val="1E293B"/>
                </a:solidFill>
                <a:latin typeface="Calibri"/>
              </a:rPr>
              <a:t>我部分同意 — balanced, nuanced view</a:t>
            </a:r>
          </a:p>
        </p:txBody>
      </p:sp>
      <p:sp>
        <p:nvSpPr>
          <p:cNvPr id="24" name="Rectangle 23"/>
          <p:cNvSpPr/>
          <p:nvPr/>
        </p:nvSpPr>
        <p:spPr>
          <a:xfrm>
            <a:off x="548640" y="33680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3680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68040"/>
            <a:ext cx="4754880" cy="533400"/>
          </a:xfrm>
          <a:prstGeom prst="rect">
            <a:avLst/>
          </a:prstGeom>
          <a:noFill/>
        </p:spPr>
        <p:txBody>
          <a:bodyPr wrap="square" anchor="ctr">
            <a:spAutoFit/>
          </a:bodyPr>
          <a:lstStyle/>
          <a:p>
            <a:pPr algn="l"/>
            <a:r>
              <a:rPr sz="1250" b="1" i="0">
                <a:solidFill>
                  <a:srgbClr val="472473"/>
                </a:solidFill>
                <a:latin typeface="Calibri"/>
              </a:rPr>
              <a:t>While I acknowledge</a:t>
            </a:r>
          </a:p>
        </p:txBody>
      </p:sp>
      <p:sp>
        <p:nvSpPr>
          <p:cNvPr id="27" name="TextBox 26"/>
          <p:cNvSpPr txBox="1"/>
          <p:nvPr/>
        </p:nvSpPr>
        <p:spPr>
          <a:xfrm>
            <a:off x="5623560" y="3368040"/>
            <a:ext cx="5852160" cy="533400"/>
          </a:xfrm>
          <a:prstGeom prst="rect">
            <a:avLst/>
          </a:prstGeom>
          <a:noFill/>
        </p:spPr>
        <p:txBody>
          <a:bodyPr wrap="square" anchor="ctr">
            <a:spAutoFit/>
          </a:bodyPr>
          <a:lstStyle/>
          <a:p>
            <a:pPr algn="l"/>
            <a:r>
              <a:rPr sz="1250" b="0" i="0">
                <a:solidFill>
                  <a:srgbClr val="1E293B"/>
                </a:solidFill>
                <a:latin typeface="Calibri"/>
              </a:rPr>
              <a:t>虽然我承认 — concession opener</a:t>
            </a:r>
          </a:p>
        </p:txBody>
      </p:sp>
      <p:sp>
        <p:nvSpPr>
          <p:cNvPr id="28" name="Rectangle 27"/>
          <p:cNvSpPr/>
          <p:nvPr/>
        </p:nvSpPr>
        <p:spPr>
          <a:xfrm>
            <a:off x="548640" y="39014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9014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901440"/>
            <a:ext cx="4754880" cy="533400"/>
          </a:xfrm>
          <a:prstGeom prst="rect">
            <a:avLst/>
          </a:prstGeom>
          <a:noFill/>
        </p:spPr>
        <p:txBody>
          <a:bodyPr wrap="square" anchor="ctr">
            <a:spAutoFit/>
          </a:bodyPr>
          <a:lstStyle/>
          <a:p>
            <a:pPr algn="l"/>
            <a:r>
              <a:rPr sz="1250" b="1" i="0">
                <a:solidFill>
                  <a:srgbClr val="472473"/>
                </a:solidFill>
                <a:latin typeface="Calibri"/>
              </a:rPr>
              <a:t>I concede that</a:t>
            </a:r>
          </a:p>
        </p:txBody>
      </p:sp>
      <p:sp>
        <p:nvSpPr>
          <p:cNvPr id="31" name="TextBox 30"/>
          <p:cNvSpPr txBox="1"/>
          <p:nvPr/>
        </p:nvSpPr>
        <p:spPr>
          <a:xfrm>
            <a:off x="5623560" y="3901440"/>
            <a:ext cx="5852160" cy="533400"/>
          </a:xfrm>
          <a:prstGeom prst="rect">
            <a:avLst/>
          </a:prstGeom>
          <a:noFill/>
        </p:spPr>
        <p:txBody>
          <a:bodyPr wrap="square" anchor="ctr">
            <a:spAutoFit/>
          </a:bodyPr>
          <a:lstStyle/>
          <a:p>
            <a:pPr algn="l"/>
            <a:r>
              <a:rPr sz="1250" b="0" i="0">
                <a:solidFill>
                  <a:srgbClr val="1E293B"/>
                </a:solidFill>
                <a:latin typeface="Calibri"/>
              </a:rPr>
              <a:t>我承认 — formal concession</a:t>
            </a:r>
          </a:p>
        </p:txBody>
      </p:sp>
      <p:sp>
        <p:nvSpPr>
          <p:cNvPr id="32" name="Rectangle 31"/>
          <p:cNvSpPr/>
          <p:nvPr/>
        </p:nvSpPr>
        <p:spPr>
          <a:xfrm>
            <a:off x="548640" y="44348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4348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34840"/>
            <a:ext cx="4754880" cy="533400"/>
          </a:xfrm>
          <a:prstGeom prst="rect">
            <a:avLst/>
          </a:prstGeom>
          <a:noFill/>
        </p:spPr>
        <p:txBody>
          <a:bodyPr wrap="square" anchor="ctr">
            <a:spAutoFit/>
          </a:bodyPr>
          <a:lstStyle/>
          <a:p>
            <a:pPr algn="l"/>
            <a:r>
              <a:rPr sz="1250" b="1" i="0">
                <a:solidFill>
                  <a:srgbClr val="472473"/>
                </a:solidFill>
                <a:latin typeface="Calibri"/>
              </a:rPr>
              <a:t>outweigh</a:t>
            </a:r>
          </a:p>
        </p:txBody>
      </p:sp>
      <p:sp>
        <p:nvSpPr>
          <p:cNvPr id="35" name="TextBox 34"/>
          <p:cNvSpPr txBox="1"/>
          <p:nvPr/>
        </p:nvSpPr>
        <p:spPr>
          <a:xfrm>
            <a:off x="5623560" y="4434840"/>
            <a:ext cx="5852160" cy="533400"/>
          </a:xfrm>
          <a:prstGeom prst="rect">
            <a:avLst/>
          </a:prstGeom>
          <a:noFill/>
        </p:spPr>
        <p:txBody>
          <a:bodyPr wrap="square" anchor="ctr">
            <a:spAutoFit/>
          </a:bodyPr>
          <a:lstStyle/>
          <a:p>
            <a:pPr algn="l"/>
            <a:r>
              <a:rPr sz="1250" b="0" i="0">
                <a:solidFill>
                  <a:srgbClr val="1E293B"/>
                </a:solidFill>
                <a:latin typeface="Calibri"/>
              </a:rPr>
              <a:t>超过/压倒 — benefits outweigh drawbacks</a:t>
            </a:r>
          </a:p>
        </p:txBody>
      </p:sp>
      <p:sp>
        <p:nvSpPr>
          <p:cNvPr id="36" name="Rectangle 35"/>
          <p:cNvSpPr/>
          <p:nvPr/>
        </p:nvSpPr>
        <p:spPr>
          <a:xfrm>
            <a:off x="548640" y="49682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9682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968240"/>
            <a:ext cx="4754880" cy="533400"/>
          </a:xfrm>
          <a:prstGeom prst="rect">
            <a:avLst/>
          </a:prstGeom>
          <a:noFill/>
        </p:spPr>
        <p:txBody>
          <a:bodyPr wrap="square" anchor="ctr">
            <a:spAutoFit/>
          </a:bodyPr>
          <a:lstStyle/>
          <a:p>
            <a:pPr algn="l"/>
            <a:r>
              <a:rPr sz="1250" b="1" i="0">
                <a:solidFill>
                  <a:srgbClr val="472473"/>
                </a:solidFill>
                <a:latin typeface="Calibri"/>
              </a:rPr>
              <a:t>predominantly</a:t>
            </a:r>
          </a:p>
        </p:txBody>
      </p:sp>
      <p:sp>
        <p:nvSpPr>
          <p:cNvPr id="39" name="TextBox 38"/>
          <p:cNvSpPr txBox="1"/>
          <p:nvPr/>
        </p:nvSpPr>
        <p:spPr>
          <a:xfrm>
            <a:off x="5623560" y="4968240"/>
            <a:ext cx="5852160" cy="533400"/>
          </a:xfrm>
          <a:prstGeom prst="rect">
            <a:avLst/>
          </a:prstGeom>
          <a:noFill/>
        </p:spPr>
        <p:txBody>
          <a:bodyPr wrap="square" anchor="ctr">
            <a:spAutoFit/>
          </a:bodyPr>
          <a:lstStyle/>
          <a:p>
            <a:pPr algn="l"/>
            <a:r>
              <a:rPr sz="1250" b="0" i="0">
                <a:solidFill>
                  <a:srgbClr val="1E293B"/>
                </a:solidFill>
                <a:latin typeface="Calibri"/>
              </a:rPr>
              <a:t>主要地 — predominantly positive/negative</a:t>
            </a:r>
          </a:p>
        </p:txBody>
      </p:sp>
      <p:sp>
        <p:nvSpPr>
          <p:cNvPr id="40" name="Rectangle 39"/>
          <p:cNvSpPr/>
          <p:nvPr/>
        </p:nvSpPr>
        <p:spPr>
          <a:xfrm>
            <a:off x="548640" y="55016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55016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501640"/>
            <a:ext cx="4754880" cy="533400"/>
          </a:xfrm>
          <a:prstGeom prst="rect">
            <a:avLst/>
          </a:prstGeom>
          <a:noFill/>
        </p:spPr>
        <p:txBody>
          <a:bodyPr wrap="square" anchor="ctr">
            <a:spAutoFit/>
          </a:bodyPr>
          <a:lstStyle/>
          <a:p>
            <a:pPr algn="l"/>
            <a:r>
              <a:rPr sz="1250" b="1" i="0">
                <a:solidFill>
                  <a:srgbClr val="472473"/>
                </a:solidFill>
                <a:latin typeface="Calibri"/>
              </a:rPr>
              <a:t>Nevertheless</a:t>
            </a:r>
          </a:p>
        </p:txBody>
      </p:sp>
      <p:sp>
        <p:nvSpPr>
          <p:cNvPr id="43" name="TextBox 42"/>
          <p:cNvSpPr txBox="1"/>
          <p:nvPr/>
        </p:nvSpPr>
        <p:spPr>
          <a:xfrm>
            <a:off x="5623560" y="5501640"/>
            <a:ext cx="5852160" cy="533400"/>
          </a:xfrm>
          <a:prstGeom prst="rect">
            <a:avLst/>
          </a:prstGeom>
          <a:noFill/>
        </p:spPr>
        <p:txBody>
          <a:bodyPr wrap="square" anchor="ctr">
            <a:spAutoFit/>
          </a:bodyPr>
          <a:lstStyle/>
          <a:p>
            <a:pPr algn="l"/>
            <a:r>
              <a:rPr sz="1250" b="0" i="0">
                <a:solidFill>
                  <a:srgbClr val="1E293B"/>
                </a:solidFill>
                <a:latin typeface="Calibri"/>
              </a:rPr>
              <a:t>尽管如此 — Nevertheless, I maintain...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结论高频词汇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33400"/>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33400"/>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7678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7678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767840"/>
            <a:ext cx="4754880" cy="533400"/>
          </a:xfrm>
          <a:prstGeom prst="rect">
            <a:avLst/>
          </a:prstGeom>
          <a:noFill/>
        </p:spPr>
        <p:txBody>
          <a:bodyPr wrap="square" anchor="ctr">
            <a:spAutoFit/>
          </a:bodyPr>
          <a:lstStyle/>
          <a:p>
            <a:pPr algn="l"/>
            <a:r>
              <a:rPr sz="1250" b="1" i="0">
                <a:solidFill>
                  <a:srgbClr val="472473"/>
                </a:solidFill>
                <a:latin typeface="Calibri"/>
              </a:rPr>
              <a:t>In conclusion</a:t>
            </a:r>
          </a:p>
        </p:txBody>
      </p:sp>
      <p:sp>
        <p:nvSpPr>
          <p:cNvPr id="15" name="TextBox 14"/>
          <p:cNvSpPr txBox="1"/>
          <p:nvPr/>
        </p:nvSpPr>
        <p:spPr>
          <a:xfrm>
            <a:off x="5623560" y="1767840"/>
            <a:ext cx="5852160" cy="533400"/>
          </a:xfrm>
          <a:prstGeom prst="rect">
            <a:avLst/>
          </a:prstGeom>
          <a:noFill/>
        </p:spPr>
        <p:txBody>
          <a:bodyPr wrap="square" anchor="ctr">
            <a:spAutoFit/>
          </a:bodyPr>
          <a:lstStyle/>
          <a:p>
            <a:pPr algn="l"/>
            <a:r>
              <a:rPr sz="1250" b="0" i="0">
                <a:solidFill>
                  <a:srgbClr val="1E293B"/>
                </a:solidFill>
                <a:latin typeface="Calibri"/>
              </a:rPr>
              <a:t>总之 — most common conclusion opener</a:t>
            </a:r>
          </a:p>
        </p:txBody>
      </p:sp>
      <p:sp>
        <p:nvSpPr>
          <p:cNvPr id="16" name="Rectangle 15"/>
          <p:cNvSpPr/>
          <p:nvPr/>
        </p:nvSpPr>
        <p:spPr>
          <a:xfrm>
            <a:off x="548640" y="23012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012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01240"/>
            <a:ext cx="4754880" cy="533400"/>
          </a:xfrm>
          <a:prstGeom prst="rect">
            <a:avLst/>
          </a:prstGeom>
          <a:noFill/>
        </p:spPr>
        <p:txBody>
          <a:bodyPr wrap="square" anchor="ctr">
            <a:spAutoFit/>
          </a:bodyPr>
          <a:lstStyle/>
          <a:p>
            <a:pPr algn="l"/>
            <a:r>
              <a:rPr sz="1250" b="1" i="0">
                <a:solidFill>
                  <a:srgbClr val="472473"/>
                </a:solidFill>
                <a:latin typeface="Calibri"/>
              </a:rPr>
              <a:t>I maintain that</a:t>
            </a:r>
          </a:p>
        </p:txBody>
      </p:sp>
      <p:sp>
        <p:nvSpPr>
          <p:cNvPr id="19" name="TextBox 18"/>
          <p:cNvSpPr txBox="1"/>
          <p:nvPr/>
        </p:nvSpPr>
        <p:spPr>
          <a:xfrm>
            <a:off x="5623560" y="2301240"/>
            <a:ext cx="5852160" cy="533400"/>
          </a:xfrm>
          <a:prstGeom prst="rect">
            <a:avLst/>
          </a:prstGeom>
          <a:noFill/>
        </p:spPr>
        <p:txBody>
          <a:bodyPr wrap="square" anchor="ctr">
            <a:spAutoFit/>
          </a:bodyPr>
          <a:lstStyle/>
          <a:p>
            <a:pPr algn="l"/>
            <a:r>
              <a:rPr sz="1250" b="0" i="0">
                <a:solidFill>
                  <a:srgbClr val="1E293B"/>
                </a:solidFill>
                <a:latin typeface="Calibri"/>
              </a:rPr>
              <a:t>我坚持认为 — replaces "I believe" in conclusion</a:t>
            </a:r>
          </a:p>
        </p:txBody>
      </p:sp>
      <p:sp>
        <p:nvSpPr>
          <p:cNvPr id="20" name="Rectangle 19"/>
          <p:cNvSpPr/>
          <p:nvPr/>
        </p:nvSpPr>
        <p:spPr>
          <a:xfrm>
            <a:off x="548640" y="28346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8346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34640"/>
            <a:ext cx="4754880" cy="533400"/>
          </a:xfrm>
          <a:prstGeom prst="rect">
            <a:avLst/>
          </a:prstGeom>
          <a:noFill/>
        </p:spPr>
        <p:txBody>
          <a:bodyPr wrap="square" anchor="ctr">
            <a:spAutoFit/>
          </a:bodyPr>
          <a:lstStyle/>
          <a:p>
            <a:pPr algn="l"/>
            <a:r>
              <a:rPr sz="1250" b="1" i="0">
                <a:solidFill>
                  <a:srgbClr val="472473"/>
                </a:solidFill>
                <a:latin typeface="Calibri"/>
              </a:rPr>
              <a:t>I am persuaded that</a:t>
            </a:r>
          </a:p>
        </p:txBody>
      </p:sp>
      <p:sp>
        <p:nvSpPr>
          <p:cNvPr id="23" name="TextBox 22"/>
          <p:cNvSpPr txBox="1"/>
          <p:nvPr/>
        </p:nvSpPr>
        <p:spPr>
          <a:xfrm>
            <a:off x="5623560" y="2834640"/>
            <a:ext cx="5852160" cy="533400"/>
          </a:xfrm>
          <a:prstGeom prst="rect">
            <a:avLst/>
          </a:prstGeom>
          <a:noFill/>
        </p:spPr>
        <p:txBody>
          <a:bodyPr wrap="square" anchor="ctr">
            <a:spAutoFit/>
          </a:bodyPr>
          <a:lstStyle/>
          <a:p>
            <a:pPr algn="l"/>
            <a:r>
              <a:rPr sz="1250" b="0" i="0">
                <a:solidFill>
                  <a:srgbClr val="1E293B"/>
                </a:solidFill>
                <a:latin typeface="Calibri"/>
              </a:rPr>
              <a:t>我信服地认为 — formal and strong</a:t>
            </a:r>
          </a:p>
        </p:txBody>
      </p:sp>
      <p:sp>
        <p:nvSpPr>
          <p:cNvPr id="24" name="Rectangle 23"/>
          <p:cNvSpPr/>
          <p:nvPr/>
        </p:nvSpPr>
        <p:spPr>
          <a:xfrm>
            <a:off x="548640" y="33680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3680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68040"/>
            <a:ext cx="4754880" cy="533400"/>
          </a:xfrm>
          <a:prstGeom prst="rect">
            <a:avLst/>
          </a:prstGeom>
          <a:noFill/>
        </p:spPr>
        <p:txBody>
          <a:bodyPr wrap="square" anchor="ctr">
            <a:spAutoFit/>
          </a:bodyPr>
          <a:lstStyle/>
          <a:p>
            <a:pPr algn="l"/>
            <a:r>
              <a:rPr sz="1250" b="1" i="0">
                <a:solidFill>
                  <a:srgbClr val="472473"/>
                </a:solidFill>
                <a:latin typeface="Calibri"/>
              </a:rPr>
              <a:t>far outweigh</a:t>
            </a:r>
          </a:p>
        </p:txBody>
      </p:sp>
      <p:sp>
        <p:nvSpPr>
          <p:cNvPr id="27" name="TextBox 26"/>
          <p:cNvSpPr txBox="1"/>
          <p:nvPr/>
        </p:nvSpPr>
        <p:spPr>
          <a:xfrm>
            <a:off x="5623560" y="3368040"/>
            <a:ext cx="5852160" cy="533400"/>
          </a:xfrm>
          <a:prstGeom prst="rect">
            <a:avLst/>
          </a:prstGeom>
          <a:noFill/>
        </p:spPr>
        <p:txBody>
          <a:bodyPr wrap="square" anchor="ctr">
            <a:spAutoFit/>
          </a:bodyPr>
          <a:lstStyle/>
          <a:p>
            <a:pPr algn="l"/>
            <a:r>
              <a:rPr sz="1250" b="0" i="0">
                <a:solidFill>
                  <a:srgbClr val="1E293B"/>
                </a:solidFill>
                <a:latin typeface="Calibri"/>
              </a:rPr>
              <a:t>远超 — the benefits far outweigh the costs</a:t>
            </a:r>
          </a:p>
        </p:txBody>
      </p:sp>
      <p:sp>
        <p:nvSpPr>
          <p:cNvPr id="28" name="Rectangle 27"/>
          <p:cNvSpPr/>
          <p:nvPr/>
        </p:nvSpPr>
        <p:spPr>
          <a:xfrm>
            <a:off x="548640" y="39014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9014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901440"/>
            <a:ext cx="4754880" cy="533400"/>
          </a:xfrm>
          <a:prstGeom prst="rect">
            <a:avLst/>
          </a:prstGeom>
          <a:noFill/>
        </p:spPr>
        <p:txBody>
          <a:bodyPr wrap="square" anchor="ctr">
            <a:spAutoFit/>
          </a:bodyPr>
          <a:lstStyle/>
          <a:p>
            <a:pPr algn="l"/>
            <a:r>
              <a:rPr sz="1250" b="1" i="0">
                <a:solidFill>
                  <a:srgbClr val="472473"/>
                </a:solidFill>
                <a:latin typeface="Calibri"/>
              </a:rPr>
              <a:t>it is clear that</a:t>
            </a:r>
          </a:p>
        </p:txBody>
      </p:sp>
      <p:sp>
        <p:nvSpPr>
          <p:cNvPr id="31" name="TextBox 30"/>
          <p:cNvSpPr txBox="1"/>
          <p:nvPr/>
        </p:nvSpPr>
        <p:spPr>
          <a:xfrm>
            <a:off x="5623560" y="3901440"/>
            <a:ext cx="5852160" cy="533400"/>
          </a:xfrm>
          <a:prstGeom prst="rect">
            <a:avLst/>
          </a:prstGeom>
          <a:noFill/>
        </p:spPr>
        <p:txBody>
          <a:bodyPr wrap="square" anchor="ctr">
            <a:spAutoFit/>
          </a:bodyPr>
          <a:lstStyle/>
          <a:p>
            <a:pPr algn="l"/>
            <a:r>
              <a:rPr sz="1250" b="0" i="0">
                <a:solidFill>
                  <a:srgbClr val="1E293B"/>
                </a:solidFill>
                <a:latin typeface="Calibri"/>
              </a:rPr>
              <a:t>显然 — it is clear that action is needed</a:t>
            </a:r>
          </a:p>
        </p:txBody>
      </p:sp>
      <p:sp>
        <p:nvSpPr>
          <p:cNvPr id="32" name="Rectangle 31"/>
          <p:cNvSpPr/>
          <p:nvPr/>
        </p:nvSpPr>
        <p:spPr>
          <a:xfrm>
            <a:off x="548640" y="44348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4348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34840"/>
            <a:ext cx="4754880" cy="533400"/>
          </a:xfrm>
          <a:prstGeom prst="rect">
            <a:avLst/>
          </a:prstGeom>
          <a:noFill/>
        </p:spPr>
        <p:txBody>
          <a:bodyPr wrap="square" anchor="ctr">
            <a:spAutoFit/>
          </a:bodyPr>
          <a:lstStyle/>
          <a:p>
            <a:pPr algn="l"/>
            <a:r>
              <a:rPr sz="1250" b="1" i="0">
                <a:solidFill>
                  <a:srgbClr val="472473"/>
                </a:solidFill>
                <a:latin typeface="Calibri"/>
              </a:rPr>
              <a:t>as a result</a:t>
            </a:r>
          </a:p>
        </p:txBody>
      </p:sp>
      <p:sp>
        <p:nvSpPr>
          <p:cNvPr id="35" name="TextBox 34"/>
          <p:cNvSpPr txBox="1"/>
          <p:nvPr/>
        </p:nvSpPr>
        <p:spPr>
          <a:xfrm>
            <a:off x="5623560" y="4434840"/>
            <a:ext cx="5852160" cy="533400"/>
          </a:xfrm>
          <a:prstGeom prst="rect">
            <a:avLst/>
          </a:prstGeom>
          <a:noFill/>
        </p:spPr>
        <p:txBody>
          <a:bodyPr wrap="square" anchor="ctr">
            <a:spAutoFit/>
          </a:bodyPr>
          <a:lstStyle/>
          <a:p>
            <a:pPr algn="l"/>
            <a:r>
              <a:rPr sz="1250" b="0" i="0">
                <a:solidFill>
                  <a:srgbClr val="1E293B"/>
                </a:solidFill>
                <a:latin typeface="Calibri"/>
              </a:rPr>
              <a:t>因此 — as a result, policies must change</a:t>
            </a:r>
          </a:p>
        </p:txBody>
      </p:sp>
      <p:sp>
        <p:nvSpPr>
          <p:cNvPr id="36" name="Rectangle 35"/>
          <p:cNvSpPr/>
          <p:nvPr/>
        </p:nvSpPr>
        <p:spPr>
          <a:xfrm>
            <a:off x="548640" y="49682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9682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968240"/>
            <a:ext cx="4754880" cy="533400"/>
          </a:xfrm>
          <a:prstGeom prst="rect">
            <a:avLst/>
          </a:prstGeom>
          <a:noFill/>
        </p:spPr>
        <p:txBody>
          <a:bodyPr wrap="square" anchor="ctr">
            <a:spAutoFit/>
          </a:bodyPr>
          <a:lstStyle/>
          <a:p>
            <a:pPr algn="l"/>
            <a:r>
              <a:rPr sz="1250" b="1" i="0">
                <a:solidFill>
                  <a:srgbClr val="472473"/>
                </a:solidFill>
                <a:latin typeface="Calibri"/>
              </a:rPr>
              <a:t>it is imperative that</a:t>
            </a:r>
          </a:p>
        </p:txBody>
      </p:sp>
      <p:sp>
        <p:nvSpPr>
          <p:cNvPr id="39" name="TextBox 38"/>
          <p:cNvSpPr txBox="1"/>
          <p:nvPr/>
        </p:nvSpPr>
        <p:spPr>
          <a:xfrm>
            <a:off x="5623560" y="4968240"/>
            <a:ext cx="5852160" cy="533400"/>
          </a:xfrm>
          <a:prstGeom prst="rect">
            <a:avLst/>
          </a:prstGeom>
          <a:noFill/>
        </p:spPr>
        <p:txBody>
          <a:bodyPr wrap="square" anchor="ctr">
            <a:spAutoFit/>
          </a:bodyPr>
          <a:lstStyle/>
          <a:p>
            <a:pPr algn="l"/>
            <a:r>
              <a:rPr sz="1250" b="0" i="0">
                <a:solidFill>
                  <a:srgbClr val="1E293B"/>
                </a:solidFill>
                <a:latin typeface="Calibri"/>
              </a:rPr>
              <a:t>至关重要的是 — it is imperative that governments act</a:t>
            </a:r>
          </a:p>
        </p:txBody>
      </p:sp>
      <p:sp>
        <p:nvSpPr>
          <p:cNvPr id="40" name="Rectangle 39"/>
          <p:cNvSpPr/>
          <p:nvPr/>
        </p:nvSpPr>
        <p:spPr>
          <a:xfrm>
            <a:off x="548640" y="55016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55016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501640"/>
            <a:ext cx="4754880" cy="533400"/>
          </a:xfrm>
          <a:prstGeom prst="rect">
            <a:avLst/>
          </a:prstGeom>
          <a:noFill/>
        </p:spPr>
        <p:txBody>
          <a:bodyPr wrap="square" anchor="ctr">
            <a:spAutoFit/>
          </a:bodyPr>
          <a:lstStyle/>
          <a:p>
            <a:pPr algn="l"/>
            <a:r>
              <a:rPr sz="1250" b="1" i="0">
                <a:solidFill>
                  <a:srgbClr val="472473"/>
                </a:solidFill>
                <a:latin typeface="Calibri"/>
              </a:rPr>
              <a:t>forward-thinking</a:t>
            </a:r>
          </a:p>
        </p:txBody>
      </p:sp>
      <p:sp>
        <p:nvSpPr>
          <p:cNvPr id="43" name="TextBox 42"/>
          <p:cNvSpPr txBox="1"/>
          <p:nvPr/>
        </p:nvSpPr>
        <p:spPr>
          <a:xfrm>
            <a:off x="5623560" y="5501640"/>
            <a:ext cx="5852160" cy="533400"/>
          </a:xfrm>
          <a:prstGeom prst="rect">
            <a:avLst/>
          </a:prstGeom>
          <a:noFill/>
        </p:spPr>
        <p:txBody>
          <a:bodyPr wrap="square" anchor="ctr">
            <a:spAutoFit/>
          </a:bodyPr>
          <a:lstStyle/>
          <a:p>
            <a:pPr algn="l"/>
            <a:r>
              <a:rPr sz="1250" b="0" i="0">
                <a:solidFill>
                  <a:srgbClr val="1E293B"/>
                </a:solidFill>
                <a:latin typeface="Calibri"/>
              </a:rPr>
              <a:t>有远见的 — a forward-thinking approach</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Task 2题型 vs 引言结构对应</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题目类型</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Agree/Disagree: "To what extent...?"</a:t>
            </a:r>
          </a:p>
          <a:p>
            <a:pPr>
              <a:spcBef>
                <a:spcPts val="700"/>
              </a:spcBef>
            </a:pPr>
            <a:r>
              <a:rPr sz="1450">
                <a:solidFill>
                  <a:srgbClr val="1E293B"/>
                </a:solidFill>
              </a:rPr>
              <a:t>• Discuss Both Views + opinion</a:t>
            </a:r>
          </a:p>
          <a:p>
            <a:pPr>
              <a:spcBef>
                <a:spcPts val="700"/>
              </a:spcBef>
            </a:pPr>
            <a:r>
              <a:rPr sz="1450">
                <a:solidFill>
                  <a:srgbClr val="1E293B"/>
                </a:solidFill>
              </a:rPr>
              <a:t>• Advantages vs Disadvantages</a:t>
            </a:r>
          </a:p>
          <a:p>
            <a:pPr>
              <a:spcBef>
                <a:spcPts val="700"/>
              </a:spcBef>
            </a:pPr>
            <a:r>
              <a:rPr sz="1450">
                <a:solidFill>
                  <a:srgbClr val="1E293B"/>
                </a:solidFill>
              </a:rPr>
              <a:t>• Problem + Solution</a:t>
            </a:r>
          </a:p>
          <a:p>
            <a:pPr>
              <a:spcBef>
                <a:spcPts val="700"/>
              </a:spcBef>
            </a:pPr>
            <a:r>
              <a:rPr sz="1450">
                <a:solidFill>
                  <a:srgbClr val="1E293B"/>
                </a:solidFill>
              </a:rPr>
              <a:t>• Two-part question ("Why? What?")</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引言核心要素</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背景+让步+明确立场+理由预告</a:t>
            </a:r>
          </a:p>
          <a:p>
            <a:pPr>
              <a:spcBef>
                <a:spcPts val="700"/>
              </a:spcBef>
            </a:pPr>
            <a:r>
              <a:rPr sz="1450">
                <a:solidFill>
                  <a:srgbClr val="1E293B"/>
                </a:solidFill>
              </a:rPr>
              <a:t>• 背景+两方观点概述+个人立场</a:t>
            </a:r>
          </a:p>
          <a:p>
            <a:pPr>
              <a:spcBef>
                <a:spcPts val="700"/>
              </a:spcBef>
            </a:pPr>
            <a:r>
              <a:rPr sz="1450">
                <a:solidFill>
                  <a:srgbClr val="1E293B"/>
                </a:solidFill>
              </a:rPr>
              <a:t>• 背景+说明现象+利/弊大于弊/利</a:t>
            </a:r>
          </a:p>
          <a:p>
            <a:pPr>
              <a:spcBef>
                <a:spcPts val="700"/>
              </a:spcBef>
            </a:pPr>
            <a:r>
              <a:rPr sz="1450">
                <a:solidFill>
                  <a:srgbClr val="1E293B"/>
                </a:solidFill>
              </a:rPr>
              <a:t>• 背景+确认问题存在+方向预告</a:t>
            </a:r>
          </a:p>
          <a:p>
            <a:pPr>
              <a:spcBef>
                <a:spcPts val="700"/>
              </a:spcBef>
            </a:pPr>
            <a:r>
              <a:rPr sz="1450">
                <a:solidFill>
                  <a:srgbClr val="1E293B"/>
                </a:solidFill>
              </a:rPr>
              <a:t>• 背景+直接回应两个问题方向</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引言vs结论：词汇替换示范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引言词汇（避免在结论重复）</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firmly believe → 结论用 maintain / hold</a:t>
            </a:r>
          </a:p>
          <a:p>
            <a:pPr>
              <a:spcBef>
                <a:spcPts val="700"/>
              </a:spcBef>
            </a:pPr>
            <a:r>
              <a:rPr sz="1450">
                <a:solidFill>
                  <a:srgbClr val="1E293B"/>
                </a:solidFill>
              </a:rPr>
              <a:t>• positive impact → beneficial effect / constructive influence</a:t>
            </a:r>
          </a:p>
          <a:p>
            <a:pPr>
              <a:spcBef>
                <a:spcPts val="700"/>
              </a:spcBef>
            </a:pPr>
            <a:r>
              <a:rPr sz="1450">
                <a:solidFill>
                  <a:srgbClr val="1E293B"/>
                </a:solidFill>
              </a:rPr>
              <a:t>• outweigh → exceed / surpass / overshadow</a:t>
            </a:r>
          </a:p>
          <a:p>
            <a:pPr>
              <a:spcBef>
                <a:spcPts val="700"/>
              </a:spcBef>
            </a:pPr>
            <a:r>
              <a:rPr sz="1450">
                <a:solidFill>
                  <a:srgbClr val="1E293B"/>
                </a:solidFill>
              </a:rPr>
              <a:t>• in my view → I am persuaded / I contend</a:t>
            </a:r>
          </a:p>
          <a:p>
            <a:pPr>
              <a:spcBef>
                <a:spcPts val="700"/>
              </a:spcBef>
            </a:pPr>
            <a:r>
              <a:rPr sz="1450">
                <a:solidFill>
                  <a:srgbClr val="1E293B"/>
                </a:solidFill>
              </a:rPr>
              <a:t>• particularly → especially / notably / above all</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结论词汇（高频高分替换）</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In conclusion → To conclude / To summarise</a:t>
            </a:r>
          </a:p>
          <a:p>
            <a:pPr>
              <a:spcBef>
                <a:spcPts val="700"/>
              </a:spcBef>
            </a:pPr>
            <a:r>
              <a:rPr sz="1450">
                <a:solidFill>
                  <a:srgbClr val="1E293B"/>
                </a:solidFill>
              </a:rPr>
              <a:t>• I maintain → I remain convinced / I am of the view</a:t>
            </a:r>
          </a:p>
          <a:p>
            <a:pPr>
              <a:spcBef>
                <a:spcPts val="700"/>
              </a:spcBef>
            </a:pPr>
            <a:r>
              <a:rPr sz="1450">
                <a:solidFill>
                  <a:srgbClr val="1E293B"/>
                </a:solidFill>
              </a:rPr>
              <a:t>• it is clear → it is evident / it is apparent</a:t>
            </a:r>
          </a:p>
          <a:p>
            <a:pPr>
              <a:spcBef>
                <a:spcPts val="700"/>
              </a:spcBef>
            </a:pPr>
            <a:r>
              <a:rPr sz="1450">
                <a:solidFill>
                  <a:srgbClr val="1E293B"/>
                </a:solidFill>
              </a:rPr>
              <a:t>• must → should / ought to / is imperative</a:t>
            </a:r>
          </a:p>
          <a:p>
            <a:pPr>
              <a:spcBef>
                <a:spcPts val="700"/>
              </a:spcBef>
            </a:pPr>
            <a:r>
              <a:rPr sz="1450">
                <a:solidFill>
                  <a:srgbClr val="1E293B"/>
                </a:solidFill>
              </a:rPr>
              <a:t>• benefits → advantages / merits / positive aspects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Task 2引言高分示范句拆解</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引言示范（Agree/Disagree）</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"While [let step], I [degree word] [agree/disagree] that [restate topic], as [reason A] and [reason B]."</a:t>
            </a:r>
          </a:p>
          <a:p>
            <a:pPr>
              <a:spcBef>
                <a:spcPts val="700"/>
              </a:spcBef>
            </a:pPr>
            <a:r>
              <a:rPr sz="1450">
                <a:solidFill>
                  <a:srgbClr val="1E293B"/>
                </a:solidFill>
              </a:rPr>
              <a:t>• While: 让步连接词</a:t>
            </a:r>
          </a:p>
          <a:p>
            <a:pPr>
              <a:spcBef>
                <a:spcPts val="700"/>
              </a:spcBef>
            </a:pPr>
            <a:r>
              <a:rPr sz="1450">
                <a:solidFill>
                  <a:srgbClr val="1E293B"/>
                </a:solidFill>
              </a:rPr>
              <a:t>• degree word: firmly/largely/partially</a:t>
            </a:r>
          </a:p>
          <a:p>
            <a:pPr>
              <a:spcBef>
                <a:spcPts val="700"/>
              </a:spcBef>
            </a:pPr>
            <a:r>
              <a:rPr sz="1450">
                <a:solidFill>
                  <a:srgbClr val="1E293B"/>
                </a:solidFill>
              </a:rPr>
              <a:t>• restate topic: 改写题目（同义词）</a:t>
            </a:r>
          </a:p>
          <a:p>
            <a:pPr>
              <a:spcBef>
                <a:spcPts val="700"/>
              </a:spcBef>
            </a:pPr>
            <a:r>
              <a:rPr sz="1450">
                <a:solidFill>
                  <a:srgbClr val="1E293B"/>
                </a:solidFill>
              </a:rPr>
              <a:t>• reason A/B: 预告两个主体段论点</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引言示范（Discuss Both Views）</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"While [view A], others [view B]. In my view, [stance], as [reason]."</a:t>
            </a:r>
          </a:p>
          <a:p>
            <a:pPr>
              <a:spcBef>
                <a:spcPts val="700"/>
              </a:spcBef>
            </a:pPr>
            <a:r>
              <a:rPr sz="1450">
                <a:solidFill>
                  <a:srgbClr val="1E293B"/>
                </a:solidFill>
              </a:rPr>
              <a:t>• While/whereas: 连接两种观点</a:t>
            </a:r>
          </a:p>
          <a:p>
            <a:pPr>
              <a:spcBef>
                <a:spcPts val="700"/>
              </a:spcBef>
            </a:pPr>
            <a:r>
              <a:rPr sz="1450">
                <a:solidFill>
                  <a:srgbClr val="1E293B"/>
                </a:solidFill>
              </a:rPr>
              <a:t>• proponents/advocates: 支持者</a:t>
            </a:r>
          </a:p>
          <a:p>
            <a:pPr>
              <a:spcBef>
                <a:spcPts val="700"/>
              </a:spcBef>
            </a:pPr>
            <a:r>
              <a:rPr sz="1450">
                <a:solidFill>
                  <a:srgbClr val="1E293B"/>
                </a:solidFill>
              </a:rPr>
              <a:t>• critics/opponents: 反对者</a:t>
            </a:r>
          </a:p>
          <a:p>
            <a:pPr>
              <a:spcBef>
                <a:spcPts val="700"/>
              </a:spcBef>
            </a:pPr>
            <a:r>
              <a:rPr sz="1450">
                <a:solidFill>
                  <a:srgbClr val="1E293B"/>
                </a:solidFill>
              </a:rPr>
              <a:t>• In my view: 引入个人立场</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深圳学生引言结论提分案例</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提分前（Band 5.5）</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引言：直接从话题开始写，没有背景</a:t>
            </a:r>
          </a:p>
          <a:p>
            <a:pPr>
              <a:spcBef>
                <a:spcPts val="700"/>
              </a:spcBef>
            </a:pPr>
            <a:r>
              <a:rPr sz="1450">
                <a:solidFill>
                  <a:srgbClr val="1E293B"/>
                </a:solidFill>
              </a:rPr>
              <a:t>• 立场：含糊（"I think this is important"）</a:t>
            </a:r>
          </a:p>
          <a:p>
            <a:pPr>
              <a:spcBef>
                <a:spcPts val="700"/>
              </a:spcBef>
            </a:pPr>
            <a:r>
              <a:rPr sz="1450">
                <a:solidFill>
                  <a:srgbClr val="1E293B"/>
                </a:solidFill>
              </a:rPr>
              <a:t>• 结论：只有一句话（"In conclusion, I agree."）</a:t>
            </a:r>
          </a:p>
          <a:p>
            <a:pPr>
              <a:spcBef>
                <a:spcPts val="700"/>
              </a:spcBef>
            </a:pPr>
            <a:r>
              <a:rPr sz="1450">
                <a:solidFill>
                  <a:srgbClr val="1E293B"/>
                </a:solidFill>
              </a:rPr>
              <a:t>• 引言结论不呼应，立场前后矛盾</a:t>
            </a:r>
          </a:p>
          <a:p>
            <a:pPr>
              <a:spcBef>
                <a:spcPts val="700"/>
              </a:spcBef>
            </a:pPr>
            <a:r>
              <a:rPr sz="1450">
                <a:solidFill>
                  <a:srgbClr val="1E293B"/>
                </a:solidFill>
              </a:rPr>
              <a:t>• 结果：TA维度 Band 5</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提分后（Band 7）</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引言：背景+让步+明确立场+理由预告</a:t>
            </a:r>
          </a:p>
          <a:p>
            <a:pPr>
              <a:spcBef>
                <a:spcPts val="700"/>
              </a:spcBef>
            </a:pPr>
            <a:r>
              <a:rPr sz="1450">
                <a:solidFill>
                  <a:srgbClr val="1E293B"/>
                </a:solidFill>
              </a:rPr>
              <a:t>• 立场：清晰（"I firmly believe that..."）</a:t>
            </a:r>
          </a:p>
          <a:p>
            <a:pPr>
              <a:spcBef>
                <a:spcPts val="700"/>
              </a:spcBef>
            </a:pPr>
            <a:r>
              <a:rPr sz="1450">
                <a:solidFill>
                  <a:srgbClr val="1E293B"/>
                </a:solidFill>
              </a:rPr>
              <a:t>• 结论：重申立场+总结论点+有力收尾（70词）</a:t>
            </a:r>
          </a:p>
          <a:p>
            <a:pPr>
              <a:spcBef>
                <a:spcPts val="700"/>
              </a:spcBef>
            </a:pPr>
            <a:r>
              <a:rPr sz="1450">
                <a:solidFill>
                  <a:srgbClr val="1E293B"/>
                </a:solidFill>
              </a:rPr>
              <a:t>• 引言结论词汇替换，立场完全一致</a:t>
            </a:r>
          </a:p>
          <a:p>
            <a:pPr>
              <a:spcBef>
                <a:spcPts val="700"/>
              </a:spcBef>
            </a:pPr>
            <a:r>
              <a:rPr sz="1450">
                <a:solidFill>
                  <a:srgbClr val="1E293B"/>
                </a:solidFill>
              </a:rPr>
              <a:t>• 结果：TA维度 Band 7（4周提升）</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L04学完自测：引言与结论</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能识别Task 2的5种题型（Agree/Discuss/Adv-Dis/Problem/Two-part）</a:t>
            </a:r>
          </a:p>
          <a:p>
            <a:pPr>
              <a:spcBef>
                <a:spcPts val="1200"/>
              </a:spcBef>
            </a:pPr>
            <a:r>
              <a:rPr sz="1600">
                <a:solidFill>
                  <a:srgbClr val="1E293B"/>
                </a:solidFill>
              </a:rPr>
              <a:t>☐ 能写出三段式引言（背景+立场+理由预告），含让步句型</a:t>
            </a:r>
          </a:p>
          <a:p>
            <a:pPr>
              <a:spcBef>
                <a:spcPts val="1200"/>
              </a:spcBef>
            </a:pPr>
            <a:r>
              <a:rPr sz="1600">
                <a:solidFill>
                  <a:srgbClr val="1E293B"/>
                </a:solidFill>
              </a:rPr>
              <a:t>☐ 立场词汇丰富：firmly/largely/partially + agree/disagree</a:t>
            </a:r>
          </a:p>
          <a:p>
            <a:pPr>
              <a:spcBef>
                <a:spcPts val="1200"/>
              </a:spcBef>
            </a:pPr>
            <a:r>
              <a:rPr sz="1600">
                <a:solidFill>
                  <a:srgbClr val="1E293B"/>
                </a:solidFill>
              </a:rPr>
              <a:t>☐ 能写出有效结论（重申立场+总结论点+收尾句）</a:t>
            </a:r>
          </a:p>
          <a:p>
            <a:pPr>
              <a:spcBef>
                <a:spcPts val="1200"/>
              </a:spcBef>
            </a:pPr>
            <a:r>
              <a:rPr sz="1600">
                <a:solidFill>
                  <a:srgbClr val="1E293B"/>
                </a:solidFill>
              </a:rPr>
              <a:t>☐ 引言结论词汇替换：不重复使用相同词汇</a:t>
            </a:r>
          </a:p>
          <a:p>
            <a:pPr>
              <a:spcBef>
                <a:spcPts val="1200"/>
              </a:spcBef>
            </a:pPr>
            <a:r>
              <a:rPr sz="1600">
                <a:solidFill>
                  <a:srgbClr val="1E293B"/>
                </a:solidFill>
              </a:rPr>
              <a:t>☐ 引言立场与结论立场完全一致，前后呼应</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L04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F2A01D"/>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Task 2引言三段式：背景句+立场（含让步）+理由预告——约60-80词</a:t>
            </a:r>
          </a:p>
          <a:p>
            <a:pPr>
              <a:spcBef>
                <a:spcPts val="1100"/>
              </a:spcBef>
            </a:pPr>
            <a:r>
              <a:rPr sz="1550">
                <a:solidFill>
                  <a:srgbClr val="FFFFFF"/>
                </a:solidFill>
              </a:rPr>
              <a:t>✓  立场表达：I firmly/largely/partially agree/disagree + While/Although让步</a:t>
            </a:r>
          </a:p>
          <a:p>
            <a:pPr>
              <a:spcBef>
                <a:spcPts val="1100"/>
              </a:spcBef>
            </a:pPr>
            <a:r>
              <a:rPr sz="1550">
                <a:solidFill>
                  <a:srgbClr val="FFFFFF"/>
                </a:solidFill>
              </a:rPr>
              <a:t>✓  结论四步：In conclusion + 重申立场（换词）+ 总结论点 + 有力收尾</a:t>
            </a:r>
          </a:p>
          <a:p>
            <a:pPr>
              <a:spcBef>
                <a:spcPts val="1100"/>
              </a:spcBef>
            </a:pPr>
            <a:r>
              <a:rPr sz="1550">
                <a:solidFill>
                  <a:srgbClr val="FFFFFF"/>
                </a:solidFill>
              </a:rPr>
              <a:t>✓  引言结论联动：立场必须一致，词汇必须替换（maintain/hold/assert替换believe）</a:t>
            </a:r>
          </a:p>
          <a:p>
            <a:pPr>
              <a:spcBef>
                <a:spcPts val="1100"/>
              </a:spcBef>
            </a:pPr>
            <a:r>
              <a:rPr sz="1550">
                <a:solidFill>
                  <a:srgbClr val="FFFFFF"/>
                </a:solidFill>
              </a:rPr>
              <a:t>✓  不同题型引言策略不同：Agree用立场句；Discuss用两观点+立场；Adv/Dis说整体判断</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L04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F2A01D"/>
                </a:solidFill>
                <a:latin typeface="Calibri"/>
              </a:rPr>
              <a:t>⏱ 建议用时：约75分钟</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选3个不同题型的Task 2题目，各写一个引言段（计时5分钟/题）</a:t>
            </a:r>
          </a:p>
          <a:p>
            <a:pPr>
              <a:spcBef>
                <a:spcPts val="1300"/>
              </a:spcBef>
            </a:pPr>
            <a:r>
              <a:rPr sz="1550" b="1">
                <a:solidFill>
                  <a:srgbClr val="1E293B"/>
                </a:solidFill>
              </a:rPr>
              <a:t>作业 2　为上题每个引言写配套结论段（计时5分钟/题），确保立场一致、词汇不重复</a:t>
            </a:r>
          </a:p>
          <a:p>
            <a:pPr>
              <a:spcBef>
                <a:spcPts val="1300"/>
              </a:spcBef>
            </a:pPr>
            <a:r>
              <a:rPr sz="1550" b="1">
                <a:solidFill>
                  <a:srgbClr val="1E293B"/>
                </a:solidFill>
              </a:rPr>
              <a:t>作业 3　积累结论段高频词汇：maintain/hold/contend/assert各造一个句子</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F2A01D"/>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L05 · Task 2 主体段论证技术</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主体段PEEL结构</a:t>
            </a:r>
          </a:p>
          <a:p>
            <a:pPr>
              <a:spcBef>
                <a:spcPts val="1000"/>
              </a:spcBef>
            </a:pPr>
            <a:r>
              <a:rPr sz="1600">
                <a:solidFill>
                  <a:srgbClr val="CFDCF2"/>
                </a:solidFill>
              </a:rPr>
              <a:t>→ 论证方法：例子与理由</a:t>
            </a:r>
          </a:p>
          <a:p>
            <a:pPr>
              <a:spcBef>
                <a:spcPts val="1000"/>
              </a:spcBef>
            </a:pPr>
            <a:r>
              <a:rPr sz="1600">
                <a:solidFill>
                  <a:srgbClr val="CFDCF2"/>
                </a:solidFill>
              </a:rPr>
              <a:t>→ 让步反驳写法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