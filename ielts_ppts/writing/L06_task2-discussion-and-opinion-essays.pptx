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L06</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Task 2 题型专项
讨论文 · 同意/不同意</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Task 2 Question Types: Discussion &amp; Opinion Essays</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6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Task 2五大题型速览</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讨论文（Discuss both views）结构</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同意/不同意（Agree/Disagree）结构</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立场表达与论证策略</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评分要点与备考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2五大题型识别</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Identifying the 5 Task 2 Question Types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题型一二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Discussion &amp; Opinion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讨论文</a:t>
            </a:r>
          </a:p>
          <a:p>
            <a:pPr>
              <a:spcBef>
                <a:spcPts val="100"/>
              </a:spcBef>
            </a:pPr>
            <a:r>
              <a:rPr sz="1500">
                <a:solidFill>
                  <a:srgbClr val="556075"/>
                </a:solidFill>
              </a:rPr>
              <a:t>   Discuss both views and give your own opinion. → 两方观点+立场</a:t>
            </a:r>
          </a:p>
          <a:p>
            <a:pPr>
              <a:spcBef>
                <a:spcPts val="900"/>
              </a:spcBef>
            </a:pPr>
            <a:r>
              <a:rPr sz="1800" b="1">
                <a:solidFill>
                  <a:srgbClr val="472473"/>
                </a:solidFill>
              </a:rPr>
              <a:t>• 同意/不同意</a:t>
            </a:r>
          </a:p>
          <a:p>
            <a:pPr>
              <a:spcBef>
                <a:spcPts val="100"/>
              </a:spcBef>
            </a:pPr>
            <a:r>
              <a:rPr sz="1500">
                <a:solidFill>
                  <a:srgbClr val="556075"/>
                </a:solidFill>
              </a:rPr>
              <a:t>   To what extent do you agree or disagree? → 明确立场</a:t>
            </a:r>
          </a:p>
          <a:p>
            <a:pPr>
              <a:spcBef>
                <a:spcPts val="900"/>
              </a:spcBef>
            </a:pPr>
            <a:r>
              <a:rPr sz="1800" b="1">
                <a:solidFill>
                  <a:srgbClr val="472473"/>
                </a:solidFill>
              </a:rPr>
              <a:t>• 识别方法</a:t>
            </a:r>
          </a:p>
          <a:p>
            <a:pPr>
              <a:spcBef>
                <a:spcPts val="100"/>
              </a:spcBef>
            </a:pPr>
            <a:r>
              <a:rPr sz="1500">
                <a:solidFill>
                  <a:srgbClr val="556075"/>
                </a:solidFill>
              </a:rPr>
              <a:t>   看题目最后一句——discuss/agree/disagree/opinion</a:t>
            </a:r>
          </a:p>
          <a:p>
            <a:pPr>
              <a:spcBef>
                <a:spcPts val="900"/>
              </a:spcBef>
            </a:pPr>
            <a:r>
              <a:rPr sz="1800" b="1">
                <a:solidFill>
                  <a:srgbClr val="472473"/>
                </a:solidFill>
              </a:rPr>
              <a:t>• 立场要求</a:t>
            </a:r>
          </a:p>
          <a:p>
            <a:pPr>
              <a:spcBef>
                <a:spcPts val="100"/>
              </a:spcBef>
            </a:pPr>
            <a:r>
              <a:rPr sz="1500">
                <a:solidFill>
                  <a:srgbClr val="556075"/>
                </a:solidFill>
              </a:rPr>
              <a:t>   两种题型都需要明确个人立场——不能模棱两可</a:t>
            </a:r>
          </a:p>
          <a:p>
            <a:pPr>
              <a:spcBef>
                <a:spcPts val="900"/>
              </a:spcBef>
            </a:pPr>
            <a:r>
              <a:rPr sz="1800" b="1">
                <a:solidFill>
                  <a:srgbClr val="472473"/>
                </a:solidFill>
              </a:rPr>
              <a:t>• 结构差异</a:t>
            </a:r>
          </a:p>
          <a:p>
            <a:pPr>
              <a:spcBef>
                <a:spcPts val="100"/>
              </a:spcBef>
            </a:pPr>
            <a:r>
              <a:rPr sz="1500">
                <a:solidFill>
                  <a:srgbClr val="556075"/>
                </a:solidFill>
              </a:rPr>
              <a:t>   讨论文：每方一段+立场；同意文：2段支持自己立场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题型三四五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Other Question Types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优缺点题</a:t>
            </a:r>
          </a:p>
          <a:p>
            <a:pPr>
              <a:spcBef>
                <a:spcPts val="100"/>
              </a:spcBef>
            </a:pPr>
            <a:r>
              <a:rPr sz="1500">
                <a:solidFill>
                  <a:srgbClr val="556075"/>
                </a:solidFill>
              </a:rPr>
              <a:t>   Discuss advantages and disadvantages → 两方面，可有立场</a:t>
            </a:r>
          </a:p>
          <a:p>
            <a:pPr>
              <a:spcBef>
                <a:spcPts val="900"/>
              </a:spcBef>
            </a:pPr>
            <a:r>
              <a:rPr sz="1800" b="1">
                <a:solidFill>
                  <a:srgbClr val="472473"/>
                </a:solidFill>
              </a:rPr>
              <a:t>• 问题解决题</a:t>
            </a:r>
          </a:p>
          <a:p>
            <a:pPr>
              <a:spcBef>
                <a:spcPts val="100"/>
              </a:spcBef>
            </a:pPr>
            <a:r>
              <a:rPr sz="1500">
                <a:solidFill>
                  <a:srgbClr val="556075"/>
                </a:solidFill>
              </a:rPr>
              <a:t>   What are the causes/effects/solutions? → 分析原因/影响/建议</a:t>
            </a:r>
          </a:p>
          <a:p>
            <a:pPr>
              <a:spcBef>
                <a:spcPts val="900"/>
              </a:spcBef>
            </a:pPr>
            <a:r>
              <a:rPr sz="1800" b="1">
                <a:solidFill>
                  <a:srgbClr val="472473"/>
                </a:solidFill>
              </a:rPr>
              <a:t>• 双问题题</a:t>
            </a:r>
          </a:p>
          <a:p>
            <a:pPr>
              <a:spcBef>
                <a:spcPts val="100"/>
              </a:spcBef>
            </a:pPr>
            <a:r>
              <a:rPr sz="1500">
                <a:solidFill>
                  <a:srgbClr val="556075"/>
                </a:solidFill>
              </a:rPr>
              <a:t>   两个独立问题都要回答 → 各用一段分别回答</a:t>
            </a:r>
          </a:p>
          <a:p>
            <a:pPr>
              <a:spcBef>
                <a:spcPts val="900"/>
              </a:spcBef>
            </a:pPr>
            <a:r>
              <a:rPr sz="1800" b="1">
                <a:solidFill>
                  <a:srgbClr val="472473"/>
                </a:solidFill>
              </a:rPr>
              <a:t>• 常见错误</a:t>
            </a:r>
          </a:p>
          <a:p>
            <a:pPr>
              <a:spcBef>
                <a:spcPts val="100"/>
              </a:spcBef>
            </a:pPr>
            <a:r>
              <a:rPr sz="1500">
                <a:solidFill>
                  <a:srgbClr val="556075"/>
                </a:solidFill>
              </a:rPr>
              <a:t>   讨论文只写一方 / 同意题没有立场 / 双问题只答一个</a:t>
            </a:r>
          </a:p>
          <a:p>
            <a:pPr>
              <a:spcBef>
                <a:spcPts val="900"/>
              </a:spcBef>
            </a:pPr>
            <a:r>
              <a:rPr sz="1800" b="1">
                <a:solidFill>
                  <a:srgbClr val="472473"/>
                </a:solidFill>
              </a:rPr>
              <a:t>• 识别技巧</a:t>
            </a:r>
          </a:p>
          <a:p>
            <a:pPr>
              <a:spcBef>
                <a:spcPts val="100"/>
              </a:spcBef>
            </a:pPr>
            <a:r>
              <a:rPr sz="1500">
                <a:solidFill>
                  <a:srgbClr val="556075"/>
                </a:solidFill>
              </a:rPr>
              <a:t>   先读完题目再判断——不要看到discuss就以为是讨论文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五大题型识别速训</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快速判断以下题目属于哪种题型：
题1："Some people think that governments should invest more in public transportation. Others believe that money should be spent on road infrastructure. Discuss both views and give your own opinion."
→ 题型：讨论文（Discuss both views）
题2："Online education will eventually replace traditional classroom learning. To what extent do you agree or disagree?"
→ 题型：同意/不同意（Agree/Disagree）
题3："What are the causes of rising obesity rates in developed countries? What measures could be taken to address this problem?"
→ 题型：双问题题（Two-part question）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题型识别关键词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讨论文关键词：discuss both views / consider both sides / discuss
同意/不同意关键词：to what extent do you agree or disagree / do you agree
优缺点关键词：advantages and disadvantages / benefits and drawbacks / pros and cons
问题解决关键词：causes / effects / consequences / solutions / measures / what can be done
双问题关键词：两个不同的问号 / answer both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题型误判后果分析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如果把讨论文当同意文写（只支持一方）：
→ TA失分：题目要求"discuss both views"但没有平衡讨论两方
→ 后果：TA最多Band 5，拉低整体分数
如果把同意文当讨论文写（中立，不表立场）：
→ TA失分：题目要求"give your own opinion"但没有明确立场
→ 后果：同样TA受影响
如果双问题只答一个问题：
→ TA大失分：题目要求回答两个问题，只答一个视为任务未完成</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解决方案：审题时花30秒确认题型，然后回答"这种题型的必要元素是什么？"</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最安全的做法：把题目最后一句话用笔圈出来，反复确认要求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题型混淆高频案例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高频混淆：讨论文 vs 同意/不同意文
题目A："Some people believe working from home increases productivity. Others disagree. Discuss both views and give your own opinion."
→ 必须：1段写支持者观点 + 1段写反对者观点 + 表达自己立场
题目B："Working from home has more benefits than drawbacks. To what extent do you agree?"
→ 必须：表明赞同/不同程度 + 主要论述自己立场
→ 不需要平等讨论两方——侧重自己支持的那方</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两题最大区别：A要求"平衡讨论两方"；B要求"明确立场+论证"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讨论文结构与写法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Discussion Essay: Structure &amp; Writing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讨论文标准结构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Discussion Essay Template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引言段</a:t>
            </a:r>
          </a:p>
          <a:p>
            <a:pPr>
              <a:spcBef>
                <a:spcPts val="100"/>
              </a:spcBef>
            </a:pPr>
            <a:r>
              <a:rPr sz="1500">
                <a:solidFill>
                  <a:srgbClr val="556075"/>
                </a:solidFill>
              </a:rPr>
              <a:t>   背景句+两方观点概述+表明自己立场</a:t>
            </a:r>
          </a:p>
          <a:p>
            <a:pPr>
              <a:spcBef>
                <a:spcPts val="900"/>
              </a:spcBef>
            </a:pPr>
            <a:r>
              <a:rPr sz="1800" b="1">
                <a:solidFill>
                  <a:srgbClr val="472473"/>
                </a:solidFill>
              </a:rPr>
              <a:t>• 主体段1</a:t>
            </a:r>
          </a:p>
          <a:p>
            <a:pPr>
              <a:spcBef>
                <a:spcPts val="100"/>
              </a:spcBef>
            </a:pPr>
            <a:r>
              <a:rPr sz="1500">
                <a:solidFill>
                  <a:srgbClr val="556075"/>
                </a:solidFill>
              </a:rPr>
              <a:t>   第一方观点（通常是你不完全认同的那方）</a:t>
            </a:r>
          </a:p>
          <a:p>
            <a:pPr>
              <a:spcBef>
                <a:spcPts val="900"/>
              </a:spcBef>
            </a:pPr>
            <a:r>
              <a:rPr sz="1800" b="1">
                <a:solidFill>
                  <a:srgbClr val="472473"/>
                </a:solidFill>
              </a:rPr>
              <a:t>• 主体段2</a:t>
            </a:r>
          </a:p>
          <a:p>
            <a:pPr>
              <a:spcBef>
                <a:spcPts val="100"/>
              </a:spcBef>
            </a:pPr>
            <a:r>
              <a:rPr sz="1500">
                <a:solidFill>
                  <a:srgbClr val="556075"/>
                </a:solidFill>
              </a:rPr>
              <a:t>   第二方观点（通常是你认同的那方）——论证更强</a:t>
            </a:r>
          </a:p>
          <a:p>
            <a:pPr>
              <a:spcBef>
                <a:spcPts val="900"/>
              </a:spcBef>
            </a:pPr>
            <a:r>
              <a:rPr sz="1800" b="1">
                <a:solidFill>
                  <a:srgbClr val="472473"/>
                </a:solidFill>
              </a:rPr>
              <a:t>• 结论段</a:t>
            </a:r>
          </a:p>
          <a:p>
            <a:pPr>
              <a:spcBef>
                <a:spcPts val="100"/>
              </a:spcBef>
            </a:pPr>
            <a:r>
              <a:rPr sz="1500">
                <a:solidFill>
                  <a:srgbClr val="556075"/>
                </a:solidFill>
              </a:rPr>
              <a:t>   重申立场+总结两方+可加建议</a:t>
            </a:r>
          </a:p>
          <a:p>
            <a:pPr>
              <a:spcBef>
                <a:spcPts val="900"/>
              </a:spcBef>
            </a:pPr>
            <a:r>
              <a:rPr sz="1800" b="1">
                <a:solidFill>
                  <a:srgbClr val="472473"/>
                </a:solidFill>
              </a:rPr>
              <a:t>• 页数/词数</a:t>
            </a:r>
          </a:p>
          <a:p>
            <a:pPr>
              <a:spcBef>
                <a:spcPts val="100"/>
              </a:spcBef>
            </a:pPr>
            <a:r>
              <a:rPr sz="1500">
                <a:solidFill>
                  <a:srgbClr val="556075"/>
                </a:solidFill>
              </a:rPr>
              <a:t>   引言约60词+两个主体段各100词+结论约60词=约320词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讨论文立场策略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Stance Strategy for Discussion Essays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完全立场</a:t>
            </a:r>
          </a:p>
          <a:p>
            <a:pPr>
              <a:spcBef>
                <a:spcPts val="100"/>
              </a:spcBef>
            </a:pPr>
            <a:r>
              <a:rPr sz="1500">
                <a:solidFill>
                  <a:srgbClr val="556075"/>
                </a:solidFill>
              </a:rPr>
              <a:t>   我认为X更有说服力——主体段2为你支持的方大量论证</a:t>
            </a:r>
          </a:p>
          <a:p>
            <a:pPr>
              <a:spcBef>
                <a:spcPts val="900"/>
              </a:spcBef>
            </a:pPr>
            <a:r>
              <a:rPr sz="1800" b="1">
                <a:solidFill>
                  <a:srgbClr val="472473"/>
                </a:solidFill>
              </a:rPr>
              <a:t>• 部分立场</a:t>
            </a:r>
          </a:p>
          <a:p>
            <a:pPr>
              <a:spcBef>
                <a:spcPts val="100"/>
              </a:spcBef>
            </a:pPr>
            <a:r>
              <a:rPr sz="1500">
                <a:solidFill>
                  <a:srgbClr val="556075"/>
                </a:solidFill>
              </a:rPr>
              <a:t>   两方各有道理——结尾明确"在某情况下X更好"</a:t>
            </a:r>
          </a:p>
          <a:p>
            <a:pPr>
              <a:spcBef>
                <a:spcPts val="900"/>
              </a:spcBef>
            </a:pPr>
            <a:r>
              <a:rPr sz="1800" b="1">
                <a:solidFill>
                  <a:srgbClr val="472473"/>
                </a:solidFill>
              </a:rPr>
              <a:t>• 建议避免</a:t>
            </a:r>
          </a:p>
          <a:p>
            <a:pPr>
              <a:spcBef>
                <a:spcPts val="100"/>
              </a:spcBef>
            </a:pPr>
            <a:r>
              <a:rPr sz="1500">
                <a:solidFill>
                  <a:srgbClr val="556075"/>
                </a:solidFill>
              </a:rPr>
              <a:t>   真正的"中立"——阅卷人会认为没有立场→TA失分</a:t>
            </a:r>
          </a:p>
          <a:p>
            <a:pPr>
              <a:spcBef>
                <a:spcPts val="900"/>
              </a:spcBef>
            </a:pPr>
            <a:r>
              <a:rPr sz="1800" b="1">
                <a:solidFill>
                  <a:srgbClr val="472473"/>
                </a:solidFill>
              </a:rPr>
              <a:t>• 高分示范</a:t>
            </a:r>
          </a:p>
          <a:p>
            <a:pPr>
              <a:spcBef>
                <a:spcPts val="100"/>
              </a:spcBef>
            </a:pPr>
            <a:r>
              <a:rPr sz="1500">
                <a:solidFill>
                  <a:srgbClr val="556075"/>
                </a:solidFill>
              </a:rPr>
              <a:t>   讨论两方时，为你支持的那方提供更强/更多论据</a:t>
            </a:r>
          </a:p>
          <a:p>
            <a:pPr>
              <a:spcBef>
                <a:spcPts val="900"/>
              </a:spcBef>
            </a:pPr>
            <a:r>
              <a:rPr sz="1800" b="1">
                <a:solidFill>
                  <a:srgbClr val="472473"/>
                </a:solidFill>
              </a:rPr>
              <a:t>• 结尾必须</a:t>
            </a:r>
          </a:p>
          <a:p>
            <a:pPr>
              <a:spcBef>
                <a:spcPts val="100"/>
              </a:spcBef>
            </a:pPr>
            <a:r>
              <a:rPr sz="1500">
                <a:solidFill>
                  <a:srgbClr val="556075"/>
                </a:solidFill>
              </a:rPr>
              <a:t>   结尾段必须用"I believe/In my view"再次明确立场</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讨论文引言写法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题目："Some argue that governments should fund the arts. Others believe money should only be spent on practical needs. Discuss both views and give your own opinion."
低分引言（Band 5-6）：
"There are two different opinions about government funding. Some agree, others disagree. This essay will discuss both sides."
→ 问题：没有立场，表达含糊，无学术性
高分引言（Band 7+）：
"Whether public funds should be directed towards the arts or concentrated solely on practical necessities is a matter of ongoing debate. While proponents of arts funding argue that culture enriches society, critics contend that limited budgets should prioritise essential services. I firmly believe that a balanced approach is warranted, with moderate arts funding maintained alongside greater investment in practical needs."
→ 优点：立场清晰，词汇学术，两方观点概述平衡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讨论文主体段分配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主体段1（相反方）写作技巧：
→ 公平呈现对方观点，给出合理论证
→ 但篇幅可以略短（90-100词）
→ 用"Those who..."/"Advocates of..."/"Proponents argue that..."
主体段2（支持方）写作技巧：
→ 给出更强/更多论证，可用具体例子
→ 篇幅可以略长（100-120词）
→ 用"Nevertheless/However, I would argue that..."
→ 此段最后可加一句呼应自己立场的话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讨论文主体段示范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主体段1（呈现对方观点）示范：
"Advocates of concentrating funding on practical necessities argue that governments have a fundamental obligation to address basic human needs first. In times of economic hardship, expenditure on arts programmes may appear as an unnecessary luxury when citizens require adequate healthcare, education, and housing. From this perspective, it is difficult to justify allocating public money to galleries or orchestras when essential public services remain underfunded."
（98词，客观呈现，用Advocates of引出，无个人情感词）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分析：Advocates of...开头，客观呈现，论证充分（obligation/hardship/justify），约100词</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Band 7主体段1特征：公平呈现对方，用学术语气，约100词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讨论文结论写法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题目：政府是否应该资助艺术
低分结论："In conclusion, both sides have good points. I think government should spend money on arts and practical needs."
→ 问题：语言简单，立场模糊
高分结论："In conclusion, while practical priorities must take precedence, wholesale abandonment of arts funding would impoverish our cultural heritage. I maintain that governments should preserve modest arts budgets while ensuring essential services remain the primary focus of public expenditure. A society that neglects culture ultimately undermines the quality of life it seeks to protect."
→ 优点：立场清晰，词汇丰富，结尾有深度</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结论三步：①重申立场 ②总结核心论点 ③可加一句更深层的思考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同意/不同意文写法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Agree/Disagree Essays: Structure &amp; Writing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同意文标准结构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Agree/Disagree Essay Template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完全同意型</a:t>
            </a:r>
          </a:p>
          <a:p>
            <a:pPr>
              <a:spcBef>
                <a:spcPts val="100"/>
              </a:spcBef>
            </a:pPr>
            <a:r>
              <a:rPr sz="1500">
                <a:solidFill>
                  <a:srgbClr val="556075"/>
                </a:solidFill>
              </a:rPr>
              <a:t>   引言表立场+两段支持论据+结论重申</a:t>
            </a:r>
          </a:p>
          <a:p>
            <a:pPr>
              <a:spcBef>
                <a:spcPts val="900"/>
              </a:spcBef>
            </a:pPr>
            <a:r>
              <a:rPr sz="1800" b="1">
                <a:solidFill>
                  <a:srgbClr val="472473"/>
                </a:solidFill>
              </a:rPr>
              <a:t>• 部分同意型</a:t>
            </a:r>
          </a:p>
          <a:p>
            <a:pPr>
              <a:spcBef>
                <a:spcPts val="100"/>
              </a:spcBef>
            </a:pPr>
            <a:r>
              <a:rPr sz="1500">
                <a:solidFill>
                  <a:srgbClr val="556075"/>
                </a:solidFill>
              </a:rPr>
              <a:t>   引言表partial agreement+一段同意+一段让步/条件+结论</a:t>
            </a:r>
          </a:p>
          <a:p>
            <a:pPr>
              <a:spcBef>
                <a:spcPts val="900"/>
              </a:spcBef>
            </a:pPr>
            <a:r>
              <a:rPr sz="1800" b="1">
                <a:solidFill>
                  <a:srgbClr val="472473"/>
                </a:solidFill>
              </a:rPr>
              <a:t>• 完全不同意型</a:t>
            </a:r>
          </a:p>
          <a:p>
            <a:pPr>
              <a:spcBef>
                <a:spcPts val="100"/>
              </a:spcBef>
            </a:pPr>
            <a:r>
              <a:rPr sz="1500">
                <a:solidFill>
                  <a:srgbClr val="556075"/>
                </a:solidFill>
              </a:rPr>
              <a:t>   引言表立场+两段反对论据+结论重申</a:t>
            </a:r>
          </a:p>
          <a:p>
            <a:pPr>
              <a:spcBef>
                <a:spcPts val="900"/>
              </a:spcBef>
            </a:pPr>
            <a:r>
              <a:rPr sz="1800" b="1">
                <a:solidFill>
                  <a:srgbClr val="472473"/>
                </a:solidFill>
              </a:rPr>
              <a:t>• 高分建议</a:t>
            </a:r>
          </a:p>
          <a:p>
            <a:pPr>
              <a:spcBef>
                <a:spcPts val="100"/>
              </a:spcBef>
            </a:pPr>
            <a:r>
              <a:rPr sz="1500">
                <a:solidFill>
                  <a:srgbClr val="556075"/>
                </a:solidFill>
              </a:rPr>
              <a:t>   "strongly agree/disagree"比"partially"更容易论证</a:t>
            </a:r>
          </a:p>
          <a:p>
            <a:pPr>
              <a:spcBef>
                <a:spcPts val="900"/>
              </a:spcBef>
            </a:pPr>
            <a:r>
              <a:rPr sz="1800" b="1">
                <a:solidFill>
                  <a:srgbClr val="472473"/>
                </a:solidFill>
              </a:rPr>
              <a:t>• 避免错误</a:t>
            </a:r>
          </a:p>
          <a:p>
            <a:pPr>
              <a:spcBef>
                <a:spcPts val="100"/>
              </a:spcBef>
            </a:pPr>
            <a:r>
              <a:rPr sz="1500">
                <a:solidFill>
                  <a:srgbClr val="556075"/>
                </a:solidFill>
              </a:rPr>
              <a:t>   不要写成讨论文——要侧重自己立场，不是平衡两方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立场强度表达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Expressing Your Stance Clearly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强烈同意</a:t>
            </a:r>
          </a:p>
          <a:p>
            <a:pPr>
              <a:spcBef>
                <a:spcPts val="100"/>
              </a:spcBef>
            </a:pPr>
            <a:r>
              <a:rPr sz="1500">
                <a:solidFill>
                  <a:srgbClr val="556075"/>
                </a:solidFill>
              </a:rPr>
              <a:t>   I firmly believe / I strongly agree / I am convinced that</a:t>
            </a:r>
          </a:p>
          <a:p>
            <a:pPr>
              <a:spcBef>
                <a:spcPts val="900"/>
              </a:spcBef>
            </a:pPr>
            <a:r>
              <a:rPr sz="1800" b="1">
                <a:solidFill>
                  <a:srgbClr val="472473"/>
                </a:solidFill>
              </a:rPr>
              <a:t>• 基本同意</a:t>
            </a:r>
          </a:p>
          <a:p>
            <a:pPr>
              <a:spcBef>
                <a:spcPts val="100"/>
              </a:spcBef>
            </a:pPr>
            <a:r>
              <a:rPr sz="1500">
                <a:solidFill>
                  <a:srgbClr val="556075"/>
                </a:solidFill>
              </a:rPr>
              <a:t>   I largely agree / I mostly support the view that</a:t>
            </a:r>
          </a:p>
          <a:p>
            <a:pPr>
              <a:spcBef>
                <a:spcPts val="900"/>
              </a:spcBef>
            </a:pPr>
            <a:r>
              <a:rPr sz="1800" b="1">
                <a:solidFill>
                  <a:srgbClr val="472473"/>
                </a:solidFill>
              </a:rPr>
              <a:t>• 部分同意</a:t>
            </a:r>
          </a:p>
          <a:p>
            <a:pPr>
              <a:spcBef>
                <a:spcPts val="100"/>
              </a:spcBef>
            </a:pPr>
            <a:r>
              <a:rPr sz="1500">
                <a:solidFill>
                  <a:srgbClr val="556075"/>
                </a:solidFill>
              </a:rPr>
              <a:t>   I partially agree, as... / While X has merit, I believe...</a:t>
            </a:r>
          </a:p>
          <a:p>
            <a:pPr>
              <a:spcBef>
                <a:spcPts val="900"/>
              </a:spcBef>
            </a:pPr>
            <a:r>
              <a:rPr sz="1800" b="1">
                <a:solidFill>
                  <a:srgbClr val="472473"/>
                </a:solidFill>
              </a:rPr>
              <a:t>• 基本不同意</a:t>
            </a:r>
          </a:p>
          <a:p>
            <a:pPr>
              <a:spcBef>
                <a:spcPts val="100"/>
              </a:spcBef>
            </a:pPr>
            <a:r>
              <a:rPr sz="1500">
                <a:solidFill>
                  <a:srgbClr val="556075"/>
                </a:solidFill>
              </a:rPr>
              <a:t>   I largely disagree / I am not convinced that</a:t>
            </a:r>
          </a:p>
          <a:p>
            <a:pPr>
              <a:spcBef>
                <a:spcPts val="900"/>
              </a:spcBef>
            </a:pPr>
            <a:r>
              <a:rPr sz="1800" b="1">
                <a:solidFill>
                  <a:srgbClr val="472473"/>
                </a:solidFill>
              </a:rPr>
              <a:t>• 强烈不同意</a:t>
            </a:r>
          </a:p>
          <a:p>
            <a:pPr>
              <a:spcBef>
                <a:spcPts val="100"/>
              </a:spcBef>
            </a:pPr>
            <a:r>
              <a:rPr sz="1500">
                <a:solidFill>
                  <a:srgbClr val="556075"/>
                </a:solidFill>
              </a:rPr>
              <a:t>   I firmly reject / I completely disagree / I strongly believe that X is wrong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同意文结构示范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题目："Governments should ban the use of social media for people under 18. To what extent do you agree?"
我的立场：基本同意（largely agree）
引言：背景+我的立场（largely agree because...）
主体段1（主要原因）：
"Social media poses significant risks to the mental health of adolescents..."
→ 主题句+解释+研究数据+例子
主体段2（第二原因/让步）：
"Moreover, young people lack the critical thinking skills to navigate misinformation..."
→ 或用："Admittedly, social media can facilitate learning; however..."
结论：重申largely agree+总结核心原因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同意文立场维持</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同意文最常见问题：写着写着立场消失了
原因：学生把同意文写成了讨论文
正确做法：
→ 主体段1：论证你的立场（主要原因）
→ 主体段2：再给另一个原因，OR 让步后反驳
→ 全程不需要平等展示对方论点
→ 如果提到对方（让步）→ 随后必须反驳回来
让步-反驳结构示范：
"Admittedly, social media can help young people connect with peers. Nevertheless, this benefit is far outweighed by the documented mental health risks, which include elevated rates of anxiety and depression."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同意文主体段示范（完全同意）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题目：政府应禁止18岁以下使用社交媒体
立场：完全同意
主体段1（原因1）：
"The most compelling reason to restrict adolescent social media use is its detrimental impact on mental health. Research consistently shows that excessive exposure to curated images and social comparisons triggers anxiety and depression in teenagers, whose self-image is still developing. A landmark study by the American Psychological Association found that girls aged 11-15 who used social media for over three hours daily were significantly more likely to experience psychological distress."
（104词）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主体段评分：TS（主题句）清晰→解释（why）→研究数据→具体数字→结论
词汇：detrimental/curated/landmark study/psychological distress（Band 7+词汇）</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高分主体段关键：不只说WHAT（社媒有害）——必须解释WHY并给出具体证据</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同意文主体段示范（让步-反驳）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立场：基本同意禁止
主体段2（让步-反驳结构）：
"Admittedly, social media platforms can serve educational purposes, enabling students to collaborate on projects and access learning communities worldwide. However, these benefits are available through more controlled alternatives, such as supervised educational platforms, that do not expose young people to the harmful content typically found on commercial social networks. Therefore, the potential educational value does not justify unrestricted access for minors."
（82词）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让步-反驳三步：
①Admittedly承认对方有道理
②However转折，指出更重要的反驳点
③Therefore得出支持自己立场的结论</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立场表达与论证策略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Stance &amp; Argumentation Strategies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论证质量提升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Improving Argument Quality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不只说观点</a:t>
            </a:r>
          </a:p>
          <a:p>
            <a:pPr>
              <a:spcBef>
                <a:spcPts val="100"/>
              </a:spcBef>
            </a:pPr>
            <a:r>
              <a:rPr sz="1500">
                <a:solidFill>
                  <a:srgbClr val="556075"/>
                </a:solidFill>
              </a:rPr>
              <a:t>   只有TS=only 1分；TS+解释+例子=3分</a:t>
            </a:r>
          </a:p>
          <a:p>
            <a:pPr>
              <a:spcBef>
                <a:spcPts val="900"/>
              </a:spcBef>
            </a:pPr>
            <a:r>
              <a:rPr sz="1800" b="1">
                <a:solidFill>
                  <a:srgbClr val="472473"/>
                </a:solidFill>
              </a:rPr>
              <a:t>• 解释为什么</a:t>
            </a:r>
          </a:p>
          <a:p>
            <a:pPr>
              <a:spcBef>
                <a:spcPts val="100"/>
              </a:spcBef>
            </a:pPr>
            <a:r>
              <a:rPr sz="1500">
                <a:solidFill>
                  <a:srgbClr val="556075"/>
                </a:solidFill>
              </a:rPr>
              <a:t>   Why does this matter? 是论证质量的核心</a:t>
            </a:r>
          </a:p>
          <a:p>
            <a:pPr>
              <a:spcBef>
                <a:spcPts val="900"/>
              </a:spcBef>
            </a:pPr>
            <a:r>
              <a:rPr sz="1800" b="1">
                <a:solidFill>
                  <a:srgbClr val="472473"/>
                </a:solidFill>
              </a:rPr>
              <a:t>• 具体例子</a:t>
            </a:r>
          </a:p>
          <a:p>
            <a:pPr>
              <a:spcBef>
                <a:spcPts val="100"/>
              </a:spcBef>
            </a:pPr>
            <a:r>
              <a:rPr sz="1500">
                <a:solidFill>
                  <a:srgbClr val="556075"/>
                </a:solidFill>
              </a:rPr>
              <a:t>   国家名/研究数据/历史事实比"for example"+"general statement"强</a:t>
            </a:r>
          </a:p>
          <a:p>
            <a:pPr>
              <a:spcBef>
                <a:spcPts val="900"/>
              </a:spcBef>
            </a:pPr>
            <a:r>
              <a:rPr sz="1800" b="1">
                <a:solidFill>
                  <a:srgbClr val="472473"/>
                </a:solidFill>
              </a:rPr>
              <a:t>• 因果逻辑</a:t>
            </a:r>
          </a:p>
          <a:p>
            <a:pPr>
              <a:spcBef>
                <a:spcPts val="100"/>
              </a:spcBef>
            </a:pPr>
            <a:r>
              <a:rPr sz="1500">
                <a:solidFill>
                  <a:srgbClr val="556075"/>
                </a:solidFill>
              </a:rPr>
              <a:t>   用因果连词（therefore/consequently/as a result）建立论证链</a:t>
            </a:r>
          </a:p>
          <a:p>
            <a:pPr>
              <a:spcBef>
                <a:spcPts val="900"/>
              </a:spcBef>
            </a:pPr>
            <a:r>
              <a:rPr sz="1800" b="1">
                <a:solidFill>
                  <a:srgbClr val="472473"/>
                </a:solidFill>
              </a:rPr>
              <a:t>• 数据引用</a:t>
            </a:r>
          </a:p>
          <a:p>
            <a:pPr>
              <a:spcBef>
                <a:spcPts val="100"/>
              </a:spcBef>
            </a:pPr>
            <a:r>
              <a:rPr sz="1500">
                <a:solidFill>
                  <a:srgbClr val="556075"/>
                </a:solidFill>
              </a:rPr>
              <a:t>   即使数据不精确，引用研究比不引用更有说服力</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反驳对方论点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Rebuttal Techniques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完全反驳</a:t>
            </a:r>
          </a:p>
          <a:p>
            <a:pPr>
              <a:spcBef>
                <a:spcPts val="100"/>
              </a:spcBef>
            </a:pPr>
            <a:r>
              <a:rPr sz="1500">
                <a:solidFill>
                  <a:srgbClr val="556075"/>
                </a:solidFill>
              </a:rPr>
              <a:t>   对方论点本身就是错误的——给出证据推翻</a:t>
            </a:r>
          </a:p>
          <a:p>
            <a:pPr>
              <a:spcBef>
                <a:spcPts val="900"/>
              </a:spcBef>
            </a:pPr>
            <a:r>
              <a:rPr sz="1800" b="1">
                <a:solidFill>
                  <a:srgbClr val="472473"/>
                </a:solidFill>
              </a:rPr>
              <a:t>• 范围限制</a:t>
            </a:r>
          </a:p>
          <a:p>
            <a:pPr>
              <a:spcBef>
                <a:spcPts val="100"/>
              </a:spcBef>
            </a:pPr>
            <a:r>
              <a:rPr sz="1500">
                <a:solidFill>
                  <a:srgbClr val="556075"/>
                </a:solidFill>
              </a:rPr>
              <a:t>   对方论点只在某情况下成立——你的论点适用更广</a:t>
            </a:r>
          </a:p>
          <a:p>
            <a:pPr>
              <a:spcBef>
                <a:spcPts val="900"/>
              </a:spcBef>
            </a:pPr>
            <a:r>
              <a:rPr sz="1800" b="1">
                <a:solidFill>
                  <a:srgbClr val="472473"/>
                </a:solidFill>
              </a:rPr>
              <a:t>• 因果反转</a:t>
            </a:r>
          </a:p>
          <a:p>
            <a:pPr>
              <a:spcBef>
                <a:spcPts val="100"/>
              </a:spcBef>
            </a:pPr>
            <a:r>
              <a:rPr sz="1500">
                <a:solidFill>
                  <a:srgbClr val="556075"/>
                </a:solidFill>
              </a:rPr>
              <a:t>   对方认为A导致B，但实际上B导致A——翻转因果</a:t>
            </a:r>
          </a:p>
          <a:p>
            <a:pPr>
              <a:spcBef>
                <a:spcPts val="900"/>
              </a:spcBef>
            </a:pPr>
            <a:r>
              <a:rPr sz="1800" b="1">
                <a:solidFill>
                  <a:srgbClr val="472473"/>
                </a:solidFill>
              </a:rPr>
              <a:t>• 让步后超越</a:t>
            </a:r>
          </a:p>
          <a:p>
            <a:pPr>
              <a:spcBef>
                <a:spcPts val="100"/>
              </a:spcBef>
            </a:pPr>
            <a:r>
              <a:rPr sz="1500">
                <a:solidFill>
                  <a:srgbClr val="556075"/>
                </a:solidFill>
              </a:rPr>
              <a:t>   承认对方有道理，但更重要的考虑是...</a:t>
            </a:r>
          </a:p>
          <a:p>
            <a:pPr>
              <a:spcBef>
                <a:spcPts val="900"/>
              </a:spcBef>
            </a:pPr>
            <a:r>
              <a:rPr sz="1800" b="1">
                <a:solidFill>
                  <a:srgbClr val="472473"/>
                </a:solidFill>
              </a:rPr>
              <a:t>• 最常用</a:t>
            </a:r>
          </a:p>
          <a:p>
            <a:pPr>
              <a:spcBef>
                <a:spcPts val="100"/>
              </a:spcBef>
            </a:pPr>
            <a:r>
              <a:rPr sz="1500">
                <a:solidFill>
                  <a:srgbClr val="556075"/>
                </a:solidFill>
              </a:rPr>
              <a:t>   让步-反驳（Admittedly...Nevertheless）是IELTS最安全的反驳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论证质量对比示范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低质量论证（Band 5-6）：
"Social media is bad for young people. There are many problems. For example, it wastes time. It also causes mental health issues. Therefore, it should be banned."
→ 只有观点，没有解释；for example后面还是笼统说法；没有具体数据
高质量论证（Band 7+）：
"Social media has a demonstrably negative impact on adolescent mental health, primarily because it creates unrealistic social comparisons. When teenagers constantly view curated highlight reels of peers, they inevitably measure their ordinary lives against exceptional moments, fostering feelings of inadequacy. The Royal Society for Public Health reported that Instagram alone was associated with the highest rates of anxiety, depression, and poor body image among young users."
→ 主题句→具体机制解释→研究机构引用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因果逻辑链构建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构建完整论证链：
Step 1（观点）：Investing in renewable energy reduces carbon emissions.
Step 2（机制/为什么）：This is because solar and wind power generate electricity without burning fossil fuels, eliminating the source of most industrial CO₂.
Step 3（后果/影响）：Consequently, widespread adoption could significantly slow the rate of climate change, protecting coastal communities from rising sea levels and extreme weather events.
Step 4（例子）：Germany's renewable energy transition, known as Energiewende, has already reduced CO₂ emissions by 35% since 1990.
论证链：观点→机制→后果→例子 = Band 7论证结构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立场表达综合实战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练习：为以下立场写出完整的引言段（约70词）
题目："The internet has done more harm than good to society. To what extent do you agree or disagree?"
你的立场：largely disagree（基本不同意）
要求：
① 背景句（1-2句）
② 两方简述（1句）
③ 明确立场（I largely disagree/believe...）
④ 预告主要理由（1-2句）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参考范文：
"The rise of the internet has fundamentally reshaped virtually every aspect of modern life, from communication and commerce to education and entertainment. While some argue that this technological revolution has caused more problems than it has solved, I largely disagree. The internet has delivered extraordinary benefits to billions of people worldwide, particularly in democratising access to information and enabling unprecedented global connectivity."
（73词）</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引言评分要点：立场词（largely disagree）+理由预告（democratising/connectivity）+学术词汇</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立场维持检查法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写完Task 2后，做以下自检：
① 引言段最后是否有明确立场句？（I firmly/largely agree/disagree because...）
② 每个主体段的主题句是否与你的立场一致？
③ 如果有让步句（Admittedly/While），是否随后用However/Nevertheless反驳回来？
④ 结论段是否有重申立场的句子（In conclusion, I maintain that...）？
⑤ 全文立场是否前后一致（不能引言说agree，结论说partially agree）？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立场一致性是TA评分的核心——阅卷人会检查引言和结论是否呼应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综合实战演练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Full Practice: Discussion &amp; Opinion Essays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讨论文满分结构图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Discussion Essay Perfect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引言（约65词）</a:t>
            </a:r>
          </a:p>
          <a:p>
            <a:pPr>
              <a:spcBef>
                <a:spcPts val="100"/>
              </a:spcBef>
            </a:pPr>
            <a:r>
              <a:rPr sz="1500">
                <a:solidFill>
                  <a:srgbClr val="556075"/>
                </a:solidFill>
              </a:rPr>
              <a:t>   背景+两方观点概述+表明立场（I believe X has more merit...）</a:t>
            </a:r>
          </a:p>
          <a:p>
            <a:pPr>
              <a:spcBef>
                <a:spcPts val="900"/>
              </a:spcBef>
            </a:pPr>
            <a:r>
              <a:rPr sz="1800" b="1">
                <a:solidFill>
                  <a:srgbClr val="472473"/>
                </a:solidFill>
              </a:rPr>
              <a:t>• 主体段1（约100词）</a:t>
            </a:r>
          </a:p>
          <a:p>
            <a:pPr>
              <a:spcBef>
                <a:spcPts val="100"/>
              </a:spcBef>
            </a:pPr>
            <a:r>
              <a:rPr sz="1500">
                <a:solidFill>
                  <a:srgbClr val="556075"/>
                </a:solidFill>
              </a:rPr>
              <a:t>   第一方观点+论证+例子（公平呈现，篇幅可略短）</a:t>
            </a:r>
          </a:p>
          <a:p>
            <a:pPr>
              <a:spcBef>
                <a:spcPts val="900"/>
              </a:spcBef>
            </a:pPr>
            <a:r>
              <a:rPr sz="1800" b="1">
                <a:solidFill>
                  <a:srgbClr val="472473"/>
                </a:solidFill>
              </a:rPr>
              <a:t>• 主体段2（约115词）</a:t>
            </a:r>
          </a:p>
          <a:p>
            <a:pPr>
              <a:spcBef>
                <a:spcPts val="100"/>
              </a:spcBef>
            </a:pPr>
            <a:r>
              <a:rPr sz="1500">
                <a:solidFill>
                  <a:srgbClr val="556075"/>
                </a:solidFill>
              </a:rPr>
              <a:t>   第二方观点（你支持的）+更强论证+例子+结论句</a:t>
            </a:r>
          </a:p>
          <a:p>
            <a:pPr>
              <a:spcBef>
                <a:spcPts val="900"/>
              </a:spcBef>
            </a:pPr>
            <a:r>
              <a:rPr sz="1800" b="1">
                <a:solidFill>
                  <a:srgbClr val="472473"/>
                </a:solidFill>
              </a:rPr>
              <a:t>• 结论（约60词）</a:t>
            </a:r>
          </a:p>
          <a:p>
            <a:pPr>
              <a:spcBef>
                <a:spcPts val="100"/>
              </a:spcBef>
            </a:pPr>
            <a:r>
              <a:rPr sz="1500">
                <a:solidFill>
                  <a:srgbClr val="556075"/>
                </a:solidFill>
              </a:rPr>
              <a:t>   重申立场+总结+深层思考/建议</a:t>
            </a:r>
          </a:p>
          <a:p>
            <a:pPr>
              <a:spcBef>
                <a:spcPts val="900"/>
              </a:spcBef>
            </a:pPr>
            <a:r>
              <a:rPr sz="1800" b="1">
                <a:solidFill>
                  <a:srgbClr val="472473"/>
                </a:solidFill>
              </a:rPr>
              <a:t>• 总词数</a:t>
            </a:r>
          </a:p>
          <a:p>
            <a:pPr>
              <a:spcBef>
                <a:spcPts val="100"/>
              </a:spcBef>
            </a:pPr>
            <a:r>
              <a:rPr sz="1500">
                <a:solidFill>
                  <a:srgbClr val="556075"/>
                </a:solidFill>
              </a:rPr>
              <a:t>   约340词——超过250词要求，内容充实</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同意文满分结构图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Opinion Essay Perfect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引言（约65词）</a:t>
            </a:r>
          </a:p>
          <a:p>
            <a:pPr>
              <a:spcBef>
                <a:spcPts val="100"/>
              </a:spcBef>
            </a:pPr>
            <a:r>
              <a:rPr sz="1500">
                <a:solidFill>
                  <a:srgbClr val="556075"/>
                </a:solidFill>
              </a:rPr>
              <a:t>   背景+明确立场（I firmly agree/disagree that...）+理由预告</a:t>
            </a:r>
          </a:p>
          <a:p>
            <a:pPr>
              <a:spcBef>
                <a:spcPts val="900"/>
              </a:spcBef>
            </a:pPr>
            <a:r>
              <a:rPr sz="1800" b="1">
                <a:solidFill>
                  <a:srgbClr val="472473"/>
                </a:solidFill>
              </a:rPr>
              <a:t>• 主体段1（约110词）</a:t>
            </a:r>
          </a:p>
          <a:p>
            <a:pPr>
              <a:spcBef>
                <a:spcPts val="100"/>
              </a:spcBef>
            </a:pPr>
            <a:r>
              <a:rPr sz="1500">
                <a:solidFill>
                  <a:srgbClr val="556075"/>
                </a:solidFill>
              </a:rPr>
              <a:t>   最强论点+解释（why）+研究数据/例子</a:t>
            </a:r>
          </a:p>
          <a:p>
            <a:pPr>
              <a:spcBef>
                <a:spcPts val="900"/>
              </a:spcBef>
            </a:pPr>
            <a:r>
              <a:rPr sz="1800" b="1">
                <a:solidFill>
                  <a:srgbClr val="472473"/>
                </a:solidFill>
              </a:rPr>
              <a:t>• 主体段2（约100词）</a:t>
            </a:r>
          </a:p>
          <a:p>
            <a:pPr>
              <a:spcBef>
                <a:spcPts val="100"/>
              </a:spcBef>
            </a:pPr>
            <a:r>
              <a:rPr sz="1500">
                <a:solidFill>
                  <a:srgbClr val="556075"/>
                </a:solidFill>
              </a:rPr>
              <a:t>   第二论点 OR 让步-反驳结构（Admittedly...Nevertheless）</a:t>
            </a:r>
          </a:p>
          <a:p>
            <a:pPr>
              <a:spcBef>
                <a:spcPts val="900"/>
              </a:spcBef>
            </a:pPr>
            <a:r>
              <a:rPr sz="1800" b="1">
                <a:solidFill>
                  <a:srgbClr val="472473"/>
                </a:solidFill>
              </a:rPr>
              <a:t>• 结论（约60词）</a:t>
            </a:r>
          </a:p>
          <a:p>
            <a:pPr>
              <a:spcBef>
                <a:spcPts val="100"/>
              </a:spcBef>
            </a:pPr>
            <a:r>
              <a:rPr sz="1500">
                <a:solidFill>
                  <a:srgbClr val="556075"/>
                </a:solidFill>
              </a:rPr>
              <a:t>   重申立场+核心总结</a:t>
            </a:r>
          </a:p>
          <a:p>
            <a:pPr>
              <a:spcBef>
                <a:spcPts val="900"/>
              </a:spcBef>
            </a:pPr>
            <a:r>
              <a:rPr sz="1800" b="1">
                <a:solidFill>
                  <a:srgbClr val="472473"/>
                </a:solidFill>
              </a:rPr>
              <a:t>• 总词数</a:t>
            </a:r>
          </a:p>
          <a:p>
            <a:pPr>
              <a:spcBef>
                <a:spcPts val="100"/>
              </a:spcBef>
            </a:pPr>
            <a:r>
              <a:rPr sz="1500">
                <a:solidFill>
                  <a:srgbClr val="556075"/>
                </a:solidFill>
              </a:rPr>
              <a:t>   约335词——内容扎实</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讨论文完整示范要点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题目："Some believe that technology is making people less social. Others think it enhances social connections. Discuss both views and give your own opinion."
文章提纲（Band 7+）：
引言：技术改变社交背景+两方概述+I largely agree with the latter view
主体段1（技术削弱社交）：
TS：Technology can indeed reduce face-to-face interaction.
论证：Smartphones during meals/meetings displace meaningful conversation.
例子：Research by MIT shows phone presence reduces conversation quality.
主体段2（技术增强社交，我的立场）：
TS：However, the overall effect of technology on social connection is overwhelmingly positive.
论证：Platforms connect people across distances impossible before
例子：Immigrant communities/distant family—digital communication crucial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同意文常见失分点与修正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失</a:t>
            </a:r>
          </a:p>
          <a:p>
            <a:pPr>
              <a:spcBef>
                <a:spcPts val="1000"/>
              </a:spcBef>
            </a:pPr>
            <a:r>
              <a:rPr sz="1650">
                <a:solidFill>
                  <a:srgbClr val="1E293B"/>
                </a:solidFill>
              </a:rPr>
              <a:t>• 分</a:t>
            </a:r>
          </a:p>
          <a:p>
            <a:pPr>
              <a:spcBef>
                <a:spcPts val="1000"/>
              </a:spcBef>
            </a:pPr>
            <a:r>
              <a:rPr sz="1650">
                <a:solidFill>
                  <a:srgbClr val="1E293B"/>
                </a:solidFill>
              </a:rPr>
              <a:t>• 点</a:t>
            </a:r>
          </a:p>
          <a:p>
            <a:pPr>
              <a:spcBef>
                <a:spcPts val="1000"/>
              </a:spcBef>
            </a:pPr>
            <a:r>
              <a:rPr sz="1650">
                <a:solidFill>
                  <a:srgbClr val="1E293B"/>
                </a:solidFill>
              </a:rPr>
              <a:t>• 1</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我</a:t>
            </a:r>
          </a:p>
          <a:p>
            <a:pPr>
              <a:spcBef>
                <a:spcPts val="1000"/>
              </a:spcBef>
            </a:pPr>
            <a:r>
              <a:rPr sz="1650">
                <a:solidFill>
                  <a:srgbClr val="1E293B"/>
                </a:solidFill>
              </a:rPr>
              <a:t>• 写</a:t>
            </a:r>
          </a:p>
          <a:p>
            <a:pPr>
              <a:spcBef>
                <a:spcPts val="1000"/>
              </a:spcBef>
            </a:pPr>
            <a:r>
              <a:rPr sz="1650">
                <a:solidFill>
                  <a:srgbClr val="1E293B"/>
                </a:solidFill>
              </a:rPr>
              <a:t>• 了</a:t>
            </a:r>
          </a:p>
          <a:p>
            <a:pPr>
              <a:spcBef>
                <a:spcPts val="1000"/>
              </a:spcBef>
            </a:pPr>
            <a:r>
              <a:rPr sz="1650">
                <a:solidFill>
                  <a:srgbClr val="1E293B"/>
                </a:solidFill>
              </a:rPr>
              <a:t>• 一</a:t>
            </a:r>
          </a:p>
          <a:p>
            <a:pPr>
              <a:spcBef>
                <a:spcPts val="1000"/>
              </a:spcBef>
            </a:pPr>
            <a:r>
              <a:rPr sz="1650">
                <a:solidFill>
                  <a:srgbClr val="1E293B"/>
                </a:solidFill>
              </a:rPr>
              <a:t>• 段</a:t>
            </a:r>
          </a:p>
          <a:p>
            <a:pPr>
              <a:spcBef>
                <a:spcPts val="1000"/>
              </a:spcBef>
            </a:pPr>
            <a:r>
              <a:rPr sz="1650">
                <a:solidFill>
                  <a:srgbClr val="1E293B"/>
                </a:solidFill>
              </a:rPr>
              <a:t>• 反</a:t>
            </a:r>
          </a:p>
          <a:p>
            <a:pPr>
              <a:spcBef>
                <a:spcPts val="1000"/>
              </a:spcBef>
            </a:pPr>
            <a:r>
              <a:rPr sz="1650">
                <a:solidFill>
                  <a:srgbClr val="1E293B"/>
                </a:solidFill>
              </a:rPr>
              <a:t>• 对</a:t>
            </a:r>
          </a:p>
          <a:p>
            <a:pPr>
              <a:spcBef>
                <a:spcPts val="1000"/>
              </a:spcBef>
            </a:pPr>
            <a:r>
              <a:rPr sz="1650">
                <a:solidFill>
                  <a:srgbClr val="1E293B"/>
                </a:solidFill>
              </a:rPr>
              <a:t>• 方</a:t>
            </a:r>
          </a:p>
          <a:p>
            <a:pPr>
              <a:spcBef>
                <a:spcPts val="1000"/>
              </a:spcBef>
            </a:pPr>
            <a:r>
              <a:rPr sz="1650">
                <a:solidFill>
                  <a:srgbClr val="1E293B"/>
                </a:solidFill>
              </a:rPr>
              <a:t>• 的</a:t>
            </a:r>
          </a:p>
          <a:p>
            <a:pPr>
              <a:spcBef>
                <a:spcPts val="1000"/>
              </a:spcBef>
            </a:pPr>
            <a:r>
              <a:rPr sz="1650">
                <a:solidFill>
                  <a:srgbClr val="1E293B"/>
                </a:solidFill>
              </a:rPr>
              <a:t>• 论</a:t>
            </a:r>
          </a:p>
          <a:p>
            <a:pPr>
              <a:spcBef>
                <a:spcPts val="1000"/>
              </a:spcBef>
            </a:pPr>
            <a:r>
              <a:rPr sz="1650">
                <a:solidFill>
                  <a:srgbClr val="1E293B"/>
                </a:solidFill>
              </a:rPr>
              <a:t>• 点</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同</a:t>
            </a:r>
          </a:p>
          <a:p>
            <a:pPr>
              <a:spcBef>
                <a:spcPts val="1000"/>
              </a:spcBef>
            </a:pPr>
            <a:r>
              <a:rPr sz="1650">
                <a:solidFill>
                  <a:srgbClr val="1E293B"/>
                </a:solidFill>
              </a:rPr>
              <a:t>• 意</a:t>
            </a:r>
          </a:p>
          <a:p>
            <a:pPr>
              <a:spcBef>
                <a:spcPts val="1000"/>
              </a:spcBef>
            </a:pPr>
            <a:r>
              <a:rPr sz="1650">
                <a:solidFill>
                  <a:srgbClr val="1E293B"/>
                </a:solidFill>
              </a:rPr>
              <a:t>• 文</a:t>
            </a:r>
          </a:p>
          <a:p>
            <a:pPr>
              <a:spcBef>
                <a:spcPts val="1000"/>
              </a:spcBef>
            </a:pPr>
            <a:r>
              <a:rPr sz="1650">
                <a:solidFill>
                  <a:srgbClr val="1E293B"/>
                </a:solidFill>
              </a:rPr>
              <a:t>• 不</a:t>
            </a:r>
          </a:p>
          <a:p>
            <a:pPr>
              <a:spcBef>
                <a:spcPts val="1000"/>
              </a:spcBef>
            </a:pPr>
            <a:r>
              <a:rPr sz="1650">
                <a:solidFill>
                  <a:srgbClr val="1E293B"/>
                </a:solidFill>
              </a:rPr>
              <a:t>• 需</a:t>
            </a:r>
          </a:p>
          <a:p>
            <a:pPr>
              <a:spcBef>
                <a:spcPts val="1000"/>
              </a:spcBef>
            </a:pPr>
            <a:r>
              <a:rPr sz="1650">
                <a:solidFill>
                  <a:srgbClr val="1E293B"/>
                </a:solidFill>
              </a:rPr>
              <a:t>• 要</a:t>
            </a:r>
          </a:p>
          <a:p>
            <a:pPr>
              <a:spcBef>
                <a:spcPts val="1000"/>
              </a:spcBef>
            </a:pPr>
            <a:r>
              <a:rPr sz="1650">
                <a:solidFill>
                  <a:srgbClr val="1E293B"/>
                </a:solidFill>
              </a:rPr>
              <a:t>• 专</a:t>
            </a:r>
          </a:p>
          <a:p>
            <a:pPr>
              <a:spcBef>
                <a:spcPts val="1000"/>
              </a:spcBef>
            </a:pPr>
            <a:r>
              <a:rPr sz="1650">
                <a:solidFill>
                  <a:srgbClr val="1E293B"/>
                </a:solidFill>
              </a:rPr>
              <a:t>• 门</a:t>
            </a:r>
          </a:p>
          <a:p>
            <a:pPr>
              <a:spcBef>
                <a:spcPts val="1000"/>
              </a:spcBef>
            </a:pPr>
            <a:r>
              <a:rPr sz="1650">
                <a:solidFill>
                  <a:srgbClr val="1E293B"/>
                </a:solidFill>
              </a:rPr>
              <a:t>• 一</a:t>
            </a:r>
          </a:p>
          <a:p>
            <a:pPr>
              <a:spcBef>
                <a:spcPts val="1000"/>
              </a:spcBef>
            </a:pPr>
            <a:r>
              <a:rPr sz="1650">
                <a:solidFill>
                  <a:srgbClr val="1E293B"/>
                </a:solidFill>
              </a:rPr>
              <a:t>• 段</a:t>
            </a:r>
          </a:p>
          <a:p>
            <a:pPr>
              <a:spcBef>
                <a:spcPts val="1000"/>
              </a:spcBef>
            </a:pPr>
            <a:r>
              <a:rPr sz="1650">
                <a:solidFill>
                  <a:srgbClr val="1E293B"/>
                </a:solidFill>
              </a:rPr>
              <a:t>• 写</a:t>
            </a:r>
          </a:p>
          <a:p>
            <a:pPr>
              <a:spcBef>
                <a:spcPts val="1000"/>
              </a:spcBef>
            </a:pPr>
            <a:r>
              <a:rPr sz="1650">
                <a:solidFill>
                  <a:srgbClr val="1E293B"/>
                </a:solidFill>
              </a:rPr>
              <a:t>• 对</a:t>
            </a:r>
          </a:p>
          <a:p>
            <a:pPr>
              <a:spcBef>
                <a:spcPts val="1000"/>
              </a:spcBef>
            </a:pPr>
            <a:r>
              <a:rPr sz="1650">
                <a:solidFill>
                  <a:srgbClr val="1E293B"/>
                </a:solidFill>
              </a:rPr>
              <a:t>• 方</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如</a:t>
            </a:r>
          </a:p>
          <a:p>
            <a:pPr>
              <a:spcBef>
                <a:spcPts val="1000"/>
              </a:spcBef>
            </a:pPr>
            <a:r>
              <a:rPr sz="1650">
                <a:solidFill>
                  <a:srgbClr val="1E293B"/>
                </a:solidFill>
              </a:rPr>
              <a:t>• 需</a:t>
            </a:r>
          </a:p>
          <a:p>
            <a:pPr>
              <a:spcBef>
                <a:spcPts val="1000"/>
              </a:spcBef>
            </a:pPr>
            <a:r>
              <a:rPr sz="1650">
                <a:solidFill>
                  <a:srgbClr val="1E293B"/>
                </a:solidFill>
              </a:rPr>
              <a:t>• 提</a:t>
            </a:r>
          </a:p>
          <a:p>
            <a:pPr>
              <a:spcBef>
                <a:spcPts val="1000"/>
              </a:spcBef>
            </a:pPr>
            <a:r>
              <a:rPr sz="1650">
                <a:solidFill>
                  <a:srgbClr val="1E293B"/>
                </a:solidFill>
              </a:rPr>
              <a:t>• 及</a:t>
            </a:r>
          </a:p>
          <a:p>
            <a:pPr>
              <a:spcBef>
                <a:spcPts val="1000"/>
              </a:spcBef>
            </a:pPr>
            <a:r>
              <a:rPr sz="1650">
                <a:solidFill>
                  <a:srgbClr val="1E293B"/>
                </a:solidFill>
              </a:rPr>
              <a:t>• ，</a:t>
            </a:r>
          </a:p>
          <a:p>
            <a:pPr>
              <a:spcBef>
                <a:spcPts val="1000"/>
              </a:spcBef>
            </a:pPr>
            <a:r>
              <a:rPr sz="1650">
                <a:solidFill>
                  <a:srgbClr val="1E293B"/>
                </a:solidFill>
              </a:rPr>
              <a:t>• 用</a:t>
            </a:r>
          </a:p>
          <a:p>
            <a:pPr>
              <a:spcBef>
                <a:spcPts val="1000"/>
              </a:spcBef>
            </a:pPr>
            <a:r>
              <a:rPr sz="1650">
                <a:solidFill>
                  <a:srgbClr val="1E293B"/>
                </a:solidFill>
              </a:rPr>
              <a:t>• 让</a:t>
            </a:r>
          </a:p>
          <a:p>
            <a:pPr>
              <a:spcBef>
                <a:spcPts val="1000"/>
              </a:spcBef>
            </a:pPr>
            <a:r>
              <a:rPr sz="1650">
                <a:solidFill>
                  <a:srgbClr val="1E293B"/>
                </a:solidFill>
              </a:rPr>
              <a:t>• 步</a:t>
            </a:r>
          </a:p>
          <a:p>
            <a:pPr>
              <a:spcBef>
                <a:spcPts val="1000"/>
              </a:spcBef>
            </a:pPr>
            <a:r>
              <a:rPr sz="1650">
                <a:solidFill>
                  <a:srgbClr val="1E293B"/>
                </a:solidFill>
              </a:rPr>
              <a:t>• 句</a:t>
            </a:r>
          </a:p>
          <a:p>
            <a:pPr>
              <a:spcBef>
                <a:spcPts val="1000"/>
              </a:spcBef>
            </a:pPr>
            <a:r>
              <a:rPr sz="1650">
                <a:solidFill>
                  <a:srgbClr val="1E293B"/>
                </a:solidFill>
              </a:rPr>
              <a:t>• +</a:t>
            </a:r>
          </a:p>
          <a:p>
            <a:pPr>
              <a:spcBef>
                <a:spcPts val="1000"/>
              </a:spcBef>
            </a:pPr>
            <a:r>
              <a:rPr sz="1650">
                <a:solidFill>
                  <a:srgbClr val="1E293B"/>
                </a:solidFill>
              </a:rPr>
              <a:t>• 反</a:t>
            </a:r>
          </a:p>
          <a:p>
            <a:pPr>
              <a:spcBef>
                <a:spcPts val="1000"/>
              </a:spcBef>
            </a:pPr>
            <a:r>
              <a:rPr sz="1650">
                <a:solidFill>
                  <a:srgbClr val="1E293B"/>
                </a:solidFill>
              </a:rPr>
              <a:t>• 驳</a:t>
            </a:r>
          </a:p>
          <a:p>
            <a:pPr>
              <a:spcBef>
                <a:spcPts val="1000"/>
              </a:spcBef>
            </a:pPr>
            <a:r>
              <a:rPr sz="1650">
                <a:solidFill>
                  <a:srgbClr val="1E293B"/>
                </a:solidFill>
              </a:rPr>
              <a:t>• 即</a:t>
            </a:r>
          </a:p>
          <a:p>
            <a:pPr>
              <a:spcBef>
                <a:spcPts val="1000"/>
              </a:spcBef>
            </a:pPr>
            <a:r>
              <a:rPr sz="1650">
                <a:solidFill>
                  <a:srgbClr val="1E293B"/>
                </a:solidFill>
              </a:rPr>
              <a:t>• 可</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失</a:t>
            </a:r>
          </a:p>
          <a:p>
            <a:pPr>
              <a:spcBef>
                <a:spcPts val="1000"/>
              </a:spcBef>
            </a:pPr>
            <a:r>
              <a:rPr sz="1650">
                <a:solidFill>
                  <a:srgbClr val="1E293B"/>
                </a:solidFill>
              </a:rPr>
              <a:t>• 分</a:t>
            </a:r>
          </a:p>
          <a:p>
            <a:pPr>
              <a:spcBef>
                <a:spcPts val="1000"/>
              </a:spcBef>
            </a:pPr>
            <a:r>
              <a:rPr sz="1650">
                <a:solidFill>
                  <a:srgbClr val="1E293B"/>
                </a:solidFill>
              </a:rPr>
              <a:t>• 点</a:t>
            </a:r>
          </a:p>
          <a:p>
            <a:pPr>
              <a:spcBef>
                <a:spcPts val="1000"/>
              </a:spcBef>
            </a:pPr>
            <a:r>
              <a:rPr sz="1650">
                <a:solidFill>
                  <a:srgbClr val="1E293B"/>
                </a:solidFill>
              </a:rPr>
              <a:t>• 2</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两</a:t>
            </a:r>
          </a:p>
          <a:p>
            <a:pPr>
              <a:spcBef>
                <a:spcPts val="1000"/>
              </a:spcBef>
            </a:pPr>
            <a:r>
              <a:rPr sz="1650">
                <a:solidFill>
                  <a:srgbClr val="1E293B"/>
                </a:solidFill>
              </a:rPr>
              <a:t>• 段</a:t>
            </a:r>
          </a:p>
          <a:p>
            <a:pPr>
              <a:spcBef>
                <a:spcPts val="1000"/>
              </a:spcBef>
            </a:pPr>
            <a:r>
              <a:rPr sz="1650">
                <a:solidFill>
                  <a:srgbClr val="1E293B"/>
                </a:solidFill>
              </a:rPr>
              <a:t>• 论</a:t>
            </a:r>
          </a:p>
          <a:p>
            <a:pPr>
              <a:spcBef>
                <a:spcPts val="1000"/>
              </a:spcBef>
            </a:pPr>
            <a:r>
              <a:rPr sz="1650">
                <a:solidFill>
                  <a:srgbClr val="1E293B"/>
                </a:solidFill>
              </a:rPr>
              <a:t>• 点</a:t>
            </a:r>
          </a:p>
          <a:p>
            <a:pPr>
              <a:spcBef>
                <a:spcPts val="1000"/>
              </a:spcBef>
            </a:pPr>
            <a:r>
              <a:rPr sz="1650">
                <a:solidFill>
                  <a:srgbClr val="1E293B"/>
                </a:solidFill>
              </a:rPr>
              <a:t>• 都</a:t>
            </a:r>
          </a:p>
          <a:p>
            <a:pPr>
              <a:spcBef>
                <a:spcPts val="1000"/>
              </a:spcBef>
            </a:pPr>
            <a:r>
              <a:rPr sz="1650">
                <a:solidFill>
                  <a:srgbClr val="1E293B"/>
                </a:solidFill>
              </a:rPr>
              <a:t>• 差</a:t>
            </a:r>
          </a:p>
          <a:p>
            <a:pPr>
              <a:spcBef>
                <a:spcPts val="1000"/>
              </a:spcBef>
            </a:pPr>
            <a:r>
              <a:rPr sz="1650">
                <a:solidFill>
                  <a:srgbClr val="1E293B"/>
                </a:solidFill>
              </a:rPr>
              <a:t>• 不</a:t>
            </a:r>
          </a:p>
          <a:p>
            <a:pPr>
              <a:spcBef>
                <a:spcPts val="1000"/>
              </a:spcBef>
            </a:pPr>
            <a:r>
              <a:rPr sz="1650">
                <a:solidFill>
                  <a:srgbClr val="1E293B"/>
                </a:solidFill>
              </a:rPr>
              <a:t>• 多</a:t>
            </a:r>
          </a:p>
          <a:p>
            <a:pPr>
              <a:spcBef>
                <a:spcPts val="1000"/>
              </a:spcBef>
            </a:pPr>
            <a:r>
              <a:rPr sz="1650">
                <a:solidFill>
                  <a:srgbClr val="1E293B"/>
                </a:solidFill>
              </a:rPr>
              <a:t>• 强</a:t>
            </a:r>
          </a:p>
          <a:p>
            <a:pPr>
              <a:spcBef>
                <a:spcPts val="1000"/>
              </a:spcBef>
            </a:pPr>
            <a:r>
              <a:rPr sz="1650">
                <a:solidFill>
                  <a:srgbClr val="1E293B"/>
                </a:solidFill>
              </a:rPr>
              <a:t>• ，</a:t>
            </a:r>
          </a:p>
          <a:p>
            <a:pPr>
              <a:spcBef>
                <a:spcPts val="1000"/>
              </a:spcBef>
            </a:pPr>
            <a:r>
              <a:rPr sz="1650">
                <a:solidFill>
                  <a:srgbClr val="1E293B"/>
                </a:solidFill>
              </a:rPr>
              <a:t>• 看</a:t>
            </a:r>
          </a:p>
          <a:p>
            <a:pPr>
              <a:spcBef>
                <a:spcPts val="1000"/>
              </a:spcBef>
            </a:pPr>
            <a:r>
              <a:rPr sz="1650">
                <a:solidFill>
                  <a:srgbClr val="1E293B"/>
                </a:solidFill>
              </a:rPr>
              <a:t>• 不</a:t>
            </a:r>
          </a:p>
          <a:p>
            <a:pPr>
              <a:spcBef>
                <a:spcPts val="1000"/>
              </a:spcBef>
            </a:pPr>
            <a:r>
              <a:rPr sz="1650">
                <a:solidFill>
                  <a:srgbClr val="1E293B"/>
                </a:solidFill>
              </a:rPr>
              <a:t>• 出</a:t>
            </a:r>
          </a:p>
          <a:p>
            <a:pPr>
              <a:spcBef>
                <a:spcPts val="1000"/>
              </a:spcBef>
            </a:pPr>
            <a:r>
              <a:rPr sz="1650">
                <a:solidFill>
                  <a:srgbClr val="1E293B"/>
                </a:solidFill>
              </a:rPr>
              <a:t>• 我</a:t>
            </a:r>
          </a:p>
          <a:p>
            <a:pPr>
              <a:spcBef>
                <a:spcPts val="1000"/>
              </a:spcBef>
            </a:pPr>
            <a:r>
              <a:rPr sz="1650">
                <a:solidFill>
                  <a:srgbClr val="1E293B"/>
                </a:solidFill>
              </a:rPr>
              <a:t>• 偏</a:t>
            </a:r>
          </a:p>
          <a:p>
            <a:pPr>
              <a:spcBef>
                <a:spcPts val="1000"/>
              </a:spcBef>
            </a:pPr>
            <a:r>
              <a:rPr sz="1650">
                <a:solidFill>
                  <a:srgbClr val="1E293B"/>
                </a:solidFill>
              </a:rPr>
              <a:t>• 向</a:t>
            </a:r>
          </a:p>
          <a:p>
            <a:pPr>
              <a:spcBef>
                <a:spcPts val="1000"/>
              </a:spcBef>
            </a:pPr>
            <a:r>
              <a:rPr sz="1650">
                <a:solidFill>
                  <a:srgbClr val="1E293B"/>
                </a:solidFill>
              </a:rPr>
              <a:t>• 哪</a:t>
            </a:r>
          </a:p>
          <a:p>
            <a:pPr>
              <a:spcBef>
                <a:spcPts val="1000"/>
              </a:spcBef>
            </a:pPr>
            <a:r>
              <a:rPr sz="1650">
                <a:solidFill>
                  <a:srgbClr val="1E293B"/>
                </a:solidFill>
              </a:rPr>
              <a:t>• 方</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立</a:t>
            </a:r>
          </a:p>
          <a:p>
            <a:pPr>
              <a:spcBef>
                <a:spcPts val="1000"/>
              </a:spcBef>
            </a:pPr>
            <a:r>
              <a:rPr sz="1650">
                <a:solidFill>
                  <a:srgbClr val="1E293B"/>
                </a:solidFill>
              </a:rPr>
              <a:t>• 场</a:t>
            </a:r>
          </a:p>
          <a:p>
            <a:pPr>
              <a:spcBef>
                <a:spcPts val="1000"/>
              </a:spcBef>
            </a:pPr>
            <a:r>
              <a:rPr sz="1650">
                <a:solidFill>
                  <a:srgbClr val="1E293B"/>
                </a:solidFill>
              </a:rPr>
              <a:t>• 越</a:t>
            </a:r>
          </a:p>
          <a:p>
            <a:pPr>
              <a:spcBef>
                <a:spcPts val="1000"/>
              </a:spcBef>
            </a:pPr>
            <a:r>
              <a:rPr sz="1650">
                <a:solidFill>
                  <a:srgbClr val="1E293B"/>
                </a:solidFill>
              </a:rPr>
              <a:t>• 清</a:t>
            </a:r>
          </a:p>
          <a:p>
            <a:pPr>
              <a:spcBef>
                <a:spcPts val="1000"/>
              </a:spcBef>
            </a:pPr>
            <a:r>
              <a:rPr sz="1650">
                <a:solidFill>
                  <a:srgbClr val="1E293B"/>
                </a:solidFill>
              </a:rPr>
              <a:t>• 晰</a:t>
            </a:r>
          </a:p>
          <a:p>
            <a:pPr>
              <a:spcBef>
                <a:spcPts val="1000"/>
              </a:spcBef>
            </a:pPr>
            <a:r>
              <a:rPr sz="1650">
                <a:solidFill>
                  <a:srgbClr val="1E293B"/>
                </a:solidFill>
              </a:rPr>
              <a:t>• 越</a:t>
            </a:r>
          </a:p>
          <a:p>
            <a:pPr>
              <a:spcBef>
                <a:spcPts val="1000"/>
              </a:spcBef>
            </a:pPr>
            <a:r>
              <a:rPr sz="1650">
                <a:solidFill>
                  <a:srgbClr val="1E293B"/>
                </a:solidFill>
              </a:rPr>
              <a:t>• 好</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在</a:t>
            </a:r>
          </a:p>
          <a:p>
            <a:pPr>
              <a:spcBef>
                <a:spcPts val="1000"/>
              </a:spcBef>
            </a:pPr>
            <a:r>
              <a:rPr sz="1650">
                <a:solidFill>
                  <a:srgbClr val="1E293B"/>
                </a:solidFill>
              </a:rPr>
              <a:t>• 篇</a:t>
            </a:r>
          </a:p>
          <a:p>
            <a:pPr>
              <a:spcBef>
                <a:spcPts val="1000"/>
              </a:spcBef>
            </a:pPr>
            <a:r>
              <a:rPr sz="1650">
                <a:solidFill>
                  <a:srgbClr val="1E293B"/>
                </a:solidFill>
              </a:rPr>
              <a:t>• 幅</a:t>
            </a:r>
          </a:p>
          <a:p>
            <a:pPr>
              <a:spcBef>
                <a:spcPts val="1000"/>
              </a:spcBef>
            </a:pPr>
            <a:r>
              <a:rPr sz="1650">
                <a:solidFill>
                  <a:srgbClr val="1E293B"/>
                </a:solidFill>
              </a:rPr>
              <a:t>• 上</a:t>
            </a:r>
          </a:p>
          <a:p>
            <a:pPr>
              <a:spcBef>
                <a:spcPts val="1000"/>
              </a:spcBef>
            </a:pPr>
            <a:r>
              <a:rPr sz="1650">
                <a:solidFill>
                  <a:srgbClr val="1E293B"/>
                </a:solidFill>
              </a:rPr>
              <a:t>• 体</a:t>
            </a:r>
          </a:p>
          <a:p>
            <a:pPr>
              <a:spcBef>
                <a:spcPts val="1000"/>
              </a:spcBef>
            </a:pPr>
            <a:r>
              <a:rPr sz="1650">
                <a:solidFill>
                  <a:srgbClr val="1E293B"/>
                </a:solidFill>
              </a:rPr>
              <a:t>• 现</a:t>
            </a:r>
          </a:p>
          <a:p>
            <a:pPr>
              <a:spcBef>
                <a:spcPts val="1000"/>
              </a:spcBef>
            </a:pPr>
            <a:r>
              <a:rPr sz="1650">
                <a:solidFill>
                  <a:srgbClr val="1E293B"/>
                </a:solidFill>
              </a:rPr>
              <a:t>• ：</a:t>
            </a:r>
          </a:p>
          <a:p>
            <a:pPr>
              <a:spcBef>
                <a:spcPts val="1000"/>
              </a:spcBef>
            </a:pPr>
            <a:r>
              <a:rPr sz="1650">
                <a:solidFill>
                  <a:srgbClr val="1E293B"/>
                </a:solidFill>
              </a:rPr>
              <a:t>• 支</a:t>
            </a:r>
          </a:p>
          <a:p>
            <a:pPr>
              <a:spcBef>
                <a:spcPts val="1000"/>
              </a:spcBef>
            </a:pPr>
            <a:r>
              <a:rPr sz="1650">
                <a:solidFill>
                  <a:srgbClr val="1E293B"/>
                </a:solidFill>
              </a:rPr>
              <a:t>• 持</a:t>
            </a:r>
          </a:p>
          <a:p>
            <a:pPr>
              <a:spcBef>
                <a:spcPts val="1000"/>
              </a:spcBef>
            </a:pPr>
            <a:r>
              <a:rPr sz="1650">
                <a:solidFill>
                  <a:srgbClr val="1E293B"/>
                </a:solidFill>
              </a:rPr>
              <a:t>• 方</a:t>
            </a:r>
          </a:p>
          <a:p>
            <a:pPr>
              <a:spcBef>
                <a:spcPts val="1000"/>
              </a:spcBef>
            </a:pPr>
            <a:r>
              <a:rPr sz="1650">
                <a:solidFill>
                  <a:srgbClr val="1E293B"/>
                </a:solidFill>
              </a:rPr>
              <a:t>• 的</a:t>
            </a:r>
          </a:p>
          <a:p>
            <a:pPr>
              <a:spcBef>
                <a:spcPts val="1000"/>
              </a:spcBef>
            </a:pPr>
            <a:r>
              <a:rPr sz="1650">
                <a:solidFill>
                  <a:srgbClr val="1E293B"/>
                </a:solidFill>
              </a:rPr>
              <a:t>• 段</a:t>
            </a:r>
          </a:p>
          <a:p>
            <a:pPr>
              <a:spcBef>
                <a:spcPts val="1000"/>
              </a:spcBef>
            </a:pPr>
            <a:r>
              <a:rPr sz="1650">
                <a:solidFill>
                  <a:srgbClr val="1E293B"/>
                </a:solidFill>
              </a:rPr>
              <a:t>• 落</a:t>
            </a:r>
          </a:p>
          <a:p>
            <a:pPr>
              <a:spcBef>
                <a:spcPts val="1000"/>
              </a:spcBef>
            </a:pPr>
            <a:r>
              <a:rPr sz="1650">
                <a:solidFill>
                  <a:srgbClr val="1E293B"/>
                </a:solidFill>
              </a:rPr>
              <a:t>• 更</a:t>
            </a:r>
          </a:p>
          <a:p>
            <a:pPr>
              <a:spcBef>
                <a:spcPts val="1000"/>
              </a:spcBef>
            </a:pPr>
            <a:r>
              <a:rPr sz="1650">
                <a:solidFill>
                  <a:srgbClr val="1E293B"/>
                </a:solidFill>
              </a:rPr>
              <a:t>• 长</a:t>
            </a:r>
          </a:p>
          <a:p>
            <a:pPr>
              <a:spcBef>
                <a:spcPts val="1000"/>
              </a:spcBef>
            </a:pPr>
            <a:r>
              <a:rPr sz="1650">
                <a:solidFill>
                  <a:srgbClr val="1E293B"/>
                </a:solidFill>
              </a:rPr>
              <a:t>• 更</a:t>
            </a:r>
          </a:p>
          <a:p>
            <a:pPr>
              <a:spcBef>
                <a:spcPts val="1000"/>
              </a:spcBef>
            </a:pPr>
            <a:r>
              <a:rPr sz="1650">
                <a:solidFill>
                  <a:srgbClr val="1E293B"/>
                </a:solidFill>
              </a:rPr>
              <a:t>• 充</a:t>
            </a:r>
          </a:p>
          <a:p>
            <a:pPr>
              <a:spcBef>
                <a:spcPts val="1000"/>
              </a:spcBef>
            </a:pPr>
            <a:r>
              <a:rPr sz="1650">
                <a:solidFill>
                  <a:srgbClr val="1E293B"/>
                </a:solidFill>
              </a:rPr>
              <a:t>• 实</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失</a:t>
            </a:r>
          </a:p>
          <a:p>
            <a:pPr>
              <a:spcBef>
                <a:spcPts val="1000"/>
              </a:spcBef>
            </a:pPr>
            <a:r>
              <a:rPr sz="1650">
                <a:solidFill>
                  <a:srgbClr val="1E293B"/>
                </a:solidFill>
              </a:rPr>
              <a:t>• 分</a:t>
            </a:r>
          </a:p>
          <a:p>
            <a:pPr>
              <a:spcBef>
                <a:spcPts val="1000"/>
              </a:spcBef>
            </a:pPr>
            <a:r>
              <a:rPr sz="1650">
                <a:solidFill>
                  <a:srgbClr val="1E293B"/>
                </a:solidFill>
              </a:rPr>
              <a:t>• 点</a:t>
            </a:r>
          </a:p>
          <a:p>
            <a:pPr>
              <a:spcBef>
                <a:spcPts val="1000"/>
              </a:spcBef>
            </a:pPr>
            <a:r>
              <a:rPr sz="1650">
                <a:solidFill>
                  <a:srgbClr val="1E293B"/>
                </a:solidFill>
              </a:rPr>
              <a:t>• 3</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引</a:t>
            </a:r>
          </a:p>
          <a:p>
            <a:pPr>
              <a:spcBef>
                <a:spcPts val="1000"/>
              </a:spcBef>
            </a:pPr>
            <a:r>
              <a:rPr sz="1650">
                <a:solidFill>
                  <a:srgbClr val="1E293B"/>
                </a:solidFill>
              </a:rPr>
              <a:t>• 言</a:t>
            </a:r>
          </a:p>
          <a:p>
            <a:pPr>
              <a:spcBef>
                <a:spcPts val="1000"/>
              </a:spcBef>
            </a:pPr>
            <a:r>
              <a:rPr sz="1650">
                <a:solidFill>
                  <a:srgbClr val="1E293B"/>
                </a:solidFill>
              </a:rPr>
              <a:t>• 有</a:t>
            </a:r>
          </a:p>
          <a:p>
            <a:pPr>
              <a:spcBef>
                <a:spcPts val="1000"/>
              </a:spcBef>
            </a:pPr>
            <a:r>
              <a:rPr sz="1650">
                <a:solidFill>
                  <a:srgbClr val="1E293B"/>
                </a:solidFill>
              </a:rPr>
              <a:t>• 立</a:t>
            </a:r>
          </a:p>
          <a:p>
            <a:pPr>
              <a:spcBef>
                <a:spcPts val="1000"/>
              </a:spcBef>
            </a:pPr>
            <a:r>
              <a:rPr sz="1650">
                <a:solidFill>
                  <a:srgbClr val="1E293B"/>
                </a:solidFill>
              </a:rPr>
              <a:t>• 场</a:t>
            </a:r>
          </a:p>
          <a:p>
            <a:pPr>
              <a:spcBef>
                <a:spcPts val="1000"/>
              </a:spcBef>
            </a:pPr>
            <a:r>
              <a:rPr sz="1650">
                <a:solidFill>
                  <a:srgbClr val="1E293B"/>
                </a:solidFill>
              </a:rPr>
              <a:t>• ，</a:t>
            </a:r>
          </a:p>
          <a:p>
            <a:pPr>
              <a:spcBef>
                <a:spcPts val="1000"/>
              </a:spcBef>
            </a:pPr>
            <a:r>
              <a:rPr sz="1650">
                <a:solidFill>
                  <a:srgbClr val="1E293B"/>
                </a:solidFill>
              </a:rPr>
              <a:t>• 结</a:t>
            </a:r>
          </a:p>
          <a:p>
            <a:pPr>
              <a:spcBef>
                <a:spcPts val="1000"/>
              </a:spcBef>
            </a:pPr>
            <a:r>
              <a:rPr sz="1650">
                <a:solidFill>
                  <a:srgbClr val="1E293B"/>
                </a:solidFill>
              </a:rPr>
              <a:t>• 论</a:t>
            </a:r>
          </a:p>
          <a:p>
            <a:pPr>
              <a:spcBef>
                <a:spcPts val="1000"/>
              </a:spcBef>
            </a:pPr>
            <a:r>
              <a:rPr sz="1650">
                <a:solidFill>
                  <a:srgbClr val="1E293B"/>
                </a:solidFill>
              </a:rPr>
              <a:t>• 没</a:t>
            </a:r>
          </a:p>
          <a:p>
            <a:pPr>
              <a:spcBef>
                <a:spcPts val="1000"/>
              </a:spcBef>
            </a:pPr>
            <a:r>
              <a:rPr sz="1650">
                <a:solidFill>
                  <a:srgbClr val="1E293B"/>
                </a:solidFill>
              </a:rPr>
              <a:t>• 有</a:t>
            </a:r>
          </a:p>
          <a:p>
            <a:pPr>
              <a:spcBef>
                <a:spcPts val="1000"/>
              </a:spcBef>
            </a:pPr>
            <a:r>
              <a:rPr sz="1650">
                <a:solidFill>
                  <a:srgbClr val="1E293B"/>
                </a:solidFill>
              </a:rPr>
              <a:t>• 重</a:t>
            </a:r>
          </a:p>
          <a:p>
            <a:pPr>
              <a:spcBef>
                <a:spcPts val="1000"/>
              </a:spcBef>
            </a:pPr>
            <a:r>
              <a:rPr sz="1650">
                <a:solidFill>
                  <a:srgbClr val="1E293B"/>
                </a:solidFill>
              </a:rPr>
              <a:t>• 申</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结</a:t>
            </a:r>
          </a:p>
          <a:p>
            <a:pPr>
              <a:spcBef>
                <a:spcPts val="1000"/>
              </a:spcBef>
            </a:pPr>
            <a:r>
              <a:rPr sz="1650">
                <a:solidFill>
                  <a:srgbClr val="1E293B"/>
                </a:solidFill>
              </a:rPr>
              <a:t>• 论</a:t>
            </a:r>
          </a:p>
          <a:p>
            <a:pPr>
              <a:spcBef>
                <a:spcPts val="1000"/>
              </a:spcBef>
            </a:pPr>
            <a:r>
              <a:rPr sz="1650">
                <a:solidFill>
                  <a:srgbClr val="1E293B"/>
                </a:solidFill>
              </a:rPr>
              <a:t>• 段</a:t>
            </a:r>
          </a:p>
          <a:p>
            <a:pPr>
              <a:spcBef>
                <a:spcPts val="1000"/>
              </a:spcBef>
            </a:pPr>
            <a:r>
              <a:rPr sz="1650">
                <a:solidFill>
                  <a:srgbClr val="1E293B"/>
                </a:solidFill>
              </a:rPr>
              <a:t>• 必</a:t>
            </a:r>
          </a:p>
          <a:p>
            <a:pPr>
              <a:spcBef>
                <a:spcPts val="1000"/>
              </a:spcBef>
            </a:pPr>
            <a:r>
              <a:rPr sz="1650">
                <a:solidFill>
                  <a:srgbClr val="1E293B"/>
                </a:solidFill>
              </a:rPr>
              <a:t>• 须</a:t>
            </a:r>
          </a:p>
          <a:p>
            <a:pPr>
              <a:spcBef>
                <a:spcPts val="1000"/>
              </a:spcBef>
            </a:pPr>
            <a:r>
              <a:rPr sz="1650">
                <a:solidFill>
                  <a:srgbClr val="1E293B"/>
                </a:solidFill>
              </a:rPr>
              <a:t>• 出</a:t>
            </a:r>
          </a:p>
          <a:p>
            <a:pPr>
              <a:spcBef>
                <a:spcPts val="1000"/>
              </a:spcBef>
            </a:pPr>
            <a:r>
              <a:rPr sz="1650">
                <a:solidFill>
                  <a:srgbClr val="1E293B"/>
                </a:solidFill>
              </a:rPr>
              <a:t>• 现</a:t>
            </a:r>
          </a:p>
          <a:p>
            <a:pPr>
              <a:spcBef>
                <a:spcPts val="1000"/>
              </a:spcBef>
            </a:pPr>
            <a:r>
              <a:rPr sz="1650">
                <a:solidFill>
                  <a:srgbClr val="1E293B"/>
                </a:solidFill>
              </a:rPr>
              <a:t>• ：</a:t>
            </a:r>
          </a:p>
          <a:p>
            <a:pPr>
              <a:spcBef>
                <a:spcPts val="1000"/>
              </a:spcBef>
            </a:pPr>
            <a:r>
              <a:rPr sz="1650">
                <a:solidFill>
                  <a:srgbClr val="1E293B"/>
                </a:solidFill>
              </a:rPr>
              <a:t>• I</a:t>
            </a:r>
          </a:p>
          <a:p>
            <a:pPr>
              <a:spcBef>
                <a:spcPts val="1000"/>
              </a:spcBef>
            </a:pPr>
            <a:r>
              <a:rPr sz="1650">
                <a:solidFill>
                  <a:srgbClr val="1E293B"/>
                </a:solidFill>
              </a:rPr>
              <a:t>•  </a:t>
            </a:r>
          </a:p>
          <a:p>
            <a:pPr>
              <a:spcBef>
                <a:spcPts val="1000"/>
              </a:spcBef>
            </a:pPr>
            <a:r>
              <a:rPr sz="1650">
                <a:solidFill>
                  <a:srgbClr val="1E293B"/>
                </a:solidFill>
              </a:rPr>
              <a:t>• m</a:t>
            </a:r>
          </a:p>
          <a:p>
            <a:pPr>
              <a:spcBef>
                <a:spcPts val="1000"/>
              </a:spcBef>
            </a:pPr>
            <a:r>
              <a:rPr sz="1650">
                <a:solidFill>
                  <a:srgbClr val="1E293B"/>
                </a:solidFill>
              </a:rPr>
              <a:t>• a</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t</a:t>
            </a:r>
          </a:p>
          <a:p>
            <a:pPr>
              <a:spcBef>
                <a:spcPts val="1000"/>
              </a:spcBef>
            </a:pPr>
            <a:r>
              <a:rPr sz="1650">
                <a:solidFill>
                  <a:srgbClr val="1E293B"/>
                </a:solidFill>
              </a:rPr>
              <a:t>• a</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r</a:t>
            </a:r>
          </a:p>
          <a:p>
            <a:pPr>
              <a:spcBef>
                <a:spcPts val="1000"/>
              </a:spcBef>
            </a:pPr>
            <a:r>
              <a:rPr sz="1650">
                <a:solidFill>
                  <a:srgbClr val="1E293B"/>
                </a:solidFill>
              </a:rPr>
              <a:t>• e</a:t>
            </a:r>
          </a:p>
          <a:p>
            <a:pPr>
              <a:spcBef>
                <a:spcPts val="1000"/>
              </a:spcBef>
            </a:pPr>
            <a:r>
              <a:rPr sz="1650">
                <a:solidFill>
                  <a:srgbClr val="1E293B"/>
                </a:solidFill>
              </a:rPr>
              <a:t>• m</a:t>
            </a:r>
          </a:p>
          <a:p>
            <a:pPr>
              <a:spcBef>
                <a:spcPts val="1000"/>
              </a:spcBef>
            </a:pPr>
            <a:r>
              <a:rPr sz="1650">
                <a:solidFill>
                  <a:srgbClr val="1E293B"/>
                </a:solidFill>
              </a:rPr>
              <a:t>• a</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c</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v</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c</a:t>
            </a:r>
          </a:p>
          <a:p>
            <a:pPr>
              <a:spcBef>
                <a:spcPts val="1000"/>
              </a:spcBef>
            </a:pPr>
            <a:r>
              <a:rPr sz="1650">
                <a:solidFill>
                  <a:srgbClr val="1E293B"/>
                </a:solidFill>
              </a:rPr>
              <a:t>• e</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f</a:t>
            </a:r>
          </a:p>
          <a:p>
            <a:pPr>
              <a:spcBef>
                <a:spcPts val="1000"/>
              </a:spcBef>
            </a:pPr>
            <a:r>
              <a:rPr sz="1650">
                <a:solidFill>
                  <a:srgbClr val="1E293B"/>
                </a:solidFill>
              </a:rPr>
              <a:t>• i</a:t>
            </a:r>
          </a:p>
          <a:p>
            <a:pPr>
              <a:spcBef>
                <a:spcPts val="1000"/>
              </a:spcBef>
            </a:pPr>
            <a:r>
              <a:rPr sz="1650">
                <a:solidFill>
                  <a:srgbClr val="1E293B"/>
                </a:solidFill>
              </a:rPr>
              <a:t>• r</a:t>
            </a:r>
          </a:p>
          <a:p>
            <a:pPr>
              <a:spcBef>
                <a:spcPts val="1000"/>
              </a:spcBef>
            </a:pPr>
            <a:r>
              <a:rPr sz="1650">
                <a:solidFill>
                  <a:srgbClr val="1E293B"/>
                </a:solidFill>
              </a:rPr>
              <a:t>• m</a:t>
            </a:r>
          </a:p>
          <a:p>
            <a:pPr>
              <a:spcBef>
                <a:spcPts val="1000"/>
              </a:spcBef>
            </a:pPr>
            <a:r>
              <a:rPr sz="1650">
                <a:solidFill>
                  <a:srgbClr val="1E293B"/>
                </a:solidFill>
              </a:rPr>
              <a:t>• l</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b</a:t>
            </a:r>
          </a:p>
          <a:p>
            <a:pPr>
              <a:spcBef>
                <a:spcPts val="1000"/>
              </a:spcBef>
            </a:pPr>
            <a:r>
              <a:rPr sz="1650">
                <a:solidFill>
                  <a:srgbClr val="1E293B"/>
                </a:solidFill>
              </a:rPr>
              <a:t>• e</a:t>
            </a:r>
          </a:p>
          <a:p>
            <a:pPr>
              <a:spcBef>
                <a:spcPts val="1000"/>
              </a:spcBef>
            </a:pPr>
            <a:r>
              <a:rPr sz="1650">
                <a:solidFill>
                  <a:srgbClr val="1E293B"/>
                </a:solidFill>
              </a:rPr>
              <a:t>• l</a:t>
            </a:r>
          </a:p>
          <a:p>
            <a:pPr>
              <a:spcBef>
                <a:spcPts val="1000"/>
              </a:spcBef>
            </a:pPr>
            <a:r>
              <a:rPr sz="1650">
                <a:solidFill>
                  <a:srgbClr val="1E293B"/>
                </a:solidFill>
              </a:rPr>
              <a:t>• i</a:t>
            </a:r>
          </a:p>
          <a:p>
            <a:pPr>
              <a:spcBef>
                <a:spcPts val="1000"/>
              </a:spcBef>
            </a:pPr>
            <a:r>
              <a:rPr sz="1650">
                <a:solidFill>
                  <a:srgbClr val="1E293B"/>
                </a:solidFill>
              </a:rPr>
              <a:t>• e</a:t>
            </a:r>
          </a:p>
          <a:p>
            <a:pPr>
              <a:spcBef>
                <a:spcPts val="1000"/>
              </a:spcBef>
            </a:pPr>
            <a:r>
              <a:rPr sz="1650">
                <a:solidFill>
                  <a:srgbClr val="1E293B"/>
                </a:solidFill>
              </a:rPr>
              <a:t>• v</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失</a:t>
            </a:r>
          </a:p>
          <a:p>
            <a:pPr>
              <a:spcBef>
                <a:spcPts val="1000"/>
              </a:spcBef>
            </a:pPr>
            <a:r>
              <a:rPr sz="1650">
                <a:solidFill>
                  <a:srgbClr val="1E293B"/>
                </a:solidFill>
              </a:rPr>
              <a:t>• 分</a:t>
            </a:r>
          </a:p>
          <a:p>
            <a:pPr>
              <a:spcBef>
                <a:spcPts val="1000"/>
              </a:spcBef>
            </a:pPr>
            <a:r>
              <a:rPr sz="1650">
                <a:solidFill>
                  <a:srgbClr val="1E293B"/>
                </a:solidFill>
              </a:rPr>
              <a:t>• 点</a:t>
            </a:r>
          </a:p>
          <a:p>
            <a:pPr>
              <a:spcBef>
                <a:spcPts val="1000"/>
              </a:spcBef>
            </a:pPr>
            <a:r>
              <a:rPr sz="1650">
                <a:solidFill>
                  <a:srgbClr val="1E293B"/>
                </a:solidFill>
              </a:rPr>
              <a:t>• 4</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论</a:t>
            </a:r>
          </a:p>
          <a:p>
            <a:pPr>
              <a:spcBef>
                <a:spcPts val="1000"/>
              </a:spcBef>
            </a:pPr>
            <a:r>
              <a:rPr sz="1650">
                <a:solidFill>
                  <a:srgbClr val="1E293B"/>
                </a:solidFill>
              </a:rPr>
              <a:t>• 证</a:t>
            </a:r>
          </a:p>
          <a:p>
            <a:pPr>
              <a:spcBef>
                <a:spcPts val="1000"/>
              </a:spcBef>
            </a:pPr>
            <a:r>
              <a:rPr sz="1650">
                <a:solidFill>
                  <a:srgbClr val="1E293B"/>
                </a:solidFill>
              </a:rPr>
              <a:t>• 只</a:t>
            </a:r>
          </a:p>
          <a:p>
            <a:pPr>
              <a:spcBef>
                <a:spcPts val="1000"/>
              </a:spcBef>
            </a:pPr>
            <a:r>
              <a:rPr sz="1650">
                <a:solidFill>
                  <a:srgbClr val="1E293B"/>
                </a:solidFill>
              </a:rPr>
              <a:t>• 说</a:t>
            </a:r>
          </a:p>
          <a:p>
            <a:pPr>
              <a:spcBef>
                <a:spcPts val="1000"/>
              </a:spcBef>
            </a:pPr>
            <a:r>
              <a:rPr sz="1650">
                <a:solidFill>
                  <a:srgbClr val="1E293B"/>
                </a:solidFill>
              </a:rPr>
              <a:t>• 了</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T</a:t>
            </a:r>
          </a:p>
          <a:p>
            <a:pPr>
              <a:spcBef>
                <a:spcPts val="1000"/>
              </a:spcBef>
            </a:pPr>
            <a:r>
              <a:rPr sz="1650">
                <a:solidFill>
                  <a:srgbClr val="1E293B"/>
                </a:solidFill>
              </a:rPr>
              <a:t>• ，</a:t>
            </a:r>
          </a:p>
          <a:p>
            <a:pPr>
              <a:spcBef>
                <a:spcPts val="1000"/>
              </a:spcBef>
            </a:pPr>
            <a:r>
              <a:rPr sz="1650">
                <a:solidFill>
                  <a:srgbClr val="1E293B"/>
                </a:solidFill>
              </a:rPr>
              <a:t>• 没</a:t>
            </a:r>
          </a:p>
          <a:p>
            <a:pPr>
              <a:spcBef>
                <a:spcPts val="1000"/>
              </a:spcBef>
            </a:pPr>
            <a:r>
              <a:rPr sz="1650">
                <a:solidFill>
                  <a:srgbClr val="1E293B"/>
                </a:solidFill>
              </a:rPr>
              <a:t>• 说</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每</a:t>
            </a:r>
          </a:p>
          <a:p>
            <a:pPr>
              <a:spcBef>
                <a:spcPts val="1000"/>
              </a:spcBef>
            </a:pPr>
            <a:r>
              <a:rPr sz="1650">
                <a:solidFill>
                  <a:srgbClr val="1E293B"/>
                </a:solidFill>
              </a:rPr>
              <a:t>• 个</a:t>
            </a:r>
          </a:p>
          <a:p>
            <a:pPr>
              <a:spcBef>
                <a:spcPts val="1000"/>
              </a:spcBef>
            </a:pPr>
            <a:r>
              <a:rPr sz="1650">
                <a:solidFill>
                  <a:srgbClr val="1E293B"/>
                </a:solidFill>
              </a:rPr>
              <a:t>• 论</a:t>
            </a:r>
          </a:p>
          <a:p>
            <a:pPr>
              <a:spcBef>
                <a:spcPts val="1000"/>
              </a:spcBef>
            </a:pPr>
            <a:r>
              <a:rPr sz="1650">
                <a:solidFill>
                  <a:srgbClr val="1E293B"/>
                </a:solidFill>
              </a:rPr>
              <a:t>• 点</a:t>
            </a:r>
          </a:p>
          <a:p>
            <a:pPr>
              <a:spcBef>
                <a:spcPts val="1000"/>
              </a:spcBef>
            </a:pPr>
            <a:r>
              <a:rPr sz="1650">
                <a:solidFill>
                  <a:srgbClr val="1E293B"/>
                </a:solidFill>
              </a:rPr>
              <a:t>• 必</a:t>
            </a:r>
          </a:p>
          <a:p>
            <a:pPr>
              <a:spcBef>
                <a:spcPts val="1000"/>
              </a:spcBef>
            </a:pPr>
            <a:r>
              <a:rPr sz="1650">
                <a:solidFill>
                  <a:srgbClr val="1E293B"/>
                </a:solidFill>
              </a:rPr>
              <a:t>• 须</a:t>
            </a:r>
          </a:p>
          <a:p>
            <a:pPr>
              <a:spcBef>
                <a:spcPts val="1000"/>
              </a:spcBef>
            </a:pPr>
            <a:r>
              <a:rPr sz="1650">
                <a:solidFill>
                  <a:srgbClr val="1E293B"/>
                </a:solidFill>
              </a:rPr>
              <a:t>• 解</a:t>
            </a:r>
          </a:p>
          <a:p>
            <a:pPr>
              <a:spcBef>
                <a:spcPts val="1000"/>
              </a:spcBef>
            </a:pPr>
            <a:r>
              <a:rPr sz="1650">
                <a:solidFill>
                  <a:srgbClr val="1E293B"/>
                </a:solidFill>
              </a:rPr>
              <a:t>• 释</a:t>
            </a:r>
          </a:p>
          <a:p>
            <a:pPr>
              <a:spcBef>
                <a:spcPts val="1000"/>
              </a:spcBef>
            </a:pPr>
            <a:r>
              <a:rPr sz="1650">
                <a:solidFill>
                  <a:srgbClr val="1E293B"/>
                </a:solidFill>
              </a:rPr>
              <a:t>• 为</a:t>
            </a:r>
          </a:p>
          <a:p>
            <a:pPr>
              <a:spcBef>
                <a:spcPts val="1000"/>
              </a:spcBef>
            </a:pPr>
            <a:r>
              <a:rPr sz="1650">
                <a:solidFill>
                  <a:srgbClr val="1E293B"/>
                </a:solidFill>
              </a:rPr>
              <a:t>• 什</a:t>
            </a:r>
          </a:p>
          <a:p>
            <a:pPr>
              <a:spcBef>
                <a:spcPts val="1000"/>
              </a:spcBef>
            </a:pPr>
            <a:r>
              <a:rPr sz="1650">
                <a:solidFill>
                  <a:srgbClr val="1E293B"/>
                </a:solidFill>
              </a:rPr>
              <a:t>• 么</a:t>
            </a:r>
          </a:p>
          <a:p>
            <a:pPr>
              <a:spcBef>
                <a:spcPts val="1000"/>
              </a:spcBef>
            </a:pPr>
            <a:r>
              <a:rPr sz="1650">
                <a:solidFill>
                  <a:srgbClr val="1E293B"/>
                </a:solidFill>
              </a:rPr>
              <a:t>• ，</a:t>
            </a:r>
          </a:p>
          <a:p>
            <a:pPr>
              <a:spcBef>
                <a:spcPts val="1000"/>
              </a:spcBef>
            </a:pPr>
            <a:r>
              <a:rPr sz="1650">
                <a:solidFill>
                  <a:srgbClr val="1E293B"/>
                </a:solidFill>
              </a:rPr>
              <a:t>• 再</a:t>
            </a:r>
          </a:p>
          <a:p>
            <a:pPr>
              <a:spcBef>
                <a:spcPts val="1000"/>
              </a:spcBef>
            </a:pPr>
            <a:r>
              <a:rPr sz="1650">
                <a:solidFill>
                  <a:srgbClr val="1E293B"/>
                </a:solidFill>
              </a:rPr>
              <a:t>• 给</a:t>
            </a:r>
          </a:p>
          <a:p>
            <a:pPr>
              <a:spcBef>
                <a:spcPts val="1000"/>
              </a:spcBef>
            </a:pPr>
            <a:r>
              <a:rPr sz="1650">
                <a:solidFill>
                  <a:srgbClr val="1E293B"/>
                </a:solidFill>
              </a:rPr>
              <a:t>• 例</a:t>
            </a:r>
          </a:p>
          <a:p>
            <a:pPr>
              <a:spcBef>
                <a:spcPts val="1000"/>
              </a:spcBef>
            </a:pPr>
            <a:r>
              <a:rPr sz="1650">
                <a:solidFill>
                  <a:srgbClr val="1E293B"/>
                </a:solidFill>
              </a:rPr>
              <a:t>• 子</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 vs 同意文决策树</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题目：Technology is making people less social.
情境A：题目是"Discuss both views and give your own opinion."
→ 讨论文：主体段1（技术削弱社交方）+ 主体段2（技术增强社交方）+ 自己偏向
情境B：题目是"To what extent do you agree or disagree?"
→ 同意文：主体段1（我为什么largely disagree — 技术增强社交）+ 主体段2（让步-反驳）
→ 侧重论证自己的立场，不需要平等讨论两方</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关键差异：A题要"平衡两方各一段"；B题要"侧重自己立场，两段都论证自己观点"</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记住：题目里"discuss both views"= 必须平等讨论；没有这句话= 侧重自己立场</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完整同意文段落联系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题目："The government should make voting compulsory. To what extent do you agree?"
立场：largely agree（基本同意）
写主体段1（主要论证）：
→ 主题句：Compulsory voting is justified because it ensures governments truly represent the will of the entire population.
→ 补充说明（why）：When voting is voluntary, low turnout disproportionately empowers engaged minorities, distorting democratic outcomes.
→ 例子：Countries like Australia, where compulsory voting has been enforced since 1924, consistently achieve turnout rates above 90%.
字数目标：90-110词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强论证三部分：TS说观点→说为什么（机制）→说证据（例子/数据）</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讨论文Band 7引言示范分析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题目：题目："In many countries, the traditional extended family is becoming less common, and the nuclear family is more prevalent. Is this a positive or negative development?"</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高分引言：
"Across much of the world, multi-generational households that once formed the backbone of family life are giving way to smaller nuclear units comprising only parents and their children. While some view this transition as an erosion of cultural values and communal support, others consider it a natural consequence of modernisation that offers greater individual freedom. I believe this shift is broadly negative, as it diminishes the social bonds and intergenerational wisdom-sharing that have historically underpinned stable communities."
（90词）
四维分析：
TA：清晰立场（broadly negative），预告理由
CC：过渡自然（While...others...I believe），结构清晰
LR：backbone/erosion/communal/underpinned（B7+词汇）
GRA：让步从句（While）+定语从句（that have historically）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backbone of family life：比foundation更生动的比喻词</a:t>
            </a:r>
          </a:p>
          <a:p>
            <a:pPr>
              <a:spcBef>
                <a:spcPts val="700"/>
              </a:spcBef>
            </a:pPr>
            <a:r>
              <a:rPr sz="1200">
                <a:solidFill>
                  <a:srgbClr val="1E293B"/>
                </a:solidFill>
              </a:rPr>
              <a:t>▸ broadly negative：比strongly更细腻——承认有例外</a:t>
            </a:r>
          </a:p>
          <a:p>
            <a:pPr>
              <a:spcBef>
                <a:spcPts val="700"/>
              </a:spcBef>
            </a:pPr>
            <a:r>
              <a:rPr sz="1200">
                <a:solidFill>
                  <a:srgbClr val="1E293B"/>
                </a:solidFill>
              </a:rPr>
              <a:t>▸ intergenerational wisdom-sharing：合成词组展示词汇创造力</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同意文Band 7主体段分析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题目：题目："Young people who commit crimes should be treated in the same way as adults. To what extent do you agree?"
立场：firmly disagree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主体段2（第二论点，让步-反驳）：
"Admittedly, serious crimes committed by young offenders, such as violent assault, demand consequences proportionate to their severity. However, the purpose of any justice system should be rehabilitation rather than punishment, and this principle applies with even greater force to adolescents, whose neural development—particularly in the prefrontal cortex responsible for impulse control—remains incomplete until the mid-twenties. Research in neuroscience consistently demonstrates that young people are inherently more susceptible to peer influence and less capable of fully anticipating consequences. Treating them as adults therefore ignores a fundamental biological reality."
（97词）</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让步句（Admittedly）承认对方有道理——显示立场成熟</a:t>
            </a:r>
          </a:p>
          <a:p>
            <a:pPr>
              <a:spcBef>
                <a:spcPts val="700"/>
              </a:spcBef>
            </a:pPr>
            <a:r>
              <a:rPr sz="1200">
                <a:solidFill>
                  <a:srgbClr val="1E293B"/>
                </a:solidFill>
              </a:rPr>
              <a:t>▸ 引入科学概念（prefrontal cortex）提升论证可信度</a:t>
            </a:r>
          </a:p>
          <a:p>
            <a:pPr>
              <a:spcBef>
                <a:spcPts val="700"/>
              </a:spcBef>
            </a:pPr>
            <a:r>
              <a:rPr sz="1200">
                <a:solidFill>
                  <a:srgbClr val="1E293B"/>
                </a:solidFill>
              </a:rPr>
              <a:t>▸ therefore connects evidence to conclusion——清晰因果逻辑链</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 vs 同意/不同意文 关键差异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讨论文（Discuss both views）</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同意/不同意文（Agree/Disagree）</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主体段1：第一方观点（公平呈现）</a:t>
            </a:r>
          </a:p>
          <a:p>
            <a:pPr>
              <a:spcBef>
                <a:spcPts val="700"/>
              </a:spcBef>
            </a:pPr>
            <a:r>
              <a:rPr sz="1350">
                <a:solidFill>
                  <a:srgbClr val="C02A2A"/>
                </a:solidFill>
              </a:rPr>
              <a:t>✗ 主体段2：第二方观点（你支持的一方）</a:t>
            </a:r>
          </a:p>
          <a:p>
            <a:pPr>
              <a:spcBef>
                <a:spcPts val="700"/>
              </a:spcBef>
            </a:pPr>
            <a:r>
              <a:rPr sz="1350">
                <a:solidFill>
                  <a:srgbClr val="C02A2A"/>
                </a:solidFill>
              </a:rPr>
              <a:t>✗ 立场：引言+结论表明，但两方都要给充分论证</a:t>
            </a:r>
          </a:p>
          <a:p>
            <a:pPr>
              <a:spcBef>
                <a:spcPts val="700"/>
              </a:spcBef>
            </a:pPr>
            <a:r>
              <a:rPr sz="1350">
                <a:solidFill>
                  <a:srgbClr val="C02A2A"/>
                </a:solidFill>
              </a:rPr>
              <a:t>✗ 常见错误：只写一方/没有表达立场</a:t>
            </a:r>
          </a:p>
          <a:p>
            <a:pPr>
              <a:spcBef>
                <a:spcPts val="700"/>
              </a:spcBef>
            </a:pPr>
            <a:r>
              <a:rPr sz="1350">
                <a:solidFill>
                  <a:srgbClr val="C02A2A"/>
                </a:solidFill>
              </a:rPr>
              <a:t>✗ 结构：两段主体，各讲一方</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主体段1：支持自己立场的第一个理由</a:t>
            </a:r>
          </a:p>
          <a:p>
            <a:pPr>
              <a:spcBef>
                <a:spcPts val="700"/>
              </a:spcBef>
            </a:pPr>
            <a:r>
              <a:rPr sz="1350">
                <a:solidFill>
                  <a:srgbClr val="1B7A3D"/>
                </a:solidFill>
              </a:rPr>
              <a:t>✓ 主体段2：支持自己立场的第二个理由（或让步反驳）</a:t>
            </a:r>
          </a:p>
          <a:p>
            <a:pPr>
              <a:spcBef>
                <a:spcPts val="700"/>
              </a:spcBef>
            </a:pPr>
            <a:r>
              <a:rPr sz="1350">
                <a:solidFill>
                  <a:srgbClr val="1B7A3D"/>
                </a:solidFill>
              </a:rPr>
              <a:t>✓ 立场：全程侧重自己的立场，不需要平等展示对方</a:t>
            </a:r>
          </a:p>
          <a:p>
            <a:pPr>
              <a:spcBef>
                <a:spcPts val="700"/>
              </a:spcBef>
            </a:pPr>
            <a:r>
              <a:rPr sz="1350">
                <a:solidFill>
                  <a:srgbClr val="1B7A3D"/>
                </a:solidFill>
              </a:rPr>
              <a:t>✓ 常见错误：写成讨论文，平衡两方</a:t>
            </a:r>
          </a:p>
          <a:p>
            <a:pPr>
              <a:spcBef>
                <a:spcPts val="700"/>
              </a:spcBef>
            </a:pPr>
            <a:r>
              <a:rPr sz="1350">
                <a:solidFill>
                  <a:srgbClr val="1B7A3D"/>
                </a:solidFill>
              </a:rPr>
              <a:t>✓ 结构：两段主体，都服务于自己的立场</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论证质量：Band 5-6 vs Band 7+</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Band 5-6 论证</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Band 7+ 论证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观点→例子（缺少解释）</a:t>
            </a:r>
          </a:p>
          <a:p>
            <a:pPr>
              <a:spcBef>
                <a:spcPts val="700"/>
              </a:spcBef>
            </a:pPr>
            <a:r>
              <a:rPr sz="1350">
                <a:solidFill>
                  <a:srgbClr val="C02A2A"/>
                </a:solidFill>
              </a:rPr>
              <a:t>✗ For example: Many people use social media.</a:t>
            </a:r>
          </a:p>
          <a:p>
            <a:pPr>
              <a:spcBef>
                <a:spcPts val="700"/>
              </a:spcBef>
            </a:pPr>
            <a:r>
              <a:rPr sz="1350">
                <a:solidFill>
                  <a:srgbClr val="C02A2A"/>
                </a:solidFill>
              </a:rPr>
              <a:t>✗ 论证链：TS → example（跳过why）</a:t>
            </a:r>
          </a:p>
          <a:p>
            <a:pPr>
              <a:spcBef>
                <a:spcPts val="700"/>
              </a:spcBef>
            </a:pPr>
            <a:r>
              <a:rPr sz="1350">
                <a:solidFill>
                  <a:srgbClr val="C02A2A"/>
                </a:solidFill>
              </a:rPr>
              <a:t>✗ 缺少：为什么这个例子证明了观点</a:t>
            </a:r>
          </a:p>
          <a:p>
            <a:pPr>
              <a:spcBef>
                <a:spcPts val="700"/>
              </a:spcBef>
            </a:pPr>
            <a:r>
              <a:rPr sz="1350">
                <a:solidFill>
                  <a:srgbClr val="C02A2A"/>
                </a:solidFill>
              </a:rPr>
              <a:t>✗ 结果：论证显得肤浅</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观点→解释（why）→例子→结论</a:t>
            </a:r>
          </a:p>
          <a:p>
            <a:pPr>
              <a:spcBef>
                <a:spcPts val="700"/>
              </a:spcBef>
            </a:pPr>
            <a:r>
              <a:rPr sz="1350">
                <a:solidFill>
                  <a:srgbClr val="1B7A3D"/>
                </a:solidFill>
              </a:rPr>
              <a:t>✓ 解释机制：This is because...</a:t>
            </a:r>
          </a:p>
          <a:p>
            <a:pPr>
              <a:spcBef>
                <a:spcPts val="700"/>
              </a:spcBef>
            </a:pPr>
            <a:r>
              <a:rPr sz="1350">
                <a:solidFill>
                  <a:srgbClr val="1B7A3D"/>
                </a:solidFill>
              </a:rPr>
              <a:t>✓ 论证链：TS → why → evidence → conclusion</a:t>
            </a:r>
          </a:p>
          <a:p>
            <a:pPr>
              <a:spcBef>
                <a:spcPts val="700"/>
              </a:spcBef>
            </a:pPr>
            <a:r>
              <a:rPr sz="1350">
                <a:solidFill>
                  <a:srgbClr val="1B7A3D"/>
                </a:solidFill>
              </a:rPr>
              <a:t>✓ 数据/研究增加可信度</a:t>
            </a:r>
          </a:p>
          <a:p>
            <a:pPr>
              <a:spcBef>
                <a:spcPts val="700"/>
              </a:spcBef>
            </a:pPr>
            <a:r>
              <a:rPr sz="1350">
                <a:solidFill>
                  <a:srgbClr val="1B7A3D"/>
                </a:solidFill>
              </a:rPr>
              <a:t>✓ 结果：论证深度，有说服力</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2审题到下笔5步法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Step 1（1分钟）：读题确认类型</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圈出关键词（discuss/agree/causes/solutions），确认题型</a:t>
            </a:r>
          </a:p>
        </p:txBody>
      </p:sp>
      <p:sp>
        <p:nvSpPr>
          <p:cNvPr id="13" name="Rounded Rectangle 12"/>
          <p:cNvSpPr/>
          <p:nvPr/>
        </p:nvSpPr>
        <p:spPr>
          <a:xfrm>
            <a:off x="548640" y="2231135"/>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472473"/>
                </a:solidFill>
                <a:latin typeface="Calibri"/>
              </a:rPr>
              <a:t>Step 2（1分钟）：确定立场</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想好你的立场——firmly/largely/partially agree?</a:t>
            </a:r>
          </a:p>
        </p:txBody>
      </p:sp>
      <p:sp>
        <p:nvSpPr>
          <p:cNvPr id="18" name="Rounded Rectangle 17"/>
          <p:cNvSpPr/>
          <p:nvPr/>
        </p:nvSpPr>
        <p:spPr>
          <a:xfrm>
            <a:off x="548640" y="3182111"/>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472473"/>
                </a:solidFill>
                <a:latin typeface="Calibri"/>
              </a:rPr>
              <a:t>Step 3（3分钟）：列提纲</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引言立场+2-3个论点+例子关键词+结论核心</a:t>
            </a:r>
          </a:p>
        </p:txBody>
      </p:sp>
      <p:sp>
        <p:nvSpPr>
          <p:cNvPr id="23" name="Rounded Rectangle 22"/>
          <p:cNvSpPr/>
          <p:nvPr/>
        </p:nvSpPr>
        <p:spPr>
          <a:xfrm>
            <a:off x="548640" y="4133087"/>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472473"/>
                </a:solidFill>
                <a:latin typeface="Calibri"/>
              </a:rPr>
              <a:t>Step 4（30分钟）：写作</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引言→主体段1→主体段2→结论——按提纲写</a:t>
            </a:r>
          </a:p>
        </p:txBody>
      </p:sp>
      <p:sp>
        <p:nvSpPr>
          <p:cNvPr id="28" name="Rounded Rectangle 27"/>
          <p:cNvSpPr/>
          <p:nvPr/>
        </p:nvSpPr>
        <p:spPr>
          <a:xfrm>
            <a:off x="548640" y="5084063"/>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472473"/>
                </a:solidFill>
                <a:latin typeface="Calibri"/>
              </a:rPr>
              <a:t>Step 5（5分钟）：检查</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立场前后一致？词数？主题句？拼写？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当堂练习：立场句写作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为以下题目写出引言段最后的立场句（10-20词）</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题目1</a:t>
            </a:r>
          </a:p>
          <a:p>
            <a:pPr>
              <a:spcBef>
                <a:spcPts val="100"/>
              </a:spcBef>
            </a:pPr>
            <a:r>
              <a:rPr sz="1400">
                <a:solidFill>
                  <a:srgbClr val="556075"/>
                </a:solidFill>
              </a:rPr>
              <a:t>   题目："Some people think cities should ban private cars from city centres. To what extent do you agree?"
立场方向：largely agree
写出你的立场句：
【答案】"I largely agree with this view, as the benefits to air quality and urban mobility significantly outweigh the inconveniences to individual drivers."</a:t>
            </a:r>
          </a:p>
          <a:p>
            <a:pPr>
              <a:spcBef>
                <a:spcPts val="1100"/>
              </a:spcBef>
            </a:pPr>
            <a:r>
              <a:rPr sz="1700" b="1">
                <a:solidFill>
                  <a:srgbClr val="472473"/>
                </a:solidFill>
              </a:rPr>
              <a:t>▢ 题目2</a:t>
            </a:r>
          </a:p>
          <a:p>
            <a:pPr>
              <a:spcBef>
                <a:spcPts val="100"/>
              </a:spcBef>
            </a:pPr>
            <a:r>
              <a:rPr sz="1400">
                <a:solidFill>
                  <a:srgbClr val="556075"/>
                </a:solidFill>
              </a:rPr>
              <a:t>   题目："Governments should prioritise economic growth over environmental protection. Discuss both views and give your opinion."
立场方向：你认为环保更重要
写出你的立场句：
【答案】"I believe that environmental protection must take precedence, as economic prosperity becomes meaningless without a habitable planet to sustain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当堂练习：让步-反驳结构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用Admittedly...Nevertheless/However...结构完成以下让步-反驳句</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练习</a:t>
            </a:r>
          </a:p>
          <a:p>
            <a:pPr>
              <a:spcBef>
                <a:spcPts val="100"/>
              </a:spcBef>
            </a:pPr>
            <a:r>
              <a:rPr sz="1400">
                <a:solidFill>
                  <a:srgbClr val="556075"/>
                </a:solidFill>
              </a:rPr>
              <a:t>   论点：Social media should be restricted for young people.
让步内容：社媒有助于学生联系（可承认）
反驳：危害更大
写出完整让步-反驳句（2-3句话）
【答案】"Admittedly, social media platforms offer young people opportunities to collaborate on schoolwork and maintain friendships across distances. However, these benefits can largely be achieved through more controlled alternatives, while the mental health risks associated with unrestricted social media use among adolescents remain substantial and well-documented."</a:t>
            </a:r>
          </a:p>
          <a:p>
            <a:pPr>
              <a:spcBef>
                <a:spcPts val="1100"/>
              </a:spcBef>
            </a:pPr>
            <a:r>
              <a:rPr sz="1700" b="1">
                <a:solidFill>
                  <a:srgbClr val="472473"/>
                </a:solidFill>
              </a:rPr>
              <a:t>▢ 规律总结</a:t>
            </a:r>
          </a:p>
          <a:p>
            <a:pPr>
              <a:spcBef>
                <a:spcPts val="100"/>
              </a:spcBef>
            </a:pPr>
            <a:r>
              <a:rPr sz="1400">
                <a:solidFill>
                  <a:srgbClr val="556075"/>
                </a:solidFill>
              </a:rPr>
              <a:t>   让步-反驳结构：
① Admittedly + 承认对方有道理的内容
② However/Nevertheless + 你的核心反驳
③ 反驳比让步更重要、更有说服力
【答案】关键：让步不能太强——让步内容要"有道理但次要"，反驳内容要"更重要更核心"</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技巧1：平衡但偏向</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两方都论证，但你支持的那方篇幅稍长、论证更强</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技巧2：引言表立场</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讨论文也要表立场——不是完全中立的学术描述</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技巧3：不同起始词</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主体段1用Advocates/Proponents；主体段2用However/In contrast</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技巧4：结论重申</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结论段用I maintain/I believe重新明确自己的立场</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技巧5：词汇平衡</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两段都用Band 7词汇——不能一段华丽一段简单</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同意/不同意文5大技巧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技巧1：立场要明确</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firmly/largely/partially——选一个并全程维持</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技巧2：两段都支持自己</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不要一段支持自己一段支持对方——全支持自己立场</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技巧3：让步要反驳回来</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Admittedly后一定要However反驳——不能让步后没有下文</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技巧4：论证深度</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每个论点必须有：TS + why + evidence（三层）</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技巧5：结论不摇摆</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结论段不能突然变成partial agree——维持原有立场</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2高频题目话题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科技类</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Social media / AI / Online education / Technology addiction</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环境类</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Climate change / Plastic pollution / Renewable energy</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社会类</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Ageing population / Immigration / Crime / Inequality</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教育类</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Traditional vs modern teaching / University education / Arts</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政府政策</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Government spending / Compulsory voting / Healthcare / Tax</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L06考场Task 2时间管理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审题（2分钟）</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确认题型（讨论/同意）→确认立场→想好2-3个论点</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提纲（3分钟）</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引言关键词+主体段论点+结论要点——写下来</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写作（30分钟）</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引言5分钟+主体段各10-12分钟+结论5分钟</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检查（5分钟）</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立场一致？词数≥250？主题句？拼写/语法？</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讨论文高频词汇：引入观点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Advocates argue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支持者认为</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Proponents contend</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倡导者主张</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Critics maintain</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批评者坚持</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Opponents assert</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反对者声称</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Some hold the view</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一些人持有这样的观点</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It is widely believed</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人们普遍认为</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Those in favour</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支持者</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Those who oppose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反对者</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From this perspective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从这个角度来看</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In contrast</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相比之下</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同意文高频词汇：表达立场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I firmly believe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我坚定地相信</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I am convinced</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我确信</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I largely agree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我基本同意</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I would argue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我认为</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It is my view that</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我认为</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In my opinion</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在我看来</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I maintain that</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我坚持认为</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I remain convinced</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我仍然确信</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I strongly disagree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我强烈不同意</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I partially agree</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我部分同意</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论证高频词汇：因果与递进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consequently</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因此；结果</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therefore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所以；因此</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as a result</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因此；结果是</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hence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因此；由此</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furthermore</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此外；更进一步</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moreover</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而且；此外</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in addition</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另外；此外</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above all</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最重要的是</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admittedly</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诚然；固然</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nevertheless</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尽管如此；然而</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每天写1篇Task 2（计时40分钟）</a:t>
            </a:r>
          </a:p>
          <a:p>
            <a:pPr>
              <a:spcBef>
                <a:spcPts val="700"/>
              </a:spcBef>
            </a:pPr>
            <a:r>
              <a:rPr sz="1450">
                <a:solidFill>
                  <a:srgbClr val="1E293B"/>
                </a:solidFill>
              </a:rPr>
              <a:t>• 重点：每篇立场清晰+每段主题句</a:t>
            </a:r>
          </a:p>
          <a:p>
            <a:pPr>
              <a:spcBef>
                <a:spcPts val="700"/>
              </a:spcBef>
            </a:pPr>
            <a:r>
              <a:rPr sz="1450">
                <a:solidFill>
                  <a:srgbClr val="1E293B"/>
                </a:solidFill>
              </a:rPr>
              <a:t>• 练习：讨论文和同意文各5篇</a:t>
            </a:r>
          </a:p>
          <a:p>
            <a:pPr>
              <a:spcBef>
                <a:spcPts val="700"/>
              </a:spcBef>
            </a:pPr>
            <a:r>
              <a:rPr sz="1450">
                <a:solidFill>
                  <a:srgbClr val="1E293B"/>
                </a:solidFill>
              </a:rPr>
              <a:t>• 积累：让步-反驳句型5个模板</a:t>
            </a:r>
          </a:p>
          <a:p>
            <a:pPr>
              <a:spcBef>
                <a:spcPts val="700"/>
              </a:spcBef>
            </a:pPr>
            <a:r>
              <a:rPr sz="1450">
                <a:solidFill>
                  <a:srgbClr val="1E293B"/>
                </a:solidFill>
              </a:rPr>
              <a:t>• 目标：TA维度从Band 6→Band 6.5</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引入更复杂论证：TS+why+evidence三层</a:t>
            </a:r>
          </a:p>
          <a:p>
            <a:pPr>
              <a:spcBef>
                <a:spcPts val="700"/>
              </a:spcBef>
            </a:pPr>
            <a:r>
              <a:rPr sz="1450">
                <a:solidFill>
                  <a:srgbClr val="1E293B"/>
                </a:solidFill>
              </a:rPr>
              <a:t>• 词汇替换：每篇后分析重复词，积累替换</a:t>
            </a:r>
          </a:p>
          <a:p>
            <a:pPr>
              <a:spcBef>
                <a:spcPts val="700"/>
              </a:spcBef>
            </a:pPr>
            <a:r>
              <a:rPr sz="1450">
                <a:solidFill>
                  <a:srgbClr val="1E293B"/>
                </a:solidFill>
              </a:rPr>
              <a:t>• 模板升级：从固定结构到灵活运用</a:t>
            </a:r>
          </a:p>
          <a:p>
            <a:pPr>
              <a:spcBef>
                <a:spcPts val="700"/>
              </a:spcBef>
            </a:pPr>
            <a:r>
              <a:rPr sz="1450">
                <a:solidFill>
                  <a:srgbClr val="1E293B"/>
                </a:solidFill>
              </a:rPr>
              <a:t>• 复杂句型：定语从句/让步从句/被动</a:t>
            </a:r>
          </a:p>
          <a:p>
            <a:pPr>
              <a:spcBef>
                <a:spcPts val="700"/>
              </a:spcBef>
            </a:pPr>
            <a:r>
              <a:rPr sz="1450">
                <a:solidFill>
                  <a:srgbClr val="1E293B"/>
                </a:solidFill>
              </a:rPr>
              <a:t>• 目标：四维均达Band 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深圳学生Task 2最常见错误TOP5</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错误（按频率）</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第1名：讨论文不表立场（40%学生）</a:t>
            </a:r>
          </a:p>
          <a:p>
            <a:pPr>
              <a:spcBef>
                <a:spcPts val="700"/>
              </a:spcBef>
            </a:pPr>
            <a:r>
              <a:rPr sz="1450">
                <a:solidFill>
                  <a:srgbClr val="1E293B"/>
                </a:solidFill>
              </a:rPr>
              <a:t>• 第2名：同意文写成讨论文（35%）</a:t>
            </a:r>
          </a:p>
          <a:p>
            <a:pPr>
              <a:spcBef>
                <a:spcPts val="700"/>
              </a:spcBef>
            </a:pPr>
            <a:r>
              <a:rPr sz="1450">
                <a:solidFill>
                  <a:srgbClr val="1E293B"/>
                </a:solidFill>
              </a:rPr>
              <a:t>• 第3名：论证只有WHAT没有WHY（50%）</a:t>
            </a:r>
          </a:p>
          <a:p>
            <a:pPr>
              <a:spcBef>
                <a:spcPts val="700"/>
              </a:spcBef>
            </a:pPr>
            <a:r>
              <a:rPr sz="1450">
                <a:solidFill>
                  <a:srgbClr val="1E293B"/>
                </a:solidFill>
              </a:rPr>
              <a:t>• 第4名：结论段重复引言内容（45%）</a:t>
            </a:r>
          </a:p>
          <a:p>
            <a:pPr>
              <a:spcBef>
                <a:spcPts val="700"/>
              </a:spcBef>
            </a:pPr>
            <a:r>
              <a:rPr sz="1450">
                <a:solidFill>
                  <a:srgbClr val="1E293B"/>
                </a:solidFill>
              </a:rPr>
              <a:t>• 第5名：词汇重复严重（60%）</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对应改进方法</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改进1：引言最后句必须有"I believe/I agree"</a:t>
            </a:r>
          </a:p>
          <a:p>
            <a:pPr>
              <a:spcBef>
                <a:spcPts val="700"/>
              </a:spcBef>
            </a:pPr>
            <a:r>
              <a:rPr sz="1450">
                <a:solidFill>
                  <a:srgbClr val="1E293B"/>
                </a:solidFill>
              </a:rPr>
              <a:t>• 改进2：同意文两段都支持自己立场</a:t>
            </a:r>
          </a:p>
          <a:p>
            <a:pPr>
              <a:spcBef>
                <a:spcPts val="700"/>
              </a:spcBef>
            </a:pPr>
            <a:r>
              <a:rPr sz="1450">
                <a:solidFill>
                  <a:srgbClr val="1E293B"/>
                </a:solidFill>
              </a:rPr>
              <a:t>• 改进3：每个论点后加"This is because..."</a:t>
            </a:r>
          </a:p>
          <a:p>
            <a:pPr>
              <a:spcBef>
                <a:spcPts val="700"/>
              </a:spcBef>
            </a:pPr>
            <a:r>
              <a:rPr sz="1450">
                <a:solidFill>
                  <a:srgbClr val="1E293B"/>
                </a:solidFill>
              </a:rPr>
              <a:t>• 改进4：结论用不同词汇重申，可加建议</a:t>
            </a:r>
          </a:p>
          <a:p>
            <a:pPr>
              <a:spcBef>
                <a:spcPts val="700"/>
              </a:spcBef>
            </a:pPr>
            <a:r>
              <a:rPr sz="1450">
                <a:solidFill>
                  <a:srgbClr val="1E293B"/>
                </a:solidFill>
              </a:rPr>
              <a:t>• 改进5：每个核心词备3个同义词</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L06学完自测：讨论文与同意文掌握度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能识别讨论文和同意/不同意文的关键词区别</a:t>
            </a:r>
          </a:p>
          <a:p>
            <a:pPr>
              <a:spcBef>
                <a:spcPts val="1200"/>
              </a:spcBef>
            </a:pPr>
            <a:r>
              <a:rPr sz="1600">
                <a:solidFill>
                  <a:srgbClr val="1E293B"/>
                </a:solidFill>
              </a:rPr>
              <a:t>☐ 讨论文：两段主体分别论证两方，引言+结论有立场</a:t>
            </a:r>
          </a:p>
          <a:p>
            <a:pPr>
              <a:spcBef>
                <a:spcPts val="1200"/>
              </a:spcBef>
            </a:pPr>
            <a:r>
              <a:rPr sz="1600">
                <a:solidFill>
                  <a:srgbClr val="1E293B"/>
                </a:solidFill>
              </a:rPr>
              <a:t>☐ 同意文：两段主体都论证自己立场，全程立场一致</a:t>
            </a:r>
          </a:p>
          <a:p>
            <a:pPr>
              <a:spcBef>
                <a:spcPts val="1200"/>
              </a:spcBef>
            </a:pPr>
            <a:r>
              <a:rPr sz="1600">
                <a:solidFill>
                  <a:srgbClr val="1E293B"/>
                </a:solidFill>
              </a:rPr>
              <a:t>☐ 能写出让步-反驳结构（Admittedly...Nevertheless）</a:t>
            </a:r>
          </a:p>
          <a:p>
            <a:pPr>
              <a:spcBef>
                <a:spcPts val="1200"/>
              </a:spcBef>
            </a:pPr>
            <a:r>
              <a:rPr sz="1600">
                <a:solidFill>
                  <a:srgbClr val="1E293B"/>
                </a:solidFill>
              </a:rPr>
              <a:t>☐ 论证包含三层：主题句+解释（why）+例子/数据</a:t>
            </a:r>
          </a:p>
          <a:p>
            <a:pPr>
              <a:spcBef>
                <a:spcPts val="1200"/>
              </a:spcBef>
            </a:pPr>
            <a:r>
              <a:rPr sz="1600">
                <a:solidFill>
                  <a:srgbClr val="1E293B"/>
                </a:solidFill>
              </a:rPr>
              <a:t>☐ 引言段立场句和结论段立场句前后呼应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L06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讨论文（Discuss both views）：两段主体各论证一方，引言结论表立场</a:t>
            </a:r>
          </a:p>
          <a:p>
            <a:pPr>
              <a:spcBef>
                <a:spcPts val="1100"/>
              </a:spcBef>
            </a:pPr>
            <a:r>
              <a:rPr sz="1550">
                <a:solidFill>
                  <a:srgbClr val="FFFFFF"/>
                </a:solidFill>
              </a:rPr>
              <a:t>✓  同意文（Agree/Disagree）：两段主体都支持自己立场，全程一致</a:t>
            </a:r>
          </a:p>
          <a:p>
            <a:pPr>
              <a:spcBef>
                <a:spcPts val="1100"/>
              </a:spcBef>
            </a:pPr>
            <a:r>
              <a:rPr sz="1550">
                <a:solidFill>
                  <a:srgbClr val="FFFFFF"/>
                </a:solidFill>
              </a:rPr>
              <a:t>✓  论证质量三层：TS（观点）+ Why（解释机制）+ Evidence（数据/例子）</a:t>
            </a:r>
          </a:p>
          <a:p>
            <a:pPr>
              <a:spcBef>
                <a:spcPts val="1100"/>
              </a:spcBef>
            </a:pPr>
            <a:r>
              <a:rPr sz="1550">
                <a:solidFill>
                  <a:srgbClr val="FFFFFF"/>
                </a:solidFill>
              </a:rPr>
              <a:t>✓  让步-反驳：Admittedly承认对方，Nevertheless/However反驳回来</a:t>
            </a:r>
          </a:p>
          <a:p>
            <a:pPr>
              <a:spcBef>
                <a:spcPts val="1100"/>
              </a:spcBef>
            </a:pPr>
            <a:r>
              <a:rPr sz="1550">
                <a:solidFill>
                  <a:srgbClr val="FFFFFF"/>
                </a:solidFill>
              </a:rPr>
              <a:t>✓  立场铁律：引言有立场→主体段维持→结论重申——前后一致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建议用时：约2小时30分</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写2篇完整Task 2（讨论文1篇+同意文1篇，各计时40分钟），自评立场一致性</a:t>
            </a:r>
          </a:p>
          <a:p>
            <a:pPr>
              <a:spcBef>
                <a:spcPts val="1300"/>
              </a:spcBef>
            </a:pPr>
            <a:r>
              <a:rPr sz="1550" b="1">
                <a:solidFill>
                  <a:srgbClr val="1E293B"/>
                </a:solidFill>
              </a:rPr>
              <a:t>作业 2　分析2篇Band 7范文：标出让步-反驳结构，分析论证三层（TS+why+evidence）</a:t>
            </a:r>
          </a:p>
          <a:p>
            <a:pPr>
              <a:spcBef>
                <a:spcPts val="1300"/>
              </a:spcBef>
            </a:pPr>
            <a:r>
              <a:rPr sz="1550" b="1">
                <a:solidFill>
                  <a:srgbClr val="1E293B"/>
                </a:solidFill>
              </a:rPr>
              <a:t>作业 3　练习：为5道Task 2题目写出引言立场句（每句15-20词）</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讨论文结论 vs 同意文结论：写法差异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讨论文结论（约60词）</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必须重申自己的立场（I maintain/believe）</a:t>
            </a:r>
          </a:p>
          <a:p>
            <a:pPr>
              <a:spcBef>
                <a:spcPts val="700"/>
              </a:spcBef>
            </a:pPr>
            <a:r>
              <a:rPr sz="1450">
                <a:solidFill>
                  <a:srgbClr val="1E293B"/>
                </a:solidFill>
              </a:rPr>
              <a:t>• 可简要总结两方观点</a:t>
            </a:r>
          </a:p>
          <a:p>
            <a:pPr>
              <a:spcBef>
                <a:spcPts val="700"/>
              </a:spcBef>
            </a:pPr>
            <a:r>
              <a:rPr sz="1450">
                <a:solidFill>
                  <a:srgbClr val="1E293B"/>
                </a:solidFill>
              </a:rPr>
              <a:t>• 可加一句更宏观的思考</a:t>
            </a:r>
          </a:p>
          <a:p>
            <a:pPr>
              <a:spcBef>
                <a:spcPts val="700"/>
              </a:spcBef>
            </a:pPr>
            <a:r>
              <a:rPr sz="1450">
                <a:solidFill>
                  <a:srgbClr val="1E293B"/>
                </a:solidFill>
              </a:rPr>
              <a:t>• 示例："I maintain that environmental protection argument is ultimately more compelling."</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同意文结论（约55词）</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直接重申立场——不需要平衡两方</a:t>
            </a:r>
          </a:p>
          <a:p>
            <a:pPr>
              <a:spcBef>
                <a:spcPts val="700"/>
              </a:spcBef>
            </a:pPr>
            <a:r>
              <a:rPr sz="1450">
                <a:solidFill>
                  <a:srgbClr val="1E293B"/>
                </a:solidFill>
              </a:rPr>
              <a:t>• 核心论点一句话总结</a:t>
            </a:r>
          </a:p>
          <a:p>
            <a:pPr>
              <a:spcBef>
                <a:spcPts val="700"/>
              </a:spcBef>
            </a:pPr>
            <a:r>
              <a:rPr sz="1450">
                <a:solidFill>
                  <a:srgbClr val="1E293B"/>
                </a:solidFill>
              </a:rPr>
              <a:t>• 可加政策建议/未来展望</a:t>
            </a:r>
          </a:p>
          <a:p>
            <a:pPr>
              <a:spcBef>
                <a:spcPts val="700"/>
              </a:spcBef>
            </a:pPr>
            <a:r>
              <a:rPr sz="1450">
                <a:solidFill>
                  <a:srgbClr val="1E293B"/>
                </a:solidFill>
              </a:rPr>
              <a:t>• 示例："I firmly believe compulsory voting is essential for truly representative democracy."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2提纲写法（考场实用）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讨论文提纲（3分钟）</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引言：背景+双方概述+立场（I believe X has more merit）</a:t>
            </a:r>
          </a:p>
          <a:p>
            <a:pPr>
              <a:spcBef>
                <a:spcPts val="700"/>
              </a:spcBef>
            </a:pPr>
            <a:r>
              <a:rPr sz="1450">
                <a:solidFill>
                  <a:srgbClr val="1E293B"/>
                </a:solidFill>
              </a:rPr>
              <a:t>• 主体1：对方TS → 理由/例子 关键词</a:t>
            </a:r>
          </a:p>
          <a:p>
            <a:pPr>
              <a:spcBef>
                <a:spcPts val="700"/>
              </a:spcBef>
            </a:pPr>
            <a:r>
              <a:rPr sz="1450">
                <a:solidFill>
                  <a:srgbClr val="1E293B"/>
                </a:solidFill>
              </a:rPr>
              <a:t>• 主体2：支持方TS → 为什么 → 例子关键词</a:t>
            </a:r>
          </a:p>
          <a:p>
            <a:pPr>
              <a:spcBef>
                <a:spcPts val="700"/>
              </a:spcBef>
            </a:pPr>
            <a:r>
              <a:rPr sz="1450">
                <a:solidFill>
                  <a:srgbClr val="1E293B"/>
                </a:solidFill>
              </a:rPr>
              <a:t>• 结论：重申立场 + 核心总结 关键词</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同意文提纲（3分钟）</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引言：背景+立场（I firmly agree/disagree）+理由方向</a:t>
            </a:r>
          </a:p>
          <a:p>
            <a:pPr>
              <a:spcBef>
                <a:spcPts val="700"/>
              </a:spcBef>
            </a:pPr>
            <a:r>
              <a:rPr sz="1450">
                <a:solidFill>
                  <a:srgbClr val="1E293B"/>
                </a:solidFill>
              </a:rPr>
              <a:t>• 主体1：论点1 TS → 机制 → 数据/例子</a:t>
            </a:r>
          </a:p>
          <a:p>
            <a:pPr>
              <a:spcBef>
                <a:spcPts val="700"/>
              </a:spcBef>
            </a:pPr>
            <a:r>
              <a:rPr sz="1450">
                <a:solidFill>
                  <a:srgbClr val="1E293B"/>
                </a:solidFill>
              </a:rPr>
              <a:t>• 主体2：论点2 TS → OR 让步-反驳结构</a:t>
            </a:r>
          </a:p>
          <a:p>
            <a:pPr>
              <a:spcBef>
                <a:spcPts val="700"/>
              </a:spcBef>
            </a:pPr>
            <a:r>
              <a:rPr sz="1450">
                <a:solidFill>
                  <a:srgbClr val="1E293B"/>
                </a:solidFill>
              </a:rPr>
              <a:t>• 结论：重申 + 总结 + 可加建议</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深圳学生Task 2写作综合备考策略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每日30分钟练习（推荐）</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周一/三/五：完整Task 2（40分钟计时）</a:t>
            </a:r>
          </a:p>
          <a:p>
            <a:pPr>
              <a:spcBef>
                <a:spcPts val="700"/>
              </a:spcBef>
            </a:pPr>
            <a:r>
              <a:rPr sz="1450">
                <a:solidFill>
                  <a:srgbClr val="1E293B"/>
                </a:solidFill>
              </a:rPr>
              <a:t>• 周二/四：主体段专项（10分钟写1段）</a:t>
            </a:r>
          </a:p>
          <a:p>
            <a:pPr>
              <a:spcBef>
                <a:spcPts val="700"/>
              </a:spcBef>
            </a:pPr>
            <a:r>
              <a:rPr sz="1450">
                <a:solidFill>
                  <a:srgbClr val="1E293B"/>
                </a:solidFill>
              </a:rPr>
              <a:t>• 周六：读2篇Band 7范文，分析结构</a:t>
            </a:r>
          </a:p>
          <a:p>
            <a:pPr>
              <a:spcBef>
                <a:spcPts val="700"/>
              </a:spcBef>
            </a:pPr>
            <a:r>
              <a:rPr sz="1450">
                <a:solidFill>
                  <a:srgbClr val="1E293B"/>
                </a:solidFill>
              </a:rPr>
              <a:t>• 周日：整理本周错误，复习词汇</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重点攻克内容</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优先：立场表达（每篇都练习引言）</a:t>
            </a:r>
          </a:p>
          <a:p>
            <a:pPr>
              <a:spcBef>
                <a:spcPts val="700"/>
              </a:spcBef>
            </a:pPr>
            <a:r>
              <a:rPr sz="1450">
                <a:solidFill>
                  <a:srgbClr val="1E293B"/>
                </a:solidFill>
              </a:rPr>
              <a:t>• 次优：论证三层（TS+why+evidence）</a:t>
            </a:r>
          </a:p>
          <a:p>
            <a:pPr>
              <a:spcBef>
                <a:spcPts val="700"/>
              </a:spcBef>
            </a:pPr>
            <a:r>
              <a:rPr sz="1450">
                <a:solidFill>
                  <a:srgbClr val="1E293B"/>
                </a:solidFill>
              </a:rPr>
              <a:t>• 词汇：每天积累5个Task 2高频词组</a:t>
            </a:r>
          </a:p>
          <a:p>
            <a:pPr>
              <a:spcBef>
                <a:spcPts val="700"/>
              </a:spcBef>
            </a:pPr>
            <a:r>
              <a:rPr sz="1450">
                <a:solidFill>
                  <a:srgbClr val="1E293B"/>
                </a:solidFill>
              </a:rPr>
              <a:t>• 句型：每天写1个让步-反驳句练习</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L07 · Task 2题型专项：优缺点与问题解决</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优缺点文写法策略</a:t>
            </a:r>
          </a:p>
          <a:p>
            <a:pPr>
              <a:spcBef>
                <a:spcPts val="1000"/>
              </a:spcBef>
            </a:pPr>
            <a:r>
              <a:rPr sz="1600">
                <a:solidFill>
                  <a:srgbClr val="CFDCF2"/>
                </a:solidFill>
              </a:rPr>
              <a:t>→ 问题解决题（原因/影响/建议）</a:t>
            </a:r>
          </a:p>
          <a:p>
            <a:pPr>
              <a:spcBef>
                <a:spcPts val="1000"/>
              </a:spcBef>
            </a:pPr>
            <a:r>
              <a:rPr sz="1600">
                <a:solidFill>
                  <a:srgbClr val="CFDCF2"/>
                </a:solidFill>
              </a:rPr>
              <a:t>→ 双问题题答题技巧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