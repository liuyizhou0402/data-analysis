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E09A10"/>
                </a:solidFill>
                <a:latin typeface="Calibri"/>
              </a:rPr>
              <a:t>L06</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E09A10"/>
                </a:solidFill>
                <a:latin typeface="Calibri"/>
              </a:rPr>
              <a:t>IELTS Reading 阅读</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选择题全攻略
单选与多选精准破题</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Multiple Choice: Crack Every Option</a:t>
            </a:r>
          </a:p>
        </p:txBody>
      </p:sp>
      <p:sp>
        <p:nvSpPr>
          <p:cNvPr id="10" name="Rounded Rectangle 9"/>
          <p:cNvSpPr/>
          <p:nvPr/>
        </p:nvSpPr>
        <p:spPr>
          <a:xfrm>
            <a:off x="777240" y="5669280"/>
            <a:ext cx="3840480" cy="54864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6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ounded Rectangle 6"/>
          <p:cNvSpPr/>
          <p:nvPr/>
        </p:nvSpPr>
        <p:spPr>
          <a:xfrm>
            <a:off x="54864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选择题题型解析</a:t>
            </a:r>
          </a:p>
        </p:txBody>
      </p:sp>
      <p:sp>
        <p:nvSpPr>
          <p:cNvPr id="10" name="Rounded Rectangle 9"/>
          <p:cNvSpPr/>
          <p:nvPr/>
        </p:nvSpPr>
        <p:spPr>
          <a:xfrm>
            <a:off x="54864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单选题做题策略</a:t>
            </a:r>
          </a:p>
        </p:txBody>
      </p:sp>
      <p:sp>
        <p:nvSpPr>
          <p:cNvPr id="13" name="Rounded Rectangle 12"/>
          <p:cNvSpPr/>
          <p:nvPr/>
        </p:nvSpPr>
        <p:spPr>
          <a:xfrm>
            <a:off x="54864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多选题做题策略</a:t>
            </a:r>
          </a:p>
        </p:txBody>
      </p:sp>
      <p:sp>
        <p:nvSpPr>
          <p:cNvPr id="16" name="Rounded Rectangle 15"/>
          <p:cNvSpPr/>
          <p:nvPr/>
        </p:nvSpPr>
        <p:spPr>
          <a:xfrm>
            <a:off x="6400800" y="1325880"/>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干扰选项4种类型</a:t>
            </a:r>
          </a:p>
        </p:txBody>
      </p:sp>
      <p:sp>
        <p:nvSpPr>
          <p:cNvPr id="19" name="Rounded Rectangle 18"/>
          <p:cNvSpPr/>
          <p:nvPr/>
        </p:nvSpPr>
        <p:spPr>
          <a:xfrm>
            <a:off x="6400800" y="2167128"/>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考场时间管理</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选择题题型全貌</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Multiple Choice: Overview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单选题结构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Single Answer MCQ</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题目形式</a:t>
            </a:r>
          </a:p>
          <a:p>
            <a:pPr>
              <a:spcBef>
                <a:spcPts val="100"/>
              </a:spcBef>
            </a:pPr>
            <a:r>
              <a:rPr sz="1500">
                <a:solidFill>
                  <a:srgbClr val="556075"/>
                </a:solidFill>
              </a:rPr>
              <a:t>   一道问题 + 4个选项（A/B/C/D）——选1个正确答案</a:t>
            </a:r>
          </a:p>
          <a:p>
            <a:pPr>
              <a:spcBef>
                <a:spcPts val="900"/>
              </a:spcBef>
            </a:pPr>
            <a:r>
              <a:rPr sz="1800" b="1">
                <a:solidFill>
                  <a:srgbClr val="1B5E33"/>
                </a:solidFill>
              </a:rPr>
              <a:t>• 考查内容</a:t>
            </a:r>
          </a:p>
          <a:p>
            <a:pPr>
              <a:spcBef>
                <a:spcPts val="100"/>
              </a:spcBef>
            </a:pPr>
            <a:r>
              <a:rPr sz="1500">
                <a:solidFill>
                  <a:srgbClr val="556075"/>
                </a:solidFill>
              </a:rPr>
              <a:t>   细节理解/主旨/推断/词义/作者观点</a:t>
            </a:r>
          </a:p>
          <a:p>
            <a:pPr>
              <a:spcBef>
                <a:spcPts val="900"/>
              </a:spcBef>
            </a:pPr>
            <a:r>
              <a:rPr sz="1800" b="1">
                <a:solidFill>
                  <a:srgbClr val="1B5E33"/>
                </a:solidFill>
              </a:rPr>
              <a:t>• 定位方式</a:t>
            </a:r>
          </a:p>
          <a:p>
            <a:pPr>
              <a:spcBef>
                <a:spcPts val="100"/>
              </a:spcBef>
            </a:pPr>
            <a:r>
              <a:rPr sz="1500">
                <a:solidFill>
                  <a:srgbClr val="556075"/>
                </a:solidFill>
              </a:rPr>
              <a:t>   题目关键词→原文对应段落→精读→对照选项</a:t>
            </a:r>
          </a:p>
          <a:p>
            <a:pPr>
              <a:spcBef>
                <a:spcPts val="900"/>
              </a:spcBef>
            </a:pPr>
            <a:r>
              <a:rPr sz="1800" b="1">
                <a:solidFill>
                  <a:srgbClr val="1B5E33"/>
                </a:solidFill>
              </a:rPr>
              <a:t>• 难点</a:t>
            </a:r>
          </a:p>
          <a:p>
            <a:pPr>
              <a:spcBef>
                <a:spcPts val="100"/>
              </a:spcBef>
            </a:pPr>
            <a:r>
              <a:rPr sz="1500">
                <a:solidFill>
                  <a:srgbClr val="556075"/>
                </a:solidFill>
              </a:rPr>
              <a:t>   干扰选项与原文词汇高度相似——需精读对比</a:t>
            </a:r>
          </a:p>
          <a:p>
            <a:pPr>
              <a:spcBef>
                <a:spcPts val="900"/>
              </a:spcBef>
            </a:pPr>
            <a:r>
              <a:rPr sz="1800" b="1">
                <a:solidFill>
                  <a:srgbClr val="1B5E33"/>
                </a:solidFill>
              </a:rPr>
              <a:t>• 时间</a:t>
            </a:r>
          </a:p>
          <a:p>
            <a:pPr>
              <a:spcBef>
                <a:spcPts val="100"/>
              </a:spcBef>
            </a:pPr>
            <a:r>
              <a:rPr sz="1500">
                <a:solidFill>
                  <a:srgbClr val="556075"/>
                </a:solidFill>
              </a:rPr>
              <a:t>   每题约1-1.5分钟</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Multiple Answer MCQ</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题目形式</a:t>
            </a:r>
          </a:p>
          <a:p>
            <a:pPr>
              <a:spcBef>
                <a:spcPts val="100"/>
              </a:spcBef>
            </a:pPr>
            <a:r>
              <a:rPr sz="1500">
                <a:solidFill>
                  <a:srgbClr val="556075"/>
                </a:solidFill>
              </a:rPr>
              <a:t>   一道问题 + 5-7个选项——选2-3个正确答案</a:t>
            </a:r>
          </a:p>
          <a:p>
            <a:pPr>
              <a:spcBef>
                <a:spcPts val="900"/>
              </a:spcBef>
            </a:pPr>
            <a:r>
              <a:rPr sz="1800" b="1">
                <a:solidFill>
                  <a:srgbClr val="1B5E33"/>
                </a:solidFill>
              </a:rPr>
              <a:t>• 选项数量</a:t>
            </a:r>
          </a:p>
          <a:p>
            <a:pPr>
              <a:spcBef>
                <a:spcPts val="100"/>
              </a:spcBef>
            </a:pPr>
            <a:r>
              <a:rPr sz="1500">
                <a:solidFill>
                  <a:srgbClr val="556075"/>
                </a:solidFill>
              </a:rPr>
              <a:t>   题目会明确说"Choose TWO/THREE letters"</a:t>
            </a:r>
          </a:p>
          <a:p>
            <a:pPr>
              <a:spcBef>
                <a:spcPts val="900"/>
              </a:spcBef>
            </a:pPr>
            <a:r>
              <a:rPr sz="1800" b="1">
                <a:solidFill>
                  <a:srgbClr val="1B5E33"/>
                </a:solidFill>
              </a:rPr>
              <a:t>• 评分规则</a:t>
            </a:r>
          </a:p>
          <a:p>
            <a:pPr>
              <a:spcBef>
                <a:spcPts val="100"/>
              </a:spcBef>
            </a:pPr>
            <a:r>
              <a:rPr sz="1500">
                <a:solidFill>
                  <a:srgbClr val="556075"/>
                </a:solidFill>
              </a:rPr>
              <a:t>   全选对才得分——选错一个不得分</a:t>
            </a:r>
          </a:p>
          <a:p>
            <a:pPr>
              <a:spcBef>
                <a:spcPts val="900"/>
              </a:spcBef>
            </a:pPr>
            <a:r>
              <a:rPr sz="1800" b="1">
                <a:solidFill>
                  <a:srgbClr val="1B5E33"/>
                </a:solidFill>
              </a:rPr>
              <a:t>• 策略重点</a:t>
            </a:r>
          </a:p>
          <a:p>
            <a:pPr>
              <a:spcBef>
                <a:spcPts val="100"/>
              </a:spcBef>
            </a:pPr>
            <a:r>
              <a:rPr sz="1500">
                <a:solidFill>
                  <a:srgbClr val="556075"/>
                </a:solidFill>
              </a:rPr>
              <a:t>   每个选项都要回原文验证——不能凭感觉</a:t>
            </a:r>
          </a:p>
          <a:p>
            <a:pPr>
              <a:spcBef>
                <a:spcPts val="900"/>
              </a:spcBef>
            </a:pPr>
            <a:r>
              <a:rPr sz="1800" b="1">
                <a:solidFill>
                  <a:srgbClr val="1B5E33"/>
                </a:solidFill>
              </a:rPr>
              <a:t>• 时间</a:t>
            </a:r>
          </a:p>
          <a:p>
            <a:pPr>
              <a:spcBef>
                <a:spcPts val="100"/>
              </a:spcBef>
            </a:pPr>
            <a:r>
              <a:rPr sz="1500">
                <a:solidFill>
                  <a:srgbClr val="556075"/>
                </a:solidFill>
              </a:rPr>
              <a:t>   每组约2-3分钟</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选择题做题顺序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单选题最佳顺序：
1.读题目（不读选项）
2.标记关键词，定位原文段落
3.精读原文相关句
4.看选项——选与原文意思匹配的
5.验证：选项是否忠实反映原文，还是过度推断？</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多选题最佳顺序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多选题最佳顺序：
1.读题目，确认选几个
2.逐项回原文验证——不能跳过任何选项
3.先排除明显错误，再精读剩余
4.发现2-3个有原文支撑的→选定
5.不确定时宁缺勿错——猜测风险高</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单选题定位示范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题目："According to paragraph 2, what was the main reason for the decline of coral reefs?"
做题步骤：</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步骤：
1.关键词：paragraph 2, main reason, decline, coral reefs
2.直接去第2段找"decline"相关句
3.原文："Rising ocean temperatures caused by climate change have led to widespread coral bleaching"
4.选项A："Global warming causing coral bleaching"→ 与原文完全匹配 ✓</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定位技巧：题目中"According to paragraph X"直接告诉你去哪里找——省时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多选题验证示范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题目："Which TWO reasons does the author give for the success of online learning?"
选项：A.Flexibility B.Lower costs C.Better outcomes D.Social interaction E.Access to experts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原文检索结果：
A.灵活性→ 原文有 ✓
B.更低成本→ 原文有 ✓
C.更好结果→ 原文没有明确说 ✗
D.社交互动→ 原文说是缺点 ✗
E.接触专家→ 原文没有提 ✗
答案：A+B</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多选验证原则：每个选项都回原文找证据——"感觉对"不算</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单选题4种干扰陷阱</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4 Types of MCQ Distractors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干扰选项类型1-2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Distractor Types 1-2</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原文词汇干扰</a:t>
            </a:r>
          </a:p>
          <a:p>
            <a:pPr>
              <a:spcBef>
                <a:spcPts val="100"/>
              </a:spcBef>
            </a:pPr>
            <a:r>
              <a:rPr sz="1500">
                <a:solidFill>
                  <a:srgbClr val="556075"/>
                </a:solidFill>
              </a:rPr>
              <a:t>   选项有原文词——但意思被扭曲或范围改变</a:t>
            </a:r>
          </a:p>
          <a:p>
            <a:pPr>
              <a:spcBef>
                <a:spcPts val="900"/>
              </a:spcBef>
            </a:pPr>
            <a:r>
              <a:rPr sz="1800" b="1">
                <a:solidFill>
                  <a:srgbClr val="1B5E33"/>
                </a:solidFill>
              </a:rPr>
              <a:t>• 过度推断</a:t>
            </a:r>
          </a:p>
          <a:p>
            <a:pPr>
              <a:spcBef>
                <a:spcPts val="100"/>
              </a:spcBef>
            </a:pPr>
            <a:r>
              <a:rPr sz="1500">
                <a:solidFill>
                  <a:srgbClr val="556075"/>
                </a:solidFill>
              </a:rPr>
              <a:t>   原文暗示A，选项说A导致了B——超出原文</a:t>
            </a:r>
          </a:p>
          <a:p>
            <a:pPr>
              <a:spcBef>
                <a:spcPts val="900"/>
              </a:spcBef>
            </a:pPr>
            <a:r>
              <a:rPr sz="1800" b="1">
                <a:solidFill>
                  <a:srgbClr val="1B5E33"/>
                </a:solidFill>
              </a:rPr>
              <a:t>• 识别方法1</a:t>
            </a:r>
          </a:p>
          <a:p>
            <a:pPr>
              <a:spcBef>
                <a:spcPts val="100"/>
              </a:spcBef>
            </a:pPr>
            <a:r>
              <a:rPr sz="1500">
                <a:solidFill>
                  <a:srgbClr val="556075"/>
                </a:solidFill>
              </a:rPr>
              <a:t>   选项用了原文词→不代表正确，验证意思是否完全匹配</a:t>
            </a:r>
          </a:p>
          <a:p>
            <a:pPr>
              <a:spcBef>
                <a:spcPts val="900"/>
              </a:spcBef>
            </a:pPr>
            <a:r>
              <a:rPr sz="1800" b="1">
                <a:solidFill>
                  <a:srgbClr val="1B5E33"/>
                </a:solidFill>
              </a:rPr>
              <a:t>• 识别方法2</a:t>
            </a:r>
          </a:p>
          <a:p>
            <a:pPr>
              <a:spcBef>
                <a:spcPts val="100"/>
              </a:spcBef>
            </a:pPr>
            <a:r>
              <a:rPr sz="1500">
                <a:solidFill>
                  <a:srgbClr val="556075"/>
                </a:solidFill>
              </a:rPr>
              <a:t>   选项有"因此/所以/导致"→问原文有没有明确说这个结果</a:t>
            </a:r>
          </a:p>
          <a:p>
            <a:pPr>
              <a:spcBef>
                <a:spcPts val="900"/>
              </a:spcBef>
            </a:pPr>
            <a:r>
              <a:rPr sz="1800" b="1">
                <a:solidFill>
                  <a:srgbClr val="1B5E33"/>
                </a:solidFill>
              </a:rPr>
              <a:t>• 高频错误</a:t>
            </a:r>
          </a:p>
          <a:p>
            <a:pPr>
              <a:spcBef>
                <a:spcPts val="100"/>
              </a:spcBef>
            </a:pPr>
            <a:r>
              <a:rPr sz="1500">
                <a:solidFill>
                  <a:srgbClr val="556075"/>
                </a:solidFill>
              </a:rPr>
              <a:t>   深圳学生最常选原文词干扰——看到熟悉词就选</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干扰选项类型3-4</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Distractor Types 3-4</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相反信息</a:t>
            </a:r>
          </a:p>
          <a:p>
            <a:pPr>
              <a:spcBef>
                <a:spcPts val="100"/>
              </a:spcBef>
            </a:pPr>
            <a:r>
              <a:rPr sz="1500">
                <a:solidFill>
                  <a:srgbClr val="556075"/>
                </a:solidFill>
              </a:rPr>
              <a:t>   选项与原文相反——"decreased"vs原文"increased"</a:t>
            </a:r>
          </a:p>
          <a:p>
            <a:pPr>
              <a:spcBef>
                <a:spcPts val="900"/>
              </a:spcBef>
            </a:pPr>
            <a:r>
              <a:rPr sz="1800" b="1">
                <a:solidFill>
                  <a:srgbClr val="1B5E33"/>
                </a:solidFill>
              </a:rPr>
              <a:t>• 未提及信息</a:t>
            </a:r>
          </a:p>
          <a:p>
            <a:pPr>
              <a:spcBef>
                <a:spcPts val="100"/>
              </a:spcBef>
            </a:pPr>
            <a:r>
              <a:rPr sz="1500">
                <a:solidFill>
                  <a:srgbClr val="556075"/>
                </a:solidFill>
              </a:rPr>
              <a:t>   选项的内容在原文根本没有出现</a:t>
            </a:r>
          </a:p>
          <a:p>
            <a:pPr>
              <a:spcBef>
                <a:spcPts val="900"/>
              </a:spcBef>
            </a:pPr>
            <a:r>
              <a:rPr sz="1800" b="1">
                <a:solidFill>
                  <a:srgbClr val="1B5E33"/>
                </a:solidFill>
              </a:rPr>
              <a:t>• 识别方法3</a:t>
            </a:r>
          </a:p>
          <a:p>
            <a:pPr>
              <a:spcBef>
                <a:spcPts val="100"/>
              </a:spcBef>
            </a:pPr>
            <a:r>
              <a:rPr sz="1500">
                <a:solidFill>
                  <a:srgbClr val="556075"/>
                </a:solidFill>
              </a:rPr>
              <a:t>   选项含程度词（always/never/all/only）→极端往往错</a:t>
            </a:r>
          </a:p>
          <a:p>
            <a:pPr>
              <a:spcBef>
                <a:spcPts val="900"/>
              </a:spcBef>
            </a:pPr>
            <a:r>
              <a:rPr sz="1800" b="1">
                <a:solidFill>
                  <a:srgbClr val="1B5E33"/>
                </a:solidFill>
              </a:rPr>
              <a:t>• 识别方法4</a:t>
            </a:r>
          </a:p>
          <a:p>
            <a:pPr>
              <a:spcBef>
                <a:spcPts val="100"/>
              </a:spcBef>
            </a:pPr>
            <a:r>
              <a:rPr sz="1500">
                <a:solidFill>
                  <a:srgbClr val="556075"/>
                </a:solidFill>
              </a:rPr>
              <a:t>   选项内容在文章出现但不在指定段落→位置错误</a:t>
            </a:r>
          </a:p>
          <a:p>
            <a:pPr>
              <a:spcBef>
                <a:spcPts val="900"/>
              </a:spcBef>
            </a:pPr>
            <a:r>
              <a:rPr sz="1800" b="1">
                <a:solidFill>
                  <a:srgbClr val="1B5E33"/>
                </a:solidFill>
              </a:rPr>
              <a:t>• 排除策略</a:t>
            </a:r>
          </a:p>
          <a:p>
            <a:pPr>
              <a:spcBef>
                <a:spcPts val="100"/>
              </a:spcBef>
            </a:pPr>
            <a:r>
              <a:rPr sz="1500">
                <a:solidFill>
                  <a:srgbClr val="556075"/>
                </a:solidFill>
              </a:rPr>
              <a:t>   先排除明显错误（未提及/相反），再精读剩余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识别干扰选项步骤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1：看选项有没有原文词——有则警惕，不代表正确</a:t>
            </a:r>
          </a:p>
          <a:p>
            <a:pPr>
              <a:spcBef>
                <a:spcPts val="1000"/>
              </a:spcBef>
            </a:pPr>
            <a:r>
              <a:rPr sz="1650">
                <a:solidFill>
                  <a:srgbClr val="1E293B"/>
                </a:solidFill>
              </a:rPr>
              <a:t>• Step 2：看选项有没有极端词（all/never/always）——极端往往错</a:t>
            </a:r>
          </a:p>
          <a:p>
            <a:pPr>
              <a:spcBef>
                <a:spcPts val="1000"/>
              </a:spcBef>
            </a:pPr>
            <a:r>
              <a:rPr sz="1650">
                <a:solidFill>
                  <a:srgbClr val="1E293B"/>
                </a:solidFill>
              </a:rPr>
              <a:t>• Step 3：意思方向是否与原文一致——相反/无关则排除</a:t>
            </a:r>
          </a:p>
          <a:p>
            <a:pPr>
              <a:spcBef>
                <a:spcPts val="1000"/>
              </a:spcBef>
            </a:pPr>
            <a:r>
              <a:rPr sz="1650">
                <a:solidFill>
                  <a:srgbClr val="1E293B"/>
                </a:solidFill>
              </a:rPr>
              <a:t>• Step 4：选项内容能否在原文找到直接支撑——找不到则排除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干扰选项快速排除优先级</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最先排除：含极端词（all/every/always/never/only）的选项</a:t>
            </a:r>
          </a:p>
          <a:p>
            <a:pPr>
              <a:spcBef>
                <a:spcPts val="1000"/>
              </a:spcBef>
            </a:pPr>
            <a:r>
              <a:rPr sz="1650">
                <a:solidFill>
                  <a:srgbClr val="1E293B"/>
                </a:solidFill>
              </a:rPr>
              <a:t>• 第二排除：内容在原文根本没有出现的选项</a:t>
            </a:r>
          </a:p>
          <a:p>
            <a:pPr>
              <a:spcBef>
                <a:spcPts val="1000"/>
              </a:spcBef>
            </a:pPr>
            <a:r>
              <a:rPr sz="1650">
                <a:solidFill>
                  <a:srgbClr val="1E293B"/>
                </a:solidFill>
              </a:rPr>
              <a:t>• 第三排除：与原文信息方向相反的选项</a:t>
            </a:r>
          </a:p>
          <a:p>
            <a:pPr>
              <a:spcBef>
                <a:spcPts val="1000"/>
              </a:spcBef>
            </a:pPr>
            <a:r>
              <a:rPr sz="1650">
                <a:solidFill>
                  <a:srgbClr val="1E293B"/>
                </a:solidFill>
              </a:rPr>
              <a:t>• 最后精读：剩余选项逐一对比原文，选最忠实的</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原文词干扰破解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原文："The experiment showed a significant improvement in memory retention among elderly participants."
选项：
A. The experiment proved memory retention always improves with age
B. Elderly people showed notably better memory retention in the study
C. All participants showed memory improvement in the experiment
D. The experiment focused on memory problems in the elderly</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A."always improves with age"→ 过度推断，原文只说这个实验的结果 ✗
B."notably better memory retention"→ significant improvement = notably better ✓
C."All participants"→ 原文说"elderly participants"，不是所有人 ✗
D."focused on memory problems"→ 原文说improvement，不是problems ✗
答案：B</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破解技巧：A和C都含极端词（always/all）→优先排除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相反信息识别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原文："Despite initial enthusiasm, the number of participants in the programme gradually decreased over the following months."
选项：
A. Participation in the programme fell steadily after an initial period of interest
B. The programme gained increasing numbers of participants throughout
C. Enthusiasm for the programme remained constant throughout the year
D. The programme was cancelled due to lack of initial interest</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A."fell steadily"= gradually decreased ✓ "initial interest"= initial enthusiasm ✓
B."gaining increasing numbers"→ 与原文相反（decreased）✗
C."remained constant"→ 原文先增后减 ✗
D."cancelled"→ 原文没提取消 ✗
答案：A</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相反信息技巧：关注数量变化词（increase/decrease/rise/fall/improve/worsen）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多选题精准策略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Multiple Choice: Selecting Multiple Answers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多选题核心原则</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Core Rules for Multiple-Answer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原文验证原则</a:t>
            </a:r>
          </a:p>
          <a:p>
            <a:pPr>
              <a:spcBef>
                <a:spcPts val="100"/>
              </a:spcBef>
            </a:pPr>
            <a:r>
              <a:rPr sz="1500">
                <a:solidFill>
                  <a:srgbClr val="556075"/>
                </a:solidFill>
              </a:rPr>
              <a:t>   每个选项都要在原文找到明确支撑——不能凭感觉</a:t>
            </a:r>
          </a:p>
          <a:p>
            <a:pPr>
              <a:spcBef>
                <a:spcPts val="900"/>
              </a:spcBef>
            </a:pPr>
            <a:r>
              <a:rPr sz="1800" b="1">
                <a:solidFill>
                  <a:srgbClr val="1B5E33"/>
                </a:solidFill>
              </a:rPr>
              <a:t>• 逐项排除</a:t>
            </a:r>
          </a:p>
          <a:p>
            <a:pPr>
              <a:spcBef>
                <a:spcPts val="100"/>
              </a:spcBef>
            </a:pPr>
            <a:r>
              <a:rPr sz="1500">
                <a:solidFill>
                  <a:srgbClr val="556075"/>
                </a:solidFill>
              </a:rPr>
              <a:t>   先快速排除完全错误的，再精读剩余候选</a:t>
            </a:r>
          </a:p>
          <a:p>
            <a:pPr>
              <a:spcBef>
                <a:spcPts val="900"/>
              </a:spcBef>
            </a:pPr>
            <a:r>
              <a:rPr sz="1800" b="1">
                <a:solidFill>
                  <a:srgbClr val="1B5E33"/>
                </a:solidFill>
              </a:rPr>
              <a:t>• 不猜测</a:t>
            </a:r>
          </a:p>
          <a:p>
            <a:pPr>
              <a:spcBef>
                <a:spcPts val="100"/>
              </a:spcBef>
            </a:pPr>
            <a:r>
              <a:rPr sz="1500">
                <a:solidFill>
                  <a:srgbClr val="556075"/>
                </a:solidFill>
              </a:rPr>
              <a:t>   不确定的选项宁愿空着——猜错不得分</a:t>
            </a:r>
          </a:p>
          <a:p>
            <a:pPr>
              <a:spcBef>
                <a:spcPts val="900"/>
              </a:spcBef>
            </a:pPr>
            <a:r>
              <a:rPr sz="1800" b="1">
                <a:solidFill>
                  <a:srgbClr val="1B5E33"/>
                </a:solidFill>
              </a:rPr>
              <a:t>• 数量意识</a:t>
            </a:r>
          </a:p>
          <a:p>
            <a:pPr>
              <a:spcBef>
                <a:spcPts val="100"/>
              </a:spcBef>
            </a:pPr>
            <a:r>
              <a:rPr sz="1500">
                <a:solidFill>
                  <a:srgbClr val="556075"/>
                </a:solidFill>
              </a:rPr>
              <a:t>   题目说"TWO"→必须只选2个，多选也不给分</a:t>
            </a:r>
          </a:p>
          <a:p>
            <a:pPr>
              <a:spcBef>
                <a:spcPts val="900"/>
              </a:spcBef>
            </a:pPr>
            <a:r>
              <a:rPr sz="1800" b="1">
                <a:solidFill>
                  <a:srgbClr val="1B5E33"/>
                </a:solidFill>
              </a:rPr>
              <a:t>• 时间分配</a:t>
            </a:r>
          </a:p>
          <a:p>
            <a:pPr>
              <a:spcBef>
                <a:spcPts val="100"/>
              </a:spcBef>
            </a:pPr>
            <a:r>
              <a:rPr sz="1500">
                <a:solidFill>
                  <a:srgbClr val="556075"/>
                </a:solidFill>
              </a:rPr>
              <a:t>   每组多选题2-3分钟——比单选慢，要计划好</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多选题高频考查方向</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What Multiple-Choice Questions Test</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作者观点</a:t>
            </a:r>
          </a:p>
          <a:p>
            <a:pPr>
              <a:spcBef>
                <a:spcPts val="100"/>
              </a:spcBef>
            </a:pPr>
            <a:r>
              <a:rPr sz="1500">
                <a:solidFill>
                  <a:srgbClr val="556075"/>
                </a:solidFill>
              </a:rPr>
              <a:t>   哪几个是作者支持/批评的观点？</a:t>
            </a:r>
          </a:p>
          <a:p>
            <a:pPr>
              <a:spcBef>
                <a:spcPts val="900"/>
              </a:spcBef>
            </a:pPr>
            <a:r>
              <a:rPr sz="1800" b="1">
                <a:solidFill>
                  <a:srgbClr val="1B5E33"/>
                </a:solidFill>
              </a:rPr>
              <a:t>• 研究发现</a:t>
            </a:r>
          </a:p>
          <a:p>
            <a:pPr>
              <a:spcBef>
                <a:spcPts val="100"/>
              </a:spcBef>
            </a:pPr>
            <a:r>
              <a:rPr sz="1500">
                <a:solidFill>
                  <a:srgbClr val="556075"/>
                </a:solidFill>
              </a:rPr>
              <a:t>   实验/研究有哪几个结论？</a:t>
            </a:r>
          </a:p>
          <a:p>
            <a:pPr>
              <a:spcBef>
                <a:spcPts val="900"/>
              </a:spcBef>
            </a:pPr>
            <a:r>
              <a:rPr sz="1800" b="1">
                <a:solidFill>
                  <a:srgbClr val="1B5E33"/>
                </a:solidFill>
              </a:rPr>
              <a:t>• 原因分析</a:t>
            </a:r>
          </a:p>
          <a:p>
            <a:pPr>
              <a:spcBef>
                <a:spcPts val="100"/>
              </a:spcBef>
            </a:pPr>
            <a:r>
              <a:rPr sz="1500">
                <a:solidFill>
                  <a:srgbClr val="556075"/>
                </a:solidFill>
              </a:rPr>
              <a:t>   文章给出了哪几个原因？</a:t>
            </a:r>
          </a:p>
          <a:p>
            <a:pPr>
              <a:spcBef>
                <a:spcPts val="900"/>
              </a:spcBef>
            </a:pPr>
            <a:r>
              <a:rPr sz="1800" b="1">
                <a:solidFill>
                  <a:srgbClr val="1B5E33"/>
                </a:solidFill>
              </a:rPr>
              <a:t>• 建议措施</a:t>
            </a:r>
          </a:p>
          <a:p>
            <a:pPr>
              <a:spcBef>
                <a:spcPts val="100"/>
              </a:spcBef>
            </a:pPr>
            <a:r>
              <a:rPr sz="1500">
                <a:solidFill>
                  <a:srgbClr val="556075"/>
                </a:solidFill>
              </a:rPr>
              <a:t>   作者建议了哪几个方法/措施？</a:t>
            </a:r>
          </a:p>
          <a:p>
            <a:pPr>
              <a:spcBef>
                <a:spcPts val="900"/>
              </a:spcBef>
            </a:pPr>
            <a:r>
              <a:rPr sz="1800" b="1">
                <a:solidFill>
                  <a:srgbClr val="1B5E33"/>
                </a:solidFill>
              </a:rPr>
              <a:t>• 特征描述</a:t>
            </a:r>
          </a:p>
          <a:p>
            <a:pPr>
              <a:spcBef>
                <a:spcPts val="100"/>
              </a:spcBef>
            </a:pPr>
            <a:r>
              <a:rPr sz="1500">
                <a:solidFill>
                  <a:srgbClr val="556075"/>
                </a:solidFill>
              </a:rPr>
              <a:t>   某事物具有哪几个特征？</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多选题核心策略要点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原文验证：每个选项都要找到原文直接支撑——不能感觉对</a:t>
            </a:r>
          </a:p>
          <a:p>
            <a:pPr>
              <a:spcBef>
                <a:spcPts val="1000"/>
              </a:spcBef>
            </a:pPr>
            <a:r>
              <a:rPr sz="1650">
                <a:solidFill>
                  <a:srgbClr val="1E293B"/>
                </a:solidFill>
              </a:rPr>
              <a:t>• 逐项排除：先快速排除完全错误，再精读剩余候选</a:t>
            </a:r>
          </a:p>
          <a:p>
            <a:pPr>
              <a:spcBef>
                <a:spcPts val="1000"/>
              </a:spcBef>
            </a:pPr>
            <a:r>
              <a:rPr sz="1650">
                <a:solidFill>
                  <a:srgbClr val="1E293B"/>
                </a:solidFill>
              </a:rPr>
              <a:t>• 数量意识：确认题目要几个——选错数量全不得分</a:t>
            </a:r>
          </a:p>
          <a:p>
            <a:pPr>
              <a:spcBef>
                <a:spcPts val="1000"/>
              </a:spcBef>
            </a:pPr>
            <a:r>
              <a:rPr sz="1650">
                <a:solidFill>
                  <a:srgbClr val="1E293B"/>
                </a:solidFill>
              </a:rPr>
              <a:t>• 不确定时：宁缺勿错——猜测多选风险远高于单选</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多选题选项验证顺序</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先处理"明显正确"——原文有完全一致的句子，直接选</a:t>
            </a:r>
          </a:p>
          <a:p>
            <a:pPr>
              <a:spcBef>
                <a:spcPts val="1000"/>
              </a:spcBef>
            </a:pPr>
            <a:r>
              <a:rPr sz="1650">
                <a:solidFill>
                  <a:srgbClr val="1E293B"/>
                </a:solidFill>
              </a:rPr>
              <a:t>• 再处理"明显错误"——极端词/相反/未提及，直接排除</a:t>
            </a:r>
          </a:p>
          <a:p>
            <a:pPr>
              <a:spcBef>
                <a:spcPts val="1000"/>
              </a:spcBef>
            </a:pPr>
            <a:r>
              <a:rPr sz="1650">
                <a:solidFill>
                  <a:srgbClr val="1E293B"/>
                </a:solidFill>
              </a:rPr>
              <a:t>• 最后精读"可能"——剩余选项仔细对比原文，找最有支撑的</a:t>
            </a:r>
          </a:p>
          <a:p>
            <a:pPr>
              <a:spcBef>
                <a:spcPts val="1000"/>
              </a:spcBef>
            </a:pPr>
            <a:r>
              <a:rPr sz="1650">
                <a:solidFill>
                  <a:srgbClr val="1E293B"/>
                </a:solidFill>
              </a:rPr>
              <a:t>• 确认数量：选够了吗？不够→再仔细读原文；够了→确认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多选题作者观点型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题目："Which TWO points does the author make about remote working?"
选项：
A. It increases productivity for all workers
B. It can reduce commuting stress
C. It requires strong self-discipline
D. It eliminates the need for office space
E. Companies always save money with remote working</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原文验证：
A."all workers"→ 原文说"some workers"→ 极端词错 ✗
B."reduce commuting stress"→ 原文有明确提及 ✓
C."requires self-discipline"→ 原文有明确提及 ✓
D."eliminates need for office"→ 原文说"reduces"→ 过度说法 ✗
E."always save money"→ 极端词，原文说"may"→ 错 ✗
答案：B+C</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B+C有原文直接支撑；A/D/E含极端词（all/eliminates/always）→优先排除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多选题研究结论型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题目："Which THREE findings did the research identify?"
选项：A.城市比农村幸福感高 B.收入增加超过某点后幸福感不变 C.社会关系最影响幸福感 D.运动直接导致幸福感提升 E.工作满意度与幸福感正相关</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验证策略：
A.→原文没有城乡比较 ✗
B.→原文"diminishing returns on happiness above a threshold"= B ✓
C.→原文"social connections were the strongest predictor"= C ✓
D.→"直接导致"过度推断，原文说"associated with"≠"causes" ✗
E.→原文有明确提及 ✓
答案：B+C+E</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关键：D有"直接导致"→因果过度推断，原文相关性≠因果关系</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选择题同义替换识别</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Paraphrase Recognition in MCQ</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IELTS同义替换规律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How Paraphrase Works in IELTS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词汇替换</a:t>
            </a:r>
          </a:p>
          <a:p>
            <a:pPr>
              <a:spcBef>
                <a:spcPts val="100"/>
              </a:spcBef>
            </a:pPr>
            <a:r>
              <a:rPr sz="1500">
                <a:solidFill>
                  <a:srgbClr val="556075"/>
                </a:solidFill>
              </a:rPr>
              <a:t>   原文用A，选项用A的同义词——意思不变</a:t>
            </a:r>
          </a:p>
          <a:p>
            <a:pPr>
              <a:spcBef>
                <a:spcPts val="900"/>
              </a:spcBef>
            </a:pPr>
            <a:r>
              <a:rPr sz="1800" b="1">
                <a:solidFill>
                  <a:srgbClr val="1B5E33"/>
                </a:solidFill>
              </a:rPr>
              <a:t>• 结构替换</a:t>
            </a:r>
          </a:p>
          <a:p>
            <a:pPr>
              <a:spcBef>
                <a:spcPts val="100"/>
              </a:spcBef>
            </a:pPr>
            <a:r>
              <a:rPr sz="1500">
                <a:solidFill>
                  <a:srgbClr val="556075"/>
                </a:solidFill>
              </a:rPr>
              <a:t>   主动→被动，或反过来——意思不变</a:t>
            </a:r>
          </a:p>
          <a:p>
            <a:pPr>
              <a:spcBef>
                <a:spcPts val="900"/>
              </a:spcBef>
            </a:pPr>
            <a:r>
              <a:rPr sz="1800" b="1">
                <a:solidFill>
                  <a:srgbClr val="1B5E33"/>
                </a:solidFill>
              </a:rPr>
              <a:t>• 范围替换</a:t>
            </a:r>
          </a:p>
          <a:p>
            <a:pPr>
              <a:spcBef>
                <a:spcPts val="100"/>
              </a:spcBef>
            </a:pPr>
            <a:r>
              <a:rPr sz="1500">
                <a:solidFill>
                  <a:srgbClr val="556075"/>
                </a:solidFill>
              </a:rPr>
              <a:t>   原文具体词→选项概括词——意思等同</a:t>
            </a:r>
          </a:p>
          <a:p>
            <a:pPr>
              <a:spcBef>
                <a:spcPts val="900"/>
              </a:spcBef>
            </a:pPr>
            <a:r>
              <a:rPr sz="1800" b="1">
                <a:solidFill>
                  <a:srgbClr val="1B5E33"/>
                </a:solidFill>
              </a:rPr>
              <a:t>• 数据替换</a:t>
            </a:r>
          </a:p>
          <a:p>
            <a:pPr>
              <a:spcBef>
                <a:spcPts val="100"/>
              </a:spcBef>
            </a:pPr>
            <a:r>
              <a:rPr sz="1500">
                <a:solidFill>
                  <a:srgbClr val="556075"/>
                </a:solidFill>
              </a:rPr>
              <a:t>   原文"50%"→选项"half"——意思不变</a:t>
            </a:r>
          </a:p>
          <a:p>
            <a:pPr>
              <a:spcBef>
                <a:spcPts val="900"/>
              </a:spcBef>
            </a:pPr>
            <a:r>
              <a:rPr sz="1800" b="1">
                <a:solidFill>
                  <a:srgbClr val="1B5E33"/>
                </a:solidFill>
              </a:rPr>
              <a:t>• 考点核心</a:t>
            </a:r>
          </a:p>
          <a:p>
            <a:pPr>
              <a:spcBef>
                <a:spcPts val="100"/>
              </a:spcBef>
            </a:pPr>
            <a:r>
              <a:rPr sz="1500">
                <a:solidFill>
                  <a:srgbClr val="556075"/>
                </a:solidFill>
              </a:rPr>
              <a:t>   会识别同义替换→才能找到正确答案</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高频同义替换词组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Key Paraphrase Pairs for MCQ</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increase/rise/grow</a:t>
            </a:r>
          </a:p>
          <a:p>
            <a:pPr>
              <a:spcBef>
                <a:spcPts val="100"/>
              </a:spcBef>
            </a:pPr>
            <a:r>
              <a:rPr sz="1500">
                <a:solidFill>
                  <a:srgbClr val="556075"/>
                </a:solidFill>
              </a:rPr>
              <a:t>   → surge/soar/climb/expand</a:t>
            </a:r>
          </a:p>
          <a:p>
            <a:pPr>
              <a:spcBef>
                <a:spcPts val="900"/>
              </a:spcBef>
            </a:pPr>
            <a:r>
              <a:rPr sz="1800" b="1">
                <a:solidFill>
                  <a:srgbClr val="1B5E33"/>
                </a:solidFill>
              </a:rPr>
              <a:t>• decrease/fall/drop</a:t>
            </a:r>
          </a:p>
          <a:p>
            <a:pPr>
              <a:spcBef>
                <a:spcPts val="100"/>
              </a:spcBef>
            </a:pPr>
            <a:r>
              <a:rPr sz="1500">
                <a:solidFill>
                  <a:srgbClr val="556075"/>
                </a:solidFill>
              </a:rPr>
              <a:t>   → decline/reduce/shrink/plummet</a:t>
            </a:r>
          </a:p>
          <a:p>
            <a:pPr>
              <a:spcBef>
                <a:spcPts val="900"/>
              </a:spcBef>
            </a:pPr>
            <a:r>
              <a:rPr sz="1800" b="1">
                <a:solidFill>
                  <a:srgbClr val="1B5E33"/>
                </a:solidFill>
              </a:rPr>
              <a:t>• significant/major</a:t>
            </a:r>
          </a:p>
          <a:p>
            <a:pPr>
              <a:spcBef>
                <a:spcPts val="100"/>
              </a:spcBef>
            </a:pPr>
            <a:r>
              <a:rPr sz="1500">
                <a:solidFill>
                  <a:srgbClr val="556075"/>
                </a:solidFill>
              </a:rPr>
              <a:t>   → substantial/considerable/notable</a:t>
            </a:r>
          </a:p>
          <a:p>
            <a:pPr>
              <a:spcBef>
                <a:spcPts val="900"/>
              </a:spcBef>
            </a:pPr>
            <a:r>
              <a:rPr sz="1800" b="1">
                <a:solidFill>
                  <a:srgbClr val="1B5E33"/>
                </a:solidFill>
              </a:rPr>
              <a:t>• show/reveal</a:t>
            </a:r>
          </a:p>
          <a:p>
            <a:pPr>
              <a:spcBef>
                <a:spcPts val="100"/>
              </a:spcBef>
            </a:pPr>
            <a:r>
              <a:rPr sz="1500">
                <a:solidFill>
                  <a:srgbClr val="556075"/>
                </a:solidFill>
              </a:rPr>
              <a:t>   → demonstrate/indicate/suggest/prove</a:t>
            </a:r>
          </a:p>
          <a:p>
            <a:pPr>
              <a:spcBef>
                <a:spcPts val="900"/>
              </a:spcBef>
            </a:pPr>
            <a:r>
              <a:rPr sz="1800" b="1">
                <a:solidFill>
                  <a:srgbClr val="1B5E33"/>
                </a:solidFill>
              </a:rPr>
              <a:t>• problem/issue</a:t>
            </a:r>
          </a:p>
          <a:p>
            <a:pPr>
              <a:spcBef>
                <a:spcPts val="100"/>
              </a:spcBef>
            </a:pPr>
            <a:r>
              <a:rPr sz="1500">
                <a:solidFill>
                  <a:srgbClr val="556075"/>
                </a:solidFill>
              </a:rPr>
              <a:t>   → challenge/difficulty/obstacle/concern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同义替换识别方法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方法1：找词汇替换——原文A，选项用A的同义词，意思完全一致</a:t>
            </a:r>
          </a:p>
          <a:p>
            <a:pPr>
              <a:spcBef>
                <a:spcPts val="1000"/>
              </a:spcBef>
            </a:pPr>
            <a:r>
              <a:rPr sz="1650">
                <a:solidFill>
                  <a:srgbClr val="1E293B"/>
                </a:solidFill>
              </a:rPr>
              <a:t>• 方法2：找结构替换——原文主动句，选项被动句，意思不变</a:t>
            </a:r>
          </a:p>
          <a:p>
            <a:pPr>
              <a:spcBef>
                <a:spcPts val="1000"/>
              </a:spcBef>
            </a:pPr>
            <a:r>
              <a:rPr sz="1650">
                <a:solidFill>
                  <a:srgbClr val="1E293B"/>
                </a:solidFill>
              </a:rPr>
              <a:t>• 方法3：找概括替换——原文具体词，选项用更概括的词表达</a:t>
            </a:r>
          </a:p>
          <a:p>
            <a:pPr>
              <a:spcBef>
                <a:spcPts val="1000"/>
              </a:spcBef>
            </a:pPr>
            <a:r>
              <a:rPr sz="1650">
                <a:solidFill>
                  <a:srgbClr val="1E293B"/>
                </a:solidFill>
              </a:rPr>
              <a:t>• 方法4：确认范围——选项范围与原文一致，不扩大不缩小</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同义替换验证步骤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Step 1：找到选项中的关键词</a:t>
            </a:r>
          </a:p>
          <a:p>
            <a:pPr>
              <a:spcBef>
                <a:spcPts val="1000"/>
              </a:spcBef>
            </a:pPr>
            <a:r>
              <a:rPr sz="1650">
                <a:solidFill>
                  <a:srgbClr val="1E293B"/>
                </a:solidFill>
              </a:rPr>
              <a:t>• Step 2：在原文定位包含这些词的句子</a:t>
            </a:r>
          </a:p>
          <a:p>
            <a:pPr>
              <a:spcBef>
                <a:spcPts val="1000"/>
              </a:spcBef>
            </a:pPr>
            <a:r>
              <a:rPr sz="1650">
                <a:solidFill>
                  <a:srgbClr val="1E293B"/>
                </a:solidFill>
              </a:rPr>
              <a:t>• Step 3：比较：选项词 vs 原文词——是否表达完全相同的意思？</a:t>
            </a:r>
          </a:p>
          <a:p>
            <a:pPr>
              <a:spcBef>
                <a:spcPts val="1000"/>
              </a:spcBef>
            </a:pPr>
            <a:r>
              <a:rPr sz="1650">
                <a:solidFill>
                  <a:srgbClr val="1E293B"/>
                </a:solidFill>
              </a:rPr>
              <a:t>• Step 4：确认范围一致——选项没有扩大或缩小原文说的内容</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同义替换识别训练1</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原文："The government implemented strict regulations to curb carbon emissions from industrial sources."
哪个选项正确？
A. Rules were introduced to control pollution from factories
B. Carbon emissions increased despite government action
C. The government eliminated all industrial carbon emissions
D. Strict regulations reduced government industrial control</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原文→ implemented strict regulations = Rules were introduced ✓
curb carbon emissions = control pollution ✓
industrial sources = factories ✓
A完全是同义替换 ✓
B与原文相反（curb≠increase）✗
C"eliminated all"→ 过度，原文说"curb"（控制）✗
D意思混乱，与原文无关 ✗
答案：A</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同义替换链：implemented→introduced / curb→control / industrial sources→factories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同义替换识别训练2</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原文："Researchers discovered that children who read for pleasure consistently outperformed their peers in standardised tests."
哪个选项正确？
A. Reading for fun helped children do better in exams
B. Children who read were more intelligent than non-readers
C. Standardised tests showed that all children benefit from reading
D. Researchers found that reading for pleasure had no effect on test scores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分析：
read for pleasure = Reading for fun ✓
outperformed their peers = do better ✓
standardised tests = exams ✓
A完整同义替换 ✓
B"more intelligent"→ 原文没说智力 ✗
C"all children"→ 原文只说"who read for pleasure" ✗
D与原文完全相反 ✗
答案：A</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核心：同义替换≠意思改变——选项用不同词但意思100%匹配原文</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E09A10"/>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选择题综合实战</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MCQ: Full Practice Strategy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完整做题流程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Complete MCQ Process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Step 1：读题目</a:t>
            </a:r>
          </a:p>
          <a:p>
            <a:pPr>
              <a:spcBef>
                <a:spcPts val="100"/>
              </a:spcBef>
            </a:pPr>
            <a:r>
              <a:rPr sz="1500">
                <a:solidFill>
                  <a:srgbClr val="556075"/>
                </a:solidFill>
              </a:rPr>
              <a:t>   读问题（暂不看选项）——提取关键词</a:t>
            </a:r>
          </a:p>
          <a:p>
            <a:pPr>
              <a:spcBef>
                <a:spcPts val="900"/>
              </a:spcBef>
            </a:pPr>
            <a:r>
              <a:rPr sz="1800" b="1">
                <a:solidFill>
                  <a:srgbClr val="1B5E33"/>
                </a:solidFill>
              </a:rPr>
              <a:t>• Step 2：定位原文</a:t>
            </a:r>
          </a:p>
          <a:p>
            <a:pPr>
              <a:spcBef>
                <a:spcPts val="100"/>
              </a:spcBef>
            </a:pPr>
            <a:r>
              <a:rPr sz="1500">
                <a:solidFill>
                  <a:srgbClr val="556075"/>
                </a:solidFill>
              </a:rPr>
              <a:t>   用关键词在文章定位，找相关段落</a:t>
            </a:r>
          </a:p>
          <a:p>
            <a:pPr>
              <a:spcBef>
                <a:spcPts val="900"/>
              </a:spcBef>
            </a:pPr>
            <a:r>
              <a:rPr sz="1800" b="1">
                <a:solidFill>
                  <a:srgbClr val="1B5E33"/>
                </a:solidFill>
              </a:rPr>
              <a:t>• Step 3：精读原文</a:t>
            </a:r>
          </a:p>
          <a:p>
            <a:pPr>
              <a:spcBef>
                <a:spcPts val="100"/>
              </a:spcBef>
            </a:pPr>
            <a:r>
              <a:rPr sz="1500">
                <a:solidFill>
                  <a:srgbClr val="556075"/>
                </a:solidFill>
              </a:rPr>
              <a:t>   精读定位句，完全理解意思</a:t>
            </a:r>
          </a:p>
          <a:p>
            <a:pPr>
              <a:spcBef>
                <a:spcPts val="900"/>
              </a:spcBef>
            </a:pPr>
            <a:r>
              <a:rPr sz="1800" b="1">
                <a:solidFill>
                  <a:srgbClr val="1B5E33"/>
                </a:solidFill>
              </a:rPr>
              <a:t>• Step 4：对照选项</a:t>
            </a:r>
          </a:p>
          <a:p>
            <a:pPr>
              <a:spcBef>
                <a:spcPts val="100"/>
              </a:spcBef>
            </a:pPr>
            <a:r>
              <a:rPr sz="1500">
                <a:solidFill>
                  <a:srgbClr val="556075"/>
                </a:solidFill>
              </a:rPr>
              <a:t>   看每个选项与原文的关系——匹配/不匹配/过度/相反</a:t>
            </a:r>
          </a:p>
          <a:p>
            <a:pPr>
              <a:spcBef>
                <a:spcPts val="900"/>
              </a:spcBef>
            </a:pPr>
            <a:r>
              <a:rPr sz="1800" b="1">
                <a:solidFill>
                  <a:srgbClr val="1B5E33"/>
                </a:solidFill>
              </a:rPr>
              <a:t>• Step 5：确认答案</a:t>
            </a:r>
          </a:p>
          <a:p>
            <a:pPr>
              <a:spcBef>
                <a:spcPts val="100"/>
              </a:spcBef>
            </a:pPr>
            <a:r>
              <a:rPr sz="1500">
                <a:solidFill>
                  <a:srgbClr val="556075"/>
                </a:solidFill>
              </a:rPr>
              <a:t>   选最能忠实反映原文的选项</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深圳学生MCQ常见错误</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43000"/>
            <a:ext cx="11064240" cy="8686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1B5E33"/>
                </a:solidFill>
                <a:latin typeface="Calibri"/>
              </a:rPr>
              <a:t>Student Errors to Avoid</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1B5E33"/>
                </a:solidFill>
              </a:rPr>
              <a:t>• 凭语感选</a:t>
            </a:r>
          </a:p>
          <a:p>
            <a:pPr>
              <a:spcBef>
                <a:spcPts val="100"/>
              </a:spcBef>
            </a:pPr>
            <a:r>
              <a:rPr sz="1500">
                <a:solidFill>
                  <a:srgbClr val="556075"/>
                </a:solidFill>
              </a:rPr>
              <a:t>   没有回原文验证——靠感觉或常识选</a:t>
            </a:r>
          </a:p>
          <a:p>
            <a:pPr>
              <a:spcBef>
                <a:spcPts val="900"/>
              </a:spcBef>
            </a:pPr>
            <a:r>
              <a:rPr sz="1800" b="1">
                <a:solidFill>
                  <a:srgbClr val="1B5E33"/>
                </a:solidFill>
              </a:rPr>
              <a:t>• 原文词陷阱</a:t>
            </a:r>
          </a:p>
          <a:p>
            <a:pPr>
              <a:spcBef>
                <a:spcPts val="100"/>
              </a:spcBef>
            </a:pPr>
            <a:r>
              <a:rPr sz="1500">
                <a:solidFill>
                  <a:srgbClr val="556075"/>
                </a:solidFill>
              </a:rPr>
              <a:t>   选项有原文词就选——没检验意思是否改变</a:t>
            </a:r>
          </a:p>
          <a:p>
            <a:pPr>
              <a:spcBef>
                <a:spcPts val="900"/>
              </a:spcBef>
            </a:pPr>
            <a:r>
              <a:rPr sz="1800" b="1">
                <a:solidFill>
                  <a:srgbClr val="1B5E33"/>
                </a:solidFill>
              </a:rPr>
              <a:t>• 极端词忽略</a:t>
            </a:r>
          </a:p>
          <a:p>
            <a:pPr>
              <a:spcBef>
                <a:spcPts val="100"/>
              </a:spcBef>
            </a:pPr>
            <a:r>
              <a:rPr sz="1500">
                <a:solidFill>
                  <a:srgbClr val="556075"/>
                </a:solidFill>
              </a:rPr>
              <a:t>   没注意选项中always/never/all/only/completely</a:t>
            </a:r>
          </a:p>
          <a:p>
            <a:pPr>
              <a:spcBef>
                <a:spcPts val="900"/>
              </a:spcBef>
            </a:pPr>
            <a:r>
              <a:rPr sz="1800" b="1">
                <a:solidFill>
                  <a:srgbClr val="1B5E33"/>
                </a:solidFill>
              </a:rPr>
              <a:t>• 多选数量错</a:t>
            </a:r>
          </a:p>
          <a:p>
            <a:pPr>
              <a:spcBef>
                <a:spcPts val="100"/>
              </a:spcBef>
            </a:pPr>
            <a:r>
              <a:rPr sz="1500">
                <a:solidFill>
                  <a:srgbClr val="556075"/>
                </a:solidFill>
              </a:rPr>
              <a:t>   选了3个但题目要求2个——评分规则不熟</a:t>
            </a:r>
          </a:p>
          <a:p>
            <a:pPr>
              <a:spcBef>
                <a:spcPts val="900"/>
              </a:spcBef>
            </a:pPr>
            <a:r>
              <a:rPr sz="1800" b="1">
                <a:solidFill>
                  <a:srgbClr val="1B5E33"/>
                </a:solidFill>
              </a:rPr>
              <a:t>• 时间失控</a:t>
            </a:r>
          </a:p>
          <a:p>
            <a:pPr>
              <a:spcBef>
                <a:spcPts val="100"/>
              </a:spcBef>
            </a:pPr>
            <a:r>
              <a:rPr sz="1500">
                <a:solidFill>
                  <a:srgbClr val="556075"/>
                </a:solidFill>
              </a:rPr>
              <a:t>   一道题超时导致后面题目来不及</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MCQ综合策略回顾</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定位策略：题目关键词→扫读定位段落→精读相关句</a:t>
            </a:r>
          </a:p>
          <a:p>
            <a:pPr>
              <a:spcBef>
                <a:spcPts val="1000"/>
              </a:spcBef>
            </a:pPr>
            <a:r>
              <a:rPr sz="1650">
                <a:solidFill>
                  <a:srgbClr val="1E293B"/>
                </a:solidFill>
              </a:rPr>
              <a:t>• 验证策略：对照选项——同义替换✓/极端词✗/相反✗/未提及✗</a:t>
            </a:r>
          </a:p>
          <a:p>
            <a:pPr>
              <a:spcBef>
                <a:spcPts val="1000"/>
              </a:spcBef>
            </a:pPr>
            <a:r>
              <a:rPr sz="1650">
                <a:solidFill>
                  <a:srgbClr val="1E293B"/>
                </a:solidFill>
              </a:rPr>
              <a:t>• 时间策略：单选&lt;90秒，多选&lt;3分钟，超时先猜继续</a:t>
            </a:r>
          </a:p>
          <a:p>
            <a:pPr>
              <a:spcBef>
                <a:spcPts val="1000"/>
              </a:spcBef>
            </a:pPr>
            <a:r>
              <a:rPr sz="1650">
                <a:solidFill>
                  <a:srgbClr val="1E293B"/>
                </a:solidFill>
              </a:rPr>
              <a:t>• 检查策略：多选最后确认数量，不多不少</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深圳学生MCQ综合提分要点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最大失分原因：没回原文验证，凭感觉或常识选</a:t>
            </a:r>
          </a:p>
          <a:p>
            <a:pPr>
              <a:spcBef>
                <a:spcPts val="1000"/>
              </a:spcBef>
            </a:pPr>
            <a:r>
              <a:rPr sz="1650">
                <a:solidFill>
                  <a:srgbClr val="1E293B"/>
                </a:solidFill>
              </a:rPr>
              <a:t>• 第二大失分：忽略极端词，选了all/always/never的选项</a:t>
            </a:r>
          </a:p>
          <a:p>
            <a:pPr>
              <a:spcBef>
                <a:spcPts val="1000"/>
              </a:spcBef>
            </a:pPr>
            <a:r>
              <a:rPr sz="1650">
                <a:solidFill>
                  <a:srgbClr val="1E293B"/>
                </a:solidFill>
              </a:rPr>
              <a:t>• 第三大失分：多选时选错了数量（选了3个但题要2个）</a:t>
            </a:r>
          </a:p>
          <a:p>
            <a:pPr>
              <a:spcBef>
                <a:spcPts val="1000"/>
              </a:spcBef>
            </a:pPr>
            <a:r>
              <a:rPr sz="1650">
                <a:solidFill>
                  <a:srgbClr val="1E293B"/>
                </a:solidFill>
              </a:rPr>
              <a:t>• 提升关键：每次做错后标注干扰类型，积累同义替换</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单选综合实战题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原文段落：
"Electric vehicles have become increasingly popular in recent years, yet significant barriers remain. The high upfront cost deters many potential buyers, while the limited charging infrastructure in rural areas poses a practical challenge. Nevertheless, government subsidies in several countries have helped bridge the affordability gap."
题目："According to the passage, what is ONE challenge facing electric vehicle adoption?"
A. Electric vehicles are more expensive to maintain
B. Rural areas lack sufficient charging facilities
C. Government subsidies are unavailable in most countries
D. Electric vehicles are less popular than traditional cars</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定位+验证：
"limited charging infrastructure in rural areas"→ B ✓
A"维护成本"→原文没提 ✗
C"most countries无补贴"→原文说"several countries有补贴"→ 相反 ✗
D"less popular"→原文说"increasingly popular"→ 相反 ✗
答案：B</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答案B是"limited charging infrastructure in rural areas"的直接同义替换</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多选综合实战题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6576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原文基于上段+下段：政府补贴+消费者态度研究显示：成本下降和充电方便是购买意愿两大因素
题目："Which TWO factors most influence consumers' willingness to buy electric vehicles?"
A. Government policy on emissions
B. Reduction in vehicle purchase price
C. Availability of charging stations
D. Environmental concerns
E. Vehicle speed and performance</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验证：
A.排放政策→ 原文没有提到消费者最关心这个 ✗
B.购买价格降低→ 原文明确"成本下降是主因" ✓
C.充电方便→ 原文明确"充电方便是主因" ✓
D.环保关注→ 原文提到但不是最主要因素 ✗
E.速度性能→ 原文未提及 ✗
答案：B+C</a:t>
            </a:r>
          </a:p>
        </p:txBody>
      </p:sp>
      <p:sp>
        <p:nvSpPr>
          <p:cNvPr id="14" name="Rectangle 13"/>
          <p:cNvSpPr/>
          <p:nvPr/>
        </p:nvSpPr>
        <p:spPr>
          <a:xfrm>
            <a:off x="548640" y="5669279"/>
            <a:ext cx="11064240" cy="36576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多选验证：B和C都有原文直接支撑；D虽相关但原文说不是"最主要"因素</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单选题高分示范：推断型题目</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题目：原文："While the initial investment in renewable energy infrastructure is substantial, long-term operational costs are considerably lower than those of fossil fuel plants. Moreover, as technology advances and production scales up, the price of solar and wind energy has dropped by over 80% in the last decade."
题目："What can be inferred about renewable energy from this passage?"
A. Renewable energy is now cheaper than fossil fuels in all contexts
B. The cost of renewable energy technology is likely to continue decreasing
C. Fossil fuel plants will be replaced within the next decade
D. Investment in renewable energy is no longer necessary</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推断题分析：
A."in all contexts"→ 过度推断，原文只说运营成本更低 ✗
B."likely to continue decreasing"→ 原文说已下降80%+技术进步→ 合理推断 ✓
C."replaced within the next decade"→ 原文没有这样的时间预测 ✗
D."no longer necessary"→ 与原文说需要初始投资矛盾 ✗
答案：B</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推断题规律：选项要有原文逻辑支撑——不能无中生有，也不能过度推断</a:t>
            </a:r>
          </a:p>
          <a:p>
            <a:pPr>
              <a:spcBef>
                <a:spcPts val="700"/>
              </a:spcBef>
            </a:pPr>
            <a:r>
              <a:rPr sz="1200">
                <a:solidFill>
                  <a:srgbClr val="1E293B"/>
                </a:solidFill>
              </a:rPr>
              <a:t>▸ B的推断链：价格已下降80%+技术进步→ 合理推测未来继续降</a:t>
            </a:r>
          </a:p>
          <a:p>
            <a:pPr>
              <a:spcBef>
                <a:spcPts val="700"/>
              </a:spcBef>
            </a:pPr>
            <a:r>
              <a:rPr sz="1200">
                <a:solidFill>
                  <a:srgbClr val="1E293B"/>
                </a:solidFill>
              </a:rPr>
              <a:t>▸ 排除极端词：A(all contexts)/C(within decade)/D(no longer)→优先排除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多选题高分示范：研究发现型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11064240" cy="384048"/>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题目：原文："A longitudinal study tracking 10,000 adults over 20 years found that regular exercise was associated with lower rates of depression and anxiety. Participants who exercised at least three times per week also reported higher satisfaction with their social relationships. Notably, the mental health benefits were observed regardless of the type of exercise performed."
题目："Which TWO findings are reported in the study?"
A.运动减少抑郁焦虑 B.每日运动效果最好 C.人际关系满意度提升 D.特定运动类型最有效 E.运动改善体重</a:t>
            </a:r>
          </a:p>
        </p:txBody>
      </p:sp>
      <p:sp>
        <p:nvSpPr>
          <p:cNvPr id="10" name="Rounded Rectangle 9"/>
          <p:cNvSpPr/>
          <p:nvPr/>
        </p:nvSpPr>
        <p:spPr>
          <a:xfrm>
            <a:off x="548640" y="1783080"/>
            <a:ext cx="7040880" cy="416052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验证每项：
A."associated with lower rates of depression and anxiety"→ 直接有 ✓
B."at least three times/week"→ 没说每日最好，错 ✗
C."higher satisfaction with their social relationships"→ 直接有 ✓
D."regardless of the type"→ 原文说与类型无关，D错 ✗
E.体重→ 原文没有提及 ✗
答案：A+C</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E09A10"/>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A和C有原文直接支撑——关键词直接对应</a:t>
            </a:r>
          </a:p>
          <a:p>
            <a:pPr>
              <a:spcBef>
                <a:spcPts val="700"/>
              </a:spcBef>
            </a:pPr>
            <a:r>
              <a:rPr sz="1200">
                <a:solidFill>
                  <a:srgbClr val="1E293B"/>
                </a:solidFill>
              </a:rPr>
              <a:t>▸ D是陷阱：原文说"regardless of type"→恰好与D相反</a:t>
            </a:r>
          </a:p>
          <a:p>
            <a:pPr>
              <a:spcBef>
                <a:spcPts val="700"/>
              </a:spcBef>
            </a:pPr>
            <a:r>
              <a:rPr sz="1200">
                <a:solidFill>
                  <a:srgbClr val="1E293B"/>
                </a:solidFill>
              </a:rPr>
              <a:t>▸ B和E都是未提及/扭曲信息→排除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单选题 vs 多选题：策略对比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单选题策略</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多选题策略</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定位一段原文精读</a:t>
            </a:r>
          </a:p>
          <a:p>
            <a:pPr>
              <a:spcBef>
                <a:spcPts val="700"/>
              </a:spcBef>
            </a:pPr>
            <a:r>
              <a:rPr sz="1350">
                <a:solidFill>
                  <a:srgbClr val="C02A2A"/>
                </a:solidFill>
              </a:rPr>
              <a:t>✗ 4选1——可用排除法</a:t>
            </a:r>
          </a:p>
          <a:p>
            <a:pPr>
              <a:spcBef>
                <a:spcPts val="700"/>
              </a:spcBef>
            </a:pPr>
            <a:r>
              <a:rPr sz="1350">
                <a:solidFill>
                  <a:srgbClr val="C02A2A"/>
                </a:solidFill>
              </a:rPr>
              <a:t>✗ 找最忠实反映原文的选项</a:t>
            </a:r>
          </a:p>
          <a:p>
            <a:pPr>
              <a:spcBef>
                <a:spcPts val="700"/>
              </a:spcBef>
            </a:pPr>
            <a:r>
              <a:rPr sz="1350">
                <a:solidFill>
                  <a:srgbClr val="C02A2A"/>
                </a:solidFill>
              </a:rPr>
              <a:t>✗ 注意：同义替换识别</a:t>
            </a:r>
          </a:p>
          <a:p>
            <a:pPr>
              <a:spcBef>
                <a:spcPts val="700"/>
              </a:spcBef>
            </a:pPr>
            <a:r>
              <a:rPr sz="1350">
                <a:solidFill>
                  <a:srgbClr val="C02A2A"/>
                </a:solidFill>
              </a:rPr>
              <a:t>✗ 时间：1-1.5分钟/题</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逐项回原文验证</a:t>
            </a:r>
          </a:p>
          <a:p>
            <a:pPr>
              <a:spcBef>
                <a:spcPts val="700"/>
              </a:spcBef>
            </a:pPr>
            <a:r>
              <a:rPr sz="1350">
                <a:solidFill>
                  <a:srgbClr val="1B7A3D"/>
                </a:solidFill>
              </a:rPr>
              <a:t>✓ 每个选项都要找证据</a:t>
            </a:r>
          </a:p>
          <a:p>
            <a:pPr>
              <a:spcBef>
                <a:spcPts val="700"/>
              </a:spcBef>
            </a:pPr>
            <a:r>
              <a:rPr sz="1350">
                <a:solidFill>
                  <a:srgbClr val="1B7A3D"/>
                </a:solidFill>
              </a:rPr>
              <a:t>✓ 不能凭感觉——全对才得分</a:t>
            </a:r>
          </a:p>
          <a:p>
            <a:pPr>
              <a:spcBef>
                <a:spcPts val="700"/>
              </a:spcBef>
            </a:pPr>
            <a:r>
              <a:rPr sz="1350">
                <a:solidFill>
                  <a:srgbClr val="1B7A3D"/>
                </a:solidFill>
              </a:rPr>
              <a:t>✓ 注意：选项数量（2or3）</a:t>
            </a:r>
          </a:p>
          <a:p>
            <a:pPr>
              <a:spcBef>
                <a:spcPts val="700"/>
              </a:spcBef>
            </a:pPr>
            <a:r>
              <a:rPr sz="1350">
                <a:solidFill>
                  <a:srgbClr val="1B7A3D"/>
                </a:solidFill>
              </a:rPr>
              <a:t>✓ 时间：2-3分钟/组</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正确选项 vs 干扰选项：识别特征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 正确选项特征</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 干扰选项特征</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忠实反映原文意思（同义替换）</a:t>
            </a:r>
          </a:p>
          <a:p>
            <a:pPr>
              <a:spcBef>
                <a:spcPts val="700"/>
              </a:spcBef>
            </a:pPr>
            <a:r>
              <a:rPr sz="1350">
                <a:solidFill>
                  <a:srgbClr val="C02A2A"/>
                </a:solidFill>
              </a:rPr>
              <a:t>✗ 范围与原文一致，不扩大不缩小</a:t>
            </a:r>
          </a:p>
          <a:p>
            <a:pPr>
              <a:spcBef>
                <a:spcPts val="700"/>
              </a:spcBef>
            </a:pPr>
            <a:r>
              <a:rPr sz="1350">
                <a:solidFill>
                  <a:srgbClr val="C02A2A"/>
                </a:solidFill>
              </a:rPr>
              <a:t>✗ 没有极端词（all/always/never/only）</a:t>
            </a:r>
          </a:p>
          <a:p>
            <a:pPr>
              <a:spcBef>
                <a:spcPts val="700"/>
              </a:spcBef>
            </a:pPr>
            <a:r>
              <a:rPr sz="1350">
                <a:solidFill>
                  <a:srgbClr val="C02A2A"/>
                </a:solidFill>
              </a:rPr>
              <a:t>✗ 意思方向与原文完全一致</a:t>
            </a:r>
          </a:p>
          <a:p>
            <a:pPr>
              <a:spcBef>
                <a:spcPts val="700"/>
              </a:spcBef>
            </a:pPr>
            <a:r>
              <a:rPr sz="1350">
                <a:solidFill>
                  <a:srgbClr val="C02A2A"/>
                </a:solidFill>
              </a:rPr>
              <a:t>✗ 在原文中能找到直接支撑句</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有原文词但意思被扭曲</a:t>
            </a:r>
          </a:p>
          <a:p>
            <a:pPr>
              <a:spcBef>
                <a:spcPts val="700"/>
              </a:spcBef>
            </a:pPr>
            <a:r>
              <a:rPr sz="1350">
                <a:solidFill>
                  <a:srgbClr val="1B7A3D"/>
                </a:solidFill>
              </a:rPr>
              <a:t>✓ 含极端词（all/every/never/always）</a:t>
            </a:r>
          </a:p>
          <a:p>
            <a:pPr>
              <a:spcBef>
                <a:spcPts val="700"/>
              </a:spcBef>
            </a:pPr>
            <a:r>
              <a:rPr sz="1350">
                <a:solidFill>
                  <a:srgbClr val="1B7A3D"/>
                </a:solidFill>
              </a:rPr>
              <a:t>✓ 过度推断（原文A→选项说因此导致B）</a:t>
            </a:r>
          </a:p>
          <a:p>
            <a:pPr>
              <a:spcBef>
                <a:spcPts val="700"/>
              </a:spcBef>
            </a:pPr>
            <a:r>
              <a:rPr sz="1350">
                <a:solidFill>
                  <a:srgbClr val="1B7A3D"/>
                </a:solidFill>
              </a:rPr>
              <a:t>✓ 与原文信息相反</a:t>
            </a:r>
          </a:p>
          <a:p>
            <a:pPr>
              <a:spcBef>
                <a:spcPts val="700"/>
              </a:spcBef>
            </a:pPr>
            <a:r>
              <a:rPr sz="1350">
                <a:solidFill>
                  <a:srgbClr val="1B7A3D"/>
                </a:solidFill>
              </a:rPr>
              <a:t>✓ 内容合理但原文根本没有提及</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MCQ做题8步标准流程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80160"/>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1B5E33"/>
                </a:solidFill>
                <a:latin typeface="Calibri"/>
              </a:rPr>
              <a:t>Step 1：读题目关键词</a:t>
            </a:r>
          </a:p>
        </p:txBody>
      </p:sp>
      <p:sp>
        <p:nvSpPr>
          <p:cNvPr id="12" name="TextBox 11"/>
          <p:cNvSpPr txBox="1"/>
          <p:nvPr/>
        </p:nvSpPr>
        <p:spPr>
          <a:xfrm>
            <a:off x="1417320" y="1645919"/>
            <a:ext cx="10058400" cy="228599"/>
          </a:xfrm>
          <a:prstGeom prst="rect">
            <a:avLst/>
          </a:prstGeom>
          <a:noFill/>
        </p:spPr>
        <p:txBody>
          <a:bodyPr wrap="square" anchor="t">
            <a:spAutoFit/>
          </a:bodyPr>
          <a:lstStyle/>
          <a:p>
            <a:pPr algn="l"/>
            <a:r>
              <a:rPr sz="1350" b="0" i="0">
                <a:solidFill>
                  <a:srgbClr val="556075"/>
                </a:solidFill>
                <a:latin typeface="Calibri"/>
              </a:rPr>
              <a:t>提取题目中的名词/动词，确认考查的是什么</a:t>
            </a:r>
          </a:p>
        </p:txBody>
      </p:sp>
      <p:sp>
        <p:nvSpPr>
          <p:cNvPr id="13" name="Rounded Rectangle 12"/>
          <p:cNvSpPr/>
          <p:nvPr/>
        </p:nvSpPr>
        <p:spPr>
          <a:xfrm>
            <a:off x="548640" y="18745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19293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5328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1874519"/>
            <a:ext cx="10058400" cy="411480"/>
          </a:xfrm>
          <a:prstGeom prst="rect">
            <a:avLst/>
          </a:prstGeom>
          <a:noFill/>
        </p:spPr>
        <p:txBody>
          <a:bodyPr wrap="square" anchor="t">
            <a:spAutoFit/>
          </a:bodyPr>
          <a:lstStyle/>
          <a:p>
            <a:pPr algn="l"/>
            <a:r>
              <a:rPr sz="1600" b="1" i="0">
                <a:solidFill>
                  <a:srgbClr val="1B5E33"/>
                </a:solidFill>
                <a:latin typeface="Calibri"/>
              </a:rPr>
              <a:t>Step 2：确认多选数量</a:t>
            </a:r>
          </a:p>
        </p:txBody>
      </p:sp>
      <p:sp>
        <p:nvSpPr>
          <p:cNvPr id="17" name="TextBox 16"/>
          <p:cNvSpPr txBox="1"/>
          <p:nvPr/>
        </p:nvSpPr>
        <p:spPr>
          <a:xfrm>
            <a:off x="1417320" y="2240279"/>
            <a:ext cx="10058400" cy="228599"/>
          </a:xfrm>
          <a:prstGeom prst="rect">
            <a:avLst/>
          </a:prstGeom>
          <a:noFill/>
        </p:spPr>
        <p:txBody>
          <a:bodyPr wrap="square" anchor="t">
            <a:spAutoFit/>
          </a:bodyPr>
          <a:lstStyle/>
          <a:p>
            <a:pPr algn="l"/>
            <a:r>
              <a:rPr sz="1350" b="0" i="0">
                <a:solidFill>
                  <a:srgbClr val="556075"/>
                </a:solidFill>
                <a:latin typeface="Calibri"/>
              </a:rPr>
              <a:t>多选题先确认选几个——避免选错数量</a:t>
            </a:r>
          </a:p>
        </p:txBody>
      </p:sp>
      <p:sp>
        <p:nvSpPr>
          <p:cNvPr id="18" name="Rounded Rectangle 17"/>
          <p:cNvSpPr/>
          <p:nvPr/>
        </p:nvSpPr>
        <p:spPr>
          <a:xfrm>
            <a:off x="548640" y="24688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25237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312724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2468879"/>
            <a:ext cx="10058400" cy="411480"/>
          </a:xfrm>
          <a:prstGeom prst="rect">
            <a:avLst/>
          </a:prstGeom>
          <a:noFill/>
        </p:spPr>
        <p:txBody>
          <a:bodyPr wrap="square" anchor="t">
            <a:spAutoFit/>
          </a:bodyPr>
          <a:lstStyle/>
          <a:p>
            <a:pPr algn="l"/>
            <a:r>
              <a:rPr sz="1600" b="1" i="0">
                <a:solidFill>
                  <a:srgbClr val="1B5E33"/>
                </a:solidFill>
                <a:latin typeface="Calibri"/>
              </a:rPr>
              <a:t>Step 3：定位原文段落</a:t>
            </a:r>
          </a:p>
        </p:txBody>
      </p:sp>
      <p:sp>
        <p:nvSpPr>
          <p:cNvPr id="22" name="TextBox 21"/>
          <p:cNvSpPr txBox="1"/>
          <p:nvPr/>
        </p:nvSpPr>
        <p:spPr>
          <a:xfrm>
            <a:off x="1417320" y="2834639"/>
            <a:ext cx="10058400" cy="228599"/>
          </a:xfrm>
          <a:prstGeom prst="rect">
            <a:avLst/>
          </a:prstGeom>
          <a:noFill/>
        </p:spPr>
        <p:txBody>
          <a:bodyPr wrap="square" anchor="t">
            <a:spAutoFit/>
          </a:bodyPr>
          <a:lstStyle/>
          <a:p>
            <a:pPr algn="l"/>
            <a:r>
              <a:rPr sz="1350" b="0" i="0">
                <a:solidFill>
                  <a:srgbClr val="556075"/>
                </a:solidFill>
                <a:latin typeface="Calibri"/>
              </a:rPr>
              <a:t>用关键词扫读定位，找相关段落</a:t>
            </a:r>
          </a:p>
        </p:txBody>
      </p:sp>
      <p:sp>
        <p:nvSpPr>
          <p:cNvPr id="23" name="Rounded Rectangle 22"/>
          <p:cNvSpPr/>
          <p:nvPr/>
        </p:nvSpPr>
        <p:spPr>
          <a:xfrm>
            <a:off x="548640" y="306323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1181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Rectangle 24"/>
          <p:cNvSpPr/>
          <p:nvPr/>
        </p:nvSpPr>
        <p:spPr>
          <a:xfrm>
            <a:off x="841248" y="372160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417320" y="3063239"/>
            <a:ext cx="10058400" cy="411480"/>
          </a:xfrm>
          <a:prstGeom prst="rect">
            <a:avLst/>
          </a:prstGeom>
          <a:noFill/>
        </p:spPr>
        <p:txBody>
          <a:bodyPr wrap="square" anchor="t">
            <a:spAutoFit/>
          </a:bodyPr>
          <a:lstStyle/>
          <a:p>
            <a:pPr algn="l"/>
            <a:r>
              <a:rPr sz="1600" b="1" i="0">
                <a:solidFill>
                  <a:srgbClr val="1B5E33"/>
                </a:solidFill>
                <a:latin typeface="Calibri"/>
              </a:rPr>
              <a:t>Step 4：精读相关句</a:t>
            </a:r>
          </a:p>
        </p:txBody>
      </p:sp>
      <p:sp>
        <p:nvSpPr>
          <p:cNvPr id="27" name="TextBox 26"/>
          <p:cNvSpPr txBox="1"/>
          <p:nvPr/>
        </p:nvSpPr>
        <p:spPr>
          <a:xfrm>
            <a:off x="1417320" y="3428999"/>
            <a:ext cx="10058400" cy="228599"/>
          </a:xfrm>
          <a:prstGeom prst="rect">
            <a:avLst/>
          </a:prstGeom>
          <a:noFill/>
        </p:spPr>
        <p:txBody>
          <a:bodyPr wrap="square" anchor="t">
            <a:spAutoFit/>
          </a:bodyPr>
          <a:lstStyle/>
          <a:p>
            <a:pPr algn="l"/>
            <a:r>
              <a:rPr sz="1350" b="0" i="0">
                <a:solidFill>
                  <a:srgbClr val="556075"/>
                </a:solidFill>
                <a:latin typeface="Calibri"/>
              </a:rPr>
              <a:t>精读定位句及上下文，完全理解意思</a:t>
            </a:r>
          </a:p>
        </p:txBody>
      </p:sp>
      <p:sp>
        <p:nvSpPr>
          <p:cNvPr id="28" name="Rounded Rectangle 27"/>
          <p:cNvSpPr/>
          <p:nvPr/>
        </p:nvSpPr>
        <p:spPr>
          <a:xfrm>
            <a:off x="548640" y="365759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8640" y="3712463"/>
            <a:ext cx="640080" cy="502920"/>
          </a:xfrm>
          <a:prstGeom prst="rect">
            <a:avLst/>
          </a:prstGeom>
          <a:noFill/>
        </p:spPr>
        <p:txBody>
          <a:bodyPr wrap="square" anchor="t">
            <a:spAutoFit/>
          </a:bodyPr>
          <a:lstStyle/>
          <a:p>
            <a:pPr algn="ctr"/>
            <a:r>
              <a:rPr sz="2200" b="1" i="0">
                <a:solidFill>
                  <a:srgbClr val="FFFFFF"/>
                </a:solidFill>
                <a:latin typeface="Calibri"/>
              </a:rPr>
              <a:t>5</a:t>
            </a:r>
          </a:p>
        </p:txBody>
      </p:sp>
      <p:sp>
        <p:nvSpPr>
          <p:cNvPr id="30" name="Rectangle 29"/>
          <p:cNvSpPr/>
          <p:nvPr/>
        </p:nvSpPr>
        <p:spPr>
          <a:xfrm>
            <a:off x="841248" y="4315968"/>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17320" y="3657599"/>
            <a:ext cx="10058400" cy="411480"/>
          </a:xfrm>
          <a:prstGeom prst="rect">
            <a:avLst/>
          </a:prstGeom>
          <a:noFill/>
        </p:spPr>
        <p:txBody>
          <a:bodyPr wrap="square" anchor="t">
            <a:spAutoFit/>
          </a:bodyPr>
          <a:lstStyle/>
          <a:p>
            <a:pPr algn="l"/>
            <a:r>
              <a:rPr sz="1600" b="1" i="0">
                <a:solidFill>
                  <a:srgbClr val="1B5E33"/>
                </a:solidFill>
                <a:latin typeface="Calibri"/>
              </a:rPr>
              <a:t>Step 5：逐项验证</a:t>
            </a:r>
          </a:p>
        </p:txBody>
      </p:sp>
      <p:sp>
        <p:nvSpPr>
          <p:cNvPr id="32" name="TextBox 31"/>
          <p:cNvSpPr txBox="1"/>
          <p:nvPr/>
        </p:nvSpPr>
        <p:spPr>
          <a:xfrm>
            <a:off x="1417320" y="4023359"/>
            <a:ext cx="10058400" cy="228599"/>
          </a:xfrm>
          <a:prstGeom prst="rect">
            <a:avLst/>
          </a:prstGeom>
          <a:noFill/>
        </p:spPr>
        <p:txBody>
          <a:bodyPr wrap="square" anchor="t">
            <a:spAutoFit/>
          </a:bodyPr>
          <a:lstStyle/>
          <a:p>
            <a:pPr algn="l"/>
            <a:r>
              <a:rPr sz="1350" b="0" i="0">
                <a:solidFill>
                  <a:srgbClr val="556075"/>
                </a:solidFill>
                <a:latin typeface="Calibri"/>
              </a:rPr>
              <a:t>对照每个选项与原文——匹配/不匹配/过度/相反</a:t>
            </a:r>
          </a:p>
        </p:txBody>
      </p:sp>
      <p:sp>
        <p:nvSpPr>
          <p:cNvPr id="33" name="Rounded Rectangle 32"/>
          <p:cNvSpPr/>
          <p:nvPr/>
        </p:nvSpPr>
        <p:spPr>
          <a:xfrm>
            <a:off x="548640" y="425195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4306823"/>
            <a:ext cx="640080" cy="502920"/>
          </a:xfrm>
          <a:prstGeom prst="rect">
            <a:avLst/>
          </a:prstGeom>
          <a:noFill/>
        </p:spPr>
        <p:txBody>
          <a:bodyPr wrap="square" anchor="t">
            <a:spAutoFit/>
          </a:bodyPr>
          <a:lstStyle/>
          <a:p>
            <a:pPr algn="ctr"/>
            <a:r>
              <a:rPr sz="2200" b="1" i="0">
                <a:solidFill>
                  <a:srgbClr val="FFFFFF"/>
                </a:solidFill>
                <a:latin typeface="Calibri"/>
              </a:rPr>
              <a:t>6</a:t>
            </a:r>
          </a:p>
        </p:txBody>
      </p:sp>
      <p:sp>
        <p:nvSpPr>
          <p:cNvPr id="35" name="Rectangle 34"/>
          <p:cNvSpPr/>
          <p:nvPr/>
        </p:nvSpPr>
        <p:spPr>
          <a:xfrm>
            <a:off x="841248" y="491032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417320" y="4251959"/>
            <a:ext cx="10058400" cy="411480"/>
          </a:xfrm>
          <a:prstGeom prst="rect">
            <a:avLst/>
          </a:prstGeom>
          <a:noFill/>
        </p:spPr>
        <p:txBody>
          <a:bodyPr wrap="square" anchor="t">
            <a:spAutoFit/>
          </a:bodyPr>
          <a:lstStyle/>
          <a:p>
            <a:pPr algn="l"/>
            <a:r>
              <a:rPr sz="1600" b="1" i="0">
                <a:solidFill>
                  <a:srgbClr val="1B5E33"/>
                </a:solidFill>
                <a:latin typeface="Calibri"/>
              </a:rPr>
              <a:t>Step 6：排除极端选项</a:t>
            </a:r>
          </a:p>
        </p:txBody>
      </p:sp>
      <p:sp>
        <p:nvSpPr>
          <p:cNvPr id="37" name="TextBox 36"/>
          <p:cNvSpPr txBox="1"/>
          <p:nvPr/>
        </p:nvSpPr>
        <p:spPr>
          <a:xfrm>
            <a:off x="1417320" y="4617720"/>
            <a:ext cx="10058400" cy="228599"/>
          </a:xfrm>
          <a:prstGeom prst="rect">
            <a:avLst/>
          </a:prstGeom>
          <a:noFill/>
        </p:spPr>
        <p:txBody>
          <a:bodyPr wrap="square" anchor="t">
            <a:spAutoFit/>
          </a:bodyPr>
          <a:lstStyle/>
          <a:p>
            <a:pPr algn="l"/>
            <a:r>
              <a:rPr sz="1350" b="0" i="0">
                <a:solidFill>
                  <a:srgbClr val="556075"/>
                </a:solidFill>
                <a:latin typeface="Calibri"/>
              </a:rPr>
              <a:t>含all/never/always/only/completely→优先排除</a:t>
            </a:r>
          </a:p>
        </p:txBody>
      </p:sp>
      <p:sp>
        <p:nvSpPr>
          <p:cNvPr id="38" name="Rounded Rectangle 37"/>
          <p:cNvSpPr/>
          <p:nvPr/>
        </p:nvSpPr>
        <p:spPr>
          <a:xfrm>
            <a:off x="548640" y="484631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48640" y="4901183"/>
            <a:ext cx="640080" cy="502920"/>
          </a:xfrm>
          <a:prstGeom prst="rect">
            <a:avLst/>
          </a:prstGeom>
          <a:noFill/>
        </p:spPr>
        <p:txBody>
          <a:bodyPr wrap="square" anchor="t">
            <a:spAutoFit/>
          </a:bodyPr>
          <a:lstStyle/>
          <a:p>
            <a:pPr algn="ctr"/>
            <a:r>
              <a:rPr sz="2200" b="1" i="0">
                <a:solidFill>
                  <a:srgbClr val="FFFFFF"/>
                </a:solidFill>
                <a:latin typeface="Calibri"/>
              </a:rPr>
              <a:t>7</a:t>
            </a:r>
          </a:p>
        </p:txBody>
      </p:sp>
      <p:sp>
        <p:nvSpPr>
          <p:cNvPr id="40" name="Rectangle 39"/>
          <p:cNvSpPr/>
          <p:nvPr/>
        </p:nvSpPr>
        <p:spPr>
          <a:xfrm>
            <a:off x="841248" y="5504687"/>
            <a:ext cx="45720" cy="-6400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417320" y="4846319"/>
            <a:ext cx="10058400" cy="411480"/>
          </a:xfrm>
          <a:prstGeom prst="rect">
            <a:avLst/>
          </a:prstGeom>
          <a:noFill/>
        </p:spPr>
        <p:txBody>
          <a:bodyPr wrap="square" anchor="t">
            <a:spAutoFit/>
          </a:bodyPr>
          <a:lstStyle/>
          <a:p>
            <a:pPr algn="l"/>
            <a:r>
              <a:rPr sz="1600" b="1" i="0">
                <a:solidFill>
                  <a:srgbClr val="1B5E33"/>
                </a:solidFill>
                <a:latin typeface="Calibri"/>
              </a:rPr>
              <a:t>Step 7：确认同义替换</a:t>
            </a:r>
          </a:p>
        </p:txBody>
      </p:sp>
      <p:sp>
        <p:nvSpPr>
          <p:cNvPr id="42" name="TextBox 41"/>
          <p:cNvSpPr txBox="1"/>
          <p:nvPr/>
        </p:nvSpPr>
        <p:spPr>
          <a:xfrm>
            <a:off x="1417320" y="5212079"/>
            <a:ext cx="10058400" cy="228599"/>
          </a:xfrm>
          <a:prstGeom prst="rect">
            <a:avLst/>
          </a:prstGeom>
          <a:noFill/>
        </p:spPr>
        <p:txBody>
          <a:bodyPr wrap="square" anchor="t">
            <a:spAutoFit/>
          </a:bodyPr>
          <a:lstStyle/>
          <a:p>
            <a:pPr algn="l"/>
            <a:r>
              <a:rPr sz="1350" b="0" i="0">
                <a:solidFill>
                  <a:srgbClr val="556075"/>
                </a:solidFill>
                <a:latin typeface="Calibri"/>
              </a:rPr>
              <a:t>选项用不同词但意思与原文一致→正确</a:t>
            </a:r>
          </a:p>
        </p:txBody>
      </p:sp>
      <p:sp>
        <p:nvSpPr>
          <p:cNvPr id="43" name="Rounded Rectangle 42"/>
          <p:cNvSpPr/>
          <p:nvPr/>
        </p:nvSpPr>
        <p:spPr>
          <a:xfrm>
            <a:off x="548640" y="5440679"/>
            <a:ext cx="640080" cy="640080"/>
          </a:xfrm>
          <a:prstGeom prst="round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495543"/>
            <a:ext cx="640080" cy="502920"/>
          </a:xfrm>
          <a:prstGeom prst="rect">
            <a:avLst/>
          </a:prstGeom>
          <a:noFill/>
        </p:spPr>
        <p:txBody>
          <a:bodyPr wrap="square" anchor="t">
            <a:spAutoFit/>
          </a:bodyPr>
          <a:lstStyle/>
          <a:p>
            <a:pPr algn="ctr"/>
            <a:r>
              <a:rPr sz="2200" b="1" i="0">
                <a:solidFill>
                  <a:srgbClr val="FFFFFF"/>
                </a:solidFill>
                <a:latin typeface="Calibri"/>
              </a:rPr>
              <a:t>8</a:t>
            </a:r>
          </a:p>
        </p:txBody>
      </p:sp>
      <p:sp>
        <p:nvSpPr>
          <p:cNvPr id="45" name="TextBox 44"/>
          <p:cNvSpPr txBox="1"/>
          <p:nvPr/>
        </p:nvSpPr>
        <p:spPr>
          <a:xfrm>
            <a:off x="1417320" y="5440679"/>
            <a:ext cx="10058400" cy="411480"/>
          </a:xfrm>
          <a:prstGeom prst="rect">
            <a:avLst/>
          </a:prstGeom>
          <a:noFill/>
        </p:spPr>
        <p:txBody>
          <a:bodyPr wrap="square" anchor="t">
            <a:spAutoFit/>
          </a:bodyPr>
          <a:lstStyle/>
          <a:p>
            <a:pPr algn="l"/>
            <a:r>
              <a:rPr sz="1600" b="1" i="0">
                <a:solidFill>
                  <a:srgbClr val="1B5E33"/>
                </a:solidFill>
                <a:latin typeface="Calibri"/>
              </a:rPr>
              <a:t>Step 8：检查数量</a:t>
            </a:r>
          </a:p>
        </p:txBody>
      </p:sp>
      <p:sp>
        <p:nvSpPr>
          <p:cNvPr id="46" name="TextBox 45"/>
          <p:cNvSpPr txBox="1"/>
          <p:nvPr/>
        </p:nvSpPr>
        <p:spPr>
          <a:xfrm>
            <a:off x="1417320" y="5806440"/>
            <a:ext cx="10058400" cy="228599"/>
          </a:xfrm>
          <a:prstGeom prst="rect">
            <a:avLst/>
          </a:prstGeom>
          <a:noFill/>
        </p:spPr>
        <p:txBody>
          <a:bodyPr wrap="square" anchor="t">
            <a:spAutoFit/>
          </a:bodyPr>
          <a:lstStyle/>
          <a:p>
            <a:pPr algn="l"/>
            <a:r>
              <a:rPr sz="1350" b="0" i="0">
                <a:solidFill>
                  <a:srgbClr val="556075"/>
                </a:solidFill>
                <a:latin typeface="Calibri"/>
              </a:rPr>
              <a:t>多选确认选的数量正确——不多不少</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当堂练习：单选干扰类型识别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判断每个错误选项的干扰类型（原文词/过度推断/相反/未提及）</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原文："The policy reduced emissions by approximately 30%."</a:t>
            </a:r>
          </a:p>
          <a:p>
            <a:pPr>
              <a:spcBef>
                <a:spcPts val="100"/>
              </a:spcBef>
            </a:pPr>
            <a:r>
              <a:rPr sz="1400">
                <a:solidFill>
                  <a:srgbClr val="556075"/>
                </a:solidFill>
              </a:rPr>
              <a:t>   A."The policy eliminated all emissions." → 类型？
【答案】过度推断+极端词（eliminated all vs reduced by 30%）</a:t>
            </a:r>
          </a:p>
          <a:p>
            <a:pPr>
              <a:spcBef>
                <a:spcPts val="1100"/>
              </a:spcBef>
            </a:pPr>
            <a:r>
              <a:rPr sz="1700" b="1">
                <a:solidFill>
                  <a:srgbClr val="1B5E33"/>
                </a:solidFill>
              </a:rPr>
              <a:t>▢ 原文同上</a:t>
            </a:r>
          </a:p>
          <a:p>
            <a:pPr>
              <a:spcBef>
                <a:spcPts val="100"/>
              </a:spcBef>
            </a:pPr>
            <a:r>
              <a:rPr sz="1400">
                <a:solidFill>
                  <a:srgbClr val="556075"/>
                </a:solidFill>
              </a:rPr>
              <a:t>   B."Emissions increased after the policy was introduced." → 类型？
【答案】相反信息（increased vs reduced）</a:t>
            </a:r>
          </a:p>
          <a:p>
            <a:pPr>
              <a:spcBef>
                <a:spcPts val="1100"/>
              </a:spcBef>
            </a:pPr>
            <a:r>
              <a:rPr sz="1700" b="1">
                <a:solidFill>
                  <a:srgbClr val="1B5E33"/>
                </a:solidFill>
              </a:rPr>
              <a:t>▢ 原文同上</a:t>
            </a:r>
          </a:p>
          <a:p>
            <a:pPr>
              <a:spcBef>
                <a:spcPts val="100"/>
              </a:spcBef>
            </a:pPr>
            <a:r>
              <a:rPr sz="1400">
                <a:solidFill>
                  <a:srgbClr val="556075"/>
                </a:solidFill>
              </a:rPr>
              <a:t>   C."The policy was criticized by environmental groups." → 类型？
【答案】未提及（原文只说结果，没提批评）</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当堂练习：多选快速验证</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188720"/>
            <a:ext cx="11064240" cy="640080"/>
          </a:xfrm>
          <a:prstGeom prst="round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用原文验证选项，选出正确的TWO个</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1B5E33"/>
                </a:solidFill>
              </a:rPr>
              <a:t>▢ 题目：Which TWO benefits of meditation does the passage mention?</a:t>
            </a:r>
          </a:p>
          <a:p>
            <a:pPr>
              <a:spcBef>
                <a:spcPts val="100"/>
              </a:spcBef>
            </a:pPr>
            <a:r>
              <a:rPr sz="1400">
                <a:solidFill>
                  <a:srgbClr val="556075"/>
                </a:solidFill>
              </a:rPr>
              <a:t>   原文提到：减少压力、改善睡眠质量、有时帮助专注、偶尔提高创造力（后两项原文用may/sometimes）
选项：A.减压 B.增强记忆 C.改善睡眠 D.消除焦虑 E.提高创造力
【答案】A+C（有直接支撑；E用may不够确定；B/D原文未提/过度）</a:t>
            </a:r>
          </a:p>
          <a:p>
            <a:pPr>
              <a:spcBef>
                <a:spcPts val="1100"/>
              </a:spcBef>
            </a:pPr>
            <a:r>
              <a:rPr sz="1700" b="1">
                <a:solidFill>
                  <a:srgbClr val="1B5E33"/>
                </a:solidFill>
              </a:rPr>
              <a:t>▢ 规律总结</a:t>
            </a:r>
          </a:p>
          <a:p>
            <a:pPr>
              <a:spcBef>
                <a:spcPts val="100"/>
              </a:spcBef>
            </a:pPr>
            <a:r>
              <a:rPr sz="1400">
                <a:solidFill>
                  <a:srgbClr val="556075"/>
                </a:solidFill>
              </a:rPr>
              <a:t>   多选验证原则：找原文直接支撑；"may/sometimes/often"的选项谨慎；极端词排除
【答案】记住：全对才得分——不确定宁愿空一个</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选择题5大技巧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技巧1：先读题目</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读问题——不要先看选项，防止被误导</a:t>
            </a:r>
          </a:p>
        </p:txBody>
      </p:sp>
      <p:sp>
        <p:nvSpPr>
          <p:cNvPr id="12" name="Rounded Rectangle 11"/>
          <p:cNvSpPr/>
          <p:nvPr/>
        </p:nvSpPr>
        <p:spPr>
          <a:xfrm>
            <a:off x="6355079" y="123444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技巧2：极端词警惕</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all/always/never/only/completely→优先排除</a:t>
            </a:r>
          </a:p>
        </p:txBody>
      </p:sp>
      <p:sp>
        <p:nvSpPr>
          <p:cNvPr id="16" name="Rounded Rectangle 15"/>
          <p:cNvSpPr/>
          <p:nvPr/>
        </p:nvSpPr>
        <p:spPr>
          <a:xfrm>
            <a:off x="548640"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1B5E33"/>
                </a:solidFill>
                <a:latin typeface="Calibri"/>
              </a:rPr>
              <a:t>技巧3：同义替换</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选项用不同词但意思匹配原文→正确答案</a:t>
            </a:r>
          </a:p>
        </p:txBody>
      </p:sp>
      <p:sp>
        <p:nvSpPr>
          <p:cNvPr id="20" name="Rounded Rectangle 19"/>
          <p:cNvSpPr/>
          <p:nvPr/>
        </p:nvSpPr>
        <p:spPr>
          <a:xfrm>
            <a:off x="6355079" y="286512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1B5E33"/>
                </a:solidFill>
                <a:latin typeface="Calibri"/>
              </a:rPr>
              <a:t>技巧4：逐项验证</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多选题每项都回原文找证据——不能凭感觉</a:t>
            </a:r>
          </a:p>
        </p:txBody>
      </p:sp>
      <p:sp>
        <p:nvSpPr>
          <p:cNvPr id="24" name="Rounded Rectangle 23"/>
          <p:cNvSpPr/>
          <p:nvPr/>
        </p:nvSpPr>
        <p:spPr>
          <a:xfrm>
            <a:off x="548640" y="4495800"/>
            <a:ext cx="5486400" cy="140208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1B5E33"/>
                </a:solidFill>
                <a:latin typeface="Calibri"/>
              </a:rPr>
              <a:t>技巧5：数量确认</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多选题最后检查：选了正确数量？</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极端词速查表</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A类极端词</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all/every/always/entirely/completely/never</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B类过度词</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prove/guarantee/eliminate/replace/solve</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C类绝对词</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only/solely/exclusively/invariably</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应对策略</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含以上词的选项→先质疑→回原文验证是否真的极端</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MCQ时间管理策略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单选题</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1-1.5分钟/题——超过90秒先猜，继续下一题</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多选题</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2-3分钟/组——每个选项30-45秒验证</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难题处理</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超时先猜（有1/4概率），继续下一题</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检查时间</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留最后2分钟检查多选数量是否正确</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MCQ备考资料推荐</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ounded Rectangle 7"/>
          <p:cNvSpPr/>
          <p:nvPr/>
        </p:nvSpPr>
        <p:spPr>
          <a:xfrm>
            <a:off x="548640"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1B5E33"/>
                </a:solidFill>
                <a:latin typeface="Calibri"/>
              </a:rPr>
              <a:t>官方真题</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Cambridge IELTS 1-18，MCQ题目在每套的Section 3/4常见</a:t>
            </a:r>
          </a:p>
        </p:txBody>
      </p:sp>
      <p:sp>
        <p:nvSpPr>
          <p:cNvPr id="12" name="Rounded Rectangle 11"/>
          <p:cNvSpPr/>
          <p:nvPr/>
        </p:nvSpPr>
        <p:spPr>
          <a:xfrm>
            <a:off x="6355079" y="123444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1B5E33"/>
                </a:solidFill>
                <a:latin typeface="Calibri"/>
              </a:rPr>
              <a:t>错题分析</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每次做错后标注干扰类型——原文词/过度/相反/未提及</a:t>
            </a:r>
          </a:p>
        </p:txBody>
      </p:sp>
      <p:sp>
        <p:nvSpPr>
          <p:cNvPr id="16" name="Rounded Rectangle 15"/>
          <p:cNvSpPr/>
          <p:nvPr/>
        </p:nvSpPr>
        <p:spPr>
          <a:xfrm>
            <a:off x="548640"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1B5E33"/>
                </a:solidFill>
                <a:latin typeface="Calibri"/>
              </a:rPr>
              <a:t>同义替换训练</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积累高频替换对——至少200对常用词</a:t>
            </a:r>
          </a:p>
        </p:txBody>
      </p:sp>
      <p:sp>
        <p:nvSpPr>
          <p:cNvPr id="20" name="Rounded Rectangle 19"/>
          <p:cNvSpPr/>
          <p:nvPr/>
        </p:nvSpPr>
        <p:spPr>
          <a:xfrm>
            <a:off x="6355079" y="2926080"/>
            <a:ext cx="5486400" cy="1463040"/>
          </a:xfrm>
          <a:prstGeom prst="round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1B5E33"/>
                </a:solidFill>
                <a:latin typeface="Calibri"/>
              </a:rPr>
              <a:t>速度目标</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Band 6: 1.5分钟/题 / Band 7: 1分钟/题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MCQ高频题目词汇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according to</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根据；依照</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suggest</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表明；建议</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imply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暗示；意味着</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indicate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表明；指出</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conclude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得出结论</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infer</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推断；推论</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primarily</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主要地</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mainly</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主要地</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significant</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重要的；显著的</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substantial</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大量的；重要的</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MCQ干扰选项识别词汇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1B5E33"/>
                </a:solidFill>
                <a:latin typeface="Calibri"/>
              </a:rPr>
              <a:t>all/every</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全部——极端词，常为干扰</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1B5E33"/>
                </a:solidFill>
                <a:latin typeface="Calibri"/>
              </a:rPr>
              <a:t>never/always</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从不/总是——极端词</a:t>
            </a:r>
          </a:p>
        </p:txBody>
      </p:sp>
      <p:sp>
        <p:nvSpPr>
          <p:cNvPr id="20" name="Rectangle 19"/>
          <p:cNvSpPr/>
          <p:nvPr/>
        </p:nvSpPr>
        <p:spPr>
          <a:xfrm>
            <a:off x="548640" y="2543694"/>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1B5E33"/>
                </a:solidFill>
                <a:latin typeface="Calibri"/>
              </a:rPr>
              <a:t>only/solely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唯一地——极端词</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1B5E33"/>
                </a:solidFill>
                <a:latin typeface="Calibri"/>
              </a:rPr>
              <a:t>completely</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完全地——极端词</a:t>
            </a:r>
          </a:p>
        </p:txBody>
      </p:sp>
      <p:sp>
        <p:nvSpPr>
          <p:cNvPr id="28" name="Rectangle 27"/>
          <p:cNvSpPr/>
          <p:nvPr/>
        </p:nvSpPr>
        <p:spPr>
          <a:xfrm>
            <a:off x="548640" y="3416530"/>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1B5E33"/>
                </a:solidFill>
                <a:latin typeface="Calibri"/>
              </a:rPr>
              <a:t>prove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证明——过度推断常用词</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1B5E33"/>
                </a:solidFill>
                <a:latin typeface="Calibri"/>
              </a:rPr>
              <a:t>eliminate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消除——过度说法</a:t>
            </a:r>
          </a:p>
        </p:txBody>
      </p:sp>
      <p:sp>
        <p:nvSpPr>
          <p:cNvPr id="36" name="Rectangle 35"/>
          <p:cNvSpPr/>
          <p:nvPr/>
        </p:nvSpPr>
        <p:spPr>
          <a:xfrm>
            <a:off x="548640" y="4289367"/>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1B5E33"/>
                </a:solidFill>
                <a:latin typeface="Calibri"/>
              </a:rPr>
              <a:t>replace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取代——过度推断</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1B5E33"/>
                </a:solidFill>
                <a:latin typeface="Calibri"/>
              </a:rPr>
              <a:t>guarantee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保证——极端词</a:t>
            </a:r>
          </a:p>
        </p:txBody>
      </p:sp>
      <p:sp>
        <p:nvSpPr>
          <p:cNvPr id="44" name="Rectangle 43"/>
          <p:cNvSpPr/>
          <p:nvPr/>
        </p:nvSpPr>
        <p:spPr>
          <a:xfrm>
            <a:off x="548640" y="5162203"/>
            <a:ext cx="493776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1B5E33"/>
                </a:solidFill>
                <a:latin typeface="Calibri"/>
              </a:rPr>
              <a:t>cause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导致——注意因果推断是否有原文支撑</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1B5E33"/>
                </a:solidFill>
                <a:latin typeface="Calibri"/>
              </a:rPr>
              <a:t>all contexts</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所有情况——极端</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MCQ同义替换核心词组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Rectangle 7"/>
          <p:cNvSpPr/>
          <p:nvPr/>
        </p:nvSpPr>
        <p:spPr>
          <a:xfrm>
            <a:off x="548640" y="1234440"/>
            <a:ext cx="493776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566928"/>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56692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56692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801368"/>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801368"/>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801368"/>
            <a:ext cx="4754880" cy="566928"/>
          </a:xfrm>
          <a:prstGeom prst="rect">
            <a:avLst/>
          </a:prstGeom>
          <a:noFill/>
        </p:spPr>
        <p:txBody>
          <a:bodyPr wrap="square" anchor="ctr">
            <a:spAutoFit/>
          </a:bodyPr>
          <a:lstStyle/>
          <a:p>
            <a:pPr algn="l"/>
            <a:r>
              <a:rPr sz="1250" b="1" i="0">
                <a:solidFill>
                  <a:srgbClr val="1B5E33"/>
                </a:solidFill>
                <a:latin typeface="Calibri"/>
              </a:rPr>
              <a:t>increase→</a:t>
            </a:r>
          </a:p>
        </p:txBody>
      </p:sp>
      <p:sp>
        <p:nvSpPr>
          <p:cNvPr id="15" name="TextBox 14"/>
          <p:cNvSpPr txBox="1"/>
          <p:nvPr/>
        </p:nvSpPr>
        <p:spPr>
          <a:xfrm>
            <a:off x="5623560" y="1801368"/>
            <a:ext cx="5852160" cy="566928"/>
          </a:xfrm>
          <a:prstGeom prst="rect">
            <a:avLst/>
          </a:prstGeom>
          <a:noFill/>
        </p:spPr>
        <p:txBody>
          <a:bodyPr wrap="square" anchor="ctr">
            <a:spAutoFit/>
          </a:bodyPr>
          <a:lstStyle/>
          <a:p>
            <a:pPr algn="l"/>
            <a:r>
              <a:rPr sz="1250" b="0" i="0">
                <a:solidFill>
                  <a:srgbClr val="1E293B"/>
                </a:solidFill>
                <a:latin typeface="Calibri"/>
              </a:rPr>
              <a:t>rise/grow/surge/expand/climb/soar</a:t>
            </a:r>
          </a:p>
        </p:txBody>
      </p:sp>
      <p:sp>
        <p:nvSpPr>
          <p:cNvPr id="16" name="Rectangle 15"/>
          <p:cNvSpPr/>
          <p:nvPr/>
        </p:nvSpPr>
        <p:spPr>
          <a:xfrm>
            <a:off x="548640" y="2368296"/>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368296"/>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368296"/>
            <a:ext cx="4754880" cy="566928"/>
          </a:xfrm>
          <a:prstGeom prst="rect">
            <a:avLst/>
          </a:prstGeom>
          <a:noFill/>
        </p:spPr>
        <p:txBody>
          <a:bodyPr wrap="square" anchor="ctr">
            <a:spAutoFit/>
          </a:bodyPr>
          <a:lstStyle/>
          <a:p>
            <a:pPr algn="l"/>
            <a:r>
              <a:rPr sz="1250" b="1" i="0">
                <a:solidFill>
                  <a:srgbClr val="1B5E33"/>
                </a:solidFill>
                <a:latin typeface="Calibri"/>
              </a:rPr>
              <a:t>decrease→</a:t>
            </a:r>
          </a:p>
        </p:txBody>
      </p:sp>
      <p:sp>
        <p:nvSpPr>
          <p:cNvPr id="19" name="TextBox 18"/>
          <p:cNvSpPr txBox="1"/>
          <p:nvPr/>
        </p:nvSpPr>
        <p:spPr>
          <a:xfrm>
            <a:off x="5623560" y="2368296"/>
            <a:ext cx="5852160" cy="566928"/>
          </a:xfrm>
          <a:prstGeom prst="rect">
            <a:avLst/>
          </a:prstGeom>
          <a:noFill/>
        </p:spPr>
        <p:txBody>
          <a:bodyPr wrap="square" anchor="ctr">
            <a:spAutoFit/>
          </a:bodyPr>
          <a:lstStyle/>
          <a:p>
            <a:pPr algn="l"/>
            <a:r>
              <a:rPr sz="1250" b="0" i="0">
                <a:solidFill>
                  <a:srgbClr val="1E293B"/>
                </a:solidFill>
                <a:latin typeface="Calibri"/>
              </a:rPr>
              <a:t>fall/drop/decline/shrink/reduce/plummet</a:t>
            </a:r>
          </a:p>
        </p:txBody>
      </p:sp>
      <p:sp>
        <p:nvSpPr>
          <p:cNvPr id="20" name="Rectangle 19"/>
          <p:cNvSpPr/>
          <p:nvPr/>
        </p:nvSpPr>
        <p:spPr>
          <a:xfrm>
            <a:off x="548640" y="2935224"/>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935224"/>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35224"/>
            <a:ext cx="4754880" cy="566928"/>
          </a:xfrm>
          <a:prstGeom prst="rect">
            <a:avLst/>
          </a:prstGeom>
          <a:noFill/>
        </p:spPr>
        <p:txBody>
          <a:bodyPr wrap="square" anchor="ctr">
            <a:spAutoFit/>
          </a:bodyPr>
          <a:lstStyle/>
          <a:p>
            <a:pPr algn="l"/>
            <a:r>
              <a:rPr sz="1250" b="1" i="0">
                <a:solidFill>
                  <a:srgbClr val="1B5E33"/>
                </a:solidFill>
                <a:latin typeface="Calibri"/>
              </a:rPr>
              <a:t>important→</a:t>
            </a:r>
          </a:p>
        </p:txBody>
      </p:sp>
      <p:sp>
        <p:nvSpPr>
          <p:cNvPr id="23" name="TextBox 22"/>
          <p:cNvSpPr txBox="1"/>
          <p:nvPr/>
        </p:nvSpPr>
        <p:spPr>
          <a:xfrm>
            <a:off x="5623560" y="2935224"/>
            <a:ext cx="5852160" cy="566928"/>
          </a:xfrm>
          <a:prstGeom prst="rect">
            <a:avLst/>
          </a:prstGeom>
          <a:noFill/>
        </p:spPr>
        <p:txBody>
          <a:bodyPr wrap="square" anchor="ctr">
            <a:spAutoFit/>
          </a:bodyPr>
          <a:lstStyle/>
          <a:p>
            <a:pPr algn="l"/>
            <a:r>
              <a:rPr sz="1250" b="0" i="0">
                <a:solidFill>
                  <a:srgbClr val="1E293B"/>
                </a:solidFill>
                <a:latin typeface="Calibri"/>
              </a:rPr>
              <a:t>significant/crucial/vital/key/major/essential</a:t>
            </a:r>
          </a:p>
        </p:txBody>
      </p:sp>
      <p:sp>
        <p:nvSpPr>
          <p:cNvPr id="24" name="Rectangle 23"/>
          <p:cNvSpPr/>
          <p:nvPr/>
        </p:nvSpPr>
        <p:spPr>
          <a:xfrm>
            <a:off x="548640" y="3502152"/>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3502152"/>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502152"/>
            <a:ext cx="4754880" cy="566928"/>
          </a:xfrm>
          <a:prstGeom prst="rect">
            <a:avLst/>
          </a:prstGeom>
          <a:noFill/>
        </p:spPr>
        <p:txBody>
          <a:bodyPr wrap="square" anchor="ctr">
            <a:spAutoFit/>
          </a:bodyPr>
          <a:lstStyle/>
          <a:p>
            <a:pPr algn="l"/>
            <a:r>
              <a:rPr sz="1250" b="1" i="0">
                <a:solidFill>
                  <a:srgbClr val="1B5E33"/>
                </a:solidFill>
                <a:latin typeface="Calibri"/>
              </a:rPr>
              <a:t>show→</a:t>
            </a:r>
          </a:p>
        </p:txBody>
      </p:sp>
      <p:sp>
        <p:nvSpPr>
          <p:cNvPr id="27" name="TextBox 26"/>
          <p:cNvSpPr txBox="1"/>
          <p:nvPr/>
        </p:nvSpPr>
        <p:spPr>
          <a:xfrm>
            <a:off x="5623560" y="3502152"/>
            <a:ext cx="5852160" cy="566928"/>
          </a:xfrm>
          <a:prstGeom prst="rect">
            <a:avLst/>
          </a:prstGeom>
          <a:noFill/>
        </p:spPr>
        <p:txBody>
          <a:bodyPr wrap="square" anchor="ctr">
            <a:spAutoFit/>
          </a:bodyPr>
          <a:lstStyle/>
          <a:p>
            <a:pPr algn="l"/>
            <a:r>
              <a:rPr sz="1250" b="0" i="0">
                <a:solidFill>
                  <a:srgbClr val="1E293B"/>
                </a:solidFill>
                <a:latin typeface="Calibri"/>
              </a:rPr>
              <a:t>demonstrate/indicate/suggest/reveal/prove/highlight</a:t>
            </a:r>
          </a:p>
        </p:txBody>
      </p:sp>
      <p:sp>
        <p:nvSpPr>
          <p:cNvPr id="28" name="Rectangle 27"/>
          <p:cNvSpPr/>
          <p:nvPr/>
        </p:nvSpPr>
        <p:spPr>
          <a:xfrm>
            <a:off x="548640" y="4069080"/>
            <a:ext cx="493776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4069080"/>
            <a:ext cx="6126480" cy="566928"/>
          </a:xfrm>
          <a:prstGeom prst="rect">
            <a:avLst/>
          </a:prstGeom>
          <a:solidFill>
            <a:srgbClr val="E8F5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4069080"/>
            <a:ext cx="4754880" cy="566928"/>
          </a:xfrm>
          <a:prstGeom prst="rect">
            <a:avLst/>
          </a:prstGeom>
          <a:noFill/>
        </p:spPr>
        <p:txBody>
          <a:bodyPr wrap="square" anchor="ctr">
            <a:spAutoFit/>
          </a:bodyPr>
          <a:lstStyle/>
          <a:p>
            <a:pPr algn="l"/>
            <a:r>
              <a:rPr sz="1250" b="1" i="0">
                <a:solidFill>
                  <a:srgbClr val="1B5E33"/>
                </a:solidFill>
                <a:latin typeface="Calibri"/>
              </a:rPr>
              <a:t>problem→</a:t>
            </a:r>
          </a:p>
        </p:txBody>
      </p:sp>
      <p:sp>
        <p:nvSpPr>
          <p:cNvPr id="31" name="TextBox 30"/>
          <p:cNvSpPr txBox="1"/>
          <p:nvPr/>
        </p:nvSpPr>
        <p:spPr>
          <a:xfrm>
            <a:off x="5623560" y="4069080"/>
            <a:ext cx="5852160" cy="566928"/>
          </a:xfrm>
          <a:prstGeom prst="rect">
            <a:avLst/>
          </a:prstGeom>
          <a:noFill/>
        </p:spPr>
        <p:txBody>
          <a:bodyPr wrap="square" anchor="ctr">
            <a:spAutoFit/>
          </a:bodyPr>
          <a:lstStyle/>
          <a:p>
            <a:pPr algn="l"/>
            <a:r>
              <a:rPr sz="1250" b="0" i="0">
                <a:solidFill>
                  <a:srgbClr val="1E293B"/>
                </a:solidFill>
                <a:latin typeface="Calibri"/>
              </a:rPr>
              <a:t>challenge/difficulty/obstacle/issue/concern/barrier</a:t>
            </a:r>
          </a:p>
        </p:txBody>
      </p:sp>
      <p:sp>
        <p:nvSpPr>
          <p:cNvPr id="32" name="Rectangle 31"/>
          <p:cNvSpPr/>
          <p:nvPr/>
        </p:nvSpPr>
        <p:spPr>
          <a:xfrm>
            <a:off x="548640" y="4636008"/>
            <a:ext cx="493776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4636008"/>
            <a:ext cx="6126480" cy="56692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4636008"/>
            <a:ext cx="4754880" cy="566928"/>
          </a:xfrm>
          <a:prstGeom prst="rect">
            <a:avLst/>
          </a:prstGeom>
          <a:noFill/>
        </p:spPr>
        <p:txBody>
          <a:bodyPr wrap="square" anchor="ctr">
            <a:spAutoFit/>
          </a:bodyPr>
          <a:lstStyle/>
          <a:p>
            <a:pPr algn="l"/>
            <a:r>
              <a:rPr sz="1250" b="1" i="0">
                <a:solidFill>
                  <a:srgbClr val="1B5E33"/>
                </a:solidFill>
                <a:latin typeface="Calibri"/>
              </a:rPr>
              <a:t>help→</a:t>
            </a:r>
          </a:p>
        </p:txBody>
      </p:sp>
      <p:sp>
        <p:nvSpPr>
          <p:cNvPr id="35" name="TextBox 34"/>
          <p:cNvSpPr txBox="1"/>
          <p:nvPr/>
        </p:nvSpPr>
        <p:spPr>
          <a:xfrm>
            <a:off x="5623560" y="4636008"/>
            <a:ext cx="5852160" cy="566928"/>
          </a:xfrm>
          <a:prstGeom prst="rect">
            <a:avLst/>
          </a:prstGeom>
          <a:noFill/>
        </p:spPr>
        <p:txBody>
          <a:bodyPr wrap="square" anchor="ctr">
            <a:spAutoFit/>
          </a:bodyPr>
          <a:lstStyle/>
          <a:p>
            <a:pPr algn="l"/>
            <a:r>
              <a:rPr sz="1250" b="0" i="0">
                <a:solidFill>
                  <a:srgbClr val="1E293B"/>
                </a:solidFill>
                <a:latin typeface="Calibri"/>
              </a:rPr>
              <a:t>assist/support/enable/facilitate/allow/benefit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MCQ备考：6.0→7.0提分路径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每天做5题单选+分析错题</a:t>
            </a:r>
          </a:p>
          <a:p>
            <a:pPr>
              <a:spcBef>
                <a:spcPts val="700"/>
              </a:spcBef>
            </a:pPr>
            <a:r>
              <a:rPr sz="1450">
                <a:solidFill>
                  <a:srgbClr val="1E293B"/>
                </a:solidFill>
              </a:rPr>
              <a:t>• 重点：识别极端词和原文词陷阱</a:t>
            </a:r>
          </a:p>
          <a:p>
            <a:pPr>
              <a:spcBef>
                <a:spcPts val="700"/>
              </a:spcBef>
            </a:pPr>
            <a:r>
              <a:rPr sz="1450">
                <a:solidFill>
                  <a:srgbClr val="1E293B"/>
                </a:solidFill>
              </a:rPr>
              <a:t>• 建立同义替换词组本（每天10对）</a:t>
            </a:r>
          </a:p>
          <a:p>
            <a:pPr>
              <a:spcBef>
                <a:spcPts val="700"/>
              </a:spcBef>
            </a:pPr>
            <a:r>
              <a:rPr sz="1450">
                <a:solidFill>
                  <a:srgbClr val="1E293B"/>
                </a:solidFill>
              </a:rPr>
              <a:t>• 每周做1套完整MCQ题组</a:t>
            </a:r>
          </a:p>
          <a:p>
            <a:pPr>
              <a:spcBef>
                <a:spcPts val="700"/>
              </a:spcBef>
            </a:pPr>
            <a:r>
              <a:rPr sz="1450">
                <a:solidFill>
                  <a:srgbClr val="1E293B"/>
                </a:solidFill>
              </a:rPr>
              <a:t>• 目标：准确率从60%→75%</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重点：多选题逐项验证速度提升</a:t>
            </a:r>
          </a:p>
          <a:p>
            <a:pPr>
              <a:spcBef>
                <a:spcPts val="700"/>
              </a:spcBef>
            </a:pPr>
            <a:r>
              <a:rPr sz="1450">
                <a:solidFill>
                  <a:srgbClr val="1E293B"/>
                </a:solidFill>
              </a:rPr>
              <a:t>• 每天做10题MCQ（含多选）</a:t>
            </a:r>
          </a:p>
          <a:p>
            <a:pPr>
              <a:spcBef>
                <a:spcPts val="700"/>
              </a:spcBef>
            </a:pPr>
            <a:r>
              <a:rPr sz="1450">
                <a:solidFill>
                  <a:srgbClr val="1E293B"/>
                </a:solidFill>
              </a:rPr>
              <a:t>• 计时训练：单选&lt;90秒，多选&lt;3分钟</a:t>
            </a:r>
          </a:p>
          <a:p>
            <a:pPr>
              <a:spcBef>
                <a:spcPts val="700"/>
              </a:spcBef>
            </a:pPr>
            <a:r>
              <a:rPr sz="1450">
                <a:solidFill>
                  <a:srgbClr val="1E293B"/>
                </a:solidFill>
              </a:rPr>
              <a:t>• 积累200对常用同义替换</a:t>
            </a:r>
          </a:p>
          <a:p>
            <a:pPr>
              <a:spcBef>
                <a:spcPts val="700"/>
              </a:spcBef>
            </a:pPr>
            <a:r>
              <a:rPr sz="1450">
                <a:solidFill>
                  <a:srgbClr val="1E293B"/>
                </a:solidFill>
              </a:rPr>
              <a:t>• 目标：准确率从75%→88%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选择题 vs 判断题：答题策略对比</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选择题MCQ</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定位→精读→对照选项</a:t>
            </a:r>
          </a:p>
          <a:p>
            <a:pPr>
              <a:spcBef>
                <a:spcPts val="700"/>
              </a:spcBef>
            </a:pPr>
            <a:r>
              <a:rPr sz="1450">
                <a:solidFill>
                  <a:srgbClr val="1E293B"/>
                </a:solidFill>
              </a:rPr>
              <a:t>• 同义替换识别是关键</a:t>
            </a:r>
          </a:p>
          <a:p>
            <a:pPr>
              <a:spcBef>
                <a:spcPts val="700"/>
              </a:spcBef>
            </a:pPr>
            <a:r>
              <a:rPr sz="1450">
                <a:solidFill>
                  <a:srgbClr val="1E293B"/>
                </a:solidFill>
              </a:rPr>
              <a:t>• 排除极端词选项</a:t>
            </a:r>
          </a:p>
          <a:p>
            <a:pPr>
              <a:spcBef>
                <a:spcPts val="700"/>
              </a:spcBef>
            </a:pPr>
            <a:r>
              <a:rPr sz="1450">
                <a:solidFill>
                  <a:srgbClr val="1E293B"/>
                </a:solidFill>
              </a:rPr>
              <a:t>• 多选每项都要验证</a:t>
            </a:r>
          </a:p>
          <a:p>
            <a:pPr>
              <a:spcBef>
                <a:spcPts val="700"/>
              </a:spcBef>
            </a:pPr>
            <a:r>
              <a:rPr sz="1450">
                <a:solidFill>
                  <a:srgbClr val="1E293B"/>
                </a:solidFill>
              </a:rPr>
              <a:t>• 有原文支撑才选</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判断题T/F/NG</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定位→精读→判断是否符合</a:t>
            </a:r>
          </a:p>
          <a:p>
            <a:pPr>
              <a:spcBef>
                <a:spcPts val="700"/>
              </a:spcBef>
            </a:pPr>
            <a:r>
              <a:rPr sz="1450">
                <a:solidFill>
                  <a:srgbClr val="1E293B"/>
                </a:solidFill>
              </a:rPr>
              <a:t>• 关注程度词和范围词</a:t>
            </a:r>
          </a:p>
          <a:p>
            <a:pPr>
              <a:spcBef>
                <a:spcPts val="700"/>
              </a:spcBef>
            </a:pPr>
            <a:r>
              <a:rPr sz="1450">
                <a:solidFill>
                  <a:srgbClr val="1E293B"/>
                </a:solidFill>
              </a:rPr>
              <a:t>• NOT GIVEN = 原文没有提及</a:t>
            </a:r>
          </a:p>
          <a:p>
            <a:pPr>
              <a:spcBef>
                <a:spcPts val="700"/>
              </a:spcBef>
            </a:pPr>
            <a:r>
              <a:rPr sz="1450">
                <a:solidFill>
                  <a:srgbClr val="1E293B"/>
                </a:solidFill>
              </a:rPr>
              <a:t>• 不能推断——只看原文有没有</a:t>
            </a:r>
          </a:p>
          <a:p>
            <a:pPr>
              <a:spcBef>
                <a:spcPts val="700"/>
              </a:spcBef>
            </a:pPr>
            <a:r>
              <a:rPr sz="1450">
                <a:solidFill>
                  <a:srgbClr val="1E293B"/>
                </a:solidFill>
              </a:rPr>
              <a:t>• 最难：NG vs False的区分</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MCQ推断题 vs 细节题：答题差异</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细节题（What does the author state?）</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答案在原文有直接支撑</a:t>
            </a:r>
          </a:p>
          <a:p>
            <a:pPr>
              <a:spcBef>
                <a:spcPts val="700"/>
              </a:spcBef>
            </a:pPr>
            <a:r>
              <a:rPr sz="1450">
                <a:solidFill>
                  <a:srgbClr val="1E293B"/>
                </a:solidFill>
              </a:rPr>
              <a:t>• 找同义替换——意思完全一致</a:t>
            </a:r>
          </a:p>
          <a:p>
            <a:pPr>
              <a:spcBef>
                <a:spcPts val="700"/>
              </a:spcBef>
            </a:pPr>
            <a:r>
              <a:rPr sz="1450">
                <a:solidFill>
                  <a:srgbClr val="1E293B"/>
                </a:solidFill>
              </a:rPr>
              <a:t>• 不需要推断——直接对应原文</a:t>
            </a:r>
          </a:p>
          <a:p>
            <a:pPr>
              <a:spcBef>
                <a:spcPts val="700"/>
              </a:spcBef>
            </a:pPr>
            <a:r>
              <a:rPr sz="1450">
                <a:solidFill>
                  <a:srgbClr val="1E293B"/>
                </a:solidFill>
              </a:rPr>
              <a:t>• 关键词定位快——更快解题</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推断题（What can be inferred?）</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答案是从原文逻辑推出的</a:t>
            </a:r>
          </a:p>
          <a:p>
            <a:pPr>
              <a:spcBef>
                <a:spcPts val="700"/>
              </a:spcBef>
            </a:pPr>
            <a:r>
              <a:rPr sz="1450">
                <a:solidFill>
                  <a:srgbClr val="1E293B"/>
                </a:solidFill>
              </a:rPr>
              <a:t>• 推断要有原文基础——不能无中生有</a:t>
            </a:r>
          </a:p>
          <a:p>
            <a:pPr>
              <a:spcBef>
                <a:spcPts val="700"/>
              </a:spcBef>
            </a:pPr>
            <a:r>
              <a:rPr sz="1450">
                <a:solidFill>
                  <a:srgbClr val="1E293B"/>
                </a:solidFill>
              </a:rPr>
              <a:t>• 推断要合理——不能过度推断</a:t>
            </a:r>
          </a:p>
          <a:p>
            <a:pPr>
              <a:spcBef>
                <a:spcPts val="700"/>
              </a:spcBef>
            </a:pPr>
            <a:r>
              <a:rPr sz="1450">
                <a:solidFill>
                  <a:srgbClr val="1E293B"/>
                </a:solidFill>
              </a:rPr>
              <a:t>• 最难题型——需要逻辑判断</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深圳学生MCQ错题类型统计与对策</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最常见错误（前3名）</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第1名：没回原文验证——凭感觉选（占错题60%）</a:t>
            </a:r>
          </a:p>
          <a:p>
            <a:pPr>
              <a:spcBef>
                <a:spcPts val="700"/>
              </a:spcBef>
            </a:pPr>
            <a:r>
              <a:rPr sz="1450">
                <a:solidFill>
                  <a:srgbClr val="1E293B"/>
                </a:solidFill>
              </a:rPr>
              <a:t>• 第2名：原文词陷阱——看到原文词就选（占30%）</a:t>
            </a:r>
          </a:p>
          <a:p>
            <a:pPr>
              <a:spcBef>
                <a:spcPts val="700"/>
              </a:spcBef>
            </a:pPr>
            <a:r>
              <a:rPr sz="1450">
                <a:solidFill>
                  <a:srgbClr val="1E293B"/>
                </a:solidFill>
              </a:rPr>
              <a:t>• 第3名：极端词未注意——all/always/never（占25%）</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对应提升方法</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对策1：每题必须回原文找支撑句才选</a:t>
            </a:r>
          </a:p>
          <a:p>
            <a:pPr>
              <a:spcBef>
                <a:spcPts val="700"/>
              </a:spcBef>
            </a:pPr>
            <a:r>
              <a:rPr sz="1450">
                <a:solidFill>
                  <a:srgbClr val="1E293B"/>
                </a:solidFill>
              </a:rPr>
              <a:t>• 对策2：遇到有原文词的选项→先质疑意思是否改变</a:t>
            </a:r>
          </a:p>
          <a:p>
            <a:pPr>
              <a:spcBef>
                <a:spcPts val="700"/>
              </a:spcBef>
            </a:pPr>
            <a:r>
              <a:rPr sz="1450">
                <a:solidFill>
                  <a:srgbClr val="1E293B"/>
                </a:solidFill>
              </a:rPr>
              <a:t>• 对策3：每次看选项先扫描极端词→先质疑再验证</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MCQ与其他题型联合备考策略</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7" name="Rectangle 6"/>
          <p:cNvSpPr/>
          <p:nvPr/>
        </p:nvSpPr>
        <p:spPr>
          <a:xfrm>
            <a:off x="548640" y="1188720"/>
            <a:ext cx="5486400" cy="4572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MCQ + 判断题（同一文章）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先做判断题——建立段落理解基础</a:t>
            </a:r>
          </a:p>
          <a:p>
            <a:pPr>
              <a:spcBef>
                <a:spcPts val="700"/>
              </a:spcBef>
            </a:pPr>
            <a:r>
              <a:rPr sz="1450">
                <a:solidFill>
                  <a:srgbClr val="1E293B"/>
                </a:solidFill>
              </a:rPr>
              <a:t>• MCQ定位同段——共享精读时间</a:t>
            </a:r>
          </a:p>
          <a:p>
            <a:pPr>
              <a:spcBef>
                <a:spcPts val="700"/>
              </a:spcBef>
            </a:pPr>
            <a:r>
              <a:rPr sz="1450">
                <a:solidFill>
                  <a:srgbClr val="1E293B"/>
                </a:solidFill>
              </a:rPr>
              <a:t>• 判断题"False"的信息→MCQ"相反信息"干扰</a:t>
            </a:r>
          </a:p>
          <a:p>
            <a:pPr>
              <a:spcBef>
                <a:spcPts val="700"/>
              </a:spcBef>
            </a:pPr>
            <a:r>
              <a:rPr sz="1450">
                <a:solidFill>
                  <a:srgbClr val="1E293B"/>
                </a:solidFill>
              </a:rPr>
              <a:t>• 共节省约2分钟定位时间</a:t>
            </a:r>
          </a:p>
        </p:txBody>
      </p:sp>
      <p:sp>
        <p:nvSpPr>
          <p:cNvPr id="10" name="Rectangle 9"/>
          <p:cNvSpPr/>
          <p:nvPr/>
        </p:nvSpPr>
        <p:spPr>
          <a:xfrm>
            <a:off x="6355079" y="1188720"/>
            <a:ext cx="5486400" cy="4572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MCQ + 信息定位（同一文章）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先做信息定位——建立段落地图</a:t>
            </a:r>
          </a:p>
          <a:p>
            <a:pPr>
              <a:spcBef>
                <a:spcPts val="700"/>
              </a:spcBef>
            </a:pPr>
            <a:r>
              <a:rPr sz="1450">
                <a:solidFill>
                  <a:srgbClr val="1E293B"/>
                </a:solidFill>
              </a:rPr>
              <a:t>• MCQ利用地图快速跳段定位</a:t>
            </a:r>
          </a:p>
          <a:p>
            <a:pPr>
              <a:spcBef>
                <a:spcPts val="700"/>
              </a:spcBef>
            </a:pPr>
            <a:r>
              <a:rPr sz="1450">
                <a:solidFill>
                  <a:srgbClr val="1E293B"/>
                </a:solidFill>
              </a:rPr>
              <a:t>• 两种题型互补，共享原文理解</a:t>
            </a:r>
          </a:p>
          <a:p>
            <a:pPr>
              <a:spcBef>
                <a:spcPts val="700"/>
              </a:spcBef>
            </a:pPr>
            <a:r>
              <a:rPr sz="1450">
                <a:solidFill>
                  <a:srgbClr val="1E293B"/>
                </a:solidFill>
              </a:rPr>
              <a:t>• 合理分配：MCQ 8min + 信息定位 7min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L06学完自测：选择题掌握度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能识别4种干扰选项：原文词/过度推断/相反信息/未提及</a:t>
            </a:r>
          </a:p>
          <a:p>
            <a:pPr>
              <a:spcBef>
                <a:spcPts val="1200"/>
              </a:spcBef>
            </a:pPr>
            <a:r>
              <a:rPr sz="1600">
                <a:solidFill>
                  <a:srgbClr val="1E293B"/>
                </a:solidFill>
              </a:rPr>
              <a:t>☐ 每次做选择题都回原文找支撑——不靠感觉</a:t>
            </a:r>
          </a:p>
          <a:p>
            <a:pPr>
              <a:spcBef>
                <a:spcPts val="1200"/>
              </a:spcBef>
            </a:pPr>
            <a:r>
              <a:rPr sz="1600">
                <a:solidFill>
                  <a:srgbClr val="1E293B"/>
                </a:solidFill>
              </a:rPr>
              <a:t>☐ 能快速识别极端词（all/always/never/only）并优先排除</a:t>
            </a:r>
          </a:p>
          <a:p>
            <a:pPr>
              <a:spcBef>
                <a:spcPts val="1200"/>
              </a:spcBef>
            </a:pPr>
            <a:r>
              <a:rPr sz="1600">
                <a:solidFill>
                  <a:srgbClr val="1E293B"/>
                </a:solidFill>
              </a:rPr>
              <a:t>☐ 能识别同义替换——选项用不同词表达原文意思</a:t>
            </a:r>
          </a:p>
          <a:p>
            <a:pPr>
              <a:spcBef>
                <a:spcPts val="1200"/>
              </a:spcBef>
            </a:pPr>
            <a:r>
              <a:rPr sz="1600">
                <a:solidFill>
                  <a:srgbClr val="1E293B"/>
                </a:solidFill>
              </a:rPr>
              <a:t>☐ 多选题能逐项验证每个选项，控制在3分钟内</a:t>
            </a:r>
          </a:p>
          <a:p>
            <a:pPr>
              <a:spcBef>
                <a:spcPts val="1200"/>
              </a:spcBef>
            </a:pPr>
            <a:r>
              <a:rPr sz="1600">
                <a:solidFill>
                  <a:srgbClr val="1E293B"/>
                </a:solidFill>
              </a:rPr>
              <a:t>☐ 建立了MCQ做题8步标准流程</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L06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E09A10"/>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MCQ分单选（选1）和多选（选2-3）——多选全对才得分</a:t>
            </a:r>
          </a:p>
          <a:p>
            <a:pPr>
              <a:spcBef>
                <a:spcPts val="1100"/>
              </a:spcBef>
            </a:pPr>
            <a:r>
              <a:rPr sz="1550">
                <a:solidFill>
                  <a:srgbClr val="FFFFFF"/>
                </a:solidFill>
              </a:rPr>
              <a:t>✓  4种干扰类型：原文词扭曲/过度推断/相反信息/未提及</a:t>
            </a:r>
          </a:p>
          <a:p>
            <a:pPr>
              <a:spcBef>
                <a:spcPts val="1100"/>
              </a:spcBef>
            </a:pPr>
            <a:r>
              <a:rPr sz="1550">
                <a:solidFill>
                  <a:srgbClr val="FFFFFF"/>
                </a:solidFill>
              </a:rPr>
              <a:t>✓  极端词（all/always/never/only）的选项→优先质疑和排除</a:t>
            </a:r>
          </a:p>
          <a:p>
            <a:pPr>
              <a:spcBef>
                <a:spcPts val="1100"/>
              </a:spcBef>
            </a:pPr>
            <a:r>
              <a:rPr sz="1550">
                <a:solidFill>
                  <a:srgbClr val="FFFFFF"/>
                </a:solidFill>
              </a:rPr>
              <a:t>✓  同义替换识别：选项用不同词但意思与原文完全匹配→正确</a:t>
            </a:r>
          </a:p>
          <a:p>
            <a:pPr>
              <a:spcBef>
                <a:spcPts val="1100"/>
              </a:spcBef>
            </a:pPr>
            <a:r>
              <a:rPr sz="1550">
                <a:solidFill>
                  <a:srgbClr val="FFFFFF"/>
                </a:solidFill>
              </a:rPr>
              <a:t>✓  多选每项都要回原文验证——不能凭感觉选</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1B5E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E09A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E09A10"/>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L06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Reading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E09A10"/>
                </a:solidFill>
                <a:latin typeface="Calibri"/>
              </a:rPr>
              <a:t>⏱ 建议用时：约2小时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Cambridge IELTS真题中完成3套MCQ题组（单选+多选），分析每道错题</a:t>
            </a:r>
          </a:p>
          <a:p>
            <a:pPr>
              <a:spcBef>
                <a:spcPts val="1300"/>
              </a:spcBef>
            </a:pPr>
            <a:r>
              <a:rPr sz="1550" b="1">
                <a:solidFill>
                  <a:srgbClr val="1E293B"/>
                </a:solidFill>
              </a:rPr>
              <a:t>作业 2　整理错题干扰类型：原文词陷阱/过度推断/相反/未提及各记录2例</a:t>
            </a:r>
          </a:p>
          <a:p>
            <a:pPr>
              <a:spcBef>
                <a:spcPts val="1300"/>
              </a:spcBef>
            </a:pPr>
            <a:r>
              <a:rPr sz="1550" b="1">
                <a:solidFill>
                  <a:srgbClr val="1E293B"/>
                </a:solidFill>
              </a:rPr>
              <a:t>作业 3　建立同义替换词组本——积累至少50对高频替换</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2B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E09A10"/>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L07 · 摘要填空与句子完成专项</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Summary Completion技巧</a:t>
            </a:r>
          </a:p>
          <a:p>
            <a:pPr>
              <a:spcBef>
                <a:spcPts val="1000"/>
              </a:spcBef>
            </a:pPr>
            <a:r>
              <a:rPr sz="1600">
                <a:solidFill>
                  <a:srgbClr val="CFDCF2"/>
                </a:solidFill>
              </a:rPr>
              <a:t>→ Sentence Endings做题策略</a:t>
            </a:r>
          </a:p>
          <a:p>
            <a:pPr>
              <a:spcBef>
                <a:spcPts val="1000"/>
              </a:spcBef>
            </a:pPr>
            <a:r>
              <a:rPr sz="1600">
                <a:solidFill>
                  <a:srgbClr val="CFDCF2"/>
                </a:solidFill>
              </a:rPr>
              <a:t>→ 关键词定位与同义替换</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