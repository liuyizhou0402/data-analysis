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L10</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全真模考
综合运用·全题型强化·冲刺提分</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Full Mock Test: IELTS Reading Final Review</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10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全真模考流程解析</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Passage 1综合精讲</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Passage 2综合精讲</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Passage 3综合精讲</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错题分析与提分策略</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冲刺计划与备考总结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全真模考流程与心理准备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Mock Test Process &amp; Mental Preparation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全真模考的价值</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Why Full Mock Tests Matter</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整合训练</a:t>
            </a:r>
          </a:p>
          <a:p>
            <a:pPr>
              <a:spcBef>
                <a:spcPts val="100"/>
              </a:spcBef>
            </a:pPr>
            <a:r>
              <a:rPr sz="1500">
                <a:solidFill>
                  <a:srgbClr val="556075"/>
                </a:solidFill>
              </a:rPr>
              <a:t>   把10节课学的所有技能综合运用</a:t>
            </a:r>
          </a:p>
          <a:p>
            <a:pPr>
              <a:spcBef>
                <a:spcPts val="900"/>
              </a:spcBef>
            </a:pPr>
            <a:r>
              <a:rPr sz="1800" b="1">
                <a:solidFill>
                  <a:srgbClr val="1B5E33"/>
                </a:solidFill>
              </a:rPr>
              <a:t>• 时间管理</a:t>
            </a:r>
          </a:p>
          <a:p>
            <a:pPr>
              <a:spcBef>
                <a:spcPts val="100"/>
              </a:spcBef>
            </a:pPr>
            <a:r>
              <a:rPr sz="1500">
                <a:solidFill>
                  <a:srgbClr val="556075"/>
                </a:solidFill>
              </a:rPr>
              <a:t>   60分钟真实感受——找到自己的节奏</a:t>
            </a:r>
          </a:p>
          <a:p>
            <a:pPr>
              <a:spcBef>
                <a:spcPts val="900"/>
              </a:spcBef>
            </a:pPr>
            <a:r>
              <a:rPr sz="1800" b="1">
                <a:solidFill>
                  <a:srgbClr val="1B5E33"/>
                </a:solidFill>
              </a:rPr>
              <a:t>• 发现弱点</a:t>
            </a:r>
          </a:p>
          <a:p>
            <a:pPr>
              <a:spcBef>
                <a:spcPts val="100"/>
              </a:spcBef>
            </a:pPr>
            <a:r>
              <a:rPr sz="1500">
                <a:solidFill>
                  <a:srgbClr val="556075"/>
                </a:solidFill>
              </a:rPr>
              <a:t>   错题分析揭示还需要练习的题型</a:t>
            </a:r>
          </a:p>
          <a:p>
            <a:pPr>
              <a:spcBef>
                <a:spcPts val="900"/>
              </a:spcBef>
            </a:pPr>
            <a:r>
              <a:rPr sz="1800" b="1">
                <a:solidFill>
                  <a:srgbClr val="1B5E33"/>
                </a:solidFill>
              </a:rPr>
              <a:t>• 建立信心</a:t>
            </a:r>
          </a:p>
          <a:p>
            <a:pPr>
              <a:spcBef>
                <a:spcPts val="100"/>
              </a:spcBef>
            </a:pPr>
            <a:r>
              <a:rPr sz="1500">
                <a:solidFill>
                  <a:srgbClr val="556075"/>
                </a:solidFill>
              </a:rPr>
              <a:t>   模考做好→正式考试更从容</a:t>
            </a:r>
          </a:p>
          <a:p>
            <a:pPr>
              <a:spcBef>
                <a:spcPts val="900"/>
              </a:spcBef>
            </a:pPr>
            <a:r>
              <a:rPr sz="1800" b="1">
                <a:solidFill>
                  <a:srgbClr val="1B5E33"/>
                </a:solidFill>
              </a:rPr>
              <a:t>• 考前准备</a:t>
            </a:r>
          </a:p>
          <a:p>
            <a:pPr>
              <a:spcBef>
                <a:spcPts val="100"/>
              </a:spcBef>
            </a:pPr>
            <a:r>
              <a:rPr sz="1500">
                <a:solidFill>
                  <a:srgbClr val="556075"/>
                </a:solidFill>
              </a:rPr>
              <a:t>   至少做5次全真模考——形成考试肌肉记忆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模考标准流程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Standard Mock Test Protocol</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准备</a:t>
            </a:r>
          </a:p>
          <a:p>
            <a:pPr>
              <a:spcBef>
                <a:spcPts val="100"/>
              </a:spcBef>
            </a:pPr>
            <a:r>
              <a:rPr sz="1500">
                <a:solidFill>
                  <a:srgbClr val="556075"/>
                </a:solidFill>
              </a:rPr>
              <a:t>   计时器/真题/答题纸——模拟真实考试环境</a:t>
            </a:r>
          </a:p>
          <a:p>
            <a:pPr>
              <a:spcBef>
                <a:spcPts val="900"/>
              </a:spcBef>
            </a:pPr>
            <a:r>
              <a:rPr sz="1800" b="1">
                <a:solidFill>
                  <a:srgbClr val="1B5E33"/>
                </a:solidFill>
              </a:rPr>
              <a:t>• 进场策略</a:t>
            </a:r>
          </a:p>
          <a:p>
            <a:pPr>
              <a:spcBef>
                <a:spcPts val="100"/>
              </a:spcBef>
            </a:pPr>
            <a:r>
              <a:rPr sz="1500">
                <a:solidFill>
                  <a:srgbClr val="556075"/>
                </a:solidFill>
              </a:rPr>
              <a:t>   先浏览3篇标题→判断难易→从最简单开始</a:t>
            </a:r>
          </a:p>
          <a:p>
            <a:pPr>
              <a:spcBef>
                <a:spcPts val="900"/>
              </a:spcBef>
            </a:pPr>
            <a:r>
              <a:rPr sz="1800" b="1">
                <a:solidFill>
                  <a:srgbClr val="1B5E33"/>
                </a:solidFill>
              </a:rPr>
              <a:t>• 做题过程</a:t>
            </a:r>
          </a:p>
          <a:p>
            <a:pPr>
              <a:spcBef>
                <a:spcPts val="100"/>
              </a:spcBef>
            </a:pPr>
            <a:r>
              <a:rPr sz="1500">
                <a:solidFill>
                  <a:srgbClr val="556075"/>
                </a:solidFill>
              </a:rPr>
              <a:t>   严格计时，超时先猜，不留空白</a:t>
            </a:r>
          </a:p>
          <a:p>
            <a:pPr>
              <a:spcBef>
                <a:spcPts val="900"/>
              </a:spcBef>
            </a:pPr>
            <a:r>
              <a:rPr sz="1800" b="1">
                <a:solidFill>
                  <a:srgbClr val="1B5E33"/>
                </a:solidFill>
              </a:rPr>
              <a:t>• 结束后</a:t>
            </a:r>
          </a:p>
          <a:p>
            <a:pPr>
              <a:spcBef>
                <a:spcPts val="100"/>
              </a:spcBef>
            </a:pPr>
            <a:r>
              <a:rPr sz="1500">
                <a:solidFill>
                  <a:srgbClr val="556075"/>
                </a:solidFill>
              </a:rPr>
              <a:t>   立即核对答案→分析每道错题→记录错题类型</a:t>
            </a:r>
          </a:p>
          <a:p>
            <a:pPr>
              <a:spcBef>
                <a:spcPts val="900"/>
              </a:spcBef>
            </a:pPr>
            <a:r>
              <a:rPr sz="1800" b="1">
                <a:solidFill>
                  <a:srgbClr val="1B5E33"/>
                </a:solidFill>
              </a:rPr>
              <a:t>• 复盘重点</a:t>
            </a:r>
          </a:p>
          <a:p>
            <a:pPr>
              <a:spcBef>
                <a:spcPts val="100"/>
              </a:spcBef>
            </a:pPr>
            <a:r>
              <a:rPr sz="1500">
                <a:solidFill>
                  <a:srgbClr val="556075"/>
                </a:solidFill>
              </a:rPr>
              <a:t>   不只看对错——要理解为什么错了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模考前心理准备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模考心态建立：
心态1：允许犯错——模考的目的是发现问题，不是证明完美
心态2：时间最重要——超时一定要先猜，继续前进
心态3：做完所有题——60分钟内所有题目都有答案
心态4：错了不气馁——每道错题=一个提升机会
心态5：模考≠正式考——失误可以弥补，找到规律才重要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模考后错题分析框架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错题分析4个问题：
问题1：这题我没定位到答案段落——为什么？
→ 关键词选择/同义替换未识别/Scanning速度不够
问题2：我定位到了但选错了——为什么？
→ 没精读/被原文词陷阱/极端词未注意/推断过度
问题3：我做对了——是靠技能还是运气？
→ 如果运气：验证一次，确认方法正确
问题4：这种错误有规律吗？
→ 同类错误→专项训练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模考时间分配实战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完整60分钟模考时间节点：
0:00 开始
0:00-3:00 浏览3篇标题，确认顺序
3:00-21:00 Passage 1（Skim 3分钟+做题15分钟+检查3分钟）
21:00-41:00 Passage 2（Skim 3分钟+做题15分钟+检查2分钟）
41:00-60:00 Passage 3（Skim 4分钟+做题13分钟+检查2分钟）
58:00-60:00 统一检查所有空白格</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关键检查点：
9:00 → Passage 1做题应进行约6分钟（5-6题）
21:00 → Passage 1应全部完成
41:00 → Passage 2应全部完成
58:00 → Passage 3全部填完（包括猜题）</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每次模考后对照此时间表——找出哪个阶段超时，有针对性地改进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题型优先顺序实战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同篇文章中，按以下优先级做题：
第1优先（最快）：填空/信息填写题
→ 有明确关键词，Scan快速定位
第2优先（较快）：T/F/NG判断题
→ 顺序原则，每题有对应段落
第3优先（中等）：选择题MCQ
→ 定位+精读+对照选项
第4优先（最慢）：标题匹配
→ 需要读多段，放在最后做
当时间不够：跳过第4，猜标题匹配，保证前3类全做完</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优先级原则：先易后难，先确定后模糊——总得分最大化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Passage 1综合精讲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Passage 1: Strategy &amp;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1特点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Passage 1 Characteristics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难度</a:t>
            </a:r>
          </a:p>
          <a:p>
            <a:pPr>
              <a:spcBef>
                <a:spcPts val="100"/>
              </a:spcBef>
            </a:pPr>
            <a:r>
              <a:rPr sz="1500">
                <a:solidFill>
                  <a:srgbClr val="556075"/>
                </a:solidFill>
              </a:rPr>
              <a:t>   3篇中最简单——词汇/句子结构相对基础</a:t>
            </a:r>
          </a:p>
          <a:p>
            <a:pPr>
              <a:spcBef>
                <a:spcPts val="900"/>
              </a:spcBef>
            </a:pPr>
            <a:r>
              <a:rPr sz="1800" b="1">
                <a:solidFill>
                  <a:srgbClr val="1B5E33"/>
                </a:solidFill>
              </a:rPr>
              <a:t>• 话题</a:t>
            </a:r>
          </a:p>
          <a:p>
            <a:pPr>
              <a:spcBef>
                <a:spcPts val="100"/>
              </a:spcBef>
            </a:pPr>
            <a:r>
              <a:rPr sz="1500">
                <a:solidFill>
                  <a:srgbClr val="556075"/>
                </a:solidFill>
              </a:rPr>
              <a:t>   通常是描述性/介绍性话题——自然/科技/历史/文化</a:t>
            </a:r>
          </a:p>
          <a:p>
            <a:pPr>
              <a:spcBef>
                <a:spcPts val="900"/>
              </a:spcBef>
            </a:pPr>
            <a:r>
              <a:rPr sz="1800" b="1">
                <a:solidFill>
                  <a:srgbClr val="1B5E33"/>
                </a:solidFill>
              </a:rPr>
              <a:t>• 题型</a:t>
            </a:r>
          </a:p>
          <a:p>
            <a:pPr>
              <a:spcBef>
                <a:spcPts val="100"/>
              </a:spcBef>
            </a:pPr>
            <a:r>
              <a:rPr sz="1500">
                <a:solidFill>
                  <a:srgbClr val="556075"/>
                </a:solidFill>
              </a:rPr>
              <a:t>   通常含填空+T/F/NG+信息匹配——基础题型为主</a:t>
            </a:r>
          </a:p>
          <a:p>
            <a:pPr>
              <a:spcBef>
                <a:spcPts val="900"/>
              </a:spcBef>
            </a:pPr>
            <a:r>
              <a:rPr sz="1800" b="1">
                <a:solidFill>
                  <a:srgbClr val="1B5E33"/>
                </a:solidFill>
              </a:rPr>
              <a:t>• 目标</a:t>
            </a:r>
          </a:p>
          <a:p>
            <a:pPr>
              <a:spcBef>
                <a:spcPts val="100"/>
              </a:spcBef>
            </a:pPr>
            <a:r>
              <a:rPr sz="1500">
                <a:solidFill>
                  <a:srgbClr val="556075"/>
                </a:solidFill>
              </a:rPr>
              <a:t>   18分钟完成，准确率&gt;85%——建立开门红</a:t>
            </a:r>
          </a:p>
          <a:p>
            <a:pPr>
              <a:spcBef>
                <a:spcPts val="900"/>
              </a:spcBef>
            </a:pPr>
            <a:r>
              <a:rPr sz="1800" b="1">
                <a:solidFill>
                  <a:srgbClr val="1B5E33"/>
                </a:solidFill>
              </a:rPr>
              <a:t>• Skimming</a:t>
            </a:r>
          </a:p>
          <a:p>
            <a:pPr>
              <a:spcBef>
                <a:spcPts val="100"/>
              </a:spcBef>
            </a:pPr>
            <a:r>
              <a:rPr sz="1500">
                <a:solidFill>
                  <a:srgbClr val="556075"/>
                </a:solidFill>
              </a:rPr>
              <a:t>   3分钟——话题通常容易理解，不需要太长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1高频题型组合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Common Question Types in Passage 1</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填空题</a:t>
            </a:r>
          </a:p>
          <a:p>
            <a:pPr>
              <a:spcBef>
                <a:spcPts val="100"/>
              </a:spcBef>
            </a:pPr>
            <a:r>
              <a:rPr sz="1500">
                <a:solidFill>
                  <a:srgbClr val="556075"/>
                </a:solidFill>
              </a:rPr>
              <a:t>   最常见——注意词数限制和词形变换</a:t>
            </a:r>
          </a:p>
          <a:p>
            <a:pPr>
              <a:spcBef>
                <a:spcPts val="900"/>
              </a:spcBef>
            </a:pPr>
            <a:r>
              <a:rPr sz="1800" b="1">
                <a:solidFill>
                  <a:srgbClr val="1B5E33"/>
                </a:solidFill>
              </a:rPr>
              <a:t>• T/F/NG</a:t>
            </a:r>
          </a:p>
          <a:p>
            <a:pPr>
              <a:spcBef>
                <a:spcPts val="100"/>
              </a:spcBef>
            </a:pPr>
            <a:r>
              <a:rPr sz="1500">
                <a:solidFill>
                  <a:srgbClr val="556075"/>
                </a:solidFill>
              </a:rPr>
              <a:t>   顺序原则——按文章顺序逐题找</a:t>
            </a:r>
          </a:p>
          <a:p>
            <a:pPr>
              <a:spcBef>
                <a:spcPts val="900"/>
              </a:spcBef>
            </a:pPr>
            <a:r>
              <a:rPr sz="1800" b="1">
                <a:solidFill>
                  <a:srgbClr val="1B5E33"/>
                </a:solidFill>
              </a:rPr>
              <a:t>• 信息匹配</a:t>
            </a:r>
          </a:p>
          <a:p>
            <a:pPr>
              <a:spcBef>
                <a:spcPts val="100"/>
              </a:spcBef>
            </a:pPr>
            <a:r>
              <a:rPr sz="1500">
                <a:solidFill>
                  <a:srgbClr val="556075"/>
                </a:solidFill>
              </a:rPr>
              <a:t>   哪段落包含什么信息——段落地图很有用</a:t>
            </a:r>
          </a:p>
          <a:p>
            <a:pPr>
              <a:spcBef>
                <a:spcPts val="900"/>
              </a:spcBef>
            </a:pPr>
            <a:r>
              <a:rPr sz="1800" b="1">
                <a:solidFill>
                  <a:srgbClr val="1B5E33"/>
                </a:solidFill>
              </a:rPr>
              <a:t>• MCQ（单选）</a:t>
            </a:r>
          </a:p>
          <a:p>
            <a:pPr>
              <a:spcBef>
                <a:spcPts val="100"/>
              </a:spcBef>
            </a:pPr>
            <a:r>
              <a:rPr sz="1500">
                <a:solidFill>
                  <a:srgbClr val="556075"/>
                </a:solidFill>
              </a:rPr>
              <a:t>   偶尔出现——定位+精读+排除</a:t>
            </a:r>
          </a:p>
          <a:p>
            <a:pPr>
              <a:spcBef>
                <a:spcPts val="900"/>
              </a:spcBef>
            </a:pPr>
            <a:r>
              <a:rPr sz="1800" b="1">
                <a:solidFill>
                  <a:srgbClr val="1B5E33"/>
                </a:solidFill>
              </a:rPr>
              <a:t>• 图表填空</a:t>
            </a:r>
          </a:p>
          <a:p>
            <a:pPr>
              <a:spcBef>
                <a:spcPts val="100"/>
              </a:spcBef>
            </a:pPr>
            <a:r>
              <a:rPr sz="1500">
                <a:solidFill>
                  <a:srgbClr val="556075"/>
                </a:solidFill>
              </a:rPr>
              <a:t>   有时有图/地图标注——看图确认定位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1做题示范：填空题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Passage 1填空题高效做法：
1.读题目，找关键词
例：空格前后词："The _____ was built in _____"
→ 关键词：数字/专有名词
2.Scan原文：先找年份/数字/人名
→ 找到→精读该句及上下文
3.填词
→ 词数上限（通常2词）
→ 词形匹配（语法位置）
→ 拼写准确（对照原文抄写）
4.检查
→ 数词数→检查拼写→语法合适？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1 T/F/NG攻略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T/F/NG顺序做题法：
关键：题目顺序=文章顺序
→ 第1题答案在文章前部
→ 最后一题答案在文章后部
做题步骤：
1. 读题目→提取关键词
2. 从上次找到答案的位置继续向后Scan
3. 找到关键词段落→精读
4. 对比：原文=题目→T; 原文≠题目→F; 原文没提→NG
NG陷阱：合理推断≠NG, 原文真的没有这个信息→才是NG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1综合实战：时间分配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Passage 1有13道题（4道填空+5道T/F/NG+4道MCQ）
目标：18分钟完成
时间分配：
0-3分钟：Skimming建地图
3-7分钟：填空4道（每题1分钟）
7-13分钟：T/F/NG 5道（每题1.2分钟）
13-17分钟：MCQ 4道（每题1分钟）
17-18分钟：检查（词数/拼写/多选数量）</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节奏检查点：
6分钟→应完成2-3道填空
12分钟→应完成所有填空+2-3道T/F/NG
17分钟→所有13题完成，开始检查</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提前完成→利用多余时间重检T/F/NG（最容易因理解偏差出错）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1错题分析模板</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每次模考后，对Passage 1每道错题分析：
错题1：___（题号）___（题型）
错误原因：□定位失败 □理解错误 □原词陷阱 □极端词 □词数/拼写
正确答案在原文第___段第___句
我的错误：___
正确逻辑：___
下次重点注意：___</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错题模板作用：系统化分析→发现自己的弱点题型→有针对性地专项练习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Passage 2综合精讲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Passage 2: Mid-Level Strategy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2特点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Passage 2 Characteristics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难度</a:t>
            </a:r>
          </a:p>
          <a:p>
            <a:pPr>
              <a:spcBef>
                <a:spcPts val="100"/>
              </a:spcBef>
            </a:pPr>
            <a:r>
              <a:rPr sz="1500">
                <a:solidFill>
                  <a:srgbClr val="556075"/>
                </a:solidFill>
              </a:rPr>
              <a:t>   中等——词汇和句子结构比Passage 1复杂</a:t>
            </a:r>
          </a:p>
          <a:p>
            <a:pPr>
              <a:spcBef>
                <a:spcPts val="900"/>
              </a:spcBef>
            </a:pPr>
            <a:r>
              <a:rPr sz="1800" b="1">
                <a:solidFill>
                  <a:srgbClr val="1B5E33"/>
                </a:solidFill>
              </a:rPr>
              <a:t>• 话题</a:t>
            </a:r>
          </a:p>
          <a:p>
            <a:pPr>
              <a:spcBef>
                <a:spcPts val="100"/>
              </a:spcBef>
            </a:pPr>
            <a:r>
              <a:rPr sz="1500">
                <a:solidFill>
                  <a:srgbClr val="556075"/>
                </a:solidFill>
              </a:rPr>
              <a:t>   学术性话题——社会/商业/教育/心理/医学</a:t>
            </a:r>
          </a:p>
          <a:p>
            <a:pPr>
              <a:spcBef>
                <a:spcPts val="900"/>
              </a:spcBef>
            </a:pPr>
            <a:r>
              <a:rPr sz="1800" b="1">
                <a:solidFill>
                  <a:srgbClr val="1B5E33"/>
                </a:solidFill>
              </a:rPr>
              <a:t>• 题型</a:t>
            </a:r>
          </a:p>
          <a:p>
            <a:pPr>
              <a:spcBef>
                <a:spcPts val="100"/>
              </a:spcBef>
            </a:pPr>
            <a:r>
              <a:rPr sz="1500">
                <a:solidFill>
                  <a:srgbClr val="556075"/>
                </a:solidFill>
              </a:rPr>
              <a:t>   各题型都有——通常含MCQ+填空+标题匹配</a:t>
            </a:r>
          </a:p>
          <a:p>
            <a:pPr>
              <a:spcBef>
                <a:spcPts val="900"/>
              </a:spcBef>
            </a:pPr>
            <a:r>
              <a:rPr sz="1800" b="1">
                <a:solidFill>
                  <a:srgbClr val="1B5E33"/>
                </a:solidFill>
              </a:rPr>
              <a:t>• 目标</a:t>
            </a:r>
          </a:p>
          <a:p>
            <a:pPr>
              <a:spcBef>
                <a:spcPts val="100"/>
              </a:spcBef>
            </a:pPr>
            <a:r>
              <a:rPr sz="1500">
                <a:solidFill>
                  <a:srgbClr val="556075"/>
                </a:solidFill>
              </a:rPr>
              <a:t>   20分钟完成，准确率&gt;80%</a:t>
            </a:r>
          </a:p>
          <a:p>
            <a:pPr>
              <a:spcBef>
                <a:spcPts val="900"/>
              </a:spcBef>
            </a:pPr>
            <a:r>
              <a:rPr sz="1800" b="1">
                <a:solidFill>
                  <a:srgbClr val="1B5E33"/>
                </a:solidFill>
              </a:rPr>
              <a:t>• 策略</a:t>
            </a:r>
          </a:p>
          <a:p>
            <a:pPr>
              <a:spcBef>
                <a:spcPts val="100"/>
              </a:spcBef>
            </a:pPr>
            <a:r>
              <a:rPr sz="1500">
                <a:solidFill>
                  <a:srgbClr val="556075"/>
                </a:solidFill>
              </a:rPr>
              <a:t>   不能拖在这篇太久——否则Passage 3没时间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2中等难度应对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Handling Mid-Level Difficulty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长句处理</a:t>
            </a:r>
          </a:p>
          <a:p>
            <a:pPr>
              <a:spcBef>
                <a:spcPts val="100"/>
              </a:spcBef>
            </a:pPr>
            <a:r>
              <a:rPr sz="1500">
                <a:solidFill>
                  <a:srgbClr val="556075"/>
                </a:solidFill>
              </a:rPr>
              <a:t>   遇到长复杂句→找主谓宾，忽略修饰成分</a:t>
            </a:r>
          </a:p>
          <a:p>
            <a:pPr>
              <a:spcBef>
                <a:spcPts val="900"/>
              </a:spcBef>
            </a:pPr>
            <a:r>
              <a:rPr sz="1800" b="1">
                <a:solidFill>
                  <a:srgbClr val="1B5E33"/>
                </a:solidFill>
              </a:rPr>
              <a:t>• 专业词汇</a:t>
            </a:r>
          </a:p>
          <a:p>
            <a:pPr>
              <a:spcBef>
                <a:spcPts val="100"/>
              </a:spcBef>
            </a:pPr>
            <a:r>
              <a:rPr sz="1500">
                <a:solidFill>
                  <a:srgbClr val="556075"/>
                </a:solidFill>
              </a:rPr>
              <a:t>   遇到生词→语境猜词（L08方法）→继续</a:t>
            </a:r>
          </a:p>
          <a:p>
            <a:pPr>
              <a:spcBef>
                <a:spcPts val="900"/>
              </a:spcBef>
            </a:pPr>
            <a:r>
              <a:rPr sz="1800" b="1">
                <a:solidFill>
                  <a:srgbClr val="1B5E33"/>
                </a:solidFill>
              </a:rPr>
              <a:t>• MCQ准确度</a:t>
            </a:r>
          </a:p>
          <a:p>
            <a:pPr>
              <a:spcBef>
                <a:spcPts val="100"/>
              </a:spcBef>
            </a:pPr>
            <a:r>
              <a:rPr sz="1500">
                <a:solidFill>
                  <a:srgbClr val="556075"/>
                </a:solidFill>
              </a:rPr>
              <a:t>   Passage 2的MCQ更难——多选逐项验证必做</a:t>
            </a:r>
          </a:p>
          <a:p>
            <a:pPr>
              <a:spcBef>
                <a:spcPts val="900"/>
              </a:spcBef>
            </a:pPr>
            <a:r>
              <a:rPr sz="1800" b="1">
                <a:solidFill>
                  <a:srgbClr val="1B5E33"/>
                </a:solidFill>
              </a:rPr>
              <a:t>• 标题匹配</a:t>
            </a:r>
          </a:p>
          <a:p>
            <a:pPr>
              <a:spcBef>
                <a:spcPts val="100"/>
              </a:spcBef>
            </a:pPr>
            <a:r>
              <a:rPr sz="1500">
                <a:solidFill>
                  <a:srgbClr val="556075"/>
                </a:solidFill>
              </a:rPr>
              <a:t>   如有标题匹配→先做其他题，最后做标题匹配</a:t>
            </a:r>
          </a:p>
          <a:p>
            <a:pPr>
              <a:spcBef>
                <a:spcPts val="900"/>
              </a:spcBef>
            </a:pPr>
            <a:r>
              <a:rPr sz="1800" b="1">
                <a:solidFill>
                  <a:srgbClr val="1B5E33"/>
                </a:solidFill>
              </a:rPr>
              <a:t>• 时间警觉</a:t>
            </a:r>
          </a:p>
          <a:p>
            <a:pPr>
              <a:spcBef>
                <a:spcPts val="100"/>
              </a:spcBef>
            </a:pPr>
            <a:r>
              <a:rPr sz="1500">
                <a:solidFill>
                  <a:srgbClr val="556075"/>
                </a:solidFill>
              </a:rPr>
              <a:t>   20分钟时必须完成，否则牺牲Passage 3时间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2 MCQ攻略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Passage 2 MCQ比Passage 1更难，策略升级：
升级1：更严格的原文验证
→ 每个选项都要回原文找句子——不能凭感觉
升级2：更多同义替换
→ 选项改写程度更深——需要更仔细识别
升级3：推断题更多
→ 有原文支撑才选——不过度推断
升级4：多选题更难
→ 每项都验证——全对才得分
时间：MCQ每题1.5分钟（比Passage 1多0.5分钟）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2标题匹配攻略（如有）</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在Passage 2遇到标题匹配：
做题顺序：把标题匹配放在最后
原因：标题匹配需要读多段，做完其他题后已经熟悉文章
标题匹配策略（L05方法）：
1. 读所有备选标题
2. 每段读首末句→找主题句
3. 与标题匹配，排除干扰
4. 全段检验：选定标题概括整段内容
时间：每段1-1.5分钟上限——超时猜，继续</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2综合实战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Passage 2（14道题：4MCQ单选+2MCQ多选+4填空+4标题匹配）
目标：20分钟
推荐做题顺序：
0-3分钟：Skimming
3-7分钟：填空4道（1分钟/题）
7-14分钟：MCQ单选4道（1.5分钟/题）+ MCQ多选2道（1.5分钟/道）
14-20分钟：标题匹配4段（1.5分钟/段）
如果超时：标题匹配猜答案，保证前面题全做完</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时间节点：
9分钟→填空完成+MCQ开始
17分钟→所有MCQ完成，开始标题匹配
20分钟→Passage 2全部完成（包括猜）</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顺序策略：填空最快→MCQ中等→标题匹配最慢。有节余时间才做难的题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2长难句处理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长难句示例：
"While proponents of genetically modified crops argue that such technologies are essential for addressing global food security challenges, critics contend that insufficient research has been conducted to adequately assess the long-term ecological and health implications of widespread GM crop adoption."
快速处理策略：
1.找主谓：proponents argue（一方） vs critics contend（另一方）
2.忽略修饰：while/that/of/such等修饰成分
3.大意：一方说GM作物解决粮食安全，另一方说研究不够
4.做题用：不需要完全理解——只需定位+提取答案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长句技巧：找主谓→识别让步/转折结构→抓对比两方的核心观点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Passage 3综合精讲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Passage 3: Advanced Strategy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3特点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Passage 3 Characteristics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难度</a:t>
            </a:r>
          </a:p>
          <a:p>
            <a:pPr>
              <a:spcBef>
                <a:spcPts val="100"/>
              </a:spcBef>
            </a:pPr>
            <a:r>
              <a:rPr sz="1500">
                <a:solidFill>
                  <a:srgbClr val="556075"/>
                </a:solidFill>
              </a:rPr>
              <a:t>   最难——学术文章，词汇复杂，推断题多</a:t>
            </a:r>
          </a:p>
          <a:p>
            <a:pPr>
              <a:spcBef>
                <a:spcPts val="900"/>
              </a:spcBef>
            </a:pPr>
            <a:r>
              <a:rPr sz="1800" b="1">
                <a:solidFill>
                  <a:srgbClr val="1B5E33"/>
                </a:solidFill>
              </a:rPr>
              <a:t>• 话题</a:t>
            </a:r>
          </a:p>
          <a:p>
            <a:pPr>
              <a:spcBef>
                <a:spcPts val="100"/>
              </a:spcBef>
            </a:pPr>
            <a:r>
              <a:rPr sz="1500">
                <a:solidFill>
                  <a:srgbClr val="556075"/>
                </a:solidFill>
              </a:rPr>
              <a:t>   复杂学术话题——哲学/高端科技/复杂社会问题</a:t>
            </a:r>
          </a:p>
          <a:p>
            <a:pPr>
              <a:spcBef>
                <a:spcPts val="900"/>
              </a:spcBef>
            </a:pPr>
            <a:r>
              <a:rPr sz="1800" b="1">
                <a:solidFill>
                  <a:srgbClr val="1B5E33"/>
                </a:solidFill>
              </a:rPr>
              <a:t>• 题型</a:t>
            </a:r>
          </a:p>
          <a:p>
            <a:pPr>
              <a:spcBef>
                <a:spcPts val="100"/>
              </a:spcBef>
            </a:pPr>
            <a:r>
              <a:rPr sz="1500">
                <a:solidFill>
                  <a:srgbClr val="556075"/>
                </a:solidFill>
              </a:rPr>
              <a:t>   常含标题匹配+推断题+MCQ多选——最难题型组合</a:t>
            </a:r>
          </a:p>
          <a:p>
            <a:pPr>
              <a:spcBef>
                <a:spcPts val="900"/>
              </a:spcBef>
            </a:pPr>
            <a:r>
              <a:rPr sz="1800" b="1">
                <a:solidFill>
                  <a:srgbClr val="1B5E33"/>
                </a:solidFill>
              </a:rPr>
              <a:t>• 目标</a:t>
            </a:r>
          </a:p>
          <a:p>
            <a:pPr>
              <a:spcBef>
                <a:spcPts val="100"/>
              </a:spcBef>
            </a:pPr>
            <a:r>
              <a:rPr sz="1500">
                <a:solidFill>
                  <a:srgbClr val="556075"/>
                </a:solidFill>
              </a:rPr>
              <a:t>   22分钟完成，准确率&gt;75%（难度高，目标低一些）</a:t>
            </a:r>
          </a:p>
          <a:p>
            <a:pPr>
              <a:spcBef>
                <a:spcPts val="900"/>
              </a:spcBef>
            </a:pPr>
            <a:r>
              <a:rPr sz="1800" b="1">
                <a:solidFill>
                  <a:srgbClr val="1B5E33"/>
                </a:solidFill>
              </a:rPr>
              <a:t>• 策略</a:t>
            </a:r>
          </a:p>
          <a:p>
            <a:pPr>
              <a:spcBef>
                <a:spcPts val="100"/>
              </a:spcBef>
            </a:pPr>
            <a:r>
              <a:rPr sz="1500">
                <a:solidFill>
                  <a:srgbClr val="556075"/>
                </a:solidFill>
              </a:rPr>
              <a:t>   难题先猜，时间危机立即应急——不能让Passage 3全军覆没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3最难题型应对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Handling the Hardest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复杂推断题</a:t>
            </a:r>
          </a:p>
          <a:p>
            <a:pPr>
              <a:spcBef>
                <a:spcPts val="100"/>
              </a:spcBef>
            </a:pPr>
            <a:r>
              <a:rPr sz="1500">
                <a:solidFill>
                  <a:srgbClr val="556075"/>
                </a:solidFill>
              </a:rPr>
              <a:t>   先找原文相关段→精读→找最有支撑的选项</a:t>
            </a:r>
          </a:p>
          <a:p>
            <a:pPr>
              <a:spcBef>
                <a:spcPts val="900"/>
              </a:spcBef>
            </a:pPr>
            <a:r>
              <a:rPr sz="1800" b="1">
                <a:solidFill>
                  <a:srgbClr val="1B5E33"/>
                </a:solidFill>
              </a:rPr>
              <a:t>• 多选题</a:t>
            </a:r>
          </a:p>
          <a:p>
            <a:pPr>
              <a:spcBef>
                <a:spcPts val="100"/>
              </a:spcBef>
            </a:pPr>
            <a:r>
              <a:rPr sz="1500">
                <a:solidFill>
                  <a:srgbClr val="556075"/>
                </a:solidFill>
              </a:rPr>
              <a:t>   每项验证——发现不确定的→先标记，继续</a:t>
            </a:r>
          </a:p>
          <a:p>
            <a:pPr>
              <a:spcBef>
                <a:spcPts val="900"/>
              </a:spcBef>
            </a:pPr>
            <a:r>
              <a:rPr sz="1800" b="1">
                <a:solidFill>
                  <a:srgbClr val="1B5E33"/>
                </a:solidFill>
              </a:rPr>
              <a:t>• 词义题</a:t>
            </a:r>
          </a:p>
          <a:p>
            <a:pPr>
              <a:spcBef>
                <a:spcPts val="100"/>
              </a:spcBef>
            </a:pPr>
            <a:r>
              <a:rPr sz="1500">
                <a:solidFill>
                  <a:srgbClr val="556075"/>
                </a:solidFill>
              </a:rPr>
              <a:t>   语境猜词3法——同义/反义/逻辑推断</a:t>
            </a:r>
          </a:p>
          <a:p>
            <a:pPr>
              <a:spcBef>
                <a:spcPts val="900"/>
              </a:spcBef>
            </a:pPr>
            <a:r>
              <a:rPr sz="1800" b="1">
                <a:solidFill>
                  <a:srgbClr val="1B5E33"/>
                </a:solidFill>
              </a:rPr>
              <a:t>• 标题匹配</a:t>
            </a:r>
          </a:p>
          <a:p>
            <a:pPr>
              <a:spcBef>
                <a:spcPts val="100"/>
              </a:spcBef>
            </a:pPr>
            <a:r>
              <a:rPr sz="1500">
                <a:solidFill>
                  <a:srgbClr val="556075"/>
                </a:solidFill>
              </a:rPr>
              <a:t>   放在最后→Skim整篇已完成→直接对应主题句</a:t>
            </a:r>
          </a:p>
          <a:p>
            <a:pPr>
              <a:spcBef>
                <a:spcPts val="900"/>
              </a:spcBef>
            </a:pPr>
            <a:r>
              <a:rPr sz="1800" b="1">
                <a:solidFill>
                  <a:srgbClr val="1B5E33"/>
                </a:solidFill>
              </a:rPr>
              <a:t>• 时间控制</a:t>
            </a:r>
          </a:p>
          <a:p>
            <a:pPr>
              <a:spcBef>
                <a:spcPts val="100"/>
              </a:spcBef>
            </a:pPr>
            <a:r>
              <a:rPr sz="1500">
                <a:solidFill>
                  <a:srgbClr val="556075"/>
                </a:solidFill>
              </a:rPr>
              <a:t>   Passage 3每题最多2分钟——超时立即猜继续</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3推断题攻略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Passage 3推断题（最难）应对策略：
难度原因：选项改写程度更高+推断链更长
应对策略升级：
1. 每个选项都先找原文支撑——没有支撑就排除
2. 警惕"合理但超出原文"的选项
3. 排除含极端词（all/always/never）的选项
4. 在剩余选项中，选最保守（最接近原文）的推断
5. 时间超过90秒→猜剩余选项中最长的那个
心理准备：Passage 3推断题做错很正常——不必沮丧</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Passage 3时间危机应对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Passage 3时间危机（剩余时间&lt;10分钟但还有8题）：
优先做：
1. 信息定位/填空题（最快——有关键词）
2. T/F/NG题（顺序原则——定位快）
直接猜：
3. 标题匹配（耗时最多）→全猜B
4. 推断题（难且耗时）→猜C
5. 多选题→猜A+C
最后30秒：
所有空白格统一填D
关键：应急策略实战→比全部精读更多得分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3综合实战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Passage 3（13道题：4标题匹配+4推断MCQ+3多选MCQ+2填空）
目标：22分钟
推荐顺序（最难篇，做题顺序最关键）：
0-4分钟：Skimming（难文章多1分钟）
4-8分钟：填空2道（2分钟/道）
8-16分钟：推断MCQ 4道（2分钟/道）
16-21分钟：标题匹配4段（1.25分钟/段）
21-22分钟：多选MCQ猜（时间不够→猜A+C）
如有剩余时间：多选MCQ验证</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时间节点（严格执行）：
8分钟→填空2道必须完成
16分钟→推断MCQ完成
21分钟→标题匹配完成
22分钟→多选填完（猜或验证）</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难题原则：Passage 3题题都可能难——设好时间上限，不让一题拖垮全局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Passage 3错题深度分析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对Passage 3的错题，做更深入分析：
对于推断题错误：
→ 找到正确答案在原文的支撑句
→ 分析：我的推断为什么超出了原文范围？
→ 总结：有效推断的"边界"在哪里？
对于MCQ错误：
→ 找到干扰选项是哪种类型（原文词/过度推断/相反/未提及）
→ 分析：为什么被这个干扰选项欺骗了？
→ 总结：下次遇到这种干扰要怎么识别？</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深度错题分析耗时但回报最高——每道分析透彻=20道类似题的训练</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冲刺计划与备考总结</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Final Sprint Plan &amp; Course Summary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IELTS阅读备考总结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Course Summary: 10 Lessons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L01-L03</a:t>
            </a:r>
          </a:p>
          <a:p>
            <a:pPr>
              <a:spcBef>
                <a:spcPts val="100"/>
              </a:spcBef>
            </a:pPr>
            <a:r>
              <a:rPr sz="1500">
                <a:solidFill>
                  <a:srgbClr val="556075"/>
                </a:solidFill>
              </a:rPr>
              <a:t>   T/F/NG + 信息定位 + 多题型精读策略</a:t>
            </a:r>
          </a:p>
          <a:p>
            <a:pPr>
              <a:spcBef>
                <a:spcPts val="900"/>
              </a:spcBef>
            </a:pPr>
            <a:r>
              <a:rPr sz="1800" b="1">
                <a:solidFill>
                  <a:srgbClr val="1B5E33"/>
                </a:solidFill>
              </a:rPr>
              <a:t>• L04-L05</a:t>
            </a:r>
          </a:p>
          <a:p>
            <a:pPr>
              <a:spcBef>
                <a:spcPts val="100"/>
              </a:spcBef>
            </a:pPr>
            <a:r>
              <a:rPr sz="1500">
                <a:solidFill>
                  <a:srgbClr val="556075"/>
                </a:solidFill>
              </a:rPr>
              <a:t>   填空题全攻略 + 标题匹配专项</a:t>
            </a:r>
          </a:p>
          <a:p>
            <a:pPr>
              <a:spcBef>
                <a:spcPts val="900"/>
              </a:spcBef>
            </a:pPr>
            <a:r>
              <a:rPr sz="1800" b="1">
                <a:solidFill>
                  <a:srgbClr val="1B5E33"/>
                </a:solidFill>
              </a:rPr>
              <a:t>• L06-L07</a:t>
            </a:r>
          </a:p>
          <a:p>
            <a:pPr>
              <a:spcBef>
                <a:spcPts val="100"/>
              </a:spcBef>
            </a:pPr>
            <a:r>
              <a:rPr sz="1500">
                <a:solidFill>
                  <a:srgbClr val="556075"/>
                </a:solidFill>
              </a:rPr>
              <a:t>   选择题MCQ + 摘要填空/句子完成</a:t>
            </a:r>
          </a:p>
          <a:p>
            <a:pPr>
              <a:spcBef>
                <a:spcPts val="900"/>
              </a:spcBef>
            </a:pPr>
            <a:r>
              <a:rPr sz="1800" b="1">
                <a:solidFill>
                  <a:srgbClr val="1B5E33"/>
                </a:solidFill>
              </a:rPr>
              <a:t>• L08-L09</a:t>
            </a:r>
          </a:p>
          <a:p>
            <a:pPr>
              <a:spcBef>
                <a:spcPts val="100"/>
              </a:spcBef>
            </a:pPr>
            <a:r>
              <a:rPr sz="1500">
                <a:solidFill>
                  <a:srgbClr val="556075"/>
                </a:solidFill>
              </a:rPr>
              <a:t>   词汇推断 + 速读技巧与时间管理</a:t>
            </a:r>
          </a:p>
          <a:p>
            <a:pPr>
              <a:spcBef>
                <a:spcPts val="900"/>
              </a:spcBef>
            </a:pPr>
            <a:r>
              <a:rPr sz="1800" b="1">
                <a:solidFill>
                  <a:srgbClr val="1B5E33"/>
                </a:solidFill>
              </a:rPr>
              <a:t>• L10</a:t>
            </a:r>
          </a:p>
          <a:p>
            <a:pPr>
              <a:spcBef>
                <a:spcPts val="100"/>
              </a:spcBef>
            </a:pPr>
            <a:r>
              <a:rPr sz="1500">
                <a:solidFill>
                  <a:srgbClr val="556075"/>
                </a:solidFill>
              </a:rPr>
              <a:t>   全真模考——综合运用所有技能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各分数段提分关键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Key Improvements by Band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5.0→6.0</a:t>
            </a:r>
          </a:p>
          <a:p>
            <a:pPr>
              <a:spcBef>
                <a:spcPts val="100"/>
              </a:spcBef>
            </a:pPr>
            <a:r>
              <a:rPr sz="1500">
                <a:solidFill>
                  <a:srgbClr val="556075"/>
                </a:solidFill>
              </a:rPr>
              <a:t>   重点：基础题型（填空/T/F/NG）准确率→需做至少10套题</a:t>
            </a:r>
          </a:p>
          <a:p>
            <a:pPr>
              <a:spcBef>
                <a:spcPts val="900"/>
              </a:spcBef>
            </a:pPr>
            <a:r>
              <a:rPr sz="1800" b="1">
                <a:solidFill>
                  <a:srgbClr val="1B5E33"/>
                </a:solidFill>
              </a:rPr>
              <a:t>• 6.0→6.5</a:t>
            </a:r>
          </a:p>
          <a:p>
            <a:pPr>
              <a:spcBef>
                <a:spcPts val="100"/>
              </a:spcBef>
            </a:pPr>
            <a:r>
              <a:rPr sz="1500">
                <a:solidFill>
                  <a:srgbClr val="556075"/>
                </a:solidFill>
              </a:rPr>
              <a:t>   重点：MCQ干扰识别+同义替换→正确率70%→80%</a:t>
            </a:r>
          </a:p>
          <a:p>
            <a:pPr>
              <a:spcBef>
                <a:spcPts val="900"/>
              </a:spcBef>
            </a:pPr>
            <a:r>
              <a:rPr sz="1800" b="1">
                <a:solidFill>
                  <a:srgbClr val="1B5E33"/>
                </a:solidFill>
              </a:rPr>
              <a:t>• 6.5→7.0</a:t>
            </a:r>
          </a:p>
          <a:p>
            <a:pPr>
              <a:spcBef>
                <a:spcPts val="100"/>
              </a:spcBef>
            </a:pPr>
            <a:r>
              <a:rPr sz="1500">
                <a:solidFill>
                  <a:srgbClr val="556075"/>
                </a:solidFill>
              </a:rPr>
              <a:t>   重点：速读速度200WPM+标题匹配+时间管理</a:t>
            </a:r>
          </a:p>
          <a:p>
            <a:pPr>
              <a:spcBef>
                <a:spcPts val="900"/>
              </a:spcBef>
            </a:pPr>
            <a:r>
              <a:rPr sz="1800" b="1">
                <a:solidFill>
                  <a:srgbClr val="1B5E33"/>
                </a:solidFill>
              </a:rPr>
              <a:t>• 7.0→7.5</a:t>
            </a:r>
          </a:p>
          <a:p>
            <a:pPr>
              <a:spcBef>
                <a:spcPts val="100"/>
              </a:spcBef>
            </a:pPr>
            <a:r>
              <a:rPr sz="1500">
                <a:solidFill>
                  <a:srgbClr val="556075"/>
                </a:solidFill>
              </a:rPr>
              <a:t>   重点：推断题精准+词汇推断+最难题型攻克</a:t>
            </a:r>
          </a:p>
          <a:p>
            <a:pPr>
              <a:spcBef>
                <a:spcPts val="900"/>
              </a:spcBef>
            </a:pPr>
            <a:r>
              <a:rPr sz="1800" b="1">
                <a:solidFill>
                  <a:srgbClr val="1B5E33"/>
                </a:solidFill>
              </a:rPr>
              <a:t>• 7.5→8.0</a:t>
            </a:r>
          </a:p>
          <a:p>
            <a:pPr>
              <a:spcBef>
                <a:spcPts val="100"/>
              </a:spcBef>
            </a:pPr>
            <a:r>
              <a:rPr sz="1500">
                <a:solidFill>
                  <a:srgbClr val="556075"/>
                </a:solidFill>
              </a:rPr>
              <a:t>   重点：全套准确率&gt;90%+Passage 3&lt;22分钟完成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冲刺计划：考前4周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考前4周冲刺计划：
第1周：专项强化
→每天做2套各题型专项（找自己最弱的题型）
→重点题型：标题匹配/MCQ多选/推断题
第2周：全真模考
→每2天做一套完整模考（60分钟计时）
→错题深度分析，找规律
第3周：弱点突破+速度提升
→针对第2周发现的弱点专项练习
→每天WPM计时训练，目标达到220+
第4周：巩固状态
→每2天做一套完整模考
→不引入新方法——稳定自己的做题流程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考场最终叮嘱</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考场当天注意事项：
1.考前晚上：读自己的错题笔记——复习关键技巧
2.考场进门：先浏览3篇标题，评估难易顺序
3.开始做题：严格Skimming 3-4分钟——不要跳过
4.遇到难题：超过90秒→先猜，标记，继续
5.最后5分钟：检查词数/拼写/多选数量/空白格
最重要：所有题都填答案——不留空白！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10节课综合自测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完成以下自测，评估10节课学习成果：
T/F/NG：能准确区分False和Not Given吗？
信息定位：能30秒内Scan定位关键词吗？
填空题：每次填完都检查词数和拼写吗？
标题匹配：能用主题句+排除法做到80%准确率吗？
MCQ：每次选项都回原文验证吗？
速读：Skimming 3分钟能建立段落地图吗？
时间管理：60分钟能完成40道题吗？</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全部√ → 准备好参加考试了
有3个以上✗ → 针对这些题型再专项练习2周
Band 7目标：MCQ准确率&gt;85%+所有题完成+速读220WPM</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最终目标：不只是会做题，而是建立了稳定、可重复的做题流程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深圳学生冲刺提分关键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基于深圳IELTS考生分析，最后提分关键：
问题1："标题匹配总是失分"（最常见）
→ 解决：每段读首末句，不选只对应一个细节的标题
问题2："时间管理失控"（第二常见）
→ 解决：每题设时间上限，超时立即猜，不死磕
问题3："MCQ总选原文词陷阱"（第三常见）
→ 解决：有原文词的选项→先质疑，再验证意思
问题4："T/F/NG：True vs Not Given混淆"
→ 解决：NG=原文完全没提；True=原文有支撑</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核心原则：考试是综合能力的体现——技能+策略+时间管理=IELTS高分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全真模考：Passage 1高分解题示范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题目：设定：Passage 1（社会科学类）含4道填空+5道T/F/NG+4道MCQ
模拟原文主题："Urban farming（城市农业）的发展与挑战"
填空题示范：
题："Urban farms typically yield _____ times more produce per square metre than rural farms."
原文："Studies show that urban farms can produce up to ten times more crops per unit area compared to conventional rural farming."
→ 关键词：times more/per square metre/than rural
→ Scan原文找"times"关键词
→ 精读：up to ten times more
→ 填词：ten（1词，符合通常2词限制）</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解题要点：
• 同义替换：square metre=unit area / rural farms=rural farming
• 关键词选择：times是精准数量词，优先Scan
• 词数检查：ten=1词，检查是否需要填"ten times"（2词也可能正确）
• 拼写检查：ten=简单词，对照原文确认</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数量关键词（up to/ten times/more than）是最好的Scanning目标词</a:t>
            </a:r>
          </a:p>
          <a:p>
            <a:pPr>
              <a:spcBef>
                <a:spcPts val="700"/>
              </a:spcBef>
            </a:pPr>
            <a:r>
              <a:rPr sz="1200">
                <a:solidFill>
                  <a:srgbClr val="1E293B"/>
                </a:solidFill>
              </a:rPr>
              <a:t>▸ 同义替换：square metre=unit area → 这是典型摘要题改写</a:t>
            </a:r>
          </a:p>
          <a:p>
            <a:pPr>
              <a:spcBef>
                <a:spcPts val="700"/>
              </a:spcBef>
            </a:pPr>
            <a:r>
              <a:rPr sz="1200">
                <a:solidFill>
                  <a:srgbClr val="1E293B"/>
                </a:solidFill>
              </a:rPr>
              <a:t>▸ 填词简则：填最短的正确答案，减少词数超限风险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全真模考：Passage 3高分解题示范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题目：设定：Passage 3（哲学/科技类）含推断题
题目："What can be inferred about artificial intelligence from the passage?"
原文："While AI systems have demonstrated remarkable capabilities in specific domains such as image recognition and natural language processing, they remain fundamentally limited by their inability to apply knowledge across contexts—a capability that even young children possess effortlessly."
选项：
A. AI will eventually surpass human intelligence in all domains
B. Current AI systems lack the general adaptability of human cognition
C. AI is only useful in highly specialised technical fields
D. Children are superior to AI in image recognition tasks</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推断分析：
原文核心："limited by inability to apply knowledge across contexts—capability children possess"
A."eventually surpass in all domains"→ 原文没预测未来，且说AI有限制 ✗（无原文支撑+极端词all）
B."lack general adaptability"→ "cannot apply knowledge across contexts"=lack adaptability ✓（有直接支撑）
C."only useful in specialised fields"→ 原文说AI在某些领域很好——only过度限制 ✗
D."children superior in image recognition"→ 原文说孩子在跨上下文应用能力上，不是图像识别 ✗（混淆领域）
答案：B</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B的推断链：cannot apply knowledge across contexts→lack general adaptability（完全等同）</a:t>
            </a:r>
          </a:p>
          <a:p>
            <a:pPr>
              <a:spcBef>
                <a:spcPts val="700"/>
              </a:spcBef>
            </a:pPr>
            <a:r>
              <a:rPr sz="1200">
                <a:solidFill>
                  <a:srgbClr val="1E293B"/>
                </a:solidFill>
              </a:rPr>
              <a:t>▸ 排除A：原文没有关于未来的预测，且说AI有限制→"surpass all"无支撑</a:t>
            </a:r>
          </a:p>
          <a:p>
            <a:pPr>
              <a:spcBef>
                <a:spcPts val="700"/>
              </a:spcBef>
            </a:pPr>
            <a:r>
              <a:rPr sz="1200">
                <a:solidFill>
                  <a:srgbClr val="1E293B"/>
                </a:solidFill>
              </a:rPr>
              <a:t>▸ Passage 3原则：有直接原文支撑+范围合理=正确推断</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10节课技能总结：做到了哪些？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L01-L05：核心题型</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L06-L10：进阶综合</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L01 T/F/NG：True/False/NG三方区别</a:t>
            </a:r>
          </a:p>
          <a:p>
            <a:pPr>
              <a:spcBef>
                <a:spcPts val="700"/>
              </a:spcBef>
            </a:pPr>
            <a:r>
              <a:rPr sz="1350">
                <a:solidFill>
                  <a:srgbClr val="C02A2A"/>
                </a:solidFill>
              </a:rPr>
              <a:t>✗ L02 信息定位：段落地图+精准扫读</a:t>
            </a:r>
          </a:p>
          <a:p>
            <a:pPr>
              <a:spcBef>
                <a:spcPts val="700"/>
              </a:spcBef>
            </a:pPr>
            <a:r>
              <a:rPr sz="1350">
                <a:solidFill>
                  <a:srgbClr val="C02A2A"/>
                </a:solidFill>
              </a:rPr>
              <a:t>✗ L03 多题型：各题型组合策略</a:t>
            </a:r>
          </a:p>
          <a:p>
            <a:pPr>
              <a:spcBef>
                <a:spcPts val="700"/>
              </a:spcBef>
            </a:pPr>
            <a:r>
              <a:rPr sz="1350">
                <a:solidFill>
                  <a:srgbClr val="C02A2A"/>
                </a:solidFill>
              </a:rPr>
              <a:t>✗ L04 填空题：词数/拼写/词形三检查</a:t>
            </a:r>
          </a:p>
          <a:p>
            <a:pPr>
              <a:spcBef>
                <a:spcPts val="700"/>
              </a:spcBef>
            </a:pPr>
            <a:r>
              <a:rPr sz="1350">
                <a:solidFill>
                  <a:srgbClr val="C02A2A"/>
                </a:solidFill>
              </a:rPr>
              <a:t>✗ L05 标题匹配：主题句+排除干扰</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L06 MCQ：极端词+同义替换+逐项验证</a:t>
            </a:r>
          </a:p>
          <a:p>
            <a:pPr>
              <a:spcBef>
                <a:spcPts val="700"/>
              </a:spcBef>
            </a:pPr>
            <a:r>
              <a:rPr sz="1350">
                <a:solidFill>
                  <a:srgbClr val="1B7A3D"/>
                </a:solidFill>
              </a:rPr>
              <a:t>✓ L07 摘要填空：定位+词形+词数</a:t>
            </a:r>
          </a:p>
          <a:p>
            <a:pPr>
              <a:spcBef>
                <a:spcPts val="700"/>
              </a:spcBef>
            </a:pPr>
            <a:r>
              <a:rPr sz="1350">
                <a:solidFill>
                  <a:srgbClr val="1B7A3D"/>
                </a:solidFill>
              </a:rPr>
              <a:t>✓ L08 词汇推断：语境猜词+有效推断</a:t>
            </a:r>
          </a:p>
          <a:p>
            <a:pPr>
              <a:spcBef>
                <a:spcPts val="700"/>
              </a:spcBef>
            </a:pPr>
            <a:r>
              <a:rPr sz="1350">
                <a:solidFill>
                  <a:srgbClr val="1B7A3D"/>
                </a:solidFill>
              </a:rPr>
              <a:t>✓ L09 速读：Skim+Scan+时间管理</a:t>
            </a:r>
          </a:p>
          <a:p>
            <a:pPr>
              <a:spcBef>
                <a:spcPts val="700"/>
              </a:spcBef>
            </a:pPr>
            <a:r>
              <a:rPr sz="1350">
                <a:solidFill>
                  <a:srgbClr val="1B7A3D"/>
                </a:solidFill>
              </a:rPr>
              <a:t>✓ L10 模考：综合运用+冲刺策略</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vs Band 7：核心差距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Band 6（28分/40题正确）</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Band 7（30分/40题正确）</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基础题型（填空/T/F/NG）准确</a:t>
            </a:r>
          </a:p>
          <a:p>
            <a:pPr>
              <a:spcBef>
                <a:spcPts val="700"/>
              </a:spcBef>
            </a:pPr>
            <a:r>
              <a:rPr sz="1350">
                <a:solidFill>
                  <a:srgbClr val="C02A2A"/>
                </a:solidFill>
              </a:rPr>
              <a:t>✗ MCQ偶尔被原文词陷阱</a:t>
            </a:r>
          </a:p>
          <a:p>
            <a:pPr>
              <a:spcBef>
                <a:spcPts val="700"/>
              </a:spcBef>
            </a:pPr>
            <a:r>
              <a:rPr sz="1350">
                <a:solidFill>
                  <a:srgbClr val="C02A2A"/>
                </a:solidFill>
              </a:rPr>
              <a:t>✗ 速读速度约150 WPM</a:t>
            </a:r>
          </a:p>
          <a:p>
            <a:pPr>
              <a:spcBef>
                <a:spcPts val="700"/>
              </a:spcBef>
            </a:pPr>
            <a:r>
              <a:rPr sz="1350">
                <a:solidFill>
                  <a:srgbClr val="C02A2A"/>
                </a:solidFill>
              </a:rPr>
              <a:t>✗ 时间刚好够，有时来不及</a:t>
            </a:r>
          </a:p>
          <a:p>
            <a:pPr>
              <a:spcBef>
                <a:spcPts val="700"/>
              </a:spcBef>
            </a:pPr>
            <a:r>
              <a:rPr sz="1350">
                <a:solidFill>
                  <a:srgbClr val="C02A2A"/>
                </a:solidFill>
              </a:rPr>
              <a:t>✗ 标题匹配准确率约60%</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所有题型稳定在80%准确率以上</a:t>
            </a:r>
          </a:p>
          <a:p>
            <a:pPr>
              <a:spcBef>
                <a:spcPts val="700"/>
              </a:spcBef>
            </a:pPr>
            <a:r>
              <a:rPr sz="1350">
                <a:solidFill>
                  <a:srgbClr val="1B7A3D"/>
                </a:solidFill>
              </a:rPr>
              <a:t>✓ MCQ能快速排除干扰选项</a:t>
            </a:r>
          </a:p>
          <a:p>
            <a:pPr>
              <a:spcBef>
                <a:spcPts val="700"/>
              </a:spcBef>
            </a:pPr>
            <a:r>
              <a:rPr sz="1350">
                <a:solidFill>
                  <a:srgbClr val="1B7A3D"/>
                </a:solidFill>
              </a:rPr>
              <a:t>✓ 速读速度达到220+ WPM</a:t>
            </a:r>
          </a:p>
          <a:p>
            <a:pPr>
              <a:spcBef>
                <a:spcPts val="700"/>
              </a:spcBef>
            </a:pPr>
            <a:r>
              <a:rPr sz="1350">
                <a:solidFill>
                  <a:srgbClr val="1B7A3D"/>
                </a:solidFill>
              </a:rPr>
              <a:t>✓ 时间充裕，每篇有检查时间</a:t>
            </a:r>
          </a:p>
          <a:p>
            <a:pPr>
              <a:spcBef>
                <a:spcPts val="700"/>
              </a:spcBef>
            </a:pPr>
            <a:r>
              <a:rPr sz="1350">
                <a:solidFill>
                  <a:srgbClr val="1B7A3D"/>
                </a:solidFill>
              </a:rPr>
              <a:t>✓ 标题匹配准确率达到80%+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IELTS阅读备考最终冲刺8步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第1步：做一套模考</a:t>
            </a:r>
          </a:p>
        </p:txBody>
      </p:sp>
      <p:sp>
        <p:nvSpPr>
          <p:cNvPr id="12" name="TextBox 11"/>
          <p:cNvSpPr txBox="1"/>
          <p:nvPr/>
        </p:nvSpPr>
        <p:spPr>
          <a:xfrm>
            <a:off x="1417320" y="1645919"/>
            <a:ext cx="10058400" cy="228599"/>
          </a:xfrm>
          <a:prstGeom prst="rect">
            <a:avLst/>
          </a:prstGeom>
          <a:noFill/>
        </p:spPr>
        <p:txBody>
          <a:bodyPr wrap="square" anchor="t">
            <a:spAutoFit/>
          </a:bodyPr>
          <a:lstStyle/>
          <a:p>
            <a:pPr algn="l"/>
            <a:r>
              <a:rPr sz="1350" b="0" i="0">
                <a:solidFill>
                  <a:srgbClr val="556075"/>
                </a:solidFill>
                <a:latin typeface="Calibri"/>
              </a:rPr>
              <a:t>确认当前Band水平——知道从哪里开始提升</a:t>
            </a:r>
          </a:p>
        </p:txBody>
      </p:sp>
      <p:sp>
        <p:nvSpPr>
          <p:cNvPr id="13" name="Rounded Rectangle 12"/>
          <p:cNvSpPr/>
          <p:nvPr/>
        </p:nvSpPr>
        <p:spPr>
          <a:xfrm>
            <a:off x="548640" y="18745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293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5328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874519"/>
            <a:ext cx="10058400" cy="411480"/>
          </a:xfrm>
          <a:prstGeom prst="rect">
            <a:avLst/>
          </a:prstGeom>
          <a:noFill/>
        </p:spPr>
        <p:txBody>
          <a:bodyPr wrap="square" anchor="t">
            <a:spAutoFit/>
          </a:bodyPr>
          <a:lstStyle/>
          <a:p>
            <a:pPr algn="l"/>
            <a:r>
              <a:rPr sz="1600" b="1" i="0">
                <a:solidFill>
                  <a:srgbClr val="1B5E33"/>
                </a:solidFill>
                <a:latin typeface="Calibri"/>
              </a:rPr>
              <a:t>第2步：分析错题类型</a:t>
            </a:r>
          </a:p>
        </p:txBody>
      </p:sp>
      <p:sp>
        <p:nvSpPr>
          <p:cNvPr id="17" name="TextBox 16"/>
          <p:cNvSpPr txBox="1"/>
          <p:nvPr/>
        </p:nvSpPr>
        <p:spPr>
          <a:xfrm>
            <a:off x="1417320" y="2240279"/>
            <a:ext cx="10058400" cy="228599"/>
          </a:xfrm>
          <a:prstGeom prst="rect">
            <a:avLst/>
          </a:prstGeom>
          <a:noFill/>
        </p:spPr>
        <p:txBody>
          <a:bodyPr wrap="square" anchor="t">
            <a:spAutoFit/>
          </a:bodyPr>
          <a:lstStyle/>
          <a:p>
            <a:pPr algn="l"/>
            <a:r>
              <a:rPr sz="1350" b="0" i="0">
                <a:solidFill>
                  <a:srgbClr val="556075"/>
                </a:solidFill>
                <a:latin typeface="Calibri"/>
              </a:rPr>
              <a:t>找出最弱的2个题型——这是提分最快的突破口</a:t>
            </a:r>
          </a:p>
        </p:txBody>
      </p:sp>
      <p:sp>
        <p:nvSpPr>
          <p:cNvPr id="18" name="Rounded Rectangle 17"/>
          <p:cNvSpPr/>
          <p:nvPr/>
        </p:nvSpPr>
        <p:spPr>
          <a:xfrm>
            <a:off x="548640" y="24688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5237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12724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468879"/>
            <a:ext cx="10058400" cy="411480"/>
          </a:xfrm>
          <a:prstGeom prst="rect">
            <a:avLst/>
          </a:prstGeom>
          <a:noFill/>
        </p:spPr>
        <p:txBody>
          <a:bodyPr wrap="square" anchor="t">
            <a:spAutoFit/>
          </a:bodyPr>
          <a:lstStyle/>
          <a:p>
            <a:pPr algn="l"/>
            <a:r>
              <a:rPr sz="1600" b="1" i="0">
                <a:solidFill>
                  <a:srgbClr val="1B5E33"/>
                </a:solidFill>
                <a:latin typeface="Calibri"/>
              </a:rPr>
              <a:t>第3步：专项强化</a:t>
            </a:r>
          </a:p>
        </p:txBody>
      </p:sp>
      <p:sp>
        <p:nvSpPr>
          <p:cNvPr id="22" name="TextBox 21"/>
          <p:cNvSpPr txBox="1"/>
          <p:nvPr/>
        </p:nvSpPr>
        <p:spPr>
          <a:xfrm>
            <a:off x="1417320" y="2834639"/>
            <a:ext cx="10058400" cy="228599"/>
          </a:xfrm>
          <a:prstGeom prst="rect">
            <a:avLst/>
          </a:prstGeom>
          <a:noFill/>
        </p:spPr>
        <p:txBody>
          <a:bodyPr wrap="square" anchor="t">
            <a:spAutoFit/>
          </a:bodyPr>
          <a:lstStyle/>
          <a:p>
            <a:pPr algn="l"/>
            <a:r>
              <a:rPr sz="1350" b="0" i="0">
                <a:solidFill>
                  <a:srgbClr val="556075"/>
                </a:solidFill>
                <a:latin typeface="Calibri"/>
              </a:rPr>
              <a:t>针对弱点题型做专项练习——每天30分钟</a:t>
            </a:r>
          </a:p>
        </p:txBody>
      </p:sp>
      <p:sp>
        <p:nvSpPr>
          <p:cNvPr id="23" name="Rounded Rectangle 22"/>
          <p:cNvSpPr/>
          <p:nvPr/>
        </p:nvSpPr>
        <p:spPr>
          <a:xfrm>
            <a:off x="548640" y="306323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1181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72160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063239"/>
            <a:ext cx="10058400" cy="411480"/>
          </a:xfrm>
          <a:prstGeom prst="rect">
            <a:avLst/>
          </a:prstGeom>
          <a:noFill/>
        </p:spPr>
        <p:txBody>
          <a:bodyPr wrap="square" anchor="t">
            <a:spAutoFit/>
          </a:bodyPr>
          <a:lstStyle/>
          <a:p>
            <a:pPr algn="l"/>
            <a:r>
              <a:rPr sz="1600" b="1" i="0">
                <a:solidFill>
                  <a:srgbClr val="1B5E33"/>
                </a:solidFill>
                <a:latin typeface="Calibri"/>
              </a:rPr>
              <a:t>第4步：速读提升</a:t>
            </a:r>
          </a:p>
        </p:txBody>
      </p:sp>
      <p:sp>
        <p:nvSpPr>
          <p:cNvPr id="27" name="TextBox 26"/>
          <p:cNvSpPr txBox="1"/>
          <p:nvPr/>
        </p:nvSpPr>
        <p:spPr>
          <a:xfrm>
            <a:off x="1417320" y="3428999"/>
            <a:ext cx="10058400" cy="228599"/>
          </a:xfrm>
          <a:prstGeom prst="rect">
            <a:avLst/>
          </a:prstGeom>
          <a:noFill/>
        </p:spPr>
        <p:txBody>
          <a:bodyPr wrap="square" anchor="t">
            <a:spAutoFit/>
          </a:bodyPr>
          <a:lstStyle/>
          <a:p>
            <a:pPr algn="l"/>
            <a:r>
              <a:rPr sz="1350" b="0" i="0">
                <a:solidFill>
                  <a:srgbClr val="556075"/>
                </a:solidFill>
                <a:latin typeface="Calibri"/>
              </a:rPr>
              <a:t>每天计时阅读——目标每周WPM提升5-10</a:t>
            </a:r>
          </a:p>
        </p:txBody>
      </p:sp>
      <p:sp>
        <p:nvSpPr>
          <p:cNvPr id="28" name="Rounded Rectangle 27"/>
          <p:cNvSpPr/>
          <p:nvPr/>
        </p:nvSpPr>
        <p:spPr>
          <a:xfrm>
            <a:off x="548640" y="365759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31596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657599"/>
            <a:ext cx="10058400" cy="411480"/>
          </a:xfrm>
          <a:prstGeom prst="rect">
            <a:avLst/>
          </a:prstGeom>
          <a:noFill/>
        </p:spPr>
        <p:txBody>
          <a:bodyPr wrap="square" anchor="t">
            <a:spAutoFit/>
          </a:bodyPr>
          <a:lstStyle/>
          <a:p>
            <a:pPr algn="l"/>
            <a:r>
              <a:rPr sz="1600" b="1" i="0">
                <a:solidFill>
                  <a:srgbClr val="1B5E33"/>
                </a:solidFill>
                <a:latin typeface="Calibri"/>
              </a:rPr>
              <a:t>第5步：全真模考</a:t>
            </a:r>
          </a:p>
        </p:txBody>
      </p:sp>
      <p:sp>
        <p:nvSpPr>
          <p:cNvPr id="32" name="TextBox 31"/>
          <p:cNvSpPr txBox="1"/>
          <p:nvPr/>
        </p:nvSpPr>
        <p:spPr>
          <a:xfrm>
            <a:off x="1417320" y="4023359"/>
            <a:ext cx="10058400" cy="228599"/>
          </a:xfrm>
          <a:prstGeom prst="rect">
            <a:avLst/>
          </a:prstGeom>
          <a:noFill/>
        </p:spPr>
        <p:txBody>
          <a:bodyPr wrap="square" anchor="t">
            <a:spAutoFit/>
          </a:bodyPr>
          <a:lstStyle/>
          <a:p>
            <a:pPr algn="l"/>
            <a:r>
              <a:rPr sz="1350" b="0" i="0">
                <a:solidFill>
                  <a:srgbClr val="556075"/>
                </a:solidFill>
                <a:latin typeface="Calibri"/>
              </a:rPr>
              <a:t>每2天做一套完整模考——严格计时</a:t>
            </a:r>
          </a:p>
        </p:txBody>
      </p:sp>
      <p:sp>
        <p:nvSpPr>
          <p:cNvPr id="33" name="Rounded Rectangle 32"/>
          <p:cNvSpPr/>
          <p:nvPr/>
        </p:nvSpPr>
        <p:spPr>
          <a:xfrm>
            <a:off x="548640" y="425195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3068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491032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251959"/>
            <a:ext cx="10058400" cy="411480"/>
          </a:xfrm>
          <a:prstGeom prst="rect">
            <a:avLst/>
          </a:prstGeom>
          <a:noFill/>
        </p:spPr>
        <p:txBody>
          <a:bodyPr wrap="square" anchor="t">
            <a:spAutoFit/>
          </a:bodyPr>
          <a:lstStyle/>
          <a:p>
            <a:pPr algn="l"/>
            <a:r>
              <a:rPr sz="1600" b="1" i="0">
                <a:solidFill>
                  <a:srgbClr val="1B5E33"/>
                </a:solidFill>
                <a:latin typeface="Calibri"/>
              </a:rPr>
              <a:t>第6步：时间管理</a:t>
            </a:r>
          </a:p>
        </p:txBody>
      </p:sp>
      <p:sp>
        <p:nvSpPr>
          <p:cNvPr id="37" name="TextBox 36"/>
          <p:cNvSpPr txBox="1"/>
          <p:nvPr/>
        </p:nvSpPr>
        <p:spPr>
          <a:xfrm>
            <a:off x="1417320" y="4617720"/>
            <a:ext cx="10058400" cy="228599"/>
          </a:xfrm>
          <a:prstGeom prst="rect">
            <a:avLst/>
          </a:prstGeom>
          <a:noFill/>
        </p:spPr>
        <p:txBody>
          <a:bodyPr wrap="square" anchor="t">
            <a:spAutoFit/>
          </a:bodyPr>
          <a:lstStyle/>
          <a:p>
            <a:pPr algn="l"/>
            <a:r>
              <a:rPr sz="1350" b="0" i="0">
                <a:solidFill>
                  <a:srgbClr val="556075"/>
                </a:solidFill>
                <a:latin typeface="Calibri"/>
              </a:rPr>
              <a:t>每篇计时——找出哪种题型最耗时，提升那个</a:t>
            </a:r>
          </a:p>
        </p:txBody>
      </p:sp>
      <p:sp>
        <p:nvSpPr>
          <p:cNvPr id="38" name="Rounded Rectangle 37"/>
          <p:cNvSpPr/>
          <p:nvPr/>
        </p:nvSpPr>
        <p:spPr>
          <a:xfrm>
            <a:off x="548640" y="48463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901183"/>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Rectangle 39"/>
          <p:cNvSpPr/>
          <p:nvPr/>
        </p:nvSpPr>
        <p:spPr>
          <a:xfrm>
            <a:off x="841248" y="55046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17320" y="4846319"/>
            <a:ext cx="10058400" cy="411480"/>
          </a:xfrm>
          <a:prstGeom prst="rect">
            <a:avLst/>
          </a:prstGeom>
          <a:noFill/>
        </p:spPr>
        <p:txBody>
          <a:bodyPr wrap="square" anchor="t">
            <a:spAutoFit/>
          </a:bodyPr>
          <a:lstStyle/>
          <a:p>
            <a:pPr algn="l"/>
            <a:r>
              <a:rPr sz="1600" b="1" i="0">
                <a:solidFill>
                  <a:srgbClr val="1B5E33"/>
                </a:solidFill>
                <a:latin typeface="Calibri"/>
              </a:rPr>
              <a:t>第7步：词汇积累</a:t>
            </a:r>
          </a:p>
        </p:txBody>
      </p:sp>
      <p:sp>
        <p:nvSpPr>
          <p:cNvPr id="42" name="TextBox 41"/>
          <p:cNvSpPr txBox="1"/>
          <p:nvPr/>
        </p:nvSpPr>
        <p:spPr>
          <a:xfrm>
            <a:off x="1417320" y="5212079"/>
            <a:ext cx="10058400" cy="228599"/>
          </a:xfrm>
          <a:prstGeom prst="rect">
            <a:avLst/>
          </a:prstGeom>
          <a:noFill/>
        </p:spPr>
        <p:txBody>
          <a:bodyPr wrap="square" anchor="t">
            <a:spAutoFit/>
          </a:bodyPr>
          <a:lstStyle/>
          <a:p>
            <a:pPr algn="l"/>
            <a:r>
              <a:rPr sz="1350" b="0" i="0">
                <a:solidFill>
                  <a:srgbClr val="556075"/>
                </a:solidFill>
                <a:latin typeface="Calibri"/>
              </a:rPr>
              <a:t>每天10个AWL词族+错题词汇——持续积累</a:t>
            </a:r>
          </a:p>
        </p:txBody>
      </p:sp>
      <p:sp>
        <p:nvSpPr>
          <p:cNvPr id="43" name="Rounded Rectangle 42"/>
          <p:cNvSpPr/>
          <p:nvPr/>
        </p:nvSpPr>
        <p:spPr>
          <a:xfrm>
            <a:off x="548640" y="54406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95543"/>
            <a:ext cx="640080" cy="502920"/>
          </a:xfrm>
          <a:prstGeom prst="rect">
            <a:avLst/>
          </a:prstGeom>
          <a:noFill/>
        </p:spPr>
        <p:txBody>
          <a:bodyPr wrap="square" anchor="t">
            <a:spAutoFit/>
          </a:bodyPr>
          <a:lstStyle/>
          <a:p>
            <a:pPr algn="ctr"/>
            <a:r>
              <a:rPr sz="2200" b="1" i="0">
                <a:solidFill>
                  <a:srgbClr val="FFFFFF"/>
                </a:solidFill>
                <a:latin typeface="Calibri"/>
              </a:rPr>
              <a:t>8</a:t>
            </a:r>
          </a:p>
        </p:txBody>
      </p:sp>
      <p:sp>
        <p:nvSpPr>
          <p:cNvPr id="45" name="TextBox 44"/>
          <p:cNvSpPr txBox="1"/>
          <p:nvPr/>
        </p:nvSpPr>
        <p:spPr>
          <a:xfrm>
            <a:off x="1417320" y="5440679"/>
            <a:ext cx="10058400" cy="411480"/>
          </a:xfrm>
          <a:prstGeom prst="rect">
            <a:avLst/>
          </a:prstGeom>
          <a:noFill/>
        </p:spPr>
        <p:txBody>
          <a:bodyPr wrap="square" anchor="t">
            <a:spAutoFit/>
          </a:bodyPr>
          <a:lstStyle/>
          <a:p>
            <a:pPr algn="l"/>
            <a:r>
              <a:rPr sz="1600" b="1" i="0">
                <a:solidFill>
                  <a:srgbClr val="1B5E33"/>
                </a:solidFill>
                <a:latin typeface="Calibri"/>
              </a:rPr>
              <a:t>第8步：稳定策略</a:t>
            </a:r>
          </a:p>
        </p:txBody>
      </p:sp>
      <p:sp>
        <p:nvSpPr>
          <p:cNvPr id="46" name="TextBox 45"/>
          <p:cNvSpPr txBox="1"/>
          <p:nvPr/>
        </p:nvSpPr>
        <p:spPr>
          <a:xfrm>
            <a:off x="1417320" y="5806440"/>
            <a:ext cx="10058400" cy="228599"/>
          </a:xfrm>
          <a:prstGeom prst="rect">
            <a:avLst/>
          </a:prstGeom>
          <a:noFill/>
        </p:spPr>
        <p:txBody>
          <a:bodyPr wrap="square" anchor="t">
            <a:spAutoFit/>
          </a:bodyPr>
          <a:lstStyle/>
          <a:p>
            <a:pPr algn="l"/>
            <a:r>
              <a:rPr sz="1350" b="0" i="0">
                <a:solidFill>
                  <a:srgbClr val="556075"/>
                </a:solidFill>
                <a:latin typeface="Calibri"/>
              </a:rPr>
              <a:t>考前1周不换方法——稳定已建立的做题流程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全真模考当堂冲刺练习：时间管理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模拟考场压力：60秒内决定这4道题的做题顺序并说出理由</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题组A（同一篇文章）</a:t>
            </a:r>
          </a:p>
          <a:p>
            <a:pPr>
              <a:spcBef>
                <a:spcPts val="100"/>
              </a:spcBef>
            </a:pPr>
            <a:r>
              <a:rPr sz="1400">
                <a:solidFill>
                  <a:srgbClr val="556075"/>
                </a:solidFill>
              </a:rPr>
              <a:t>   题型：①填空5道 ②T/F/NG 4道 ③标题匹配4段 ④MCQ多选2道
你会按什么顺序做？为什么？
【答案】推荐：①填空（最快）→②T/F/NG（顺序原则快）→④MCQ多选→③标题匹配（最慢，最后做）</a:t>
            </a:r>
          </a:p>
          <a:p>
            <a:pPr>
              <a:spcBef>
                <a:spcPts val="1100"/>
              </a:spcBef>
            </a:pPr>
            <a:r>
              <a:rPr sz="1700" b="1">
                <a:solidFill>
                  <a:srgbClr val="1B5E33"/>
                </a:solidFill>
              </a:rPr>
              <a:t>▢ 时间危机决策</a:t>
            </a:r>
          </a:p>
          <a:p>
            <a:pPr>
              <a:spcBef>
                <a:spcPts val="100"/>
              </a:spcBef>
            </a:pPr>
            <a:r>
              <a:rPr sz="1400">
                <a:solidFill>
                  <a:srgbClr val="556075"/>
                </a:solidFill>
              </a:rPr>
              <a:t>   剩余8分钟，还有10道题未做（4标题匹配+3推断MCQ+3填空）
你会怎么做？
【答案】先做3道填空（3分钟）→做3道推断MCQ（3分钟）→4道标题匹配全猜B（1分钟）→检查空白（1分钟）</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全真模考综合技能检验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快速回答以下技能检验题（每题10秒）</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技能检验</a:t>
            </a:r>
          </a:p>
          <a:p>
            <a:pPr>
              <a:spcBef>
                <a:spcPts val="100"/>
              </a:spcBef>
            </a:pPr>
            <a:r>
              <a:rPr sz="1400">
                <a:solidFill>
                  <a:srgbClr val="556075"/>
                </a:solidFill>
              </a:rPr>
              <a:t>   Q1:T/F/NG中，原文没提到的信息应该选？
Q2:填空题词数超了怎么办？
Q3:MCQ选项有原文词→直接选吗？
Q4:时间剩1分钟但还有5道题空白怎么办？
【答案】Q1:NG / Q2:删掉多余词只保留核心词 / Q3:不直接选，验证意思是否与原文完全匹配 / Q4:统一填同一个字母（B或C），不留空白</a:t>
            </a:r>
          </a:p>
          <a:p>
            <a:pPr>
              <a:spcBef>
                <a:spcPts val="1100"/>
              </a:spcBef>
            </a:pPr>
            <a:r>
              <a:rPr sz="1700" b="1">
                <a:solidFill>
                  <a:srgbClr val="1B5E33"/>
                </a:solidFill>
              </a:rPr>
              <a:t>▢ 最终叮嘱</a:t>
            </a:r>
          </a:p>
          <a:p>
            <a:pPr>
              <a:spcBef>
                <a:spcPts val="100"/>
              </a:spcBef>
            </a:pPr>
            <a:r>
              <a:rPr sz="1400">
                <a:solidFill>
                  <a:srgbClr val="556075"/>
                </a:solidFill>
              </a:rPr>
              <a:t>   三个永远记住的原则：
① 所有题都要填答案——不留空白（哪怕猜）
② 超时先猜继续——不死磕一道题
③ 最后2分钟检查关键：词数/拼写/多选数量
【答案】这3个原则可能帮你多得2-5分——相当于提升0.5个Band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全真模考考场5大锦囊</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锦囊1：第一题Skim</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每篇文章必须Skimming 3-4分钟——不能跳过</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锦囊2：专有名词Scan</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做题时先找专有名词/数字——定位最快</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锦囊3：极端词警惕</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all/always/never/only的选项→先质疑</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锦囊4：超时就猜</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单题超90秒→猜一个，标记，继续</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锦囊5：不留空白</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最后30秒→所有空白统一填B或C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各题型最后提醒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T/F/NG</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False=原文相反; NG=原文根本没提; 顺序原则</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填空题</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词数+拼写+词形——三个检查缺一不可</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标题匹配</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主题句找首末句; 4种干扰; 全段检验</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MCQ</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极端词排除; 原文词警惕; 多选逐项验证</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速读</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Skim建图→Scan定位→精读理解——三速组合</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考前1周每日计划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考前7天</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做一套完整模考+分析所有错题，记录弱点</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考前5-6天</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弱点题型专项练习（标题匹配/MCQ）各30分钟</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考前3-4天</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做一套模考+重点检查时间管理是否改善</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考前1-2天</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读错题笔记+轻松阅读英文文章放松状态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IELTS阅读10课备考总结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技能基础</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T/F/NG+信息定位+填空+标题匹配+MCQ全掌握</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进阶技能</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摘要填空+词汇推断+速读+时间管理</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综合能力</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三速阅读（Skim+Scan+精读）融会贯通</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考场策略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时间分配+难题应急+全场无空白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高频考场词汇：文章常见主题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environment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环境</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technology</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科技</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economy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经济</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society</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社会</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education</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教育</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health</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健康</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culture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文化</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history</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历史</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science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科学</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globalisation</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全球化</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IELTS阅读高频同义替换（总复习）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important</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 significant/crucial/vital/key/essential</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show</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 demonstrate/indicate/suggest/reveal/prove</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increase</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 rise/grow/surge/expand/climb</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decrease</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 fall/drop/decline/shrink/reduce</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problem</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 challenge/difficulty/obstacle/issue</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help</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 assist/support/enable/facilitate</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change</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 alter/transform/modify/shift</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use</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 utilise/employ/apply/implement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考场必背：各题型关键词汇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T/F/NG</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TRUE/FALSE/NOT GIVEN; according to; the writer states</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填空题</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NO MORE THAN X WORDS; AND/OR A NUMBER; complete</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标题匹配</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Choose the correct heading; from the list; i-x</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MCQ</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Choose ONE/TWO/THREE letters; closest in meaning</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信息定位</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Which paragraph contains; match the information</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摘要填空</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Complete the summary; using words from the passage</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句子完成</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Complete the sentences; choose from the list A-H</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词义题</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The word X most nearly means; is closest in meaning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10节课学习成果自我评估</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技能掌握程度（自测）</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T/F/NG准确率 ≥ 80%？ □是 □否</a:t>
            </a:r>
          </a:p>
          <a:p>
            <a:pPr>
              <a:spcBef>
                <a:spcPts val="700"/>
              </a:spcBef>
            </a:pPr>
            <a:r>
              <a:rPr sz="1450">
                <a:solidFill>
                  <a:srgbClr val="1E293B"/>
                </a:solidFill>
              </a:rPr>
              <a:t>• 信息定位30秒内完成？ □是 □否</a:t>
            </a:r>
          </a:p>
          <a:p>
            <a:pPr>
              <a:spcBef>
                <a:spcPts val="700"/>
              </a:spcBef>
            </a:pPr>
            <a:r>
              <a:rPr sz="1450">
                <a:solidFill>
                  <a:srgbClr val="1E293B"/>
                </a:solidFill>
              </a:rPr>
              <a:t>• 填空词数从不超限？ □是 □否</a:t>
            </a:r>
          </a:p>
          <a:p>
            <a:pPr>
              <a:spcBef>
                <a:spcPts val="700"/>
              </a:spcBef>
            </a:pPr>
            <a:r>
              <a:rPr sz="1450">
                <a:solidFill>
                  <a:srgbClr val="1E293B"/>
                </a:solidFill>
              </a:rPr>
              <a:t>• 标题匹配准确率 ≥ 75%？ □是 □否</a:t>
            </a:r>
          </a:p>
          <a:p>
            <a:pPr>
              <a:spcBef>
                <a:spcPts val="700"/>
              </a:spcBef>
            </a:pPr>
            <a:r>
              <a:rPr sz="1450">
                <a:solidFill>
                  <a:srgbClr val="1E293B"/>
                </a:solidFill>
              </a:rPr>
              <a:t>• MCQ每题都回原文验证？ □是 □否</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速读与时间管理（自测）</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Skimming 3分钟建段落地图？ □是 □否</a:t>
            </a:r>
          </a:p>
          <a:p>
            <a:pPr>
              <a:spcBef>
                <a:spcPts val="700"/>
              </a:spcBef>
            </a:pPr>
            <a:r>
              <a:rPr sz="1450">
                <a:solidFill>
                  <a:srgbClr val="1E293B"/>
                </a:solidFill>
              </a:rPr>
              <a:t>• Scanning专有名词10秒内？ □是 □否</a:t>
            </a:r>
          </a:p>
          <a:p>
            <a:pPr>
              <a:spcBef>
                <a:spcPts val="700"/>
              </a:spcBef>
            </a:pPr>
            <a:r>
              <a:rPr sz="1450">
                <a:solidFill>
                  <a:srgbClr val="1E293B"/>
                </a:solidFill>
              </a:rPr>
              <a:t>• 60分钟完成40道题？ □是 □否</a:t>
            </a:r>
          </a:p>
          <a:p>
            <a:pPr>
              <a:spcBef>
                <a:spcPts val="700"/>
              </a:spcBef>
            </a:pPr>
            <a:r>
              <a:rPr sz="1450">
                <a:solidFill>
                  <a:srgbClr val="1E293B"/>
                </a:solidFill>
              </a:rPr>
              <a:t>• AWL词汇认识200+词族？ □是 □否</a:t>
            </a:r>
          </a:p>
          <a:p>
            <a:pPr>
              <a:spcBef>
                <a:spcPts val="700"/>
              </a:spcBef>
            </a:pPr>
            <a:r>
              <a:rPr sz="1450">
                <a:solidFill>
                  <a:srgbClr val="1E293B"/>
                </a:solidFill>
              </a:rPr>
              <a:t>• 从不留空白，总有答案？ □是 □否</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10节课学完→下一步行动计划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立即行动（本周）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做一套完整Cambridge IELTS模考</a:t>
            </a:r>
          </a:p>
          <a:p>
            <a:pPr>
              <a:spcBef>
                <a:spcPts val="700"/>
              </a:spcBef>
            </a:pPr>
            <a:r>
              <a:rPr sz="1450">
                <a:solidFill>
                  <a:srgbClr val="1E293B"/>
                </a:solidFill>
              </a:rPr>
              <a:t>• 记录错题类型，找出最弱题型</a:t>
            </a:r>
          </a:p>
          <a:p>
            <a:pPr>
              <a:spcBef>
                <a:spcPts val="700"/>
              </a:spcBef>
            </a:pPr>
            <a:r>
              <a:rPr sz="1450">
                <a:solidFill>
                  <a:srgbClr val="1E293B"/>
                </a:solidFill>
              </a:rPr>
              <a:t>• 建立每日30分钟阅读练习习惯</a:t>
            </a:r>
          </a:p>
          <a:p>
            <a:pPr>
              <a:spcBef>
                <a:spcPts val="700"/>
              </a:spcBef>
            </a:pPr>
            <a:r>
              <a:rPr sz="1450">
                <a:solidFill>
                  <a:srgbClr val="1E293B"/>
                </a:solidFill>
              </a:rPr>
              <a:t>• 开始AWL词汇积累（每天10词族）</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4周提分计划</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第1周：弱点专项+每天Skim一篇文章</a:t>
            </a:r>
          </a:p>
          <a:p>
            <a:pPr>
              <a:spcBef>
                <a:spcPts val="700"/>
              </a:spcBef>
            </a:pPr>
            <a:r>
              <a:rPr sz="1450">
                <a:solidFill>
                  <a:srgbClr val="1E293B"/>
                </a:solidFill>
              </a:rPr>
              <a:t>• 第2周：全真模考每2天一套</a:t>
            </a:r>
          </a:p>
          <a:p>
            <a:pPr>
              <a:spcBef>
                <a:spcPts val="700"/>
              </a:spcBef>
            </a:pPr>
            <a:r>
              <a:rPr sz="1450">
                <a:solidFill>
                  <a:srgbClr val="1E293B"/>
                </a:solidFill>
              </a:rPr>
              <a:t>• 第3周：速度提升+时间管理强化</a:t>
            </a:r>
          </a:p>
          <a:p>
            <a:pPr>
              <a:spcBef>
                <a:spcPts val="700"/>
              </a:spcBef>
            </a:pPr>
            <a:r>
              <a:rPr sz="1450">
                <a:solidFill>
                  <a:srgbClr val="1E293B"/>
                </a:solidFill>
              </a:rPr>
              <a:t>• 第4周：稳定策略+考前心理准备</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考场压力管理：遇到难题怎么办</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遇到看不懂的段落</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不要停住——继续向前读，不要纠结</a:t>
            </a:r>
          </a:p>
          <a:p>
            <a:pPr>
              <a:spcBef>
                <a:spcPts val="700"/>
              </a:spcBef>
            </a:pPr>
            <a:r>
              <a:rPr sz="1450">
                <a:solidFill>
                  <a:srgbClr val="1E293B"/>
                </a:solidFill>
              </a:rPr>
              <a:t>• 只读首末句，跳过复杂中间段</a:t>
            </a:r>
          </a:p>
          <a:p>
            <a:pPr>
              <a:spcBef>
                <a:spcPts val="700"/>
              </a:spcBef>
            </a:pPr>
            <a:r>
              <a:rPr sz="1450">
                <a:solidFill>
                  <a:srgbClr val="1E293B"/>
                </a:solidFill>
              </a:rPr>
              <a:t>• 用题目关键词直接Scan，绕过难段</a:t>
            </a:r>
          </a:p>
          <a:p>
            <a:pPr>
              <a:spcBef>
                <a:spcPts val="700"/>
              </a:spcBef>
            </a:pPr>
            <a:r>
              <a:rPr sz="1450">
                <a:solidFill>
                  <a:srgbClr val="1E293B"/>
                </a:solidFill>
              </a:rPr>
              <a:t>• 无法理解→凭常识猜一个→标记→继续</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遇到不认识的词</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用语境猜词3法——同义/反义/逻辑</a:t>
            </a:r>
          </a:p>
          <a:p>
            <a:pPr>
              <a:spcBef>
                <a:spcPts val="700"/>
              </a:spcBef>
            </a:pPr>
            <a:r>
              <a:rPr sz="1450">
                <a:solidFill>
                  <a:srgbClr val="1E293B"/>
                </a:solidFill>
              </a:rPr>
              <a:t>• 猜不出也没关系——词义题用排除法</a:t>
            </a:r>
          </a:p>
          <a:p>
            <a:pPr>
              <a:spcBef>
                <a:spcPts val="700"/>
              </a:spcBef>
            </a:pPr>
            <a:r>
              <a:rPr sz="1450">
                <a:solidFill>
                  <a:srgbClr val="1E293B"/>
                </a:solidFill>
              </a:rPr>
              <a:t>• 不认识词不代表无法答题——关键词也许认识</a:t>
            </a:r>
          </a:p>
          <a:p>
            <a:pPr>
              <a:spcBef>
                <a:spcPts val="700"/>
              </a:spcBef>
            </a:pPr>
            <a:r>
              <a:rPr sz="1450">
                <a:solidFill>
                  <a:srgbClr val="1E293B"/>
                </a:solidFill>
              </a:rPr>
              <a:t>• 心理上接受：生词=正常，影响很小</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深圳IELTS考生最终备考建议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考试前1个月</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确保每周做2套完整模考（计时）</a:t>
            </a:r>
          </a:p>
          <a:p>
            <a:pPr>
              <a:spcBef>
                <a:spcPts val="700"/>
              </a:spcBef>
            </a:pPr>
            <a:r>
              <a:rPr sz="1450">
                <a:solidFill>
                  <a:srgbClr val="1E293B"/>
                </a:solidFill>
              </a:rPr>
              <a:t>• 建立并坚持"错题分析"习惯</a:t>
            </a:r>
          </a:p>
          <a:p>
            <a:pPr>
              <a:spcBef>
                <a:spcPts val="700"/>
              </a:spcBef>
            </a:pPr>
            <a:r>
              <a:rPr sz="1450">
                <a:solidFill>
                  <a:srgbClr val="1E293B"/>
                </a:solidFill>
              </a:rPr>
              <a:t>• 每天积累AWL词汇（10词族/天）</a:t>
            </a:r>
          </a:p>
          <a:p>
            <a:pPr>
              <a:spcBef>
                <a:spcPts val="700"/>
              </a:spcBef>
            </a:pPr>
            <a:r>
              <a:rPr sz="1450">
                <a:solidFill>
                  <a:srgbClr val="1E293B"/>
                </a:solidFill>
              </a:rPr>
              <a:t>• 重点攻克自己最弱的1-2个题型</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考试前1周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不要引入新方法——稳定流程</a:t>
            </a:r>
          </a:p>
          <a:p>
            <a:pPr>
              <a:spcBef>
                <a:spcPts val="700"/>
              </a:spcBef>
            </a:pPr>
            <a:r>
              <a:rPr sz="1450">
                <a:solidFill>
                  <a:srgbClr val="1E293B"/>
                </a:solidFill>
              </a:rPr>
              <a:t>• 做1套模考，恢复手感</a:t>
            </a:r>
          </a:p>
          <a:p>
            <a:pPr>
              <a:spcBef>
                <a:spcPts val="700"/>
              </a:spcBef>
            </a:pPr>
            <a:r>
              <a:rPr sz="1450">
                <a:solidFill>
                  <a:srgbClr val="1E293B"/>
                </a:solidFill>
              </a:rPr>
              <a:t>• 复习错题笔记和技巧总结</a:t>
            </a:r>
          </a:p>
          <a:p>
            <a:pPr>
              <a:spcBef>
                <a:spcPts val="700"/>
              </a:spcBef>
            </a:pPr>
            <a:r>
              <a:rPr sz="1450">
                <a:solidFill>
                  <a:srgbClr val="1E293B"/>
                </a:solidFill>
              </a:rPr>
              <a:t>• 充分休息，考前晚上不熬夜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IELTS阅读 vs 深圳备考资源推荐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官方推荐材料</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Cambridge IELTS 1-18（核心真题，必做）</a:t>
            </a:r>
          </a:p>
          <a:p>
            <a:pPr>
              <a:spcBef>
                <a:spcPts val="700"/>
              </a:spcBef>
            </a:pPr>
            <a:r>
              <a:rPr sz="1450">
                <a:solidFill>
                  <a:srgbClr val="1E293B"/>
                </a:solidFill>
              </a:rPr>
              <a:t>• IELTS Official Practice Materials（官方练习）</a:t>
            </a:r>
          </a:p>
          <a:p>
            <a:pPr>
              <a:spcBef>
                <a:spcPts val="700"/>
              </a:spcBef>
            </a:pPr>
            <a:r>
              <a:rPr sz="1450">
                <a:solidFill>
                  <a:srgbClr val="1E293B"/>
                </a:solidFill>
              </a:rPr>
              <a:t>• British Council官网练习资源（免费）</a:t>
            </a:r>
          </a:p>
          <a:p>
            <a:pPr>
              <a:spcBef>
                <a:spcPts val="700"/>
              </a:spcBef>
            </a:pPr>
            <a:r>
              <a:rPr sz="1450">
                <a:solidFill>
                  <a:srgbClr val="1E293B"/>
                </a:solidFill>
              </a:rPr>
              <a:t>• IELTS.org官方网站真题样卷</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补充训练材料</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The Economist/BBC学术文章（速读练习）</a:t>
            </a:r>
          </a:p>
          <a:p>
            <a:pPr>
              <a:spcBef>
                <a:spcPts val="700"/>
              </a:spcBef>
            </a:pPr>
            <a:r>
              <a:rPr sz="1450">
                <a:solidFill>
                  <a:srgbClr val="1E293B"/>
                </a:solidFill>
              </a:rPr>
              <a:t>• Academic Word List（AWL）官方词表</a:t>
            </a:r>
          </a:p>
          <a:p>
            <a:pPr>
              <a:spcBef>
                <a:spcPts val="700"/>
              </a:spcBef>
            </a:pPr>
            <a:r>
              <a:rPr sz="1450">
                <a:solidFill>
                  <a:srgbClr val="1E293B"/>
                </a:solidFill>
              </a:rPr>
              <a:t>• 错题本（自制，最有个人针对性）</a:t>
            </a:r>
          </a:p>
          <a:p>
            <a:pPr>
              <a:spcBef>
                <a:spcPts val="700"/>
              </a:spcBef>
            </a:pPr>
            <a:r>
              <a:rPr sz="1450">
                <a:solidFill>
                  <a:srgbClr val="1E293B"/>
                </a:solidFill>
              </a:rPr>
              <a:t>• 老师推荐：Cambridge 15-18优先做，最新最接近考试</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Band 6.5目标达成条件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必须掌握的核心技能</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T/F/NG准确率≥80%（占分重要）</a:t>
            </a:r>
          </a:p>
          <a:p>
            <a:pPr>
              <a:spcBef>
                <a:spcPts val="700"/>
              </a:spcBef>
            </a:pPr>
            <a:r>
              <a:rPr sz="1450">
                <a:solidFill>
                  <a:srgbClr val="1E293B"/>
                </a:solidFill>
              </a:rPr>
              <a:t>• 填空题：词数/拼写/词形三不误</a:t>
            </a:r>
          </a:p>
          <a:p>
            <a:pPr>
              <a:spcBef>
                <a:spcPts val="700"/>
              </a:spcBef>
            </a:pPr>
            <a:r>
              <a:rPr sz="1450">
                <a:solidFill>
                  <a:srgbClr val="1E293B"/>
                </a:solidFill>
              </a:rPr>
              <a:t>• 信息定位：30秒Scan，60秒精读</a:t>
            </a:r>
          </a:p>
          <a:p>
            <a:pPr>
              <a:spcBef>
                <a:spcPts val="700"/>
              </a:spcBef>
            </a:pPr>
            <a:r>
              <a:rPr sz="1450">
                <a:solidFill>
                  <a:srgbClr val="1E293B"/>
                </a:solidFill>
              </a:rPr>
              <a:t>• 60分钟完成全部40题（无空白）</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有助于突破的加分技能</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MCQ干扰识别准确率≥80%</a:t>
            </a:r>
          </a:p>
          <a:p>
            <a:pPr>
              <a:spcBef>
                <a:spcPts val="700"/>
              </a:spcBef>
            </a:pPr>
            <a:r>
              <a:rPr sz="1450">
                <a:solidFill>
                  <a:srgbClr val="1E293B"/>
                </a:solidFill>
              </a:rPr>
              <a:t>• 标题匹配从50%→75%（专项练习）</a:t>
            </a:r>
          </a:p>
          <a:p>
            <a:pPr>
              <a:spcBef>
                <a:spcPts val="700"/>
              </a:spcBef>
            </a:pPr>
            <a:r>
              <a:rPr sz="1450">
                <a:solidFill>
                  <a:srgbClr val="1E293B"/>
                </a:solidFill>
              </a:rPr>
              <a:t>• 速读达到200WPM（速度够用）</a:t>
            </a:r>
          </a:p>
          <a:p>
            <a:pPr>
              <a:spcBef>
                <a:spcPts val="700"/>
              </a:spcBef>
            </a:pPr>
            <a:r>
              <a:rPr sz="1450">
                <a:solidFill>
                  <a:srgbClr val="1E293B"/>
                </a:solidFill>
              </a:rPr>
              <a:t>• 推断题有原文支撑才选（减少错误）</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L10学完：IELTS阅读备考就绪清单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10种题型策略全部掌握，能说出每种题型的做题流程</a:t>
            </a:r>
          </a:p>
          <a:p>
            <a:pPr>
              <a:spcBef>
                <a:spcPts val="1200"/>
              </a:spcBef>
            </a:pPr>
            <a:r>
              <a:rPr sz="1600">
                <a:solidFill>
                  <a:srgbClr val="1E293B"/>
                </a:solidFill>
              </a:rPr>
              <a:t>☐ 建立了Skim+Scan+精读的三速阅读习惯</a:t>
            </a:r>
          </a:p>
          <a:p>
            <a:pPr>
              <a:spcBef>
                <a:spcPts val="1200"/>
              </a:spcBef>
            </a:pPr>
            <a:r>
              <a:rPr sz="1600">
                <a:solidFill>
                  <a:srgbClr val="1E293B"/>
                </a:solidFill>
              </a:rPr>
              <a:t>☐ 时间管理：60分钟内完成40题，不留空白</a:t>
            </a:r>
          </a:p>
          <a:p>
            <a:pPr>
              <a:spcBef>
                <a:spcPts val="1200"/>
              </a:spcBef>
            </a:pPr>
            <a:r>
              <a:rPr sz="1600">
                <a:solidFill>
                  <a:srgbClr val="1E293B"/>
                </a:solidFill>
              </a:rPr>
              <a:t>☐ 错题笔记本已建立，记录了各题型的典型错误</a:t>
            </a:r>
          </a:p>
          <a:p>
            <a:pPr>
              <a:spcBef>
                <a:spcPts val="1200"/>
              </a:spcBef>
            </a:pPr>
            <a:r>
              <a:rPr sz="1600">
                <a:solidFill>
                  <a:srgbClr val="1E293B"/>
                </a:solidFill>
              </a:rPr>
              <a:t>☐ 做过至少3套完整计时模考</a:t>
            </a:r>
          </a:p>
          <a:p>
            <a:pPr>
              <a:spcBef>
                <a:spcPts val="1200"/>
              </a:spcBef>
            </a:pPr>
            <a:r>
              <a:rPr sz="1600">
                <a:solidFill>
                  <a:srgbClr val="1E293B"/>
                </a:solidFill>
              </a:rPr>
              <a:t>☐ 考场策略清晰：进场→Skim→做题→检查→不留空白</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L10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全真模考整合了10节课所有技能——技能+策略+时间管理=高分</a:t>
            </a:r>
          </a:p>
          <a:p>
            <a:pPr>
              <a:spcBef>
                <a:spcPts val="1100"/>
              </a:spcBef>
            </a:pPr>
            <a:r>
              <a:rPr sz="1550">
                <a:solidFill>
                  <a:srgbClr val="FFFFFF"/>
                </a:solidFill>
              </a:rPr>
              <a:t>✓  三速阅读法：Skimming建图→Scanning定位→精读理解</a:t>
            </a:r>
          </a:p>
          <a:p>
            <a:pPr>
              <a:spcBef>
                <a:spcPts val="1100"/>
              </a:spcBef>
            </a:pPr>
            <a:r>
              <a:rPr sz="1550">
                <a:solidFill>
                  <a:srgbClr val="FFFFFF"/>
                </a:solidFill>
              </a:rPr>
              <a:t>✓  时间管理：每篇20分钟，超时先猜，不死磕一题</a:t>
            </a:r>
          </a:p>
          <a:p>
            <a:pPr>
              <a:spcBef>
                <a:spcPts val="1100"/>
              </a:spcBef>
            </a:pPr>
            <a:r>
              <a:rPr sz="1550">
                <a:solidFill>
                  <a:srgbClr val="FFFFFF"/>
                </a:solidFill>
              </a:rPr>
              <a:t>✓  考场铁则：所有题都填答案，不留空白，宁猜勿空</a:t>
            </a:r>
          </a:p>
          <a:p>
            <a:pPr>
              <a:spcBef>
                <a:spcPts val="1100"/>
              </a:spcBef>
            </a:pPr>
            <a:r>
              <a:rPr sz="1550">
                <a:solidFill>
                  <a:srgbClr val="FFFFFF"/>
                </a:solidFill>
              </a:rPr>
              <a:t>✓  冲刺4周：专项强化+全真模考+弱点突破+策略稳定</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L10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建议用时：约3小时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完成2套完整Cambridge IELTS模考（各60分钟计时），深度分析所有错题</a:t>
            </a:r>
          </a:p>
          <a:p>
            <a:pPr>
              <a:spcBef>
                <a:spcPts val="1300"/>
              </a:spcBef>
            </a:pPr>
            <a:r>
              <a:rPr sz="1550" b="1">
                <a:solidFill>
                  <a:srgbClr val="1E293B"/>
                </a:solidFill>
              </a:rPr>
              <a:t>作业 2　制作个人"备考冲刺计划"：针对你最弱的2个题型，规划4周提升方案</a:t>
            </a:r>
          </a:p>
          <a:p>
            <a:pPr>
              <a:spcBef>
                <a:spcPts val="1300"/>
              </a:spcBef>
            </a:pPr>
            <a:r>
              <a:rPr sz="1550" b="1">
                <a:solidFill>
                  <a:srgbClr val="1E293B"/>
                </a:solidFill>
              </a:rPr>
              <a:t>作业 3　建立"考场策略卡"：把5大锦囊和各题型提醒写在一张纸上，考前复习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