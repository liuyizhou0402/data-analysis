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E09A10"/>
                </a:solidFill>
                <a:latin typeface="Calibri"/>
              </a:rPr>
              <a:t>L09</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E09A10"/>
                </a:solidFill>
                <a:latin typeface="Calibri"/>
              </a:rPr>
              <a:t>IELTS Reading 阅读</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速读技巧专项
Skimming·Scanning·时间管理</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Speed Reading: Skim, Scan &amp; Time Strategy</a:t>
            </a:r>
          </a:p>
        </p:txBody>
      </p:sp>
      <p:sp>
        <p:nvSpPr>
          <p:cNvPr id="10" name="Rounded Rectangle 9"/>
          <p:cNvSpPr/>
          <p:nvPr/>
        </p:nvSpPr>
        <p:spPr>
          <a:xfrm>
            <a:off x="777240" y="5669280"/>
            <a:ext cx="3840480" cy="54864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9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ounded Rectangle 6"/>
          <p:cNvSpPr/>
          <p:nvPr/>
        </p:nvSpPr>
        <p:spPr>
          <a:xfrm>
            <a:off x="54864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Skimming精读浏览策略</a:t>
            </a:r>
          </a:p>
        </p:txBody>
      </p:sp>
      <p:sp>
        <p:nvSpPr>
          <p:cNvPr id="10" name="Rounded Rectangle 9"/>
          <p:cNvSpPr/>
          <p:nvPr/>
        </p:nvSpPr>
        <p:spPr>
          <a:xfrm>
            <a:off x="54864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Scanning扫读定位技术</a:t>
            </a:r>
          </a:p>
        </p:txBody>
      </p:sp>
      <p:sp>
        <p:nvSpPr>
          <p:cNvPr id="13" name="Rounded Rectangle 12"/>
          <p:cNvSpPr/>
          <p:nvPr/>
        </p:nvSpPr>
        <p:spPr>
          <a:xfrm>
            <a:off x="54864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时间分配与管理</a:t>
            </a:r>
          </a:p>
        </p:txBody>
      </p:sp>
      <p:sp>
        <p:nvSpPr>
          <p:cNvPr id="16" name="Rounded Rectangle 15"/>
          <p:cNvSpPr/>
          <p:nvPr/>
        </p:nvSpPr>
        <p:spPr>
          <a:xfrm>
            <a:off x="640080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速读训练方法</a:t>
            </a:r>
          </a:p>
        </p:txBody>
      </p:sp>
      <p:sp>
        <p:nvSpPr>
          <p:cNvPr id="19" name="Rounded Rectangle 18"/>
          <p:cNvSpPr/>
          <p:nvPr/>
        </p:nvSpPr>
        <p:spPr>
          <a:xfrm>
            <a:off x="640080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综合实战演练</a:t>
            </a:r>
          </a:p>
        </p:txBody>
      </p:sp>
      <p:sp>
        <p:nvSpPr>
          <p:cNvPr id="22" name="Rounded Rectangle 21"/>
          <p:cNvSpPr/>
          <p:nvPr/>
        </p:nvSpPr>
        <p:spPr>
          <a:xfrm>
            <a:off x="640080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考场全局策略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Skimming：浏览策略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Skimming: Reading for Main Ideas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什么是Skimming</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Skimming Definition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定义</a:t>
            </a:r>
          </a:p>
          <a:p>
            <a:pPr>
              <a:spcBef>
                <a:spcPts val="100"/>
              </a:spcBef>
            </a:pPr>
            <a:r>
              <a:rPr sz="1500">
                <a:solidFill>
                  <a:srgbClr val="556075"/>
                </a:solidFill>
              </a:rPr>
              <a:t>   快速浏览文章——了解文章大意和结构，不精读每句</a:t>
            </a:r>
          </a:p>
          <a:p>
            <a:pPr>
              <a:spcBef>
                <a:spcPts val="900"/>
              </a:spcBef>
            </a:pPr>
            <a:r>
              <a:rPr sz="1800" b="1">
                <a:solidFill>
                  <a:srgbClr val="1B5E33"/>
                </a:solidFill>
              </a:rPr>
              <a:t>• 何时用</a:t>
            </a:r>
          </a:p>
          <a:p>
            <a:pPr>
              <a:spcBef>
                <a:spcPts val="100"/>
              </a:spcBef>
            </a:pPr>
            <a:r>
              <a:rPr sz="1500">
                <a:solidFill>
                  <a:srgbClr val="556075"/>
                </a:solidFill>
              </a:rPr>
              <a:t>   做题之前的准备阶段——建立"文章地图"</a:t>
            </a:r>
          </a:p>
          <a:p>
            <a:pPr>
              <a:spcBef>
                <a:spcPts val="900"/>
              </a:spcBef>
            </a:pPr>
            <a:r>
              <a:rPr sz="1800" b="1">
                <a:solidFill>
                  <a:srgbClr val="1B5E33"/>
                </a:solidFill>
              </a:rPr>
              <a:t>• 速度</a:t>
            </a:r>
          </a:p>
          <a:p>
            <a:pPr>
              <a:spcBef>
                <a:spcPts val="100"/>
              </a:spcBef>
            </a:pPr>
            <a:r>
              <a:rPr sz="1500">
                <a:solidFill>
                  <a:srgbClr val="556075"/>
                </a:solidFill>
              </a:rPr>
              <a:t>   比精读快3-5倍——每篇文章3-4分钟完成浏览</a:t>
            </a:r>
          </a:p>
          <a:p>
            <a:pPr>
              <a:spcBef>
                <a:spcPts val="900"/>
              </a:spcBef>
            </a:pPr>
            <a:r>
              <a:rPr sz="1800" b="1">
                <a:solidFill>
                  <a:srgbClr val="1B5E33"/>
                </a:solidFill>
              </a:rPr>
              <a:t>• 读什么</a:t>
            </a:r>
          </a:p>
          <a:p>
            <a:pPr>
              <a:spcBef>
                <a:spcPts val="100"/>
              </a:spcBef>
            </a:pPr>
            <a:r>
              <a:rPr sz="1500">
                <a:solidFill>
                  <a:srgbClr val="556075"/>
                </a:solidFill>
              </a:rPr>
              <a:t>   标题/副标题/首段/每段首句/尾段</a:t>
            </a:r>
          </a:p>
          <a:p>
            <a:pPr>
              <a:spcBef>
                <a:spcPts val="900"/>
              </a:spcBef>
            </a:pPr>
            <a:r>
              <a:rPr sz="1800" b="1">
                <a:solidFill>
                  <a:srgbClr val="1B5E33"/>
                </a:solidFill>
              </a:rPr>
              <a:t>• 目的</a:t>
            </a:r>
          </a:p>
          <a:p>
            <a:pPr>
              <a:spcBef>
                <a:spcPts val="100"/>
              </a:spcBef>
            </a:pPr>
            <a:r>
              <a:rPr sz="1500">
                <a:solidFill>
                  <a:srgbClr val="556075"/>
                </a:solidFill>
              </a:rPr>
              <a:t>   知道文章说什么，哪段说什么——后面定位更快</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Skimming读什么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What to Read When Skimming</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必读：文章标题</a:t>
            </a:r>
          </a:p>
          <a:p>
            <a:pPr>
              <a:spcBef>
                <a:spcPts val="100"/>
              </a:spcBef>
            </a:pPr>
            <a:r>
              <a:rPr sz="1500">
                <a:solidFill>
                  <a:srgbClr val="556075"/>
                </a:solidFill>
              </a:rPr>
              <a:t>   告诉你文章主题——1级信息</a:t>
            </a:r>
          </a:p>
          <a:p>
            <a:pPr>
              <a:spcBef>
                <a:spcPts val="900"/>
              </a:spcBef>
            </a:pPr>
            <a:r>
              <a:rPr sz="1800" b="1">
                <a:solidFill>
                  <a:srgbClr val="1B5E33"/>
                </a:solidFill>
              </a:rPr>
              <a:t>• 必读：首段</a:t>
            </a:r>
          </a:p>
          <a:p>
            <a:pPr>
              <a:spcBef>
                <a:spcPts val="100"/>
              </a:spcBef>
            </a:pPr>
            <a:r>
              <a:rPr sz="1500">
                <a:solidFill>
                  <a:srgbClr val="556075"/>
                </a:solidFill>
              </a:rPr>
              <a:t>   通常是文章介绍/背景——建立上下文</a:t>
            </a:r>
          </a:p>
          <a:p>
            <a:pPr>
              <a:spcBef>
                <a:spcPts val="900"/>
              </a:spcBef>
            </a:pPr>
            <a:r>
              <a:rPr sz="1800" b="1">
                <a:solidFill>
                  <a:srgbClr val="1B5E33"/>
                </a:solidFill>
              </a:rPr>
              <a:t>• 必读：每段首句</a:t>
            </a:r>
          </a:p>
          <a:p>
            <a:pPr>
              <a:spcBef>
                <a:spcPts val="100"/>
              </a:spcBef>
            </a:pPr>
            <a:r>
              <a:rPr sz="1500">
                <a:solidFill>
                  <a:srgbClr val="556075"/>
                </a:solidFill>
              </a:rPr>
              <a:t>   每段的主题句——建立段落地图</a:t>
            </a:r>
          </a:p>
          <a:p>
            <a:pPr>
              <a:spcBef>
                <a:spcPts val="900"/>
              </a:spcBef>
            </a:pPr>
            <a:r>
              <a:rPr sz="1800" b="1">
                <a:solidFill>
                  <a:srgbClr val="1B5E33"/>
                </a:solidFill>
              </a:rPr>
              <a:t>• 必读：末段或末句</a:t>
            </a:r>
          </a:p>
          <a:p>
            <a:pPr>
              <a:spcBef>
                <a:spcPts val="100"/>
              </a:spcBef>
            </a:pPr>
            <a:r>
              <a:rPr sz="1500">
                <a:solidFill>
                  <a:srgbClr val="556075"/>
                </a:solidFill>
              </a:rPr>
              <a:t>   通常是总结/结论——了解文章观点</a:t>
            </a:r>
          </a:p>
          <a:p>
            <a:pPr>
              <a:spcBef>
                <a:spcPts val="900"/>
              </a:spcBef>
            </a:pPr>
            <a:r>
              <a:rPr sz="1800" b="1">
                <a:solidFill>
                  <a:srgbClr val="1B5E33"/>
                </a:solidFill>
              </a:rPr>
              <a:t>• 可选：副标题</a:t>
            </a:r>
          </a:p>
          <a:p>
            <a:pPr>
              <a:spcBef>
                <a:spcPts val="100"/>
              </a:spcBef>
            </a:pPr>
            <a:r>
              <a:rPr sz="1500">
                <a:solidFill>
                  <a:srgbClr val="556075"/>
                </a:solidFill>
              </a:rPr>
              <a:t>   有副标题时直接读——等同于段落地图</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Skimming实操演示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Skimming 3分钟建立文章地图：
Step 1（30秒）：读文章标题和副标题
→ 了解文章主题和子话题
Step 2（30秒/段）：读每段第一句
→ 了解每段讲什么
（5段文章 = 约2.5分钟）
Step 3（30秒）：读最后一段
→ 了解作者结论/总结观点
完成：建立了"段落话题地图"——做题时直接跳到相关段落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Skimming的误区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误区1：认为Skimming就是完全不读——你需要读首句</a:t>
            </a:r>
          </a:p>
          <a:p>
            <a:pPr>
              <a:spcBef>
                <a:spcPts val="1000"/>
              </a:spcBef>
            </a:pPr>
            <a:r>
              <a:rPr sz="1650">
                <a:solidFill>
                  <a:srgbClr val="1E293B"/>
                </a:solidFill>
              </a:rPr>
              <a:t>• 误区2：每段都精读第一句话——速度太慢</a:t>
            </a:r>
          </a:p>
          <a:p>
            <a:pPr>
              <a:spcBef>
                <a:spcPts val="1000"/>
              </a:spcBef>
            </a:pPr>
            <a:r>
              <a:rPr sz="1650">
                <a:solidFill>
                  <a:srgbClr val="1E293B"/>
                </a:solidFill>
              </a:rPr>
              <a:t>• 误区3：读首句时不理解就停住——继续往下，不完全理解没关系</a:t>
            </a:r>
          </a:p>
          <a:p>
            <a:pPr>
              <a:spcBef>
                <a:spcPts val="1000"/>
              </a:spcBef>
            </a:pPr>
            <a:r>
              <a:rPr sz="1650">
                <a:solidFill>
                  <a:srgbClr val="1E293B"/>
                </a:solidFill>
              </a:rPr>
              <a:t>• 正确理解：Skimming = 快速、有目的地浏览，建立文章整体印象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Skimming建立段落地图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练习：用2分钟读以下各段首句，回答"这篇文章讲什么？"
P1首句："Urban air pollution has become one of the most pressing public health challenges of the 21st century."
P2首句："The primary sources of urban air pollution include vehicle emissions and industrial activity."
P3首句："However, several cities have made remarkable progress in reducing pollution levels."
P4首句："Government policies play a crucial role in driving improvements in air quality."
P5首句："Despite these advances, significant challenges remain in achieving global clean air standards."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段落地图：
P1：空气污染是重大公共健康问题（主题引入）
P2：主要来源（车+工业）
P3：一些城市成功减污（转折）
P4：政府政策作用
P5：但仍有挑战（结论/转折）
整体：空气污染——来源——成功案例——政策——挑战</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用3分钟建立段落地图=后面定位省2-3倍时间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Skimming速度测试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计时练习：用90秒读以下段落首句（5段），然后回答：文章讲什么？
（同上段落首句）
说出每段的话题：P1=?, P2=?, P3=?, P4=?, P5=?</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答案：P1=主题/背景, P2=原因, P3=成功案例, P4=政策因素, P5=剩余挑战
目标：90秒内完成5段首句→知道去哪找答案
速度不够时：只记每段一个关键词即可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Scanning：扫读定位技术</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Scanning: Finding Specific Information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什么是Scanning</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Scanning Definition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定义</a:t>
            </a:r>
          </a:p>
          <a:p>
            <a:pPr>
              <a:spcBef>
                <a:spcPts val="100"/>
              </a:spcBef>
            </a:pPr>
            <a:r>
              <a:rPr sz="1500">
                <a:solidFill>
                  <a:srgbClr val="556075"/>
                </a:solidFill>
              </a:rPr>
              <a:t>   快速扫读文章——找特定信息，不读无关内容</a:t>
            </a:r>
          </a:p>
          <a:p>
            <a:pPr>
              <a:spcBef>
                <a:spcPts val="900"/>
              </a:spcBef>
            </a:pPr>
            <a:r>
              <a:rPr sz="1800" b="1">
                <a:solidFill>
                  <a:srgbClr val="1B5E33"/>
                </a:solidFill>
              </a:rPr>
              <a:t>• 何时用</a:t>
            </a:r>
          </a:p>
          <a:p>
            <a:pPr>
              <a:spcBef>
                <a:spcPts val="100"/>
              </a:spcBef>
            </a:pPr>
            <a:r>
              <a:rPr sz="1500">
                <a:solidFill>
                  <a:srgbClr val="556075"/>
                </a:solidFill>
              </a:rPr>
              <a:t>   做题时——用关键词在文章里找答案位置</a:t>
            </a:r>
          </a:p>
          <a:p>
            <a:pPr>
              <a:spcBef>
                <a:spcPts val="900"/>
              </a:spcBef>
            </a:pPr>
            <a:r>
              <a:rPr sz="1800" b="1">
                <a:solidFill>
                  <a:srgbClr val="1B5E33"/>
                </a:solidFill>
              </a:rPr>
              <a:t>• 速度</a:t>
            </a:r>
          </a:p>
          <a:p>
            <a:pPr>
              <a:spcBef>
                <a:spcPts val="100"/>
              </a:spcBef>
            </a:pPr>
            <a:r>
              <a:rPr sz="1500">
                <a:solidFill>
                  <a:srgbClr val="556075"/>
                </a:solidFill>
              </a:rPr>
              <a:t>   比精读快5-10倍——只看目标词，其他全跳过</a:t>
            </a:r>
          </a:p>
          <a:p>
            <a:pPr>
              <a:spcBef>
                <a:spcPts val="900"/>
              </a:spcBef>
            </a:pPr>
            <a:r>
              <a:rPr sz="1800" b="1">
                <a:solidFill>
                  <a:srgbClr val="1B5E33"/>
                </a:solidFill>
              </a:rPr>
              <a:t>• 扫读对象</a:t>
            </a:r>
          </a:p>
          <a:p>
            <a:pPr>
              <a:spcBef>
                <a:spcPts val="100"/>
              </a:spcBef>
            </a:pPr>
            <a:r>
              <a:rPr sz="1500">
                <a:solidFill>
                  <a:srgbClr val="556075"/>
                </a:solidFill>
              </a:rPr>
              <a:t>   专有名词/数字/关键词——与普通词区分</a:t>
            </a:r>
          </a:p>
          <a:p>
            <a:pPr>
              <a:spcBef>
                <a:spcPts val="900"/>
              </a:spcBef>
            </a:pPr>
            <a:r>
              <a:rPr sz="1800" b="1">
                <a:solidFill>
                  <a:srgbClr val="1B5E33"/>
                </a:solidFill>
              </a:rPr>
              <a:t>• 技术要点</a:t>
            </a:r>
          </a:p>
          <a:p>
            <a:pPr>
              <a:spcBef>
                <a:spcPts val="100"/>
              </a:spcBef>
            </a:pPr>
            <a:r>
              <a:rPr sz="1500">
                <a:solidFill>
                  <a:srgbClr val="556075"/>
                </a:solidFill>
              </a:rPr>
              <a:t>   眼睛快速扫过文本——像"雷达"一样搜索目标词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Scanning的目标词选择</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Target Words for Scanning</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最优：专有名词</a:t>
            </a:r>
          </a:p>
          <a:p>
            <a:pPr>
              <a:spcBef>
                <a:spcPts val="100"/>
              </a:spcBef>
            </a:pPr>
            <a:r>
              <a:rPr sz="1500">
                <a:solidFill>
                  <a:srgbClr val="556075"/>
                </a:solidFill>
              </a:rPr>
              <a:t>   人名/地名/组织/品牌名——原文直接保留</a:t>
            </a:r>
          </a:p>
          <a:p>
            <a:pPr>
              <a:spcBef>
                <a:spcPts val="900"/>
              </a:spcBef>
            </a:pPr>
            <a:r>
              <a:rPr sz="1800" b="1">
                <a:solidFill>
                  <a:srgbClr val="1B5E33"/>
                </a:solidFill>
              </a:rPr>
              <a:t>• 很好：数字/年份</a:t>
            </a:r>
          </a:p>
          <a:p>
            <a:pPr>
              <a:spcBef>
                <a:spcPts val="100"/>
              </a:spcBef>
            </a:pPr>
            <a:r>
              <a:rPr sz="1500">
                <a:solidFill>
                  <a:srgbClr val="556075"/>
                </a:solidFill>
              </a:rPr>
              <a:t>   100%/2010/$50 million——扫描时立即抓到</a:t>
            </a:r>
          </a:p>
          <a:p>
            <a:pPr>
              <a:spcBef>
                <a:spcPts val="900"/>
              </a:spcBef>
            </a:pPr>
            <a:r>
              <a:rPr sz="1800" b="1">
                <a:solidFill>
                  <a:srgbClr val="1B5E33"/>
                </a:solidFill>
              </a:rPr>
              <a:t>• 较好：大写词</a:t>
            </a:r>
          </a:p>
          <a:p>
            <a:pPr>
              <a:spcBef>
                <a:spcPts val="100"/>
              </a:spcBef>
            </a:pPr>
            <a:r>
              <a:rPr sz="1500">
                <a:solidFill>
                  <a:srgbClr val="556075"/>
                </a:solidFill>
              </a:rPr>
              <a:t>   首字母大写的概念词——比普通词更显眼</a:t>
            </a:r>
          </a:p>
          <a:p>
            <a:pPr>
              <a:spcBef>
                <a:spcPts val="900"/>
              </a:spcBef>
            </a:pPr>
            <a:r>
              <a:rPr sz="1800" b="1">
                <a:solidFill>
                  <a:srgbClr val="1B5E33"/>
                </a:solidFill>
              </a:rPr>
              <a:t>• 一般：专业词</a:t>
            </a:r>
          </a:p>
          <a:p>
            <a:pPr>
              <a:spcBef>
                <a:spcPts val="100"/>
              </a:spcBef>
            </a:pPr>
            <a:r>
              <a:rPr sz="1500">
                <a:solidFill>
                  <a:srgbClr val="556075"/>
                </a:solidFill>
              </a:rPr>
              <a:t>   photosynthesis等——不易替换，好定位</a:t>
            </a:r>
          </a:p>
          <a:p>
            <a:pPr>
              <a:spcBef>
                <a:spcPts val="900"/>
              </a:spcBef>
            </a:pPr>
            <a:r>
              <a:rPr sz="1800" b="1">
                <a:solidFill>
                  <a:srgbClr val="1B5E33"/>
                </a:solidFill>
              </a:rPr>
              <a:t>• 避免：普通词</a:t>
            </a:r>
          </a:p>
          <a:p>
            <a:pPr>
              <a:spcBef>
                <a:spcPts val="100"/>
              </a:spcBef>
            </a:pPr>
            <a:r>
              <a:rPr sz="1500">
                <a:solidFill>
                  <a:srgbClr val="556075"/>
                </a:solidFill>
              </a:rPr>
              <a:t>   the/is/have等——全文都有，无法定位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Scanning技术演示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Scanning技术要领：
眼睛移动方式：
- 不要逐行读——用"Z形"或"S形"快速扫过文字
- 眼睛寻找目标词的视觉特征（字母组合/首字母/数字）
- 找到目标词→停下→精读周围句子→找答案
- 没找到→继续扫，不要停在不相关的内容上
关键：扫的时候大脑只搜索目标词——其他文字视而不见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Scanning vs 精读配合</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Scanning只是定位——找到位置后必须精读！
错误做法：扫到关键词→直接提取周围词语→填答案
正确做法：扫到关键词→精读包含关键词的句子及上下文→理解意思→回题目确认
时间分配：
Scanning（定位）：5-10秒
精读（理解+确认）：30-60秒
比例：精读时间 &gt;&gt; Scanning时间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Scanning速度训练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在以下段落中，用10秒找到所有数字/年份：
"Urban populations worldwide surpassed 4 billion in 2018, with an estimated 68% of the global population projected to live in cities by 2050. The United Nations reports that in 1950, only 30% of people lived in urban areas, a figure that has more than doubled in 70 years."
你找到了哪些数字/年份？</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答案（按出现顺序）：
4 billion / 2018 / 68% / 2050 / 1950 / 30% / 70 years
如果你在10秒内找到了5个以上→扫读速度合格
如果只找到3-4个→练习"数字感知"训练</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数字感知训练：每天用10秒在一段话里数出所有数字——1周后速度明显提升</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Scanning失败排查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如果扫读找不到关键词，可能原因：
原因1：关键词被同义替换了
解决：换摘要/题目中的其他词再扫
原因2：答案在与预期不同的段落
解决：扩大搜索范围，扫整篇文章
原因3：扫得太快，眼睛没注意到
解决：放慢一点，确保眼睛扫过每行
原因4：关键词本身太普通，全文都有
解决：换更特殊的词（专有名词/数字）扫</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最有效的解决：题目答案在按顺序排列——用顺序原则缩小搜索范围</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IELTS阅读时间分配策略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Time Management for IELTS Reading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IELTS阅读时间总览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Overall Time Structure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总时间</a:t>
            </a:r>
          </a:p>
          <a:p>
            <a:pPr>
              <a:spcBef>
                <a:spcPts val="100"/>
              </a:spcBef>
            </a:pPr>
            <a:r>
              <a:rPr sz="1500">
                <a:solidFill>
                  <a:srgbClr val="556075"/>
                </a:solidFill>
              </a:rPr>
              <a:t>   60分钟——3篇文章，约40道题</a:t>
            </a:r>
          </a:p>
          <a:p>
            <a:pPr>
              <a:spcBef>
                <a:spcPts val="900"/>
              </a:spcBef>
            </a:pPr>
            <a:r>
              <a:rPr sz="1800" b="1">
                <a:solidFill>
                  <a:srgbClr val="1B5E33"/>
                </a:solidFill>
              </a:rPr>
              <a:t>• 每篇文章</a:t>
            </a:r>
          </a:p>
          <a:p>
            <a:pPr>
              <a:spcBef>
                <a:spcPts val="100"/>
              </a:spcBef>
            </a:pPr>
            <a:r>
              <a:rPr sz="1500">
                <a:solidFill>
                  <a:srgbClr val="556075"/>
                </a:solidFill>
              </a:rPr>
              <a:t>   约20分钟——skimming+做题+检查</a:t>
            </a:r>
          </a:p>
          <a:p>
            <a:pPr>
              <a:spcBef>
                <a:spcPts val="900"/>
              </a:spcBef>
            </a:pPr>
            <a:r>
              <a:rPr sz="1800" b="1">
                <a:solidFill>
                  <a:srgbClr val="1B5E33"/>
                </a:solidFill>
              </a:rPr>
              <a:t>• 时间分配原则</a:t>
            </a:r>
          </a:p>
          <a:p>
            <a:pPr>
              <a:spcBef>
                <a:spcPts val="100"/>
              </a:spcBef>
            </a:pPr>
            <a:r>
              <a:rPr sz="1500">
                <a:solidFill>
                  <a:srgbClr val="556075"/>
                </a:solidFill>
              </a:rPr>
              <a:t>   难易有别——难题/难文章不要死磕超时</a:t>
            </a:r>
          </a:p>
          <a:p>
            <a:pPr>
              <a:spcBef>
                <a:spcPts val="900"/>
              </a:spcBef>
            </a:pPr>
            <a:r>
              <a:rPr sz="1800" b="1">
                <a:solidFill>
                  <a:srgbClr val="1B5E33"/>
                </a:solidFill>
              </a:rPr>
              <a:t>• Skimming时间</a:t>
            </a:r>
          </a:p>
          <a:p>
            <a:pPr>
              <a:spcBef>
                <a:spcPts val="100"/>
              </a:spcBef>
            </a:pPr>
            <a:r>
              <a:rPr sz="1500">
                <a:solidFill>
                  <a:srgbClr val="556075"/>
                </a:solidFill>
              </a:rPr>
              <a:t>   每篇3-4分钟建立段落地图</a:t>
            </a:r>
          </a:p>
          <a:p>
            <a:pPr>
              <a:spcBef>
                <a:spcPts val="900"/>
              </a:spcBef>
            </a:pPr>
            <a:r>
              <a:rPr sz="1800" b="1">
                <a:solidFill>
                  <a:srgbClr val="1B5E33"/>
                </a:solidFill>
              </a:rPr>
              <a:t>• 做题时间</a:t>
            </a:r>
          </a:p>
          <a:p>
            <a:pPr>
              <a:spcBef>
                <a:spcPts val="100"/>
              </a:spcBef>
            </a:pPr>
            <a:r>
              <a:rPr sz="1500">
                <a:solidFill>
                  <a:srgbClr val="556075"/>
                </a:solidFill>
              </a:rPr>
              <a:t>   每篇16-17分钟——约每题1-1.5分钟</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每篇文章20分钟分配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20-Minute Breakdown per Passage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0-3分钟：Skimming</a:t>
            </a:r>
          </a:p>
          <a:p>
            <a:pPr>
              <a:spcBef>
                <a:spcPts val="100"/>
              </a:spcBef>
            </a:pPr>
            <a:r>
              <a:rPr sz="1500">
                <a:solidFill>
                  <a:srgbClr val="556075"/>
                </a:solidFill>
              </a:rPr>
              <a:t>   快速浏览——读标题+每段首句+尾段</a:t>
            </a:r>
          </a:p>
          <a:p>
            <a:pPr>
              <a:spcBef>
                <a:spcPts val="900"/>
              </a:spcBef>
            </a:pPr>
            <a:r>
              <a:rPr sz="1800" b="1">
                <a:solidFill>
                  <a:srgbClr val="1B5E33"/>
                </a:solidFill>
              </a:rPr>
              <a:t>• 3-18分钟：做题</a:t>
            </a:r>
          </a:p>
          <a:p>
            <a:pPr>
              <a:spcBef>
                <a:spcPts val="100"/>
              </a:spcBef>
            </a:pPr>
            <a:r>
              <a:rPr sz="1500">
                <a:solidFill>
                  <a:srgbClr val="556075"/>
                </a:solidFill>
              </a:rPr>
              <a:t>   按题目顺序做——每题1-1.5分钟</a:t>
            </a:r>
          </a:p>
          <a:p>
            <a:pPr>
              <a:spcBef>
                <a:spcPts val="900"/>
              </a:spcBef>
            </a:pPr>
            <a:r>
              <a:rPr sz="1800" b="1">
                <a:solidFill>
                  <a:srgbClr val="1B5E33"/>
                </a:solidFill>
              </a:rPr>
              <a:t>• 18-20分钟：检查</a:t>
            </a:r>
          </a:p>
          <a:p>
            <a:pPr>
              <a:spcBef>
                <a:spcPts val="100"/>
              </a:spcBef>
            </a:pPr>
            <a:r>
              <a:rPr sz="1500">
                <a:solidFill>
                  <a:srgbClr val="556075"/>
                </a:solidFill>
              </a:rPr>
              <a:t>   检查未完成/跳过的题，多选数量，填词拼写</a:t>
            </a:r>
          </a:p>
          <a:p>
            <a:pPr>
              <a:spcBef>
                <a:spcPts val="900"/>
              </a:spcBef>
            </a:pPr>
            <a:r>
              <a:rPr sz="1800" b="1">
                <a:solidFill>
                  <a:srgbClr val="1B5E33"/>
                </a:solidFill>
              </a:rPr>
              <a:t>• 难题处理</a:t>
            </a:r>
          </a:p>
          <a:p>
            <a:pPr>
              <a:spcBef>
                <a:spcPts val="100"/>
              </a:spcBef>
            </a:pPr>
            <a:r>
              <a:rPr sz="1500">
                <a:solidFill>
                  <a:srgbClr val="556075"/>
                </a:solidFill>
              </a:rPr>
              <a:t>   超过90秒→先猜，做标记，继续下一题</a:t>
            </a:r>
          </a:p>
          <a:p>
            <a:pPr>
              <a:spcBef>
                <a:spcPts val="900"/>
              </a:spcBef>
            </a:pPr>
            <a:r>
              <a:rPr sz="1800" b="1">
                <a:solidFill>
                  <a:srgbClr val="1B5E33"/>
                </a:solidFill>
              </a:rPr>
              <a:t>• 时间感知</a:t>
            </a:r>
          </a:p>
          <a:p>
            <a:pPr>
              <a:spcBef>
                <a:spcPts val="100"/>
              </a:spcBef>
            </a:pPr>
            <a:r>
              <a:rPr sz="1500">
                <a:solidFill>
                  <a:srgbClr val="556075"/>
                </a:solidFill>
              </a:rPr>
              <a:t>   每做5道题看一次时间，及时调整节奏</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时间分配实操</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3篇文章时间分配实例：
Passage 1（通常最简单）：18分钟
→ Skimming: 3分钟
→ 做题: 13分钟（13道题，每题1分钟）
→ 检查: 2分钟
Passage 2（中等难度）：20分钟
→ Skimming: 3分钟
→ 做题: 15分钟
→ 检查: 2分钟
Passage 3（最难）：22分钟
→ Skimming: 4分钟（复杂文章多花1分钟）
→ 做题: 16分钟
→ 检查: 2分钟
总计：60分钟</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时间危机处理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剩余15分钟但还有20道题——怎么办？
策略1：快速做简单题
→ 信息定位/填空/是非题先做——通常更快
策略2：跳过难题先猜
→ 标题匹配/推断题→先猜B或C，做标记
策略3：放弃检查
→ 不再回头检查已做的题
策略4：最后30秒
→ 所有空白题全填（不留空——有猜对概率）
规则：宁可猜答案，不要留空白！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时间管理实战演练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计时：你有18分钟完成以下任务：
- 阅读一篇约700词的文章（先Skimming 3分钟）
- 完成12道题（目标：每题1-1.5分钟）
- 最后2分钟检查
关键时间节点：
- 3:00 → 开始做题
- 8:00 → 应完成第5-6题
- 13:00 → 应完成第10-11题
- 16:00 → 开始检查
- 18:00 → 停止</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时间感知训练目标：
不看表：做题过程中凭感觉估计时间
看表：每5道题看一次——判断是否按节奏
超时信号：一道题超过2分钟→必须停止，猜一个
习惯培养：每次模拟考试都用计时器——至少练10次才能形成时间感知</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时间管理是训练来的——不是天生的感觉。每次计时练习都是一次校准</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深圳学生时间失控常见场景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场景1：卡在单词/句子上
→ 解决：生词→语境猜大意→继续
场景2：某题做了3分钟还不确定
→ 解决：写个最有把握的答案，标记，继续
场景3：段落太难，读了几遍不理解
→ 解决：只读首末句，用排除法→继续
场景4：不停回头检查已做的题
→ 解决：做完一题就信任它——向前走
根本原则：60分钟是固定的——时间花在哪里=机会成本</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最重要习惯：遇到难题→先猜→标记→继续。不死磕一题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速读训练方法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Speed Reading Training Techniques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速读训练核心技术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Core Speed Reading Skills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减少回视</a:t>
            </a:r>
          </a:p>
          <a:p>
            <a:pPr>
              <a:spcBef>
                <a:spcPts val="100"/>
              </a:spcBef>
            </a:pPr>
            <a:r>
              <a:rPr sz="1500">
                <a:solidFill>
                  <a:srgbClr val="556075"/>
                </a:solidFill>
              </a:rPr>
              <a:t>   不要反复读同一句——向前读，不回头</a:t>
            </a:r>
          </a:p>
          <a:p>
            <a:pPr>
              <a:spcBef>
                <a:spcPts val="900"/>
              </a:spcBef>
            </a:pPr>
            <a:r>
              <a:rPr sz="1800" b="1">
                <a:solidFill>
                  <a:srgbClr val="1B5E33"/>
                </a:solidFill>
              </a:rPr>
              <a:t>• 扩大视野</a:t>
            </a:r>
          </a:p>
          <a:p>
            <a:pPr>
              <a:spcBef>
                <a:spcPts val="100"/>
              </a:spcBef>
            </a:pPr>
            <a:r>
              <a:rPr sz="1500">
                <a:solidFill>
                  <a:srgbClr val="556075"/>
                </a:solidFill>
              </a:rPr>
              <a:t>   每次眼睛停留时抓更多词——训练周边视觉</a:t>
            </a:r>
          </a:p>
          <a:p>
            <a:pPr>
              <a:spcBef>
                <a:spcPts val="900"/>
              </a:spcBef>
            </a:pPr>
            <a:r>
              <a:rPr sz="1800" b="1">
                <a:solidFill>
                  <a:srgbClr val="1B5E33"/>
                </a:solidFill>
              </a:rPr>
              <a:t>• 意义组块</a:t>
            </a:r>
          </a:p>
          <a:p>
            <a:pPr>
              <a:spcBef>
                <a:spcPts val="100"/>
              </a:spcBef>
            </a:pPr>
            <a:r>
              <a:rPr sz="1500">
                <a:solidFill>
                  <a:srgbClr val="556075"/>
                </a:solidFill>
              </a:rPr>
              <a:t>   以意义组块读，不逐词读——"urban air pollution"一组</a:t>
            </a:r>
          </a:p>
          <a:p>
            <a:pPr>
              <a:spcBef>
                <a:spcPts val="900"/>
              </a:spcBef>
            </a:pPr>
            <a:r>
              <a:rPr sz="1800" b="1">
                <a:solidFill>
                  <a:srgbClr val="1B5E33"/>
                </a:solidFill>
              </a:rPr>
              <a:t>• 减少默读</a:t>
            </a:r>
          </a:p>
          <a:p>
            <a:pPr>
              <a:spcBef>
                <a:spcPts val="100"/>
              </a:spcBef>
            </a:pPr>
            <a:r>
              <a:rPr sz="1500">
                <a:solidFill>
                  <a:srgbClr val="556075"/>
                </a:solidFill>
              </a:rPr>
              <a:t>   减少脑内"念"词的习惯——视觉直接理解</a:t>
            </a:r>
          </a:p>
          <a:p>
            <a:pPr>
              <a:spcBef>
                <a:spcPts val="900"/>
              </a:spcBef>
            </a:pPr>
            <a:r>
              <a:rPr sz="1800" b="1">
                <a:solidFill>
                  <a:srgbClr val="1B5E33"/>
                </a:solidFill>
              </a:rPr>
              <a:t>• 计时练习</a:t>
            </a:r>
          </a:p>
          <a:p>
            <a:pPr>
              <a:spcBef>
                <a:spcPts val="100"/>
              </a:spcBef>
            </a:pPr>
            <a:r>
              <a:rPr sz="1500">
                <a:solidFill>
                  <a:srgbClr val="556075"/>
                </a:solidFill>
              </a:rPr>
              <a:t>   每次阅读计时——记录每分钟读多少词（WPM）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IELTS速读目标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Speed Reading Targets for IELTS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目标阅读速度</a:t>
            </a:r>
          </a:p>
          <a:p>
            <a:pPr>
              <a:spcBef>
                <a:spcPts val="100"/>
              </a:spcBef>
            </a:pPr>
            <a:r>
              <a:rPr sz="1500">
                <a:solidFill>
                  <a:srgbClr val="556075"/>
                </a:solidFill>
              </a:rPr>
              <a:t>   200-250 WPM（词/分钟）= IELTS及格速度</a:t>
            </a:r>
          </a:p>
          <a:p>
            <a:pPr>
              <a:spcBef>
                <a:spcPts val="900"/>
              </a:spcBef>
            </a:pPr>
            <a:r>
              <a:rPr sz="1800" b="1">
                <a:solidFill>
                  <a:srgbClr val="1B5E33"/>
                </a:solidFill>
              </a:rPr>
              <a:t>• 高分速度</a:t>
            </a:r>
          </a:p>
          <a:p>
            <a:pPr>
              <a:spcBef>
                <a:spcPts val="100"/>
              </a:spcBef>
            </a:pPr>
            <a:r>
              <a:rPr sz="1500">
                <a:solidFill>
                  <a:srgbClr val="556075"/>
                </a:solidFill>
              </a:rPr>
              <a:t>   300+ WPM = Band 7+ 的速度目标</a:t>
            </a:r>
          </a:p>
          <a:p>
            <a:pPr>
              <a:spcBef>
                <a:spcPts val="900"/>
              </a:spcBef>
            </a:pPr>
            <a:r>
              <a:rPr sz="1800" b="1">
                <a:solidFill>
                  <a:srgbClr val="1B5E33"/>
                </a:solidFill>
              </a:rPr>
              <a:t>• 目前常见问题</a:t>
            </a:r>
          </a:p>
          <a:p>
            <a:pPr>
              <a:spcBef>
                <a:spcPts val="100"/>
              </a:spcBef>
            </a:pPr>
            <a:r>
              <a:rPr sz="1500">
                <a:solidFill>
                  <a:srgbClr val="556075"/>
                </a:solidFill>
              </a:rPr>
              <a:t>   中国学生平均：120-150 WPM——需要提升</a:t>
            </a:r>
          </a:p>
          <a:p>
            <a:pPr>
              <a:spcBef>
                <a:spcPts val="900"/>
              </a:spcBef>
            </a:pPr>
            <a:r>
              <a:rPr sz="1800" b="1">
                <a:solidFill>
                  <a:srgbClr val="1B5E33"/>
                </a:solidFill>
              </a:rPr>
              <a:t>• 提升方法</a:t>
            </a:r>
          </a:p>
          <a:p>
            <a:pPr>
              <a:spcBef>
                <a:spcPts val="100"/>
              </a:spcBef>
            </a:pPr>
            <a:r>
              <a:rPr sz="1500">
                <a:solidFill>
                  <a:srgbClr val="556075"/>
                </a:solidFill>
              </a:rPr>
              <a:t>   每天计时练习：记录WPM，目标每周提升5-10 WPM</a:t>
            </a:r>
          </a:p>
          <a:p>
            <a:pPr>
              <a:spcBef>
                <a:spcPts val="900"/>
              </a:spcBef>
            </a:pPr>
            <a:r>
              <a:rPr sz="1800" b="1">
                <a:solidFill>
                  <a:srgbClr val="1B5E33"/>
                </a:solidFill>
              </a:rPr>
              <a:t>• 工具</a:t>
            </a:r>
          </a:p>
          <a:p>
            <a:pPr>
              <a:spcBef>
                <a:spcPts val="100"/>
              </a:spcBef>
            </a:pPr>
            <a:r>
              <a:rPr sz="1500">
                <a:solidFill>
                  <a:srgbClr val="556075"/>
                </a:solidFill>
              </a:rPr>
              <a:t>   Cambridge IELTS真题计时/在线速读练习网站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速读训练计划</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8周速读提升计划：
第1-2周（基础）：
每天读500词文章，计时，记录WPM
目标：了解自己的基准速度
练习：减少回视（强制向前读）
第3-4周（进阶）：
每天读800词文章，提高速度目标10%
练习：意义组块（不逐词读）
目标WPM：从基准提升15-20%
第5-6周（冲刺）：
每天读1000词，Skimming训练（3分钟读完）
结合IELTS真题做题
目标WPM：达到200+ WPM
第7-8周（整合）：
全真模拟：60分钟3篇，计时做题
重点：时间分配的稳定性</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速读训练误区与纠正</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误区1："速度快了就不理解了"→
纠正：有目的的快读，理解大意就够——不追求每词理解
误区2："英语不够好不能速读"→
纠正：速读是阅读方式，词汇问题靠积累解决
误区3："每次都精读才能答题"→
纠正：Skimming+Scanning+精读组合——效率最高
误区4："做完一题才能做下一题"→
纠正：难题先猜标记，继续做——整体得分最高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WPM速度测试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计时测试：用以下方法测算你的WPM
步骤1：找一篇约300词的英文文章（Cambridge IELTS真题段落）
步骤2：用手机计时，开始正常阅读
步骤3：读完后记录时间（例：2分钟）
步骤4：WPM = 词数 ÷ 分钟数 = 300 ÷ 2 = 150 WPM
WPM解读：
&lt;150 WPM → 偏慢，需要大量练习
150-200 WPM → 中等，有提升空间
200-250 WPM → 良好，IELTS及格速度
250+ WPM → 优秀，Band 7+速度目标</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每周测一次WPM——记录进步，找到训练效果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速读Skimming计时训练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计时目标：用3分钟Skim一篇700-800词的文章
Skimming检测：3分钟后，你能回答以下问题吗？
Q1：文章的主题是什么？
Q2：文章分几个部分？各部分讲什么？
Q3：作者的主要观点/结论是什么？
如果能回答3个问题的2个→Skimming合格
如果只能回答1个或没有→需要更多Skimming练习
每次IELTS真题练习前先Skimming计时</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合格标准：3分钟内知道"哪段讲什么"——可以高效定位</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速读综合实战与考场全局策略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Speed Reading: Full Test Strategy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考场全局策略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Overall Exam Strategy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进场策略</a:t>
            </a:r>
          </a:p>
          <a:p>
            <a:pPr>
              <a:spcBef>
                <a:spcPts val="100"/>
              </a:spcBef>
            </a:pPr>
            <a:r>
              <a:rPr sz="1500">
                <a:solidFill>
                  <a:srgbClr val="556075"/>
                </a:solidFill>
              </a:rPr>
              <a:t>   领到试卷→先浏览3篇文章标题，了解话题难度</a:t>
            </a:r>
          </a:p>
          <a:p>
            <a:pPr>
              <a:spcBef>
                <a:spcPts val="900"/>
              </a:spcBef>
            </a:pPr>
            <a:r>
              <a:rPr sz="1800" b="1">
                <a:solidFill>
                  <a:srgbClr val="1B5E33"/>
                </a:solidFill>
              </a:rPr>
              <a:t>• 顺序策略</a:t>
            </a:r>
          </a:p>
          <a:p>
            <a:pPr>
              <a:spcBef>
                <a:spcPts val="100"/>
              </a:spcBef>
            </a:pPr>
            <a:r>
              <a:rPr sz="1500">
                <a:solidFill>
                  <a:srgbClr val="556075"/>
                </a:solidFill>
              </a:rPr>
              <a:t>   从最简单/最熟悉话题的文章开始——建立信心</a:t>
            </a:r>
          </a:p>
          <a:p>
            <a:pPr>
              <a:spcBef>
                <a:spcPts val="900"/>
              </a:spcBef>
            </a:pPr>
            <a:r>
              <a:rPr sz="1800" b="1">
                <a:solidFill>
                  <a:srgbClr val="1B5E33"/>
                </a:solidFill>
              </a:rPr>
              <a:t>• 应急策略</a:t>
            </a:r>
          </a:p>
          <a:p>
            <a:pPr>
              <a:spcBef>
                <a:spcPts val="100"/>
              </a:spcBef>
            </a:pPr>
            <a:r>
              <a:rPr sz="1500">
                <a:solidFill>
                  <a:srgbClr val="556075"/>
                </a:solidFill>
              </a:rPr>
              <a:t>   时间不够→信息定位/填空题先做（通常更快）</a:t>
            </a:r>
          </a:p>
          <a:p>
            <a:pPr>
              <a:spcBef>
                <a:spcPts val="900"/>
              </a:spcBef>
            </a:pPr>
            <a:r>
              <a:rPr sz="1800" b="1">
                <a:solidFill>
                  <a:srgbClr val="1B5E33"/>
                </a:solidFill>
              </a:rPr>
              <a:t>• 猜题策略</a:t>
            </a:r>
          </a:p>
          <a:p>
            <a:pPr>
              <a:spcBef>
                <a:spcPts val="100"/>
              </a:spcBef>
            </a:pPr>
            <a:r>
              <a:rPr sz="1500">
                <a:solidFill>
                  <a:srgbClr val="556075"/>
                </a:solidFill>
              </a:rPr>
              <a:t>   所有未做的题统一填一个字母（B或C）——不留空</a:t>
            </a:r>
          </a:p>
          <a:p>
            <a:pPr>
              <a:spcBef>
                <a:spcPts val="900"/>
              </a:spcBef>
            </a:pPr>
            <a:r>
              <a:rPr sz="1800" b="1">
                <a:solidFill>
                  <a:srgbClr val="1B5E33"/>
                </a:solidFill>
              </a:rPr>
              <a:t>• 最终检查</a:t>
            </a:r>
          </a:p>
          <a:p>
            <a:pPr>
              <a:spcBef>
                <a:spcPts val="100"/>
              </a:spcBef>
            </a:pPr>
            <a:r>
              <a:rPr sz="1500">
                <a:solidFill>
                  <a:srgbClr val="556075"/>
                </a:solidFill>
              </a:rPr>
              <a:t>   最后5分钟专门检查多选数量和填词拼写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Skimming+Scanning+精读组合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Three-Speed Reading Strategy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Skimming阶段</a:t>
            </a:r>
          </a:p>
          <a:p>
            <a:pPr>
              <a:spcBef>
                <a:spcPts val="100"/>
              </a:spcBef>
            </a:pPr>
            <a:r>
              <a:rPr sz="1500">
                <a:solidFill>
                  <a:srgbClr val="556075"/>
                </a:solidFill>
              </a:rPr>
              <a:t>   每篇3-4分钟，建立段落话题地图</a:t>
            </a:r>
          </a:p>
          <a:p>
            <a:pPr>
              <a:spcBef>
                <a:spcPts val="900"/>
              </a:spcBef>
            </a:pPr>
            <a:r>
              <a:rPr sz="1800" b="1">
                <a:solidFill>
                  <a:srgbClr val="1B5E33"/>
                </a:solidFill>
              </a:rPr>
              <a:t>• Scanning阶段</a:t>
            </a:r>
          </a:p>
          <a:p>
            <a:pPr>
              <a:spcBef>
                <a:spcPts val="100"/>
              </a:spcBef>
            </a:pPr>
            <a:r>
              <a:rPr sz="1500">
                <a:solidFill>
                  <a:srgbClr val="556075"/>
                </a:solidFill>
              </a:rPr>
              <a:t>   做题时用关键词扫读定位——5-10秒定位</a:t>
            </a:r>
          </a:p>
          <a:p>
            <a:pPr>
              <a:spcBef>
                <a:spcPts val="900"/>
              </a:spcBef>
            </a:pPr>
            <a:r>
              <a:rPr sz="1800" b="1">
                <a:solidFill>
                  <a:srgbClr val="1B5E33"/>
                </a:solidFill>
              </a:rPr>
              <a:t>• 精读阶段</a:t>
            </a:r>
          </a:p>
          <a:p>
            <a:pPr>
              <a:spcBef>
                <a:spcPts val="100"/>
              </a:spcBef>
            </a:pPr>
            <a:r>
              <a:rPr sz="1500">
                <a:solidFill>
                  <a:srgbClr val="556075"/>
                </a:solidFill>
              </a:rPr>
              <a:t>   定位后精读答案句及上下文——30-60秒理解</a:t>
            </a:r>
          </a:p>
          <a:p>
            <a:pPr>
              <a:spcBef>
                <a:spcPts val="900"/>
              </a:spcBef>
            </a:pPr>
            <a:r>
              <a:rPr sz="1800" b="1">
                <a:solidFill>
                  <a:srgbClr val="1B5E33"/>
                </a:solidFill>
              </a:rPr>
              <a:t>• 组合效率</a:t>
            </a:r>
          </a:p>
          <a:p>
            <a:pPr>
              <a:spcBef>
                <a:spcPts val="100"/>
              </a:spcBef>
            </a:pPr>
            <a:r>
              <a:rPr sz="1500">
                <a:solidFill>
                  <a:srgbClr val="556075"/>
                </a:solidFill>
              </a:rPr>
              <a:t>   3种阅读方式各司其职——整体效率最高</a:t>
            </a:r>
          </a:p>
          <a:p>
            <a:pPr>
              <a:spcBef>
                <a:spcPts val="900"/>
              </a:spcBef>
            </a:pPr>
            <a:r>
              <a:rPr sz="1800" b="1">
                <a:solidFill>
                  <a:srgbClr val="1B5E33"/>
                </a:solidFill>
              </a:rPr>
              <a:t>• 错误做法</a:t>
            </a:r>
          </a:p>
          <a:p>
            <a:pPr>
              <a:spcBef>
                <a:spcPts val="100"/>
              </a:spcBef>
            </a:pPr>
            <a:r>
              <a:rPr sz="1500">
                <a:solidFill>
                  <a:srgbClr val="556075"/>
                </a:solidFill>
              </a:rPr>
              <a:t>   全篇精读 / 全篇Skimming都不够高效</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60分钟全局时间分配</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0:00-18:00 - Passage 1（最容易）：3分钟Skim+13分钟做题+2分钟检查</a:t>
            </a:r>
          </a:p>
          <a:p>
            <a:pPr>
              <a:spcBef>
                <a:spcPts val="1000"/>
              </a:spcBef>
            </a:pPr>
            <a:r>
              <a:rPr sz="1650">
                <a:solidFill>
                  <a:srgbClr val="1E293B"/>
                </a:solidFill>
              </a:rPr>
              <a:t>• 18:00-38:00 - Passage 2（中等）：3分钟Skim+15分钟做题+2分钟检查</a:t>
            </a:r>
          </a:p>
          <a:p>
            <a:pPr>
              <a:spcBef>
                <a:spcPts val="1000"/>
              </a:spcBef>
            </a:pPr>
            <a:r>
              <a:rPr sz="1650">
                <a:solidFill>
                  <a:srgbClr val="1E293B"/>
                </a:solidFill>
              </a:rPr>
              <a:t>• 38:00-60:00 - Passage 3（最难）：4分钟Skim+14分钟做题+4分钟检查+猜题</a:t>
            </a:r>
          </a:p>
          <a:p>
            <a:pPr>
              <a:spcBef>
                <a:spcPts val="1000"/>
              </a:spcBef>
            </a:pPr>
            <a:r>
              <a:rPr sz="1650">
                <a:solidFill>
                  <a:srgbClr val="1E293B"/>
                </a:solidFill>
              </a:rPr>
              <a:t>• 关键：每篇做完立即检查——不留到最后统一检查</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速读三速组合效率</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Skim建地图（3-4分钟）→后面定位快2-3倍</a:t>
            </a:r>
          </a:p>
          <a:p>
            <a:pPr>
              <a:spcBef>
                <a:spcPts val="1000"/>
              </a:spcBef>
            </a:pPr>
            <a:r>
              <a:rPr sz="1650">
                <a:solidFill>
                  <a:srgbClr val="1E293B"/>
                </a:solidFill>
              </a:rPr>
              <a:t>• Scan定位（5-10秒）→精读节省到30-60秒</a:t>
            </a:r>
          </a:p>
          <a:p>
            <a:pPr>
              <a:spcBef>
                <a:spcPts val="1000"/>
              </a:spcBef>
            </a:pPr>
            <a:r>
              <a:rPr sz="1650">
                <a:solidFill>
                  <a:srgbClr val="1E293B"/>
                </a:solidFill>
              </a:rPr>
              <a:t>• 精读答案句（30-60秒）→准确理解不漏关键信息</a:t>
            </a:r>
          </a:p>
          <a:p>
            <a:pPr>
              <a:spcBef>
                <a:spcPts val="1000"/>
              </a:spcBef>
            </a:pPr>
            <a:r>
              <a:rPr sz="1650">
                <a:solidFill>
                  <a:srgbClr val="1E293B"/>
                </a:solidFill>
              </a:rPr>
              <a:t>• 三速组合 vs 全部精读：节省约15-20分钟/套题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考场全局实战演练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计时模拟：你有20分钟完成Passage 1
0:00-3:00：Skimming（读标题+5段首句）
3:00-16:00：做题（13题，1分钟/题）
16:00-20:00：检查（词数/拼写/多选数量）
关键节点：
8:00 → 应已完成第5-6题
13:00 → 应已完成第11-12题
16:00 → 开始检查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时间感知培养：每次计时练习记录各阶段时间——10次后形成自然节奏</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时间节点：第8分钟未完成6题→节奏偏慢→加速（先猜难题）</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考场时间危机处理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场景：剩12分钟，Passage 3还有10道题
紧急四步策略：
Step1（1分钟）：快速Skim——只读每段首句
Step2（8分钟）：优先做信息定位/填空/T/F/NG
Step3（2分钟）：标题匹配/推断题全猜B
Step4（1分钟）：所有空白统一填C</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原则：选择性做题&gt;乱猜&gt;全空白。全空白=0分，猜有25%概率得分</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速读全流程高分示范：Passage 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题目：Passage 1 (700词，13题)，给你20分钟：
分钟0-3：Skimming建立地图
→ 标题："Urban Gardening Movement"
→ P1首句："Urban gardening has grown significantly in the past decade."
→ P2首句："There are several key benefits..."
→ P3首句："However, challenges remain..."
→ P4首句："Governments are increasingly supporting..."
→ P5首句："The future of urban gardening looks promising."
段落地图：P1=介绍 P2=好处 P3=挑战 P4=政府支持 P5=前景</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分钟3-16：做题（13题，13分钟）
→ Q1-4（填空）：Scanning定位→P1/P2精读→填词检查词数
→ Q5-9（T/F/NG）：用关键词逐题Scan→精读→判断
→ Q10-13（MCQ）：定位段落→精读→对照选项→选同义替换
分钟16-20：检查
→ 检查填词词数+拼写
→ 检查T/F/NG：确认NOT GIVEN不是False
→ 未完成的→猜（不留空白）</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Skimming 3分钟→段落地图建立→做题定位快2倍</a:t>
            </a:r>
          </a:p>
          <a:p>
            <a:pPr>
              <a:spcBef>
                <a:spcPts val="700"/>
              </a:spcBef>
            </a:pPr>
            <a:r>
              <a:rPr sz="1200">
                <a:solidFill>
                  <a:srgbClr val="1E293B"/>
                </a:solidFill>
              </a:rPr>
              <a:t>▸ 题型顺序：信息定位题最快→T/F/NG→MCQ（从快到慢）</a:t>
            </a:r>
          </a:p>
          <a:p>
            <a:pPr>
              <a:spcBef>
                <a:spcPts val="700"/>
              </a:spcBef>
            </a:pPr>
            <a:r>
              <a:rPr sz="1200">
                <a:solidFill>
                  <a:srgbClr val="1E293B"/>
                </a:solidFill>
              </a:rPr>
              <a:t>▸ 最后4分钟专门检查——这4分钟可能找回2-3分</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速读关键技术：Skimming vs Scanning</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题目：Skimming和Scanning的核心区别：
Skimming（浏览）：
- 目的：了解文章整体结构和大意
- 时间：做题前3-4分钟
- 读什么：标题+每段首句+尾段
- 结果：建立"段落话题地图"
Scanning（扫读）：
- 目的：找特定信息/答案位置
- 时间：做每道题时5-10秒
- 搜索：目标词（专有名词/数字）
- 结果：精确定位到相关句子</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常见混淆：
混淆1："Skimming时候每段都要读很多"→ 不对！只读首句（30秒/段）
混淆2："Scanning就是找到词填答案"→ 不对！Scan找到词→还需精读
混淆3："两种方法二选一"→ 不对！两种方法配合使用——效率最高
黄金公式：Skimming（建地图）+ Scanning（定位）+ 精读（理解）= IELTS高分阅读</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三速结合：Skim建图→Scan定位→精读理解——缺一不可</a:t>
            </a:r>
          </a:p>
          <a:p>
            <a:pPr>
              <a:spcBef>
                <a:spcPts val="700"/>
              </a:spcBef>
            </a:pPr>
            <a:r>
              <a:rPr sz="1200">
                <a:solidFill>
                  <a:srgbClr val="1E293B"/>
                </a:solidFill>
              </a:rPr>
              <a:t>▸ Skimming目的：做题前"知道去哪里找"——不是为了理解所有内容</a:t>
            </a:r>
          </a:p>
          <a:p>
            <a:pPr>
              <a:spcBef>
                <a:spcPts val="700"/>
              </a:spcBef>
            </a:pPr>
            <a:r>
              <a:rPr sz="1200">
                <a:solidFill>
                  <a:srgbClr val="1E293B"/>
                </a:solidFill>
              </a:rPr>
              <a:t>▸ Scanning目的：做题时"快速找到答案位置"——不是读懂文章</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Skimming vs Scanning vs 精读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Skimming（浏览）</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Scanning（扫读）+ 精读</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目的：了解文章结构和大意</a:t>
            </a:r>
          </a:p>
          <a:p>
            <a:pPr>
              <a:spcBef>
                <a:spcPts val="700"/>
              </a:spcBef>
            </a:pPr>
            <a:r>
              <a:rPr sz="1350">
                <a:solidFill>
                  <a:srgbClr val="C02A2A"/>
                </a:solidFill>
              </a:rPr>
              <a:t>✗ 何时：做题前3-4分钟</a:t>
            </a:r>
          </a:p>
          <a:p>
            <a:pPr>
              <a:spcBef>
                <a:spcPts val="700"/>
              </a:spcBef>
            </a:pPr>
            <a:r>
              <a:rPr sz="1350">
                <a:solidFill>
                  <a:srgbClr val="C02A2A"/>
                </a:solidFill>
              </a:rPr>
              <a:t>✗ 读什么：标题/首句/尾段</a:t>
            </a:r>
          </a:p>
          <a:p>
            <a:pPr>
              <a:spcBef>
                <a:spcPts val="700"/>
              </a:spcBef>
            </a:pPr>
            <a:r>
              <a:rPr sz="1350">
                <a:solidFill>
                  <a:srgbClr val="C02A2A"/>
                </a:solidFill>
              </a:rPr>
              <a:t>✗ 速度：最快——全文3分钟</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Scanning：找特定信息位置</a:t>
            </a:r>
          </a:p>
          <a:p>
            <a:pPr>
              <a:spcBef>
                <a:spcPts val="700"/>
              </a:spcBef>
            </a:pPr>
            <a:r>
              <a:rPr sz="1350">
                <a:solidFill>
                  <a:srgbClr val="1B7A3D"/>
                </a:solidFill>
              </a:rPr>
              <a:t>✓ 何时：做每题时扫读5-10秒</a:t>
            </a:r>
          </a:p>
          <a:p>
            <a:pPr>
              <a:spcBef>
                <a:spcPts val="700"/>
              </a:spcBef>
            </a:pPr>
            <a:r>
              <a:rPr sz="1350">
                <a:solidFill>
                  <a:srgbClr val="1B7A3D"/>
                </a:solidFill>
              </a:rPr>
              <a:t>✓ 精读：定位后理解答案句</a:t>
            </a:r>
          </a:p>
          <a:p>
            <a:pPr>
              <a:spcBef>
                <a:spcPts val="700"/>
              </a:spcBef>
            </a:pPr>
            <a:r>
              <a:rPr sz="1350">
                <a:solidFill>
                  <a:srgbClr val="1B7A3D"/>
                </a:solidFill>
              </a:rPr>
              <a:t>✓ 速度：Scan最快，精读正常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时间分配：高分策略 vs 低分陷阱</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高分时间策略</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低分时间陷阱</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先Skim建立地图（3-4分钟）</a:t>
            </a:r>
          </a:p>
          <a:p>
            <a:pPr>
              <a:spcBef>
                <a:spcPts val="700"/>
              </a:spcBef>
            </a:pPr>
            <a:r>
              <a:rPr sz="1350">
                <a:solidFill>
                  <a:srgbClr val="C02A2A"/>
                </a:solidFill>
              </a:rPr>
              <a:t>✗ 按题型顺序做——信息定位最先</a:t>
            </a:r>
          </a:p>
          <a:p>
            <a:pPr>
              <a:spcBef>
                <a:spcPts val="700"/>
              </a:spcBef>
            </a:pPr>
            <a:r>
              <a:rPr sz="1350">
                <a:solidFill>
                  <a:srgbClr val="C02A2A"/>
                </a:solidFill>
              </a:rPr>
              <a:t>✗ 超时先猜标记，不死磕一题</a:t>
            </a:r>
          </a:p>
          <a:p>
            <a:pPr>
              <a:spcBef>
                <a:spcPts val="700"/>
              </a:spcBef>
            </a:pPr>
            <a:r>
              <a:rPr sz="1350">
                <a:solidFill>
                  <a:srgbClr val="C02A2A"/>
                </a:solidFill>
              </a:rPr>
              <a:t>✗ 最后5分钟检查关键：词数/拼写</a:t>
            </a:r>
          </a:p>
          <a:p>
            <a:pPr>
              <a:spcBef>
                <a:spcPts val="700"/>
              </a:spcBef>
            </a:pPr>
            <a:r>
              <a:rPr sz="1350">
                <a:solidFill>
                  <a:srgbClr val="C02A2A"/>
                </a:solidFill>
              </a:rPr>
              <a:t>✗ 所有空格有答案——不留空白</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不Skim直接做题——定位耗时</a:t>
            </a:r>
          </a:p>
          <a:p>
            <a:pPr>
              <a:spcBef>
                <a:spcPts val="700"/>
              </a:spcBef>
            </a:pPr>
            <a:r>
              <a:rPr sz="1350">
                <a:solidFill>
                  <a:srgbClr val="1B7A3D"/>
                </a:solidFill>
              </a:rPr>
              <a:t>✓ 遇到难题死磕——影响后面题目</a:t>
            </a:r>
          </a:p>
          <a:p>
            <a:pPr>
              <a:spcBef>
                <a:spcPts val="700"/>
              </a:spcBef>
            </a:pPr>
            <a:r>
              <a:rPr sz="1350">
                <a:solidFill>
                  <a:srgbClr val="1B7A3D"/>
                </a:solidFill>
              </a:rPr>
              <a:t>✓ 忽略检查——失去可挽回的分</a:t>
            </a:r>
          </a:p>
          <a:p>
            <a:pPr>
              <a:spcBef>
                <a:spcPts val="700"/>
              </a:spcBef>
            </a:pPr>
            <a:r>
              <a:rPr sz="1350">
                <a:solidFill>
                  <a:srgbClr val="1B7A3D"/>
                </a:solidFill>
              </a:rPr>
              <a:t>✓ 时间快到时慌乱——影响判断</a:t>
            </a:r>
          </a:p>
          <a:p>
            <a:pPr>
              <a:spcBef>
                <a:spcPts val="700"/>
              </a:spcBef>
            </a:pPr>
            <a:r>
              <a:rPr sz="1350">
                <a:solidFill>
                  <a:srgbClr val="1B7A3D"/>
                </a:solidFill>
              </a:rPr>
              <a:t>✓ 留空白——白白放弃得分机会</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IELTS阅读60分钟全局作战计划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92607"/>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进场（0分钟）</a:t>
            </a:r>
          </a:p>
        </p:txBody>
      </p:sp>
      <p:sp>
        <p:nvSpPr>
          <p:cNvPr id="12" name="TextBox 11"/>
          <p:cNvSpPr txBox="1"/>
          <p:nvPr/>
        </p:nvSpPr>
        <p:spPr>
          <a:xfrm>
            <a:off x="1417320" y="1645919"/>
            <a:ext cx="10058400" cy="585215"/>
          </a:xfrm>
          <a:prstGeom prst="rect">
            <a:avLst/>
          </a:prstGeom>
          <a:noFill/>
        </p:spPr>
        <p:txBody>
          <a:bodyPr wrap="square" anchor="t">
            <a:spAutoFit/>
          </a:bodyPr>
          <a:lstStyle/>
          <a:p>
            <a:pPr algn="l"/>
            <a:r>
              <a:rPr sz="1350" b="0" i="0">
                <a:solidFill>
                  <a:srgbClr val="556075"/>
                </a:solidFill>
                <a:latin typeface="Calibri"/>
              </a:rPr>
              <a:t>浏览3篇标题→判断难易顺序→从最简单开始</a:t>
            </a:r>
          </a:p>
        </p:txBody>
      </p:sp>
      <p:sp>
        <p:nvSpPr>
          <p:cNvPr id="13" name="Rounded Rectangle 12"/>
          <p:cNvSpPr/>
          <p:nvPr/>
        </p:nvSpPr>
        <p:spPr>
          <a:xfrm>
            <a:off x="548640" y="2231135"/>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85999"/>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889503"/>
            <a:ext cx="45720" cy="292607"/>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231135"/>
            <a:ext cx="10058400" cy="411480"/>
          </a:xfrm>
          <a:prstGeom prst="rect">
            <a:avLst/>
          </a:prstGeom>
          <a:noFill/>
        </p:spPr>
        <p:txBody>
          <a:bodyPr wrap="square" anchor="t">
            <a:spAutoFit/>
          </a:bodyPr>
          <a:lstStyle/>
          <a:p>
            <a:pPr algn="l"/>
            <a:r>
              <a:rPr sz="1600" b="1" i="0">
                <a:solidFill>
                  <a:srgbClr val="1B5E33"/>
                </a:solidFill>
                <a:latin typeface="Calibri"/>
              </a:rPr>
              <a:t>Passage 1（1-20分钟）</a:t>
            </a:r>
          </a:p>
        </p:txBody>
      </p:sp>
      <p:sp>
        <p:nvSpPr>
          <p:cNvPr id="17" name="TextBox 16"/>
          <p:cNvSpPr txBox="1"/>
          <p:nvPr/>
        </p:nvSpPr>
        <p:spPr>
          <a:xfrm>
            <a:off x="1417320" y="2596895"/>
            <a:ext cx="10058400" cy="585215"/>
          </a:xfrm>
          <a:prstGeom prst="rect">
            <a:avLst/>
          </a:prstGeom>
          <a:noFill/>
        </p:spPr>
        <p:txBody>
          <a:bodyPr wrap="square" anchor="t">
            <a:spAutoFit/>
          </a:bodyPr>
          <a:lstStyle/>
          <a:p>
            <a:pPr algn="l"/>
            <a:r>
              <a:rPr sz="1350" b="0" i="0">
                <a:solidFill>
                  <a:srgbClr val="556075"/>
                </a:solidFill>
                <a:latin typeface="Calibri"/>
              </a:rPr>
              <a:t>3分钟Skim→14分钟做题→3分钟检查</a:t>
            </a:r>
          </a:p>
        </p:txBody>
      </p:sp>
      <p:sp>
        <p:nvSpPr>
          <p:cNvPr id="18" name="Rounded Rectangle 17"/>
          <p:cNvSpPr/>
          <p:nvPr/>
        </p:nvSpPr>
        <p:spPr>
          <a:xfrm>
            <a:off x="548640" y="3182111"/>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36975"/>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840479"/>
            <a:ext cx="45720" cy="292607"/>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182111"/>
            <a:ext cx="10058400" cy="411480"/>
          </a:xfrm>
          <a:prstGeom prst="rect">
            <a:avLst/>
          </a:prstGeom>
          <a:noFill/>
        </p:spPr>
        <p:txBody>
          <a:bodyPr wrap="square" anchor="t">
            <a:spAutoFit/>
          </a:bodyPr>
          <a:lstStyle/>
          <a:p>
            <a:pPr algn="l"/>
            <a:r>
              <a:rPr sz="1600" b="1" i="0">
                <a:solidFill>
                  <a:srgbClr val="1B5E33"/>
                </a:solidFill>
                <a:latin typeface="Calibri"/>
              </a:rPr>
              <a:t>Passage 2（21-40分钟）</a:t>
            </a:r>
          </a:p>
        </p:txBody>
      </p:sp>
      <p:sp>
        <p:nvSpPr>
          <p:cNvPr id="22" name="TextBox 21"/>
          <p:cNvSpPr txBox="1"/>
          <p:nvPr/>
        </p:nvSpPr>
        <p:spPr>
          <a:xfrm>
            <a:off x="1417320" y="3547871"/>
            <a:ext cx="10058400" cy="585215"/>
          </a:xfrm>
          <a:prstGeom prst="rect">
            <a:avLst/>
          </a:prstGeom>
          <a:noFill/>
        </p:spPr>
        <p:txBody>
          <a:bodyPr wrap="square" anchor="t">
            <a:spAutoFit/>
          </a:bodyPr>
          <a:lstStyle/>
          <a:p>
            <a:pPr algn="l"/>
            <a:r>
              <a:rPr sz="1350" b="0" i="0">
                <a:solidFill>
                  <a:srgbClr val="556075"/>
                </a:solidFill>
                <a:latin typeface="Calibri"/>
              </a:rPr>
              <a:t>3分钟Skim→15分钟做题→2分钟检查</a:t>
            </a:r>
          </a:p>
        </p:txBody>
      </p:sp>
      <p:sp>
        <p:nvSpPr>
          <p:cNvPr id="23" name="Rounded Rectangle 22"/>
          <p:cNvSpPr/>
          <p:nvPr/>
        </p:nvSpPr>
        <p:spPr>
          <a:xfrm>
            <a:off x="548640" y="4133087"/>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87951"/>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791455"/>
            <a:ext cx="45720" cy="292607"/>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133087"/>
            <a:ext cx="10058400" cy="411480"/>
          </a:xfrm>
          <a:prstGeom prst="rect">
            <a:avLst/>
          </a:prstGeom>
          <a:noFill/>
        </p:spPr>
        <p:txBody>
          <a:bodyPr wrap="square" anchor="t">
            <a:spAutoFit/>
          </a:bodyPr>
          <a:lstStyle/>
          <a:p>
            <a:pPr algn="l"/>
            <a:r>
              <a:rPr sz="1600" b="1" i="0">
                <a:solidFill>
                  <a:srgbClr val="1B5E33"/>
                </a:solidFill>
                <a:latin typeface="Calibri"/>
              </a:rPr>
              <a:t>Passage 3（41-58分钟）</a:t>
            </a:r>
          </a:p>
        </p:txBody>
      </p:sp>
      <p:sp>
        <p:nvSpPr>
          <p:cNvPr id="27" name="TextBox 26"/>
          <p:cNvSpPr txBox="1"/>
          <p:nvPr/>
        </p:nvSpPr>
        <p:spPr>
          <a:xfrm>
            <a:off x="1417320" y="4498848"/>
            <a:ext cx="10058400" cy="585215"/>
          </a:xfrm>
          <a:prstGeom prst="rect">
            <a:avLst/>
          </a:prstGeom>
          <a:noFill/>
        </p:spPr>
        <p:txBody>
          <a:bodyPr wrap="square" anchor="t">
            <a:spAutoFit/>
          </a:bodyPr>
          <a:lstStyle/>
          <a:p>
            <a:pPr algn="l"/>
            <a:r>
              <a:rPr sz="1350" b="0" i="0">
                <a:solidFill>
                  <a:srgbClr val="556075"/>
                </a:solidFill>
                <a:latin typeface="Calibri"/>
              </a:rPr>
              <a:t>4分钟Skim→14分钟做题→0分钟检查</a:t>
            </a:r>
          </a:p>
        </p:txBody>
      </p:sp>
      <p:sp>
        <p:nvSpPr>
          <p:cNvPr id="28" name="Rounded Rectangle 27"/>
          <p:cNvSpPr/>
          <p:nvPr/>
        </p:nvSpPr>
        <p:spPr>
          <a:xfrm>
            <a:off x="548640" y="5084063"/>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38927"/>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TextBox 29"/>
          <p:cNvSpPr txBox="1"/>
          <p:nvPr/>
        </p:nvSpPr>
        <p:spPr>
          <a:xfrm>
            <a:off x="1417320" y="5084063"/>
            <a:ext cx="10058400" cy="411480"/>
          </a:xfrm>
          <a:prstGeom prst="rect">
            <a:avLst/>
          </a:prstGeom>
          <a:noFill/>
        </p:spPr>
        <p:txBody>
          <a:bodyPr wrap="square" anchor="t">
            <a:spAutoFit/>
          </a:bodyPr>
          <a:lstStyle/>
          <a:p>
            <a:pPr algn="l"/>
            <a:r>
              <a:rPr sz="1600" b="1" i="0">
                <a:solidFill>
                  <a:srgbClr val="1B5E33"/>
                </a:solidFill>
                <a:latin typeface="Calibri"/>
              </a:rPr>
              <a:t>最终检查（58-60分钟）</a:t>
            </a:r>
          </a:p>
        </p:txBody>
      </p:sp>
      <p:sp>
        <p:nvSpPr>
          <p:cNvPr id="31" name="TextBox 30"/>
          <p:cNvSpPr txBox="1"/>
          <p:nvPr/>
        </p:nvSpPr>
        <p:spPr>
          <a:xfrm>
            <a:off x="1417320" y="5449823"/>
            <a:ext cx="10058400" cy="585215"/>
          </a:xfrm>
          <a:prstGeom prst="rect">
            <a:avLst/>
          </a:prstGeom>
          <a:noFill/>
        </p:spPr>
        <p:txBody>
          <a:bodyPr wrap="square" anchor="t">
            <a:spAutoFit/>
          </a:bodyPr>
          <a:lstStyle/>
          <a:p>
            <a:pPr algn="l"/>
            <a:r>
              <a:rPr sz="1350" b="0" i="0">
                <a:solidFill>
                  <a:srgbClr val="556075"/>
                </a:solidFill>
                <a:latin typeface="Calibri"/>
              </a:rPr>
              <a:t>所有空白格填猜答案→检查多选数量→检查填词词数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单篇文章20分钟标准流程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第1步（3分钟）：Skimming</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读标题+副标题+每段首句+尾段→建段落地图</a:t>
            </a:r>
          </a:p>
        </p:txBody>
      </p:sp>
      <p:sp>
        <p:nvSpPr>
          <p:cNvPr id="13" name="Rounded Rectangle 12"/>
          <p:cNvSpPr/>
          <p:nvPr/>
        </p:nvSpPr>
        <p:spPr>
          <a:xfrm>
            <a:off x="548640" y="233172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1B5E33"/>
                </a:solidFill>
                <a:latin typeface="Calibri"/>
              </a:rPr>
              <a:t>第2步（1分钟）：读所有题目</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快速浏览所有题目→了解考查重点→确认顺序</a:t>
            </a:r>
          </a:p>
        </p:txBody>
      </p:sp>
      <p:sp>
        <p:nvSpPr>
          <p:cNvPr id="18" name="Rounded Rectangle 17"/>
          <p:cNvSpPr/>
          <p:nvPr/>
        </p:nvSpPr>
        <p:spPr>
          <a:xfrm>
            <a:off x="548640" y="33832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1B5E33"/>
                </a:solidFill>
                <a:latin typeface="Calibri"/>
              </a:rPr>
              <a:t>第3步（14分钟）：Scanning+做题</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逐题Scan定位→精读→答题→超时先猜继续</a:t>
            </a:r>
          </a:p>
        </p:txBody>
      </p:sp>
      <p:sp>
        <p:nvSpPr>
          <p:cNvPr id="23" name="Rounded Rectangle 22"/>
          <p:cNvSpPr/>
          <p:nvPr/>
        </p:nvSpPr>
        <p:spPr>
          <a:xfrm>
            <a:off x="548640" y="443484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1B5E33"/>
                </a:solidFill>
                <a:latin typeface="Calibri"/>
              </a:rPr>
              <a:t>第4步（2分钟）：检查</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填词：词数+拼写 / 多选：数量 / 空白：统一填猜</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当堂练习：Skimming计时挑战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用90秒Skim以下段落首句，然后回答问题</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段落首句集</a:t>
            </a:r>
          </a:p>
          <a:p>
            <a:pPr>
              <a:spcBef>
                <a:spcPts val="100"/>
              </a:spcBef>
            </a:pPr>
            <a:r>
              <a:rPr sz="1400">
                <a:solidFill>
                  <a:srgbClr val="556075"/>
                </a:solidFill>
              </a:rPr>
              <a:t>   P1:"Ocean plastic pollution has reached critical levels globally."
P2:"Plastic waste enters oceans primarily through river systems and coastal littering."
P3:"Marine life is severely affected, with millions of animals dying annually."
P4:"International agreements aim to reduce plastic production and improve waste management."
P5:"Some innovative technologies offer hope for cleaning up existing ocean plastic."
【答案】话题：海洋塑料污染 P1=问题 P2=来源 P3=影响 P4=解决方案 P5=新技术</a:t>
            </a:r>
          </a:p>
          <a:p>
            <a:pPr>
              <a:spcBef>
                <a:spcPts val="1100"/>
              </a:spcBef>
            </a:pPr>
            <a:r>
              <a:rPr sz="1700" b="1">
                <a:solidFill>
                  <a:srgbClr val="1B5E33"/>
                </a:solidFill>
              </a:rPr>
              <a:t>▢ 速度测试结果</a:t>
            </a:r>
          </a:p>
          <a:p>
            <a:pPr>
              <a:spcBef>
                <a:spcPts val="100"/>
              </a:spcBef>
            </a:pPr>
            <a:r>
              <a:rPr sz="1400">
                <a:solidFill>
                  <a:srgbClr val="556075"/>
                </a:solidFill>
              </a:rPr>
              <a:t>   在90秒内完成？是/否
回答出5段话题？几个？
【答案】目标：90秒+5段话题全对 = Skimming合格
如果只做到3-4段：再练速度
如果全5段但用了3分钟：再练速度</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当堂练习：Scanning数字定位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用15秒在段落中找出所有数字和年份</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定位练习</a:t>
            </a:r>
          </a:p>
          <a:p>
            <a:pPr>
              <a:spcBef>
                <a:spcPts val="100"/>
              </a:spcBef>
            </a:pPr>
            <a:r>
              <a:rPr sz="1400">
                <a:solidFill>
                  <a:srgbClr val="556075"/>
                </a:solidFill>
              </a:rPr>
              <a:t>   段落："The Amazon rainforest, covering 5.5 million square kilometres, is home to approximately 10% of all species on Earth. Since 1970, about 17% of the forest has been destroyed, with deforestation rates peaking at 27,000 square kilometres per year in 2004 before declining."
【答案】数字：5.5 million / 10% / 1970 / 17% / 27,000 / 2004
全找对且在15秒内 = Scanning合格</a:t>
            </a:r>
          </a:p>
          <a:p>
            <a:pPr>
              <a:spcBef>
                <a:spcPts val="1100"/>
              </a:spcBef>
            </a:pPr>
            <a:r>
              <a:rPr sz="1700" b="1">
                <a:solidFill>
                  <a:srgbClr val="1B5E33"/>
                </a:solidFill>
              </a:rPr>
              <a:t>▢ 定位后精读</a:t>
            </a:r>
          </a:p>
          <a:p>
            <a:pPr>
              <a:spcBef>
                <a:spcPts val="100"/>
              </a:spcBef>
            </a:pPr>
            <a:r>
              <a:rPr sz="1400">
                <a:solidFill>
                  <a:srgbClr val="556075"/>
                </a:solidFill>
              </a:rPr>
              <a:t>   找到"27,000 square kilometres"后，精读这句话
题目：What was the peak annual deforestation rate?
【答案】答案：27,000 square kilometres（per year/in 2004）
关键：Scan定位数字→精读包含数字的完整句子→提取答案</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Skimming 5大要点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要点1：读首句不是读整段</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每段只读第一句——不要继续读第二句</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要点2：3分钟内完成</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5段文章约3分钟——每段首句约30秒</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要点3：建段落地图</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读完后脑中有"哪段讲什么"的地图</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要点4：不求完全理解</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不理解某句→跳过，继续——目的是建地图</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要点5：有目的地浏览</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带着"文章结构是什么"的问题读——不是随便翻</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Scanning 5大要点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要点1：选最好的目标词</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专有名词/数字/大写词——不用普通词扫读</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要点2：眼睛快速移动</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Z形或S形扫——眼睛搜索目标词的视觉特征</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要点3：找到后停下精读</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Scan定位→停下→精读含目标词的句子</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要点4：用顺序缩小范围</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上一道题在P2→这道题从P2开始往后Scan</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要点5：换词重扫</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第一个关键词没找到→换同义词/其他词重扫</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考场时间危机5大应急措施</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措施1：快速选题</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优先做信息定位/填空——这些题型定位快</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措施2：跳过标题匹配</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标题匹配最耗时——时间不够时统一猜</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措施3：30秒猜题</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每道不确定的题→看选项30秒→猜最有把握的</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措施4：统一猜空白</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最后30秒→所有空白格填同一个答案（B或C）</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措施5：不要慌乱</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时间少时心理冲击大——深呼吸，按优先级做</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速读提升30天训练计划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第1-10天：WPM基础</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每天读300词文章计时，记录WPM，减少回视</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第11-20天：Skimming训练</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每天3分钟Skim一篇文章，回答3个结构问题</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第21-30天：整合计时</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每天完整计时做一篇IELTS阅读（20分钟）</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持续监控</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每周记录WPM和做题准确率，跟踪进步曲线</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速读相关词汇：文章结构信号词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1B5E33"/>
                </a:solidFill>
                <a:latin typeface="Calibri"/>
              </a:rPr>
              <a:t>首段引入</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Introduction/Background/Overview/Context</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1B5E33"/>
                </a:solidFill>
                <a:latin typeface="Calibri"/>
              </a:rPr>
              <a:t>问题提出</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However/Nevertheless/Despite/Yet→转折</a:t>
            </a:r>
          </a:p>
        </p:txBody>
      </p:sp>
      <p:sp>
        <p:nvSpPr>
          <p:cNvPr id="20" name="Rectangle 19"/>
          <p:cNvSpPr/>
          <p:nvPr/>
        </p:nvSpPr>
        <p:spPr>
          <a:xfrm>
            <a:off x="548640" y="28346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1B5E33"/>
                </a:solidFill>
                <a:latin typeface="Calibri"/>
              </a:rPr>
              <a:t>原因解释</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because/due to/owing to/as a result of</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1B5E33"/>
                </a:solidFill>
                <a:latin typeface="Calibri"/>
              </a:rPr>
              <a:t>举例支撑</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for example/such as/for instance/including</a:t>
            </a:r>
          </a:p>
        </p:txBody>
      </p:sp>
      <p:sp>
        <p:nvSpPr>
          <p:cNvPr id="28" name="Rectangle 27"/>
          <p:cNvSpPr/>
          <p:nvPr/>
        </p:nvSpPr>
        <p:spPr>
          <a:xfrm>
            <a:off x="548640" y="39014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1B5E33"/>
                </a:solidFill>
                <a:latin typeface="Calibri"/>
              </a:rPr>
              <a:t>总结对比</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In conclusion/Overall/To summarise/In contrast</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1B5E33"/>
                </a:solidFill>
                <a:latin typeface="Calibri"/>
              </a:rPr>
              <a:t>结果影响</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lead to/result in/cause/bring about/trigger</a:t>
            </a:r>
          </a:p>
        </p:txBody>
      </p:sp>
      <p:sp>
        <p:nvSpPr>
          <p:cNvPr id="36" name="Rectangle 35"/>
          <p:cNvSpPr/>
          <p:nvPr/>
        </p:nvSpPr>
        <p:spPr>
          <a:xfrm>
            <a:off x="548640" y="49682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1B5E33"/>
                </a:solidFill>
                <a:latin typeface="Calibri"/>
              </a:rPr>
              <a:t>时间顺序</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initially/subsequently/eventually/meanwhile</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1B5E33"/>
                </a:solidFill>
                <a:latin typeface="Calibri"/>
              </a:rPr>
              <a:t>强调重点</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importantly/significantly/crucially/notably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扫读高价值目标词识别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1B5E33"/>
                </a:solidFill>
                <a:latin typeface="Calibri"/>
              </a:rPr>
              <a:t>最优先：专有名词</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人名/地名/组织名——大写字母，视觉突出</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1B5E33"/>
                </a:solidFill>
                <a:latin typeface="Calibri"/>
              </a:rPr>
              <a:t>很优先：年份</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1900/2023/the 1990s——数字格式，容易识别</a:t>
            </a:r>
          </a:p>
        </p:txBody>
      </p:sp>
      <p:sp>
        <p:nvSpPr>
          <p:cNvPr id="20" name="Rectangle 19"/>
          <p:cNvSpPr/>
          <p:nvPr/>
        </p:nvSpPr>
        <p:spPr>
          <a:xfrm>
            <a:off x="548640" y="28346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1B5E33"/>
                </a:solidFill>
                <a:latin typeface="Calibri"/>
              </a:rPr>
              <a:t>优先：百分比</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50%/three-quarters/half——量化信息，定位精准</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1B5E33"/>
                </a:solidFill>
                <a:latin typeface="Calibri"/>
              </a:rPr>
              <a:t>较好：货币</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$100 billion/£50 million——有货币符号</a:t>
            </a:r>
          </a:p>
        </p:txBody>
      </p:sp>
      <p:sp>
        <p:nvSpPr>
          <p:cNvPr id="28" name="Rectangle 27"/>
          <p:cNvSpPr/>
          <p:nvPr/>
        </p:nvSpPr>
        <p:spPr>
          <a:xfrm>
            <a:off x="548640" y="39014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1B5E33"/>
                </a:solidFill>
                <a:latin typeface="Calibri"/>
              </a:rPr>
              <a:t>较好：专业词</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Photosynthesis/GDP/DNA——固定写法</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1B5E33"/>
                </a:solidFill>
                <a:latin typeface="Calibri"/>
              </a:rPr>
              <a:t>注意：数量词</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millions of/hundreds/dozens——需配合上下文</a:t>
            </a:r>
          </a:p>
        </p:txBody>
      </p:sp>
      <p:sp>
        <p:nvSpPr>
          <p:cNvPr id="36" name="Rectangle 35"/>
          <p:cNvSpPr/>
          <p:nvPr/>
        </p:nvSpPr>
        <p:spPr>
          <a:xfrm>
            <a:off x="548640" y="4968240"/>
            <a:ext cx="493776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1B5E33"/>
                </a:solidFill>
                <a:latin typeface="Calibri"/>
              </a:rPr>
              <a:t>避免：普通动词</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is/has/can/will——全文高频，无法定位</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1B5E33"/>
                </a:solidFill>
                <a:latin typeface="Calibri"/>
              </a:rPr>
              <a:t>避免：冠词</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the/a/an——同上，无定位价值</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速读备考：6.0→7.0提分路径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6.0→6.5（前4周）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每天WPM计时练习（目标150→180）</a:t>
            </a:r>
          </a:p>
          <a:p>
            <a:pPr>
              <a:spcBef>
                <a:spcPts val="700"/>
              </a:spcBef>
            </a:pPr>
            <a:r>
              <a:rPr sz="1450">
                <a:solidFill>
                  <a:srgbClr val="1E293B"/>
                </a:solidFill>
              </a:rPr>
              <a:t>• 重点：Skimming建立段落地图习惯</a:t>
            </a:r>
          </a:p>
          <a:p>
            <a:pPr>
              <a:spcBef>
                <a:spcPts val="700"/>
              </a:spcBef>
            </a:pPr>
            <a:r>
              <a:rPr sz="1450">
                <a:solidFill>
                  <a:srgbClr val="1E293B"/>
                </a:solidFill>
              </a:rPr>
              <a:t>• 每周做1套完整阅读（60分钟计时）</a:t>
            </a:r>
          </a:p>
          <a:p>
            <a:pPr>
              <a:spcBef>
                <a:spcPts val="700"/>
              </a:spcBef>
            </a:pPr>
            <a:r>
              <a:rPr sz="1450">
                <a:solidFill>
                  <a:srgbClr val="1E293B"/>
                </a:solidFill>
              </a:rPr>
              <a:t>• 重点：时间管理——不超时一道题</a:t>
            </a:r>
          </a:p>
          <a:p>
            <a:pPr>
              <a:spcBef>
                <a:spcPts val="700"/>
              </a:spcBef>
            </a:pPr>
            <a:r>
              <a:rPr sz="1450">
                <a:solidFill>
                  <a:srgbClr val="1E293B"/>
                </a:solidFill>
              </a:rPr>
              <a:t>• 目标：完成率90%→100%（不再留空白）</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6.5→7.0（后4周）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每天WPM计时（目标180→220）</a:t>
            </a:r>
          </a:p>
          <a:p>
            <a:pPr>
              <a:spcBef>
                <a:spcPts val="700"/>
              </a:spcBef>
            </a:pPr>
            <a:r>
              <a:rPr sz="1450">
                <a:solidFill>
                  <a:srgbClr val="1E293B"/>
                </a:solidFill>
              </a:rPr>
              <a:t>• 重点：Scanning速度训练（10秒定位）</a:t>
            </a:r>
          </a:p>
          <a:p>
            <a:pPr>
              <a:spcBef>
                <a:spcPts val="700"/>
              </a:spcBef>
            </a:pPr>
            <a:r>
              <a:rPr sz="1450">
                <a:solidFill>
                  <a:srgbClr val="1E293B"/>
                </a:solidFill>
              </a:rPr>
              <a:t>• 每周做2套完整阅读+时间分析</a:t>
            </a:r>
          </a:p>
          <a:p>
            <a:pPr>
              <a:spcBef>
                <a:spcPts val="700"/>
              </a:spcBef>
            </a:pPr>
            <a:r>
              <a:rPr sz="1450">
                <a:solidFill>
                  <a:srgbClr val="1E293B"/>
                </a:solidFill>
              </a:rPr>
              <a:t>• 重点：难题快速猜题，不影响全局</a:t>
            </a:r>
          </a:p>
          <a:p>
            <a:pPr>
              <a:spcBef>
                <a:spcPts val="700"/>
              </a:spcBef>
            </a:pPr>
            <a:r>
              <a:rPr sz="1450">
                <a:solidFill>
                  <a:srgbClr val="1E293B"/>
                </a:solidFill>
              </a:rPr>
              <a:t>• 目标：60分钟完成40题，准确率85%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深圳学生速读备考常见问题解答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问：我读得慢，做不完怎么办？</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答：速读是可训练的技能（非天赋）</a:t>
            </a:r>
          </a:p>
          <a:p>
            <a:pPr>
              <a:spcBef>
                <a:spcPts val="700"/>
              </a:spcBef>
            </a:pPr>
            <a:r>
              <a:rPr sz="1450">
                <a:solidFill>
                  <a:srgbClr val="1E293B"/>
                </a:solidFill>
              </a:rPr>
              <a:t>• 每天计时练习，WPM每周提升5-10</a:t>
            </a:r>
          </a:p>
          <a:p>
            <a:pPr>
              <a:spcBef>
                <a:spcPts val="700"/>
              </a:spcBef>
            </a:pPr>
            <a:r>
              <a:rPr sz="1450">
                <a:solidFill>
                  <a:srgbClr val="1E293B"/>
                </a:solidFill>
              </a:rPr>
              <a:t>• 同时：做不完时学会选择性做题</a:t>
            </a:r>
          </a:p>
          <a:p>
            <a:pPr>
              <a:spcBef>
                <a:spcPts val="700"/>
              </a:spcBef>
            </a:pPr>
            <a:r>
              <a:rPr sz="1450">
                <a:solidFill>
                  <a:srgbClr val="1E293B"/>
                </a:solidFill>
              </a:rPr>
              <a:t>• 信息定位/填空最快——优先做这些题型</a:t>
            </a:r>
          </a:p>
          <a:p>
            <a:pPr>
              <a:spcBef>
                <a:spcPts val="700"/>
              </a:spcBef>
            </a:pPr>
            <a:r>
              <a:rPr sz="1450">
                <a:solidFill>
                  <a:srgbClr val="1E293B"/>
                </a:solidFill>
              </a:rPr>
              <a:t>• 未做题：猜（不留空白）</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问：Skimming了还是不知道答案在哪？</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答：Skimming只建地图——不告诉你答案</a:t>
            </a:r>
          </a:p>
          <a:p>
            <a:pPr>
              <a:spcBef>
                <a:spcPts val="700"/>
              </a:spcBef>
            </a:pPr>
            <a:r>
              <a:rPr sz="1450">
                <a:solidFill>
                  <a:srgbClr val="1E293B"/>
                </a:solidFill>
              </a:rPr>
              <a:t>• 做题时用关键词Scan定位（5-10秒）</a:t>
            </a:r>
          </a:p>
          <a:p>
            <a:pPr>
              <a:spcBef>
                <a:spcPts val="700"/>
              </a:spcBef>
            </a:pPr>
            <a:r>
              <a:rPr sz="1450">
                <a:solidFill>
                  <a:srgbClr val="1E293B"/>
                </a:solidFill>
              </a:rPr>
              <a:t>• Scan到→精读包含关键词的句子</a:t>
            </a:r>
          </a:p>
          <a:p>
            <a:pPr>
              <a:spcBef>
                <a:spcPts val="700"/>
              </a:spcBef>
            </a:pPr>
            <a:r>
              <a:rPr sz="1450">
                <a:solidFill>
                  <a:srgbClr val="1E293B"/>
                </a:solidFill>
              </a:rPr>
              <a:t>• Scan失败→换同义词重扫→顺序原则</a:t>
            </a:r>
          </a:p>
          <a:p>
            <a:pPr>
              <a:spcBef>
                <a:spcPts val="700"/>
              </a:spcBef>
            </a:pPr>
            <a:r>
              <a:rPr sz="1450">
                <a:solidFill>
                  <a:srgbClr val="1E293B"/>
                </a:solidFill>
              </a:rPr>
              <a:t>• 定位是做题步骤，不是Skimming的功能</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Skimming建图 vs 直接做题：效率对比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Skimming后做题（推荐）</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Skim 3分钟建段落地图</a:t>
            </a:r>
          </a:p>
          <a:p>
            <a:pPr>
              <a:spcBef>
                <a:spcPts val="700"/>
              </a:spcBef>
            </a:pPr>
            <a:r>
              <a:rPr sz="1450">
                <a:solidFill>
                  <a:srgbClr val="1E293B"/>
                </a:solidFill>
              </a:rPr>
              <a:t>• 做题时Scan定位：5-10秒</a:t>
            </a:r>
          </a:p>
          <a:p>
            <a:pPr>
              <a:spcBef>
                <a:spcPts val="700"/>
              </a:spcBef>
            </a:pPr>
            <a:r>
              <a:rPr sz="1450">
                <a:solidFill>
                  <a:srgbClr val="1E293B"/>
                </a:solidFill>
              </a:rPr>
              <a:t>• 精读答案句：30-60秒</a:t>
            </a:r>
          </a:p>
          <a:p>
            <a:pPr>
              <a:spcBef>
                <a:spcPts val="700"/>
              </a:spcBef>
            </a:pPr>
            <a:r>
              <a:rPr sz="1450">
                <a:solidFill>
                  <a:srgbClr val="1E293B"/>
                </a:solidFill>
              </a:rPr>
              <a:t>• 总时间：Skim3分钟+做题约14分钟=17分钟</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不Skim直接做题（常见错误）</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做每题时先找那段讲什么：1-2分钟</a:t>
            </a:r>
          </a:p>
          <a:p>
            <a:pPr>
              <a:spcBef>
                <a:spcPts val="700"/>
              </a:spcBef>
            </a:pPr>
            <a:r>
              <a:rPr sz="1450">
                <a:solidFill>
                  <a:srgbClr val="1E293B"/>
                </a:solidFill>
              </a:rPr>
              <a:t>• 反复翻阅文章找答案位置</a:t>
            </a:r>
          </a:p>
          <a:p>
            <a:pPr>
              <a:spcBef>
                <a:spcPts val="700"/>
              </a:spcBef>
            </a:pPr>
            <a:r>
              <a:rPr sz="1450">
                <a:solidFill>
                  <a:srgbClr val="1E293B"/>
                </a:solidFill>
              </a:rPr>
              <a:t>• 容易在错误段落浪费时间</a:t>
            </a:r>
          </a:p>
          <a:p>
            <a:pPr>
              <a:spcBef>
                <a:spcPts val="700"/>
              </a:spcBef>
            </a:pPr>
            <a:r>
              <a:rPr sz="1450">
                <a:solidFill>
                  <a:srgbClr val="1E293B"/>
                </a:solidFill>
              </a:rPr>
              <a:t>• 总时间：通常超过20分钟+容易出错</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速读综合实战：深圳学生提升案例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提升前（Band 5.5）</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速度：120 WPM（太慢）</a:t>
            </a:r>
          </a:p>
          <a:p>
            <a:pPr>
              <a:spcBef>
                <a:spcPts val="700"/>
              </a:spcBef>
            </a:pPr>
            <a:r>
              <a:rPr sz="1450">
                <a:solidFill>
                  <a:srgbClr val="1E293B"/>
                </a:solidFill>
              </a:rPr>
              <a:t>• 不做Skimming，直接精读</a:t>
            </a:r>
          </a:p>
          <a:p>
            <a:pPr>
              <a:spcBef>
                <a:spcPts val="700"/>
              </a:spcBef>
            </a:pPr>
            <a:r>
              <a:rPr sz="1450">
                <a:solidFill>
                  <a:srgbClr val="1E293B"/>
                </a:solidFill>
              </a:rPr>
              <a:t>• 每题平均2分钟，常常做不完</a:t>
            </a:r>
          </a:p>
          <a:p>
            <a:pPr>
              <a:spcBef>
                <a:spcPts val="700"/>
              </a:spcBef>
            </a:pPr>
            <a:r>
              <a:rPr sz="1450">
                <a:solidFill>
                  <a:srgbClr val="1E293B"/>
                </a:solidFill>
              </a:rPr>
              <a:t>• 时间管理：最后10分钟慌乱</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提升后（Band 7.0）</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速度：220 WPM（提升83%）</a:t>
            </a:r>
          </a:p>
          <a:p>
            <a:pPr>
              <a:spcBef>
                <a:spcPts val="700"/>
              </a:spcBef>
            </a:pPr>
            <a:r>
              <a:rPr sz="1450">
                <a:solidFill>
                  <a:srgbClr val="1E293B"/>
                </a:solidFill>
              </a:rPr>
              <a:t>• 每篇3分钟Skimming建地图</a:t>
            </a:r>
          </a:p>
          <a:p>
            <a:pPr>
              <a:spcBef>
                <a:spcPts val="700"/>
              </a:spcBef>
            </a:pPr>
            <a:r>
              <a:rPr sz="1450">
                <a:solidFill>
                  <a:srgbClr val="1E293B"/>
                </a:solidFill>
              </a:rPr>
              <a:t>• 每题平均1.2分钟，全部完成</a:t>
            </a:r>
          </a:p>
          <a:p>
            <a:pPr>
              <a:spcBef>
                <a:spcPts val="700"/>
              </a:spcBef>
            </a:pPr>
            <a:r>
              <a:rPr sz="1450">
                <a:solidFill>
                  <a:srgbClr val="1E293B"/>
                </a:solidFill>
              </a:rPr>
              <a:t>• 时间管理：最后4分钟从容检查</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速读与其他技能的关系</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速读支撑其他题型</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支撑信息定位：Scan更快找到答案段</a:t>
            </a:r>
          </a:p>
          <a:p>
            <a:pPr>
              <a:spcBef>
                <a:spcPts val="700"/>
              </a:spcBef>
            </a:pPr>
            <a:r>
              <a:rPr sz="1450">
                <a:solidFill>
                  <a:srgbClr val="1E293B"/>
                </a:solidFill>
              </a:rPr>
              <a:t>• 支撑T/F/NG：地图知道答案在哪段</a:t>
            </a:r>
          </a:p>
          <a:p>
            <a:pPr>
              <a:spcBef>
                <a:spcPts val="700"/>
              </a:spcBef>
            </a:pPr>
            <a:r>
              <a:rPr sz="1450">
                <a:solidFill>
                  <a:srgbClr val="1E293B"/>
                </a:solidFill>
              </a:rPr>
              <a:t>• 支撑填空题：Scan数字/专有名词更快</a:t>
            </a:r>
          </a:p>
          <a:p>
            <a:pPr>
              <a:spcBef>
                <a:spcPts val="700"/>
              </a:spcBef>
            </a:pPr>
            <a:r>
              <a:rPr sz="1450">
                <a:solidFill>
                  <a:srgbClr val="1E293B"/>
                </a:solidFill>
              </a:rPr>
              <a:t>• 支撑标题匹配：Skim就是做标题匹配的过程</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速读需要其他技能配合</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需要词汇量：读懂首句才能建地图</a:t>
            </a:r>
          </a:p>
          <a:p>
            <a:pPr>
              <a:spcBef>
                <a:spcPts val="700"/>
              </a:spcBef>
            </a:pPr>
            <a:r>
              <a:rPr sz="1450">
                <a:solidFill>
                  <a:srgbClr val="1E293B"/>
                </a:solidFill>
              </a:rPr>
              <a:t>• 需要同义替换：Scan时识别替换词</a:t>
            </a:r>
          </a:p>
          <a:p>
            <a:pPr>
              <a:spcBef>
                <a:spcPts val="700"/>
              </a:spcBef>
            </a:pPr>
            <a:r>
              <a:rPr sz="1450">
                <a:solidFill>
                  <a:srgbClr val="1E293B"/>
                </a:solidFill>
              </a:rPr>
              <a:t>• 需要文章结构知识：知道信号词位置</a:t>
            </a:r>
          </a:p>
          <a:p>
            <a:pPr>
              <a:spcBef>
                <a:spcPts val="700"/>
              </a:spcBef>
            </a:pPr>
            <a:r>
              <a:rPr sz="1450">
                <a:solidFill>
                  <a:srgbClr val="1E293B"/>
                </a:solidFill>
              </a:rPr>
              <a:t>• 综合提升：速读+词汇+题型策略=高分</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L09学完自测：速读技巧掌握度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Skimming：能在3分钟内建立5段文章的段落话题地图</a:t>
            </a:r>
          </a:p>
          <a:p>
            <a:pPr>
              <a:spcBef>
                <a:spcPts val="1200"/>
              </a:spcBef>
            </a:pPr>
            <a:r>
              <a:rPr sz="1600">
                <a:solidFill>
                  <a:srgbClr val="1E293B"/>
                </a:solidFill>
              </a:rPr>
              <a:t>☐ Scanning：能在10秒内找到段落中的目标专有名词/数字</a:t>
            </a:r>
          </a:p>
          <a:p>
            <a:pPr>
              <a:spcBef>
                <a:spcPts val="1200"/>
              </a:spcBef>
            </a:pPr>
            <a:r>
              <a:rPr sz="1600">
                <a:solidFill>
                  <a:srgbClr val="1E293B"/>
                </a:solidFill>
              </a:rPr>
              <a:t>☐ 时间管理：每篇文章的时间分配是否合理（3min Skim+14min做题）</a:t>
            </a:r>
          </a:p>
          <a:p>
            <a:pPr>
              <a:spcBef>
                <a:spcPts val="1200"/>
              </a:spcBef>
            </a:pPr>
            <a:r>
              <a:rPr sz="1600">
                <a:solidFill>
                  <a:srgbClr val="1E293B"/>
                </a:solidFill>
              </a:rPr>
              <a:t>☐ 遇到难题/难词：不超过2分钟就先猜标记继续</a:t>
            </a:r>
          </a:p>
          <a:p>
            <a:pPr>
              <a:spcBef>
                <a:spcPts val="1200"/>
              </a:spcBef>
            </a:pPr>
            <a:r>
              <a:rPr sz="1600">
                <a:solidFill>
                  <a:srgbClr val="1E293B"/>
                </a:solidFill>
              </a:rPr>
              <a:t>☐ 会用三速组合：Skim建图→Scan定位→精读理解</a:t>
            </a:r>
          </a:p>
          <a:p>
            <a:pPr>
              <a:spcBef>
                <a:spcPts val="1200"/>
              </a:spcBef>
            </a:pPr>
            <a:r>
              <a:rPr sz="1600">
                <a:solidFill>
                  <a:srgbClr val="1E293B"/>
                </a:solidFill>
              </a:rPr>
              <a:t>☐ 考场策略：所有题都有答案（不留空白）</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L09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E09A10"/>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Skimming（浏览）在做题前：读标题+每段首句，建立段落地图（3-4分钟）</a:t>
            </a:r>
          </a:p>
          <a:p>
            <a:pPr>
              <a:spcBef>
                <a:spcPts val="1100"/>
              </a:spcBef>
            </a:pPr>
            <a:r>
              <a:rPr sz="1550">
                <a:solidFill>
                  <a:srgbClr val="FFFFFF"/>
                </a:solidFill>
              </a:rPr>
              <a:t>✓  Scanning（扫读）在做题时：用专有名词/数字快速定位段落（5-10秒）</a:t>
            </a:r>
          </a:p>
          <a:p>
            <a:pPr>
              <a:spcBef>
                <a:spcPts val="1100"/>
              </a:spcBef>
            </a:pPr>
            <a:r>
              <a:rPr sz="1550">
                <a:solidFill>
                  <a:srgbClr val="FFFFFF"/>
                </a:solidFill>
              </a:rPr>
              <a:t>✓  精读在定位后：精读答案句及上下文，理解意思（30-60秒）</a:t>
            </a:r>
          </a:p>
          <a:p>
            <a:pPr>
              <a:spcBef>
                <a:spcPts val="1100"/>
              </a:spcBef>
            </a:pPr>
            <a:r>
              <a:rPr sz="1550">
                <a:solidFill>
                  <a:srgbClr val="FFFFFF"/>
                </a:solidFill>
              </a:rPr>
              <a:t>✓  时间分配：每篇约20分钟，超时先猜，不死磕一题</a:t>
            </a:r>
          </a:p>
          <a:p>
            <a:pPr>
              <a:spcBef>
                <a:spcPts val="1100"/>
              </a:spcBef>
            </a:pPr>
            <a:r>
              <a:rPr sz="1550">
                <a:solidFill>
                  <a:srgbClr val="FFFFFF"/>
                </a:solidFill>
              </a:rPr>
              <a:t>✓  考场全局：所有题都填答案——不留空白，宁猜勿空</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L09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E09A10"/>
                </a:solidFill>
                <a:latin typeface="Calibri"/>
              </a:rPr>
              <a:t>⏱ 建议用时：约2小时</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每天计时读300词文章，记录WPM——目标本周提升10 WPM</a:t>
            </a:r>
          </a:p>
          <a:p>
            <a:pPr>
              <a:spcBef>
                <a:spcPts val="1300"/>
              </a:spcBef>
            </a:pPr>
            <a:r>
              <a:rPr sz="1550" b="1">
                <a:solidFill>
                  <a:srgbClr val="1E293B"/>
                </a:solidFill>
              </a:rPr>
              <a:t>作业 2　Cambridge IELTS真题：全真计时一套（60分钟），记录每篇时间分配</a:t>
            </a:r>
          </a:p>
          <a:p>
            <a:pPr>
              <a:spcBef>
                <a:spcPts val="1300"/>
              </a:spcBef>
            </a:pPr>
            <a:r>
              <a:rPr sz="1550" b="1">
                <a:solidFill>
                  <a:srgbClr val="1E293B"/>
                </a:solidFill>
              </a:rPr>
              <a:t>作业 3　练习：对每篇文章做3分钟Skimming，写出段落地图——做完再对照答案</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E09A10"/>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L10 · 全真模考：IELTS Reading Full Mock</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完整模拟考试流程</a:t>
            </a:r>
          </a:p>
          <a:p>
            <a:pPr>
              <a:spcBef>
                <a:spcPts val="1000"/>
              </a:spcBef>
            </a:pPr>
            <a:r>
              <a:rPr sz="1600">
                <a:solidFill>
                  <a:srgbClr val="CFDCF2"/>
                </a:solidFill>
              </a:rPr>
              <a:t>→ 三篇文章综合题型策略</a:t>
            </a:r>
          </a:p>
          <a:p>
            <a:pPr>
              <a:spcBef>
                <a:spcPts val="1000"/>
              </a:spcBef>
            </a:pPr>
            <a:r>
              <a:rPr sz="1600">
                <a:solidFill>
                  <a:srgbClr val="CFDCF2"/>
                </a:solidFill>
              </a:rPr>
              <a:t>→ Band 6/7/8目标提分路径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