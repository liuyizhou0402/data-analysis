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E09A10"/>
                </a:solidFill>
                <a:latin typeface="Calibri"/>
              </a:rPr>
              <a:t>L07</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E09A10"/>
                </a:solidFill>
                <a:latin typeface="Calibri"/>
              </a:rPr>
              <a:t>IELTS Reading 阅读</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摘要填空与句子完成
精准定位·同义替换·词形变换</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Summary Completion &amp; Sentence Endings</a:t>
            </a:r>
          </a:p>
        </p:txBody>
      </p:sp>
      <p:sp>
        <p:nvSpPr>
          <p:cNvPr id="10" name="Rounded Rectangle 9"/>
          <p:cNvSpPr/>
          <p:nvPr/>
        </p:nvSpPr>
        <p:spPr>
          <a:xfrm>
            <a:off x="777240" y="5669280"/>
            <a:ext cx="3840480" cy="54864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7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ounded Rectangle 6"/>
          <p:cNvSpPr/>
          <p:nvPr/>
        </p:nvSpPr>
        <p:spPr>
          <a:xfrm>
            <a:off x="54864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摘要填空题型解析</a:t>
            </a:r>
          </a:p>
        </p:txBody>
      </p:sp>
      <p:sp>
        <p:nvSpPr>
          <p:cNvPr id="10" name="Rounded Rectangle 9"/>
          <p:cNvSpPr/>
          <p:nvPr/>
        </p:nvSpPr>
        <p:spPr>
          <a:xfrm>
            <a:off x="54864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句子完成题型解析</a:t>
            </a:r>
          </a:p>
        </p:txBody>
      </p:sp>
      <p:sp>
        <p:nvSpPr>
          <p:cNvPr id="13" name="Rounded Rectangle 12"/>
          <p:cNvSpPr/>
          <p:nvPr/>
        </p:nvSpPr>
        <p:spPr>
          <a:xfrm>
            <a:off x="54864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关键词定位技术</a:t>
            </a:r>
          </a:p>
        </p:txBody>
      </p:sp>
      <p:sp>
        <p:nvSpPr>
          <p:cNvPr id="16" name="Rounded Rectangle 15"/>
          <p:cNvSpPr/>
          <p:nvPr/>
        </p:nvSpPr>
        <p:spPr>
          <a:xfrm>
            <a:off x="640080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同义替换与词形变换</a:t>
            </a:r>
          </a:p>
        </p:txBody>
      </p:sp>
      <p:sp>
        <p:nvSpPr>
          <p:cNvPr id="19" name="Rounded Rectangle 18"/>
          <p:cNvSpPr/>
          <p:nvPr/>
        </p:nvSpPr>
        <p:spPr>
          <a:xfrm>
            <a:off x="640080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综合实战演练</a:t>
            </a:r>
          </a:p>
        </p:txBody>
      </p:sp>
      <p:sp>
        <p:nvSpPr>
          <p:cNvPr id="22" name="Rounded Rectangle 21"/>
          <p:cNvSpPr/>
          <p:nvPr/>
        </p:nvSpPr>
        <p:spPr>
          <a:xfrm>
            <a:off x="640080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考场时间管理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摘要填空题型全貌</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Summary Completion: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摘要填空基本结构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Summary Completion Structure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题目形式</a:t>
            </a:r>
          </a:p>
          <a:p>
            <a:pPr>
              <a:spcBef>
                <a:spcPts val="100"/>
              </a:spcBef>
            </a:pPr>
            <a:r>
              <a:rPr sz="1500">
                <a:solidFill>
                  <a:srgbClr val="556075"/>
                </a:solidFill>
              </a:rPr>
              <a:t>   一段关于文章某部分的摘要——中间有空格需要填词</a:t>
            </a:r>
          </a:p>
          <a:p>
            <a:pPr>
              <a:spcBef>
                <a:spcPts val="900"/>
              </a:spcBef>
            </a:pPr>
            <a:r>
              <a:rPr sz="1800" b="1">
                <a:solidFill>
                  <a:srgbClr val="1B5E33"/>
                </a:solidFill>
              </a:rPr>
              <a:t>• 词数限制</a:t>
            </a:r>
          </a:p>
          <a:p>
            <a:pPr>
              <a:spcBef>
                <a:spcPts val="100"/>
              </a:spcBef>
            </a:pPr>
            <a:r>
              <a:rPr sz="1500">
                <a:solidFill>
                  <a:srgbClr val="556075"/>
                </a:solidFill>
              </a:rPr>
              <a:t>   NO MORE THAN TWO/THREE WORDS AND/OR A NUMBER</a:t>
            </a:r>
          </a:p>
          <a:p>
            <a:pPr>
              <a:spcBef>
                <a:spcPts val="900"/>
              </a:spcBef>
            </a:pPr>
            <a:r>
              <a:rPr sz="1800" b="1">
                <a:solidFill>
                  <a:srgbClr val="1B5E33"/>
                </a:solidFill>
              </a:rPr>
              <a:t>• 答案来源</a:t>
            </a:r>
          </a:p>
          <a:p>
            <a:pPr>
              <a:spcBef>
                <a:spcPts val="100"/>
              </a:spcBef>
            </a:pPr>
            <a:r>
              <a:rPr sz="1500">
                <a:solidFill>
                  <a:srgbClr val="556075"/>
                </a:solidFill>
              </a:rPr>
              <a:t>   所有答案都来自原文——用原文词，不用自己造词</a:t>
            </a:r>
          </a:p>
          <a:p>
            <a:pPr>
              <a:spcBef>
                <a:spcPts val="900"/>
              </a:spcBef>
            </a:pPr>
            <a:r>
              <a:rPr sz="1800" b="1">
                <a:solidFill>
                  <a:srgbClr val="1B5E33"/>
                </a:solidFill>
              </a:rPr>
              <a:t>• 考查能力</a:t>
            </a:r>
          </a:p>
          <a:p>
            <a:pPr>
              <a:spcBef>
                <a:spcPts val="100"/>
              </a:spcBef>
            </a:pPr>
            <a:r>
              <a:rPr sz="1500">
                <a:solidFill>
                  <a:srgbClr val="556075"/>
                </a:solidFill>
              </a:rPr>
              <a:t>   定位能力+同义替换识别+词形变换判断</a:t>
            </a:r>
          </a:p>
          <a:p>
            <a:pPr>
              <a:spcBef>
                <a:spcPts val="900"/>
              </a:spcBef>
            </a:pPr>
            <a:r>
              <a:rPr sz="1800" b="1">
                <a:solidFill>
                  <a:srgbClr val="1B5E33"/>
                </a:solidFill>
              </a:rPr>
              <a:t>• 评分规则</a:t>
            </a:r>
          </a:p>
          <a:p>
            <a:pPr>
              <a:spcBef>
                <a:spcPts val="100"/>
              </a:spcBef>
            </a:pPr>
            <a:r>
              <a:rPr sz="1500">
                <a:solidFill>
                  <a:srgbClr val="556075"/>
                </a:solidFill>
              </a:rPr>
              <a:t>   拼写必须正确；词数超过上限不给分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摘要填空两种形式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Two Formats of Summary Completion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从文章找词</a:t>
            </a:r>
          </a:p>
          <a:p>
            <a:pPr>
              <a:spcBef>
                <a:spcPts val="100"/>
              </a:spcBef>
            </a:pPr>
            <a:r>
              <a:rPr sz="1500">
                <a:solidFill>
                  <a:srgbClr val="556075"/>
                </a:solidFill>
              </a:rPr>
              <a:t>   答案是文章原词——直接抄写原文词</a:t>
            </a:r>
          </a:p>
          <a:p>
            <a:pPr>
              <a:spcBef>
                <a:spcPts val="900"/>
              </a:spcBef>
            </a:pPr>
            <a:r>
              <a:rPr sz="1800" b="1">
                <a:solidFill>
                  <a:srgbClr val="1B5E33"/>
                </a:solidFill>
              </a:rPr>
              <a:t>• 从选项选词</a:t>
            </a:r>
          </a:p>
          <a:p>
            <a:pPr>
              <a:spcBef>
                <a:spcPts val="100"/>
              </a:spcBef>
            </a:pPr>
            <a:r>
              <a:rPr sz="1500">
                <a:solidFill>
                  <a:srgbClr val="556075"/>
                </a:solidFill>
              </a:rPr>
              <a:t>   给出词语选项框（box）——选择正确的词填入</a:t>
            </a:r>
          </a:p>
          <a:p>
            <a:pPr>
              <a:spcBef>
                <a:spcPts val="900"/>
              </a:spcBef>
            </a:pPr>
            <a:r>
              <a:rPr sz="1800" b="1">
                <a:solidFill>
                  <a:srgbClr val="1B5E33"/>
                </a:solidFill>
              </a:rPr>
              <a:t>• 选项框特点</a:t>
            </a:r>
          </a:p>
          <a:p>
            <a:pPr>
              <a:spcBef>
                <a:spcPts val="100"/>
              </a:spcBef>
            </a:pPr>
            <a:r>
              <a:rPr sz="1500">
                <a:solidFill>
                  <a:srgbClr val="556075"/>
                </a:solidFill>
              </a:rPr>
              <a:t>   选项比空格多——有干扰选项需排除</a:t>
            </a:r>
          </a:p>
          <a:p>
            <a:pPr>
              <a:spcBef>
                <a:spcPts val="900"/>
              </a:spcBef>
            </a:pPr>
            <a:r>
              <a:rPr sz="1800" b="1">
                <a:solidFill>
                  <a:srgbClr val="1B5E33"/>
                </a:solidFill>
              </a:rPr>
              <a:t>• 难度差异</a:t>
            </a:r>
          </a:p>
          <a:p>
            <a:pPr>
              <a:spcBef>
                <a:spcPts val="100"/>
              </a:spcBef>
            </a:pPr>
            <a:r>
              <a:rPr sz="1500">
                <a:solidFill>
                  <a:srgbClr val="556075"/>
                </a:solidFill>
              </a:rPr>
              <a:t>   从文章找词更难——需要定位+同义替换</a:t>
            </a:r>
          </a:p>
          <a:p>
            <a:pPr>
              <a:spcBef>
                <a:spcPts val="900"/>
              </a:spcBef>
            </a:pPr>
            <a:r>
              <a:rPr sz="1800" b="1">
                <a:solidFill>
                  <a:srgbClr val="1B5E33"/>
                </a:solidFill>
              </a:rPr>
              <a:t>• 共同要求</a:t>
            </a:r>
          </a:p>
          <a:p>
            <a:pPr>
              <a:spcBef>
                <a:spcPts val="100"/>
              </a:spcBef>
            </a:pPr>
            <a:r>
              <a:rPr sz="1500">
                <a:solidFill>
                  <a:srgbClr val="556075"/>
                </a:solidFill>
              </a:rPr>
              <a:t>   两种形式都要求：词数限制+原文支撑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摘要填空定位策略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摘要填空定位方法：
1.读摘要，找关键词（名词/数字/专有名词）
2.这些关键词在原文同义替换——先定位段落
3.精读相关句，找答案词
4.填词时注意词性和词数限制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摘要填空常见错误</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错误1：填了意思对但拼写错误——全不得分
错误2：超过词数限制——填了3个词但规定2个
错误3：词形错误——原文是名词，应填形容词
错误4：没有回原文验证——从摘要猜词
避免：严格遵守词数，检查拼写，填原文词</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摘要填空定位示范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原文："Urban air pollution has worsened significantly over the past two decades, primarily due to increased vehicle emissions and industrial activity. Governments have responded by introducing stricter emission standards for both cars and factories."
摘要填空：
"City air quality has _____ in recent years, largely caused by more cars and _____. In response, authorities have set tighter _____ for vehicles and industry."</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空1："worsened"=has _____ → deteriorated（同义替换）→ 原文直接用"worsened" ✓
空2："industrial activity"→ factories/industry ✓
空3："stricter emission standards"=tighter _____→ emission standards ✓
全部答案来自原文，注意同义替换：City=Urban, authorities=Governments</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关键：摘要词≠原文词（同义替换），但答案词来自原文</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选项框型摘要填空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选项框：[A.regulations B.decline C.manufacturing D.increase E.guidelines F.output G.rise H.production]
摘要："City air quality has shown a _____(1) in recent years, largely caused by more cars and _____(2)."</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空1："deteriorated/worsened"=has shown a _____ → decline(B)或rise(G)？
原文"worsened"→变差→ decline ✓
空2："industrial activity"→ manufacturing(C)/production(H)/output(F)？
原文"industrial activity"最接近manufacturing(C) ✓
答案：空1=B, 空2=C</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选项框技巧：先排除明显不合适的词性/意思，再精读原文确认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句子完成题型全貌</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Sentence Endings: Overview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句子完成基本结构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Sentence Endings Structure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题目形式</a:t>
            </a:r>
          </a:p>
          <a:p>
            <a:pPr>
              <a:spcBef>
                <a:spcPts val="100"/>
              </a:spcBef>
            </a:pPr>
            <a:r>
              <a:rPr sz="1500">
                <a:solidFill>
                  <a:srgbClr val="556075"/>
                </a:solidFill>
              </a:rPr>
              <a:t>   给出句子开头——选择正确的句子结尾（从A-H等选项中选）</a:t>
            </a:r>
          </a:p>
          <a:p>
            <a:pPr>
              <a:spcBef>
                <a:spcPts val="900"/>
              </a:spcBef>
            </a:pPr>
            <a:r>
              <a:rPr sz="1800" b="1">
                <a:solidFill>
                  <a:srgbClr val="1B5E33"/>
                </a:solidFill>
              </a:rPr>
              <a:t>• 题目数量</a:t>
            </a:r>
          </a:p>
          <a:p>
            <a:pPr>
              <a:spcBef>
                <a:spcPts val="100"/>
              </a:spcBef>
            </a:pPr>
            <a:r>
              <a:rPr sz="1500">
                <a:solidFill>
                  <a:srgbClr val="556075"/>
                </a:solidFill>
              </a:rPr>
              <a:t>   通常5-8个句子填写</a:t>
            </a:r>
          </a:p>
          <a:p>
            <a:pPr>
              <a:spcBef>
                <a:spcPts val="900"/>
              </a:spcBef>
            </a:pPr>
            <a:r>
              <a:rPr sz="1800" b="1">
                <a:solidFill>
                  <a:srgbClr val="1B5E33"/>
                </a:solidFill>
              </a:rPr>
              <a:t>• 答案来源</a:t>
            </a:r>
          </a:p>
          <a:p>
            <a:pPr>
              <a:spcBef>
                <a:spcPts val="100"/>
              </a:spcBef>
            </a:pPr>
            <a:r>
              <a:rPr sz="1500">
                <a:solidFill>
                  <a:srgbClr val="556075"/>
                </a:solidFill>
              </a:rPr>
              <a:t>   答案选项是原文信息的改写——需要同义替换识别</a:t>
            </a:r>
          </a:p>
          <a:p>
            <a:pPr>
              <a:spcBef>
                <a:spcPts val="900"/>
              </a:spcBef>
            </a:pPr>
            <a:r>
              <a:rPr sz="1800" b="1">
                <a:solidFill>
                  <a:srgbClr val="1B5E33"/>
                </a:solidFill>
              </a:rPr>
              <a:t>• 关键技能</a:t>
            </a:r>
          </a:p>
          <a:p>
            <a:pPr>
              <a:spcBef>
                <a:spcPts val="100"/>
              </a:spcBef>
            </a:pPr>
            <a:r>
              <a:rPr sz="1500">
                <a:solidFill>
                  <a:srgbClr val="556075"/>
                </a:solidFill>
              </a:rPr>
              <a:t>   理解句子开头意思→在选项中找逻辑匹配的结尾</a:t>
            </a:r>
          </a:p>
          <a:p>
            <a:pPr>
              <a:spcBef>
                <a:spcPts val="900"/>
              </a:spcBef>
            </a:pPr>
            <a:r>
              <a:rPr sz="1800" b="1">
                <a:solidFill>
                  <a:srgbClr val="1B5E33"/>
                </a:solidFill>
              </a:rPr>
              <a:t>• 难度原因</a:t>
            </a:r>
          </a:p>
          <a:p>
            <a:pPr>
              <a:spcBef>
                <a:spcPts val="100"/>
              </a:spcBef>
            </a:pPr>
            <a:r>
              <a:rPr sz="1500">
                <a:solidFill>
                  <a:srgbClr val="556075"/>
                </a:solidFill>
              </a:rPr>
              <a:t>   句子开头和结尾都是原文的改写——双重同义替换</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句子完成做题顺序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Process for Sentence Endings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Step 1</a:t>
            </a:r>
          </a:p>
          <a:p>
            <a:pPr>
              <a:spcBef>
                <a:spcPts val="100"/>
              </a:spcBef>
            </a:pPr>
            <a:r>
              <a:rPr sz="1500">
                <a:solidFill>
                  <a:srgbClr val="556075"/>
                </a:solidFill>
              </a:rPr>
              <a:t>   读句子开头，提取关键词（主语/动词/话题）</a:t>
            </a:r>
          </a:p>
          <a:p>
            <a:pPr>
              <a:spcBef>
                <a:spcPts val="900"/>
              </a:spcBef>
            </a:pPr>
            <a:r>
              <a:rPr sz="1800" b="1">
                <a:solidFill>
                  <a:srgbClr val="1B5E33"/>
                </a:solidFill>
              </a:rPr>
              <a:t>• Step 2</a:t>
            </a:r>
          </a:p>
          <a:p>
            <a:pPr>
              <a:spcBef>
                <a:spcPts val="100"/>
              </a:spcBef>
            </a:pPr>
            <a:r>
              <a:rPr sz="1500">
                <a:solidFill>
                  <a:srgbClr val="556075"/>
                </a:solidFill>
              </a:rPr>
              <a:t>   用关键词定位原文，找相关句</a:t>
            </a:r>
          </a:p>
          <a:p>
            <a:pPr>
              <a:spcBef>
                <a:spcPts val="900"/>
              </a:spcBef>
            </a:pPr>
            <a:r>
              <a:rPr sz="1800" b="1">
                <a:solidFill>
                  <a:srgbClr val="1B5E33"/>
                </a:solidFill>
              </a:rPr>
              <a:t>• Step 3</a:t>
            </a:r>
          </a:p>
          <a:p>
            <a:pPr>
              <a:spcBef>
                <a:spcPts val="100"/>
              </a:spcBef>
            </a:pPr>
            <a:r>
              <a:rPr sz="1500">
                <a:solidFill>
                  <a:srgbClr val="556075"/>
                </a:solidFill>
              </a:rPr>
              <a:t>   精读原文，理解完整意思</a:t>
            </a:r>
          </a:p>
          <a:p>
            <a:pPr>
              <a:spcBef>
                <a:spcPts val="900"/>
              </a:spcBef>
            </a:pPr>
            <a:r>
              <a:rPr sz="1800" b="1">
                <a:solidFill>
                  <a:srgbClr val="1B5E33"/>
                </a:solidFill>
              </a:rPr>
              <a:t>• Step 4</a:t>
            </a:r>
          </a:p>
          <a:p>
            <a:pPr>
              <a:spcBef>
                <a:spcPts val="100"/>
              </a:spcBef>
            </a:pPr>
            <a:r>
              <a:rPr sz="1500">
                <a:solidFill>
                  <a:srgbClr val="556075"/>
                </a:solidFill>
              </a:rPr>
              <a:t>   看所有结尾选项，选与原文意思匹配的</a:t>
            </a:r>
          </a:p>
          <a:p>
            <a:pPr>
              <a:spcBef>
                <a:spcPts val="900"/>
              </a:spcBef>
            </a:pPr>
            <a:r>
              <a:rPr sz="1800" b="1">
                <a:solidFill>
                  <a:srgbClr val="1B5E33"/>
                </a:solidFill>
              </a:rPr>
              <a:t>• Step 5</a:t>
            </a:r>
          </a:p>
          <a:p>
            <a:pPr>
              <a:spcBef>
                <a:spcPts val="100"/>
              </a:spcBef>
            </a:pPr>
            <a:r>
              <a:rPr sz="1500">
                <a:solidFill>
                  <a:srgbClr val="556075"/>
                </a:solidFill>
              </a:rPr>
              <a:t>   验证：开头+选定结尾组成完整句子，逻辑通顺？</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句子完成关键技巧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技巧1：同时看开头和结尾——两者拼在一起要逻辑正确</a:t>
            </a:r>
          </a:p>
          <a:p>
            <a:pPr>
              <a:spcBef>
                <a:spcPts val="1000"/>
              </a:spcBef>
            </a:pPr>
            <a:r>
              <a:rPr sz="1650">
                <a:solidFill>
                  <a:srgbClr val="1E293B"/>
                </a:solidFill>
              </a:rPr>
              <a:t>• 技巧2：注意语法——开头是名词，结尾可能要接动词短语</a:t>
            </a:r>
          </a:p>
          <a:p>
            <a:pPr>
              <a:spcBef>
                <a:spcPts val="1000"/>
              </a:spcBef>
            </a:pPr>
            <a:r>
              <a:rPr sz="1650">
                <a:solidFill>
                  <a:srgbClr val="1E293B"/>
                </a:solidFill>
              </a:rPr>
              <a:t>• 技巧3：定位原文后，精读上下文——答案常在邻近句</a:t>
            </a:r>
          </a:p>
          <a:p>
            <a:pPr>
              <a:spcBef>
                <a:spcPts val="1000"/>
              </a:spcBef>
            </a:pPr>
            <a:r>
              <a:rPr sz="1650">
                <a:solidFill>
                  <a:srgbClr val="1E293B"/>
                </a:solidFill>
              </a:rPr>
              <a:t>• 技巧4：排除已用选项——通常每个结尾只用一次</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句子完成定位原则</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原文顺序原则：句子完成题的顺序与原文信息顺序大致对应</a:t>
            </a:r>
          </a:p>
          <a:p>
            <a:pPr>
              <a:spcBef>
                <a:spcPts val="1000"/>
              </a:spcBef>
            </a:pPr>
            <a:r>
              <a:rPr sz="1650">
                <a:solidFill>
                  <a:srgbClr val="1E293B"/>
                </a:solidFill>
              </a:rPr>
              <a:t>• 关键词定位：句子开头的名词/专有名词→扫读原文定位</a:t>
            </a:r>
          </a:p>
          <a:p>
            <a:pPr>
              <a:spcBef>
                <a:spcPts val="1000"/>
              </a:spcBef>
            </a:pPr>
            <a:r>
              <a:rPr sz="1650">
                <a:solidFill>
                  <a:srgbClr val="1E293B"/>
                </a:solidFill>
              </a:rPr>
              <a:t>• 精读范围：定位句及其上下2句——答案通常在这范围内</a:t>
            </a:r>
          </a:p>
          <a:p>
            <a:pPr>
              <a:spcBef>
                <a:spcPts val="1000"/>
              </a:spcBef>
            </a:pPr>
            <a:r>
              <a:rPr sz="1650">
                <a:solidFill>
                  <a:srgbClr val="1E293B"/>
                </a:solidFill>
              </a:rPr>
              <a:t>• 不用整篇读：不是信息搜索题——不需要全文精读</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句子完成做题示范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句子开头：
1. "The ancient Egyptians used papyrus mainly to..."
2. "Unlike wood pulp paper, papyrus..."
结尾选项：
A. ...is made from a water plant rather than trees.
B. ...record important historical and religious documents.
C. ...became more expensive than modern materials.
D. ...was traded widely throughout the ancient world.</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句子1：埃及人使用papyrus主要是为了___
原文："papyrus was used primarily for writing scripts, including religious texts"→B ✓
句子2：与木浆纸不同，papyrus___
原文："papyrus is derived from the papyrus plant, a type of water plant"→A ✓
答案：1=B, 2=A</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验证：句子1+B："used papyrus mainly to record important historical and religious documents"→逻辑通顺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句子完成干扰选项破解</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常见干扰类型：
选项A：主题相关但逻辑不匹配——话题正确但说的不是原文意思
选项B：有原文词但语法不通顺——开头+结尾语法错误
选项C：原文有提到但对应的是不同句子——位置错误
破解方法：
1.读完整句子（开头+选项）——语法/逻辑通顺吗？
2.对照原文——是原文说的意思吗？
3.排除已确认的选项——每个选项通常只用一次</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最终验证：把开头和选定结尾拼在一起读——必须语法正确且意思与原文一致</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关键词定位技术</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Keyword Location Techniques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什么词可以定位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Which Words to Use for Location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专有名词</a:t>
            </a:r>
          </a:p>
          <a:p>
            <a:pPr>
              <a:spcBef>
                <a:spcPts val="100"/>
              </a:spcBef>
            </a:pPr>
            <a:r>
              <a:rPr sz="1500">
                <a:solidFill>
                  <a:srgbClr val="556075"/>
                </a:solidFill>
              </a:rPr>
              <a:t>   人名/地名/组织名——原文通常直接保留，最好定位</a:t>
            </a:r>
          </a:p>
          <a:p>
            <a:pPr>
              <a:spcBef>
                <a:spcPts val="900"/>
              </a:spcBef>
            </a:pPr>
            <a:r>
              <a:rPr sz="1800" b="1">
                <a:solidFill>
                  <a:srgbClr val="1B5E33"/>
                </a:solidFill>
              </a:rPr>
              <a:t>• 数字/年份</a:t>
            </a:r>
          </a:p>
          <a:p>
            <a:pPr>
              <a:spcBef>
                <a:spcPts val="100"/>
              </a:spcBef>
            </a:pPr>
            <a:r>
              <a:rPr sz="1500">
                <a:solidFill>
                  <a:srgbClr val="556075"/>
                </a:solidFill>
              </a:rPr>
              <a:t>   100%/2010/£50 million——非常精准的定位词</a:t>
            </a:r>
          </a:p>
          <a:p>
            <a:pPr>
              <a:spcBef>
                <a:spcPts val="900"/>
              </a:spcBef>
            </a:pPr>
            <a:r>
              <a:rPr sz="1800" b="1">
                <a:solidFill>
                  <a:srgbClr val="1B5E33"/>
                </a:solidFill>
              </a:rPr>
              <a:t>• 专业术语</a:t>
            </a:r>
          </a:p>
          <a:p>
            <a:pPr>
              <a:spcBef>
                <a:spcPts val="100"/>
              </a:spcBef>
            </a:pPr>
            <a:r>
              <a:rPr sz="1500">
                <a:solidFill>
                  <a:srgbClr val="556075"/>
                </a:solidFill>
              </a:rPr>
              <a:t>   学术词汇（photosynthesis/ecosystem）——不易替换</a:t>
            </a:r>
          </a:p>
          <a:p>
            <a:pPr>
              <a:spcBef>
                <a:spcPts val="900"/>
              </a:spcBef>
            </a:pPr>
            <a:r>
              <a:rPr sz="1800" b="1">
                <a:solidFill>
                  <a:srgbClr val="1B5E33"/>
                </a:solidFill>
              </a:rPr>
              <a:t>• 大写词</a:t>
            </a:r>
          </a:p>
          <a:p>
            <a:pPr>
              <a:spcBef>
                <a:spcPts val="100"/>
              </a:spcBef>
            </a:pPr>
            <a:r>
              <a:rPr sz="1500">
                <a:solidFill>
                  <a:srgbClr val="556075"/>
                </a:solidFill>
              </a:rPr>
              <a:t>   首字母大写的名词——通常是关键概念</a:t>
            </a:r>
          </a:p>
          <a:p>
            <a:pPr>
              <a:spcBef>
                <a:spcPts val="900"/>
              </a:spcBef>
            </a:pPr>
            <a:r>
              <a:rPr sz="1800" b="1">
                <a:solidFill>
                  <a:srgbClr val="1B5E33"/>
                </a:solidFill>
              </a:rPr>
              <a:t>• 不要用</a:t>
            </a:r>
          </a:p>
          <a:p>
            <a:pPr>
              <a:spcBef>
                <a:spcPts val="100"/>
              </a:spcBef>
            </a:pPr>
            <a:r>
              <a:rPr sz="1500">
                <a:solidFill>
                  <a:srgbClr val="556075"/>
                </a:solidFill>
              </a:rPr>
              <a:t>   the/a/is/it等虚词——在文章到处都有，无法定位</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定位失败怎么办</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When Keywords Don't Work</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原因1</a:t>
            </a:r>
          </a:p>
          <a:p>
            <a:pPr>
              <a:spcBef>
                <a:spcPts val="100"/>
              </a:spcBef>
            </a:pPr>
            <a:r>
              <a:rPr sz="1500">
                <a:solidFill>
                  <a:srgbClr val="556075"/>
                </a:solidFill>
              </a:rPr>
              <a:t>   关键词被同义替换了——换了词但意思一样</a:t>
            </a:r>
          </a:p>
          <a:p>
            <a:pPr>
              <a:spcBef>
                <a:spcPts val="900"/>
              </a:spcBef>
            </a:pPr>
            <a:r>
              <a:rPr sz="1800" b="1">
                <a:solidFill>
                  <a:srgbClr val="1B5E33"/>
                </a:solidFill>
              </a:rPr>
              <a:t>• 原因2</a:t>
            </a:r>
          </a:p>
          <a:p>
            <a:pPr>
              <a:spcBef>
                <a:spcPts val="100"/>
              </a:spcBef>
            </a:pPr>
            <a:r>
              <a:rPr sz="1500">
                <a:solidFill>
                  <a:srgbClr val="556075"/>
                </a:solidFill>
              </a:rPr>
              <a:t>   关键词在文章多处出现——需要结合上下文</a:t>
            </a:r>
          </a:p>
          <a:p>
            <a:pPr>
              <a:spcBef>
                <a:spcPts val="900"/>
              </a:spcBef>
            </a:pPr>
            <a:r>
              <a:rPr sz="1800" b="1">
                <a:solidFill>
                  <a:srgbClr val="1B5E33"/>
                </a:solidFill>
              </a:rPr>
              <a:t>• 解决方法1</a:t>
            </a:r>
          </a:p>
          <a:p>
            <a:pPr>
              <a:spcBef>
                <a:spcPts val="100"/>
              </a:spcBef>
            </a:pPr>
            <a:r>
              <a:rPr sz="1500">
                <a:solidFill>
                  <a:srgbClr val="556075"/>
                </a:solidFill>
              </a:rPr>
              <a:t>   找摘要/句子的其他关键词再试</a:t>
            </a:r>
          </a:p>
          <a:p>
            <a:pPr>
              <a:spcBef>
                <a:spcPts val="900"/>
              </a:spcBef>
            </a:pPr>
            <a:r>
              <a:rPr sz="1800" b="1">
                <a:solidFill>
                  <a:srgbClr val="1B5E33"/>
                </a:solidFill>
              </a:rPr>
              <a:t>• 解决方法2</a:t>
            </a:r>
          </a:p>
          <a:p>
            <a:pPr>
              <a:spcBef>
                <a:spcPts val="100"/>
              </a:spcBef>
            </a:pPr>
            <a:r>
              <a:rPr sz="1500">
                <a:solidFill>
                  <a:srgbClr val="556075"/>
                </a:solidFill>
              </a:rPr>
              <a:t>   按题目顺序推进——答案通常按原文顺序排列</a:t>
            </a:r>
          </a:p>
          <a:p>
            <a:pPr>
              <a:spcBef>
                <a:spcPts val="900"/>
              </a:spcBef>
            </a:pPr>
            <a:r>
              <a:rPr sz="1800" b="1">
                <a:solidFill>
                  <a:srgbClr val="1B5E33"/>
                </a:solidFill>
              </a:rPr>
              <a:t>• 解决方法3</a:t>
            </a:r>
          </a:p>
          <a:p>
            <a:pPr>
              <a:spcBef>
                <a:spcPts val="100"/>
              </a:spcBef>
            </a:pPr>
            <a:r>
              <a:rPr sz="1500">
                <a:solidFill>
                  <a:srgbClr val="556075"/>
                </a:solidFill>
              </a:rPr>
              <a:t>   扫读全文找话题段落——再精读</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关键词定位优先级总结</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第1优先：专有名词（人名/地名/组织名）——原文直接保留，精准定位</a:t>
            </a:r>
          </a:p>
          <a:p>
            <a:pPr>
              <a:spcBef>
                <a:spcPts val="1000"/>
              </a:spcBef>
            </a:pPr>
            <a:r>
              <a:rPr sz="1650">
                <a:solidFill>
                  <a:srgbClr val="1E293B"/>
                </a:solidFill>
              </a:rPr>
              <a:t>• 第2优先：数字/年份/百分比——在原文中扫读数字非常快</a:t>
            </a:r>
          </a:p>
          <a:p>
            <a:pPr>
              <a:spcBef>
                <a:spcPts val="1000"/>
              </a:spcBef>
            </a:pPr>
            <a:r>
              <a:rPr sz="1650">
                <a:solidFill>
                  <a:srgbClr val="1E293B"/>
                </a:solidFill>
              </a:rPr>
              <a:t>• 第3优先：专业术语/学术词汇——不易替换，定位准确</a:t>
            </a:r>
          </a:p>
          <a:p>
            <a:pPr>
              <a:spcBef>
                <a:spcPts val="1000"/>
              </a:spcBef>
            </a:pPr>
            <a:r>
              <a:rPr sz="1650">
                <a:solidFill>
                  <a:srgbClr val="1E293B"/>
                </a:solidFill>
              </a:rPr>
              <a:t>• 第4优先：大写名词/关键概念词——比普通词更好定位</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定位后精读范围</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找到定位词后，精读定位句及其上下文</a:t>
            </a:r>
          </a:p>
          <a:p>
            <a:pPr>
              <a:spcBef>
                <a:spcPts val="1000"/>
              </a:spcBef>
            </a:pPr>
            <a:r>
              <a:rPr sz="1650">
                <a:solidFill>
                  <a:srgbClr val="1E293B"/>
                </a:solidFill>
              </a:rPr>
              <a:t>• 摘要答案通常在定位句本身或紧邻的1-2句内</a:t>
            </a:r>
          </a:p>
          <a:p>
            <a:pPr>
              <a:spcBef>
                <a:spcPts val="1000"/>
              </a:spcBef>
            </a:pPr>
            <a:r>
              <a:rPr sz="1650">
                <a:solidFill>
                  <a:srgbClr val="1E293B"/>
                </a:solidFill>
              </a:rPr>
              <a:t>• 如果定位句没有答案，扩大精读到整个段落</a:t>
            </a:r>
          </a:p>
          <a:p>
            <a:pPr>
              <a:spcBef>
                <a:spcPts val="1000"/>
              </a:spcBef>
            </a:pPr>
            <a:r>
              <a:rPr sz="1650">
                <a:solidFill>
                  <a:srgbClr val="1E293B"/>
                </a:solidFill>
              </a:rPr>
              <a:t>• 顺序原则：摘要顺序≈原文顺序——不需要跳来跳去</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关键词定位速训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用什么词定位以下题目？
摘要空格："The _____(1) was built in _____(2) and can accommodate up to _____(3) visitors per day."
题目描述一座建筑物</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空1：填名称——最好用旁边已知词定位
空2：年份——超好定位，直接在原文扫读数字/年份
空3：数字——扫读数字，但注意：要找"visitors per day"的数字
定位策略：先定位年份（数字最容易找）→ 然后在同段找名称和访客数量</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数字/年份是最优先的定位词——快速扫读找到数字，再精读上下文</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同义替换定位训练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摘要："Marine researchers discovered that ocean temperatures have _____ by 0.3°C since the 1950s."
在原文中找对应词：
原文可能写："Scientists studying the seas found that sea surface warmth has increased/risen by 0.3 degrees since 1950."</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同义替换对应：
Marine researchers → Scientists studying the seas
ocean temperatures → sea surface warmth
have _____ → increased/risen
0.3°C → 0.3 degrees
since the 1950s → since 1950
答案：risen（或increased）——从原文找</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整段话都是同义替换——但答案词直接来自原文，不是同义词</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词形变换与词数控制</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Word Form Changes &amp; Word Limits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词形变换规律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Word Form Changes in Gap-Fill</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名词→形容词</a:t>
            </a:r>
          </a:p>
          <a:p>
            <a:pPr>
              <a:spcBef>
                <a:spcPts val="100"/>
              </a:spcBef>
            </a:pPr>
            <a:r>
              <a:rPr sz="1500">
                <a:solidFill>
                  <a:srgbClr val="556075"/>
                </a:solidFill>
              </a:rPr>
              <a:t>   The _____ impact → 填形容词：significant/positive</a:t>
            </a:r>
          </a:p>
          <a:p>
            <a:pPr>
              <a:spcBef>
                <a:spcPts val="900"/>
              </a:spcBef>
            </a:pPr>
            <a:r>
              <a:rPr sz="1800" b="1">
                <a:solidFill>
                  <a:srgbClr val="1B5E33"/>
                </a:solidFill>
              </a:rPr>
              <a:t>• 动词→名词</a:t>
            </a:r>
          </a:p>
          <a:p>
            <a:pPr>
              <a:spcBef>
                <a:spcPts val="100"/>
              </a:spcBef>
            </a:pPr>
            <a:r>
              <a:rPr sz="1500">
                <a:solidFill>
                  <a:srgbClr val="556075"/>
                </a:solidFill>
              </a:rPr>
              <a:t>   The _____ of the river → 填名词：pollution/contamination</a:t>
            </a:r>
          </a:p>
          <a:p>
            <a:pPr>
              <a:spcBef>
                <a:spcPts val="900"/>
              </a:spcBef>
            </a:pPr>
            <a:r>
              <a:rPr sz="1800" b="1">
                <a:solidFill>
                  <a:srgbClr val="1B5E33"/>
                </a:solidFill>
              </a:rPr>
              <a:t>• 形容词→副词</a:t>
            </a:r>
          </a:p>
          <a:p>
            <a:pPr>
              <a:spcBef>
                <a:spcPts val="100"/>
              </a:spcBef>
            </a:pPr>
            <a:r>
              <a:rPr sz="1500">
                <a:solidFill>
                  <a:srgbClr val="556075"/>
                </a:solidFill>
              </a:rPr>
              <a:t>   grew _____→ 填副词：significantly/rapidly</a:t>
            </a:r>
          </a:p>
          <a:p>
            <a:pPr>
              <a:spcBef>
                <a:spcPts val="900"/>
              </a:spcBef>
            </a:pPr>
            <a:r>
              <a:rPr sz="1800" b="1">
                <a:solidFill>
                  <a:srgbClr val="1B5E33"/>
                </a:solidFill>
              </a:rPr>
              <a:t>• 动词时态</a:t>
            </a:r>
          </a:p>
          <a:p>
            <a:pPr>
              <a:spcBef>
                <a:spcPts val="100"/>
              </a:spcBef>
            </a:pPr>
            <a:r>
              <a:rPr sz="1500">
                <a:solidFill>
                  <a:srgbClr val="556075"/>
                </a:solidFill>
              </a:rPr>
              <a:t>   填词要与句子时态一致——is/was/has been</a:t>
            </a:r>
          </a:p>
          <a:p>
            <a:pPr>
              <a:spcBef>
                <a:spcPts val="900"/>
              </a:spcBef>
            </a:pPr>
            <a:r>
              <a:rPr sz="1800" b="1">
                <a:solidFill>
                  <a:srgbClr val="1B5E33"/>
                </a:solidFill>
              </a:rPr>
              <a:t>• 单复数</a:t>
            </a:r>
          </a:p>
          <a:p>
            <a:pPr>
              <a:spcBef>
                <a:spcPts val="100"/>
              </a:spcBef>
            </a:pPr>
            <a:r>
              <a:rPr sz="1500">
                <a:solidFill>
                  <a:srgbClr val="556075"/>
                </a:solidFill>
              </a:rPr>
              <a:t>   a _____ → 单数名词；several _____→ 复数名词</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词数限制陷阱</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Word Limit Traps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NO MORE THAN TWO</a:t>
            </a:r>
          </a:p>
          <a:p>
            <a:pPr>
              <a:spcBef>
                <a:spcPts val="100"/>
              </a:spcBef>
            </a:pPr>
            <a:r>
              <a:rPr sz="1500">
                <a:solidFill>
                  <a:srgbClr val="556075"/>
                </a:solidFill>
              </a:rPr>
              <a:t>   最多2个词——"air pollution"✓, "urban air pollution"✗</a:t>
            </a:r>
          </a:p>
          <a:p>
            <a:pPr>
              <a:spcBef>
                <a:spcPts val="900"/>
              </a:spcBef>
            </a:pPr>
            <a:r>
              <a:rPr sz="1800" b="1">
                <a:solidFill>
                  <a:srgbClr val="1B5E33"/>
                </a:solidFill>
              </a:rPr>
              <a:t>• AND/OR A NUMBER</a:t>
            </a:r>
          </a:p>
          <a:p>
            <a:pPr>
              <a:spcBef>
                <a:spcPts val="100"/>
              </a:spcBef>
            </a:pPr>
            <a:r>
              <a:rPr sz="1500">
                <a:solidFill>
                  <a:srgbClr val="556075"/>
                </a:solidFill>
              </a:rPr>
              <a:t>   数字单独算——"10 million"= 2词+1数字</a:t>
            </a:r>
          </a:p>
          <a:p>
            <a:pPr>
              <a:spcBef>
                <a:spcPts val="900"/>
              </a:spcBef>
            </a:pPr>
            <a:r>
              <a:rPr sz="1800" b="1">
                <a:solidFill>
                  <a:srgbClr val="1B5E33"/>
                </a:solidFill>
              </a:rPr>
              <a:t>• 连字符</a:t>
            </a:r>
          </a:p>
          <a:p>
            <a:pPr>
              <a:spcBef>
                <a:spcPts val="100"/>
              </a:spcBef>
            </a:pPr>
            <a:r>
              <a:rPr sz="1500">
                <a:solidFill>
                  <a:srgbClr val="556075"/>
                </a:solidFill>
              </a:rPr>
              <a:t>   well-known = 1词（连字符连接的算1词）</a:t>
            </a:r>
          </a:p>
          <a:p>
            <a:pPr>
              <a:spcBef>
                <a:spcPts val="900"/>
              </a:spcBef>
            </a:pPr>
            <a:r>
              <a:rPr sz="1800" b="1">
                <a:solidFill>
                  <a:srgbClr val="1B5E33"/>
                </a:solidFill>
              </a:rPr>
              <a:t>• 冠词计入</a:t>
            </a:r>
          </a:p>
          <a:p>
            <a:pPr>
              <a:spcBef>
                <a:spcPts val="100"/>
              </a:spcBef>
            </a:pPr>
            <a:r>
              <a:rPr sz="1500">
                <a:solidFill>
                  <a:srgbClr val="556075"/>
                </a:solidFill>
              </a:rPr>
              <a:t>   the/a/an都计入词数</a:t>
            </a:r>
          </a:p>
          <a:p>
            <a:pPr>
              <a:spcBef>
                <a:spcPts val="900"/>
              </a:spcBef>
            </a:pPr>
            <a:r>
              <a:rPr sz="1800" b="1">
                <a:solidFill>
                  <a:srgbClr val="1B5E33"/>
                </a:solidFill>
              </a:rPr>
              <a:t>• 检查方法</a:t>
            </a:r>
          </a:p>
          <a:p>
            <a:pPr>
              <a:spcBef>
                <a:spcPts val="100"/>
              </a:spcBef>
            </a:pPr>
            <a:r>
              <a:rPr sz="1500">
                <a:solidFill>
                  <a:srgbClr val="556075"/>
                </a:solidFill>
              </a:rPr>
              <a:t>   填完数一数——绝对不能超过规定词数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词形变换判断方法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方法1：看空格在句子中的语法位置——主语位置填名词</a:t>
            </a:r>
          </a:p>
          <a:p>
            <a:pPr>
              <a:spcBef>
                <a:spcPts val="1000"/>
              </a:spcBef>
            </a:pPr>
            <a:r>
              <a:rPr sz="1650">
                <a:solidFill>
                  <a:srgbClr val="1E293B"/>
                </a:solidFill>
              </a:rPr>
              <a:t>• 方法2：看空格修饰的词——修饰名词用形容词，修饰动词用副词</a:t>
            </a:r>
          </a:p>
          <a:p>
            <a:pPr>
              <a:spcBef>
                <a:spcPts val="1000"/>
              </a:spcBef>
            </a:pPr>
            <a:r>
              <a:rPr sz="1650">
                <a:solidFill>
                  <a:srgbClr val="1E293B"/>
                </a:solidFill>
              </a:rPr>
              <a:t>• 方法3：看句子时态——过去时填past form，现在完成时填past participle</a:t>
            </a:r>
          </a:p>
          <a:p>
            <a:pPr>
              <a:spcBef>
                <a:spcPts val="1000"/>
              </a:spcBef>
            </a:pPr>
            <a:r>
              <a:rPr sz="1650">
                <a:solidFill>
                  <a:srgbClr val="1E293B"/>
                </a:solidFill>
              </a:rPr>
              <a:t>• 方法4：看单复数提示——"a _____"填单数名词，"several _____"填复数</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词数控制实操技巧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填词前在草稿纸数好词数——不要填进去再数</a:t>
            </a:r>
          </a:p>
          <a:p>
            <a:pPr>
              <a:spcBef>
                <a:spcPts val="1000"/>
              </a:spcBef>
            </a:pPr>
            <a:r>
              <a:rPr sz="1650">
                <a:solidFill>
                  <a:srgbClr val="1E293B"/>
                </a:solidFill>
              </a:rPr>
              <a:t>• 连字符连接的词（well-known）算一个词</a:t>
            </a:r>
          </a:p>
          <a:p>
            <a:pPr>
              <a:spcBef>
                <a:spcPts val="1000"/>
              </a:spcBef>
            </a:pPr>
            <a:r>
              <a:rPr sz="1650">
                <a:solidFill>
                  <a:srgbClr val="1E293B"/>
                </a:solidFill>
              </a:rPr>
              <a:t>• 数字（10, 1920, 50%）单独算——不计入"词"的总数</a:t>
            </a:r>
          </a:p>
          <a:p>
            <a:pPr>
              <a:spcBef>
                <a:spcPts val="1000"/>
              </a:spcBef>
            </a:pPr>
            <a:r>
              <a:rPr sz="1650">
                <a:solidFill>
                  <a:srgbClr val="1E293B"/>
                </a:solidFill>
              </a:rPr>
              <a:t>• 发现超词数：删除冠词/介词/形容词，只保留核心词</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词形变换训练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原文："The government rapidly expanded its renewable energy programme."
空格题：
1. "There was a _____ expansion of the renewable energy programme."
2. "The expansion happened _____"
3. "The _____ expanded its renewable energy programme rapidly."</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空1：_____ expansion → 需要修饰expansion的形容词
rapid(ly) → rapid ✓
空2：happened _____ → 需要副词
rapid → rapidly ✓
空3：The _____ → 需要名词主语
government ✓
原文词：rapidly→形容词rapid，形容词rapid→副词rapidly</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词形变换规律：原文词根相同——看语法位置判断要用什么形式</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词数限制实战练习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"NO MORE THAN THREE WORDS AND/OR A NUMBER"
原文：
"The ancient Silk Road covered approximately 6,000 kilometres across Central Asia."
以下哪些填法正确？
① approximately 6,000 kilometres
② 6,000 km across Asia
③ around 6,000 kilometres
④ about 6000 km</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①approximately 6,000 kilometres = 2词+1数字 → 共3词(含数字) ✓
②6,000 km across Asia = 1数字+3词 → 4个元素，超过3词限制 ✗
③around 6,000 kilometres = 2词+1数字 ✓
④about 6000 km = 2词+1数字 ✓（km是缩写，算1词）
答案：①③④正确</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关键：词数限制只算词，数字单独算；不要多写任何多余的词</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摘要填空综合实战</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Summary Completion: Full Practice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完整做题流程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Complete Process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Step 1：读题目类型</a:t>
            </a:r>
          </a:p>
          <a:p>
            <a:pPr>
              <a:spcBef>
                <a:spcPts val="100"/>
              </a:spcBef>
            </a:pPr>
            <a:r>
              <a:rPr sz="1500">
                <a:solidFill>
                  <a:srgbClr val="556075"/>
                </a:solidFill>
              </a:rPr>
              <a:t>   确认：从文章找词？还是从选项框选？</a:t>
            </a:r>
          </a:p>
          <a:p>
            <a:pPr>
              <a:spcBef>
                <a:spcPts val="900"/>
              </a:spcBef>
            </a:pPr>
            <a:r>
              <a:rPr sz="1800" b="1">
                <a:solidFill>
                  <a:srgbClr val="1B5E33"/>
                </a:solidFill>
              </a:rPr>
              <a:t>• Step 2：读词数限制</a:t>
            </a:r>
          </a:p>
          <a:p>
            <a:pPr>
              <a:spcBef>
                <a:spcPts val="100"/>
              </a:spcBef>
            </a:pPr>
            <a:r>
              <a:rPr sz="1500">
                <a:solidFill>
                  <a:srgbClr val="556075"/>
                </a:solidFill>
              </a:rPr>
              <a:t>   记住：NO MORE THAN _____ WORDS AND/OR A NUMBER</a:t>
            </a:r>
          </a:p>
          <a:p>
            <a:pPr>
              <a:spcBef>
                <a:spcPts val="900"/>
              </a:spcBef>
            </a:pPr>
            <a:r>
              <a:rPr sz="1800" b="1">
                <a:solidFill>
                  <a:srgbClr val="1B5E33"/>
                </a:solidFill>
              </a:rPr>
              <a:t>• Step 3：读摘要大意</a:t>
            </a:r>
          </a:p>
          <a:p>
            <a:pPr>
              <a:spcBef>
                <a:spcPts val="100"/>
              </a:spcBef>
            </a:pPr>
            <a:r>
              <a:rPr sz="1500">
                <a:solidFill>
                  <a:srgbClr val="556075"/>
                </a:solidFill>
              </a:rPr>
              <a:t>   先理解摘要说的是什么，再找关键词</a:t>
            </a:r>
          </a:p>
          <a:p>
            <a:pPr>
              <a:spcBef>
                <a:spcPts val="900"/>
              </a:spcBef>
            </a:pPr>
            <a:r>
              <a:rPr sz="1800" b="1">
                <a:solidFill>
                  <a:srgbClr val="1B5E33"/>
                </a:solidFill>
              </a:rPr>
              <a:t>• Step 4：关键词定位</a:t>
            </a:r>
          </a:p>
          <a:p>
            <a:pPr>
              <a:spcBef>
                <a:spcPts val="100"/>
              </a:spcBef>
            </a:pPr>
            <a:r>
              <a:rPr sz="1500">
                <a:solidFill>
                  <a:srgbClr val="556075"/>
                </a:solidFill>
              </a:rPr>
              <a:t>   用专有名词/数字/专业词定位原文段落</a:t>
            </a:r>
          </a:p>
          <a:p>
            <a:pPr>
              <a:spcBef>
                <a:spcPts val="900"/>
              </a:spcBef>
            </a:pPr>
            <a:r>
              <a:rPr sz="1800" b="1">
                <a:solidFill>
                  <a:srgbClr val="1B5E33"/>
                </a:solidFill>
              </a:rPr>
              <a:t>• Step 5：填词检查</a:t>
            </a:r>
          </a:p>
          <a:p>
            <a:pPr>
              <a:spcBef>
                <a:spcPts val="100"/>
              </a:spcBef>
            </a:pPr>
            <a:r>
              <a:rPr sz="1500">
                <a:solidFill>
                  <a:srgbClr val="556075"/>
                </a:solidFill>
              </a:rPr>
              <a:t>   填原文词，检查词形、拼写、词数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深圳学生常见失分原因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Common Mistakes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超词数</a:t>
            </a:r>
          </a:p>
          <a:p>
            <a:pPr>
              <a:spcBef>
                <a:spcPts val="100"/>
              </a:spcBef>
            </a:pPr>
            <a:r>
              <a:rPr sz="1500">
                <a:solidFill>
                  <a:srgbClr val="556075"/>
                </a:solidFill>
              </a:rPr>
              <a:t>   填了3个词但只能填2个——满分变零分</a:t>
            </a:r>
          </a:p>
          <a:p>
            <a:pPr>
              <a:spcBef>
                <a:spcPts val="900"/>
              </a:spcBef>
            </a:pPr>
            <a:r>
              <a:rPr sz="1800" b="1">
                <a:solidFill>
                  <a:srgbClr val="1B5E33"/>
                </a:solidFill>
              </a:rPr>
              <a:t>• 拼写错</a:t>
            </a:r>
          </a:p>
          <a:p>
            <a:pPr>
              <a:spcBef>
                <a:spcPts val="100"/>
              </a:spcBef>
            </a:pPr>
            <a:r>
              <a:rPr sz="1500">
                <a:solidFill>
                  <a:srgbClr val="556075"/>
                </a:solidFill>
              </a:rPr>
              <a:t>   原文词抄错了——满分变零分</a:t>
            </a:r>
          </a:p>
          <a:p>
            <a:pPr>
              <a:spcBef>
                <a:spcPts val="900"/>
              </a:spcBef>
            </a:pPr>
            <a:r>
              <a:rPr sz="1800" b="1">
                <a:solidFill>
                  <a:srgbClr val="1B5E33"/>
                </a:solidFill>
              </a:rPr>
              <a:t>• 词形错</a:t>
            </a:r>
          </a:p>
          <a:p>
            <a:pPr>
              <a:spcBef>
                <a:spcPts val="100"/>
              </a:spcBef>
            </a:pPr>
            <a:r>
              <a:rPr sz="1500">
                <a:solidFill>
                  <a:srgbClr val="556075"/>
                </a:solidFill>
              </a:rPr>
              <a:t>   填了动词但需要名词——语法不匹配</a:t>
            </a:r>
          </a:p>
          <a:p>
            <a:pPr>
              <a:spcBef>
                <a:spcPts val="900"/>
              </a:spcBef>
            </a:pPr>
            <a:r>
              <a:rPr sz="1800" b="1">
                <a:solidFill>
                  <a:srgbClr val="1B5E33"/>
                </a:solidFill>
              </a:rPr>
              <a:t>• 自创词</a:t>
            </a:r>
          </a:p>
          <a:p>
            <a:pPr>
              <a:spcBef>
                <a:spcPts val="100"/>
              </a:spcBef>
            </a:pPr>
            <a:r>
              <a:rPr sz="1500">
                <a:solidFill>
                  <a:srgbClr val="556075"/>
                </a:solidFill>
              </a:rPr>
              <a:t>   没有回原文找词，用自己的词替换——不对</a:t>
            </a:r>
          </a:p>
          <a:p>
            <a:pPr>
              <a:spcBef>
                <a:spcPts val="900"/>
              </a:spcBef>
            </a:pPr>
            <a:r>
              <a:rPr sz="1800" b="1">
                <a:solidFill>
                  <a:srgbClr val="1B5E33"/>
                </a:solidFill>
              </a:rPr>
              <a:t>• 顺序混淆</a:t>
            </a:r>
          </a:p>
          <a:p>
            <a:pPr>
              <a:spcBef>
                <a:spcPts val="100"/>
              </a:spcBef>
            </a:pPr>
            <a:r>
              <a:rPr sz="1500">
                <a:solidFill>
                  <a:srgbClr val="556075"/>
                </a:solidFill>
              </a:rPr>
              <a:t>   没有按摘要顺序定位，跳来跳去导致混乱</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综合实战做题检查清单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检查1：词数是否超过限制？数一数填进去的词</a:t>
            </a:r>
          </a:p>
          <a:p>
            <a:pPr>
              <a:spcBef>
                <a:spcPts val="1000"/>
              </a:spcBef>
            </a:pPr>
            <a:r>
              <a:rPr sz="1650">
                <a:solidFill>
                  <a:srgbClr val="1E293B"/>
                </a:solidFill>
              </a:rPr>
              <a:t>• 检查2：拼写是否正确？与原文核对——特别是长词</a:t>
            </a:r>
          </a:p>
          <a:p>
            <a:pPr>
              <a:spcBef>
                <a:spcPts val="1000"/>
              </a:spcBef>
            </a:pPr>
            <a:r>
              <a:rPr sz="1650">
                <a:solidFill>
                  <a:srgbClr val="1E293B"/>
                </a:solidFill>
              </a:rPr>
              <a:t>• 检查3：词形是否匹配语法位置？主语/修饰语/副词？</a:t>
            </a:r>
          </a:p>
          <a:p>
            <a:pPr>
              <a:spcBef>
                <a:spcPts val="1000"/>
              </a:spcBef>
            </a:pPr>
            <a:r>
              <a:rPr sz="1650">
                <a:solidFill>
                  <a:srgbClr val="1E293B"/>
                </a:solidFill>
              </a:rPr>
              <a:t>• 检查4：意思是否与摘要/原文一致？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摘要填空 vs 句子完成联合训练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同一篇文章通常只考一种——但策略高度重叠</a:t>
            </a:r>
          </a:p>
          <a:p>
            <a:pPr>
              <a:spcBef>
                <a:spcPts val="1000"/>
              </a:spcBef>
            </a:pPr>
            <a:r>
              <a:rPr sz="1650">
                <a:solidFill>
                  <a:srgbClr val="1E293B"/>
                </a:solidFill>
              </a:rPr>
              <a:t>• 摘要填空：定位→精读→填词→检查（词数/拼写/词形）</a:t>
            </a:r>
          </a:p>
          <a:p>
            <a:pPr>
              <a:spcBef>
                <a:spcPts val="1000"/>
              </a:spcBef>
            </a:pPr>
            <a:r>
              <a:rPr sz="1650">
                <a:solidFill>
                  <a:srgbClr val="1E293B"/>
                </a:solidFill>
              </a:rPr>
              <a:t>• 句子完成：定位→精读→选结尾→验证（语法+意思）</a:t>
            </a:r>
          </a:p>
          <a:p>
            <a:pPr>
              <a:spcBef>
                <a:spcPts val="1000"/>
              </a:spcBef>
            </a:pPr>
            <a:r>
              <a:rPr sz="1650">
                <a:solidFill>
                  <a:srgbClr val="1E293B"/>
                </a:solidFill>
              </a:rPr>
              <a:t>• 共同关键：定位技术+同义替换识别+原文验证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摘要填空完整实战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
"The discovery of antibiotics in the 1920s revolutionised modern medicine. Before this breakthrough, even minor bacterial infections could prove fatal. Alexander Fleming's accidental discovery of penicillin in 1928 paved the way for the development of numerous life-saving drugs. However, the overuse of antibiotics has led to a growing problem: antibiotic resistance, where bacteria evolve to survive treatment."
摘要填空（NO MORE THAN TWO WORDS）：
"The _____(1) of antibiotics transformed medicine in the twentieth century. Prior to this, bacterial infections were often _____（2）. Fleming discovered penicillin _____(3), enabling the creation of many essential medicines. Today, the excessive use of antibiotics has caused _____(4), where bacteria can withstand treatment."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
(1) discovery（原文直接词）
(2) fatal（原文直接词）
(3) accidentally（原文accidental→副词形式）
(4) antibiotic resistance（原文直接词组，2词）</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注意：空(3)需要词形变换：accidental(形容词)→accidentally(副词)，因为语法需要副词修饰discovered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句子完成综合实战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原文（同上段）：
句子完成题：
1. "Fleming's discovery of penicillin was..."
2. "The extensive use of antibiotics has resulted in..."
3. "Before antibiotics, bacterial infections were..."
选项：
A. ...potentially deadly even when minor
B. ...a phenomenon known as antibiotic resistance
C. ...unintentional and occurred in 1928
D. ...celebrated as the greatest medical achievement
E. ...less effective over time due to resistance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
1→C："Fleming's discovery...was unintentional and occurred in 1928"
（原文：accidental discovery in 1928）
2→B："extensive use...resulted in antibiotic resistance"
（原文：overuse...led to antibiotic resistance）
3→A："bacterial infections were potentially deadly even when minor"
（原文：even minor infections could prove fatal）</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验证：每个句子1+答案读起来语法通顺且与原文意思一致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摘要填空高分示范：完整解题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题目：原文：
"Urban heat islands form when cities replace natural land with pavements and buildings that absorb and re-emit heat. Temperatures in city centres can be up to 5°C higher than surrounding rural areas. Trees and vegetation help combat this effect by providing shade and cooling the air through a process called evapotranspiration."
摘要（NO MORE THAN TWO WORDS AND/OR A NUMBER）：
"Urban heat islands occur when natural surfaces are replaced by _____(1) in cities. City centre temperatures may exceed those in the _____(2) by as much as _____(3). Planting _____(4) is one way to address this problem as they cool the environment through evapotranspiration."</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解题：
(1) pavements and buildings → 但2词限制："hard surfaces"也可，原文说"pavements and buildings"→取"pavements"或用2词"urban surfaces"？→ 最佳：buildings（测词数：pavements and buildings=3词→超限！）→ 填"built surfaces"或考虑：原文改写→ 填"hard surfaces"（2词）✓ 或直接填"buildings"（1词）✓
(2) surrounding rural areas → rural areas（2词）✓
(3) up to 5°C → 5°C（1数字+1词=2词）✓ 或5 degrees（2词）
(4) Trees and vegetation → Trees（1词）✓</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词数限制第一优先：先数词数，再选词</a:t>
            </a:r>
          </a:p>
          <a:p>
            <a:pPr>
              <a:spcBef>
                <a:spcPts val="700"/>
              </a:spcBef>
            </a:pPr>
            <a:r>
              <a:rPr sz="1200">
                <a:solidFill>
                  <a:srgbClr val="1E293B"/>
                </a:solidFill>
              </a:rPr>
              <a:t>▸ 原文直接词最安全：避免同义替换出错</a:t>
            </a:r>
          </a:p>
          <a:p>
            <a:pPr>
              <a:spcBef>
                <a:spcPts val="700"/>
              </a:spcBef>
            </a:pPr>
            <a:r>
              <a:rPr sz="1200">
                <a:solidFill>
                  <a:srgbClr val="1E293B"/>
                </a:solidFill>
              </a:rPr>
              <a:t>▸ 词形检查：填词的语法形式要与摘要语境匹配</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句子完成高分示范：双重同义替换</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题目：原文：
"Digital technology has fundamentally changed how music is distributed and consumed. Streaming services have made millions of songs instantly accessible worldwide, undermining the traditional album sales model. While artists benefit from global reach, their income from streaming royalties is considerably lower than from physical sales."
句子完成：
1. "The way music is spread and listened to has been..."
2. "Platforms that stream music have given audiences..."
3. "Artists find that earnings from streaming are..."</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选项：
A. ...significantly less than those from selling physical copies
B. ...dramatically altered by digital developments
C. ...instant access to a vast music library worldwide
D. ...less predictable than before streaming existed
答案：
1→B（fundamentally changed = dramatically altered）
2→C（streaming services, instantly accessible worldwide = instant access to a vast library worldwide）
3→A（income from streaming...considerably lower = earnings...significantly less）</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双重同义替换：题目开头+答案选项都改写了原文</a:t>
            </a:r>
          </a:p>
          <a:p>
            <a:pPr>
              <a:spcBef>
                <a:spcPts val="700"/>
              </a:spcBef>
            </a:pPr>
            <a:r>
              <a:rPr sz="1200">
                <a:solidFill>
                  <a:srgbClr val="1E293B"/>
                </a:solidFill>
              </a:rPr>
              <a:t>▸ 关键：先理解原文意思→再找最匹配的选项组合</a:t>
            </a:r>
          </a:p>
          <a:p>
            <a:pPr>
              <a:spcBef>
                <a:spcPts val="700"/>
              </a:spcBef>
            </a:pPr>
            <a:r>
              <a:rPr sz="1200">
                <a:solidFill>
                  <a:srgbClr val="1E293B"/>
                </a:solidFill>
              </a:rPr>
              <a:t>▸ B:fundamentally=dramatically; altered=changed; digital=digital→最匹配</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 vs 句子完成：策略对比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摘要填空</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句子完成</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填写原文词（有词数限制）</a:t>
            </a:r>
          </a:p>
          <a:p>
            <a:pPr>
              <a:spcBef>
                <a:spcPts val="700"/>
              </a:spcBef>
            </a:pPr>
            <a:r>
              <a:rPr sz="1350">
                <a:solidFill>
                  <a:srgbClr val="C02A2A"/>
                </a:solidFill>
              </a:rPr>
              <a:t>✗ 关键：找关键词定位→精读→填原文词</a:t>
            </a:r>
          </a:p>
          <a:p>
            <a:pPr>
              <a:spcBef>
                <a:spcPts val="700"/>
              </a:spcBef>
            </a:pPr>
            <a:r>
              <a:rPr sz="1350">
                <a:solidFill>
                  <a:srgbClr val="C02A2A"/>
                </a:solidFill>
              </a:rPr>
              <a:t>✗ 陷阱：词数/拼写/词形错误</a:t>
            </a:r>
          </a:p>
          <a:p>
            <a:pPr>
              <a:spcBef>
                <a:spcPts val="700"/>
              </a:spcBef>
            </a:pPr>
            <a:r>
              <a:rPr sz="1350">
                <a:solidFill>
                  <a:srgbClr val="C02A2A"/>
                </a:solidFill>
              </a:rPr>
              <a:t>✗ 难点：同义替换识别定位</a:t>
            </a:r>
          </a:p>
          <a:p>
            <a:pPr>
              <a:spcBef>
                <a:spcPts val="700"/>
              </a:spcBef>
            </a:pPr>
            <a:r>
              <a:rPr sz="1350">
                <a:solidFill>
                  <a:srgbClr val="C02A2A"/>
                </a:solidFill>
              </a:rPr>
              <a:t>✗ 时间：每空30-45秒</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从选项中选句子结尾</a:t>
            </a:r>
          </a:p>
          <a:p>
            <a:pPr>
              <a:spcBef>
                <a:spcPts val="700"/>
              </a:spcBef>
            </a:pPr>
            <a:r>
              <a:rPr sz="1350">
                <a:solidFill>
                  <a:srgbClr val="1B7A3D"/>
                </a:solidFill>
              </a:rPr>
              <a:t>✓ 关键：定位原文→找匹配结尾选项</a:t>
            </a:r>
          </a:p>
          <a:p>
            <a:pPr>
              <a:spcBef>
                <a:spcPts val="700"/>
              </a:spcBef>
            </a:pPr>
            <a:r>
              <a:rPr sz="1350">
                <a:solidFill>
                  <a:srgbClr val="1B7A3D"/>
                </a:solidFill>
              </a:rPr>
              <a:t>✓ 陷阱：选项双重改写，需深度理解</a:t>
            </a:r>
          </a:p>
          <a:p>
            <a:pPr>
              <a:spcBef>
                <a:spcPts val="700"/>
              </a:spcBef>
            </a:pPr>
            <a:r>
              <a:rPr sz="1350">
                <a:solidFill>
                  <a:srgbClr val="1B7A3D"/>
                </a:solidFill>
              </a:rPr>
              <a:t>✓ 难点：两种改写叠加识别</a:t>
            </a:r>
          </a:p>
          <a:p>
            <a:pPr>
              <a:spcBef>
                <a:spcPts val="700"/>
              </a:spcBef>
            </a:pPr>
            <a:r>
              <a:rPr sz="1350">
                <a:solidFill>
                  <a:srgbClr val="1B7A3D"/>
                </a:solidFill>
              </a:rPr>
              <a:t>✓ 时间：每题45-60秒</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从文章找词 vs 从选项框选词：差异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从文章直接找词</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从选项框选词</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答案是文章原词——抄写准确</a:t>
            </a:r>
          </a:p>
          <a:p>
            <a:pPr>
              <a:spcBef>
                <a:spcPts val="700"/>
              </a:spcBef>
            </a:pPr>
            <a:r>
              <a:rPr sz="1350">
                <a:solidFill>
                  <a:srgbClr val="C02A2A"/>
                </a:solidFill>
              </a:rPr>
              <a:t>✗ 需要定位+同义替换识别</a:t>
            </a:r>
          </a:p>
          <a:p>
            <a:pPr>
              <a:spcBef>
                <a:spcPts val="700"/>
              </a:spcBef>
            </a:pPr>
            <a:r>
              <a:rPr sz="1350">
                <a:solidFill>
                  <a:srgbClr val="C02A2A"/>
                </a:solidFill>
              </a:rPr>
              <a:t>✗ 难度较高：找词范围是全文</a:t>
            </a:r>
          </a:p>
          <a:p>
            <a:pPr>
              <a:spcBef>
                <a:spcPts val="700"/>
              </a:spcBef>
            </a:pPr>
            <a:r>
              <a:rPr sz="1350">
                <a:solidFill>
                  <a:srgbClr val="C02A2A"/>
                </a:solidFill>
              </a:rPr>
              <a:t>✗ 填词后检查：拼写/词形/词数</a:t>
            </a:r>
          </a:p>
          <a:p>
            <a:pPr>
              <a:spcBef>
                <a:spcPts val="700"/>
              </a:spcBef>
            </a:pPr>
            <a:r>
              <a:rPr sz="1350">
                <a:solidFill>
                  <a:srgbClr val="C02A2A"/>
                </a:solidFill>
              </a:rPr>
              <a:t>✗ 原则：一定有原文支撑</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给定词语，选正确的填入</a:t>
            </a:r>
          </a:p>
          <a:p>
            <a:pPr>
              <a:spcBef>
                <a:spcPts val="700"/>
              </a:spcBef>
            </a:pPr>
            <a:r>
              <a:rPr sz="1350">
                <a:solidFill>
                  <a:srgbClr val="1B7A3D"/>
                </a:solidFill>
              </a:rPr>
              <a:t>✓ 选项比空格多——有干扰选项</a:t>
            </a:r>
          </a:p>
          <a:p>
            <a:pPr>
              <a:spcBef>
                <a:spcPts val="700"/>
              </a:spcBef>
            </a:pPr>
            <a:r>
              <a:rPr sz="1350">
                <a:solidFill>
                  <a:srgbClr val="1B7A3D"/>
                </a:solidFill>
              </a:rPr>
              <a:t>✓ 难度相对低：在给定词中选</a:t>
            </a:r>
          </a:p>
          <a:p>
            <a:pPr>
              <a:spcBef>
                <a:spcPts val="700"/>
              </a:spcBef>
            </a:pPr>
            <a:r>
              <a:rPr sz="1350">
                <a:solidFill>
                  <a:srgbClr val="1B7A3D"/>
                </a:solidFill>
              </a:rPr>
              <a:t>✓ 检查：意思/语法是否匹配</a:t>
            </a:r>
          </a:p>
          <a:p>
            <a:pPr>
              <a:spcBef>
                <a:spcPts val="700"/>
              </a:spcBef>
            </a:pPr>
            <a:r>
              <a:rPr sz="1350">
                <a:solidFill>
                  <a:srgbClr val="1B7A3D"/>
                </a:solidFill>
              </a:rPr>
              <a:t>✓ 策略：先排除明显不合适的</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摘要填空8步标准流程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Step 1：确认题型</a:t>
            </a:r>
          </a:p>
        </p:txBody>
      </p:sp>
      <p:sp>
        <p:nvSpPr>
          <p:cNvPr id="12" name="TextBox 11"/>
          <p:cNvSpPr txBox="1"/>
          <p:nvPr/>
        </p:nvSpPr>
        <p:spPr>
          <a:xfrm>
            <a:off x="1417320" y="1645919"/>
            <a:ext cx="10058400" cy="228599"/>
          </a:xfrm>
          <a:prstGeom prst="rect">
            <a:avLst/>
          </a:prstGeom>
          <a:noFill/>
        </p:spPr>
        <p:txBody>
          <a:bodyPr wrap="square" anchor="t">
            <a:spAutoFit/>
          </a:bodyPr>
          <a:lstStyle/>
          <a:p>
            <a:pPr algn="l"/>
            <a:r>
              <a:rPr sz="1350" b="0" i="0">
                <a:solidFill>
                  <a:srgbClr val="556075"/>
                </a:solidFill>
                <a:latin typeface="Calibri"/>
              </a:rPr>
              <a:t>从文章找词？还是从选项框选？不同策略</a:t>
            </a:r>
          </a:p>
        </p:txBody>
      </p:sp>
      <p:sp>
        <p:nvSpPr>
          <p:cNvPr id="13" name="Rounded Rectangle 12"/>
          <p:cNvSpPr/>
          <p:nvPr/>
        </p:nvSpPr>
        <p:spPr>
          <a:xfrm>
            <a:off x="548640" y="187451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293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53288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1874519"/>
            <a:ext cx="10058400" cy="411480"/>
          </a:xfrm>
          <a:prstGeom prst="rect">
            <a:avLst/>
          </a:prstGeom>
          <a:noFill/>
        </p:spPr>
        <p:txBody>
          <a:bodyPr wrap="square" anchor="t">
            <a:spAutoFit/>
          </a:bodyPr>
          <a:lstStyle/>
          <a:p>
            <a:pPr algn="l"/>
            <a:r>
              <a:rPr sz="1600" b="1" i="0">
                <a:solidFill>
                  <a:srgbClr val="1B5E33"/>
                </a:solidFill>
                <a:latin typeface="Calibri"/>
              </a:rPr>
              <a:t>Step 2：读词数限制</a:t>
            </a:r>
          </a:p>
        </p:txBody>
      </p:sp>
      <p:sp>
        <p:nvSpPr>
          <p:cNvPr id="17" name="TextBox 16"/>
          <p:cNvSpPr txBox="1"/>
          <p:nvPr/>
        </p:nvSpPr>
        <p:spPr>
          <a:xfrm>
            <a:off x="1417320" y="2240279"/>
            <a:ext cx="10058400" cy="228599"/>
          </a:xfrm>
          <a:prstGeom prst="rect">
            <a:avLst/>
          </a:prstGeom>
          <a:noFill/>
        </p:spPr>
        <p:txBody>
          <a:bodyPr wrap="square" anchor="t">
            <a:spAutoFit/>
          </a:bodyPr>
          <a:lstStyle/>
          <a:p>
            <a:pPr algn="l"/>
            <a:r>
              <a:rPr sz="1350" b="0" i="0">
                <a:solidFill>
                  <a:srgbClr val="556075"/>
                </a:solidFill>
                <a:latin typeface="Calibri"/>
              </a:rPr>
              <a:t>记住上限——填完后数词数是必须步骤</a:t>
            </a:r>
          </a:p>
        </p:txBody>
      </p:sp>
      <p:sp>
        <p:nvSpPr>
          <p:cNvPr id="18" name="Rounded Rectangle 17"/>
          <p:cNvSpPr/>
          <p:nvPr/>
        </p:nvSpPr>
        <p:spPr>
          <a:xfrm>
            <a:off x="548640" y="24688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5237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12724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468879"/>
            <a:ext cx="10058400" cy="411480"/>
          </a:xfrm>
          <a:prstGeom prst="rect">
            <a:avLst/>
          </a:prstGeom>
          <a:noFill/>
        </p:spPr>
        <p:txBody>
          <a:bodyPr wrap="square" anchor="t">
            <a:spAutoFit/>
          </a:bodyPr>
          <a:lstStyle/>
          <a:p>
            <a:pPr algn="l"/>
            <a:r>
              <a:rPr sz="1600" b="1" i="0">
                <a:solidFill>
                  <a:srgbClr val="1B5E33"/>
                </a:solidFill>
                <a:latin typeface="Calibri"/>
              </a:rPr>
              <a:t>Step 3：读摘要全文</a:t>
            </a:r>
          </a:p>
        </p:txBody>
      </p:sp>
      <p:sp>
        <p:nvSpPr>
          <p:cNvPr id="22" name="TextBox 21"/>
          <p:cNvSpPr txBox="1"/>
          <p:nvPr/>
        </p:nvSpPr>
        <p:spPr>
          <a:xfrm>
            <a:off x="1417320" y="2834639"/>
            <a:ext cx="10058400" cy="228599"/>
          </a:xfrm>
          <a:prstGeom prst="rect">
            <a:avLst/>
          </a:prstGeom>
          <a:noFill/>
        </p:spPr>
        <p:txBody>
          <a:bodyPr wrap="square" anchor="t">
            <a:spAutoFit/>
          </a:bodyPr>
          <a:lstStyle/>
          <a:p>
            <a:pPr algn="l"/>
            <a:r>
              <a:rPr sz="1350" b="0" i="0">
                <a:solidFill>
                  <a:srgbClr val="556075"/>
                </a:solidFill>
                <a:latin typeface="Calibri"/>
              </a:rPr>
              <a:t>先读完整段摘要，了解摘要讲的是什么内容</a:t>
            </a:r>
          </a:p>
        </p:txBody>
      </p:sp>
      <p:sp>
        <p:nvSpPr>
          <p:cNvPr id="23" name="Rounded Rectangle 22"/>
          <p:cNvSpPr/>
          <p:nvPr/>
        </p:nvSpPr>
        <p:spPr>
          <a:xfrm>
            <a:off x="548640" y="306323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1181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372160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063239"/>
            <a:ext cx="10058400" cy="411480"/>
          </a:xfrm>
          <a:prstGeom prst="rect">
            <a:avLst/>
          </a:prstGeom>
          <a:noFill/>
        </p:spPr>
        <p:txBody>
          <a:bodyPr wrap="square" anchor="t">
            <a:spAutoFit/>
          </a:bodyPr>
          <a:lstStyle/>
          <a:p>
            <a:pPr algn="l"/>
            <a:r>
              <a:rPr sz="1600" b="1" i="0">
                <a:solidFill>
                  <a:srgbClr val="1B5E33"/>
                </a:solidFill>
                <a:latin typeface="Calibri"/>
              </a:rPr>
              <a:t>Step 4：标记关键词</a:t>
            </a:r>
          </a:p>
        </p:txBody>
      </p:sp>
      <p:sp>
        <p:nvSpPr>
          <p:cNvPr id="27" name="TextBox 26"/>
          <p:cNvSpPr txBox="1"/>
          <p:nvPr/>
        </p:nvSpPr>
        <p:spPr>
          <a:xfrm>
            <a:off x="1417320" y="3428999"/>
            <a:ext cx="10058400" cy="228599"/>
          </a:xfrm>
          <a:prstGeom prst="rect">
            <a:avLst/>
          </a:prstGeom>
          <a:noFill/>
        </p:spPr>
        <p:txBody>
          <a:bodyPr wrap="square" anchor="t">
            <a:spAutoFit/>
          </a:bodyPr>
          <a:lstStyle/>
          <a:p>
            <a:pPr algn="l"/>
            <a:r>
              <a:rPr sz="1350" b="0" i="0">
                <a:solidFill>
                  <a:srgbClr val="556075"/>
                </a:solidFill>
                <a:latin typeface="Calibri"/>
              </a:rPr>
              <a:t>在每个空格前后找定位词（专有名词/数字）</a:t>
            </a:r>
          </a:p>
        </p:txBody>
      </p:sp>
      <p:sp>
        <p:nvSpPr>
          <p:cNvPr id="28" name="Rounded Rectangle 27"/>
          <p:cNvSpPr/>
          <p:nvPr/>
        </p:nvSpPr>
        <p:spPr>
          <a:xfrm>
            <a:off x="548640" y="365759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712463"/>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431596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3657599"/>
            <a:ext cx="10058400" cy="411480"/>
          </a:xfrm>
          <a:prstGeom prst="rect">
            <a:avLst/>
          </a:prstGeom>
          <a:noFill/>
        </p:spPr>
        <p:txBody>
          <a:bodyPr wrap="square" anchor="t">
            <a:spAutoFit/>
          </a:bodyPr>
          <a:lstStyle/>
          <a:p>
            <a:pPr algn="l"/>
            <a:r>
              <a:rPr sz="1600" b="1" i="0">
                <a:solidFill>
                  <a:srgbClr val="1B5E33"/>
                </a:solidFill>
                <a:latin typeface="Calibri"/>
              </a:rPr>
              <a:t>Step 5：定位原文段落</a:t>
            </a:r>
          </a:p>
        </p:txBody>
      </p:sp>
      <p:sp>
        <p:nvSpPr>
          <p:cNvPr id="32" name="TextBox 31"/>
          <p:cNvSpPr txBox="1"/>
          <p:nvPr/>
        </p:nvSpPr>
        <p:spPr>
          <a:xfrm>
            <a:off x="1417320" y="4023359"/>
            <a:ext cx="10058400" cy="228599"/>
          </a:xfrm>
          <a:prstGeom prst="rect">
            <a:avLst/>
          </a:prstGeom>
          <a:noFill/>
        </p:spPr>
        <p:txBody>
          <a:bodyPr wrap="square" anchor="t">
            <a:spAutoFit/>
          </a:bodyPr>
          <a:lstStyle/>
          <a:p>
            <a:pPr algn="l"/>
            <a:r>
              <a:rPr sz="1350" b="0" i="0">
                <a:solidFill>
                  <a:srgbClr val="556075"/>
                </a:solidFill>
                <a:latin typeface="Calibri"/>
              </a:rPr>
              <a:t>用关键词扫读原文，找对应段落</a:t>
            </a:r>
          </a:p>
        </p:txBody>
      </p:sp>
      <p:sp>
        <p:nvSpPr>
          <p:cNvPr id="33" name="Rounded Rectangle 32"/>
          <p:cNvSpPr/>
          <p:nvPr/>
        </p:nvSpPr>
        <p:spPr>
          <a:xfrm>
            <a:off x="548640" y="425195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306823"/>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Rectangle 34"/>
          <p:cNvSpPr/>
          <p:nvPr/>
        </p:nvSpPr>
        <p:spPr>
          <a:xfrm>
            <a:off x="841248" y="491032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17320" y="4251959"/>
            <a:ext cx="10058400" cy="411480"/>
          </a:xfrm>
          <a:prstGeom prst="rect">
            <a:avLst/>
          </a:prstGeom>
          <a:noFill/>
        </p:spPr>
        <p:txBody>
          <a:bodyPr wrap="square" anchor="t">
            <a:spAutoFit/>
          </a:bodyPr>
          <a:lstStyle/>
          <a:p>
            <a:pPr algn="l"/>
            <a:r>
              <a:rPr sz="1600" b="1" i="0">
                <a:solidFill>
                  <a:srgbClr val="1B5E33"/>
                </a:solidFill>
                <a:latin typeface="Calibri"/>
              </a:rPr>
              <a:t>Step 6：精读原文</a:t>
            </a:r>
          </a:p>
        </p:txBody>
      </p:sp>
      <p:sp>
        <p:nvSpPr>
          <p:cNvPr id="37" name="TextBox 36"/>
          <p:cNvSpPr txBox="1"/>
          <p:nvPr/>
        </p:nvSpPr>
        <p:spPr>
          <a:xfrm>
            <a:off x="1417320" y="4617720"/>
            <a:ext cx="10058400" cy="228599"/>
          </a:xfrm>
          <a:prstGeom prst="rect">
            <a:avLst/>
          </a:prstGeom>
          <a:noFill/>
        </p:spPr>
        <p:txBody>
          <a:bodyPr wrap="square" anchor="t">
            <a:spAutoFit/>
          </a:bodyPr>
          <a:lstStyle/>
          <a:p>
            <a:pPr algn="l"/>
            <a:r>
              <a:rPr sz="1350" b="0" i="0">
                <a:solidFill>
                  <a:srgbClr val="556075"/>
                </a:solidFill>
                <a:latin typeface="Calibri"/>
              </a:rPr>
              <a:t>精读定位句及上下文，理解意思</a:t>
            </a:r>
          </a:p>
        </p:txBody>
      </p:sp>
      <p:sp>
        <p:nvSpPr>
          <p:cNvPr id="38" name="Rounded Rectangle 37"/>
          <p:cNvSpPr/>
          <p:nvPr/>
        </p:nvSpPr>
        <p:spPr>
          <a:xfrm>
            <a:off x="548640" y="484631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901183"/>
            <a:ext cx="640080" cy="502920"/>
          </a:xfrm>
          <a:prstGeom prst="rect">
            <a:avLst/>
          </a:prstGeom>
          <a:noFill/>
        </p:spPr>
        <p:txBody>
          <a:bodyPr wrap="square" anchor="t">
            <a:spAutoFit/>
          </a:bodyPr>
          <a:lstStyle/>
          <a:p>
            <a:pPr algn="ctr"/>
            <a:r>
              <a:rPr sz="2200" b="1" i="0">
                <a:solidFill>
                  <a:srgbClr val="FFFFFF"/>
                </a:solidFill>
                <a:latin typeface="Calibri"/>
              </a:rPr>
              <a:t>7</a:t>
            </a:r>
          </a:p>
        </p:txBody>
      </p:sp>
      <p:sp>
        <p:nvSpPr>
          <p:cNvPr id="40" name="Rectangle 39"/>
          <p:cNvSpPr/>
          <p:nvPr/>
        </p:nvSpPr>
        <p:spPr>
          <a:xfrm>
            <a:off x="841248" y="550468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417320" y="4846319"/>
            <a:ext cx="10058400" cy="411480"/>
          </a:xfrm>
          <a:prstGeom prst="rect">
            <a:avLst/>
          </a:prstGeom>
          <a:noFill/>
        </p:spPr>
        <p:txBody>
          <a:bodyPr wrap="square" anchor="t">
            <a:spAutoFit/>
          </a:bodyPr>
          <a:lstStyle/>
          <a:p>
            <a:pPr algn="l"/>
            <a:r>
              <a:rPr sz="1600" b="1" i="0">
                <a:solidFill>
                  <a:srgbClr val="1B5E33"/>
                </a:solidFill>
                <a:latin typeface="Calibri"/>
              </a:rPr>
              <a:t>Step 7：填词</a:t>
            </a:r>
          </a:p>
        </p:txBody>
      </p:sp>
      <p:sp>
        <p:nvSpPr>
          <p:cNvPr id="42" name="TextBox 41"/>
          <p:cNvSpPr txBox="1"/>
          <p:nvPr/>
        </p:nvSpPr>
        <p:spPr>
          <a:xfrm>
            <a:off x="1417320" y="5212079"/>
            <a:ext cx="10058400" cy="228599"/>
          </a:xfrm>
          <a:prstGeom prst="rect">
            <a:avLst/>
          </a:prstGeom>
          <a:noFill/>
        </p:spPr>
        <p:txBody>
          <a:bodyPr wrap="square" anchor="t">
            <a:spAutoFit/>
          </a:bodyPr>
          <a:lstStyle/>
          <a:p>
            <a:pPr algn="l"/>
            <a:r>
              <a:rPr sz="1350" b="0" i="0">
                <a:solidFill>
                  <a:srgbClr val="556075"/>
                </a:solidFill>
                <a:latin typeface="Calibri"/>
              </a:rPr>
              <a:t>填原文词，注意词形变换（名词/形容词/副词）</a:t>
            </a:r>
          </a:p>
        </p:txBody>
      </p:sp>
      <p:sp>
        <p:nvSpPr>
          <p:cNvPr id="43" name="Rounded Rectangle 42"/>
          <p:cNvSpPr/>
          <p:nvPr/>
        </p:nvSpPr>
        <p:spPr>
          <a:xfrm>
            <a:off x="548640" y="54406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495543"/>
            <a:ext cx="640080" cy="502920"/>
          </a:xfrm>
          <a:prstGeom prst="rect">
            <a:avLst/>
          </a:prstGeom>
          <a:noFill/>
        </p:spPr>
        <p:txBody>
          <a:bodyPr wrap="square" anchor="t">
            <a:spAutoFit/>
          </a:bodyPr>
          <a:lstStyle/>
          <a:p>
            <a:pPr algn="ctr"/>
            <a:r>
              <a:rPr sz="2200" b="1" i="0">
                <a:solidFill>
                  <a:srgbClr val="FFFFFF"/>
                </a:solidFill>
                <a:latin typeface="Calibri"/>
              </a:rPr>
              <a:t>8</a:t>
            </a:r>
          </a:p>
        </p:txBody>
      </p:sp>
      <p:sp>
        <p:nvSpPr>
          <p:cNvPr id="45" name="TextBox 44"/>
          <p:cNvSpPr txBox="1"/>
          <p:nvPr/>
        </p:nvSpPr>
        <p:spPr>
          <a:xfrm>
            <a:off x="1417320" y="5440679"/>
            <a:ext cx="10058400" cy="411480"/>
          </a:xfrm>
          <a:prstGeom prst="rect">
            <a:avLst/>
          </a:prstGeom>
          <a:noFill/>
        </p:spPr>
        <p:txBody>
          <a:bodyPr wrap="square" anchor="t">
            <a:spAutoFit/>
          </a:bodyPr>
          <a:lstStyle/>
          <a:p>
            <a:pPr algn="l"/>
            <a:r>
              <a:rPr sz="1600" b="1" i="0">
                <a:solidFill>
                  <a:srgbClr val="1B5E33"/>
                </a:solidFill>
                <a:latin typeface="Calibri"/>
              </a:rPr>
              <a:t>Step 8：检查</a:t>
            </a:r>
          </a:p>
        </p:txBody>
      </p:sp>
      <p:sp>
        <p:nvSpPr>
          <p:cNvPr id="46" name="TextBox 45"/>
          <p:cNvSpPr txBox="1"/>
          <p:nvPr/>
        </p:nvSpPr>
        <p:spPr>
          <a:xfrm>
            <a:off x="1417320" y="5806440"/>
            <a:ext cx="10058400" cy="228599"/>
          </a:xfrm>
          <a:prstGeom prst="rect">
            <a:avLst/>
          </a:prstGeom>
          <a:noFill/>
        </p:spPr>
        <p:txBody>
          <a:bodyPr wrap="square" anchor="t">
            <a:spAutoFit/>
          </a:bodyPr>
          <a:lstStyle/>
          <a:p>
            <a:pPr algn="l"/>
            <a:r>
              <a:rPr sz="1350" b="0" i="0">
                <a:solidFill>
                  <a:srgbClr val="556075"/>
                </a:solidFill>
                <a:latin typeface="Calibri"/>
              </a:rPr>
              <a:t>数词数+检查拼写+语法合适？</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当堂练习：词数限制判断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判断以下填词是否符合"NO MORE THAN TWO WORDS"的要求</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空格需填：significant economic growth</a:t>
            </a:r>
          </a:p>
          <a:p>
            <a:pPr>
              <a:spcBef>
                <a:spcPts val="100"/>
              </a:spcBef>
            </a:pPr>
            <a:r>
              <a:rPr sz="1400">
                <a:solidFill>
                  <a:srgbClr val="556075"/>
                </a:solidFill>
              </a:rPr>
              <a:t>   选项：A."economic growth" B."significantly" C."a significant economic" D."growth"
【答案】A=2词✓ B=1词✓ D=1词✓ C=3词✗（超过2词限制）</a:t>
            </a:r>
          </a:p>
          <a:p>
            <a:pPr>
              <a:spcBef>
                <a:spcPts val="1100"/>
              </a:spcBef>
            </a:pPr>
            <a:r>
              <a:rPr sz="1700" b="1">
                <a:solidFill>
                  <a:srgbClr val="1B5E33"/>
                </a:solidFill>
              </a:rPr>
              <a:t>▢ 空格需填：rapidly increasing</a:t>
            </a:r>
          </a:p>
          <a:p>
            <a:pPr>
              <a:spcBef>
                <a:spcPts val="100"/>
              </a:spcBef>
            </a:pPr>
            <a:r>
              <a:rPr sz="1400">
                <a:solidFill>
                  <a:srgbClr val="556075"/>
                </a:solidFill>
              </a:rPr>
              <a:t>   选项：A."rapid increase" B."rapidly increasing" C."a rapid increase" D."increase rapidly"
【答案】A=2词✓ B=2词✓ D=2词✓ C=3词✗（超过限制）; 还需检查语法适合空格位置</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当堂练习：同义替换定位速训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找出以下摘要词在原文中的同义替换词</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摘要词vs原文</a:t>
            </a:r>
          </a:p>
          <a:p>
            <a:pPr>
              <a:spcBef>
                <a:spcPts val="100"/>
              </a:spcBef>
            </a:pPr>
            <a:r>
              <a:rPr sz="1400">
                <a:solidFill>
                  <a:srgbClr val="556075"/>
                </a:solidFill>
              </a:rPr>
              <a:t>   摘要："researchers discovered that cities have higher temperatures"
原文应有：_____
【答案】scientists/academics found/identified that urban areas experience elevated/increased heat/warmth</a:t>
            </a:r>
          </a:p>
          <a:p>
            <a:pPr>
              <a:spcBef>
                <a:spcPts val="1100"/>
              </a:spcBef>
            </a:pPr>
            <a:r>
              <a:rPr sz="1700" b="1">
                <a:solidFill>
                  <a:srgbClr val="1B5E33"/>
                </a:solidFill>
              </a:rPr>
              <a:t>▢ 实战应用</a:t>
            </a:r>
          </a:p>
          <a:p>
            <a:pPr>
              <a:spcBef>
                <a:spcPts val="100"/>
              </a:spcBef>
            </a:pPr>
            <a:r>
              <a:rPr sz="1400">
                <a:solidFill>
                  <a:srgbClr val="556075"/>
                </a:solidFill>
              </a:rPr>
              <a:t>   摘要："authorities introduced stricter rules"
原文可能是：_____
【答案】governments/policymakers implemented/established tighter/more stringent regulations/laws/policies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技巧1：词数第一</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填词前先想词数上限——超了就换更短的表达</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技巧2：专有名词定位</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人名/地名/数字是最好的定位词——找到就找到了</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技巧3：顺序原则</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摘要/句子的顺序≈原文顺序——从上往下定位</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技巧4：原文词更安全</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尽量用原文的词——同义替换可能拼错</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技巧5：词形变换</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填前检查语法位置——名词/形容词/副词？</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句子完成5大技巧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技巧1：读完整句子</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把开头+选项拼在一起读——语法通顺吗？</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技巧2：双重定位</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用句子开头的词定位原文，找相关内容</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技巧3：排除已用</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每个结尾选项通常只用一次——排除已选的</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技巧4：语法检查</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开头最后的词和结尾开头的词——语法连接对吗？</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技巧5：顺序原则</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题目顺序≈原文顺序——按序做题</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词形变换速查表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动词→名词</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discover→discovery / develop→development / pollute→pollution</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名词→形容词</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success→successful / substance→substantial / history→historical</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形容词→副词</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rapid→rapidly / significant→significantly / gradual→gradually</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动词→形容词</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increase→increased / challenge→challenging / concern→concerned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L07考场时间管理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摘要填空</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每空30-45秒；5个空格约3-4分钟；超时先猜继续</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句子完成</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每题45-60秒；6题约5-6分钟；难题先跳过</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检查阶段</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最后2分钟：检查词数+拼写——这是最省分的步骤</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总体原则</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摘要填空+句子完成共约8-10分钟——计划好时间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摘要填空高频同义替换：变化类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1B5E33"/>
                </a:solidFill>
                <a:latin typeface="Calibri"/>
              </a:rPr>
              <a:t>increase</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 rise/grow/expand/surge/climb/escalate</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1B5E33"/>
                </a:solidFill>
                <a:latin typeface="Calibri"/>
              </a:rPr>
              <a:t>decrease</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 fall/drop/decline/shrink/reduce/plummet</a:t>
            </a:r>
          </a:p>
        </p:txBody>
      </p:sp>
      <p:sp>
        <p:nvSpPr>
          <p:cNvPr id="20" name="Rectangle 19"/>
          <p:cNvSpPr/>
          <p:nvPr/>
        </p:nvSpPr>
        <p:spPr>
          <a:xfrm>
            <a:off x="548640" y="28346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1B5E33"/>
                </a:solidFill>
                <a:latin typeface="Calibri"/>
              </a:rPr>
              <a:t>improve</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 enhance/boost/strengthen/develop/progress</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1B5E33"/>
                </a:solidFill>
                <a:latin typeface="Calibri"/>
              </a:rPr>
              <a:t>worsen</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 deteriorate/decline/degrade/aggravate</a:t>
            </a:r>
          </a:p>
        </p:txBody>
      </p:sp>
      <p:sp>
        <p:nvSpPr>
          <p:cNvPr id="28" name="Rectangle 27"/>
          <p:cNvSpPr/>
          <p:nvPr/>
        </p:nvSpPr>
        <p:spPr>
          <a:xfrm>
            <a:off x="548640" y="39014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1B5E33"/>
                </a:solidFill>
                <a:latin typeface="Calibri"/>
              </a:rPr>
              <a:t>change</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 alter/transform/modify/shift/evolve</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1B5E33"/>
                </a:solidFill>
                <a:latin typeface="Calibri"/>
              </a:rPr>
              <a:t>discover</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 find/identify/reveal/uncover/detect</a:t>
            </a:r>
          </a:p>
        </p:txBody>
      </p:sp>
      <p:sp>
        <p:nvSpPr>
          <p:cNvPr id="36" name="Rectangle 35"/>
          <p:cNvSpPr/>
          <p:nvPr/>
        </p:nvSpPr>
        <p:spPr>
          <a:xfrm>
            <a:off x="548640" y="49682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1B5E33"/>
                </a:solidFill>
                <a:latin typeface="Calibri"/>
              </a:rPr>
              <a:t>show</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 demonstrate/indicate/suggest/prove/highlight</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1B5E33"/>
                </a:solidFill>
                <a:latin typeface="Calibri"/>
              </a:rPr>
              <a:t>cause</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 lead to/result in/trigger/bring about/produce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摘要填空高频同义替换：描述类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1B5E33"/>
                </a:solidFill>
                <a:latin typeface="Calibri"/>
              </a:rPr>
              <a:t>important</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 significant/crucial/vital/key/essential/major</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1B5E33"/>
                </a:solidFill>
                <a:latin typeface="Calibri"/>
              </a:rPr>
              <a:t>large</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 substantial/considerable/extensive/vast/enormous</a:t>
            </a:r>
          </a:p>
        </p:txBody>
      </p:sp>
      <p:sp>
        <p:nvSpPr>
          <p:cNvPr id="20" name="Rectangle 19"/>
          <p:cNvSpPr/>
          <p:nvPr/>
        </p:nvSpPr>
        <p:spPr>
          <a:xfrm>
            <a:off x="548640" y="28346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1B5E33"/>
                </a:solidFill>
                <a:latin typeface="Calibri"/>
              </a:rPr>
              <a:t>small</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 limited/minimal/negligible/minor/modest</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1B5E33"/>
                </a:solidFill>
                <a:latin typeface="Calibri"/>
              </a:rPr>
              <a:t>difficult</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 challenging/problematic/complex/demanding</a:t>
            </a:r>
          </a:p>
        </p:txBody>
      </p:sp>
      <p:sp>
        <p:nvSpPr>
          <p:cNvPr id="28" name="Rectangle 27"/>
          <p:cNvSpPr/>
          <p:nvPr/>
        </p:nvSpPr>
        <p:spPr>
          <a:xfrm>
            <a:off x="548640" y="39014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1B5E33"/>
                </a:solidFill>
                <a:latin typeface="Calibri"/>
              </a:rPr>
              <a:t>use</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 utilise/employ/apply/implement/adopt</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1B5E33"/>
                </a:solidFill>
                <a:latin typeface="Calibri"/>
              </a:rPr>
              <a:t>build</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 construct/develop/establish/create/set up</a:t>
            </a:r>
          </a:p>
        </p:txBody>
      </p:sp>
      <p:sp>
        <p:nvSpPr>
          <p:cNvPr id="36" name="Rectangle 35"/>
          <p:cNvSpPr/>
          <p:nvPr/>
        </p:nvSpPr>
        <p:spPr>
          <a:xfrm>
            <a:off x="548640" y="49682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1B5E33"/>
                </a:solidFill>
                <a:latin typeface="Calibri"/>
              </a:rPr>
              <a:t>need</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 require/demand/necessitate</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1B5E33"/>
                </a:solidFill>
                <a:latin typeface="Calibri"/>
              </a:rPr>
              <a:t>help</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 assist/support/enable/facilitate/benefit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摘要填空高频词形变换</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1B5E33"/>
                </a:solidFill>
                <a:latin typeface="Calibri"/>
              </a:rPr>
              <a:t>discover/found</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 discovery/finding（名词）</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1B5E33"/>
                </a:solidFill>
                <a:latin typeface="Calibri"/>
              </a:rPr>
              <a:t>develop</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 development（名词）/ developmental（形容词）</a:t>
            </a:r>
          </a:p>
        </p:txBody>
      </p:sp>
      <p:sp>
        <p:nvSpPr>
          <p:cNvPr id="20" name="Rectangle 19"/>
          <p:cNvSpPr/>
          <p:nvPr/>
        </p:nvSpPr>
        <p:spPr>
          <a:xfrm>
            <a:off x="548640" y="28346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1B5E33"/>
                </a:solidFill>
                <a:latin typeface="Calibri"/>
              </a:rPr>
              <a:t>pollute</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 pollution（名词）/ polluted（形容词）</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1B5E33"/>
                </a:solidFill>
                <a:latin typeface="Calibri"/>
              </a:rPr>
              <a:t>environment</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 environmental（形容词）/ environmentally（副词）</a:t>
            </a:r>
          </a:p>
        </p:txBody>
      </p:sp>
      <p:sp>
        <p:nvSpPr>
          <p:cNvPr id="28" name="Rectangle 27"/>
          <p:cNvSpPr/>
          <p:nvPr/>
        </p:nvSpPr>
        <p:spPr>
          <a:xfrm>
            <a:off x="548640" y="39014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1B5E33"/>
                </a:solidFill>
                <a:latin typeface="Calibri"/>
              </a:rPr>
              <a:t>economy</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 economic（形容词）/ economically（副词）</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1B5E33"/>
                </a:solidFill>
                <a:latin typeface="Calibri"/>
              </a:rPr>
              <a:t>science</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 scientific（形容词）/ scientist（人名词）</a:t>
            </a:r>
          </a:p>
        </p:txBody>
      </p:sp>
      <p:sp>
        <p:nvSpPr>
          <p:cNvPr id="36" name="Rectangle 35"/>
          <p:cNvSpPr/>
          <p:nvPr/>
        </p:nvSpPr>
        <p:spPr>
          <a:xfrm>
            <a:off x="548640" y="49682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1B5E33"/>
                </a:solidFill>
                <a:latin typeface="Calibri"/>
              </a:rPr>
              <a:t>culture</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 cultural（形容词）/ culturally（副词）</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1B5E33"/>
                </a:solidFill>
                <a:latin typeface="Calibri"/>
              </a:rPr>
              <a:t>society</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 social（形容词）/ socially（副词）</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L07备考：6.0→7.0提分路径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6.0→6.5（前4周）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每天练习摘要填空（每次5-8空）</a:t>
            </a:r>
          </a:p>
          <a:p>
            <a:pPr>
              <a:spcBef>
                <a:spcPts val="700"/>
              </a:spcBef>
            </a:pPr>
            <a:r>
              <a:rPr sz="1450">
                <a:solidFill>
                  <a:srgbClr val="1E293B"/>
                </a:solidFill>
              </a:rPr>
              <a:t>• 重点：定位技术+词数控制习惯</a:t>
            </a:r>
          </a:p>
          <a:p>
            <a:pPr>
              <a:spcBef>
                <a:spcPts val="700"/>
              </a:spcBef>
            </a:pPr>
            <a:r>
              <a:rPr sz="1450">
                <a:solidFill>
                  <a:srgbClr val="1E293B"/>
                </a:solidFill>
              </a:rPr>
              <a:t>• 每天积累10对同义替换词组</a:t>
            </a:r>
          </a:p>
          <a:p>
            <a:pPr>
              <a:spcBef>
                <a:spcPts val="700"/>
              </a:spcBef>
            </a:pPr>
            <a:r>
              <a:rPr sz="1450">
                <a:solidFill>
                  <a:srgbClr val="1E293B"/>
                </a:solidFill>
              </a:rPr>
              <a:t>• 每周做1套含摘要填空的完整阅读</a:t>
            </a:r>
          </a:p>
          <a:p>
            <a:pPr>
              <a:spcBef>
                <a:spcPts val="700"/>
              </a:spcBef>
            </a:pPr>
            <a:r>
              <a:rPr sz="1450">
                <a:solidFill>
                  <a:srgbClr val="1E293B"/>
                </a:solidFill>
              </a:rPr>
              <a:t>• 目标：摘要填空准确率60%→75%</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6.5→7.0（后4周）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重点：句子完成双重改写识别</a:t>
            </a:r>
          </a:p>
          <a:p>
            <a:pPr>
              <a:spcBef>
                <a:spcPts val="700"/>
              </a:spcBef>
            </a:pPr>
            <a:r>
              <a:rPr sz="1450">
                <a:solidFill>
                  <a:srgbClr val="1E293B"/>
                </a:solidFill>
              </a:rPr>
              <a:t>• 词形变换专项训练（每天20组）</a:t>
            </a:r>
          </a:p>
          <a:p>
            <a:pPr>
              <a:spcBef>
                <a:spcPts val="700"/>
              </a:spcBef>
            </a:pPr>
            <a:r>
              <a:rPr sz="1450">
                <a:solidFill>
                  <a:srgbClr val="1E293B"/>
                </a:solidFill>
              </a:rPr>
              <a:t>• 计时训练：摘要填空&lt;4分钟/组</a:t>
            </a:r>
          </a:p>
          <a:p>
            <a:pPr>
              <a:spcBef>
                <a:spcPts val="700"/>
              </a:spcBef>
            </a:pPr>
            <a:r>
              <a:rPr sz="1450">
                <a:solidFill>
                  <a:srgbClr val="1E293B"/>
                </a:solidFill>
              </a:rPr>
              <a:t>• 积累200对高频同义替换</a:t>
            </a:r>
          </a:p>
          <a:p>
            <a:pPr>
              <a:spcBef>
                <a:spcPts val="700"/>
              </a:spcBef>
            </a:pPr>
            <a:r>
              <a:rPr sz="1450">
                <a:solidFill>
                  <a:srgbClr val="1E293B"/>
                </a:solidFill>
              </a:rPr>
              <a:t>• 目标：准确率75%→88%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摘要填空 vs 填空/流程图/表格：共同策略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所有填词类题型共同点</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答案来自原文——不自创词</a:t>
            </a:r>
          </a:p>
          <a:p>
            <a:pPr>
              <a:spcBef>
                <a:spcPts val="700"/>
              </a:spcBef>
            </a:pPr>
            <a:r>
              <a:rPr sz="1450">
                <a:solidFill>
                  <a:srgbClr val="1E293B"/>
                </a:solidFill>
              </a:rPr>
              <a:t>• 严格遵守词数限制</a:t>
            </a:r>
          </a:p>
          <a:p>
            <a:pPr>
              <a:spcBef>
                <a:spcPts val="700"/>
              </a:spcBef>
            </a:pPr>
            <a:r>
              <a:rPr sz="1450">
                <a:solidFill>
                  <a:srgbClr val="1E293B"/>
                </a:solidFill>
              </a:rPr>
              <a:t>• 拼写必须正确</a:t>
            </a:r>
          </a:p>
          <a:p>
            <a:pPr>
              <a:spcBef>
                <a:spcPts val="700"/>
              </a:spcBef>
            </a:pPr>
            <a:r>
              <a:rPr sz="1450">
                <a:solidFill>
                  <a:srgbClr val="1E293B"/>
                </a:solidFill>
              </a:rPr>
              <a:t>• 词形变换检查</a:t>
            </a:r>
          </a:p>
          <a:p>
            <a:pPr>
              <a:spcBef>
                <a:spcPts val="700"/>
              </a:spcBef>
            </a:pPr>
            <a:r>
              <a:rPr sz="1450">
                <a:solidFill>
                  <a:srgbClr val="1E293B"/>
                </a:solidFill>
              </a:rPr>
              <a:t>• 专有名词/数字优先定位</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各题型特点差异</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摘要填空：一段话，顺序与原文对应</a:t>
            </a:r>
          </a:p>
          <a:p>
            <a:pPr>
              <a:spcBef>
                <a:spcPts val="700"/>
              </a:spcBef>
            </a:pPr>
            <a:r>
              <a:rPr sz="1450">
                <a:solidFill>
                  <a:srgbClr val="1E293B"/>
                </a:solidFill>
              </a:rPr>
              <a:t>• 流程图：描述步骤/过程，按流程顺序</a:t>
            </a:r>
          </a:p>
          <a:p>
            <a:pPr>
              <a:spcBef>
                <a:spcPts val="700"/>
              </a:spcBef>
            </a:pPr>
            <a:r>
              <a:rPr sz="1450">
                <a:solidFill>
                  <a:srgbClr val="1E293B"/>
                </a:solidFill>
              </a:rPr>
              <a:t>• 表格：对比信息，按行/列找信息</a:t>
            </a:r>
          </a:p>
          <a:p>
            <a:pPr>
              <a:spcBef>
                <a:spcPts val="700"/>
              </a:spcBef>
            </a:pPr>
            <a:r>
              <a:rPr sz="1450">
                <a:solidFill>
                  <a:srgbClr val="1E293B"/>
                </a:solidFill>
              </a:rPr>
              <a:t>• 标注图：图形+文字，找标注对应处</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摘要填空：有/无选项框 综合备考策略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有选项框（较简单）</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先读选项——了解可能填入的词</a:t>
            </a:r>
          </a:p>
          <a:p>
            <a:pPr>
              <a:spcBef>
                <a:spcPts val="700"/>
              </a:spcBef>
            </a:pPr>
            <a:r>
              <a:rPr sz="1450">
                <a:solidFill>
                  <a:srgbClr val="1E293B"/>
                </a:solidFill>
              </a:rPr>
              <a:t>• 先按语法排除不合适词性的选项</a:t>
            </a:r>
          </a:p>
          <a:p>
            <a:pPr>
              <a:spcBef>
                <a:spcPts val="700"/>
              </a:spcBef>
            </a:pPr>
            <a:r>
              <a:rPr sz="1450">
                <a:solidFill>
                  <a:srgbClr val="1E293B"/>
                </a:solidFill>
              </a:rPr>
              <a:t>• 定位原文后，在剩余选项中选最匹配的</a:t>
            </a:r>
          </a:p>
          <a:p>
            <a:pPr>
              <a:spcBef>
                <a:spcPts val="700"/>
              </a:spcBef>
            </a:pPr>
            <a:r>
              <a:rPr sz="1450">
                <a:solidFill>
                  <a:srgbClr val="1E293B"/>
                </a:solidFill>
              </a:rPr>
              <a:t>• 排除已选的选项——通常不重复使用</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无选项框（较难）</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直接从原文找词——精读定位句</a:t>
            </a:r>
          </a:p>
          <a:p>
            <a:pPr>
              <a:spcBef>
                <a:spcPts val="700"/>
              </a:spcBef>
            </a:pPr>
            <a:r>
              <a:rPr sz="1450">
                <a:solidFill>
                  <a:srgbClr val="1E293B"/>
                </a:solidFill>
              </a:rPr>
              <a:t>• 注意词形变换——看语法位置调整词形</a:t>
            </a:r>
          </a:p>
          <a:p>
            <a:pPr>
              <a:spcBef>
                <a:spcPts val="700"/>
              </a:spcBef>
            </a:pPr>
            <a:r>
              <a:rPr sz="1450">
                <a:solidFill>
                  <a:srgbClr val="1E293B"/>
                </a:solidFill>
              </a:rPr>
              <a:t>• 严格词数控制——填完数词数</a:t>
            </a:r>
          </a:p>
          <a:p>
            <a:pPr>
              <a:spcBef>
                <a:spcPts val="700"/>
              </a:spcBef>
            </a:pPr>
            <a:r>
              <a:rPr sz="1450">
                <a:solidFill>
                  <a:srgbClr val="1E293B"/>
                </a:solidFill>
              </a:rPr>
              <a:t>• 拼写来自原文——对照原文抄写准确</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深圳学生摘要填空失分分析</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失分原因统计（前4名）</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第1名：超过词数限制（占错题35%）</a:t>
            </a:r>
          </a:p>
          <a:p>
            <a:pPr>
              <a:spcBef>
                <a:spcPts val="700"/>
              </a:spcBef>
            </a:pPr>
            <a:r>
              <a:rPr sz="1450">
                <a:solidFill>
                  <a:srgbClr val="1E293B"/>
                </a:solidFill>
              </a:rPr>
              <a:t>• 第2名：词形变换错误（占30%）</a:t>
            </a:r>
          </a:p>
          <a:p>
            <a:pPr>
              <a:spcBef>
                <a:spcPts val="700"/>
              </a:spcBef>
            </a:pPr>
            <a:r>
              <a:rPr sz="1450">
                <a:solidFill>
                  <a:srgbClr val="1E293B"/>
                </a:solidFill>
              </a:rPr>
              <a:t>• 第3名：拼写错误（占25%）</a:t>
            </a:r>
          </a:p>
          <a:p>
            <a:pPr>
              <a:spcBef>
                <a:spcPts val="700"/>
              </a:spcBef>
            </a:pPr>
            <a:r>
              <a:rPr sz="1450">
                <a:solidFill>
                  <a:srgbClr val="1E293B"/>
                </a:solidFill>
              </a:rPr>
              <a:t>• 第4名：定位失败/填错位置（占20%）</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针对性改进方法</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解决1：每题填完必数词数——强制习惯</a:t>
            </a:r>
          </a:p>
          <a:p>
            <a:pPr>
              <a:spcBef>
                <a:spcPts val="700"/>
              </a:spcBef>
            </a:pPr>
            <a:r>
              <a:rPr sz="1450">
                <a:solidFill>
                  <a:srgbClr val="1E293B"/>
                </a:solidFill>
              </a:rPr>
              <a:t>• 解决2：每次训练后练词形变换</a:t>
            </a:r>
          </a:p>
          <a:p>
            <a:pPr>
              <a:spcBef>
                <a:spcPts val="700"/>
              </a:spcBef>
            </a:pPr>
            <a:r>
              <a:rPr sz="1450">
                <a:solidFill>
                  <a:srgbClr val="1E293B"/>
                </a:solidFill>
              </a:rPr>
              <a:t>• 解决3：填词时对照原文逐字抄</a:t>
            </a:r>
          </a:p>
          <a:p>
            <a:pPr>
              <a:spcBef>
                <a:spcPts val="700"/>
              </a:spcBef>
            </a:pPr>
            <a:r>
              <a:rPr sz="1450">
                <a:solidFill>
                  <a:srgbClr val="1E293B"/>
                </a:solidFill>
              </a:rPr>
              <a:t>• 解决4：加强关键词定位速训</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摘要填空高分秘诀：3个习惯</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习惯1：词数先行</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填词之前就知道最多能填几个词</a:t>
            </a:r>
          </a:p>
          <a:p>
            <a:pPr>
              <a:spcBef>
                <a:spcPts val="700"/>
              </a:spcBef>
            </a:pPr>
            <a:r>
              <a:rPr sz="1450">
                <a:solidFill>
                  <a:srgbClr val="1E293B"/>
                </a:solidFill>
              </a:rPr>
              <a:t>• 填完后立即数——不要等到最后</a:t>
            </a:r>
          </a:p>
          <a:p>
            <a:pPr>
              <a:spcBef>
                <a:spcPts val="700"/>
              </a:spcBef>
            </a:pPr>
            <a:r>
              <a:rPr sz="1450">
                <a:solidFill>
                  <a:srgbClr val="1E293B"/>
                </a:solidFill>
              </a:rPr>
              <a:t>• 超了就删非核心词，只保留答案核心</a:t>
            </a:r>
          </a:p>
          <a:p>
            <a:pPr>
              <a:spcBef>
                <a:spcPts val="700"/>
              </a:spcBef>
            </a:pPr>
            <a:r>
              <a:rPr sz="1450">
                <a:solidFill>
                  <a:srgbClr val="1E293B"/>
                </a:solidFill>
              </a:rPr>
              <a:t>• 宁短勿长——短的通常更安全</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习惯2+3：拼写+验证</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习惯2：拼写对照——从原文抄，不从记忆写</a:t>
            </a:r>
          </a:p>
          <a:p>
            <a:pPr>
              <a:spcBef>
                <a:spcPts val="700"/>
              </a:spcBef>
            </a:pPr>
            <a:r>
              <a:rPr sz="1450">
                <a:solidFill>
                  <a:srgbClr val="1E293B"/>
                </a:solidFill>
              </a:rPr>
              <a:t>• 特别注意：长词/相似词/外来词的拼写</a:t>
            </a:r>
          </a:p>
          <a:p>
            <a:pPr>
              <a:spcBef>
                <a:spcPts val="700"/>
              </a:spcBef>
            </a:pPr>
            <a:r>
              <a:rPr sz="1450">
                <a:solidFill>
                  <a:srgbClr val="1E293B"/>
                </a:solidFill>
              </a:rPr>
              <a:t>• 习惯3：填完整句读一遍——语法通顺且意思对</a:t>
            </a:r>
          </a:p>
          <a:p>
            <a:pPr>
              <a:spcBef>
                <a:spcPts val="700"/>
              </a:spcBef>
            </a:pPr>
            <a:r>
              <a:rPr sz="1450">
                <a:solidFill>
                  <a:srgbClr val="1E293B"/>
                </a:solidFill>
              </a:rPr>
              <a:t>• 30秒检查 = 可能多得1-2分</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L07学完自测：摘要填空掌握度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知道摘要填空的词数限制并每次检查词数</a:t>
            </a:r>
          </a:p>
          <a:p>
            <a:pPr>
              <a:spcBef>
                <a:spcPts val="1200"/>
              </a:spcBef>
            </a:pPr>
            <a:r>
              <a:rPr sz="1600">
                <a:solidFill>
                  <a:srgbClr val="1E293B"/>
                </a:solidFill>
              </a:rPr>
              <a:t>☐ 能用专有名词/数字快速定位原文段落</a:t>
            </a:r>
          </a:p>
          <a:p>
            <a:pPr>
              <a:spcBef>
                <a:spcPts val="1200"/>
              </a:spcBef>
            </a:pPr>
            <a:r>
              <a:rPr sz="1600">
                <a:solidFill>
                  <a:srgbClr val="1E293B"/>
                </a:solidFill>
              </a:rPr>
              <a:t>☐ 能识别摘要与原文之间的同义替换</a:t>
            </a:r>
          </a:p>
          <a:p>
            <a:pPr>
              <a:spcBef>
                <a:spcPts val="1200"/>
              </a:spcBef>
            </a:pPr>
            <a:r>
              <a:rPr sz="1600">
                <a:solidFill>
                  <a:srgbClr val="1E293B"/>
                </a:solidFill>
              </a:rPr>
              <a:t>☐ 能正确判断应填的词形（名词/形容词/副词）</a:t>
            </a:r>
          </a:p>
          <a:p>
            <a:pPr>
              <a:spcBef>
                <a:spcPts val="1200"/>
              </a:spcBef>
            </a:pPr>
            <a:r>
              <a:rPr sz="1600">
                <a:solidFill>
                  <a:srgbClr val="1E293B"/>
                </a:solidFill>
              </a:rPr>
              <a:t>☐ 句子完成能把开头+结尾拼在一起验证语法</a:t>
            </a:r>
          </a:p>
          <a:p>
            <a:pPr>
              <a:spcBef>
                <a:spcPts val="1200"/>
              </a:spcBef>
            </a:pPr>
            <a:r>
              <a:rPr sz="1600">
                <a:solidFill>
                  <a:srgbClr val="1E293B"/>
                </a:solidFill>
              </a:rPr>
              <a:t>☐ 建立了"定位→精读→填词→检查"的标准流程</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L07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E09A10"/>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摘要填空答案来自原文——定位关键词→精读→填原文词</a:t>
            </a:r>
          </a:p>
          <a:p>
            <a:pPr>
              <a:spcBef>
                <a:spcPts val="1100"/>
              </a:spcBef>
            </a:pPr>
            <a:r>
              <a:rPr sz="1550">
                <a:solidFill>
                  <a:srgbClr val="FFFFFF"/>
                </a:solidFill>
              </a:rPr>
              <a:t>✓  词数限制绝对不能超过——填完数词数是必做检查</a:t>
            </a:r>
          </a:p>
          <a:p>
            <a:pPr>
              <a:spcBef>
                <a:spcPts val="1100"/>
              </a:spcBef>
            </a:pPr>
            <a:r>
              <a:rPr sz="1550">
                <a:solidFill>
                  <a:srgbClr val="FFFFFF"/>
                </a:solidFill>
              </a:rPr>
              <a:t>✓  词形变换：填词要与语法位置匹配（名/形/副词）</a:t>
            </a:r>
          </a:p>
          <a:p>
            <a:pPr>
              <a:spcBef>
                <a:spcPts val="1100"/>
              </a:spcBef>
            </a:pPr>
            <a:r>
              <a:rPr sz="1550">
                <a:solidFill>
                  <a:srgbClr val="FFFFFF"/>
                </a:solidFill>
              </a:rPr>
              <a:t>✓  句子完成：开头+结尾拼在一起读——语法通顺且与原文一致</a:t>
            </a:r>
          </a:p>
          <a:p>
            <a:pPr>
              <a:spcBef>
                <a:spcPts val="1100"/>
              </a:spcBef>
            </a:pPr>
            <a:r>
              <a:rPr sz="1550">
                <a:solidFill>
                  <a:srgbClr val="FFFFFF"/>
                </a:solidFill>
              </a:rPr>
              <a:t>✓  同义替换：摘要词≠原文词，但答案词来自原文</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L07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E09A10"/>
                </a:solidFill>
                <a:latin typeface="Calibri"/>
              </a:rPr>
              <a:t>⏱ 建议用时：约2小时</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Cambridge IELTS真题：完成3套摘要填空，每次填完检查词数和拼写</a:t>
            </a:r>
          </a:p>
          <a:p>
            <a:pPr>
              <a:spcBef>
                <a:spcPts val="1300"/>
              </a:spcBef>
            </a:pPr>
            <a:r>
              <a:rPr sz="1550" b="1">
                <a:solidFill>
                  <a:srgbClr val="1E293B"/>
                </a:solidFill>
              </a:rPr>
              <a:t>作业 2　收集错题：分析错误原因（词数超/拼写错/词形错/同义替换失误）</a:t>
            </a:r>
          </a:p>
          <a:p>
            <a:pPr>
              <a:spcBef>
                <a:spcPts val="1300"/>
              </a:spcBef>
            </a:pPr>
            <a:r>
              <a:rPr sz="1550" b="1">
                <a:solidFill>
                  <a:srgbClr val="1E293B"/>
                </a:solidFill>
              </a:rPr>
              <a:t>作业 3　词形变换练习：每天20个高频词的名词/形容词/副词变换</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E09A10"/>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L08 · 词汇与推断专项</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词义推断3种方法</a:t>
            </a:r>
          </a:p>
          <a:p>
            <a:pPr>
              <a:spcBef>
                <a:spcPts val="1000"/>
              </a:spcBef>
            </a:pPr>
            <a:r>
              <a:rPr sz="1600">
                <a:solidFill>
                  <a:srgbClr val="CFDCF2"/>
                </a:solidFill>
              </a:rPr>
              <a:t>→ 推断题做题技巧</a:t>
            </a:r>
          </a:p>
          <a:p>
            <a:pPr>
              <a:spcBef>
                <a:spcPts val="1000"/>
              </a:spcBef>
            </a:pPr>
            <a:r>
              <a:rPr sz="1600">
                <a:solidFill>
                  <a:srgbClr val="CFDCF2"/>
                </a:solidFill>
              </a:rPr>
              <a:t>→ IELTS高频学术词汇</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