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778240" y="0"/>
            <a:ext cx="341345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0" y="1463040"/>
            <a:ext cx="3413455" cy="1828800"/>
          </a:xfrm>
          <a:prstGeom prst="rect">
            <a:avLst/>
          </a:prstGeom>
          <a:noFill/>
        </p:spPr>
        <p:txBody>
          <a:bodyPr wrap="square" anchor="t">
            <a:spAutoFit/>
          </a:bodyPr>
          <a:lstStyle/>
          <a:p>
            <a:pPr algn="ctr"/>
            <a:r>
              <a:rPr sz="12000" b="1" i="0">
                <a:solidFill>
                  <a:srgbClr val="E09A10"/>
                </a:solidFill>
                <a:latin typeface="Calibri"/>
              </a:rPr>
              <a:t>L05</a:t>
            </a:r>
          </a:p>
        </p:txBody>
      </p:sp>
      <p:sp>
        <p:nvSpPr>
          <p:cNvPr id="6" name="TextBox 5"/>
          <p:cNvSpPr txBox="1"/>
          <p:nvPr/>
        </p:nvSpPr>
        <p:spPr>
          <a:xfrm>
            <a:off x="8778240" y="3566160"/>
            <a:ext cx="3413455" cy="731520"/>
          </a:xfrm>
          <a:prstGeom prst="rect">
            <a:avLst/>
          </a:prstGeom>
          <a:noFill/>
        </p:spPr>
        <p:txBody>
          <a:bodyPr wrap="square" anchor="t">
            <a:spAutoFit/>
          </a:bodyPr>
          <a:lstStyle/>
          <a:p>
            <a:pPr algn="ctr"/>
            <a:r>
              <a:rPr sz="3000" b="1" i="0">
                <a:solidFill>
                  <a:srgbClr val="FFFFFF"/>
                </a:solidFill>
                <a:latin typeface="Calibri"/>
              </a:rPr>
              <a:t>/ 10</a:t>
            </a:r>
          </a:p>
        </p:txBody>
      </p:sp>
      <p:sp>
        <p:nvSpPr>
          <p:cNvPr id="7" name="TextBox 6"/>
          <p:cNvSpPr txBox="1"/>
          <p:nvPr/>
        </p:nvSpPr>
        <p:spPr>
          <a:xfrm>
            <a:off x="777240" y="1280160"/>
            <a:ext cx="7680960" cy="640080"/>
          </a:xfrm>
          <a:prstGeom prst="rect">
            <a:avLst/>
          </a:prstGeom>
          <a:noFill/>
        </p:spPr>
        <p:txBody>
          <a:bodyPr wrap="square" anchor="t">
            <a:spAutoFit/>
          </a:bodyPr>
          <a:lstStyle/>
          <a:p>
            <a:pPr algn="l"/>
            <a:r>
              <a:rPr sz="2000" b="1" i="0">
                <a:solidFill>
                  <a:srgbClr val="E09A10"/>
                </a:solidFill>
                <a:latin typeface="Calibri"/>
              </a:rPr>
              <a:t>IELTS Reading 阅读</a:t>
            </a:r>
          </a:p>
        </p:txBody>
      </p:sp>
      <p:sp>
        <p:nvSpPr>
          <p:cNvPr id="8" name="TextBox 7"/>
          <p:cNvSpPr txBox="1"/>
          <p:nvPr/>
        </p:nvSpPr>
        <p:spPr>
          <a:xfrm>
            <a:off x="777240" y="1920240"/>
            <a:ext cx="7680960" cy="2194560"/>
          </a:xfrm>
          <a:prstGeom prst="rect">
            <a:avLst/>
          </a:prstGeom>
          <a:noFill/>
        </p:spPr>
        <p:txBody>
          <a:bodyPr wrap="square" anchor="t">
            <a:spAutoFit/>
          </a:bodyPr>
          <a:lstStyle/>
          <a:p>
            <a:pPr algn="l"/>
            <a:r>
              <a:rPr sz="4200" b="1" i="0">
                <a:solidFill>
                  <a:srgbClr val="FFFFFF"/>
                </a:solidFill>
                <a:latin typeface="Calibri"/>
              </a:rPr>
              <a:t>标题匹配专项
段落主旨快速识别</a:t>
            </a:r>
          </a:p>
        </p:txBody>
      </p:sp>
      <p:sp>
        <p:nvSpPr>
          <p:cNvPr id="9" name="TextBox 8"/>
          <p:cNvSpPr txBox="1"/>
          <p:nvPr/>
        </p:nvSpPr>
        <p:spPr>
          <a:xfrm>
            <a:off x="777240" y="4206240"/>
            <a:ext cx="7498079" cy="1097280"/>
          </a:xfrm>
          <a:prstGeom prst="rect">
            <a:avLst/>
          </a:prstGeom>
          <a:noFill/>
        </p:spPr>
        <p:txBody>
          <a:bodyPr wrap="square" anchor="t">
            <a:spAutoFit/>
          </a:bodyPr>
          <a:lstStyle/>
          <a:p>
            <a:pPr algn="l"/>
            <a:r>
              <a:rPr sz="1800" b="0" i="0">
                <a:solidFill>
                  <a:srgbClr val="CFDCF2"/>
                </a:solidFill>
                <a:latin typeface="Calibri"/>
              </a:rPr>
              <a:t>Paragraph Headings: Match the Main Idea</a:t>
            </a:r>
          </a:p>
        </p:txBody>
      </p:sp>
      <p:sp>
        <p:nvSpPr>
          <p:cNvPr id="10" name="Rounded Rectangle 9"/>
          <p:cNvSpPr/>
          <p:nvPr/>
        </p:nvSpPr>
        <p:spPr>
          <a:xfrm>
            <a:off x="777240" y="5669280"/>
            <a:ext cx="3840480" cy="54864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742432"/>
            <a:ext cx="3657600" cy="411480"/>
          </a:xfrm>
          <a:prstGeom prst="rect">
            <a:avLst/>
          </a:prstGeom>
          <a:noFill/>
        </p:spPr>
        <p:txBody>
          <a:bodyPr wrap="square" anchor="t">
            <a:spAutoFit/>
          </a:bodyPr>
          <a:lstStyle/>
          <a:p>
            <a:pPr algn="l"/>
            <a:r>
              <a:rPr sz="1300" b="1" i="0">
                <a:solidFill>
                  <a:srgbClr val="FFFFFF"/>
                </a:solidFill>
                <a:latin typeface="Calibri"/>
              </a:rPr>
              <a:t>第 5 节课 · 课时 90 分钟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本课流程  Lesson Roadmap</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ounded Rectangle 6"/>
          <p:cNvSpPr/>
          <p:nvPr/>
        </p:nvSpPr>
        <p:spPr>
          <a:xfrm>
            <a:off x="548640" y="1325880"/>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566928" cy="457200"/>
          </a:xfrm>
          <a:prstGeom prst="rect">
            <a:avLst/>
          </a:prstGeom>
          <a:noFill/>
        </p:spPr>
        <p:txBody>
          <a:bodyPr wrap="square" anchor="t">
            <a:spAutoFit/>
          </a:bodyPr>
          <a:lstStyle/>
          <a:p>
            <a:pPr algn="ctr"/>
            <a:r>
              <a:rPr sz="2000" b="1" i="0">
                <a:solidFill>
                  <a:srgbClr val="FFFFFF"/>
                </a:solidFill>
                <a:latin typeface="Calibri"/>
              </a:rPr>
              <a:t>1</a:t>
            </a:r>
          </a:p>
        </p:txBody>
      </p:sp>
      <p:sp>
        <p:nvSpPr>
          <p:cNvPr id="9" name="TextBox 8"/>
          <p:cNvSpPr txBox="1"/>
          <p:nvPr/>
        </p:nvSpPr>
        <p:spPr>
          <a:xfrm>
            <a:off x="1280160" y="1344168"/>
            <a:ext cx="4937760" cy="731520"/>
          </a:xfrm>
          <a:prstGeom prst="rect">
            <a:avLst/>
          </a:prstGeom>
          <a:noFill/>
        </p:spPr>
        <p:txBody>
          <a:bodyPr wrap="square" anchor="ctr">
            <a:spAutoFit/>
          </a:bodyPr>
          <a:lstStyle/>
          <a:p>
            <a:pPr algn="l"/>
            <a:r>
              <a:rPr sz="1450" b="1" i="0">
                <a:solidFill>
                  <a:srgbClr val="1E293B"/>
                </a:solidFill>
                <a:latin typeface="Calibri"/>
              </a:rPr>
              <a:t>标题匹配题型解析</a:t>
            </a:r>
          </a:p>
        </p:txBody>
      </p:sp>
      <p:sp>
        <p:nvSpPr>
          <p:cNvPr id="10" name="Rounded Rectangle 9"/>
          <p:cNvSpPr/>
          <p:nvPr/>
        </p:nvSpPr>
        <p:spPr>
          <a:xfrm>
            <a:off x="548640" y="2167128"/>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12848"/>
            <a:ext cx="566928" cy="457200"/>
          </a:xfrm>
          <a:prstGeom prst="rect">
            <a:avLst/>
          </a:prstGeom>
          <a:noFill/>
        </p:spPr>
        <p:txBody>
          <a:bodyPr wrap="square" anchor="t">
            <a:spAutoFit/>
          </a:bodyPr>
          <a:lstStyle/>
          <a:p>
            <a:pPr algn="ctr"/>
            <a:r>
              <a:rPr sz="2000" b="1" i="0">
                <a:solidFill>
                  <a:srgbClr val="FFFFFF"/>
                </a:solidFill>
                <a:latin typeface="Calibri"/>
              </a:rPr>
              <a:t>2</a:t>
            </a:r>
          </a:p>
        </p:txBody>
      </p:sp>
      <p:sp>
        <p:nvSpPr>
          <p:cNvPr id="12" name="TextBox 11"/>
          <p:cNvSpPr txBox="1"/>
          <p:nvPr/>
        </p:nvSpPr>
        <p:spPr>
          <a:xfrm>
            <a:off x="1280160" y="2185416"/>
            <a:ext cx="4937760" cy="731520"/>
          </a:xfrm>
          <a:prstGeom prst="rect">
            <a:avLst/>
          </a:prstGeom>
          <a:noFill/>
        </p:spPr>
        <p:txBody>
          <a:bodyPr wrap="square" anchor="ctr">
            <a:spAutoFit/>
          </a:bodyPr>
          <a:lstStyle/>
          <a:p>
            <a:pPr algn="l"/>
            <a:r>
              <a:rPr sz="1450" b="1" i="0">
                <a:solidFill>
                  <a:srgbClr val="1E293B"/>
                </a:solidFill>
                <a:latin typeface="Calibri"/>
              </a:rPr>
              <a:t>主题句识别技术</a:t>
            </a:r>
          </a:p>
        </p:txBody>
      </p:sp>
      <p:sp>
        <p:nvSpPr>
          <p:cNvPr id="13" name="Rounded Rectangle 12"/>
          <p:cNvSpPr/>
          <p:nvPr/>
        </p:nvSpPr>
        <p:spPr>
          <a:xfrm>
            <a:off x="548640" y="3008376"/>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54096"/>
            <a:ext cx="566928" cy="457200"/>
          </a:xfrm>
          <a:prstGeom prst="rect">
            <a:avLst/>
          </a:prstGeom>
          <a:noFill/>
        </p:spPr>
        <p:txBody>
          <a:bodyPr wrap="square" anchor="t">
            <a:spAutoFit/>
          </a:bodyPr>
          <a:lstStyle/>
          <a:p>
            <a:pPr algn="ctr"/>
            <a:r>
              <a:rPr sz="2000" b="1" i="0">
                <a:solidFill>
                  <a:srgbClr val="FFFFFF"/>
                </a:solidFill>
                <a:latin typeface="Calibri"/>
              </a:rPr>
              <a:t>3</a:t>
            </a:r>
          </a:p>
        </p:txBody>
      </p:sp>
      <p:sp>
        <p:nvSpPr>
          <p:cNvPr id="15" name="TextBox 14"/>
          <p:cNvSpPr txBox="1"/>
          <p:nvPr/>
        </p:nvSpPr>
        <p:spPr>
          <a:xfrm>
            <a:off x="1280160" y="3026664"/>
            <a:ext cx="4937760" cy="731520"/>
          </a:xfrm>
          <a:prstGeom prst="rect">
            <a:avLst/>
          </a:prstGeom>
          <a:noFill/>
        </p:spPr>
        <p:txBody>
          <a:bodyPr wrap="square" anchor="ctr">
            <a:spAutoFit/>
          </a:bodyPr>
          <a:lstStyle/>
          <a:p>
            <a:pPr algn="l"/>
            <a:r>
              <a:rPr sz="1450" b="1" i="0">
                <a:solidFill>
                  <a:srgbClr val="1E293B"/>
                </a:solidFill>
                <a:latin typeface="Calibri"/>
              </a:rPr>
              <a:t>干扰选项破解</a:t>
            </a:r>
          </a:p>
        </p:txBody>
      </p:sp>
      <p:sp>
        <p:nvSpPr>
          <p:cNvPr id="16" name="Rounded Rectangle 15"/>
          <p:cNvSpPr/>
          <p:nvPr/>
        </p:nvSpPr>
        <p:spPr>
          <a:xfrm>
            <a:off x="6400800" y="1325880"/>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371600"/>
            <a:ext cx="566928" cy="457200"/>
          </a:xfrm>
          <a:prstGeom prst="rect">
            <a:avLst/>
          </a:prstGeom>
          <a:noFill/>
        </p:spPr>
        <p:txBody>
          <a:bodyPr wrap="square" anchor="t">
            <a:spAutoFit/>
          </a:bodyPr>
          <a:lstStyle/>
          <a:p>
            <a:pPr algn="ctr"/>
            <a:r>
              <a:rPr sz="2000" b="1" i="0">
                <a:solidFill>
                  <a:srgbClr val="FFFFFF"/>
                </a:solidFill>
                <a:latin typeface="Calibri"/>
              </a:rPr>
              <a:t>4</a:t>
            </a:r>
          </a:p>
        </p:txBody>
      </p:sp>
      <p:sp>
        <p:nvSpPr>
          <p:cNvPr id="18" name="TextBox 17"/>
          <p:cNvSpPr txBox="1"/>
          <p:nvPr/>
        </p:nvSpPr>
        <p:spPr>
          <a:xfrm>
            <a:off x="7132320" y="1344168"/>
            <a:ext cx="4937760" cy="731520"/>
          </a:xfrm>
          <a:prstGeom prst="rect">
            <a:avLst/>
          </a:prstGeom>
          <a:noFill/>
        </p:spPr>
        <p:txBody>
          <a:bodyPr wrap="square" anchor="ctr">
            <a:spAutoFit/>
          </a:bodyPr>
          <a:lstStyle/>
          <a:p>
            <a:pPr algn="l"/>
            <a:r>
              <a:rPr sz="1450" b="1" i="0">
                <a:solidFill>
                  <a:srgbClr val="1E293B"/>
                </a:solidFill>
                <a:latin typeface="Calibri"/>
              </a:rPr>
              <a:t>段落类型与标题策略</a:t>
            </a:r>
          </a:p>
        </p:txBody>
      </p:sp>
      <p:sp>
        <p:nvSpPr>
          <p:cNvPr id="19" name="Rounded Rectangle 18"/>
          <p:cNvSpPr/>
          <p:nvPr/>
        </p:nvSpPr>
        <p:spPr>
          <a:xfrm>
            <a:off x="6400800" y="2167128"/>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2212848"/>
            <a:ext cx="566928" cy="457200"/>
          </a:xfrm>
          <a:prstGeom prst="rect">
            <a:avLst/>
          </a:prstGeom>
          <a:noFill/>
        </p:spPr>
        <p:txBody>
          <a:bodyPr wrap="square" anchor="t">
            <a:spAutoFit/>
          </a:bodyPr>
          <a:lstStyle/>
          <a:p>
            <a:pPr algn="ctr"/>
            <a:r>
              <a:rPr sz="2000" b="1" i="0">
                <a:solidFill>
                  <a:srgbClr val="FFFFFF"/>
                </a:solidFill>
                <a:latin typeface="Calibri"/>
              </a:rPr>
              <a:t>5</a:t>
            </a:r>
          </a:p>
        </p:txBody>
      </p:sp>
      <p:sp>
        <p:nvSpPr>
          <p:cNvPr id="21" name="TextBox 20"/>
          <p:cNvSpPr txBox="1"/>
          <p:nvPr/>
        </p:nvSpPr>
        <p:spPr>
          <a:xfrm>
            <a:off x="7132320" y="2185416"/>
            <a:ext cx="4937760" cy="731520"/>
          </a:xfrm>
          <a:prstGeom prst="rect">
            <a:avLst/>
          </a:prstGeom>
          <a:noFill/>
        </p:spPr>
        <p:txBody>
          <a:bodyPr wrap="square" anchor="ctr">
            <a:spAutoFit/>
          </a:bodyPr>
          <a:lstStyle/>
          <a:p>
            <a:pPr algn="l"/>
            <a:r>
              <a:rPr sz="1450" b="1" i="0">
                <a:solidFill>
                  <a:srgbClr val="1E293B"/>
                </a:solidFill>
                <a:latin typeface="Calibri"/>
              </a:rPr>
              <a:t>综合实战演练</a:t>
            </a:r>
          </a:p>
        </p:txBody>
      </p:sp>
      <p:sp>
        <p:nvSpPr>
          <p:cNvPr id="22" name="Rounded Rectangle 21"/>
          <p:cNvSpPr/>
          <p:nvPr/>
        </p:nvSpPr>
        <p:spPr>
          <a:xfrm>
            <a:off x="6400800" y="3008376"/>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3054096"/>
            <a:ext cx="566928" cy="457200"/>
          </a:xfrm>
          <a:prstGeom prst="rect">
            <a:avLst/>
          </a:prstGeom>
          <a:noFill/>
        </p:spPr>
        <p:txBody>
          <a:bodyPr wrap="square" anchor="t">
            <a:spAutoFit/>
          </a:bodyPr>
          <a:lstStyle/>
          <a:p>
            <a:pPr algn="ctr"/>
            <a:r>
              <a:rPr sz="2000" b="1" i="0">
                <a:solidFill>
                  <a:srgbClr val="FFFFFF"/>
                </a:solidFill>
                <a:latin typeface="Calibri"/>
              </a:rPr>
              <a:t>6</a:t>
            </a:r>
          </a:p>
        </p:txBody>
      </p:sp>
      <p:sp>
        <p:nvSpPr>
          <p:cNvPr id="24" name="TextBox 23"/>
          <p:cNvSpPr txBox="1"/>
          <p:nvPr/>
        </p:nvSpPr>
        <p:spPr>
          <a:xfrm>
            <a:off x="7132320" y="3026664"/>
            <a:ext cx="4937760" cy="731520"/>
          </a:xfrm>
          <a:prstGeom prst="rect">
            <a:avLst/>
          </a:prstGeom>
          <a:noFill/>
        </p:spPr>
        <p:txBody>
          <a:bodyPr wrap="square" anchor="ctr">
            <a:spAutoFit/>
          </a:bodyPr>
          <a:lstStyle/>
          <a:p>
            <a:pPr algn="l"/>
            <a:r>
              <a:rPr sz="1450" b="1" i="0">
                <a:solidFill>
                  <a:srgbClr val="1E293B"/>
                </a:solidFill>
                <a:latin typeface="Calibri"/>
              </a:rPr>
              <a:t>考场时间管理</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01</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标题匹配题型深度解析</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Heading Matching: Deep Dive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标题匹配考查核心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What Heading Matching Tests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主旨理解</a:t>
            </a:r>
          </a:p>
          <a:p>
            <a:pPr>
              <a:spcBef>
                <a:spcPts val="100"/>
              </a:spcBef>
            </a:pPr>
            <a:r>
              <a:rPr sz="1500">
                <a:solidFill>
                  <a:srgbClr val="556075"/>
                </a:solidFill>
              </a:rPr>
              <a:t>   考查对每个段落核心主旨的理解——不是细节信息</a:t>
            </a:r>
          </a:p>
          <a:p>
            <a:pPr>
              <a:spcBef>
                <a:spcPts val="900"/>
              </a:spcBef>
            </a:pPr>
            <a:r>
              <a:rPr sz="1800" b="1">
                <a:solidFill>
                  <a:srgbClr val="1B5E33"/>
                </a:solidFill>
              </a:rPr>
              <a:t>• 干扰识别</a:t>
            </a:r>
          </a:p>
          <a:p>
            <a:pPr>
              <a:spcBef>
                <a:spcPts val="100"/>
              </a:spcBef>
            </a:pPr>
            <a:r>
              <a:rPr sz="1500">
                <a:solidFill>
                  <a:srgbClr val="556075"/>
                </a:solidFill>
              </a:rPr>
              <a:t>   干扰标题通常含有段落中的词，但不是整段主旨</a:t>
            </a:r>
          </a:p>
          <a:p>
            <a:pPr>
              <a:spcBef>
                <a:spcPts val="900"/>
              </a:spcBef>
            </a:pPr>
            <a:r>
              <a:rPr sz="1800" b="1">
                <a:solidFill>
                  <a:srgbClr val="1B5E33"/>
                </a:solidFill>
              </a:rPr>
              <a:t>• 同义替换</a:t>
            </a:r>
          </a:p>
          <a:p>
            <a:pPr>
              <a:spcBef>
                <a:spcPts val="100"/>
              </a:spcBef>
            </a:pPr>
            <a:r>
              <a:rPr sz="1500">
                <a:solidFill>
                  <a:srgbClr val="556075"/>
                </a:solidFill>
              </a:rPr>
              <a:t>   正确标题用不同词表达段落主旨——不是复制原词</a:t>
            </a:r>
          </a:p>
          <a:p>
            <a:pPr>
              <a:spcBef>
                <a:spcPts val="900"/>
              </a:spcBef>
            </a:pPr>
            <a:r>
              <a:rPr sz="1800" b="1">
                <a:solidFill>
                  <a:srgbClr val="1B5E33"/>
                </a:solidFill>
              </a:rPr>
              <a:t>• 排除法</a:t>
            </a:r>
          </a:p>
          <a:p>
            <a:pPr>
              <a:spcBef>
                <a:spcPts val="100"/>
              </a:spcBef>
            </a:pPr>
            <a:r>
              <a:rPr sz="1500">
                <a:solidFill>
                  <a:srgbClr val="556075"/>
                </a:solidFill>
              </a:rPr>
              <a:t>   备选标题比段落多2-3个——需要排除干扰选项</a:t>
            </a:r>
          </a:p>
          <a:p>
            <a:pPr>
              <a:spcBef>
                <a:spcPts val="900"/>
              </a:spcBef>
            </a:pPr>
            <a:r>
              <a:rPr sz="1800" b="1">
                <a:solidFill>
                  <a:srgbClr val="1B5E33"/>
                </a:solidFill>
              </a:rPr>
              <a:t>• 难度</a:t>
            </a:r>
          </a:p>
          <a:p>
            <a:pPr>
              <a:spcBef>
                <a:spcPts val="100"/>
              </a:spcBef>
            </a:pPr>
            <a:r>
              <a:rPr sz="1500">
                <a:solidFill>
                  <a:srgbClr val="556075"/>
                </a:solidFill>
              </a:rPr>
              <a:t>   标题匹配是IELTS阅读最难题型——需要专项训练</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标题匹配题目结构</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Question Structure</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备选标题多</a:t>
            </a:r>
          </a:p>
          <a:p>
            <a:pPr>
              <a:spcBef>
                <a:spcPts val="100"/>
              </a:spcBef>
            </a:pPr>
            <a:r>
              <a:rPr sz="1500">
                <a:solidFill>
                  <a:srgbClr val="556075"/>
                </a:solidFill>
              </a:rPr>
              <a:t>   比段落多2-3个——有干扰选项需排除</a:t>
            </a:r>
          </a:p>
          <a:p>
            <a:pPr>
              <a:spcBef>
                <a:spcPts val="900"/>
              </a:spcBef>
            </a:pPr>
            <a:r>
              <a:rPr sz="1800" b="1">
                <a:solidFill>
                  <a:srgbClr val="1B5E33"/>
                </a:solidFill>
              </a:rPr>
              <a:t>• 可能有示例</a:t>
            </a:r>
          </a:p>
          <a:p>
            <a:pPr>
              <a:spcBef>
                <a:spcPts val="100"/>
              </a:spcBef>
            </a:pPr>
            <a:r>
              <a:rPr sz="1500">
                <a:solidFill>
                  <a:srgbClr val="556075"/>
                </a:solidFill>
              </a:rPr>
              <a:t>   题目可能给1-2个已做好的示例段落</a:t>
            </a:r>
          </a:p>
          <a:p>
            <a:pPr>
              <a:spcBef>
                <a:spcPts val="900"/>
              </a:spcBef>
            </a:pPr>
            <a:r>
              <a:rPr sz="1800" b="1">
                <a:solidFill>
                  <a:srgbClr val="1B5E33"/>
                </a:solidFill>
              </a:rPr>
              <a:t>• 编号方式</a:t>
            </a:r>
          </a:p>
          <a:p>
            <a:pPr>
              <a:spcBef>
                <a:spcPts val="100"/>
              </a:spcBef>
            </a:pPr>
            <a:r>
              <a:rPr sz="1500">
                <a:solidFill>
                  <a:srgbClr val="556075"/>
                </a:solidFill>
              </a:rPr>
              <a:t>   段落用字母A/B/C，标题用罗马数字I/II/III</a:t>
            </a:r>
          </a:p>
          <a:p>
            <a:pPr>
              <a:spcBef>
                <a:spcPts val="900"/>
              </a:spcBef>
            </a:pPr>
            <a:r>
              <a:rPr sz="1800" b="1">
                <a:solidFill>
                  <a:srgbClr val="1B5E33"/>
                </a:solidFill>
              </a:rPr>
              <a:t>• 不重复原则</a:t>
            </a:r>
          </a:p>
          <a:p>
            <a:pPr>
              <a:spcBef>
                <a:spcPts val="100"/>
              </a:spcBef>
            </a:pPr>
            <a:r>
              <a:rPr sz="1500">
                <a:solidFill>
                  <a:srgbClr val="556075"/>
                </a:solidFill>
              </a:rPr>
              <a:t>   通常一个标题只能用一次，除非题目说明可重复</a:t>
            </a:r>
          </a:p>
          <a:p>
            <a:pPr>
              <a:spcBef>
                <a:spcPts val="900"/>
              </a:spcBef>
            </a:pPr>
            <a:r>
              <a:rPr sz="1800" b="1">
                <a:solidFill>
                  <a:srgbClr val="1B5E33"/>
                </a:solidFill>
              </a:rPr>
              <a:t>• 按段顺序做</a:t>
            </a:r>
          </a:p>
          <a:p>
            <a:pPr>
              <a:spcBef>
                <a:spcPts val="100"/>
              </a:spcBef>
            </a:pPr>
            <a:r>
              <a:rPr sz="1500">
                <a:solidFill>
                  <a:srgbClr val="556075"/>
                </a:solidFill>
              </a:rPr>
              <a:t>   从第一段开始，不要跳来跳去</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标题匹配核心考点</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正确标题概括整段主旨——不只是某一细节或例子</a:t>
            </a:r>
          </a:p>
          <a:p>
            <a:pPr>
              <a:spcBef>
                <a:spcPts val="1000"/>
              </a:spcBef>
            </a:pPr>
            <a:r>
              <a:rPr sz="1650">
                <a:solidFill>
                  <a:srgbClr val="1E293B"/>
                </a:solidFill>
              </a:rPr>
              <a:t>• 干扰标题通常含段落词——但不对应整段主旨</a:t>
            </a:r>
          </a:p>
          <a:p>
            <a:pPr>
              <a:spcBef>
                <a:spcPts val="1000"/>
              </a:spcBef>
            </a:pPr>
            <a:r>
              <a:rPr sz="1650">
                <a:solidFill>
                  <a:srgbClr val="1E293B"/>
                </a:solidFill>
              </a:rPr>
              <a:t>• 同义替换是关键——正确标题用不同词表达相同意思</a:t>
            </a:r>
          </a:p>
          <a:p>
            <a:pPr>
              <a:spcBef>
                <a:spcPts val="1000"/>
              </a:spcBef>
            </a:pPr>
            <a:r>
              <a:rPr sz="1650">
                <a:solidFill>
                  <a:srgbClr val="1E293B"/>
                </a:solidFill>
              </a:rPr>
              <a:t>• 排除法有效——备选比段落多2-3个，先排除明显错误</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标题匹配高分策略</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第一步：快速读完所有备选标题，了解主题范围</a:t>
            </a:r>
          </a:p>
          <a:p>
            <a:pPr>
              <a:spcBef>
                <a:spcPts val="1000"/>
              </a:spcBef>
            </a:pPr>
            <a:r>
              <a:rPr sz="1650">
                <a:solidFill>
                  <a:srgbClr val="1E293B"/>
                </a:solidFill>
              </a:rPr>
              <a:t>• 第二步：从第一段开始，读首句（或末句）找主题句</a:t>
            </a:r>
          </a:p>
          <a:p>
            <a:pPr>
              <a:spcBef>
                <a:spcPts val="1000"/>
              </a:spcBef>
            </a:pPr>
            <a:r>
              <a:rPr sz="1650">
                <a:solidFill>
                  <a:srgbClr val="1E293B"/>
                </a:solidFill>
              </a:rPr>
              <a:t>• 第三步：将主题句与备选标题匹配，选最接近的</a:t>
            </a:r>
          </a:p>
          <a:p>
            <a:pPr>
              <a:spcBef>
                <a:spcPts val="1000"/>
              </a:spcBef>
            </a:pPr>
            <a:r>
              <a:rPr sz="1650">
                <a:solidFill>
                  <a:srgbClr val="1E293B"/>
                </a:solidFill>
              </a:rPr>
              <a:t>• 第四步：全段检验——选定标题概括整段所有内容</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正确标题识别示范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段落："Despite initial resistance from governments, renewable energy sources have become increasingly affordable. This has led to dramatic adoption worldwide, with many countries generating significant electricity from these sources."
备选标题：
A. History of renewable energy development
B. Growing acceptance due to falling costs
C. Government opposition to solar and wind
D. Technical challenges of renewable energy</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分析：
A. 历史发展？段落没有讲历史——范围错误✗
B. 由于成本下降的广泛接受？→ 完全概括整段 ✓
C. 政府反对？只是开头让步内容，不是主旨✗
D. 技术挑战？段落没有讲技术挑战✗
答案：B——概括了整段的核心信息</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正确标题B的特点：概括了整段从"政府抵制→成本下降→广泛采用"的演变</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为什么C是干扰标题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陷阱分析：
标题C："Government opposition to solar and wind"
段落："Despite initial resistance from governments..."
干扰原因：
1. 段落第一句确实提到政府抵制（resistance）
2. 但这只是让步背景（despite），不是段落主旨
3. 段落主旨是：成本下降→广泛采用
4. 政府抵制只是被克服的障碍
原则：让步从句的内容（Although/Despite后）≠段落主旨</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陷阱类型：细节词出现≠正确——关键是这个细节是否就是整段核心</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02</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段落主题句识别技术</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Finding Topic Sentences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主题句位置规律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Where Topic Sentences Appear</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首句（70%）</a:t>
            </a:r>
          </a:p>
          <a:p>
            <a:pPr>
              <a:spcBef>
                <a:spcPts val="100"/>
              </a:spcBef>
            </a:pPr>
            <a:r>
              <a:rPr sz="1500">
                <a:solidFill>
                  <a:srgbClr val="556075"/>
                </a:solidFill>
              </a:rPr>
              <a:t>   大约70%的段落主题句在第一句</a:t>
            </a:r>
          </a:p>
          <a:p>
            <a:pPr>
              <a:spcBef>
                <a:spcPts val="900"/>
              </a:spcBef>
            </a:pPr>
            <a:r>
              <a:rPr sz="1800" b="1">
                <a:solidFill>
                  <a:srgbClr val="1B5E33"/>
                </a:solidFill>
              </a:rPr>
              <a:t>• 尾句（15%）</a:t>
            </a:r>
          </a:p>
          <a:p>
            <a:pPr>
              <a:spcBef>
                <a:spcPts val="100"/>
              </a:spcBef>
            </a:pPr>
            <a:r>
              <a:rPr sz="1500">
                <a:solidFill>
                  <a:srgbClr val="556075"/>
                </a:solidFill>
              </a:rPr>
              <a:t>   约15%的段落主题句在最后一句（总结段落）</a:t>
            </a:r>
          </a:p>
          <a:p>
            <a:pPr>
              <a:spcBef>
                <a:spcPts val="900"/>
              </a:spcBef>
            </a:pPr>
            <a:r>
              <a:rPr sz="1800" b="1">
                <a:solidFill>
                  <a:srgbClr val="1B5E33"/>
                </a:solidFill>
              </a:rPr>
              <a:t>• 中间（10%）</a:t>
            </a:r>
          </a:p>
          <a:p>
            <a:pPr>
              <a:spcBef>
                <a:spcPts val="100"/>
              </a:spcBef>
            </a:pPr>
            <a:r>
              <a:rPr sz="1500">
                <a:solidFill>
                  <a:srgbClr val="556075"/>
                </a:solidFill>
              </a:rPr>
              <a:t>   约10%的段落主题句在中间（少见）</a:t>
            </a:r>
          </a:p>
          <a:p>
            <a:pPr>
              <a:spcBef>
                <a:spcPts val="900"/>
              </a:spcBef>
            </a:pPr>
            <a:r>
              <a:rPr sz="1800" b="1">
                <a:solidFill>
                  <a:srgbClr val="1B5E33"/>
                </a:solidFill>
              </a:rPr>
              <a:t>• 隐含主旨（5%）</a:t>
            </a:r>
          </a:p>
          <a:p>
            <a:pPr>
              <a:spcBef>
                <a:spcPts val="100"/>
              </a:spcBef>
            </a:pPr>
            <a:r>
              <a:rPr sz="1500">
                <a:solidFill>
                  <a:srgbClr val="556075"/>
                </a:solidFill>
              </a:rPr>
              <a:t>   没有明显主题句——从整段归纳</a:t>
            </a:r>
          </a:p>
          <a:p>
            <a:pPr>
              <a:spcBef>
                <a:spcPts val="900"/>
              </a:spcBef>
            </a:pPr>
            <a:r>
              <a:rPr sz="1800" b="1">
                <a:solidFill>
                  <a:srgbClr val="1B5E33"/>
                </a:solidFill>
              </a:rPr>
              <a:t>• 阅读策略</a:t>
            </a:r>
          </a:p>
          <a:p>
            <a:pPr>
              <a:spcBef>
                <a:spcPts val="100"/>
              </a:spcBef>
            </a:pPr>
            <a:r>
              <a:rPr sz="1500">
                <a:solidFill>
                  <a:srgbClr val="556075"/>
                </a:solidFill>
              </a:rPr>
              <a:t>   先读首句；不清楚→读末句；还不清楚→读整段</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主题句语言特征</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Linguistic Signals for Topic Sentences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转折信号</a:t>
            </a:r>
          </a:p>
          <a:p>
            <a:pPr>
              <a:spcBef>
                <a:spcPts val="100"/>
              </a:spcBef>
            </a:pPr>
            <a:r>
              <a:rPr sz="1500">
                <a:solidFill>
                  <a:srgbClr val="556075"/>
                </a:solidFill>
              </a:rPr>
              <a:t>   However/But/Despite/Although → 转折后往往是真正主旨</a:t>
            </a:r>
          </a:p>
          <a:p>
            <a:pPr>
              <a:spcBef>
                <a:spcPts val="900"/>
              </a:spcBef>
            </a:pPr>
            <a:r>
              <a:rPr sz="1800" b="1">
                <a:solidFill>
                  <a:srgbClr val="1B5E33"/>
                </a:solidFill>
              </a:rPr>
              <a:t>• 总结信号</a:t>
            </a:r>
          </a:p>
          <a:p>
            <a:pPr>
              <a:spcBef>
                <a:spcPts val="100"/>
              </a:spcBef>
            </a:pPr>
            <a:r>
              <a:rPr sz="1500">
                <a:solidFill>
                  <a:srgbClr val="556075"/>
                </a:solidFill>
              </a:rPr>
              <a:t>   In conclusion/Overall → 尾句主旨标志</a:t>
            </a:r>
          </a:p>
          <a:p>
            <a:pPr>
              <a:spcBef>
                <a:spcPts val="900"/>
              </a:spcBef>
            </a:pPr>
            <a:r>
              <a:rPr sz="1800" b="1">
                <a:solidFill>
                  <a:srgbClr val="1B5E33"/>
                </a:solidFill>
              </a:rPr>
              <a:t>• 对比结构</a:t>
            </a:r>
          </a:p>
          <a:p>
            <a:pPr>
              <a:spcBef>
                <a:spcPts val="100"/>
              </a:spcBef>
            </a:pPr>
            <a:r>
              <a:rPr sz="1500">
                <a:solidFill>
                  <a:srgbClr val="556075"/>
                </a:solidFill>
              </a:rPr>
              <a:t>   While A..., B... → B是主旨方向</a:t>
            </a:r>
          </a:p>
          <a:p>
            <a:pPr>
              <a:spcBef>
                <a:spcPts val="900"/>
              </a:spcBef>
            </a:pPr>
            <a:r>
              <a:rPr sz="1800" b="1">
                <a:solidFill>
                  <a:srgbClr val="1B5E33"/>
                </a:solidFill>
              </a:rPr>
              <a:t>• 因果总结</a:t>
            </a:r>
          </a:p>
          <a:p>
            <a:pPr>
              <a:spcBef>
                <a:spcPts val="100"/>
              </a:spcBef>
            </a:pPr>
            <a:r>
              <a:rPr sz="1500">
                <a:solidFill>
                  <a:srgbClr val="556075"/>
                </a:solidFill>
              </a:rPr>
              <a:t>   As a result/Therefore → 结果句可能是主旨</a:t>
            </a:r>
          </a:p>
          <a:p>
            <a:pPr>
              <a:spcBef>
                <a:spcPts val="900"/>
              </a:spcBef>
            </a:pPr>
            <a:r>
              <a:rPr sz="1800" b="1">
                <a:solidFill>
                  <a:srgbClr val="1B5E33"/>
                </a:solidFill>
              </a:rPr>
              <a:t>• 范围词</a:t>
            </a:r>
          </a:p>
          <a:p>
            <a:pPr>
              <a:spcBef>
                <a:spcPts val="100"/>
              </a:spcBef>
            </a:pPr>
            <a:r>
              <a:rPr sz="1500">
                <a:solidFill>
                  <a:srgbClr val="556075"/>
                </a:solidFill>
              </a:rPr>
              <a:t>   usually/generally/often → 主旨句常含范围词</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主题句识别实用技巧</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首句策略：先读首句——70%的段落主题句在第一句</a:t>
            </a:r>
          </a:p>
          <a:p>
            <a:pPr>
              <a:spcBef>
                <a:spcPts val="1000"/>
              </a:spcBef>
            </a:pPr>
            <a:r>
              <a:rPr sz="1650">
                <a:solidFill>
                  <a:srgbClr val="1E293B"/>
                </a:solidFill>
              </a:rPr>
              <a:t>• 末句补充：首句不清楚时读末句——可能是总结性主题句</a:t>
            </a:r>
          </a:p>
          <a:p>
            <a:pPr>
              <a:spcBef>
                <a:spcPts val="1000"/>
              </a:spcBef>
            </a:pPr>
            <a:r>
              <a:rPr sz="1650">
                <a:solidFill>
                  <a:srgbClr val="1E293B"/>
                </a:solidFill>
              </a:rPr>
              <a:t>• 转折词定位：Although/However后的主句通常是真正主旨</a:t>
            </a:r>
          </a:p>
          <a:p>
            <a:pPr>
              <a:spcBef>
                <a:spcPts val="1000"/>
              </a:spcBef>
            </a:pPr>
            <a:r>
              <a:rPr sz="1650">
                <a:solidFill>
                  <a:srgbClr val="1E293B"/>
                </a:solidFill>
              </a:rPr>
              <a:t>• 全段归纳：无明显主题句时，问"所有内容的共同主题是什么？"</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主题句的语言特点</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含范围词：usually/generally/often修饰的句子</a:t>
            </a:r>
          </a:p>
          <a:p>
            <a:pPr>
              <a:spcBef>
                <a:spcPts val="1000"/>
              </a:spcBef>
            </a:pPr>
            <a:r>
              <a:rPr sz="1650">
                <a:solidFill>
                  <a:srgbClr val="1E293B"/>
                </a:solidFill>
              </a:rPr>
              <a:t>• 含转折连词：However/But/Despite之后的主句</a:t>
            </a:r>
          </a:p>
          <a:p>
            <a:pPr>
              <a:spcBef>
                <a:spcPts val="1000"/>
              </a:spcBef>
            </a:pPr>
            <a:r>
              <a:rPr sz="1650">
                <a:solidFill>
                  <a:srgbClr val="1E293B"/>
                </a:solidFill>
              </a:rPr>
              <a:t>• 含总结词：In conclusion/Overall/Thus/Therefore</a:t>
            </a:r>
          </a:p>
          <a:p>
            <a:pPr>
              <a:spcBef>
                <a:spcPts val="1000"/>
              </a:spcBef>
            </a:pPr>
            <a:r>
              <a:rPr sz="1650">
                <a:solidFill>
                  <a:srgbClr val="1E293B"/>
                </a:solidFill>
              </a:rPr>
              <a:t>• 含因果词：As a result/Consequently引导的结论句</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转折型主题句识别</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段落："Although many people believe learning a language becomes harder with age, research suggests adult learners have significant advantages, particularly in vocabulary acquisition and grammar understanding."
主题句在哪里？</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分析：
"Although many people believe..."→ 让步从句，不是主旨
"research suggests adult learners have significant advantages"→ 转折后的主句 = 主旨
标题方向：成年人学语言的优势
规律：Although/While/Despite后面的主句才是真正主旨</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转折识别技巧：看到让步词时，直接跳到转折后的主句</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隐含主旨段落归纳</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段落（无明显主题句）：
"In Scandinavia, wind turbines dot the coastlines. Germany has invested billions in solar. China leads in hydroelectric capacity. The US is expanding geothermal energy."
如何找主旨？</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分析：
没有明显主题句——每句都是具体国家+能源例子
归纳共同主题：每句描述某国家的可再生能源投资
→ 段落主旨：全球各国对可再生能源的投资
标题方向："International investment in renewable energy"</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隐含主旨技巧：问自己"所有这些例子共同说明了什么？"</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03</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干扰选项破解方法</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Eliminating Distractor Headings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4种干扰标题类型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4 Types of Distractor Headings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细节标题</a:t>
            </a:r>
          </a:p>
          <a:p>
            <a:pPr>
              <a:spcBef>
                <a:spcPts val="100"/>
              </a:spcBef>
            </a:pPr>
            <a:r>
              <a:rPr sz="1500">
                <a:solidFill>
                  <a:srgbClr val="556075"/>
                </a:solidFill>
              </a:rPr>
              <a:t>   段落中出现的细节词/数字——但不概括整段主旨</a:t>
            </a:r>
          </a:p>
          <a:p>
            <a:pPr>
              <a:spcBef>
                <a:spcPts val="900"/>
              </a:spcBef>
            </a:pPr>
            <a:r>
              <a:rPr sz="1800" b="1">
                <a:solidFill>
                  <a:srgbClr val="1B5E33"/>
                </a:solidFill>
              </a:rPr>
              <a:t>• 范围过大</a:t>
            </a:r>
          </a:p>
          <a:p>
            <a:pPr>
              <a:spcBef>
                <a:spcPts val="100"/>
              </a:spcBef>
            </a:pPr>
            <a:r>
              <a:rPr sz="1500">
                <a:solidFill>
                  <a:srgbClr val="556075"/>
                </a:solidFill>
              </a:rPr>
              <a:t>   标题覆盖的范围比段落大（全球vs文章只讲一国）</a:t>
            </a:r>
          </a:p>
          <a:p>
            <a:pPr>
              <a:spcBef>
                <a:spcPts val="900"/>
              </a:spcBef>
            </a:pPr>
            <a:r>
              <a:rPr sz="1800" b="1">
                <a:solidFill>
                  <a:srgbClr val="1B5E33"/>
                </a:solidFill>
              </a:rPr>
              <a:t>• 范围过小</a:t>
            </a:r>
          </a:p>
          <a:p>
            <a:pPr>
              <a:spcBef>
                <a:spcPts val="100"/>
              </a:spcBef>
            </a:pPr>
            <a:r>
              <a:rPr sz="1500">
                <a:solidFill>
                  <a:srgbClr val="556075"/>
                </a:solidFill>
              </a:rPr>
              <a:t>   标题覆盖的范围比段落小（只概括了一个细节）</a:t>
            </a:r>
          </a:p>
          <a:p>
            <a:pPr>
              <a:spcBef>
                <a:spcPts val="900"/>
              </a:spcBef>
            </a:pPr>
            <a:r>
              <a:rPr sz="1800" b="1">
                <a:solidFill>
                  <a:srgbClr val="1B5E33"/>
                </a:solidFill>
              </a:rPr>
              <a:t>• 相关但错误</a:t>
            </a:r>
          </a:p>
          <a:p>
            <a:pPr>
              <a:spcBef>
                <a:spcPts val="100"/>
              </a:spcBef>
            </a:pPr>
            <a:r>
              <a:rPr sz="1500">
                <a:solidFill>
                  <a:srgbClr val="556075"/>
                </a:solidFill>
              </a:rPr>
              <a:t>   话题相关但角度不同（段落讲原因，标题讲结果）</a:t>
            </a:r>
          </a:p>
          <a:p>
            <a:pPr>
              <a:spcBef>
                <a:spcPts val="900"/>
              </a:spcBef>
            </a:pPr>
            <a:r>
              <a:rPr sz="1800" b="1">
                <a:solidFill>
                  <a:srgbClr val="1B5E33"/>
                </a:solidFill>
              </a:rPr>
              <a:t>• 原词陷阱</a:t>
            </a:r>
          </a:p>
          <a:p>
            <a:pPr>
              <a:spcBef>
                <a:spcPts val="100"/>
              </a:spcBef>
            </a:pPr>
            <a:r>
              <a:rPr sz="1500">
                <a:solidFill>
                  <a:srgbClr val="556075"/>
                </a:solidFill>
              </a:rPr>
              <a:t>   标题有段落原词——但意思方向与整段主旨不符</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破解干扰标题方法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How to Eliminate Distractors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方法1：全段检验</a:t>
            </a:r>
          </a:p>
          <a:p>
            <a:pPr>
              <a:spcBef>
                <a:spcPts val="100"/>
              </a:spcBef>
            </a:pPr>
            <a:r>
              <a:rPr sz="1500">
                <a:solidFill>
                  <a:srgbClr val="556075"/>
                </a:solidFill>
              </a:rPr>
              <a:t>   选定标题后，验证是否概括了整段所有内容</a:t>
            </a:r>
          </a:p>
          <a:p>
            <a:pPr>
              <a:spcBef>
                <a:spcPts val="900"/>
              </a:spcBef>
            </a:pPr>
            <a:r>
              <a:rPr sz="1800" b="1">
                <a:solidFill>
                  <a:srgbClr val="1B5E33"/>
                </a:solidFill>
              </a:rPr>
              <a:t>• 方法2：范围测试</a:t>
            </a:r>
          </a:p>
          <a:p>
            <a:pPr>
              <a:spcBef>
                <a:spcPts val="100"/>
              </a:spcBef>
            </a:pPr>
            <a:r>
              <a:rPr sz="1500">
                <a:solidFill>
                  <a:srgbClr val="556075"/>
                </a:solidFill>
              </a:rPr>
              <a:t>   标题太大（超出段落范围）或太小（只一句话）→排除</a:t>
            </a:r>
          </a:p>
          <a:p>
            <a:pPr>
              <a:spcBef>
                <a:spcPts val="900"/>
              </a:spcBef>
            </a:pPr>
            <a:r>
              <a:rPr sz="1800" b="1">
                <a:solidFill>
                  <a:srgbClr val="1B5E33"/>
                </a:solidFill>
              </a:rPr>
              <a:t>• 方法3：对比剩余</a:t>
            </a:r>
          </a:p>
          <a:p>
            <a:pPr>
              <a:spcBef>
                <a:spcPts val="100"/>
              </a:spcBef>
            </a:pPr>
            <a:r>
              <a:rPr sz="1500">
                <a:solidFill>
                  <a:srgbClr val="556075"/>
                </a:solidFill>
              </a:rPr>
              <a:t>   两个都可能时，哪个更准确地概括整段？</a:t>
            </a:r>
          </a:p>
          <a:p>
            <a:pPr>
              <a:spcBef>
                <a:spcPts val="900"/>
              </a:spcBef>
            </a:pPr>
            <a:r>
              <a:rPr sz="1800" b="1">
                <a:solidFill>
                  <a:srgbClr val="1B5E33"/>
                </a:solidFill>
              </a:rPr>
              <a:t>• 方法4：原词警惕</a:t>
            </a:r>
          </a:p>
          <a:p>
            <a:pPr>
              <a:spcBef>
                <a:spcPts val="100"/>
              </a:spcBef>
            </a:pPr>
            <a:r>
              <a:rPr sz="1500">
                <a:solidFill>
                  <a:srgbClr val="556075"/>
                </a:solidFill>
              </a:rPr>
              <a:t>   标题有段落原词≠正确——要看意思是否匹配整段</a:t>
            </a:r>
          </a:p>
          <a:p>
            <a:pPr>
              <a:spcBef>
                <a:spcPts val="900"/>
              </a:spcBef>
            </a:pPr>
            <a:r>
              <a:rPr sz="1800" b="1">
                <a:solidFill>
                  <a:srgbClr val="1B5E33"/>
                </a:solidFill>
              </a:rPr>
              <a:t>• 方法5：排除已用</a:t>
            </a:r>
          </a:p>
          <a:p>
            <a:pPr>
              <a:spcBef>
                <a:spcPts val="100"/>
              </a:spcBef>
            </a:pPr>
            <a:r>
              <a:rPr sz="1500">
                <a:solidFill>
                  <a:srgbClr val="556075"/>
                </a:solidFill>
              </a:rPr>
              <a:t>   其他段落已选的标题——排除（通常不重复）</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4种干扰类型详解</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细节干扰：标题对应段落的一个细节/例子——但不是整段主旨</a:t>
            </a:r>
          </a:p>
          <a:p>
            <a:pPr>
              <a:spcBef>
                <a:spcPts val="1000"/>
              </a:spcBef>
            </a:pPr>
            <a:r>
              <a:rPr sz="1650">
                <a:solidFill>
                  <a:srgbClr val="1E293B"/>
                </a:solidFill>
              </a:rPr>
              <a:t>• 范围过大：标题涉及的话题比段落更广——段落只是话题的一部分</a:t>
            </a:r>
          </a:p>
          <a:p>
            <a:pPr>
              <a:spcBef>
                <a:spcPts val="1000"/>
              </a:spcBef>
            </a:pPr>
            <a:r>
              <a:rPr sz="1650">
                <a:solidFill>
                  <a:srgbClr val="1E293B"/>
                </a:solidFill>
              </a:rPr>
              <a:t>• 范围过小：标题只概括了段落的一个方面——不是完整主旨</a:t>
            </a:r>
          </a:p>
          <a:p>
            <a:pPr>
              <a:spcBef>
                <a:spcPts val="1000"/>
              </a:spcBef>
            </a:pPr>
            <a:r>
              <a:rPr sz="1650">
                <a:solidFill>
                  <a:srgbClr val="1E293B"/>
                </a:solidFill>
              </a:rPr>
              <a:t>• 原词陷阱：标题有段落原词——但意思方向与整段主旨不符</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破解干扰标题实操流程</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Step 1：读段落主题句，用自己的话概括主旨</a:t>
            </a:r>
          </a:p>
          <a:p>
            <a:pPr>
              <a:spcBef>
                <a:spcPts val="1000"/>
              </a:spcBef>
            </a:pPr>
            <a:r>
              <a:rPr sz="1650">
                <a:solidFill>
                  <a:srgbClr val="1E293B"/>
                </a:solidFill>
              </a:rPr>
              <a:t>• Step 2：与所有备选标题对比，选最接近的</a:t>
            </a:r>
          </a:p>
          <a:p>
            <a:pPr>
              <a:spcBef>
                <a:spcPts val="1000"/>
              </a:spcBef>
            </a:pPr>
            <a:r>
              <a:rPr sz="1650">
                <a:solidFill>
                  <a:srgbClr val="1E293B"/>
                </a:solidFill>
              </a:rPr>
              <a:t>• Step 3：对剩余2个候选做"全段检验"——哪个覆盖了所有内容？</a:t>
            </a:r>
          </a:p>
          <a:p>
            <a:pPr>
              <a:spcBef>
                <a:spcPts val="1000"/>
              </a:spcBef>
            </a:pPr>
            <a:r>
              <a:rPr sz="1650">
                <a:solidFill>
                  <a:srgbClr val="1E293B"/>
                </a:solidFill>
              </a:rPr>
              <a:t>• Step 4：检查范围——选定标题是否与段落范围一致？</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干扰标题破解实战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段落："The development of penicillin in 1928 by Alexander Fleming marked a turning point in modern medicine. Before this discovery, bacterial infections were often fatal. The introduction of antibiotics saved countless lives and transformed treatment."
备选：
A. Alexander Fleming's scientific career
B. The life-saving impact of antibiotics
C. The discovery of penicillin in 1928
D. Treatment methods for bacterial infections</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分析：
A. Fleming科研生涯？→ 只提到他的一个发现，不是整个生涯——范围过小✗
B. 抗生素的救命影响？→ 概括了从发现到救命影响的整段 ✓
C. 1928年发现青霉素？→ 只是段落开头细节，不是整段主旨✗
D. 细菌感染治疗方法？→ 范围太大，段落具体讲抗生素贡献✗
答案：B</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B正确：概括了整段所有内容（发现→历史影响→救命贡献）</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排除法步骤示范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遇到难题时的排除步骤：
步骤1：排除明显错误（范围太大/太小/原词陷阱）
步骤2：剩下2-3个可能的标题，做"全段检验"
步骤3：哪个标题概括了整段所有内容？→ 那就是答案
步骤4：还不确定→问"段落的重点是原因/结果/比较/过程？"</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排除法效率：通常可以排除3/4的选项——从5个减少到1-2个可能</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04</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段落类型与标题策略</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Paragraph Type = Heading Strategy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常见段落类型与标题方向</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Common Paragraph Types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比较型段落</a:t>
            </a:r>
          </a:p>
          <a:p>
            <a:pPr>
              <a:spcBef>
                <a:spcPts val="100"/>
              </a:spcBef>
            </a:pPr>
            <a:r>
              <a:rPr sz="1500">
                <a:solidFill>
                  <a:srgbClr val="556075"/>
                </a:solidFill>
              </a:rPr>
              <a:t>   比较A和B → 标题含compare/contrast/difference/versus</a:t>
            </a:r>
          </a:p>
          <a:p>
            <a:pPr>
              <a:spcBef>
                <a:spcPts val="900"/>
              </a:spcBef>
            </a:pPr>
            <a:r>
              <a:rPr sz="1800" b="1">
                <a:solidFill>
                  <a:srgbClr val="1B5E33"/>
                </a:solidFill>
              </a:rPr>
              <a:t>• 因果型段落</a:t>
            </a:r>
          </a:p>
          <a:p>
            <a:pPr>
              <a:spcBef>
                <a:spcPts val="100"/>
              </a:spcBef>
            </a:pPr>
            <a:r>
              <a:rPr sz="1500">
                <a:solidFill>
                  <a:srgbClr val="556075"/>
                </a:solidFill>
              </a:rPr>
              <a:t>   解释原因/结果 → 标题含cause/effect/result/lead to</a:t>
            </a:r>
          </a:p>
          <a:p>
            <a:pPr>
              <a:spcBef>
                <a:spcPts val="900"/>
              </a:spcBef>
            </a:pPr>
            <a:r>
              <a:rPr sz="1800" b="1">
                <a:solidFill>
                  <a:srgbClr val="1B5E33"/>
                </a:solidFill>
              </a:rPr>
              <a:t>• 过程型段落</a:t>
            </a:r>
          </a:p>
          <a:p>
            <a:pPr>
              <a:spcBef>
                <a:spcPts val="100"/>
              </a:spcBef>
            </a:pPr>
            <a:r>
              <a:rPr sz="1500">
                <a:solidFill>
                  <a:srgbClr val="556075"/>
                </a:solidFill>
              </a:rPr>
              <a:t>   描述步骤/流程 → 标题含process/how/development/stages</a:t>
            </a:r>
          </a:p>
          <a:p>
            <a:pPr>
              <a:spcBef>
                <a:spcPts val="900"/>
              </a:spcBef>
            </a:pPr>
            <a:r>
              <a:rPr sz="1800" b="1">
                <a:solidFill>
                  <a:srgbClr val="1B5E33"/>
                </a:solidFill>
              </a:rPr>
              <a:t>• 问题解决型</a:t>
            </a:r>
          </a:p>
          <a:p>
            <a:pPr>
              <a:spcBef>
                <a:spcPts val="100"/>
              </a:spcBef>
            </a:pPr>
            <a:r>
              <a:rPr sz="1500">
                <a:solidFill>
                  <a:srgbClr val="556075"/>
                </a:solidFill>
              </a:rPr>
              <a:t>   问题+解决方案 → 标题含problem/solution/challenge</a:t>
            </a:r>
          </a:p>
          <a:p>
            <a:pPr>
              <a:spcBef>
                <a:spcPts val="900"/>
              </a:spcBef>
            </a:pPr>
            <a:r>
              <a:rPr sz="1800" b="1">
                <a:solidFill>
                  <a:srgbClr val="1B5E33"/>
                </a:solidFill>
              </a:rPr>
              <a:t>• 举例型段落</a:t>
            </a:r>
          </a:p>
          <a:p>
            <a:pPr>
              <a:spcBef>
                <a:spcPts val="100"/>
              </a:spcBef>
            </a:pPr>
            <a:r>
              <a:rPr sz="1500">
                <a:solidFill>
                  <a:srgbClr val="556075"/>
                </a:solidFill>
              </a:rPr>
              <a:t>   用例子说明主点 → 标题是主点，不是例子</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历史/时间型段落处理</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Historical Paragraphs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关键词识别</a:t>
            </a:r>
          </a:p>
          <a:p>
            <a:pPr>
              <a:spcBef>
                <a:spcPts val="100"/>
              </a:spcBef>
            </a:pPr>
            <a:r>
              <a:rPr sz="1500">
                <a:solidFill>
                  <a:srgbClr val="556075"/>
                </a:solidFill>
              </a:rPr>
              <a:t>   key dates/years/originally/initially/later/eventually</a:t>
            </a:r>
          </a:p>
          <a:p>
            <a:pPr>
              <a:spcBef>
                <a:spcPts val="900"/>
              </a:spcBef>
            </a:pPr>
            <a:r>
              <a:rPr sz="1800" b="1">
                <a:solidFill>
                  <a:srgbClr val="1B5E33"/>
                </a:solidFill>
              </a:rPr>
              <a:t>• 标题方向</a:t>
            </a:r>
          </a:p>
          <a:p>
            <a:pPr>
              <a:spcBef>
                <a:spcPts val="100"/>
              </a:spcBef>
            </a:pPr>
            <a:r>
              <a:rPr sz="1500">
                <a:solidFill>
                  <a:srgbClr val="556075"/>
                </a:solidFill>
              </a:rPr>
              <a:t>   含history/development/evolution/origins/emergence</a:t>
            </a:r>
          </a:p>
          <a:p>
            <a:pPr>
              <a:spcBef>
                <a:spcPts val="900"/>
              </a:spcBef>
            </a:pPr>
            <a:r>
              <a:rPr sz="1800" b="1">
                <a:solidFill>
                  <a:srgbClr val="1B5E33"/>
                </a:solidFill>
              </a:rPr>
              <a:t>• 陷阱</a:t>
            </a:r>
          </a:p>
          <a:p>
            <a:pPr>
              <a:spcBef>
                <a:spcPts val="100"/>
              </a:spcBef>
            </a:pPr>
            <a:r>
              <a:rPr sz="1500">
                <a:solidFill>
                  <a:srgbClr val="556075"/>
                </a:solidFill>
              </a:rPr>
              <a:t>   不要把某个时间点当成主旨——找整段的历史主题</a:t>
            </a:r>
          </a:p>
          <a:p>
            <a:pPr>
              <a:spcBef>
                <a:spcPts val="900"/>
              </a:spcBef>
            </a:pPr>
            <a:r>
              <a:rPr sz="1800" b="1">
                <a:solidFill>
                  <a:srgbClr val="1B5E33"/>
                </a:solidFill>
              </a:rPr>
              <a:t>• 归纳方法</a:t>
            </a:r>
          </a:p>
          <a:p>
            <a:pPr>
              <a:spcBef>
                <a:spcPts val="100"/>
              </a:spcBef>
            </a:pPr>
            <a:r>
              <a:rPr sz="1500">
                <a:solidFill>
                  <a:srgbClr val="556075"/>
                </a:solidFill>
              </a:rPr>
              <a:t>   问："这段讲了什么的历史/发展？"</a:t>
            </a:r>
          </a:p>
          <a:p>
            <a:pPr>
              <a:spcBef>
                <a:spcPts val="900"/>
              </a:spcBef>
            </a:pPr>
            <a:r>
              <a:rPr sz="1800" b="1">
                <a:solidFill>
                  <a:srgbClr val="1B5E33"/>
                </a:solidFill>
              </a:rPr>
              <a:t>• 举例</a:t>
            </a:r>
          </a:p>
          <a:p>
            <a:pPr>
              <a:spcBef>
                <a:spcPts val="100"/>
              </a:spcBef>
            </a:pPr>
            <a:r>
              <a:rPr sz="1500">
                <a:solidFill>
                  <a:srgbClr val="556075"/>
                </a:solidFill>
              </a:rPr>
              <a:t>   段落讲工业革命起源→标题："The origins of industrialisation"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段落类型快速识别</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看到对比结构（A vs B）→ 比较型段落</a:t>
            </a:r>
          </a:p>
          <a:p>
            <a:pPr>
              <a:spcBef>
                <a:spcPts val="1000"/>
              </a:spcBef>
            </a:pPr>
            <a:r>
              <a:rPr sz="1650">
                <a:solidFill>
                  <a:srgbClr val="1E293B"/>
                </a:solidFill>
              </a:rPr>
              <a:t>• 看到because/lead to/result in → 因果型段落</a:t>
            </a:r>
          </a:p>
          <a:p>
            <a:pPr>
              <a:spcBef>
                <a:spcPts val="1000"/>
              </a:spcBef>
            </a:pPr>
            <a:r>
              <a:rPr sz="1650">
                <a:solidFill>
                  <a:srgbClr val="1E293B"/>
                </a:solidFill>
              </a:rPr>
              <a:t>• 看到First/Then/Finally/Next → 过程/步骤型段落</a:t>
            </a:r>
          </a:p>
          <a:p>
            <a:pPr>
              <a:spcBef>
                <a:spcPts val="1000"/>
              </a:spcBef>
            </a:pPr>
            <a:r>
              <a:rPr sz="1650">
                <a:solidFill>
                  <a:srgbClr val="1E293B"/>
                </a:solidFill>
              </a:rPr>
              <a:t>• 看到For example/such as多次出现 → 举例型段落（找总起句）</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段落类型与标题词汇对应</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比较型 → compare/contrast/difference/versus/gap/disparity</a:t>
            </a:r>
          </a:p>
          <a:p>
            <a:pPr>
              <a:spcBef>
                <a:spcPts val="1000"/>
              </a:spcBef>
            </a:pPr>
            <a:r>
              <a:rPr sz="1650">
                <a:solidFill>
                  <a:srgbClr val="1E293B"/>
                </a:solidFill>
              </a:rPr>
              <a:t>• 因果型 → cause/effect/result/consequence/impact/trigger</a:t>
            </a:r>
          </a:p>
          <a:p>
            <a:pPr>
              <a:spcBef>
                <a:spcPts val="1000"/>
              </a:spcBef>
            </a:pPr>
            <a:r>
              <a:rPr sz="1650">
                <a:solidFill>
                  <a:srgbClr val="1E293B"/>
                </a:solidFill>
              </a:rPr>
              <a:t>• 过程型 → process/stages/development/evolution/how</a:t>
            </a:r>
          </a:p>
          <a:p>
            <a:pPr>
              <a:spcBef>
                <a:spcPts val="1000"/>
              </a:spcBef>
            </a:pPr>
            <a:r>
              <a:rPr sz="1650">
                <a:solidFill>
                  <a:srgbClr val="1E293B"/>
                </a:solidFill>
              </a:rPr>
              <a:t>• 举例型 → 找总起句作为标题，例子只是支撑</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段落类型判断实战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快速判断以下3段的类型和标题方向：
A段：Water evaporates from oceans, forms clouds, falls as rain, flows into rivers, returns to sea.
B段：Developed nations consume far more energy per capita than developing countries, causing greater emissions despite smaller populations.
C段：Before 1800, most people lived in rural areas. Factory growth drew workers to cities, fundamentally changing settlement patterns.</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判断：
A段：过程型（水循环步骤）→ 标题："The water cycle process"
B段：比较型（发达vs发展中国家）→ 标题："Energy consumption disparity between nations"
C段：历史型（工业革命前后变化）→ 标题："Urbanisation driven by industrialisation"</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类型判断技巧：看段落的结构和主要动词——描述步骤/比较/时间变化</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举例型段落主旨归纳</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段落："Companies across industries are reducing environmental impact. Fashion brands use recycled materials. Automotive firms invest in electric vehicles. Food companies reduce packaging waste."
总起句是什么？</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分析：
总起句："Companies...are reducing environmental impact"= 主旨
其余每句：时尚业/汽车业/食品业的具体例子
标题方向："Corporate responses to environmental challenges"
干扰陷阱：标题写"Patagonia's initiatives"→只是一个例子→排除</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举例型规律：总起句是主旨，例子是支撑——标题对应总起句的意思</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05</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标题匹配综合实战</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Heading Matching: Full Practice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完整做题流程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Complete Process for Heading Matching</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Step 1：读所有标题</a:t>
            </a:r>
          </a:p>
          <a:p>
            <a:pPr>
              <a:spcBef>
                <a:spcPts val="100"/>
              </a:spcBef>
            </a:pPr>
            <a:r>
              <a:rPr sz="1500">
                <a:solidFill>
                  <a:srgbClr val="556075"/>
                </a:solidFill>
              </a:rPr>
              <a:t>   先花1分钟读完所有备选标题，了解有哪些主题</a:t>
            </a:r>
          </a:p>
          <a:p>
            <a:pPr>
              <a:spcBef>
                <a:spcPts val="900"/>
              </a:spcBef>
            </a:pPr>
            <a:r>
              <a:rPr sz="1800" b="1">
                <a:solidFill>
                  <a:srgbClr val="1B5E33"/>
                </a:solidFill>
              </a:rPr>
              <a:t>• Step 2：按段顺序做</a:t>
            </a:r>
          </a:p>
          <a:p>
            <a:pPr>
              <a:spcBef>
                <a:spcPts val="100"/>
              </a:spcBef>
            </a:pPr>
            <a:r>
              <a:rPr sz="1500">
                <a:solidFill>
                  <a:srgbClr val="556075"/>
                </a:solidFill>
              </a:rPr>
              <a:t>   从第一个段落开始，不要跳来跳去</a:t>
            </a:r>
          </a:p>
          <a:p>
            <a:pPr>
              <a:spcBef>
                <a:spcPts val="900"/>
              </a:spcBef>
            </a:pPr>
            <a:r>
              <a:rPr sz="1800" b="1">
                <a:solidFill>
                  <a:srgbClr val="1B5E33"/>
                </a:solidFill>
              </a:rPr>
              <a:t>• Step 3：读首末句</a:t>
            </a:r>
          </a:p>
          <a:p>
            <a:pPr>
              <a:spcBef>
                <a:spcPts val="100"/>
              </a:spcBef>
            </a:pPr>
            <a:r>
              <a:rPr sz="1500">
                <a:solidFill>
                  <a:srgbClr val="556075"/>
                </a:solidFill>
              </a:rPr>
              <a:t>   先读首句；不清楚→读末句；还不清楚→读整段</a:t>
            </a:r>
          </a:p>
          <a:p>
            <a:pPr>
              <a:spcBef>
                <a:spcPts val="900"/>
              </a:spcBef>
            </a:pPr>
            <a:r>
              <a:rPr sz="1800" b="1">
                <a:solidFill>
                  <a:srgbClr val="1B5E33"/>
                </a:solidFill>
              </a:rPr>
              <a:t>• Step 4：匹配和排除</a:t>
            </a:r>
          </a:p>
          <a:p>
            <a:pPr>
              <a:spcBef>
                <a:spcPts val="100"/>
              </a:spcBef>
            </a:pPr>
            <a:r>
              <a:rPr sz="1500">
                <a:solidFill>
                  <a:srgbClr val="556075"/>
                </a:solidFill>
              </a:rPr>
              <a:t>   对号入座，同时排除明显错误选项</a:t>
            </a:r>
          </a:p>
          <a:p>
            <a:pPr>
              <a:spcBef>
                <a:spcPts val="900"/>
              </a:spcBef>
            </a:pPr>
            <a:r>
              <a:rPr sz="1800" b="1">
                <a:solidFill>
                  <a:srgbClr val="1B5E33"/>
                </a:solidFill>
              </a:rPr>
              <a:t>• Step 5：全段检验</a:t>
            </a:r>
          </a:p>
          <a:p>
            <a:pPr>
              <a:spcBef>
                <a:spcPts val="100"/>
              </a:spcBef>
            </a:pPr>
            <a:r>
              <a:rPr sz="1500">
                <a:solidFill>
                  <a:srgbClr val="556075"/>
                </a:solidFill>
              </a:rPr>
              <a:t>   确认选定标题概括整段所有内容，不只是细节</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深圳学生常见错误</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Student Errors to Avoid</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看到原词就选</a:t>
            </a:r>
          </a:p>
          <a:p>
            <a:pPr>
              <a:spcBef>
                <a:spcPts val="100"/>
              </a:spcBef>
            </a:pPr>
            <a:r>
              <a:rPr sz="1500">
                <a:solidFill>
                  <a:srgbClr val="556075"/>
                </a:solidFill>
              </a:rPr>
              <a:t>   标题有段落词→直接选——最常见的陷阱</a:t>
            </a:r>
          </a:p>
          <a:p>
            <a:pPr>
              <a:spcBef>
                <a:spcPts val="900"/>
              </a:spcBef>
            </a:pPr>
            <a:r>
              <a:rPr sz="1800" b="1">
                <a:solidFill>
                  <a:srgbClr val="1B5E33"/>
                </a:solidFill>
              </a:rPr>
              <a:t>• 忽略转折</a:t>
            </a:r>
          </a:p>
          <a:p>
            <a:pPr>
              <a:spcBef>
                <a:spcPts val="100"/>
              </a:spcBef>
            </a:pPr>
            <a:r>
              <a:rPr sz="1500">
                <a:solidFill>
                  <a:srgbClr val="556075"/>
                </a:solidFill>
              </a:rPr>
              <a:t>   没注意Although/However后才是真正主旨</a:t>
            </a:r>
          </a:p>
          <a:p>
            <a:pPr>
              <a:spcBef>
                <a:spcPts val="900"/>
              </a:spcBef>
            </a:pPr>
            <a:r>
              <a:rPr sz="1800" b="1">
                <a:solidFill>
                  <a:srgbClr val="1B5E33"/>
                </a:solidFill>
              </a:rPr>
              <a:t>• 只读首句</a:t>
            </a:r>
          </a:p>
          <a:p>
            <a:pPr>
              <a:spcBef>
                <a:spcPts val="100"/>
              </a:spcBef>
            </a:pPr>
            <a:r>
              <a:rPr sz="1500">
                <a:solidFill>
                  <a:srgbClr val="556075"/>
                </a:solidFill>
              </a:rPr>
              <a:t>   复杂段落主旨可能在末句——不能只读一句</a:t>
            </a:r>
          </a:p>
          <a:p>
            <a:pPr>
              <a:spcBef>
                <a:spcPts val="900"/>
              </a:spcBef>
            </a:pPr>
            <a:r>
              <a:rPr sz="1800" b="1">
                <a:solidFill>
                  <a:srgbClr val="1B5E33"/>
                </a:solidFill>
              </a:rPr>
              <a:t>• 范围判断失误</a:t>
            </a:r>
          </a:p>
          <a:p>
            <a:pPr>
              <a:spcBef>
                <a:spcPts val="100"/>
              </a:spcBef>
            </a:pPr>
            <a:r>
              <a:rPr sz="1500">
                <a:solidFill>
                  <a:srgbClr val="556075"/>
                </a:solidFill>
              </a:rPr>
              <a:t>   选了范围太大或太小的标题</a:t>
            </a:r>
          </a:p>
          <a:p>
            <a:pPr>
              <a:spcBef>
                <a:spcPts val="900"/>
              </a:spcBef>
            </a:pPr>
            <a:r>
              <a:rPr sz="1800" b="1">
                <a:solidFill>
                  <a:srgbClr val="1B5E33"/>
                </a:solidFill>
              </a:rPr>
              <a:t>• 时间管理差</a:t>
            </a:r>
          </a:p>
          <a:p>
            <a:pPr>
              <a:spcBef>
                <a:spcPts val="100"/>
              </a:spcBef>
            </a:pPr>
            <a:r>
              <a:rPr sz="1500">
                <a:solidFill>
                  <a:srgbClr val="556075"/>
                </a:solidFill>
              </a:rPr>
              <a:t>   标题匹配耗时最多——时间分配不足</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标题匹配全流程回顾</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Step 1（1分钟）：先读完所有备选标题，了解可能的主题方向</a:t>
            </a:r>
          </a:p>
          <a:p>
            <a:pPr>
              <a:spcBef>
                <a:spcPts val="1000"/>
              </a:spcBef>
            </a:pPr>
            <a:r>
              <a:rPr sz="1650">
                <a:solidFill>
                  <a:srgbClr val="1E293B"/>
                </a:solidFill>
              </a:rPr>
              <a:t>• Step 2（30秒/段）：从第一段开始，先读首句（或末句）找主题句</a:t>
            </a:r>
          </a:p>
          <a:p>
            <a:pPr>
              <a:spcBef>
                <a:spcPts val="1000"/>
              </a:spcBef>
            </a:pPr>
            <a:r>
              <a:rPr sz="1650">
                <a:solidFill>
                  <a:srgbClr val="1E293B"/>
                </a:solidFill>
              </a:rPr>
              <a:t>• Step 3（30秒）：将段落主旨与备选标题匹配，选最接近的</a:t>
            </a:r>
          </a:p>
          <a:p>
            <a:pPr>
              <a:spcBef>
                <a:spcPts val="1000"/>
              </a:spcBef>
            </a:pPr>
            <a:r>
              <a:rPr sz="1650">
                <a:solidFill>
                  <a:srgbClr val="1E293B"/>
                </a:solidFill>
              </a:rPr>
              <a:t>• Step 4（15秒）：全段检验——确认选定标题概括整段而非细节</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深圳学生高频错误纠正</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错误1：看到标题有段落词就选 → 要问"这是整段主旨还是细节？"</a:t>
            </a:r>
          </a:p>
          <a:p>
            <a:pPr>
              <a:spcBef>
                <a:spcPts val="1000"/>
              </a:spcBef>
            </a:pPr>
            <a:r>
              <a:rPr sz="1650">
                <a:solidFill>
                  <a:srgbClr val="1E293B"/>
                </a:solidFill>
              </a:rPr>
              <a:t>• 错误2：只读首句就选标题 → 复杂段落需读末句甚至整段</a:t>
            </a:r>
          </a:p>
          <a:p>
            <a:pPr>
              <a:spcBef>
                <a:spcPts val="1000"/>
              </a:spcBef>
            </a:pPr>
            <a:r>
              <a:rPr sz="1650">
                <a:solidFill>
                  <a:srgbClr val="1E293B"/>
                </a:solidFill>
              </a:rPr>
              <a:t>• 错误3：两个标题都觉得对 → 做"全段检验"选更完整覆盖整段的</a:t>
            </a:r>
          </a:p>
          <a:p>
            <a:pPr>
              <a:spcBef>
                <a:spcPts val="1000"/>
              </a:spcBef>
            </a:pPr>
            <a:r>
              <a:rPr sz="1650">
                <a:solidFill>
                  <a:srgbClr val="1E293B"/>
                </a:solidFill>
              </a:rPr>
              <a:t>• 错误4：时间不够用在难题上 → 超时先猜，继续下一段</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标题匹配完整题组示范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标题列表：
I. The global decline of traditional crafts
II. Government support for artisans
III. Why handmade goods command premium prices
IV. Technology's role in preserving traditional arts
段落A："Despite mass-produced dominance, handcrafted products command prices several times higher than factory counterparts. Consumers cite uniqueness, quality, and the human element as key reasons for this price premium."</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分析：
主旨："handcrafted products command higher prices...because of uniqueness and quality"→ 为什么手工品贵
标题III："Why handmade goods command premium prices"→ 完美匹配 ✓
I（衰落？没提）/ II（政府支持？没提）/ IV（技术？没提）✗
答案：III</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B正确：标题III概括了整段的核心内容（价格溢价+消费者原因）</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深圳学生标题匹配提分关键</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问题1："总是中原词陷阱"→ 解决：遇到标题有段落词时，问"这是整段主旨还是只是一个细节？"
问题2："读完整段还不确定"→ 解决：用"这段最重要想说什么？"归纳主旨，选最接近的
问题3："时间不够"→ 解决：每段上限1.5分钟——超时先猜，继续下一段
问题4："两个标题都合适"→ 解决：哪个概括了整段更完整？选更准确的</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核心提升：标题匹配需要练习量——至少做50段以上才能稳定</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标题匹配高分示范：转折段落</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84048"/>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题目：段落："Although early computers occupied entire rooms and cost millions, they were far less powerful than today's smartphones. Advances in microprocessor technology over six decades have enabled computing power to double every two years, transforming what was once a tool of governments into a device accessible to everyone."
备选标题：
A. The high cost of early computers
B. The democratisation of computing power
C. Technical advances in microprocessor design
D. How smartphones replaced computers</a:t>
            </a:r>
          </a:p>
        </p:txBody>
      </p:sp>
      <p:sp>
        <p:nvSpPr>
          <p:cNvPr id="10" name="Rounded Rectangle 9"/>
          <p:cNvSpPr/>
          <p:nvPr/>
        </p:nvSpPr>
        <p:spPr>
          <a:xfrm>
            <a:off x="548640" y="1783080"/>
            <a:ext cx="7040880" cy="416052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解题分析：
"Although early computers...expensive"→ 让步背景，不是主旨
主旨："Advances...transforming...into a device accessible to everyone"→ 计算的民主化
A. 早期计算机成本→ 只是让步细节 ✗
B. 计算能力的民主化→ 完美概括整段 ✓
C. 微处理器技术→ 只是手段，不是主旨 ✗
D. 智能手机取代电脑→ 段落没讲这个比较 ✗
答案：B</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E09A10"/>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转折识别：Although开头的让步→主句才是主旨</a:t>
            </a:r>
          </a:p>
          <a:p>
            <a:pPr>
              <a:spcBef>
                <a:spcPts val="700"/>
              </a:spcBef>
            </a:pPr>
            <a:r>
              <a:rPr sz="1200">
                <a:solidFill>
                  <a:srgbClr val="1E293B"/>
                </a:solidFill>
              </a:rPr>
              <a:t>▸ 标题B的关键词：democratisation=accessible to everyone</a:t>
            </a:r>
          </a:p>
          <a:p>
            <a:pPr>
              <a:spcBef>
                <a:spcPts val="700"/>
              </a:spcBef>
            </a:pPr>
            <a:r>
              <a:rPr sz="1200">
                <a:solidFill>
                  <a:srgbClr val="1E293B"/>
                </a:solidFill>
              </a:rPr>
              <a:t>▸ 检验：B概括了整段演变主题（精英工具→大众工具）</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标题匹配高分示范：举例型段落</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84048"/>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题目：段落："Companies across multiple industries are finding innovative ways to reduce their environmental footprint. Fashion brands like Patagonia use recycled materials. The automotive sector invests in electric vehicles. Food companies reformulate products to reduce packaging waste."
备选标题：
A. Patagonia's sustainability initiatives
B. The rise of electric vehicles
C. Corporate responses to environmental challenges
D. Government regulations on sustainability</a:t>
            </a:r>
          </a:p>
        </p:txBody>
      </p:sp>
      <p:sp>
        <p:nvSpPr>
          <p:cNvPr id="10" name="Rounded Rectangle 9"/>
          <p:cNvSpPr/>
          <p:nvPr/>
        </p:nvSpPr>
        <p:spPr>
          <a:xfrm>
            <a:off x="548640" y="1783080"/>
            <a:ext cx="7040880" cy="416052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解题：
段落结构：总起句→时尚业例子→汽车业例子→食品业例子
总起句主旨：Companies finding ways to reduce environmental footprint
A. Patagonia的举措→ 只是一个例子 ✗
B. 电动车的兴起→ 只是一个例子 ✗
C. 企业应对环境挑战→ 概括总起句和所有例子 ✓
D. 政府法规→ 段落没提政府 ✗
答案：C</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E09A10"/>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举例型规律：总起句是主旨，例子只是支撑——标题对应总起句</a:t>
            </a:r>
          </a:p>
          <a:p>
            <a:pPr>
              <a:spcBef>
                <a:spcPts val="700"/>
              </a:spcBef>
            </a:pPr>
            <a:r>
              <a:rPr sz="1200">
                <a:solidFill>
                  <a:srgbClr val="1E293B"/>
                </a:solidFill>
              </a:rPr>
              <a:t>▸ 陷阱：例子中的词（Patagonia/电动车）出现在标题中→陷阱</a:t>
            </a:r>
          </a:p>
          <a:p>
            <a:pPr>
              <a:spcBef>
                <a:spcPts val="700"/>
              </a:spcBef>
            </a:pPr>
            <a:r>
              <a:rPr sz="1200">
                <a:solidFill>
                  <a:srgbClr val="1E293B"/>
                </a:solidFill>
              </a:rPr>
              <a:t>▸ 检验：C概括了时尚/汽车/食品三个行业的共同主题</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正确标题 vs 干扰标题识别</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 正确标题的特征</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 干扰标题的特征</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概括了整段的核心主旨</a:t>
            </a:r>
          </a:p>
          <a:p>
            <a:pPr>
              <a:spcBef>
                <a:spcPts val="700"/>
              </a:spcBef>
            </a:pPr>
            <a:r>
              <a:rPr sz="1350">
                <a:solidFill>
                  <a:srgbClr val="C02A2A"/>
                </a:solidFill>
              </a:rPr>
              <a:t>✗ 范围与段落一致（不大不小）</a:t>
            </a:r>
          </a:p>
          <a:p>
            <a:pPr>
              <a:spcBef>
                <a:spcPts val="700"/>
              </a:spcBef>
            </a:pPr>
            <a:r>
              <a:rPr sz="1350">
                <a:solidFill>
                  <a:srgbClr val="C02A2A"/>
                </a:solidFill>
              </a:rPr>
              <a:t>✗ 可能用同义词而非原文词</a:t>
            </a:r>
          </a:p>
          <a:p>
            <a:pPr>
              <a:spcBef>
                <a:spcPts val="700"/>
              </a:spcBef>
            </a:pPr>
            <a:r>
              <a:rPr sz="1350">
                <a:solidFill>
                  <a:srgbClr val="C02A2A"/>
                </a:solidFill>
              </a:rPr>
              <a:t>✗ 填入后段落所有内容都符合</a:t>
            </a:r>
          </a:p>
          <a:p>
            <a:pPr>
              <a:spcBef>
                <a:spcPts val="700"/>
              </a:spcBef>
            </a:pPr>
            <a:r>
              <a:rPr sz="1350">
                <a:solidFill>
                  <a:srgbClr val="C02A2A"/>
                </a:solidFill>
              </a:rPr>
              <a:t>✗ 是段落"最重要想说什么"的最准确概括</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只对应段落中的一个细节或例子</a:t>
            </a:r>
          </a:p>
          <a:p>
            <a:pPr>
              <a:spcBef>
                <a:spcPts val="700"/>
              </a:spcBef>
            </a:pPr>
            <a:r>
              <a:rPr sz="1350">
                <a:solidFill>
                  <a:srgbClr val="1B7A3D"/>
                </a:solidFill>
              </a:rPr>
              <a:t>✓ 范围比段落大（超出段落讨论内容）</a:t>
            </a:r>
          </a:p>
          <a:p>
            <a:pPr>
              <a:spcBef>
                <a:spcPts val="700"/>
              </a:spcBef>
            </a:pPr>
            <a:r>
              <a:rPr sz="1350">
                <a:solidFill>
                  <a:srgbClr val="1B7A3D"/>
                </a:solidFill>
              </a:rPr>
              <a:t>✓ 范围比段落小（只覆盖段落一部分）</a:t>
            </a:r>
          </a:p>
          <a:p>
            <a:pPr>
              <a:spcBef>
                <a:spcPts val="700"/>
              </a:spcBef>
            </a:pPr>
            <a:r>
              <a:rPr sz="1350">
                <a:solidFill>
                  <a:srgbClr val="1B7A3D"/>
                </a:solidFill>
              </a:rPr>
              <a:t>✓ 标题有段落原词但意思方向不对</a:t>
            </a:r>
          </a:p>
          <a:p>
            <a:pPr>
              <a:spcBef>
                <a:spcPts val="700"/>
              </a:spcBef>
            </a:pPr>
            <a:r>
              <a:rPr sz="1350">
                <a:solidFill>
                  <a:srgbClr val="1B7A3D"/>
                </a:solidFill>
              </a:rPr>
              <a:t>✓ 对应的是让步内容而非真正主旨</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标题匹配 vs 信息定位：策略差异</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标题匹配（最难）</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信息定位（中等难度）</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考查：段落主旨理解</a:t>
            </a:r>
          </a:p>
          <a:p>
            <a:pPr>
              <a:spcBef>
                <a:spcPts val="700"/>
              </a:spcBef>
            </a:pPr>
            <a:r>
              <a:rPr sz="1350">
                <a:solidFill>
                  <a:srgbClr val="C02A2A"/>
                </a:solidFill>
              </a:rPr>
              <a:t>✗ 难点：干扰选项全是相关词</a:t>
            </a:r>
          </a:p>
          <a:p>
            <a:pPr>
              <a:spcBef>
                <a:spcPts val="700"/>
              </a:spcBef>
            </a:pPr>
            <a:r>
              <a:rPr sz="1350">
                <a:solidFill>
                  <a:srgbClr val="C02A2A"/>
                </a:solidFill>
              </a:rPr>
              <a:t>✗ 策略：找主题句+全段检验</a:t>
            </a:r>
          </a:p>
          <a:p>
            <a:pPr>
              <a:spcBef>
                <a:spcPts val="700"/>
              </a:spcBef>
            </a:pPr>
            <a:r>
              <a:rPr sz="1350">
                <a:solidFill>
                  <a:srgbClr val="C02A2A"/>
                </a:solidFill>
              </a:rPr>
              <a:t>✗ 时间：每段60-90秒</a:t>
            </a:r>
          </a:p>
          <a:p>
            <a:pPr>
              <a:spcBef>
                <a:spcPts val="700"/>
              </a:spcBef>
            </a:pPr>
            <a:r>
              <a:rPr sz="1350">
                <a:solidFill>
                  <a:srgbClr val="C02A2A"/>
                </a:solidFill>
              </a:rPr>
              <a:t>✗ 关键：概括能力+排除法</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考查：特定信息在哪个段落</a:t>
            </a:r>
          </a:p>
          <a:p>
            <a:pPr>
              <a:spcBef>
                <a:spcPts val="700"/>
              </a:spcBef>
            </a:pPr>
            <a:r>
              <a:rPr sz="1350">
                <a:solidFill>
                  <a:srgbClr val="1B7A3D"/>
                </a:solidFill>
              </a:rPr>
              <a:t>✓ 难点：同义替换识别</a:t>
            </a:r>
          </a:p>
          <a:p>
            <a:pPr>
              <a:spcBef>
                <a:spcPts val="700"/>
              </a:spcBef>
            </a:pPr>
            <a:r>
              <a:rPr sz="1350">
                <a:solidFill>
                  <a:srgbClr val="1B7A3D"/>
                </a:solidFill>
              </a:rPr>
              <a:t>✓ 策略：段落地图+精读确认</a:t>
            </a:r>
          </a:p>
          <a:p>
            <a:pPr>
              <a:spcBef>
                <a:spcPts val="700"/>
              </a:spcBef>
            </a:pPr>
            <a:r>
              <a:rPr sz="1350">
                <a:solidFill>
                  <a:srgbClr val="1B7A3D"/>
                </a:solidFill>
              </a:rPr>
              <a:t>✓ 时间：每题60-90秒</a:t>
            </a:r>
          </a:p>
          <a:p>
            <a:pPr>
              <a:spcBef>
                <a:spcPts val="700"/>
              </a:spcBef>
            </a:pPr>
            <a:r>
              <a:rPr sz="1350">
                <a:solidFill>
                  <a:srgbClr val="1B7A3D"/>
                </a:solidFill>
              </a:rPr>
              <a:t>✓ 关键：同义替换+扫读</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标题匹配8周专项训练计划</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80160"/>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393191"/>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1B5E33"/>
                </a:solidFill>
                <a:latin typeface="Calibri"/>
              </a:rPr>
              <a:t>第1-2周：主题句识别</a:t>
            </a:r>
          </a:p>
        </p:txBody>
      </p:sp>
      <p:sp>
        <p:nvSpPr>
          <p:cNvPr id="12" name="TextBox 11"/>
          <p:cNvSpPr txBox="1"/>
          <p:nvPr/>
        </p:nvSpPr>
        <p:spPr>
          <a:xfrm>
            <a:off x="1417320" y="1645919"/>
            <a:ext cx="10058400" cy="685799"/>
          </a:xfrm>
          <a:prstGeom prst="rect">
            <a:avLst/>
          </a:prstGeom>
          <a:noFill/>
        </p:spPr>
        <p:txBody>
          <a:bodyPr wrap="square" anchor="t">
            <a:spAutoFit/>
          </a:bodyPr>
          <a:lstStyle/>
          <a:p>
            <a:pPr algn="l"/>
            <a:r>
              <a:rPr sz="1350" b="0" i="0">
                <a:solidFill>
                  <a:srgbClr val="556075"/>
                </a:solidFill>
                <a:latin typeface="Calibri"/>
              </a:rPr>
              <a:t>每天找5个段落的主题句——只看首句+末句，培养快速定位能力</a:t>
            </a:r>
          </a:p>
        </p:txBody>
      </p:sp>
      <p:sp>
        <p:nvSpPr>
          <p:cNvPr id="13" name="Rounded Rectangle 12"/>
          <p:cNvSpPr/>
          <p:nvPr/>
        </p:nvSpPr>
        <p:spPr>
          <a:xfrm>
            <a:off x="548640" y="2331720"/>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865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990087"/>
            <a:ext cx="45720" cy="393191"/>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331720"/>
            <a:ext cx="10058400" cy="411480"/>
          </a:xfrm>
          <a:prstGeom prst="rect">
            <a:avLst/>
          </a:prstGeom>
          <a:noFill/>
        </p:spPr>
        <p:txBody>
          <a:bodyPr wrap="square" anchor="t">
            <a:spAutoFit/>
          </a:bodyPr>
          <a:lstStyle/>
          <a:p>
            <a:pPr algn="l"/>
            <a:r>
              <a:rPr sz="1600" b="1" i="0">
                <a:solidFill>
                  <a:srgbClr val="1B5E33"/>
                </a:solidFill>
                <a:latin typeface="Calibri"/>
              </a:rPr>
              <a:t>第3-4周：干扰选项分析</a:t>
            </a:r>
          </a:p>
        </p:txBody>
      </p:sp>
      <p:sp>
        <p:nvSpPr>
          <p:cNvPr id="17" name="TextBox 16"/>
          <p:cNvSpPr txBox="1"/>
          <p:nvPr/>
        </p:nvSpPr>
        <p:spPr>
          <a:xfrm>
            <a:off x="1417320" y="2697479"/>
            <a:ext cx="10058400" cy="685799"/>
          </a:xfrm>
          <a:prstGeom prst="rect">
            <a:avLst/>
          </a:prstGeom>
          <a:noFill/>
        </p:spPr>
        <p:txBody>
          <a:bodyPr wrap="square" anchor="t">
            <a:spAutoFit/>
          </a:bodyPr>
          <a:lstStyle/>
          <a:p>
            <a:pPr algn="l"/>
            <a:r>
              <a:rPr sz="1350" b="0" i="0">
                <a:solidFill>
                  <a:srgbClr val="556075"/>
                </a:solidFill>
                <a:latin typeface="Calibri"/>
              </a:rPr>
              <a:t>每次做题后分析错误选项——干扰类型是细节/范围/原词？</a:t>
            </a:r>
          </a:p>
        </p:txBody>
      </p:sp>
      <p:sp>
        <p:nvSpPr>
          <p:cNvPr id="18" name="Rounded Rectangle 17"/>
          <p:cNvSpPr/>
          <p:nvPr/>
        </p:nvSpPr>
        <p:spPr>
          <a:xfrm>
            <a:off x="548640" y="3383279"/>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438144"/>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Rectangle 19"/>
          <p:cNvSpPr/>
          <p:nvPr/>
        </p:nvSpPr>
        <p:spPr>
          <a:xfrm>
            <a:off x="841248" y="4041648"/>
            <a:ext cx="45720" cy="393191"/>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3383279"/>
            <a:ext cx="10058400" cy="411480"/>
          </a:xfrm>
          <a:prstGeom prst="rect">
            <a:avLst/>
          </a:prstGeom>
          <a:noFill/>
        </p:spPr>
        <p:txBody>
          <a:bodyPr wrap="square" anchor="t">
            <a:spAutoFit/>
          </a:bodyPr>
          <a:lstStyle/>
          <a:p>
            <a:pPr algn="l"/>
            <a:r>
              <a:rPr sz="1600" b="1" i="0">
                <a:solidFill>
                  <a:srgbClr val="1B5E33"/>
                </a:solidFill>
                <a:latin typeface="Calibri"/>
              </a:rPr>
              <a:t>第5-6周：段落类型训练</a:t>
            </a:r>
          </a:p>
        </p:txBody>
      </p:sp>
      <p:sp>
        <p:nvSpPr>
          <p:cNvPr id="22" name="TextBox 21"/>
          <p:cNvSpPr txBox="1"/>
          <p:nvPr/>
        </p:nvSpPr>
        <p:spPr>
          <a:xfrm>
            <a:off x="1417320" y="3749039"/>
            <a:ext cx="10058400" cy="685799"/>
          </a:xfrm>
          <a:prstGeom prst="rect">
            <a:avLst/>
          </a:prstGeom>
          <a:noFill/>
        </p:spPr>
        <p:txBody>
          <a:bodyPr wrap="square" anchor="t">
            <a:spAutoFit/>
          </a:bodyPr>
          <a:lstStyle/>
          <a:p>
            <a:pPr algn="l"/>
            <a:r>
              <a:rPr sz="1350" b="0" i="0">
                <a:solidFill>
                  <a:srgbClr val="556075"/>
                </a:solidFill>
                <a:latin typeface="Calibri"/>
              </a:rPr>
              <a:t>按段落类型练习（比较/因果/过程/举例），识别标题方向</a:t>
            </a:r>
          </a:p>
        </p:txBody>
      </p:sp>
      <p:sp>
        <p:nvSpPr>
          <p:cNvPr id="23" name="Rounded Rectangle 22"/>
          <p:cNvSpPr/>
          <p:nvPr/>
        </p:nvSpPr>
        <p:spPr>
          <a:xfrm>
            <a:off x="548640" y="4434840"/>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489703"/>
            <a:ext cx="640080" cy="502920"/>
          </a:xfrm>
          <a:prstGeom prst="rect">
            <a:avLst/>
          </a:prstGeom>
          <a:noFill/>
        </p:spPr>
        <p:txBody>
          <a:bodyPr wrap="square" anchor="t">
            <a:spAutoFit/>
          </a:bodyPr>
          <a:lstStyle/>
          <a:p>
            <a:pPr algn="ctr"/>
            <a:r>
              <a:rPr sz="2200" b="1" i="0">
                <a:solidFill>
                  <a:srgbClr val="FFFFFF"/>
                </a:solidFill>
                <a:latin typeface="Calibri"/>
              </a:rPr>
              <a:t>4</a:t>
            </a:r>
          </a:p>
        </p:txBody>
      </p:sp>
      <p:sp>
        <p:nvSpPr>
          <p:cNvPr id="25" name="TextBox 24"/>
          <p:cNvSpPr txBox="1"/>
          <p:nvPr/>
        </p:nvSpPr>
        <p:spPr>
          <a:xfrm>
            <a:off x="1417320" y="4434840"/>
            <a:ext cx="10058400" cy="411480"/>
          </a:xfrm>
          <a:prstGeom prst="rect">
            <a:avLst/>
          </a:prstGeom>
          <a:noFill/>
        </p:spPr>
        <p:txBody>
          <a:bodyPr wrap="square" anchor="t">
            <a:spAutoFit/>
          </a:bodyPr>
          <a:lstStyle/>
          <a:p>
            <a:pPr algn="l"/>
            <a:r>
              <a:rPr sz="1600" b="1" i="0">
                <a:solidFill>
                  <a:srgbClr val="1B5E33"/>
                </a:solidFill>
                <a:latin typeface="Calibri"/>
              </a:rPr>
              <a:t>第7-8周：计时综合</a:t>
            </a:r>
          </a:p>
        </p:txBody>
      </p:sp>
      <p:sp>
        <p:nvSpPr>
          <p:cNvPr id="26" name="TextBox 25"/>
          <p:cNvSpPr txBox="1"/>
          <p:nvPr/>
        </p:nvSpPr>
        <p:spPr>
          <a:xfrm>
            <a:off x="1417320" y="4800600"/>
            <a:ext cx="10058400" cy="685799"/>
          </a:xfrm>
          <a:prstGeom prst="rect">
            <a:avLst/>
          </a:prstGeom>
          <a:noFill/>
        </p:spPr>
        <p:txBody>
          <a:bodyPr wrap="square" anchor="t">
            <a:spAutoFit/>
          </a:bodyPr>
          <a:lstStyle/>
          <a:p>
            <a:pPr algn="l"/>
            <a:r>
              <a:rPr sz="1350" b="0" i="0">
                <a:solidFill>
                  <a:srgbClr val="556075"/>
                </a:solidFill>
                <a:latin typeface="Calibri"/>
              </a:rPr>
              <a:t>每次做完整标题匹配题组，目标平均每段&lt;90秒</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标题匹配标准做题流程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80160"/>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393191"/>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1B5E33"/>
                </a:solidFill>
                <a:latin typeface="Calibri"/>
              </a:rPr>
              <a:t>Step 1（1分钟）：读所有标题</a:t>
            </a:r>
          </a:p>
        </p:txBody>
      </p:sp>
      <p:sp>
        <p:nvSpPr>
          <p:cNvPr id="12" name="TextBox 11"/>
          <p:cNvSpPr txBox="1"/>
          <p:nvPr/>
        </p:nvSpPr>
        <p:spPr>
          <a:xfrm>
            <a:off x="1417320" y="1645919"/>
            <a:ext cx="10058400" cy="685799"/>
          </a:xfrm>
          <a:prstGeom prst="rect">
            <a:avLst/>
          </a:prstGeom>
          <a:noFill/>
        </p:spPr>
        <p:txBody>
          <a:bodyPr wrap="square" anchor="t">
            <a:spAutoFit/>
          </a:bodyPr>
          <a:lstStyle/>
          <a:p>
            <a:pPr algn="l"/>
            <a:r>
              <a:rPr sz="1350" b="0" i="0">
                <a:solidFill>
                  <a:srgbClr val="556075"/>
                </a:solidFill>
                <a:latin typeface="Calibri"/>
              </a:rPr>
              <a:t>快速读完备选标题，了解可能的主题范围</a:t>
            </a:r>
          </a:p>
        </p:txBody>
      </p:sp>
      <p:sp>
        <p:nvSpPr>
          <p:cNvPr id="13" name="Rounded Rectangle 12"/>
          <p:cNvSpPr/>
          <p:nvPr/>
        </p:nvSpPr>
        <p:spPr>
          <a:xfrm>
            <a:off x="548640" y="2331720"/>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865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990087"/>
            <a:ext cx="45720" cy="393191"/>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331720"/>
            <a:ext cx="10058400" cy="411480"/>
          </a:xfrm>
          <a:prstGeom prst="rect">
            <a:avLst/>
          </a:prstGeom>
          <a:noFill/>
        </p:spPr>
        <p:txBody>
          <a:bodyPr wrap="square" anchor="t">
            <a:spAutoFit/>
          </a:bodyPr>
          <a:lstStyle/>
          <a:p>
            <a:pPr algn="l"/>
            <a:r>
              <a:rPr sz="1600" b="1" i="0">
                <a:solidFill>
                  <a:srgbClr val="1B5E33"/>
                </a:solidFill>
                <a:latin typeface="Calibri"/>
              </a:rPr>
              <a:t>Step 2（30秒/段）：读首末句</a:t>
            </a:r>
          </a:p>
        </p:txBody>
      </p:sp>
      <p:sp>
        <p:nvSpPr>
          <p:cNvPr id="17" name="TextBox 16"/>
          <p:cNvSpPr txBox="1"/>
          <p:nvPr/>
        </p:nvSpPr>
        <p:spPr>
          <a:xfrm>
            <a:off x="1417320" y="2697479"/>
            <a:ext cx="10058400" cy="685799"/>
          </a:xfrm>
          <a:prstGeom prst="rect">
            <a:avLst/>
          </a:prstGeom>
          <a:noFill/>
        </p:spPr>
        <p:txBody>
          <a:bodyPr wrap="square" anchor="t">
            <a:spAutoFit/>
          </a:bodyPr>
          <a:lstStyle/>
          <a:p>
            <a:pPr algn="l"/>
            <a:r>
              <a:rPr sz="1350" b="0" i="0">
                <a:solidFill>
                  <a:srgbClr val="556075"/>
                </a:solidFill>
                <a:latin typeface="Calibri"/>
              </a:rPr>
              <a:t>先读首句；首句是让步/举例则再读末句</a:t>
            </a:r>
          </a:p>
        </p:txBody>
      </p:sp>
      <p:sp>
        <p:nvSpPr>
          <p:cNvPr id="18" name="Rounded Rectangle 17"/>
          <p:cNvSpPr/>
          <p:nvPr/>
        </p:nvSpPr>
        <p:spPr>
          <a:xfrm>
            <a:off x="548640" y="3383279"/>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438144"/>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Rectangle 19"/>
          <p:cNvSpPr/>
          <p:nvPr/>
        </p:nvSpPr>
        <p:spPr>
          <a:xfrm>
            <a:off x="841248" y="4041648"/>
            <a:ext cx="45720" cy="393191"/>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3383279"/>
            <a:ext cx="10058400" cy="411480"/>
          </a:xfrm>
          <a:prstGeom prst="rect">
            <a:avLst/>
          </a:prstGeom>
          <a:noFill/>
        </p:spPr>
        <p:txBody>
          <a:bodyPr wrap="square" anchor="t">
            <a:spAutoFit/>
          </a:bodyPr>
          <a:lstStyle/>
          <a:p>
            <a:pPr algn="l"/>
            <a:r>
              <a:rPr sz="1600" b="1" i="0">
                <a:solidFill>
                  <a:srgbClr val="1B5E33"/>
                </a:solidFill>
                <a:latin typeface="Calibri"/>
              </a:rPr>
              <a:t>Step 3（30秒）：匹配标题</a:t>
            </a:r>
          </a:p>
        </p:txBody>
      </p:sp>
      <p:sp>
        <p:nvSpPr>
          <p:cNvPr id="22" name="TextBox 21"/>
          <p:cNvSpPr txBox="1"/>
          <p:nvPr/>
        </p:nvSpPr>
        <p:spPr>
          <a:xfrm>
            <a:off x="1417320" y="3749039"/>
            <a:ext cx="10058400" cy="685799"/>
          </a:xfrm>
          <a:prstGeom prst="rect">
            <a:avLst/>
          </a:prstGeom>
          <a:noFill/>
        </p:spPr>
        <p:txBody>
          <a:bodyPr wrap="square" anchor="t">
            <a:spAutoFit/>
          </a:bodyPr>
          <a:lstStyle/>
          <a:p>
            <a:pPr algn="l"/>
            <a:r>
              <a:rPr sz="1350" b="0" i="0">
                <a:solidFill>
                  <a:srgbClr val="556075"/>
                </a:solidFill>
                <a:latin typeface="Calibri"/>
              </a:rPr>
              <a:t>将段落主旨与备选标题对比，选最匹配的</a:t>
            </a:r>
          </a:p>
        </p:txBody>
      </p:sp>
      <p:sp>
        <p:nvSpPr>
          <p:cNvPr id="23" name="Rounded Rectangle 22"/>
          <p:cNvSpPr/>
          <p:nvPr/>
        </p:nvSpPr>
        <p:spPr>
          <a:xfrm>
            <a:off x="548640" y="4434840"/>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489703"/>
            <a:ext cx="640080" cy="502920"/>
          </a:xfrm>
          <a:prstGeom prst="rect">
            <a:avLst/>
          </a:prstGeom>
          <a:noFill/>
        </p:spPr>
        <p:txBody>
          <a:bodyPr wrap="square" anchor="t">
            <a:spAutoFit/>
          </a:bodyPr>
          <a:lstStyle/>
          <a:p>
            <a:pPr algn="ctr"/>
            <a:r>
              <a:rPr sz="2200" b="1" i="0">
                <a:solidFill>
                  <a:srgbClr val="FFFFFF"/>
                </a:solidFill>
                <a:latin typeface="Calibri"/>
              </a:rPr>
              <a:t>4</a:t>
            </a:r>
          </a:p>
        </p:txBody>
      </p:sp>
      <p:sp>
        <p:nvSpPr>
          <p:cNvPr id="25" name="TextBox 24"/>
          <p:cNvSpPr txBox="1"/>
          <p:nvPr/>
        </p:nvSpPr>
        <p:spPr>
          <a:xfrm>
            <a:off x="1417320" y="4434840"/>
            <a:ext cx="10058400" cy="411480"/>
          </a:xfrm>
          <a:prstGeom prst="rect">
            <a:avLst/>
          </a:prstGeom>
          <a:noFill/>
        </p:spPr>
        <p:txBody>
          <a:bodyPr wrap="square" anchor="t">
            <a:spAutoFit/>
          </a:bodyPr>
          <a:lstStyle/>
          <a:p>
            <a:pPr algn="l"/>
            <a:r>
              <a:rPr sz="1600" b="1" i="0">
                <a:solidFill>
                  <a:srgbClr val="1B5E33"/>
                </a:solidFill>
                <a:latin typeface="Calibri"/>
              </a:rPr>
              <a:t>Step 4（15秒）：全段检验</a:t>
            </a:r>
          </a:p>
        </p:txBody>
      </p:sp>
      <p:sp>
        <p:nvSpPr>
          <p:cNvPr id="26" name="TextBox 25"/>
          <p:cNvSpPr txBox="1"/>
          <p:nvPr/>
        </p:nvSpPr>
        <p:spPr>
          <a:xfrm>
            <a:off x="1417320" y="4800600"/>
            <a:ext cx="10058400" cy="685799"/>
          </a:xfrm>
          <a:prstGeom prst="rect">
            <a:avLst/>
          </a:prstGeom>
          <a:noFill/>
        </p:spPr>
        <p:txBody>
          <a:bodyPr wrap="square" anchor="t">
            <a:spAutoFit/>
          </a:bodyPr>
          <a:lstStyle/>
          <a:p>
            <a:pPr algn="l"/>
            <a:r>
              <a:rPr sz="1350" b="0" i="0">
                <a:solidFill>
                  <a:srgbClr val="556075"/>
                </a:solidFill>
                <a:latin typeface="Calibri"/>
              </a:rPr>
              <a:t>确认选定标题概括整段，而非只是某一细节</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当堂练习：主题句识别速训</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88720"/>
            <a:ext cx="11064240" cy="640080"/>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快速找出以下段落的主题句（30秒内）</a:t>
            </a:r>
          </a:p>
        </p:txBody>
      </p:sp>
      <p:sp>
        <p:nvSpPr>
          <p:cNvPr id="10" name="TextBox 9"/>
          <p:cNvSpPr txBox="1"/>
          <p:nvPr/>
        </p:nvSpPr>
        <p:spPr>
          <a:xfrm>
            <a:off x="640080" y="2057400"/>
            <a:ext cx="10972800" cy="4206240"/>
          </a:xfrm>
          <a:prstGeom prst="rect">
            <a:avLst/>
          </a:prstGeom>
          <a:noFill/>
        </p:spPr>
        <p:txBody>
          <a:bodyPr wrap="square">
            <a:spAutoFit/>
          </a:bodyPr>
          <a:lstStyle/>
          <a:p>
            <a:r>
              <a:rPr sz="1700" b="1">
                <a:solidFill>
                  <a:srgbClr val="1B5E33"/>
                </a:solidFill>
              </a:rPr>
              <a:t>▢ 段落1</a:t>
            </a:r>
          </a:p>
          <a:p>
            <a:pPr>
              <a:spcBef>
                <a:spcPts val="100"/>
              </a:spcBef>
            </a:pPr>
            <a:r>
              <a:rPr sz="1400">
                <a:solidFill>
                  <a:srgbClr val="556075"/>
                </a:solidFill>
              </a:rPr>
              <a:t>   While many believe second language learning becomes harder with age, research suggests adults have significant advantages, particularly in vocabulary and grammar understanding.
【答案】主题句：转折后主句"adults have significant advantages"→ 主旨：成人学语言有优势</a:t>
            </a:r>
          </a:p>
          <a:p>
            <a:pPr>
              <a:spcBef>
                <a:spcPts val="1100"/>
              </a:spcBef>
            </a:pPr>
            <a:r>
              <a:rPr sz="1700" b="1">
                <a:solidFill>
                  <a:srgbClr val="1B5E33"/>
                </a:solidFill>
              </a:rPr>
              <a:t>▢ 段落2</a:t>
            </a:r>
          </a:p>
          <a:p>
            <a:pPr>
              <a:spcBef>
                <a:spcPts val="100"/>
              </a:spcBef>
            </a:pPr>
            <a:r>
              <a:rPr sz="1400">
                <a:solidFill>
                  <a:srgbClr val="556075"/>
                </a:solidFill>
              </a:rPr>
              <a:t>   The Amazon covers 5.5 million sq km. It is home to 10% of all species. Millions of indigenous people have lived there for thousands of years.
【答案】无明显主题句——归纳所有内容 → 主旨：亚马逊雨林的规模与重要性</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当堂练习：干扰标题识别速训</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88720"/>
            <a:ext cx="11064240" cy="640080"/>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分析哪个标题是干扰项（60秒内）</a:t>
            </a:r>
          </a:p>
        </p:txBody>
      </p:sp>
      <p:sp>
        <p:nvSpPr>
          <p:cNvPr id="10" name="TextBox 9"/>
          <p:cNvSpPr txBox="1"/>
          <p:nvPr/>
        </p:nvSpPr>
        <p:spPr>
          <a:xfrm>
            <a:off x="640080" y="2057400"/>
            <a:ext cx="10972800" cy="4206240"/>
          </a:xfrm>
          <a:prstGeom prst="rect">
            <a:avLst/>
          </a:prstGeom>
          <a:noFill/>
        </p:spPr>
        <p:txBody>
          <a:bodyPr wrap="square">
            <a:spAutoFit/>
          </a:bodyPr>
          <a:lstStyle/>
          <a:p>
            <a:r>
              <a:rPr sz="1700" b="1">
                <a:solidFill>
                  <a:srgbClr val="1B5E33"/>
                </a:solidFill>
              </a:rPr>
              <a:t>▢ 干扰分析</a:t>
            </a:r>
          </a:p>
          <a:p>
            <a:pPr>
              <a:spcBef>
                <a:spcPts val="100"/>
              </a:spcBef>
            </a:pPr>
            <a:r>
              <a:rPr sz="1400">
                <a:solidFill>
                  <a:srgbClr val="556075"/>
                </a:solidFill>
              </a:rPr>
              <a:t>   段落主旨：咖啡因对睡眠的负面影响
备选：A.对健康的负面影响 B.为什么咖啡影响睡眠 C.咖啡的全球流行 D.咖啡因对睡眠的影响
【答案】A.范围过大(只讲睡眠)✗ B.准确概括✓ C.与主旨无关✗ D.与B相似但B更精确→最佳：B</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标题匹配5大技巧</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3444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1B5E33"/>
                </a:solidFill>
                <a:latin typeface="Calibri"/>
              </a:rPr>
              <a:t>技巧1：先读主题句</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找首句或末句——约85%的段落主题句在这两处</a:t>
            </a:r>
          </a:p>
        </p:txBody>
      </p:sp>
      <p:sp>
        <p:nvSpPr>
          <p:cNvPr id="12" name="Rounded Rectangle 11"/>
          <p:cNvSpPr/>
          <p:nvPr/>
        </p:nvSpPr>
        <p:spPr>
          <a:xfrm>
            <a:off x="6355079" y="123444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1B5E33"/>
                </a:solidFill>
                <a:latin typeface="Calibri"/>
              </a:rPr>
              <a:t>技巧2：注意转折</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Although/However后的主句才是真正主旨</a:t>
            </a:r>
          </a:p>
        </p:txBody>
      </p:sp>
      <p:sp>
        <p:nvSpPr>
          <p:cNvPr id="16" name="Rounded Rectangle 15"/>
          <p:cNvSpPr/>
          <p:nvPr/>
        </p:nvSpPr>
        <p:spPr>
          <a:xfrm>
            <a:off x="548640" y="286512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1B5E33"/>
                </a:solidFill>
                <a:latin typeface="Calibri"/>
              </a:rPr>
              <a:t>技巧3：原词警惕</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标题有段落原词不代表正确——要看意思是否匹配整段</a:t>
            </a:r>
          </a:p>
        </p:txBody>
      </p:sp>
      <p:sp>
        <p:nvSpPr>
          <p:cNvPr id="20" name="Rounded Rectangle 19"/>
          <p:cNvSpPr/>
          <p:nvPr/>
        </p:nvSpPr>
        <p:spPr>
          <a:xfrm>
            <a:off x="6355079" y="286512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1B5E33"/>
                </a:solidFill>
                <a:latin typeface="Calibri"/>
              </a:rPr>
              <a:t>技巧4：全段检验</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选完标题后验证：这个标题概括了整段所有内容吗？</a:t>
            </a:r>
          </a:p>
        </p:txBody>
      </p:sp>
      <p:sp>
        <p:nvSpPr>
          <p:cNvPr id="24" name="Rounded Rectangle 23"/>
          <p:cNvSpPr/>
          <p:nvPr/>
        </p:nvSpPr>
        <p:spPr>
          <a:xfrm>
            <a:off x="548640" y="449580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1B5E33"/>
                </a:solidFill>
                <a:latin typeface="Calibri"/>
              </a:rPr>
              <a:t>技巧5：时间控制</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每段1-1.5分钟上限——超时先猜，继续做下一段</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标题匹配考场应急策略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3444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1B5E33"/>
                </a:solidFill>
                <a:latin typeface="Calibri"/>
              </a:rPr>
              <a:t>遇到难段落</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先跳过，做其他确定的段落，最后回来用排除法</a:t>
            </a:r>
          </a:p>
        </p:txBody>
      </p:sp>
      <p:sp>
        <p:nvSpPr>
          <p:cNvPr id="12" name="Rounded Rectangle 11"/>
          <p:cNvSpPr/>
          <p:nvPr/>
        </p:nvSpPr>
        <p:spPr>
          <a:xfrm>
            <a:off x="6355079" y="123444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1B5E33"/>
                </a:solidFill>
                <a:latin typeface="Calibri"/>
              </a:rPr>
              <a:t>两个标题都合适</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问：哪个概括了整段更完整？范围更合适？</a:t>
            </a:r>
          </a:p>
        </p:txBody>
      </p:sp>
      <p:sp>
        <p:nvSpPr>
          <p:cNvPr id="16" name="Rounded Rectangle 15"/>
          <p:cNvSpPr/>
          <p:nvPr/>
        </p:nvSpPr>
        <p:spPr>
          <a:xfrm>
            <a:off x="548640" y="292608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1B5E33"/>
                </a:solidFill>
                <a:latin typeface="Calibri"/>
              </a:rPr>
              <a:t>整段不确定</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用"这段最重要想说什么？"归纳，选最接近的</a:t>
            </a:r>
          </a:p>
        </p:txBody>
      </p:sp>
      <p:sp>
        <p:nvSpPr>
          <p:cNvPr id="20" name="Rounded Rectangle 19"/>
          <p:cNvSpPr/>
          <p:nvPr/>
        </p:nvSpPr>
        <p:spPr>
          <a:xfrm>
            <a:off x="6355079" y="292608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1B5E33"/>
                </a:solidFill>
                <a:latin typeface="Calibri"/>
              </a:rPr>
              <a:t>时间不够</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每段1分钟——超时就猜，继续前进</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段落类型速查表</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3444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1B5E33"/>
                </a:solidFill>
                <a:latin typeface="Calibri"/>
              </a:rPr>
              <a:t>比较型</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A和B对比→标题含compare/contrast/difference/versus</a:t>
            </a:r>
          </a:p>
        </p:txBody>
      </p:sp>
      <p:sp>
        <p:nvSpPr>
          <p:cNvPr id="12" name="Rounded Rectangle 11"/>
          <p:cNvSpPr/>
          <p:nvPr/>
        </p:nvSpPr>
        <p:spPr>
          <a:xfrm>
            <a:off x="6355079" y="123444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1B5E33"/>
                </a:solidFill>
                <a:latin typeface="Calibri"/>
              </a:rPr>
              <a:t>因果型</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解释原因/结果→标题含cause/result/effect/lead to/why</a:t>
            </a:r>
          </a:p>
        </p:txBody>
      </p:sp>
      <p:sp>
        <p:nvSpPr>
          <p:cNvPr id="16" name="Rounded Rectangle 15"/>
          <p:cNvSpPr/>
          <p:nvPr/>
        </p:nvSpPr>
        <p:spPr>
          <a:xfrm>
            <a:off x="548640" y="292608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1B5E33"/>
                </a:solidFill>
                <a:latin typeface="Calibri"/>
              </a:rPr>
              <a:t>过程型</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步骤/流程→标题含process/how/development/stages</a:t>
            </a:r>
          </a:p>
        </p:txBody>
      </p:sp>
      <p:sp>
        <p:nvSpPr>
          <p:cNvPr id="20" name="Rounded Rectangle 19"/>
          <p:cNvSpPr/>
          <p:nvPr/>
        </p:nvSpPr>
        <p:spPr>
          <a:xfrm>
            <a:off x="6355079" y="292608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1B5E33"/>
                </a:solidFill>
                <a:latin typeface="Calibri"/>
              </a:rPr>
              <a:t>举例型</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例子说明主点→标题是主点（总起句），不是例子</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标题匹配备考资料与方法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3444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1B5E33"/>
                </a:solidFill>
                <a:latin typeface="Calibri"/>
              </a:rPr>
              <a:t>真题练习</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Cambridge IELTS 1-18均含Heading Matching——是最佳材料</a:t>
            </a:r>
          </a:p>
        </p:txBody>
      </p:sp>
      <p:sp>
        <p:nvSpPr>
          <p:cNvPr id="12" name="Rounded Rectangle 11"/>
          <p:cNvSpPr/>
          <p:nvPr/>
        </p:nvSpPr>
        <p:spPr>
          <a:xfrm>
            <a:off x="6355079" y="123444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1B5E33"/>
                </a:solidFill>
                <a:latin typeface="Calibri"/>
              </a:rPr>
              <a:t>错题分析</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每次做错后找出干扰类型——细节/范围/原词陷阱？</a:t>
            </a:r>
          </a:p>
        </p:txBody>
      </p:sp>
      <p:sp>
        <p:nvSpPr>
          <p:cNvPr id="16" name="Rounded Rectangle 15"/>
          <p:cNvSpPr/>
          <p:nvPr/>
        </p:nvSpPr>
        <p:spPr>
          <a:xfrm>
            <a:off x="548640" y="292608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1B5E33"/>
                </a:solidFill>
                <a:latin typeface="Calibri"/>
              </a:rPr>
              <a:t>速度目标</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Band 6: 每段&lt;120秒 / Band 7: 每段&lt;90秒</a:t>
            </a:r>
          </a:p>
        </p:txBody>
      </p:sp>
      <p:sp>
        <p:nvSpPr>
          <p:cNvPr id="20" name="Rounded Rectangle 19"/>
          <p:cNvSpPr/>
          <p:nvPr/>
        </p:nvSpPr>
        <p:spPr>
          <a:xfrm>
            <a:off x="6355079" y="292608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1B5E33"/>
                </a:solidFill>
                <a:latin typeface="Calibri"/>
              </a:rPr>
              <a:t>练习量</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至少做50段以上才能稳定——这是数量驱动的提升</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标题匹配高频词汇：描述主旨</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234440"/>
            <a:ext cx="4937760" cy="43641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43641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43641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43641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670858"/>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670858"/>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70858"/>
            <a:ext cx="4754880" cy="436418"/>
          </a:xfrm>
          <a:prstGeom prst="rect">
            <a:avLst/>
          </a:prstGeom>
          <a:noFill/>
        </p:spPr>
        <p:txBody>
          <a:bodyPr wrap="square" anchor="ctr">
            <a:spAutoFit/>
          </a:bodyPr>
          <a:lstStyle/>
          <a:p>
            <a:pPr algn="l"/>
            <a:r>
              <a:rPr sz="1250" b="1" i="0">
                <a:solidFill>
                  <a:srgbClr val="1B5E33"/>
                </a:solidFill>
                <a:latin typeface="Calibri"/>
              </a:rPr>
              <a:t>impact</a:t>
            </a:r>
          </a:p>
        </p:txBody>
      </p:sp>
      <p:sp>
        <p:nvSpPr>
          <p:cNvPr id="15" name="TextBox 14"/>
          <p:cNvSpPr txBox="1"/>
          <p:nvPr/>
        </p:nvSpPr>
        <p:spPr>
          <a:xfrm>
            <a:off x="5623560" y="1670858"/>
            <a:ext cx="5852160" cy="436418"/>
          </a:xfrm>
          <a:prstGeom prst="rect">
            <a:avLst/>
          </a:prstGeom>
          <a:noFill/>
        </p:spPr>
        <p:txBody>
          <a:bodyPr wrap="square" anchor="ctr">
            <a:spAutoFit/>
          </a:bodyPr>
          <a:lstStyle/>
          <a:p>
            <a:pPr algn="l"/>
            <a:r>
              <a:rPr sz="1250" b="0" i="0">
                <a:solidFill>
                  <a:srgbClr val="1E293B"/>
                </a:solidFill>
                <a:latin typeface="Calibri"/>
              </a:rPr>
              <a:t>影响；冲击</a:t>
            </a:r>
          </a:p>
        </p:txBody>
      </p:sp>
      <p:sp>
        <p:nvSpPr>
          <p:cNvPr id="16" name="Rectangle 15"/>
          <p:cNvSpPr/>
          <p:nvPr/>
        </p:nvSpPr>
        <p:spPr>
          <a:xfrm>
            <a:off x="548640" y="2107276"/>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107276"/>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107276"/>
            <a:ext cx="4754880" cy="436418"/>
          </a:xfrm>
          <a:prstGeom prst="rect">
            <a:avLst/>
          </a:prstGeom>
          <a:noFill/>
        </p:spPr>
        <p:txBody>
          <a:bodyPr wrap="square" anchor="ctr">
            <a:spAutoFit/>
          </a:bodyPr>
          <a:lstStyle/>
          <a:p>
            <a:pPr algn="l"/>
            <a:r>
              <a:rPr sz="1250" b="1" i="0">
                <a:solidFill>
                  <a:srgbClr val="1B5E33"/>
                </a:solidFill>
                <a:latin typeface="Calibri"/>
              </a:rPr>
              <a:t>significance</a:t>
            </a:r>
          </a:p>
        </p:txBody>
      </p:sp>
      <p:sp>
        <p:nvSpPr>
          <p:cNvPr id="19" name="TextBox 18"/>
          <p:cNvSpPr txBox="1"/>
          <p:nvPr/>
        </p:nvSpPr>
        <p:spPr>
          <a:xfrm>
            <a:off x="5623560" y="2107276"/>
            <a:ext cx="5852160" cy="436418"/>
          </a:xfrm>
          <a:prstGeom prst="rect">
            <a:avLst/>
          </a:prstGeom>
          <a:noFill/>
        </p:spPr>
        <p:txBody>
          <a:bodyPr wrap="square" anchor="ctr">
            <a:spAutoFit/>
          </a:bodyPr>
          <a:lstStyle/>
          <a:p>
            <a:pPr algn="l"/>
            <a:r>
              <a:rPr sz="1250" b="0" i="0">
                <a:solidFill>
                  <a:srgbClr val="1E293B"/>
                </a:solidFill>
                <a:latin typeface="Calibri"/>
              </a:rPr>
              <a:t>重要性；意义</a:t>
            </a:r>
          </a:p>
        </p:txBody>
      </p:sp>
      <p:sp>
        <p:nvSpPr>
          <p:cNvPr id="20" name="Rectangle 19"/>
          <p:cNvSpPr/>
          <p:nvPr/>
        </p:nvSpPr>
        <p:spPr>
          <a:xfrm>
            <a:off x="548640" y="2543694"/>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543694"/>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543694"/>
            <a:ext cx="4754880" cy="436418"/>
          </a:xfrm>
          <a:prstGeom prst="rect">
            <a:avLst/>
          </a:prstGeom>
          <a:noFill/>
        </p:spPr>
        <p:txBody>
          <a:bodyPr wrap="square" anchor="ctr">
            <a:spAutoFit/>
          </a:bodyPr>
          <a:lstStyle/>
          <a:p>
            <a:pPr algn="l"/>
            <a:r>
              <a:rPr sz="1250" b="1" i="0">
                <a:solidFill>
                  <a:srgbClr val="1B5E33"/>
                </a:solidFill>
                <a:latin typeface="Calibri"/>
              </a:rPr>
              <a:t>development</a:t>
            </a:r>
          </a:p>
        </p:txBody>
      </p:sp>
      <p:sp>
        <p:nvSpPr>
          <p:cNvPr id="23" name="TextBox 22"/>
          <p:cNvSpPr txBox="1"/>
          <p:nvPr/>
        </p:nvSpPr>
        <p:spPr>
          <a:xfrm>
            <a:off x="5623560" y="2543694"/>
            <a:ext cx="5852160" cy="436418"/>
          </a:xfrm>
          <a:prstGeom prst="rect">
            <a:avLst/>
          </a:prstGeom>
          <a:noFill/>
        </p:spPr>
        <p:txBody>
          <a:bodyPr wrap="square" anchor="ctr">
            <a:spAutoFit/>
          </a:bodyPr>
          <a:lstStyle/>
          <a:p>
            <a:pPr algn="l"/>
            <a:r>
              <a:rPr sz="1250" b="0" i="0">
                <a:solidFill>
                  <a:srgbClr val="1E293B"/>
                </a:solidFill>
                <a:latin typeface="Calibri"/>
              </a:rPr>
              <a:t>发展；进步</a:t>
            </a:r>
          </a:p>
        </p:txBody>
      </p:sp>
      <p:sp>
        <p:nvSpPr>
          <p:cNvPr id="24" name="Rectangle 23"/>
          <p:cNvSpPr/>
          <p:nvPr/>
        </p:nvSpPr>
        <p:spPr>
          <a:xfrm>
            <a:off x="548640" y="2980112"/>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2980112"/>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2980112"/>
            <a:ext cx="4754880" cy="436418"/>
          </a:xfrm>
          <a:prstGeom prst="rect">
            <a:avLst/>
          </a:prstGeom>
          <a:noFill/>
        </p:spPr>
        <p:txBody>
          <a:bodyPr wrap="square" anchor="ctr">
            <a:spAutoFit/>
          </a:bodyPr>
          <a:lstStyle/>
          <a:p>
            <a:pPr algn="l"/>
            <a:r>
              <a:rPr sz="1250" b="1" i="0">
                <a:solidFill>
                  <a:srgbClr val="1B5E33"/>
                </a:solidFill>
                <a:latin typeface="Calibri"/>
              </a:rPr>
              <a:t>challenge</a:t>
            </a:r>
          </a:p>
        </p:txBody>
      </p:sp>
      <p:sp>
        <p:nvSpPr>
          <p:cNvPr id="27" name="TextBox 26"/>
          <p:cNvSpPr txBox="1"/>
          <p:nvPr/>
        </p:nvSpPr>
        <p:spPr>
          <a:xfrm>
            <a:off x="5623560" y="2980112"/>
            <a:ext cx="5852160" cy="436418"/>
          </a:xfrm>
          <a:prstGeom prst="rect">
            <a:avLst/>
          </a:prstGeom>
          <a:noFill/>
        </p:spPr>
        <p:txBody>
          <a:bodyPr wrap="square" anchor="ctr">
            <a:spAutoFit/>
          </a:bodyPr>
          <a:lstStyle/>
          <a:p>
            <a:pPr algn="l"/>
            <a:r>
              <a:rPr sz="1250" b="0" i="0">
                <a:solidFill>
                  <a:srgbClr val="1E293B"/>
                </a:solidFill>
                <a:latin typeface="Calibri"/>
              </a:rPr>
              <a:t>挑战；困难</a:t>
            </a:r>
          </a:p>
        </p:txBody>
      </p:sp>
      <p:sp>
        <p:nvSpPr>
          <p:cNvPr id="28" name="Rectangle 27"/>
          <p:cNvSpPr/>
          <p:nvPr/>
        </p:nvSpPr>
        <p:spPr>
          <a:xfrm>
            <a:off x="548640" y="3416530"/>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416530"/>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416530"/>
            <a:ext cx="4754880" cy="436418"/>
          </a:xfrm>
          <a:prstGeom prst="rect">
            <a:avLst/>
          </a:prstGeom>
          <a:noFill/>
        </p:spPr>
        <p:txBody>
          <a:bodyPr wrap="square" anchor="ctr">
            <a:spAutoFit/>
          </a:bodyPr>
          <a:lstStyle/>
          <a:p>
            <a:pPr algn="l"/>
            <a:r>
              <a:rPr sz="1250" b="1" i="0">
                <a:solidFill>
                  <a:srgbClr val="1B5E33"/>
                </a:solidFill>
                <a:latin typeface="Calibri"/>
              </a:rPr>
              <a:t>solution</a:t>
            </a:r>
          </a:p>
        </p:txBody>
      </p:sp>
      <p:sp>
        <p:nvSpPr>
          <p:cNvPr id="31" name="TextBox 30"/>
          <p:cNvSpPr txBox="1"/>
          <p:nvPr/>
        </p:nvSpPr>
        <p:spPr>
          <a:xfrm>
            <a:off x="5623560" y="3416530"/>
            <a:ext cx="5852160" cy="436418"/>
          </a:xfrm>
          <a:prstGeom prst="rect">
            <a:avLst/>
          </a:prstGeom>
          <a:noFill/>
        </p:spPr>
        <p:txBody>
          <a:bodyPr wrap="square" anchor="ctr">
            <a:spAutoFit/>
          </a:bodyPr>
          <a:lstStyle/>
          <a:p>
            <a:pPr algn="l"/>
            <a:r>
              <a:rPr sz="1250" b="0" i="0">
                <a:solidFill>
                  <a:srgbClr val="1E293B"/>
                </a:solidFill>
                <a:latin typeface="Calibri"/>
              </a:rPr>
              <a:t>解决方案</a:t>
            </a:r>
          </a:p>
        </p:txBody>
      </p:sp>
      <p:sp>
        <p:nvSpPr>
          <p:cNvPr id="32" name="Rectangle 31"/>
          <p:cNvSpPr/>
          <p:nvPr/>
        </p:nvSpPr>
        <p:spPr>
          <a:xfrm>
            <a:off x="548640" y="3852949"/>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3852949"/>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852949"/>
            <a:ext cx="4754880" cy="436418"/>
          </a:xfrm>
          <a:prstGeom prst="rect">
            <a:avLst/>
          </a:prstGeom>
          <a:noFill/>
        </p:spPr>
        <p:txBody>
          <a:bodyPr wrap="square" anchor="ctr">
            <a:spAutoFit/>
          </a:bodyPr>
          <a:lstStyle/>
          <a:p>
            <a:pPr algn="l"/>
            <a:r>
              <a:rPr sz="1250" b="1" i="0">
                <a:solidFill>
                  <a:srgbClr val="1B5E33"/>
                </a:solidFill>
                <a:latin typeface="Calibri"/>
              </a:rPr>
              <a:t>advantage</a:t>
            </a:r>
          </a:p>
        </p:txBody>
      </p:sp>
      <p:sp>
        <p:nvSpPr>
          <p:cNvPr id="35" name="TextBox 34"/>
          <p:cNvSpPr txBox="1"/>
          <p:nvPr/>
        </p:nvSpPr>
        <p:spPr>
          <a:xfrm>
            <a:off x="5623560" y="3852949"/>
            <a:ext cx="5852160" cy="436418"/>
          </a:xfrm>
          <a:prstGeom prst="rect">
            <a:avLst/>
          </a:prstGeom>
          <a:noFill/>
        </p:spPr>
        <p:txBody>
          <a:bodyPr wrap="square" anchor="ctr">
            <a:spAutoFit/>
          </a:bodyPr>
          <a:lstStyle/>
          <a:p>
            <a:pPr algn="l"/>
            <a:r>
              <a:rPr sz="1250" b="0" i="0">
                <a:solidFill>
                  <a:srgbClr val="1E293B"/>
                </a:solidFill>
                <a:latin typeface="Calibri"/>
              </a:rPr>
              <a:t>优势；好处</a:t>
            </a:r>
          </a:p>
        </p:txBody>
      </p:sp>
      <p:sp>
        <p:nvSpPr>
          <p:cNvPr id="36" name="Rectangle 35"/>
          <p:cNvSpPr/>
          <p:nvPr/>
        </p:nvSpPr>
        <p:spPr>
          <a:xfrm>
            <a:off x="548640" y="4289367"/>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289367"/>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289367"/>
            <a:ext cx="4754880" cy="436418"/>
          </a:xfrm>
          <a:prstGeom prst="rect">
            <a:avLst/>
          </a:prstGeom>
          <a:noFill/>
        </p:spPr>
        <p:txBody>
          <a:bodyPr wrap="square" anchor="ctr">
            <a:spAutoFit/>
          </a:bodyPr>
          <a:lstStyle/>
          <a:p>
            <a:pPr algn="l"/>
            <a:r>
              <a:rPr sz="1250" b="1" i="0">
                <a:solidFill>
                  <a:srgbClr val="1B5E33"/>
                </a:solidFill>
                <a:latin typeface="Calibri"/>
              </a:rPr>
              <a:t>disadvantage</a:t>
            </a:r>
          </a:p>
        </p:txBody>
      </p:sp>
      <p:sp>
        <p:nvSpPr>
          <p:cNvPr id="39" name="TextBox 38"/>
          <p:cNvSpPr txBox="1"/>
          <p:nvPr/>
        </p:nvSpPr>
        <p:spPr>
          <a:xfrm>
            <a:off x="5623560" y="4289367"/>
            <a:ext cx="5852160" cy="436418"/>
          </a:xfrm>
          <a:prstGeom prst="rect">
            <a:avLst/>
          </a:prstGeom>
          <a:noFill/>
        </p:spPr>
        <p:txBody>
          <a:bodyPr wrap="square" anchor="ctr">
            <a:spAutoFit/>
          </a:bodyPr>
          <a:lstStyle/>
          <a:p>
            <a:pPr algn="l"/>
            <a:r>
              <a:rPr sz="1250" b="0" i="0">
                <a:solidFill>
                  <a:srgbClr val="1E293B"/>
                </a:solidFill>
                <a:latin typeface="Calibri"/>
              </a:rPr>
              <a:t>劣势；缺点</a:t>
            </a:r>
          </a:p>
        </p:txBody>
      </p:sp>
      <p:sp>
        <p:nvSpPr>
          <p:cNvPr id="40" name="Rectangle 39"/>
          <p:cNvSpPr/>
          <p:nvPr/>
        </p:nvSpPr>
        <p:spPr>
          <a:xfrm>
            <a:off x="548640" y="4725785"/>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4725785"/>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4725785"/>
            <a:ext cx="4754880" cy="436418"/>
          </a:xfrm>
          <a:prstGeom prst="rect">
            <a:avLst/>
          </a:prstGeom>
          <a:noFill/>
        </p:spPr>
        <p:txBody>
          <a:bodyPr wrap="square" anchor="ctr">
            <a:spAutoFit/>
          </a:bodyPr>
          <a:lstStyle/>
          <a:p>
            <a:pPr algn="l"/>
            <a:r>
              <a:rPr sz="1250" b="1" i="0">
                <a:solidFill>
                  <a:srgbClr val="1B5E33"/>
                </a:solidFill>
                <a:latin typeface="Calibri"/>
              </a:rPr>
              <a:t>comparison</a:t>
            </a:r>
          </a:p>
        </p:txBody>
      </p:sp>
      <p:sp>
        <p:nvSpPr>
          <p:cNvPr id="43" name="TextBox 42"/>
          <p:cNvSpPr txBox="1"/>
          <p:nvPr/>
        </p:nvSpPr>
        <p:spPr>
          <a:xfrm>
            <a:off x="5623560" y="4725785"/>
            <a:ext cx="5852160" cy="436418"/>
          </a:xfrm>
          <a:prstGeom prst="rect">
            <a:avLst/>
          </a:prstGeom>
          <a:noFill/>
        </p:spPr>
        <p:txBody>
          <a:bodyPr wrap="square" anchor="ctr">
            <a:spAutoFit/>
          </a:bodyPr>
          <a:lstStyle/>
          <a:p>
            <a:pPr algn="l"/>
            <a:r>
              <a:rPr sz="1250" b="0" i="0">
                <a:solidFill>
                  <a:srgbClr val="1E293B"/>
                </a:solidFill>
                <a:latin typeface="Calibri"/>
              </a:rPr>
              <a:t>比较；对照</a:t>
            </a:r>
          </a:p>
        </p:txBody>
      </p:sp>
      <p:sp>
        <p:nvSpPr>
          <p:cNvPr id="44" name="Rectangle 43"/>
          <p:cNvSpPr/>
          <p:nvPr/>
        </p:nvSpPr>
        <p:spPr>
          <a:xfrm>
            <a:off x="548640" y="5162203"/>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0" y="5162203"/>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5162203"/>
            <a:ext cx="4754880" cy="436418"/>
          </a:xfrm>
          <a:prstGeom prst="rect">
            <a:avLst/>
          </a:prstGeom>
          <a:noFill/>
        </p:spPr>
        <p:txBody>
          <a:bodyPr wrap="square" anchor="ctr">
            <a:spAutoFit/>
          </a:bodyPr>
          <a:lstStyle/>
          <a:p>
            <a:pPr algn="l"/>
            <a:r>
              <a:rPr sz="1250" b="1" i="0">
                <a:solidFill>
                  <a:srgbClr val="1B5E33"/>
                </a:solidFill>
                <a:latin typeface="Calibri"/>
              </a:rPr>
              <a:t>process</a:t>
            </a:r>
          </a:p>
        </p:txBody>
      </p:sp>
      <p:sp>
        <p:nvSpPr>
          <p:cNvPr id="47" name="TextBox 46"/>
          <p:cNvSpPr txBox="1"/>
          <p:nvPr/>
        </p:nvSpPr>
        <p:spPr>
          <a:xfrm>
            <a:off x="5623560" y="5162203"/>
            <a:ext cx="5852160" cy="436418"/>
          </a:xfrm>
          <a:prstGeom prst="rect">
            <a:avLst/>
          </a:prstGeom>
          <a:noFill/>
        </p:spPr>
        <p:txBody>
          <a:bodyPr wrap="square" anchor="ctr">
            <a:spAutoFit/>
          </a:bodyPr>
          <a:lstStyle/>
          <a:p>
            <a:pPr algn="l"/>
            <a:r>
              <a:rPr sz="1250" b="0" i="0">
                <a:solidFill>
                  <a:srgbClr val="1E293B"/>
                </a:solidFill>
                <a:latin typeface="Calibri"/>
              </a:rPr>
              <a:t>过程；步骤</a:t>
            </a:r>
          </a:p>
        </p:txBody>
      </p:sp>
      <p:sp>
        <p:nvSpPr>
          <p:cNvPr id="48" name="Rectangle 47"/>
          <p:cNvSpPr/>
          <p:nvPr/>
        </p:nvSpPr>
        <p:spPr>
          <a:xfrm>
            <a:off x="548640" y="5598621"/>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486400" y="5598621"/>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800" y="5598621"/>
            <a:ext cx="4754880" cy="436418"/>
          </a:xfrm>
          <a:prstGeom prst="rect">
            <a:avLst/>
          </a:prstGeom>
          <a:noFill/>
        </p:spPr>
        <p:txBody>
          <a:bodyPr wrap="square" anchor="ctr">
            <a:spAutoFit/>
          </a:bodyPr>
          <a:lstStyle/>
          <a:p>
            <a:pPr algn="l"/>
            <a:r>
              <a:rPr sz="1250" b="1" i="0">
                <a:solidFill>
                  <a:srgbClr val="1B5E33"/>
                </a:solidFill>
                <a:latin typeface="Calibri"/>
              </a:rPr>
              <a:t>consequence</a:t>
            </a:r>
          </a:p>
        </p:txBody>
      </p:sp>
      <p:sp>
        <p:nvSpPr>
          <p:cNvPr id="51" name="TextBox 50"/>
          <p:cNvSpPr txBox="1"/>
          <p:nvPr/>
        </p:nvSpPr>
        <p:spPr>
          <a:xfrm>
            <a:off x="5623560" y="5598621"/>
            <a:ext cx="5852160" cy="436418"/>
          </a:xfrm>
          <a:prstGeom prst="rect">
            <a:avLst/>
          </a:prstGeom>
          <a:noFill/>
        </p:spPr>
        <p:txBody>
          <a:bodyPr wrap="square" anchor="ctr">
            <a:spAutoFit/>
          </a:bodyPr>
          <a:lstStyle/>
          <a:p>
            <a:pPr algn="l"/>
            <a:r>
              <a:rPr sz="1250" b="0" i="0">
                <a:solidFill>
                  <a:srgbClr val="1E293B"/>
                </a:solidFill>
                <a:latin typeface="Calibri"/>
              </a:rPr>
              <a:t>结果；后果</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标题匹配高频词汇：转折与比较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234440"/>
            <a:ext cx="4937760" cy="43641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43641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43641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43641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670858"/>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670858"/>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70858"/>
            <a:ext cx="4754880" cy="436418"/>
          </a:xfrm>
          <a:prstGeom prst="rect">
            <a:avLst/>
          </a:prstGeom>
          <a:noFill/>
        </p:spPr>
        <p:txBody>
          <a:bodyPr wrap="square" anchor="ctr">
            <a:spAutoFit/>
          </a:bodyPr>
          <a:lstStyle/>
          <a:p>
            <a:pPr algn="l"/>
            <a:r>
              <a:rPr sz="1250" b="1" i="0">
                <a:solidFill>
                  <a:srgbClr val="1B5E33"/>
                </a:solidFill>
                <a:latin typeface="Calibri"/>
              </a:rPr>
              <a:t>however</a:t>
            </a:r>
          </a:p>
        </p:txBody>
      </p:sp>
      <p:sp>
        <p:nvSpPr>
          <p:cNvPr id="15" name="TextBox 14"/>
          <p:cNvSpPr txBox="1"/>
          <p:nvPr/>
        </p:nvSpPr>
        <p:spPr>
          <a:xfrm>
            <a:off x="5623560" y="1670858"/>
            <a:ext cx="5852160" cy="436418"/>
          </a:xfrm>
          <a:prstGeom prst="rect">
            <a:avLst/>
          </a:prstGeom>
          <a:noFill/>
        </p:spPr>
        <p:txBody>
          <a:bodyPr wrap="square" anchor="ctr">
            <a:spAutoFit/>
          </a:bodyPr>
          <a:lstStyle/>
          <a:p>
            <a:pPr algn="l"/>
            <a:r>
              <a:rPr sz="1250" b="0" i="0">
                <a:solidFill>
                  <a:srgbClr val="1E293B"/>
                </a:solidFill>
                <a:latin typeface="Calibri"/>
              </a:rPr>
              <a:t>然而；但是</a:t>
            </a:r>
          </a:p>
        </p:txBody>
      </p:sp>
      <p:sp>
        <p:nvSpPr>
          <p:cNvPr id="16" name="Rectangle 15"/>
          <p:cNvSpPr/>
          <p:nvPr/>
        </p:nvSpPr>
        <p:spPr>
          <a:xfrm>
            <a:off x="548640" y="2107276"/>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107276"/>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107276"/>
            <a:ext cx="4754880" cy="436418"/>
          </a:xfrm>
          <a:prstGeom prst="rect">
            <a:avLst/>
          </a:prstGeom>
          <a:noFill/>
        </p:spPr>
        <p:txBody>
          <a:bodyPr wrap="square" anchor="ctr">
            <a:spAutoFit/>
          </a:bodyPr>
          <a:lstStyle/>
          <a:p>
            <a:pPr algn="l"/>
            <a:r>
              <a:rPr sz="1250" b="1" i="0">
                <a:solidFill>
                  <a:srgbClr val="1B5E33"/>
                </a:solidFill>
                <a:latin typeface="Calibri"/>
              </a:rPr>
              <a:t>nevertheless</a:t>
            </a:r>
          </a:p>
        </p:txBody>
      </p:sp>
      <p:sp>
        <p:nvSpPr>
          <p:cNvPr id="19" name="TextBox 18"/>
          <p:cNvSpPr txBox="1"/>
          <p:nvPr/>
        </p:nvSpPr>
        <p:spPr>
          <a:xfrm>
            <a:off x="5623560" y="2107276"/>
            <a:ext cx="5852160" cy="436418"/>
          </a:xfrm>
          <a:prstGeom prst="rect">
            <a:avLst/>
          </a:prstGeom>
          <a:noFill/>
        </p:spPr>
        <p:txBody>
          <a:bodyPr wrap="square" anchor="ctr">
            <a:spAutoFit/>
          </a:bodyPr>
          <a:lstStyle/>
          <a:p>
            <a:pPr algn="l"/>
            <a:r>
              <a:rPr sz="1250" b="0" i="0">
                <a:solidFill>
                  <a:srgbClr val="1E293B"/>
                </a:solidFill>
                <a:latin typeface="Calibri"/>
              </a:rPr>
              <a:t>尽管如此</a:t>
            </a:r>
          </a:p>
        </p:txBody>
      </p:sp>
      <p:sp>
        <p:nvSpPr>
          <p:cNvPr id="20" name="Rectangle 19"/>
          <p:cNvSpPr/>
          <p:nvPr/>
        </p:nvSpPr>
        <p:spPr>
          <a:xfrm>
            <a:off x="548640" y="2543694"/>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543694"/>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543694"/>
            <a:ext cx="4754880" cy="436418"/>
          </a:xfrm>
          <a:prstGeom prst="rect">
            <a:avLst/>
          </a:prstGeom>
          <a:noFill/>
        </p:spPr>
        <p:txBody>
          <a:bodyPr wrap="square" anchor="ctr">
            <a:spAutoFit/>
          </a:bodyPr>
          <a:lstStyle/>
          <a:p>
            <a:pPr algn="l"/>
            <a:r>
              <a:rPr sz="1250" b="1" i="0">
                <a:solidFill>
                  <a:srgbClr val="1B5E33"/>
                </a:solidFill>
                <a:latin typeface="Calibri"/>
              </a:rPr>
              <a:t>despite</a:t>
            </a:r>
          </a:p>
        </p:txBody>
      </p:sp>
      <p:sp>
        <p:nvSpPr>
          <p:cNvPr id="23" name="TextBox 22"/>
          <p:cNvSpPr txBox="1"/>
          <p:nvPr/>
        </p:nvSpPr>
        <p:spPr>
          <a:xfrm>
            <a:off x="5623560" y="2543694"/>
            <a:ext cx="5852160" cy="436418"/>
          </a:xfrm>
          <a:prstGeom prst="rect">
            <a:avLst/>
          </a:prstGeom>
          <a:noFill/>
        </p:spPr>
        <p:txBody>
          <a:bodyPr wrap="square" anchor="ctr">
            <a:spAutoFit/>
          </a:bodyPr>
          <a:lstStyle/>
          <a:p>
            <a:pPr algn="l"/>
            <a:r>
              <a:rPr sz="1250" b="0" i="0">
                <a:solidFill>
                  <a:srgbClr val="1E293B"/>
                </a:solidFill>
                <a:latin typeface="Calibri"/>
              </a:rPr>
              <a:t>尽管；不顾</a:t>
            </a:r>
          </a:p>
        </p:txBody>
      </p:sp>
      <p:sp>
        <p:nvSpPr>
          <p:cNvPr id="24" name="Rectangle 23"/>
          <p:cNvSpPr/>
          <p:nvPr/>
        </p:nvSpPr>
        <p:spPr>
          <a:xfrm>
            <a:off x="548640" y="2980112"/>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2980112"/>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2980112"/>
            <a:ext cx="4754880" cy="436418"/>
          </a:xfrm>
          <a:prstGeom prst="rect">
            <a:avLst/>
          </a:prstGeom>
          <a:noFill/>
        </p:spPr>
        <p:txBody>
          <a:bodyPr wrap="square" anchor="ctr">
            <a:spAutoFit/>
          </a:bodyPr>
          <a:lstStyle/>
          <a:p>
            <a:pPr algn="l"/>
            <a:r>
              <a:rPr sz="1250" b="1" i="0">
                <a:solidFill>
                  <a:srgbClr val="1B5E33"/>
                </a:solidFill>
                <a:latin typeface="Calibri"/>
              </a:rPr>
              <a:t>although</a:t>
            </a:r>
          </a:p>
        </p:txBody>
      </p:sp>
      <p:sp>
        <p:nvSpPr>
          <p:cNvPr id="27" name="TextBox 26"/>
          <p:cNvSpPr txBox="1"/>
          <p:nvPr/>
        </p:nvSpPr>
        <p:spPr>
          <a:xfrm>
            <a:off x="5623560" y="2980112"/>
            <a:ext cx="5852160" cy="436418"/>
          </a:xfrm>
          <a:prstGeom prst="rect">
            <a:avLst/>
          </a:prstGeom>
          <a:noFill/>
        </p:spPr>
        <p:txBody>
          <a:bodyPr wrap="square" anchor="ctr">
            <a:spAutoFit/>
          </a:bodyPr>
          <a:lstStyle/>
          <a:p>
            <a:pPr algn="l"/>
            <a:r>
              <a:rPr sz="1250" b="0" i="0">
                <a:solidFill>
                  <a:srgbClr val="1E293B"/>
                </a:solidFill>
                <a:latin typeface="Calibri"/>
              </a:rPr>
              <a:t>虽然；尽管</a:t>
            </a:r>
          </a:p>
        </p:txBody>
      </p:sp>
      <p:sp>
        <p:nvSpPr>
          <p:cNvPr id="28" name="Rectangle 27"/>
          <p:cNvSpPr/>
          <p:nvPr/>
        </p:nvSpPr>
        <p:spPr>
          <a:xfrm>
            <a:off x="548640" y="3416530"/>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416530"/>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416530"/>
            <a:ext cx="4754880" cy="436418"/>
          </a:xfrm>
          <a:prstGeom prst="rect">
            <a:avLst/>
          </a:prstGeom>
          <a:noFill/>
        </p:spPr>
        <p:txBody>
          <a:bodyPr wrap="square" anchor="ctr">
            <a:spAutoFit/>
          </a:bodyPr>
          <a:lstStyle/>
          <a:p>
            <a:pPr algn="l"/>
            <a:r>
              <a:rPr sz="1250" b="1" i="0">
                <a:solidFill>
                  <a:srgbClr val="1B5E33"/>
                </a:solidFill>
                <a:latin typeface="Calibri"/>
              </a:rPr>
              <a:t>whereas</a:t>
            </a:r>
          </a:p>
        </p:txBody>
      </p:sp>
      <p:sp>
        <p:nvSpPr>
          <p:cNvPr id="31" name="TextBox 30"/>
          <p:cNvSpPr txBox="1"/>
          <p:nvPr/>
        </p:nvSpPr>
        <p:spPr>
          <a:xfrm>
            <a:off x="5623560" y="3416530"/>
            <a:ext cx="5852160" cy="436418"/>
          </a:xfrm>
          <a:prstGeom prst="rect">
            <a:avLst/>
          </a:prstGeom>
          <a:noFill/>
        </p:spPr>
        <p:txBody>
          <a:bodyPr wrap="square" anchor="ctr">
            <a:spAutoFit/>
          </a:bodyPr>
          <a:lstStyle/>
          <a:p>
            <a:pPr algn="l"/>
            <a:r>
              <a:rPr sz="1250" b="0" i="0">
                <a:solidFill>
                  <a:srgbClr val="1E293B"/>
                </a:solidFill>
                <a:latin typeface="Calibri"/>
              </a:rPr>
              <a:t>而；然而</a:t>
            </a:r>
          </a:p>
        </p:txBody>
      </p:sp>
      <p:sp>
        <p:nvSpPr>
          <p:cNvPr id="32" name="Rectangle 31"/>
          <p:cNvSpPr/>
          <p:nvPr/>
        </p:nvSpPr>
        <p:spPr>
          <a:xfrm>
            <a:off x="548640" y="3852949"/>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3852949"/>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852949"/>
            <a:ext cx="4754880" cy="436418"/>
          </a:xfrm>
          <a:prstGeom prst="rect">
            <a:avLst/>
          </a:prstGeom>
          <a:noFill/>
        </p:spPr>
        <p:txBody>
          <a:bodyPr wrap="square" anchor="ctr">
            <a:spAutoFit/>
          </a:bodyPr>
          <a:lstStyle/>
          <a:p>
            <a:pPr algn="l"/>
            <a:r>
              <a:rPr sz="1250" b="1" i="0">
                <a:solidFill>
                  <a:srgbClr val="1B5E33"/>
                </a:solidFill>
                <a:latin typeface="Calibri"/>
              </a:rPr>
              <a:t>in contrast</a:t>
            </a:r>
          </a:p>
        </p:txBody>
      </p:sp>
      <p:sp>
        <p:nvSpPr>
          <p:cNvPr id="35" name="TextBox 34"/>
          <p:cNvSpPr txBox="1"/>
          <p:nvPr/>
        </p:nvSpPr>
        <p:spPr>
          <a:xfrm>
            <a:off x="5623560" y="3852949"/>
            <a:ext cx="5852160" cy="436418"/>
          </a:xfrm>
          <a:prstGeom prst="rect">
            <a:avLst/>
          </a:prstGeom>
          <a:noFill/>
        </p:spPr>
        <p:txBody>
          <a:bodyPr wrap="square" anchor="ctr">
            <a:spAutoFit/>
          </a:bodyPr>
          <a:lstStyle/>
          <a:p>
            <a:pPr algn="l"/>
            <a:r>
              <a:rPr sz="1250" b="0" i="0">
                <a:solidFill>
                  <a:srgbClr val="1E293B"/>
                </a:solidFill>
                <a:latin typeface="Calibri"/>
              </a:rPr>
              <a:t>相比之下</a:t>
            </a:r>
          </a:p>
        </p:txBody>
      </p:sp>
      <p:sp>
        <p:nvSpPr>
          <p:cNvPr id="36" name="Rectangle 35"/>
          <p:cNvSpPr/>
          <p:nvPr/>
        </p:nvSpPr>
        <p:spPr>
          <a:xfrm>
            <a:off x="548640" y="4289367"/>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289367"/>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289367"/>
            <a:ext cx="4754880" cy="436418"/>
          </a:xfrm>
          <a:prstGeom prst="rect">
            <a:avLst/>
          </a:prstGeom>
          <a:noFill/>
        </p:spPr>
        <p:txBody>
          <a:bodyPr wrap="square" anchor="ctr">
            <a:spAutoFit/>
          </a:bodyPr>
          <a:lstStyle/>
          <a:p>
            <a:pPr algn="l"/>
            <a:r>
              <a:rPr sz="1250" b="1" i="0">
                <a:solidFill>
                  <a:srgbClr val="1B5E33"/>
                </a:solidFill>
                <a:latin typeface="Calibri"/>
              </a:rPr>
              <a:t>on the other hand</a:t>
            </a:r>
          </a:p>
        </p:txBody>
      </p:sp>
      <p:sp>
        <p:nvSpPr>
          <p:cNvPr id="39" name="TextBox 38"/>
          <p:cNvSpPr txBox="1"/>
          <p:nvPr/>
        </p:nvSpPr>
        <p:spPr>
          <a:xfrm>
            <a:off x="5623560" y="4289367"/>
            <a:ext cx="5852160" cy="436418"/>
          </a:xfrm>
          <a:prstGeom prst="rect">
            <a:avLst/>
          </a:prstGeom>
          <a:noFill/>
        </p:spPr>
        <p:txBody>
          <a:bodyPr wrap="square" anchor="ctr">
            <a:spAutoFit/>
          </a:bodyPr>
          <a:lstStyle/>
          <a:p>
            <a:pPr algn="l"/>
            <a:r>
              <a:rPr sz="1250" b="0" i="0">
                <a:solidFill>
                  <a:srgbClr val="1E293B"/>
                </a:solidFill>
                <a:latin typeface="Calibri"/>
              </a:rPr>
              <a:t>另一方面</a:t>
            </a:r>
          </a:p>
        </p:txBody>
      </p:sp>
      <p:sp>
        <p:nvSpPr>
          <p:cNvPr id="40" name="Rectangle 39"/>
          <p:cNvSpPr/>
          <p:nvPr/>
        </p:nvSpPr>
        <p:spPr>
          <a:xfrm>
            <a:off x="548640" y="4725785"/>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4725785"/>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4725785"/>
            <a:ext cx="4754880" cy="436418"/>
          </a:xfrm>
          <a:prstGeom prst="rect">
            <a:avLst/>
          </a:prstGeom>
          <a:noFill/>
        </p:spPr>
        <p:txBody>
          <a:bodyPr wrap="square" anchor="ctr">
            <a:spAutoFit/>
          </a:bodyPr>
          <a:lstStyle/>
          <a:p>
            <a:pPr algn="l"/>
            <a:r>
              <a:rPr sz="1250" b="1" i="0">
                <a:solidFill>
                  <a:srgbClr val="1B5E33"/>
                </a:solidFill>
                <a:latin typeface="Calibri"/>
              </a:rPr>
              <a:t>yet</a:t>
            </a:r>
          </a:p>
        </p:txBody>
      </p:sp>
      <p:sp>
        <p:nvSpPr>
          <p:cNvPr id="43" name="TextBox 42"/>
          <p:cNvSpPr txBox="1"/>
          <p:nvPr/>
        </p:nvSpPr>
        <p:spPr>
          <a:xfrm>
            <a:off x="5623560" y="4725785"/>
            <a:ext cx="5852160" cy="436418"/>
          </a:xfrm>
          <a:prstGeom prst="rect">
            <a:avLst/>
          </a:prstGeom>
          <a:noFill/>
        </p:spPr>
        <p:txBody>
          <a:bodyPr wrap="square" anchor="ctr">
            <a:spAutoFit/>
          </a:bodyPr>
          <a:lstStyle/>
          <a:p>
            <a:pPr algn="l"/>
            <a:r>
              <a:rPr sz="1250" b="0" i="0">
                <a:solidFill>
                  <a:srgbClr val="1E293B"/>
                </a:solidFill>
                <a:latin typeface="Calibri"/>
              </a:rPr>
              <a:t>然而</a:t>
            </a:r>
          </a:p>
        </p:txBody>
      </p:sp>
      <p:sp>
        <p:nvSpPr>
          <p:cNvPr id="44" name="Rectangle 43"/>
          <p:cNvSpPr/>
          <p:nvPr/>
        </p:nvSpPr>
        <p:spPr>
          <a:xfrm>
            <a:off x="548640" y="5162203"/>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0" y="5162203"/>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5162203"/>
            <a:ext cx="4754880" cy="436418"/>
          </a:xfrm>
          <a:prstGeom prst="rect">
            <a:avLst/>
          </a:prstGeom>
          <a:noFill/>
        </p:spPr>
        <p:txBody>
          <a:bodyPr wrap="square" anchor="ctr">
            <a:spAutoFit/>
          </a:bodyPr>
          <a:lstStyle/>
          <a:p>
            <a:pPr algn="l"/>
            <a:r>
              <a:rPr sz="1250" b="1" i="0">
                <a:solidFill>
                  <a:srgbClr val="1B5E33"/>
                </a:solidFill>
                <a:latin typeface="Calibri"/>
              </a:rPr>
              <a:t>nonetheless</a:t>
            </a:r>
          </a:p>
        </p:txBody>
      </p:sp>
      <p:sp>
        <p:nvSpPr>
          <p:cNvPr id="47" name="TextBox 46"/>
          <p:cNvSpPr txBox="1"/>
          <p:nvPr/>
        </p:nvSpPr>
        <p:spPr>
          <a:xfrm>
            <a:off x="5623560" y="5162203"/>
            <a:ext cx="5852160" cy="436418"/>
          </a:xfrm>
          <a:prstGeom prst="rect">
            <a:avLst/>
          </a:prstGeom>
          <a:noFill/>
        </p:spPr>
        <p:txBody>
          <a:bodyPr wrap="square" anchor="ctr">
            <a:spAutoFit/>
          </a:bodyPr>
          <a:lstStyle/>
          <a:p>
            <a:pPr algn="l"/>
            <a:r>
              <a:rPr sz="1250" b="0" i="0">
                <a:solidFill>
                  <a:srgbClr val="1E293B"/>
                </a:solidFill>
                <a:latin typeface="Calibri"/>
              </a:rPr>
              <a:t>尽管如此</a:t>
            </a:r>
          </a:p>
        </p:txBody>
      </p:sp>
      <p:sp>
        <p:nvSpPr>
          <p:cNvPr id="48" name="Rectangle 47"/>
          <p:cNvSpPr/>
          <p:nvPr/>
        </p:nvSpPr>
        <p:spPr>
          <a:xfrm>
            <a:off x="548640" y="5598621"/>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486400" y="5598621"/>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800" y="5598621"/>
            <a:ext cx="4754880" cy="436418"/>
          </a:xfrm>
          <a:prstGeom prst="rect">
            <a:avLst/>
          </a:prstGeom>
          <a:noFill/>
        </p:spPr>
        <p:txBody>
          <a:bodyPr wrap="square" anchor="ctr">
            <a:spAutoFit/>
          </a:bodyPr>
          <a:lstStyle/>
          <a:p>
            <a:pPr algn="l"/>
            <a:r>
              <a:rPr sz="1250" b="1" i="0">
                <a:solidFill>
                  <a:srgbClr val="1B5E33"/>
                </a:solidFill>
                <a:latin typeface="Calibri"/>
              </a:rPr>
              <a:t>by comparison</a:t>
            </a:r>
          </a:p>
        </p:txBody>
      </p:sp>
      <p:sp>
        <p:nvSpPr>
          <p:cNvPr id="51" name="TextBox 50"/>
          <p:cNvSpPr txBox="1"/>
          <p:nvPr/>
        </p:nvSpPr>
        <p:spPr>
          <a:xfrm>
            <a:off x="5623560" y="5598621"/>
            <a:ext cx="5852160" cy="436418"/>
          </a:xfrm>
          <a:prstGeom prst="rect">
            <a:avLst/>
          </a:prstGeom>
          <a:noFill/>
        </p:spPr>
        <p:txBody>
          <a:bodyPr wrap="square" anchor="ctr">
            <a:spAutoFit/>
          </a:bodyPr>
          <a:lstStyle/>
          <a:p>
            <a:pPr algn="l"/>
            <a:r>
              <a:rPr sz="1250" b="0" i="0">
                <a:solidFill>
                  <a:srgbClr val="1E293B"/>
                </a:solidFill>
                <a:latin typeface="Calibri"/>
              </a:rPr>
              <a:t>相比较</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标题匹配高频词汇：因果关系</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234440"/>
            <a:ext cx="4937760" cy="43641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43641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43641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43641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670858"/>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670858"/>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70858"/>
            <a:ext cx="4754880" cy="436418"/>
          </a:xfrm>
          <a:prstGeom prst="rect">
            <a:avLst/>
          </a:prstGeom>
          <a:noFill/>
        </p:spPr>
        <p:txBody>
          <a:bodyPr wrap="square" anchor="ctr">
            <a:spAutoFit/>
          </a:bodyPr>
          <a:lstStyle/>
          <a:p>
            <a:pPr algn="l"/>
            <a:r>
              <a:rPr sz="1250" b="1" i="0">
                <a:solidFill>
                  <a:srgbClr val="1B5E33"/>
                </a:solidFill>
                <a:latin typeface="Calibri"/>
              </a:rPr>
              <a:t>cause</a:t>
            </a:r>
          </a:p>
        </p:txBody>
      </p:sp>
      <p:sp>
        <p:nvSpPr>
          <p:cNvPr id="15" name="TextBox 14"/>
          <p:cNvSpPr txBox="1"/>
          <p:nvPr/>
        </p:nvSpPr>
        <p:spPr>
          <a:xfrm>
            <a:off x="5623560" y="1670858"/>
            <a:ext cx="5852160" cy="436418"/>
          </a:xfrm>
          <a:prstGeom prst="rect">
            <a:avLst/>
          </a:prstGeom>
          <a:noFill/>
        </p:spPr>
        <p:txBody>
          <a:bodyPr wrap="square" anchor="ctr">
            <a:spAutoFit/>
          </a:bodyPr>
          <a:lstStyle/>
          <a:p>
            <a:pPr algn="l"/>
            <a:r>
              <a:rPr sz="1250" b="0" i="0">
                <a:solidFill>
                  <a:srgbClr val="1E293B"/>
                </a:solidFill>
                <a:latin typeface="Calibri"/>
              </a:rPr>
              <a:t>原因；导致</a:t>
            </a:r>
          </a:p>
        </p:txBody>
      </p:sp>
      <p:sp>
        <p:nvSpPr>
          <p:cNvPr id="16" name="Rectangle 15"/>
          <p:cNvSpPr/>
          <p:nvPr/>
        </p:nvSpPr>
        <p:spPr>
          <a:xfrm>
            <a:off x="548640" y="2107276"/>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107276"/>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107276"/>
            <a:ext cx="4754880" cy="436418"/>
          </a:xfrm>
          <a:prstGeom prst="rect">
            <a:avLst/>
          </a:prstGeom>
          <a:noFill/>
        </p:spPr>
        <p:txBody>
          <a:bodyPr wrap="square" anchor="ctr">
            <a:spAutoFit/>
          </a:bodyPr>
          <a:lstStyle/>
          <a:p>
            <a:pPr algn="l"/>
            <a:r>
              <a:rPr sz="1250" b="1" i="0">
                <a:solidFill>
                  <a:srgbClr val="1B5E33"/>
                </a:solidFill>
                <a:latin typeface="Calibri"/>
              </a:rPr>
              <a:t>result in</a:t>
            </a:r>
          </a:p>
        </p:txBody>
      </p:sp>
      <p:sp>
        <p:nvSpPr>
          <p:cNvPr id="19" name="TextBox 18"/>
          <p:cNvSpPr txBox="1"/>
          <p:nvPr/>
        </p:nvSpPr>
        <p:spPr>
          <a:xfrm>
            <a:off x="5623560" y="2107276"/>
            <a:ext cx="5852160" cy="436418"/>
          </a:xfrm>
          <a:prstGeom prst="rect">
            <a:avLst/>
          </a:prstGeom>
          <a:noFill/>
        </p:spPr>
        <p:txBody>
          <a:bodyPr wrap="square" anchor="ctr">
            <a:spAutoFit/>
          </a:bodyPr>
          <a:lstStyle/>
          <a:p>
            <a:pPr algn="l"/>
            <a:r>
              <a:rPr sz="1250" b="0" i="0">
                <a:solidFill>
                  <a:srgbClr val="1E293B"/>
                </a:solidFill>
                <a:latin typeface="Calibri"/>
              </a:rPr>
              <a:t>导致；造成</a:t>
            </a:r>
          </a:p>
        </p:txBody>
      </p:sp>
      <p:sp>
        <p:nvSpPr>
          <p:cNvPr id="20" name="Rectangle 19"/>
          <p:cNvSpPr/>
          <p:nvPr/>
        </p:nvSpPr>
        <p:spPr>
          <a:xfrm>
            <a:off x="548640" y="2543694"/>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543694"/>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543694"/>
            <a:ext cx="4754880" cy="436418"/>
          </a:xfrm>
          <a:prstGeom prst="rect">
            <a:avLst/>
          </a:prstGeom>
          <a:noFill/>
        </p:spPr>
        <p:txBody>
          <a:bodyPr wrap="square" anchor="ctr">
            <a:spAutoFit/>
          </a:bodyPr>
          <a:lstStyle/>
          <a:p>
            <a:pPr algn="l"/>
            <a:r>
              <a:rPr sz="1250" b="1" i="0">
                <a:solidFill>
                  <a:srgbClr val="1B5E33"/>
                </a:solidFill>
                <a:latin typeface="Calibri"/>
              </a:rPr>
              <a:t>lead to</a:t>
            </a:r>
          </a:p>
        </p:txBody>
      </p:sp>
      <p:sp>
        <p:nvSpPr>
          <p:cNvPr id="23" name="TextBox 22"/>
          <p:cNvSpPr txBox="1"/>
          <p:nvPr/>
        </p:nvSpPr>
        <p:spPr>
          <a:xfrm>
            <a:off x="5623560" y="2543694"/>
            <a:ext cx="5852160" cy="436418"/>
          </a:xfrm>
          <a:prstGeom prst="rect">
            <a:avLst/>
          </a:prstGeom>
          <a:noFill/>
        </p:spPr>
        <p:txBody>
          <a:bodyPr wrap="square" anchor="ctr">
            <a:spAutoFit/>
          </a:bodyPr>
          <a:lstStyle/>
          <a:p>
            <a:pPr algn="l"/>
            <a:r>
              <a:rPr sz="1250" b="0" i="0">
                <a:solidFill>
                  <a:srgbClr val="1E293B"/>
                </a:solidFill>
                <a:latin typeface="Calibri"/>
              </a:rPr>
              <a:t>导致；引起</a:t>
            </a:r>
          </a:p>
        </p:txBody>
      </p:sp>
      <p:sp>
        <p:nvSpPr>
          <p:cNvPr id="24" name="Rectangle 23"/>
          <p:cNvSpPr/>
          <p:nvPr/>
        </p:nvSpPr>
        <p:spPr>
          <a:xfrm>
            <a:off x="548640" y="2980112"/>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2980112"/>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2980112"/>
            <a:ext cx="4754880" cy="436418"/>
          </a:xfrm>
          <a:prstGeom prst="rect">
            <a:avLst/>
          </a:prstGeom>
          <a:noFill/>
        </p:spPr>
        <p:txBody>
          <a:bodyPr wrap="square" anchor="ctr">
            <a:spAutoFit/>
          </a:bodyPr>
          <a:lstStyle/>
          <a:p>
            <a:pPr algn="l"/>
            <a:r>
              <a:rPr sz="1250" b="1" i="0">
                <a:solidFill>
                  <a:srgbClr val="1B5E33"/>
                </a:solidFill>
                <a:latin typeface="Calibri"/>
              </a:rPr>
              <a:t>due to</a:t>
            </a:r>
          </a:p>
        </p:txBody>
      </p:sp>
      <p:sp>
        <p:nvSpPr>
          <p:cNvPr id="27" name="TextBox 26"/>
          <p:cNvSpPr txBox="1"/>
          <p:nvPr/>
        </p:nvSpPr>
        <p:spPr>
          <a:xfrm>
            <a:off x="5623560" y="2980112"/>
            <a:ext cx="5852160" cy="436418"/>
          </a:xfrm>
          <a:prstGeom prst="rect">
            <a:avLst/>
          </a:prstGeom>
          <a:noFill/>
        </p:spPr>
        <p:txBody>
          <a:bodyPr wrap="square" anchor="ctr">
            <a:spAutoFit/>
          </a:bodyPr>
          <a:lstStyle/>
          <a:p>
            <a:pPr algn="l"/>
            <a:r>
              <a:rPr sz="1250" b="0" i="0">
                <a:solidFill>
                  <a:srgbClr val="1E293B"/>
                </a:solidFill>
                <a:latin typeface="Calibri"/>
              </a:rPr>
              <a:t>由于；因为</a:t>
            </a:r>
          </a:p>
        </p:txBody>
      </p:sp>
      <p:sp>
        <p:nvSpPr>
          <p:cNvPr id="28" name="Rectangle 27"/>
          <p:cNvSpPr/>
          <p:nvPr/>
        </p:nvSpPr>
        <p:spPr>
          <a:xfrm>
            <a:off x="548640" y="3416530"/>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416530"/>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416530"/>
            <a:ext cx="4754880" cy="436418"/>
          </a:xfrm>
          <a:prstGeom prst="rect">
            <a:avLst/>
          </a:prstGeom>
          <a:noFill/>
        </p:spPr>
        <p:txBody>
          <a:bodyPr wrap="square" anchor="ctr">
            <a:spAutoFit/>
          </a:bodyPr>
          <a:lstStyle/>
          <a:p>
            <a:pPr algn="l"/>
            <a:r>
              <a:rPr sz="1250" b="1" i="0">
                <a:solidFill>
                  <a:srgbClr val="1B5E33"/>
                </a:solidFill>
                <a:latin typeface="Calibri"/>
              </a:rPr>
              <a:t>owing to</a:t>
            </a:r>
          </a:p>
        </p:txBody>
      </p:sp>
      <p:sp>
        <p:nvSpPr>
          <p:cNvPr id="31" name="TextBox 30"/>
          <p:cNvSpPr txBox="1"/>
          <p:nvPr/>
        </p:nvSpPr>
        <p:spPr>
          <a:xfrm>
            <a:off x="5623560" y="3416530"/>
            <a:ext cx="5852160" cy="436418"/>
          </a:xfrm>
          <a:prstGeom prst="rect">
            <a:avLst/>
          </a:prstGeom>
          <a:noFill/>
        </p:spPr>
        <p:txBody>
          <a:bodyPr wrap="square" anchor="ctr">
            <a:spAutoFit/>
          </a:bodyPr>
          <a:lstStyle/>
          <a:p>
            <a:pPr algn="l"/>
            <a:r>
              <a:rPr sz="1250" b="0" i="0">
                <a:solidFill>
                  <a:srgbClr val="1E293B"/>
                </a:solidFill>
                <a:latin typeface="Calibri"/>
              </a:rPr>
              <a:t>由于</a:t>
            </a:r>
          </a:p>
        </p:txBody>
      </p:sp>
      <p:sp>
        <p:nvSpPr>
          <p:cNvPr id="32" name="Rectangle 31"/>
          <p:cNvSpPr/>
          <p:nvPr/>
        </p:nvSpPr>
        <p:spPr>
          <a:xfrm>
            <a:off x="548640" y="3852949"/>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3852949"/>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852949"/>
            <a:ext cx="4754880" cy="436418"/>
          </a:xfrm>
          <a:prstGeom prst="rect">
            <a:avLst/>
          </a:prstGeom>
          <a:noFill/>
        </p:spPr>
        <p:txBody>
          <a:bodyPr wrap="square" anchor="ctr">
            <a:spAutoFit/>
          </a:bodyPr>
          <a:lstStyle/>
          <a:p>
            <a:pPr algn="l"/>
            <a:r>
              <a:rPr sz="1250" b="1" i="0">
                <a:solidFill>
                  <a:srgbClr val="1B5E33"/>
                </a:solidFill>
                <a:latin typeface="Calibri"/>
              </a:rPr>
              <a:t>as a result</a:t>
            </a:r>
          </a:p>
        </p:txBody>
      </p:sp>
      <p:sp>
        <p:nvSpPr>
          <p:cNvPr id="35" name="TextBox 34"/>
          <p:cNvSpPr txBox="1"/>
          <p:nvPr/>
        </p:nvSpPr>
        <p:spPr>
          <a:xfrm>
            <a:off x="5623560" y="3852949"/>
            <a:ext cx="5852160" cy="436418"/>
          </a:xfrm>
          <a:prstGeom prst="rect">
            <a:avLst/>
          </a:prstGeom>
          <a:noFill/>
        </p:spPr>
        <p:txBody>
          <a:bodyPr wrap="square" anchor="ctr">
            <a:spAutoFit/>
          </a:bodyPr>
          <a:lstStyle/>
          <a:p>
            <a:pPr algn="l"/>
            <a:r>
              <a:rPr sz="1250" b="0" i="0">
                <a:solidFill>
                  <a:srgbClr val="1E293B"/>
                </a:solidFill>
                <a:latin typeface="Calibri"/>
              </a:rPr>
              <a:t>因此；结果</a:t>
            </a:r>
          </a:p>
        </p:txBody>
      </p:sp>
      <p:sp>
        <p:nvSpPr>
          <p:cNvPr id="36" name="Rectangle 35"/>
          <p:cNvSpPr/>
          <p:nvPr/>
        </p:nvSpPr>
        <p:spPr>
          <a:xfrm>
            <a:off x="548640" y="4289367"/>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289367"/>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289367"/>
            <a:ext cx="4754880" cy="436418"/>
          </a:xfrm>
          <a:prstGeom prst="rect">
            <a:avLst/>
          </a:prstGeom>
          <a:noFill/>
        </p:spPr>
        <p:txBody>
          <a:bodyPr wrap="square" anchor="ctr">
            <a:spAutoFit/>
          </a:bodyPr>
          <a:lstStyle/>
          <a:p>
            <a:pPr algn="l"/>
            <a:r>
              <a:rPr sz="1250" b="1" i="0">
                <a:solidFill>
                  <a:srgbClr val="1B5E33"/>
                </a:solidFill>
                <a:latin typeface="Calibri"/>
              </a:rPr>
              <a:t>consequently</a:t>
            </a:r>
          </a:p>
        </p:txBody>
      </p:sp>
      <p:sp>
        <p:nvSpPr>
          <p:cNvPr id="39" name="TextBox 38"/>
          <p:cNvSpPr txBox="1"/>
          <p:nvPr/>
        </p:nvSpPr>
        <p:spPr>
          <a:xfrm>
            <a:off x="5623560" y="4289367"/>
            <a:ext cx="5852160" cy="436418"/>
          </a:xfrm>
          <a:prstGeom prst="rect">
            <a:avLst/>
          </a:prstGeom>
          <a:noFill/>
        </p:spPr>
        <p:txBody>
          <a:bodyPr wrap="square" anchor="ctr">
            <a:spAutoFit/>
          </a:bodyPr>
          <a:lstStyle/>
          <a:p>
            <a:pPr algn="l"/>
            <a:r>
              <a:rPr sz="1250" b="0" i="0">
                <a:solidFill>
                  <a:srgbClr val="1E293B"/>
                </a:solidFill>
                <a:latin typeface="Calibri"/>
              </a:rPr>
              <a:t>因此</a:t>
            </a:r>
          </a:p>
        </p:txBody>
      </p:sp>
      <p:sp>
        <p:nvSpPr>
          <p:cNvPr id="40" name="Rectangle 39"/>
          <p:cNvSpPr/>
          <p:nvPr/>
        </p:nvSpPr>
        <p:spPr>
          <a:xfrm>
            <a:off x="548640" y="4725785"/>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4725785"/>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4725785"/>
            <a:ext cx="4754880" cy="436418"/>
          </a:xfrm>
          <a:prstGeom prst="rect">
            <a:avLst/>
          </a:prstGeom>
          <a:noFill/>
        </p:spPr>
        <p:txBody>
          <a:bodyPr wrap="square" anchor="ctr">
            <a:spAutoFit/>
          </a:bodyPr>
          <a:lstStyle/>
          <a:p>
            <a:pPr algn="l"/>
            <a:r>
              <a:rPr sz="1250" b="1" i="0">
                <a:solidFill>
                  <a:srgbClr val="1B5E33"/>
                </a:solidFill>
                <a:latin typeface="Calibri"/>
              </a:rPr>
              <a:t>therefore</a:t>
            </a:r>
          </a:p>
        </p:txBody>
      </p:sp>
      <p:sp>
        <p:nvSpPr>
          <p:cNvPr id="43" name="TextBox 42"/>
          <p:cNvSpPr txBox="1"/>
          <p:nvPr/>
        </p:nvSpPr>
        <p:spPr>
          <a:xfrm>
            <a:off x="5623560" y="4725785"/>
            <a:ext cx="5852160" cy="436418"/>
          </a:xfrm>
          <a:prstGeom prst="rect">
            <a:avLst/>
          </a:prstGeom>
          <a:noFill/>
        </p:spPr>
        <p:txBody>
          <a:bodyPr wrap="square" anchor="ctr">
            <a:spAutoFit/>
          </a:bodyPr>
          <a:lstStyle/>
          <a:p>
            <a:pPr algn="l"/>
            <a:r>
              <a:rPr sz="1250" b="0" i="0">
                <a:solidFill>
                  <a:srgbClr val="1E293B"/>
                </a:solidFill>
                <a:latin typeface="Calibri"/>
              </a:rPr>
              <a:t>因此；所以</a:t>
            </a:r>
          </a:p>
        </p:txBody>
      </p:sp>
      <p:sp>
        <p:nvSpPr>
          <p:cNvPr id="44" name="Rectangle 43"/>
          <p:cNvSpPr/>
          <p:nvPr/>
        </p:nvSpPr>
        <p:spPr>
          <a:xfrm>
            <a:off x="548640" y="5162203"/>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0" y="5162203"/>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5162203"/>
            <a:ext cx="4754880" cy="436418"/>
          </a:xfrm>
          <a:prstGeom prst="rect">
            <a:avLst/>
          </a:prstGeom>
          <a:noFill/>
        </p:spPr>
        <p:txBody>
          <a:bodyPr wrap="square" anchor="ctr">
            <a:spAutoFit/>
          </a:bodyPr>
          <a:lstStyle/>
          <a:p>
            <a:pPr algn="l"/>
            <a:r>
              <a:rPr sz="1250" b="1" i="0">
                <a:solidFill>
                  <a:srgbClr val="1B5E33"/>
                </a:solidFill>
                <a:latin typeface="Calibri"/>
              </a:rPr>
              <a:t>hence</a:t>
            </a:r>
          </a:p>
        </p:txBody>
      </p:sp>
      <p:sp>
        <p:nvSpPr>
          <p:cNvPr id="47" name="TextBox 46"/>
          <p:cNvSpPr txBox="1"/>
          <p:nvPr/>
        </p:nvSpPr>
        <p:spPr>
          <a:xfrm>
            <a:off x="5623560" y="5162203"/>
            <a:ext cx="5852160" cy="436418"/>
          </a:xfrm>
          <a:prstGeom prst="rect">
            <a:avLst/>
          </a:prstGeom>
          <a:noFill/>
        </p:spPr>
        <p:txBody>
          <a:bodyPr wrap="square" anchor="ctr">
            <a:spAutoFit/>
          </a:bodyPr>
          <a:lstStyle/>
          <a:p>
            <a:pPr algn="l"/>
            <a:r>
              <a:rPr sz="1250" b="0" i="0">
                <a:solidFill>
                  <a:srgbClr val="1E293B"/>
                </a:solidFill>
                <a:latin typeface="Calibri"/>
              </a:rPr>
              <a:t>因此；由此</a:t>
            </a:r>
          </a:p>
        </p:txBody>
      </p:sp>
      <p:sp>
        <p:nvSpPr>
          <p:cNvPr id="48" name="Rectangle 47"/>
          <p:cNvSpPr/>
          <p:nvPr/>
        </p:nvSpPr>
        <p:spPr>
          <a:xfrm>
            <a:off x="548640" y="5598621"/>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486400" y="5598621"/>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800" y="5598621"/>
            <a:ext cx="4754880" cy="436418"/>
          </a:xfrm>
          <a:prstGeom prst="rect">
            <a:avLst/>
          </a:prstGeom>
          <a:noFill/>
        </p:spPr>
        <p:txBody>
          <a:bodyPr wrap="square" anchor="ctr">
            <a:spAutoFit/>
          </a:bodyPr>
          <a:lstStyle/>
          <a:p>
            <a:pPr algn="l"/>
            <a:r>
              <a:rPr sz="1250" b="1" i="0">
                <a:solidFill>
                  <a:srgbClr val="1B5E33"/>
                </a:solidFill>
                <a:latin typeface="Calibri"/>
              </a:rPr>
              <a:t>thus</a:t>
            </a:r>
          </a:p>
        </p:txBody>
      </p:sp>
      <p:sp>
        <p:nvSpPr>
          <p:cNvPr id="51" name="TextBox 50"/>
          <p:cNvSpPr txBox="1"/>
          <p:nvPr/>
        </p:nvSpPr>
        <p:spPr>
          <a:xfrm>
            <a:off x="5623560" y="5598621"/>
            <a:ext cx="5852160" cy="436418"/>
          </a:xfrm>
          <a:prstGeom prst="rect">
            <a:avLst/>
          </a:prstGeom>
          <a:noFill/>
        </p:spPr>
        <p:txBody>
          <a:bodyPr wrap="square" anchor="ctr">
            <a:spAutoFit/>
          </a:bodyPr>
          <a:lstStyle/>
          <a:p>
            <a:pPr algn="l"/>
            <a:r>
              <a:rPr sz="1250" b="0" i="0">
                <a:solidFill>
                  <a:srgbClr val="1E293B"/>
                </a:solidFill>
                <a:latin typeface="Calibri"/>
              </a:rPr>
              <a:t>因此；从而</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标题匹配高频词汇：过程变化</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234440"/>
            <a:ext cx="4937760" cy="43641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43641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43641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43641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670858"/>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670858"/>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70858"/>
            <a:ext cx="4754880" cy="436418"/>
          </a:xfrm>
          <a:prstGeom prst="rect">
            <a:avLst/>
          </a:prstGeom>
          <a:noFill/>
        </p:spPr>
        <p:txBody>
          <a:bodyPr wrap="square" anchor="ctr">
            <a:spAutoFit/>
          </a:bodyPr>
          <a:lstStyle/>
          <a:p>
            <a:pPr algn="l"/>
            <a:r>
              <a:rPr sz="1250" b="1" i="0">
                <a:solidFill>
                  <a:srgbClr val="1B5E33"/>
                </a:solidFill>
                <a:latin typeface="Calibri"/>
              </a:rPr>
              <a:t>initially</a:t>
            </a:r>
          </a:p>
        </p:txBody>
      </p:sp>
      <p:sp>
        <p:nvSpPr>
          <p:cNvPr id="15" name="TextBox 14"/>
          <p:cNvSpPr txBox="1"/>
          <p:nvPr/>
        </p:nvSpPr>
        <p:spPr>
          <a:xfrm>
            <a:off x="5623560" y="1670858"/>
            <a:ext cx="5852160" cy="436418"/>
          </a:xfrm>
          <a:prstGeom prst="rect">
            <a:avLst/>
          </a:prstGeom>
          <a:noFill/>
        </p:spPr>
        <p:txBody>
          <a:bodyPr wrap="square" anchor="ctr">
            <a:spAutoFit/>
          </a:bodyPr>
          <a:lstStyle/>
          <a:p>
            <a:pPr algn="l"/>
            <a:r>
              <a:rPr sz="1250" b="0" i="0">
                <a:solidFill>
                  <a:srgbClr val="1E293B"/>
                </a:solidFill>
                <a:latin typeface="Calibri"/>
              </a:rPr>
              <a:t>最初；起初</a:t>
            </a:r>
          </a:p>
        </p:txBody>
      </p:sp>
      <p:sp>
        <p:nvSpPr>
          <p:cNvPr id="16" name="Rectangle 15"/>
          <p:cNvSpPr/>
          <p:nvPr/>
        </p:nvSpPr>
        <p:spPr>
          <a:xfrm>
            <a:off x="548640" y="2107276"/>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107276"/>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107276"/>
            <a:ext cx="4754880" cy="436418"/>
          </a:xfrm>
          <a:prstGeom prst="rect">
            <a:avLst/>
          </a:prstGeom>
          <a:noFill/>
        </p:spPr>
        <p:txBody>
          <a:bodyPr wrap="square" anchor="ctr">
            <a:spAutoFit/>
          </a:bodyPr>
          <a:lstStyle/>
          <a:p>
            <a:pPr algn="l"/>
            <a:r>
              <a:rPr sz="1250" b="1" i="0">
                <a:solidFill>
                  <a:srgbClr val="1B5E33"/>
                </a:solidFill>
                <a:latin typeface="Calibri"/>
              </a:rPr>
              <a:t>subsequently</a:t>
            </a:r>
          </a:p>
        </p:txBody>
      </p:sp>
      <p:sp>
        <p:nvSpPr>
          <p:cNvPr id="19" name="TextBox 18"/>
          <p:cNvSpPr txBox="1"/>
          <p:nvPr/>
        </p:nvSpPr>
        <p:spPr>
          <a:xfrm>
            <a:off x="5623560" y="2107276"/>
            <a:ext cx="5852160" cy="436418"/>
          </a:xfrm>
          <a:prstGeom prst="rect">
            <a:avLst/>
          </a:prstGeom>
          <a:noFill/>
        </p:spPr>
        <p:txBody>
          <a:bodyPr wrap="square" anchor="ctr">
            <a:spAutoFit/>
          </a:bodyPr>
          <a:lstStyle/>
          <a:p>
            <a:pPr algn="l"/>
            <a:r>
              <a:rPr sz="1250" b="0" i="0">
                <a:solidFill>
                  <a:srgbClr val="1E293B"/>
                </a:solidFill>
                <a:latin typeface="Calibri"/>
              </a:rPr>
              <a:t>随后</a:t>
            </a:r>
          </a:p>
        </p:txBody>
      </p:sp>
      <p:sp>
        <p:nvSpPr>
          <p:cNvPr id="20" name="Rectangle 19"/>
          <p:cNvSpPr/>
          <p:nvPr/>
        </p:nvSpPr>
        <p:spPr>
          <a:xfrm>
            <a:off x="548640" y="2543694"/>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543694"/>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543694"/>
            <a:ext cx="4754880" cy="436418"/>
          </a:xfrm>
          <a:prstGeom prst="rect">
            <a:avLst/>
          </a:prstGeom>
          <a:noFill/>
        </p:spPr>
        <p:txBody>
          <a:bodyPr wrap="square" anchor="ctr">
            <a:spAutoFit/>
          </a:bodyPr>
          <a:lstStyle/>
          <a:p>
            <a:pPr algn="l"/>
            <a:r>
              <a:rPr sz="1250" b="1" i="0">
                <a:solidFill>
                  <a:srgbClr val="1B5E33"/>
                </a:solidFill>
                <a:latin typeface="Calibri"/>
              </a:rPr>
              <a:t>eventually</a:t>
            </a:r>
          </a:p>
        </p:txBody>
      </p:sp>
      <p:sp>
        <p:nvSpPr>
          <p:cNvPr id="23" name="TextBox 22"/>
          <p:cNvSpPr txBox="1"/>
          <p:nvPr/>
        </p:nvSpPr>
        <p:spPr>
          <a:xfrm>
            <a:off x="5623560" y="2543694"/>
            <a:ext cx="5852160" cy="436418"/>
          </a:xfrm>
          <a:prstGeom prst="rect">
            <a:avLst/>
          </a:prstGeom>
          <a:noFill/>
        </p:spPr>
        <p:txBody>
          <a:bodyPr wrap="square" anchor="ctr">
            <a:spAutoFit/>
          </a:bodyPr>
          <a:lstStyle/>
          <a:p>
            <a:pPr algn="l"/>
            <a:r>
              <a:rPr sz="1250" b="0" i="0">
                <a:solidFill>
                  <a:srgbClr val="1E293B"/>
                </a:solidFill>
                <a:latin typeface="Calibri"/>
              </a:rPr>
              <a:t>最终</a:t>
            </a:r>
          </a:p>
        </p:txBody>
      </p:sp>
      <p:sp>
        <p:nvSpPr>
          <p:cNvPr id="24" name="Rectangle 23"/>
          <p:cNvSpPr/>
          <p:nvPr/>
        </p:nvSpPr>
        <p:spPr>
          <a:xfrm>
            <a:off x="548640" y="2980112"/>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2980112"/>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2980112"/>
            <a:ext cx="4754880" cy="436418"/>
          </a:xfrm>
          <a:prstGeom prst="rect">
            <a:avLst/>
          </a:prstGeom>
          <a:noFill/>
        </p:spPr>
        <p:txBody>
          <a:bodyPr wrap="square" anchor="ctr">
            <a:spAutoFit/>
          </a:bodyPr>
          <a:lstStyle/>
          <a:p>
            <a:pPr algn="l"/>
            <a:r>
              <a:rPr sz="1250" b="1" i="0">
                <a:solidFill>
                  <a:srgbClr val="1B5E33"/>
                </a:solidFill>
                <a:latin typeface="Calibri"/>
              </a:rPr>
              <a:t>gradually</a:t>
            </a:r>
          </a:p>
        </p:txBody>
      </p:sp>
      <p:sp>
        <p:nvSpPr>
          <p:cNvPr id="27" name="TextBox 26"/>
          <p:cNvSpPr txBox="1"/>
          <p:nvPr/>
        </p:nvSpPr>
        <p:spPr>
          <a:xfrm>
            <a:off x="5623560" y="2980112"/>
            <a:ext cx="5852160" cy="436418"/>
          </a:xfrm>
          <a:prstGeom prst="rect">
            <a:avLst/>
          </a:prstGeom>
          <a:noFill/>
        </p:spPr>
        <p:txBody>
          <a:bodyPr wrap="square" anchor="ctr">
            <a:spAutoFit/>
          </a:bodyPr>
          <a:lstStyle/>
          <a:p>
            <a:pPr algn="l"/>
            <a:r>
              <a:rPr sz="1250" b="0" i="0">
                <a:solidFill>
                  <a:srgbClr val="1E293B"/>
                </a:solidFill>
                <a:latin typeface="Calibri"/>
              </a:rPr>
              <a:t>逐渐地</a:t>
            </a:r>
          </a:p>
        </p:txBody>
      </p:sp>
      <p:sp>
        <p:nvSpPr>
          <p:cNvPr id="28" name="Rectangle 27"/>
          <p:cNvSpPr/>
          <p:nvPr/>
        </p:nvSpPr>
        <p:spPr>
          <a:xfrm>
            <a:off x="548640" y="3416530"/>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416530"/>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416530"/>
            <a:ext cx="4754880" cy="436418"/>
          </a:xfrm>
          <a:prstGeom prst="rect">
            <a:avLst/>
          </a:prstGeom>
          <a:noFill/>
        </p:spPr>
        <p:txBody>
          <a:bodyPr wrap="square" anchor="ctr">
            <a:spAutoFit/>
          </a:bodyPr>
          <a:lstStyle/>
          <a:p>
            <a:pPr algn="l"/>
            <a:r>
              <a:rPr sz="1250" b="1" i="0">
                <a:solidFill>
                  <a:srgbClr val="1B5E33"/>
                </a:solidFill>
                <a:latin typeface="Calibri"/>
              </a:rPr>
              <a:t>rapidly</a:t>
            </a:r>
          </a:p>
        </p:txBody>
      </p:sp>
      <p:sp>
        <p:nvSpPr>
          <p:cNvPr id="31" name="TextBox 30"/>
          <p:cNvSpPr txBox="1"/>
          <p:nvPr/>
        </p:nvSpPr>
        <p:spPr>
          <a:xfrm>
            <a:off x="5623560" y="3416530"/>
            <a:ext cx="5852160" cy="436418"/>
          </a:xfrm>
          <a:prstGeom prst="rect">
            <a:avLst/>
          </a:prstGeom>
          <a:noFill/>
        </p:spPr>
        <p:txBody>
          <a:bodyPr wrap="square" anchor="ctr">
            <a:spAutoFit/>
          </a:bodyPr>
          <a:lstStyle/>
          <a:p>
            <a:pPr algn="l"/>
            <a:r>
              <a:rPr sz="1250" b="0" i="0">
                <a:solidFill>
                  <a:srgbClr val="1E293B"/>
                </a:solidFill>
                <a:latin typeface="Calibri"/>
              </a:rPr>
              <a:t>迅速地</a:t>
            </a:r>
          </a:p>
        </p:txBody>
      </p:sp>
      <p:sp>
        <p:nvSpPr>
          <p:cNvPr id="32" name="Rectangle 31"/>
          <p:cNvSpPr/>
          <p:nvPr/>
        </p:nvSpPr>
        <p:spPr>
          <a:xfrm>
            <a:off x="548640" y="3852949"/>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3852949"/>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852949"/>
            <a:ext cx="4754880" cy="436418"/>
          </a:xfrm>
          <a:prstGeom prst="rect">
            <a:avLst/>
          </a:prstGeom>
          <a:noFill/>
        </p:spPr>
        <p:txBody>
          <a:bodyPr wrap="square" anchor="ctr">
            <a:spAutoFit/>
          </a:bodyPr>
          <a:lstStyle/>
          <a:p>
            <a:pPr algn="l"/>
            <a:r>
              <a:rPr sz="1250" b="1" i="0">
                <a:solidFill>
                  <a:srgbClr val="1B5E33"/>
                </a:solidFill>
                <a:latin typeface="Calibri"/>
              </a:rPr>
              <a:t>transform</a:t>
            </a:r>
          </a:p>
        </p:txBody>
      </p:sp>
      <p:sp>
        <p:nvSpPr>
          <p:cNvPr id="35" name="TextBox 34"/>
          <p:cNvSpPr txBox="1"/>
          <p:nvPr/>
        </p:nvSpPr>
        <p:spPr>
          <a:xfrm>
            <a:off x="5623560" y="3852949"/>
            <a:ext cx="5852160" cy="436418"/>
          </a:xfrm>
          <a:prstGeom prst="rect">
            <a:avLst/>
          </a:prstGeom>
          <a:noFill/>
        </p:spPr>
        <p:txBody>
          <a:bodyPr wrap="square" anchor="ctr">
            <a:spAutoFit/>
          </a:bodyPr>
          <a:lstStyle/>
          <a:p>
            <a:pPr algn="l"/>
            <a:r>
              <a:rPr sz="1250" b="0" i="0">
                <a:solidFill>
                  <a:srgbClr val="1E293B"/>
                </a:solidFill>
                <a:latin typeface="Calibri"/>
              </a:rPr>
              <a:t>转变；改变</a:t>
            </a:r>
          </a:p>
        </p:txBody>
      </p:sp>
      <p:sp>
        <p:nvSpPr>
          <p:cNvPr id="36" name="Rectangle 35"/>
          <p:cNvSpPr/>
          <p:nvPr/>
        </p:nvSpPr>
        <p:spPr>
          <a:xfrm>
            <a:off x="548640" y="4289367"/>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289367"/>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289367"/>
            <a:ext cx="4754880" cy="436418"/>
          </a:xfrm>
          <a:prstGeom prst="rect">
            <a:avLst/>
          </a:prstGeom>
          <a:noFill/>
        </p:spPr>
        <p:txBody>
          <a:bodyPr wrap="square" anchor="ctr">
            <a:spAutoFit/>
          </a:bodyPr>
          <a:lstStyle/>
          <a:p>
            <a:pPr algn="l"/>
            <a:r>
              <a:rPr sz="1250" b="1" i="0">
                <a:solidFill>
                  <a:srgbClr val="1B5E33"/>
                </a:solidFill>
                <a:latin typeface="Calibri"/>
              </a:rPr>
              <a:t>evolve</a:t>
            </a:r>
          </a:p>
        </p:txBody>
      </p:sp>
      <p:sp>
        <p:nvSpPr>
          <p:cNvPr id="39" name="TextBox 38"/>
          <p:cNvSpPr txBox="1"/>
          <p:nvPr/>
        </p:nvSpPr>
        <p:spPr>
          <a:xfrm>
            <a:off x="5623560" y="4289367"/>
            <a:ext cx="5852160" cy="436418"/>
          </a:xfrm>
          <a:prstGeom prst="rect">
            <a:avLst/>
          </a:prstGeom>
          <a:noFill/>
        </p:spPr>
        <p:txBody>
          <a:bodyPr wrap="square" anchor="ctr">
            <a:spAutoFit/>
          </a:bodyPr>
          <a:lstStyle/>
          <a:p>
            <a:pPr algn="l"/>
            <a:r>
              <a:rPr sz="1250" b="0" i="0">
                <a:solidFill>
                  <a:srgbClr val="1E293B"/>
                </a:solidFill>
                <a:latin typeface="Calibri"/>
              </a:rPr>
              <a:t>演变；发展</a:t>
            </a:r>
          </a:p>
        </p:txBody>
      </p:sp>
      <p:sp>
        <p:nvSpPr>
          <p:cNvPr id="40" name="Rectangle 39"/>
          <p:cNvSpPr/>
          <p:nvPr/>
        </p:nvSpPr>
        <p:spPr>
          <a:xfrm>
            <a:off x="548640" y="4725785"/>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4725785"/>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4725785"/>
            <a:ext cx="4754880" cy="436418"/>
          </a:xfrm>
          <a:prstGeom prst="rect">
            <a:avLst/>
          </a:prstGeom>
          <a:noFill/>
        </p:spPr>
        <p:txBody>
          <a:bodyPr wrap="square" anchor="ctr">
            <a:spAutoFit/>
          </a:bodyPr>
          <a:lstStyle/>
          <a:p>
            <a:pPr algn="l"/>
            <a:r>
              <a:rPr sz="1250" b="1" i="0">
                <a:solidFill>
                  <a:srgbClr val="1B5E33"/>
                </a:solidFill>
                <a:latin typeface="Calibri"/>
              </a:rPr>
              <a:t>develop</a:t>
            </a:r>
          </a:p>
        </p:txBody>
      </p:sp>
      <p:sp>
        <p:nvSpPr>
          <p:cNvPr id="43" name="TextBox 42"/>
          <p:cNvSpPr txBox="1"/>
          <p:nvPr/>
        </p:nvSpPr>
        <p:spPr>
          <a:xfrm>
            <a:off x="5623560" y="4725785"/>
            <a:ext cx="5852160" cy="436418"/>
          </a:xfrm>
          <a:prstGeom prst="rect">
            <a:avLst/>
          </a:prstGeom>
          <a:noFill/>
        </p:spPr>
        <p:txBody>
          <a:bodyPr wrap="square" anchor="ctr">
            <a:spAutoFit/>
          </a:bodyPr>
          <a:lstStyle/>
          <a:p>
            <a:pPr algn="l"/>
            <a:r>
              <a:rPr sz="1250" b="0" i="0">
                <a:solidFill>
                  <a:srgbClr val="1E293B"/>
                </a:solidFill>
                <a:latin typeface="Calibri"/>
              </a:rPr>
              <a:t>发展；开发</a:t>
            </a:r>
          </a:p>
        </p:txBody>
      </p:sp>
      <p:sp>
        <p:nvSpPr>
          <p:cNvPr id="44" name="Rectangle 43"/>
          <p:cNvSpPr/>
          <p:nvPr/>
        </p:nvSpPr>
        <p:spPr>
          <a:xfrm>
            <a:off x="548640" y="5162203"/>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0" y="5162203"/>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5162203"/>
            <a:ext cx="4754880" cy="436418"/>
          </a:xfrm>
          <a:prstGeom prst="rect">
            <a:avLst/>
          </a:prstGeom>
          <a:noFill/>
        </p:spPr>
        <p:txBody>
          <a:bodyPr wrap="square" anchor="ctr">
            <a:spAutoFit/>
          </a:bodyPr>
          <a:lstStyle/>
          <a:p>
            <a:pPr algn="l"/>
            <a:r>
              <a:rPr sz="1250" b="1" i="0">
                <a:solidFill>
                  <a:srgbClr val="1B5E33"/>
                </a:solidFill>
                <a:latin typeface="Calibri"/>
              </a:rPr>
              <a:t>emerge</a:t>
            </a:r>
          </a:p>
        </p:txBody>
      </p:sp>
      <p:sp>
        <p:nvSpPr>
          <p:cNvPr id="47" name="TextBox 46"/>
          <p:cNvSpPr txBox="1"/>
          <p:nvPr/>
        </p:nvSpPr>
        <p:spPr>
          <a:xfrm>
            <a:off x="5623560" y="5162203"/>
            <a:ext cx="5852160" cy="436418"/>
          </a:xfrm>
          <a:prstGeom prst="rect">
            <a:avLst/>
          </a:prstGeom>
          <a:noFill/>
        </p:spPr>
        <p:txBody>
          <a:bodyPr wrap="square" anchor="ctr">
            <a:spAutoFit/>
          </a:bodyPr>
          <a:lstStyle/>
          <a:p>
            <a:pPr algn="l"/>
            <a:r>
              <a:rPr sz="1250" b="0" i="0">
                <a:solidFill>
                  <a:srgbClr val="1E293B"/>
                </a:solidFill>
                <a:latin typeface="Calibri"/>
              </a:rPr>
              <a:t>出现；形成</a:t>
            </a:r>
          </a:p>
        </p:txBody>
      </p:sp>
      <p:sp>
        <p:nvSpPr>
          <p:cNvPr id="48" name="Rectangle 47"/>
          <p:cNvSpPr/>
          <p:nvPr/>
        </p:nvSpPr>
        <p:spPr>
          <a:xfrm>
            <a:off x="548640" y="5598621"/>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486400" y="5598621"/>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800" y="5598621"/>
            <a:ext cx="4754880" cy="436418"/>
          </a:xfrm>
          <a:prstGeom prst="rect">
            <a:avLst/>
          </a:prstGeom>
          <a:noFill/>
        </p:spPr>
        <p:txBody>
          <a:bodyPr wrap="square" anchor="ctr">
            <a:spAutoFit/>
          </a:bodyPr>
          <a:lstStyle/>
          <a:p>
            <a:pPr algn="l"/>
            <a:r>
              <a:rPr sz="1250" b="1" i="0">
                <a:solidFill>
                  <a:srgbClr val="1B5E33"/>
                </a:solidFill>
                <a:latin typeface="Calibri"/>
              </a:rPr>
              <a:t>shift</a:t>
            </a:r>
          </a:p>
        </p:txBody>
      </p:sp>
      <p:sp>
        <p:nvSpPr>
          <p:cNvPr id="51" name="TextBox 50"/>
          <p:cNvSpPr txBox="1"/>
          <p:nvPr/>
        </p:nvSpPr>
        <p:spPr>
          <a:xfrm>
            <a:off x="5623560" y="5598621"/>
            <a:ext cx="5852160" cy="436418"/>
          </a:xfrm>
          <a:prstGeom prst="rect">
            <a:avLst/>
          </a:prstGeom>
          <a:noFill/>
        </p:spPr>
        <p:txBody>
          <a:bodyPr wrap="square" anchor="ctr">
            <a:spAutoFit/>
          </a:bodyPr>
          <a:lstStyle/>
          <a:p>
            <a:pPr algn="l"/>
            <a:r>
              <a:rPr sz="1250" b="0" i="0">
                <a:solidFill>
                  <a:srgbClr val="1E293B"/>
                </a:solidFill>
                <a:latin typeface="Calibri"/>
              </a:rPr>
              <a:t>转变；变化</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标题匹配备考：6.0→7.0提分路径</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ectangle 6"/>
          <p:cNvSpPr/>
          <p:nvPr/>
        </p:nvSpPr>
        <p:spPr>
          <a:xfrm>
            <a:off x="548640" y="1188720"/>
            <a:ext cx="5486400" cy="4572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6.0→6.5（前4周）</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每天练习找3段主题句</a:t>
            </a:r>
          </a:p>
          <a:p>
            <a:pPr>
              <a:spcBef>
                <a:spcPts val="700"/>
              </a:spcBef>
            </a:pPr>
            <a:r>
              <a:rPr sz="1450">
                <a:solidFill>
                  <a:srgbClr val="1E293B"/>
                </a:solidFill>
              </a:rPr>
              <a:t>• 重点：识别转折型主题句</a:t>
            </a:r>
          </a:p>
          <a:p>
            <a:pPr>
              <a:spcBef>
                <a:spcPts val="700"/>
              </a:spcBef>
            </a:pPr>
            <a:r>
              <a:rPr sz="1450">
                <a:solidFill>
                  <a:srgbClr val="1E293B"/>
                </a:solidFill>
              </a:rPr>
              <a:t>• 每周做1套完整Heading题组</a:t>
            </a:r>
          </a:p>
          <a:p>
            <a:pPr>
              <a:spcBef>
                <a:spcPts val="700"/>
              </a:spcBef>
            </a:pPr>
            <a:r>
              <a:rPr sz="1450">
                <a:solidFill>
                  <a:srgbClr val="1E293B"/>
                </a:solidFill>
              </a:rPr>
              <a:t>• 分析每道错题的干扰类型</a:t>
            </a:r>
          </a:p>
          <a:p>
            <a:pPr>
              <a:spcBef>
                <a:spcPts val="700"/>
              </a:spcBef>
            </a:pPr>
            <a:r>
              <a:rPr sz="1450">
                <a:solidFill>
                  <a:srgbClr val="1E293B"/>
                </a:solidFill>
              </a:rPr>
              <a:t>• 目标：准确率从50%→70%</a:t>
            </a:r>
          </a:p>
        </p:txBody>
      </p:sp>
      <p:sp>
        <p:nvSpPr>
          <p:cNvPr id="10" name="Rectangle 9"/>
          <p:cNvSpPr/>
          <p:nvPr/>
        </p:nvSpPr>
        <p:spPr>
          <a:xfrm>
            <a:off x="6355079" y="1188720"/>
            <a:ext cx="5486400" cy="4572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6.5→7.0（后4周）</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重点：计时训练&lt;90秒/段</a:t>
            </a:r>
          </a:p>
          <a:p>
            <a:pPr>
              <a:spcBef>
                <a:spcPts val="700"/>
              </a:spcBef>
            </a:pPr>
            <a:r>
              <a:rPr sz="1450">
                <a:solidFill>
                  <a:srgbClr val="1E293B"/>
                </a:solidFill>
              </a:rPr>
              <a:t>• 重点：干扰选项快速排除</a:t>
            </a:r>
          </a:p>
          <a:p>
            <a:pPr>
              <a:spcBef>
                <a:spcPts val="700"/>
              </a:spcBef>
            </a:pPr>
            <a:r>
              <a:rPr sz="1450">
                <a:solidFill>
                  <a:srgbClr val="1E293B"/>
                </a:solidFill>
              </a:rPr>
              <a:t>• 每周做2套完整Heading题组</a:t>
            </a:r>
          </a:p>
          <a:p>
            <a:pPr>
              <a:spcBef>
                <a:spcPts val="700"/>
              </a:spcBef>
            </a:pPr>
            <a:r>
              <a:rPr sz="1450">
                <a:solidFill>
                  <a:srgbClr val="1E293B"/>
                </a:solidFill>
              </a:rPr>
              <a:t>• 建立段落类型识别直觉</a:t>
            </a:r>
          </a:p>
          <a:p>
            <a:pPr>
              <a:spcBef>
                <a:spcPts val="700"/>
              </a:spcBef>
            </a:pPr>
            <a:r>
              <a:rPr sz="1450">
                <a:solidFill>
                  <a:srgbClr val="1E293B"/>
                </a:solidFill>
              </a:rPr>
              <a:t>• 目标：准确率从70%→85%</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标题匹配 vs 信息定位联合策略</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ectangle 6"/>
          <p:cNvSpPr/>
          <p:nvPr/>
        </p:nvSpPr>
        <p:spPr>
          <a:xfrm>
            <a:off x="548640" y="1188720"/>
            <a:ext cx="5486400" cy="4572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同一篇文章有两种题型时</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先做信息定位（通常更快）</a:t>
            </a:r>
          </a:p>
          <a:p>
            <a:pPr>
              <a:spcBef>
                <a:spcPts val="700"/>
              </a:spcBef>
            </a:pPr>
            <a:r>
              <a:rPr sz="1450">
                <a:solidFill>
                  <a:srgbClr val="1E293B"/>
                </a:solidFill>
              </a:rPr>
              <a:t>• 信息定位建立的段落地图辅助标题匹配</a:t>
            </a:r>
          </a:p>
          <a:p>
            <a:pPr>
              <a:spcBef>
                <a:spcPts val="700"/>
              </a:spcBef>
            </a:pPr>
            <a:r>
              <a:rPr sz="1450">
                <a:solidFill>
                  <a:srgbClr val="1E293B"/>
                </a:solidFill>
              </a:rPr>
              <a:t>• 标题匹配反过来验证段落地图</a:t>
            </a:r>
          </a:p>
          <a:p>
            <a:pPr>
              <a:spcBef>
                <a:spcPts val="700"/>
              </a:spcBef>
            </a:pPr>
            <a:r>
              <a:rPr sz="1450">
                <a:solidFill>
                  <a:srgbClr val="1E293B"/>
                </a:solidFill>
              </a:rPr>
              <a:t>• 两种题型互补，提高整体准确率</a:t>
            </a:r>
          </a:p>
        </p:txBody>
      </p:sp>
      <p:sp>
        <p:nvSpPr>
          <p:cNvPr id="10" name="Rectangle 9"/>
          <p:cNvSpPr/>
          <p:nvPr/>
        </p:nvSpPr>
        <p:spPr>
          <a:xfrm>
            <a:off x="6355079" y="1188720"/>
            <a:ext cx="5486400" cy="4572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时间分配建议</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Skimming（首段+每段首句）：3分钟</a:t>
            </a:r>
          </a:p>
          <a:p>
            <a:pPr>
              <a:spcBef>
                <a:spcPts val="700"/>
              </a:spcBef>
            </a:pPr>
            <a:r>
              <a:rPr sz="1450">
                <a:solidFill>
                  <a:srgbClr val="1E293B"/>
                </a:solidFill>
              </a:rPr>
              <a:t>• 信息定位题：7-8分钟</a:t>
            </a:r>
          </a:p>
          <a:p>
            <a:pPr>
              <a:spcBef>
                <a:spcPts val="700"/>
              </a:spcBef>
            </a:pPr>
            <a:r>
              <a:rPr sz="1450">
                <a:solidFill>
                  <a:srgbClr val="1E293B"/>
                </a:solidFill>
              </a:rPr>
              <a:t>• 标题匹配题：7-8分钟</a:t>
            </a:r>
          </a:p>
          <a:p>
            <a:pPr>
              <a:spcBef>
                <a:spcPts val="700"/>
              </a:spcBef>
            </a:pPr>
            <a:r>
              <a:rPr sz="1450">
                <a:solidFill>
                  <a:srgbClr val="1E293B"/>
                </a:solidFill>
              </a:rPr>
              <a:t>• 其他题型：剩余时间</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深度练习方案</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ectangle 6"/>
          <p:cNvSpPr/>
          <p:nvPr/>
        </p:nvSpPr>
        <p:spPr>
          <a:xfrm>
            <a:off x="548640" y="1188720"/>
            <a:ext cx="5486400" cy="4572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每周练习计划（3小时）</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周一：完整Heading题组+错题分析</a:t>
            </a:r>
          </a:p>
          <a:p>
            <a:pPr>
              <a:spcBef>
                <a:spcPts val="700"/>
              </a:spcBef>
            </a:pPr>
            <a:r>
              <a:rPr sz="1450">
                <a:solidFill>
                  <a:srgbClr val="1E293B"/>
                </a:solidFill>
              </a:rPr>
              <a:t>• 周三：段落主题句提取（10段）</a:t>
            </a:r>
          </a:p>
          <a:p>
            <a:pPr>
              <a:spcBef>
                <a:spcPts val="700"/>
              </a:spcBef>
            </a:pPr>
            <a:r>
              <a:rPr sz="1450">
                <a:solidFill>
                  <a:srgbClr val="1E293B"/>
                </a:solidFill>
              </a:rPr>
              <a:t>• 周五：干扰选项专项分析</a:t>
            </a:r>
          </a:p>
          <a:p>
            <a:pPr>
              <a:spcBef>
                <a:spcPts val="700"/>
              </a:spcBef>
            </a:pPr>
            <a:r>
              <a:rPr sz="1450">
                <a:solidFill>
                  <a:srgbClr val="1E293B"/>
                </a:solidFill>
              </a:rPr>
              <a:t>• 周末：计时复习30分钟完整阅读</a:t>
            </a:r>
          </a:p>
        </p:txBody>
      </p:sp>
      <p:sp>
        <p:nvSpPr>
          <p:cNvPr id="10" name="Rectangle 9"/>
          <p:cNvSpPr/>
          <p:nvPr/>
        </p:nvSpPr>
        <p:spPr>
          <a:xfrm>
            <a:off x="6355079" y="1188720"/>
            <a:ext cx="5486400" cy="4572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每次练习分析重点</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错题：干扰类型（细节/范围/原词）</a:t>
            </a:r>
          </a:p>
          <a:p>
            <a:pPr>
              <a:spcBef>
                <a:spcPts val="700"/>
              </a:spcBef>
            </a:pPr>
            <a:r>
              <a:rPr sz="1450">
                <a:solidFill>
                  <a:srgbClr val="1E293B"/>
                </a:solidFill>
              </a:rPr>
              <a:t>• 正确题：为什么这个标题是正确的</a:t>
            </a:r>
          </a:p>
          <a:p>
            <a:pPr>
              <a:spcBef>
                <a:spcPts val="700"/>
              </a:spcBef>
            </a:pPr>
            <a:r>
              <a:rPr sz="1450">
                <a:solidFill>
                  <a:srgbClr val="1E293B"/>
                </a:solidFill>
              </a:rPr>
              <a:t>• 速度：记录每段时间，找慢的类型</a:t>
            </a:r>
          </a:p>
          <a:p>
            <a:pPr>
              <a:spcBef>
                <a:spcPts val="700"/>
              </a:spcBef>
            </a:pPr>
            <a:r>
              <a:rPr sz="1450">
                <a:solidFill>
                  <a:srgbClr val="1E293B"/>
                </a:solidFill>
              </a:rPr>
              <a:t>• 积累："段落类型→标题方向"表格</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自检清单</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L05学完自测：标题匹配掌握度</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TextBox 7"/>
          <p:cNvSpPr txBox="1"/>
          <p:nvPr/>
        </p:nvSpPr>
        <p:spPr>
          <a:xfrm>
            <a:off x="731520" y="1371600"/>
            <a:ext cx="10789920" cy="4846320"/>
          </a:xfrm>
          <a:prstGeom prst="rect">
            <a:avLst/>
          </a:prstGeom>
          <a:noFill/>
        </p:spPr>
        <p:txBody>
          <a:bodyPr wrap="square">
            <a:spAutoFit/>
          </a:bodyPr>
          <a:lstStyle/>
          <a:p>
            <a:r>
              <a:rPr sz="1600">
                <a:solidFill>
                  <a:srgbClr val="1E293B"/>
                </a:solidFill>
              </a:rPr>
              <a:t>☐ 主题句通常在首句(70%)或末句(15%)</a:t>
            </a:r>
          </a:p>
          <a:p>
            <a:pPr>
              <a:spcBef>
                <a:spcPts val="1200"/>
              </a:spcBef>
            </a:pPr>
            <a:r>
              <a:rPr sz="1600">
                <a:solidFill>
                  <a:srgbClr val="1E293B"/>
                </a:solidFill>
              </a:rPr>
              <a:t>☐ 能识别转折型主题句（Although/However后的主句）</a:t>
            </a:r>
          </a:p>
          <a:p>
            <a:pPr>
              <a:spcBef>
                <a:spcPts val="1200"/>
              </a:spcBef>
            </a:pPr>
            <a:r>
              <a:rPr sz="1600">
                <a:solidFill>
                  <a:srgbClr val="1E293B"/>
                </a:solidFill>
              </a:rPr>
              <a:t>☐ 能识别4种干扰标题（细节/范围大/范围小/原词陷阱）</a:t>
            </a:r>
          </a:p>
          <a:p>
            <a:pPr>
              <a:spcBef>
                <a:spcPts val="1200"/>
              </a:spcBef>
            </a:pPr>
            <a:r>
              <a:rPr sz="1600">
                <a:solidFill>
                  <a:srgbClr val="1E293B"/>
                </a:solidFill>
              </a:rPr>
              <a:t>☐ 每段标题匹配用时&lt;90秒</a:t>
            </a:r>
          </a:p>
          <a:p>
            <a:pPr>
              <a:spcBef>
                <a:spcPts val="1200"/>
              </a:spcBef>
            </a:pPr>
            <a:r>
              <a:rPr sz="1600">
                <a:solidFill>
                  <a:srgbClr val="1E293B"/>
                </a:solidFill>
              </a:rPr>
              <a:t>☐ 连续5段标题匹配准确率&gt;80%</a:t>
            </a:r>
          </a:p>
          <a:p>
            <a:pPr>
              <a:spcBef>
                <a:spcPts val="1200"/>
              </a:spcBef>
            </a:pPr>
            <a:r>
              <a:rPr sz="1600">
                <a:solidFill>
                  <a:srgbClr val="1E293B"/>
                </a:solidFill>
              </a:rPr>
              <a:t>☐ 建立了"先读标题→读主题句→匹配→检验"的流程</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058400" cy="731520"/>
          </a:xfrm>
          <a:prstGeom prst="rect">
            <a:avLst/>
          </a:prstGeom>
          <a:noFill/>
        </p:spPr>
        <p:txBody>
          <a:bodyPr wrap="square" anchor="t">
            <a:spAutoFit/>
          </a:bodyPr>
          <a:lstStyle/>
          <a:p>
            <a:pPr algn="l"/>
            <a:r>
              <a:rPr sz="3000" b="1" i="0">
                <a:solidFill>
                  <a:srgbClr val="FFFFFF"/>
                </a:solidFill>
                <a:latin typeface="Calibri"/>
              </a:rPr>
              <a:t>L05 课堂小结</a:t>
            </a:r>
          </a:p>
        </p:txBody>
      </p:sp>
      <p:sp>
        <p:nvSpPr>
          <p:cNvPr id="5" name="TextBox 4"/>
          <p:cNvSpPr txBox="1"/>
          <p:nvPr/>
        </p:nvSpPr>
        <p:spPr>
          <a:xfrm>
            <a:off x="731520" y="1325880"/>
            <a:ext cx="10058400" cy="457200"/>
          </a:xfrm>
          <a:prstGeom prst="rect">
            <a:avLst/>
          </a:prstGeom>
          <a:noFill/>
        </p:spPr>
        <p:txBody>
          <a:bodyPr wrap="square" anchor="t">
            <a:spAutoFit/>
          </a:bodyPr>
          <a:lstStyle/>
          <a:p>
            <a:pPr algn="l"/>
            <a:r>
              <a:rPr sz="1600" b="1" i="0">
                <a:solidFill>
                  <a:srgbClr val="E09A10"/>
                </a:solidFill>
                <a:latin typeface="Calibri"/>
              </a:rPr>
              <a:t>📌 本课核心要点</a:t>
            </a:r>
          </a:p>
        </p:txBody>
      </p:sp>
      <p:sp>
        <p:nvSpPr>
          <p:cNvPr id="6" name="TextBox 5"/>
          <p:cNvSpPr txBox="1"/>
          <p:nvPr/>
        </p:nvSpPr>
        <p:spPr>
          <a:xfrm>
            <a:off x="731520" y="1874519"/>
            <a:ext cx="10698480" cy="3474720"/>
          </a:xfrm>
          <a:prstGeom prst="rect">
            <a:avLst/>
          </a:prstGeom>
          <a:noFill/>
        </p:spPr>
        <p:txBody>
          <a:bodyPr wrap="square">
            <a:spAutoFit/>
          </a:bodyPr>
          <a:lstStyle/>
          <a:p>
            <a:r>
              <a:rPr sz="1550">
                <a:solidFill>
                  <a:srgbClr val="FFFFFF"/>
                </a:solidFill>
              </a:rPr>
              <a:t>✓  标题匹配考查段落主旨——正确标题概括整段，不只是某一细节</a:t>
            </a:r>
          </a:p>
          <a:p>
            <a:pPr>
              <a:spcBef>
                <a:spcPts val="1100"/>
              </a:spcBef>
            </a:pPr>
            <a:r>
              <a:rPr sz="1550">
                <a:solidFill>
                  <a:srgbClr val="FFFFFF"/>
                </a:solidFill>
              </a:rPr>
              <a:t>✓  主题句通常在首句或末句——转折后的主句才是真正主旨</a:t>
            </a:r>
          </a:p>
          <a:p>
            <a:pPr>
              <a:spcBef>
                <a:spcPts val="1100"/>
              </a:spcBef>
            </a:pPr>
            <a:r>
              <a:rPr sz="1550">
                <a:solidFill>
                  <a:srgbClr val="FFFFFF"/>
                </a:solidFill>
              </a:rPr>
              <a:t>✓  4种干扰：细节词/范围过大/范围过小/原词不对应主旨</a:t>
            </a:r>
          </a:p>
          <a:p>
            <a:pPr>
              <a:spcBef>
                <a:spcPts val="1100"/>
              </a:spcBef>
            </a:pPr>
            <a:r>
              <a:rPr sz="1550">
                <a:solidFill>
                  <a:srgbClr val="FFFFFF"/>
                </a:solidFill>
              </a:rPr>
              <a:t>✓  做题流程：读所有标题→逐段找主题句→匹配→全段检验</a:t>
            </a:r>
          </a:p>
          <a:p>
            <a:pPr>
              <a:spcBef>
                <a:spcPts val="1100"/>
              </a:spcBef>
            </a:pPr>
            <a:r>
              <a:rPr sz="1550">
                <a:solidFill>
                  <a:srgbClr val="FFFFFF"/>
                </a:solidFill>
              </a:rPr>
              <a:t>✓  时间控制：每段&lt;90秒——超时先猜，继续下一段</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练习巩固</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L05 课后作业  Homework</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TextBox 7"/>
          <p:cNvSpPr txBox="1"/>
          <p:nvPr/>
        </p:nvSpPr>
        <p:spPr>
          <a:xfrm>
            <a:off x="548640" y="1143000"/>
            <a:ext cx="10058400" cy="365760"/>
          </a:xfrm>
          <a:prstGeom prst="rect">
            <a:avLst/>
          </a:prstGeom>
          <a:noFill/>
        </p:spPr>
        <p:txBody>
          <a:bodyPr wrap="square" anchor="t">
            <a:spAutoFit/>
          </a:bodyPr>
          <a:lstStyle/>
          <a:p>
            <a:pPr algn="l"/>
            <a:r>
              <a:rPr sz="1300" b="1" i="0">
                <a:solidFill>
                  <a:srgbClr val="E09A10"/>
                </a:solidFill>
                <a:latin typeface="Calibri"/>
              </a:rPr>
              <a:t>⏱ 建议用时：约2小时</a:t>
            </a:r>
          </a:p>
        </p:txBody>
      </p:sp>
      <p:sp>
        <p:nvSpPr>
          <p:cNvPr id="9" name="TextBox 8"/>
          <p:cNvSpPr txBox="1"/>
          <p:nvPr/>
        </p:nvSpPr>
        <p:spPr>
          <a:xfrm>
            <a:off x="640080" y="1645920"/>
            <a:ext cx="10972800" cy="4572000"/>
          </a:xfrm>
          <a:prstGeom prst="rect">
            <a:avLst/>
          </a:prstGeom>
          <a:noFill/>
        </p:spPr>
        <p:txBody>
          <a:bodyPr wrap="square">
            <a:spAutoFit/>
          </a:bodyPr>
          <a:lstStyle/>
          <a:p>
            <a:r>
              <a:rPr sz="1550" b="1">
                <a:solidFill>
                  <a:srgbClr val="1E293B"/>
                </a:solidFill>
              </a:rPr>
              <a:t>作业 1　完成Cambridge IELTS真题中2套完整Paragraph Heading题，分析每道错题</a:t>
            </a:r>
          </a:p>
          <a:p>
            <a:pPr>
              <a:spcBef>
                <a:spcPts val="1300"/>
              </a:spcBef>
            </a:pPr>
            <a:r>
              <a:rPr sz="1550" b="1">
                <a:solidFill>
                  <a:srgbClr val="1E293B"/>
                </a:solidFill>
              </a:rPr>
              <a:t>作业 2　找10段学术文章，练习只读首末句识别主题句，记录准确率</a:t>
            </a:r>
          </a:p>
          <a:p>
            <a:pPr>
              <a:spcBef>
                <a:spcPts val="1300"/>
              </a:spcBef>
            </a:pPr>
            <a:r>
              <a:rPr sz="1550" b="1">
                <a:solidFill>
                  <a:srgbClr val="1E293B"/>
                </a:solidFill>
              </a:rPr>
              <a:t>作业 3　建立干扰标题分类笔记：每种干扰类型各记录3个例子</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058400" cy="548640"/>
          </a:xfrm>
          <a:prstGeom prst="rect">
            <a:avLst/>
          </a:prstGeom>
          <a:noFill/>
        </p:spPr>
        <p:txBody>
          <a:bodyPr wrap="square" anchor="t">
            <a:spAutoFit/>
          </a:bodyPr>
          <a:lstStyle/>
          <a:p>
            <a:pPr algn="l"/>
            <a:r>
              <a:rPr sz="1800" b="1" i="0">
                <a:solidFill>
                  <a:srgbClr val="E09A10"/>
                </a:solidFill>
                <a:latin typeface="Calibri"/>
              </a:rPr>
              <a:t>下节预告  Next Lesson</a:t>
            </a:r>
          </a:p>
        </p:txBody>
      </p:sp>
      <p:sp>
        <p:nvSpPr>
          <p:cNvPr id="4" name="TextBox 3"/>
          <p:cNvSpPr txBox="1"/>
          <p:nvPr/>
        </p:nvSpPr>
        <p:spPr>
          <a:xfrm>
            <a:off x="914400" y="1920240"/>
            <a:ext cx="10332720" cy="914400"/>
          </a:xfrm>
          <a:prstGeom prst="rect">
            <a:avLst/>
          </a:prstGeom>
          <a:noFill/>
        </p:spPr>
        <p:txBody>
          <a:bodyPr wrap="square" anchor="t">
            <a:spAutoFit/>
          </a:bodyPr>
          <a:lstStyle/>
          <a:p>
            <a:pPr algn="l"/>
            <a:r>
              <a:rPr sz="3000" b="1" i="0">
                <a:solidFill>
                  <a:srgbClr val="FFFFFF"/>
                </a:solidFill>
                <a:latin typeface="Calibri"/>
              </a:rPr>
              <a:t>L06 · 选择题全攻略：Multiple Choice</a:t>
            </a:r>
          </a:p>
        </p:txBody>
      </p:sp>
      <p:sp>
        <p:nvSpPr>
          <p:cNvPr id="5" name="TextBox 4"/>
          <p:cNvSpPr txBox="1"/>
          <p:nvPr/>
        </p:nvSpPr>
        <p:spPr>
          <a:xfrm>
            <a:off x="914400" y="3200400"/>
            <a:ext cx="10332720" cy="2743200"/>
          </a:xfrm>
          <a:prstGeom prst="rect">
            <a:avLst/>
          </a:prstGeom>
          <a:noFill/>
        </p:spPr>
        <p:txBody>
          <a:bodyPr wrap="square">
            <a:spAutoFit/>
          </a:bodyPr>
          <a:lstStyle/>
          <a:p>
            <a:r>
              <a:rPr sz="1600">
                <a:solidFill>
                  <a:srgbClr val="CFDCF2"/>
                </a:solidFill>
              </a:rPr>
              <a:t>→ 单选题与多选题的区别策略</a:t>
            </a:r>
          </a:p>
          <a:p>
            <a:pPr>
              <a:spcBef>
                <a:spcPts val="1000"/>
              </a:spcBef>
            </a:pPr>
            <a:r>
              <a:rPr sz="1600">
                <a:solidFill>
                  <a:srgbClr val="CFDCF2"/>
                </a:solidFill>
              </a:rPr>
              <a:t>→ 干扰选项的4种类型</a:t>
            </a:r>
          </a:p>
          <a:p>
            <a:pPr>
              <a:spcBef>
                <a:spcPts val="1000"/>
              </a:spcBef>
            </a:pPr>
            <a:r>
              <a:rPr sz="1600">
                <a:solidFill>
                  <a:srgbClr val="CFDCF2"/>
                </a:solidFill>
              </a:rPr>
              <a:t>→ 选择题专项训练计划</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