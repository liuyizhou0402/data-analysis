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778240" y="0"/>
            <a:ext cx="3413455" cy="6858000"/>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0" y="1463040"/>
            <a:ext cx="3413455" cy="1828800"/>
          </a:xfrm>
          <a:prstGeom prst="rect">
            <a:avLst/>
          </a:prstGeom>
          <a:noFill/>
        </p:spPr>
        <p:txBody>
          <a:bodyPr wrap="square" anchor="t">
            <a:spAutoFit/>
          </a:bodyPr>
          <a:lstStyle/>
          <a:p>
            <a:pPr algn="ctr"/>
            <a:r>
              <a:rPr sz="12000" b="1" i="0">
                <a:solidFill>
                  <a:srgbClr val="E09A10"/>
                </a:solidFill>
                <a:latin typeface="Calibri"/>
              </a:rPr>
              <a:t>L08</a:t>
            </a:r>
          </a:p>
        </p:txBody>
      </p:sp>
      <p:sp>
        <p:nvSpPr>
          <p:cNvPr id="6" name="TextBox 5"/>
          <p:cNvSpPr txBox="1"/>
          <p:nvPr/>
        </p:nvSpPr>
        <p:spPr>
          <a:xfrm>
            <a:off x="8778240" y="3566160"/>
            <a:ext cx="3413455" cy="731520"/>
          </a:xfrm>
          <a:prstGeom prst="rect">
            <a:avLst/>
          </a:prstGeom>
          <a:noFill/>
        </p:spPr>
        <p:txBody>
          <a:bodyPr wrap="square" anchor="t">
            <a:spAutoFit/>
          </a:bodyPr>
          <a:lstStyle/>
          <a:p>
            <a:pPr algn="ctr"/>
            <a:r>
              <a:rPr sz="3000" b="1" i="0">
                <a:solidFill>
                  <a:srgbClr val="FFFFFF"/>
                </a:solidFill>
                <a:latin typeface="Calibri"/>
              </a:rPr>
              <a:t>/ 10</a:t>
            </a:r>
          </a:p>
        </p:txBody>
      </p:sp>
      <p:sp>
        <p:nvSpPr>
          <p:cNvPr id="7" name="TextBox 6"/>
          <p:cNvSpPr txBox="1"/>
          <p:nvPr/>
        </p:nvSpPr>
        <p:spPr>
          <a:xfrm>
            <a:off x="777240" y="1280160"/>
            <a:ext cx="7680960" cy="640080"/>
          </a:xfrm>
          <a:prstGeom prst="rect">
            <a:avLst/>
          </a:prstGeom>
          <a:noFill/>
        </p:spPr>
        <p:txBody>
          <a:bodyPr wrap="square" anchor="t">
            <a:spAutoFit/>
          </a:bodyPr>
          <a:lstStyle/>
          <a:p>
            <a:pPr algn="l"/>
            <a:r>
              <a:rPr sz="2000" b="1" i="0">
                <a:solidFill>
                  <a:srgbClr val="E09A10"/>
                </a:solidFill>
                <a:latin typeface="Calibri"/>
              </a:rPr>
              <a:t>IELTS Reading 阅读</a:t>
            </a:r>
          </a:p>
        </p:txBody>
      </p:sp>
      <p:sp>
        <p:nvSpPr>
          <p:cNvPr id="8" name="TextBox 7"/>
          <p:cNvSpPr txBox="1"/>
          <p:nvPr/>
        </p:nvSpPr>
        <p:spPr>
          <a:xfrm>
            <a:off x="777240" y="1920240"/>
            <a:ext cx="7680960" cy="2194560"/>
          </a:xfrm>
          <a:prstGeom prst="rect">
            <a:avLst/>
          </a:prstGeom>
          <a:noFill/>
        </p:spPr>
        <p:txBody>
          <a:bodyPr wrap="square" anchor="t">
            <a:spAutoFit/>
          </a:bodyPr>
          <a:lstStyle/>
          <a:p>
            <a:pPr algn="l"/>
            <a:r>
              <a:rPr sz="4200" b="1" i="0">
                <a:solidFill>
                  <a:srgbClr val="FFFFFF"/>
                </a:solidFill>
                <a:latin typeface="Calibri"/>
              </a:rPr>
              <a:t>词汇与推断专项
语境猜词·逻辑推断·学术词汇</a:t>
            </a:r>
          </a:p>
        </p:txBody>
      </p:sp>
      <p:sp>
        <p:nvSpPr>
          <p:cNvPr id="9" name="TextBox 8"/>
          <p:cNvSpPr txBox="1"/>
          <p:nvPr/>
        </p:nvSpPr>
        <p:spPr>
          <a:xfrm>
            <a:off x="777240" y="4206240"/>
            <a:ext cx="7498079" cy="1097280"/>
          </a:xfrm>
          <a:prstGeom prst="rect">
            <a:avLst/>
          </a:prstGeom>
          <a:noFill/>
        </p:spPr>
        <p:txBody>
          <a:bodyPr wrap="square" anchor="t">
            <a:spAutoFit/>
          </a:bodyPr>
          <a:lstStyle/>
          <a:p>
            <a:pPr algn="l"/>
            <a:r>
              <a:rPr sz="1800" b="0" i="0">
                <a:solidFill>
                  <a:srgbClr val="CFDCF2"/>
                </a:solidFill>
                <a:latin typeface="Calibri"/>
              </a:rPr>
              <a:t>Vocabulary in Context &amp; Inference Skills</a:t>
            </a:r>
          </a:p>
        </p:txBody>
      </p:sp>
      <p:sp>
        <p:nvSpPr>
          <p:cNvPr id="10" name="Rounded Rectangle 9"/>
          <p:cNvSpPr/>
          <p:nvPr/>
        </p:nvSpPr>
        <p:spPr>
          <a:xfrm>
            <a:off x="777240" y="5669280"/>
            <a:ext cx="3840480" cy="54864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742432"/>
            <a:ext cx="3657600" cy="411480"/>
          </a:xfrm>
          <a:prstGeom prst="rect">
            <a:avLst/>
          </a:prstGeom>
          <a:noFill/>
        </p:spPr>
        <p:txBody>
          <a:bodyPr wrap="square" anchor="t">
            <a:spAutoFit/>
          </a:bodyPr>
          <a:lstStyle/>
          <a:p>
            <a:pPr algn="l"/>
            <a:r>
              <a:rPr sz="1300" b="1" i="0">
                <a:solidFill>
                  <a:srgbClr val="FFFFFF"/>
                </a:solidFill>
                <a:latin typeface="Calibri"/>
              </a:rPr>
              <a:t>第 8 节课 · 课时 90 分钟</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本课流程  Lesson Roadmap</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Rounded Rectangle 6"/>
          <p:cNvSpPr/>
          <p:nvPr/>
        </p:nvSpPr>
        <p:spPr>
          <a:xfrm>
            <a:off x="548640" y="1325880"/>
            <a:ext cx="566928" cy="566928"/>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371600"/>
            <a:ext cx="566928" cy="457200"/>
          </a:xfrm>
          <a:prstGeom prst="rect">
            <a:avLst/>
          </a:prstGeom>
          <a:noFill/>
        </p:spPr>
        <p:txBody>
          <a:bodyPr wrap="square" anchor="t">
            <a:spAutoFit/>
          </a:bodyPr>
          <a:lstStyle/>
          <a:p>
            <a:pPr algn="ctr"/>
            <a:r>
              <a:rPr sz="2000" b="1" i="0">
                <a:solidFill>
                  <a:srgbClr val="FFFFFF"/>
                </a:solidFill>
                <a:latin typeface="Calibri"/>
              </a:rPr>
              <a:t>1</a:t>
            </a:r>
          </a:p>
        </p:txBody>
      </p:sp>
      <p:sp>
        <p:nvSpPr>
          <p:cNvPr id="9" name="TextBox 8"/>
          <p:cNvSpPr txBox="1"/>
          <p:nvPr/>
        </p:nvSpPr>
        <p:spPr>
          <a:xfrm>
            <a:off x="1280160" y="1344168"/>
            <a:ext cx="4937760" cy="731520"/>
          </a:xfrm>
          <a:prstGeom prst="rect">
            <a:avLst/>
          </a:prstGeom>
          <a:noFill/>
        </p:spPr>
        <p:txBody>
          <a:bodyPr wrap="square" anchor="ctr">
            <a:spAutoFit/>
          </a:bodyPr>
          <a:lstStyle/>
          <a:p>
            <a:pPr algn="l"/>
            <a:r>
              <a:rPr sz="1450" b="1" i="0">
                <a:solidFill>
                  <a:srgbClr val="1E293B"/>
                </a:solidFill>
                <a:latin typeface="Calibri"/>
              </a:rPr>
              <a:t>语境猜词3种方法</a:t>
            </a:r>
          </a:p>
        </p:txBody>
      </p:sp>
      <p:sp>
        <p:nvSpPr>
          <p:cNvPr id="10" name="Rounded Rectangle 9"/>
          <p:cNvSpPr/>
          <p:nvPr/>
        </p:nvSpPr>
        <p:spPr>
          <a:xfrm>
            <a:off x="548640" y="2167128"/>
            <a:ext cx="566928" cy="566928"/>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212848"/>
            <a:ext cx="566928" cy="457200"/>
          </a:xfrm>
          <a:prstGeom prst="rect">
            <a:avLst/>
          </a:prstGeom>
          <a:noFill/>
        </p:spPr>
        <p:txBody>
          <a:bodyPr wrap="square" anchor="t">
            <a:spAutoFit/>
          </a:bodyPr>
          <a:lstStyle/>
          <a:p>
            <a:pPr algn="ctr"/>
            <a:r>
              <a:rPr sz="2000" b="1" i="0">
                <a:solidFill>
                  <a:srgbClr val="FFFFFF"/>
                </a:solidFill>
                <a:latin typeface="Calibri"/>
              </a:rPr>
              <a:t>2</a:t>
            </a:r>
          </a:p>
        </p:txBody>
      </p:sp>
      <p:sp>
        <p:nvSpPr>
          <p:cNvPr id="12" name="TextBox 11"/>
          <p:cNvSpPr txBox="1"/>
          <p:nvPr/>
        </p:nvSpPr>
        <p:spPr>
          <a:xfrm>
            <a:off x="1280160" y="2185416"/>
            <a:ext cx="4937760" cy="731520"/>
          </a:xfrm>
          <a:prstGeom prst="rect">
            <a:avLst/>
          </a:prstGeom>
          <a:noFill/>
        </p:spPr>
        <p:txBody>
          <a:bodyPr wrap="square" anchor="ctr">
            <a:spAutoFit/>
          </a:bodyPr>
          <a:lstStyle/>
          <a:p>
            <a:pPr algn="l"/>
            <a:r>
              <a:rPr sz="1450" b="1" i="0">
                <a:solidFill>
                  <a:srgbClr val="1E293B"/>
                </a:solidFill>
                <a:latin typeface="Calibri"/>
              </a:rPr>
              <a:t>推断题做题技巧</a:t>
            </a:r>
          </a:p>
        </p:txBody>
      </p:sp>
      <p:sp>
        <p:nvSpPr>
          <p:cNvPr id="13" name="Rounded Rectangle 12"/>
          <p:cNvSpPr/>
          <p:nvPr/>
        </p:nvSpPr>
        <p:spPr>
          <a:xfrm>
            <a:off x="548640" y="3008376"/>
            <a:ext cx="566928" cy="566928"/>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054096"/>
            <a:ext cx="566928" cy="457200"/>
          </a:xfrm>
          <a:prstGeom prst="rect">
            <a:avLst/>
          </a:prstGeom>
          <a:noFill/>
        </p:spPr>
        <p:txBody>
          <a:bodyPr wrap="square" anchor="t">
            <a:spAutoFit/>
          </a:bodyPr>
          <a:lstStyle/>
          <a:p>
            <a:pPr algn="ctr"/>
            <a:r>
              <a:rPr sz="2000" b="1" i="0">
                <a:solidFill>
                  <a:srgbClr val="FFFFFF"/>
                </a:solidFill>
                <a:latin typeface="Calibri"/>
              </a:rPr>
              <a:t>3</a:t>
            </a:r>
          </a:p>
        </p:txBody>
      </p:sp>
      <p:sp>
        <p:nvSpPr>
          <p:cNvPr id="15" name="TextBox 14"/>
          <p:cNvSpPr txBox="1"/>
          <p:nvPr/>
        </p:nvSpPr>
        <p:spPr>
          <a:xfrm>
            <a:off x="1280160" y="3026664"/>
            <a:ext cx="4937760" cy="731520"/>
          </a:xfrm>
          <a:prstGeom prst="rect">
            <a:avLst/>
          </a:prstGeom>
          <a:noFill/>
        </p:spPr>
        <p:txBody>
          <a:bodyPr wrap="square" anchor="ctr">
            <a:spAutoFit/>
          </a:bodyPr>
          <a:lstStyle/>
          <a:p>
            <a:pPr algn="l"/>
            <a:r>
              <a:rPr sz="1450" b="1" i="0">
                <a:solidFill>
                  <a:srgbClr val="1E293B"/>
                </a:solidFill>
                <a:latin typeface="Calibri"/>
              </a:rPr>
              <a:t>学术词汇AWL核心</a:t>
            </a:r>
          </a:p>
        </p:txBody>
      </p:sp>
      <p:sp>
        <p:nvSpPr>
          <p:cNvPr id="16" name="Rounded Rectangle 15"/>
          <p:cNvSpPr/>
          <p:nvPr/>
        </p:nvSpPr>
        <p:spPr>
          <a:xfrm>
            <a:off x="6400800" y="1325880"/>
            <a:ext cx="566928" cy="566928"/>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371600"/>
            <a:ext cx="566928" cy="457200"/>
          </a:xfrm>
          <a:prstGeom prst="rect">
            <a:avLst/>
          </a:prstGeom>
          <a:noFill/>
        </p:spPr>
        <p:txBody>
          <a:bodyPr wrap="square" anchor="t">
            <a:spAutoFit/>
          </a:bodyPr>
          <a:lstStyle/>
          <a:p>
            <a:pPr algn="ctr"/>
            <a:r>
              <a:rPr sz="2000" b="1" i="0">
                <a:solidFill>
                  <a:srgbClr val="FFFFFF"/>
                </a:solidFill>
                <a:latin typeface="Calibri"/>
              </a:rPr>
              <a:t>4</a:t>
            </a:r>
          </a:p>
        </p:txBody>
      </p:sp>
      <p:sp>
        <p:nvSpPr>
          <p:cNvPr id="18" name="TextBox 17"/>
          <p:cNvSpPr txBox="1"/>
          <p:nvPr/>
        </p:nvSpPr>
        <p:spPr>
          <a:xfrm>
            <a:off x="7132320" y="1344168"/>
            <a:ext cx="4937760" cy="731520"/>
          </a:xfrm>
          <a:prstGeom prst="rect">
            <a:avLst/>
          </a:prstGeom>
          <a:noFill/>
        </p:spPr>
        <p:txBody>
          <a:bodyPr wrap="square" anchor="ctr">
            <a:spAutoFit/>
          </a:bodyPr>
          <a:lstStyle/>
          <a:p>
            <a:pPr algn="l"/>
            <a:r>
              <a:rPr sz="1450" b="1" i="0">
                <a:solidFill>
                  <a:srgbClr val="1E293B"/>
                </a:solidFill>
                <a:latin typeface="Calibri"/>
              </a:rPr>
              <a:t>高频词汇专项</a:t>
            </a:r>
          </a:p>
        </p:txBody>
      </p:sp>
      <p:sp>
        <p:nvSpPr>
          <p:cNvPr id="19" name="Rounded Rectangle 18"/>
          <p:cNvSpPr/>
          <p:nvPr/>
        </p:nvSpPr>
        <p:spPr>
          <a:xfrm>
            <a:off x="6400800" y="2167128"/>
            <a:ext cx="566928" cy="566928"/>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2212848"/>
            <a:ext cx="566928" cy="457200"/>
          </a:xfrm>
          <a:prstGeom prst="rect">
            <a:avLst/>
          </a:prstGeom>
          <a:noFill/>
        </p:spPr>
        <p:txBody>
          <a:bodyPr wrap="square" anchor="t">
            <a:spAutoFit/>
          </a:bodyPr>
          <a:lstStyle/>
          <a:p>
            <a:pPr algn="ctr"/>
            <a:r>
              <a:rPr sz="2000" b="1" i="0">
                <a:solidFill>
                  <a:srgbClr val="FFFFFF"/>
                </a:solidFill>
                <a:latin typeface="Calibri"/>
              </a:rPr>
              <a:t>5</a:t>
            </a:r>
          </a:p>
        </p:txBody>
      </p:sp>
      <p:sp>
        <p:nvSpPr>
          <p:cNvPr id="21" name="TextBox 20"/>
          <p:cNvSpPr txBox="1"/>
          <p:nvPr/>
        </p:nvSpPr>
        <p:spPr>
          <a:xfrm>
            <a:off x="7132320" y="2185416"/>
            <a:ext cx="4937760" cy="731520"/>
          </a:xfrm>
          <a:prstGeom prst="rect">
            <a:avLst/>
          </a:prstGeom>
          <a:noFill/>
        </p:spPr>
        <p:txBody>
          <a:bodyPr wrap="square" anchor="ctr">
            <a:spAutoFit/>
          </a:bodyPr>
          <a:lstStyle/>
          <a:p>
            <a:pPr algn="l"/>
            <a:r>
              <a:rPr sz="1450" b="1" i="0">
                <a:solidFill>
                  <a:srgbClr val="1E293B"/>
                </a:solidFill>
                <a:latin typeface="Calibri"/>
              </a:rPr>
              <a:t>综合实战演练</a:t>
            </a:r>
          </a:p>
        </p:txBody>
      </p:sp>
      <p:sp>
        <p:nvSpPr>
          <p:cNvPr id="22" name="Rounded Rectangle 21"/>
          <p:cNvSpPr/>
          <p:nvPr/>
        </p:nvSpPr>
        <p:spPr>
          <a:xfrm>
            <a:off x="6400800" y="3008376"/>
            <a:ext cx="566928" cy="566928"/>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3054096"/>
            <a:ext cx="566928" cy="457200"/>
          </a:xfrm>
          <a:prstGeom prst="rect">
            <a:avLst/>
          </a:prstGeom>
          <a:noFill/>
        </p:spPr>
        <p:txBody>
          <a:bodyPr wrap="square" anchor="t">
            <a:spAutoFit/>
          </a:bodyPr>
          <a:lstStyle/>
          <a:p>
            <a:pPr algn="ctr"/>
            <a:r>
              <a:rPr sz="2000" b="1" i="0">
                <a:solidFill>
                  <a:srgbClr val="FFFFFF"/>
                </a:solidFill>
                <a:latin typeface="Calibri"/>
              </a:rPr>
              <a:t>6</a:t>
            </a:r>
          </a:p>
        </p:txBody>
      </p:sp>
      <p:sp>
        <p:nvSpPr>
          <p:cNvPr id="24" name="TextBox 23"/>
          <p:cNvSpPr txBox="1"/>
          <p:nvPr/>
        </p:nvSpPr>
        <p:spPr>
          <a:xfrm>
            <a:off x="7132320" y="3026664"/>
            <a:ext cx="4937760" cy="731520"/>
          </a:xfrm>
          <a:prstGeom prst="rect">
            <a:avLst/>
          </a:prstGeom>
          <a:noFill/>
        </p:spPr>
        <p:txBody>
          <a:bodyPr wrap="square" anchor="ctr">
            <a:spAutoFit/>
          </a:bodyPr>
          <a:lstStyle/>
          <a:p>
            <a:pPr algn="l"/>
            <a:r>
              <a:rPr sz="1450" b="1" i="0">
                <a:solidFill>
                  <a:srgbClr val="1E293B"/>
                </a:solidFill>
                <a:latin typeface="Calibri"/>
              </a:rPr>
              <a:t>考场策略与备考</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E09A10"/>
                </a:solidFill>
                <a:latin typeface="Calibri"/>
              </a:rPr>
              <a:t>PART 01</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语境猜词：3种核心方法</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Guessing Vocabulary from Context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为什么语境猜词重要</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Why Context Guessing Matters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IELTS词汇量</a:t>
            </a:r>
          </a:p>
          <a:p>
            <a:pPr>
              <a:spcBef>
                <a:spcPts val="100"/>
              </a:spcBef>
            </a:pPr>
            <a:r>
              <a:rPr sz="1500">
                <a:solidFill>
                  <a:srgbClr val="556075"/>
                </a:solidFill>
              </a:rPr>
              <a:t>   阅读文章用词广泛——不可能全认识</a:t>
            </a:r>
          </a:p>
          <a:p>
            <a:pPr>
              <a:spcBef>
                <a:spcPts val="900"/>
              </a:spcBef>
            </a:pPr>
            <a:r>
              <a:rPr sz="1800" b="1">
                <a:solidFill>
                  <a:srgbClr val="1B5E33"/>
                </a:solidFill>
              </a:rPr>
              <a:t>• 猜词是必要技能</a:t>
            </a:r>
          </a:p>
          <a:p>
            <a:pPr>
              <a:spcBef>
                <a:spcPts val="100"/>
              </a:spcBef>
            </a:pPr>
            <a:r>
              <a:rPr sz="1500">
                <a:solidFill>
                  <a:srgbClr val="556075"/>
                </a:solidFill>
              </a:rPr>
              <a:t>   遇到生词→用语境猜意思——不必查字典</a:t>
            </a:r>
          </a:p>
          <a:p>
            <a:pPr>
              <a:spcBef>
                <a:spcPts val="900"/>
              </a:spcBef>
            </a:pPr>
            <a:r>
              <a:rPr sz="1800" b="1">
                <a:solidFill>
                  <a:srgbClr val="1B5E33"/>
                </a:solidFill>
              </a:rPr>
              <a:t>• 考试中的词汇题</a:t>
            </a:r>
          </a:p>
          <a:p>
            <a:pPr>
              <a:spcBef>
                <a:spcPts val="100"/>
              </a:spcBef>
            </a:pPr>
            <a:r>
              <a:rPr sz="1500">
                <a:solidFill>
                  <a:srgbClr val="556075"/>
                </a:solidFill>
              </a:rPr>
              <a:t>   词义题（What does X mean?）直接考语境猜词</a:t>
            </a:r>
          </a:p>
          <a:p>
            <a:pPr>
              <a:spcBef>
                <a:spcPts val="900"/>
              </a:spcBef>
            </a:pPr>
            <a:r>
              <a:rPr sz="1800" b="1">
                <a:solidFill>
                  <a:srgbClr val="1B5E33"/>
                </a:solidFill>
              </a:rPr>
              <a:t>• 影响理解</a:t>
            </a:r>
          </a:p>
          <a:p>
            <a:pPr>
              <a:spcBef>
                <a:spcPts val="100"/>
              </a:spcBef>
            </a:pPr>
            <a:r>
              <a:rPr sz="1500">
                <a:solidFill>
                  <a:srgbClr val="556075"/>
                </a:solidFill>
              </a:rPr>
              <a:t>   生词影响理解时→语境猜词帮助推进</a:t>
            </a:r>
          </a:p>
          <a:p>
            <a:pPr>
              <a:spcBef>
                <a:spcPts val="900"/>
              </a:spcBef>
            </a:pPr>
            <a:r>
              <a:rPr sz="1800" b="1">
                <a:solidFill>
                  <a:srgbClr val="1B5E33"/>
                </a:solidFill>
              </a:rPr>
              <a:t>• 深圳学生问题</a:t>
            </a:r>
          </a:p>
          <a:p>
            <a:pPr>
              <a:spcBef>
                <a:spcPts val="100"/>
              </a:spcBef>
            </a:pPr>
            <a:r>
              <a:rPr sz="1500">
                <a:solidFill>
                  <a:srgbClr val="556075"/>
                </a:solidFill>
              </a:rPr>
              <a:t>   遇到生词就停住——影响整体做题节奏</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3种语境猜词方法</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3 Methods for Vocabulary in Context</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方法1：同义/反义词线索</a:t>
            </a:r>
          </a:p>
          <a:p>
            <a:pPr>
              <a:spcBef>
                <a:spcPts val="100"/>
              </a:spcBef>
            </a:pPr>
            <a:r>
              <a:rPr sz="1500">
                <a:solidFill>
                  <a:srgbClr val="556075"/>
                </a:solidFill>
              </a:rPr>
              <a:t>   句子里有near/similar/unlike/but/however→找对比词</a:t>
            </a:r>
          </a:p>
          <a:p>
            <a:pPr>
              <a:spcBef>
                <a:spcPts val="900"/>
              </a:spcBef>
            </a:pPr>
            <a:r>
              <a:rPr sz="1800" b="1">
                <a:solidFill>
                  <a:srgbClr val="1B5E33"/>
                </a:solidFill>
              </a:rPr>
              <a:t>• 方法2：定义/解释线索</a:t>
            </a:r>
          </a:p>
          <a:p>
            <a:pPr>
              <a:spcBef>
                <a:spcPts val="100"/>
              </a:spcBef>
            </a:pPr>
            <a:r>
              <a:rPr sz="1500">
                <a:solidFill>
                  <a:srgbClr val="556075"/>
                </a:solidFill>
              </a:rPr>
              <a:t>   句子里有is/means/refers to/known as/i.e.→后面是解释</a:t>
            </a:r>
          </a:p>
          <a:p>
            <a:pPr>
              <a:spcBef>
                <a:spcPts val="900"/>
              </a:spcBef>
            </a:pPr>
            <a:r>
              <a:rPr sz="1800" b="1">
                <a:solidFill>
                  <a:srgbClr val="1B5E33"/>
                </a:solidFill>
              </a:rPr>
              <a:t>• 方法3：语境逻辑推断</a:t>
            </a:r>
          </a:p>
          <a:p>
            <a:pPr>
              <a:spcBef>
                <a:spcPts val="100"/>
              </a:spcBef>
            </a:pPr>
            <a:r>
              <a:rPr sz="1500">
                <a:solidFill>
                  <a:srgbClr val="556075"/>
                </a:solidFill>
              </a:rPr>
              <a:t>   从句子的整体意思推断生词的大概意思</a:t>
            </a:r>
          </a:p>
          <a:p>
            <a:pPr>
              <a:spcBef>
                <a:spcPts val="900"/>
              </a:spcBef>
            </a:pPr>
            <a:r>
              <a:rPr sz="1800" b="1">
                <a:solidFill>
                  <a:srgbClr val="1B5E33"/>
                </a:solidFill>
              </a:rPr>
              <a:t>• 关键原则</a:t>
            </a:r>
          </a:p>
          <a:p>
            <a:pPr>
              <a:spcBef>
                <a:spcPts val="100"/>
              </a:spcBef>
            </a:pPr>
            <a:r>
              <a:rPr sz="1500">
                <a:solidFill>
                  <a:srgbClr val="556075"/>
                </a:solidFill>
              </a:rPr>
              <a:t>   不需要猜出准确意思——知道大概意思即可</a:t>
            </a:r>
          </a:p>
          <a:p>
            <a:pPr>
              <a:spcBef>
                <a:spcPts val="900"/>
              </a:spcBef>
            </a:pPr>
            <a:r>
              <a:rPr sz="1800" b="1">
                <a:solidFill>
                  <a:srgbClr val="1B5E33"/>
                </a:solidFill>
              </a:rPr>
              <a:t>• 放弃时机</a:t>
            </a:r>
          </a:p>
          <a:p>
            <a:pPr>
              <a:spcBef>
                <a:spcPts val="100"/>
              </a:spcBef>
            </a:pPr>
            <a:r>
              <a:rPr sz="1500">
                <a:solidFill>
                  <a:srgbClr val="556075"/>
                </a:solidFill>
              </a:rPr>
              <a:t>   猜了2次还不确定→先跳过，继续下题</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同义/反义线索法示范</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方法1示范：同义线索
原文："The scientist's hypothesis, or educated guess, proved accurate."
问：What does "hypothesis" mean?
线索：or educated guess = 解释词
答案：hypothesis = educated guess（有根据的猜测）
方法1示范：反义线索
原文："Unlike the opaque glass in the bathroom, the living room windows were completely transparent."
问：What does "transparent" mean?
线索：Unlike opaque...transparent → 反义关系
答案：transparent = 与opaque相反 = clear/see-through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定义线索和逻辑推断法</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方法2：定义线索
原文："Photosynthesis, the process by which plants convert sunlight into food, is essential for life."
生词：photosynthesis
线索：the process by which... = 直接定义
答案：photosynthesis = 植物用阳光制造食物的过程
方法3：逻辑推断
原文："The drought lasted for three years, devastating crops and causing widespread famine."
生词：famine
推断逻辑：干旱→庄稼受损→likely caused food shortage
答案：famine ≈ 食物短缺/饥荒</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语境猜词综合实战</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用3种方法猜词：
1. "The new regulations were met with vehement opposition, with protesters using strong language to express their disapproval."
2. "Despite the arid conditions—with less than 50mm of rainfall annually—certain cacti thrive in the desert."</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分析：
词1：vehement
线索：strong language to express disapproval → 同义/程度线索
猜义：vehement ≈ strong/passionate/intense（强烈的）
词2：arid
线索：less than 50mm of rainfall → 定义/解释线索
cacti thrive in desert → 逻辑确认（仙人掌在干燥地方生长）
猜义：arid ≈ very dry（干旱的）</a:t>
            </a:r>
          </a:p>
        </p:txBody>
      </p:sp>
      <p:sp>
        <p:nvSpPr>
          <p:cNvPr id="14" name="Rectangle 13"/>
          <p:cNvSpPr/>
          <p:nvPr/>
        </p:nvSpPr>
        <p:spPr>
          <a:xfrm>
            <a:off x="548640" y="5669279"/>
            <a:ext cx="11064240" cy="36576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语境猜词原则：不需要确切含义——知道正面/负面、大/小、多/少即可</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词义题做题技巧</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IELTS词义题：
"The word 'proliferate' in paragraph 3 is closest in meaning to:"
A. disappear B. spread rapidly C. become regulated D. transform slowly
原文："Social media platforms proliferated throughout the 2010s, with new apps emerging weekly."
做题策略：
1.在原文找这个词
2.读包含这个词的完整句子
3.用语境推断大意（new apps emerging weekly → 增加/扩展）
4.选与推断意思最接近的选项</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2194560"/>
          </a:xfrm>
          <a:prstGeom prst="rect">
            <a:avLst/>
          </a:prstGeom>
          <a:noFill/>
        </p:spPr>
        <p:txBody>
          <a:bodyPr wrap="square">
            <a:spAutoFit/>
          </a:bodyPr>
          <a:lstStyle/>
          <a:p>
            <a:r>
              <a:rPr sz="1400">
                <a:solidFill>
                  <a:srgbClr val="1B7A3D"/>
                </a:solidFill>
              </a:rPr>
              <a:t>答案：B（spread rapidly）→ 原文"new apps emerging weekly"支持快速扩展</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E09A10"/>
                </a:solidFill>
                <a:latin typeface="Calibri"/>
              </a:rPr>
              <a:t>PART 02</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推断题做题技巧</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Inference Questions: Strategy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推断题的定义</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What Are Inference Questions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题目特征</a:t>
            </a:r>
          </a:p>
          <a:p>
            <a:pPr>
              <a:spcBef>
                <a:spcPts val="100"/>
              </a:spcBef>
            </a:pPr>
            <a:r>
              <a:rPr sz="1500">
                <a:solidFill>
                  <a:srgbClr val="556075"/>
                </a:solidFill>
              </a:rPr>
              <a:t>   What can be inferred? / What does the author imply?</a:t>
            </a:r>
          </a:p>
          <a:p>
            <a:pPr>
              <a:spcBef>
                <a:spcPts val="900"/>
              </a:spcBef>
            </a:pPr>
            <a:r>
              <a:rPr sz="1800" b="1">
                <a:solidFill>
                  <a:srgbClr val="1B5E33"/>
                </a:solidFill>
              </a:rPr>
              <a:t>• 考查内容</a:t>
            </a:r>
          </a:p>
          <a:p>
            <a:pPr>
              <a:spcBef>
                <a:spcPts val="100"/>
              </a:spcBef>
            </a:pPr>
            <a:r>
              <a:rPr sz="1500">
                <a:solidFill>
                  <a:srgbClr val="556075"/>
                </a:solidFill>
              </a:rPr>
              <a:t>   不是原文直接说的——是从原文逻辑推出来的</a:t>
            </a:r>
          </a:p>
          <a:p>
            <a:pPr>
              <a:spcBef>
                <a:spcPts val="900"/>
              </a:spcBef>
            </a:pPr>
            <a:r>
              <a:rPr sz="1800" b="1">
                <a:solidFill>
                  <a:srgbClr val="1B5E33"/>
                </a:solidFill>
              </a:rPr>
              <a:t>• 难度原因</a:t>
            </a:r>
          </a:p>
          <a:p>
            <a:pPr>
              <a:spcBef>
                <a:spcPts val="100"/>
              </a:spcBef>
            </a:pPr>
            <a:r>
              <a:rPr sz="1500">
                <a:solidFill>
                  <a:srgbClr val="556075"/>
                </a:solidFill>
              </a:rPr>
              <a:t>   答案在原文"之间"——需要逻辑思考</a:t>
            </a:r>
          </a:p>
          <a:p>
            <a:pPr>
              <a:spcBef>
                <a:spcPts val="900"/>
              </a:spcBef>
            </a:pPr>
            <a:r>
              <a:rPr sz="1800" b="1">
                <a:solidFill>
                  <a:srgbClr val="1B5E33"/>
                </a:solidFill>
              </a:rPr>
              <a:t>• 推断范围</a:t>
            </a:r>
          </a:p>
          <a:p>
            <a:pPr>
              <a:spcBef>
                <a:spcPts val="100"/>
              </a:spcBef>
            </a:pPr>
            <a:r>
              <a:rPr sz="1500">
                <a:solidFill>
                  <a:srgbClr val="556075"/>
                </a:solidFill>
              </a:rPr>
              <a:t>   合理推断——有原文基础，不是无根据的猜测</a:t>
            </a:r>
          </a:p>
          <a:p>
            <a:pPr>
              <a:spcBef>
                <a:spcPts val="900"/>
              </a:spcBef>
            </a:pPr>
            <a:r>
              <a:rPr sz="1800" b="1">
                <a:solidFill>
                  <a:srgbClr val="1B5E33"/>
                </a:solidFill>
              </a:rPr>
              <a:t>• 深圳学生错误</a:t>
            </a:r>
          </a:p>
          <a:p>
            <a:pPr>
              <a:spcBef>
                <a:spcPts val="100"/>
              </a:spcBef>
            </a:pPr>
            <a:r>
              <a:rPr sz="1500">
                <a:solidFill>
                  <a:srgbClr val="556075"/>
                </a:solidFill>
              </a:rPr>
              <a:t>   推断过度——选了超出原文的选项</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推断题的4种子类型</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Types of Inference Questions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意图推断</a:t>
            </a:r>
          </a:p>
          <a:p>
            <a:pPr>
              <a:spcBef>
                <a:spcPts val="100"/>
              </a:spcBef>
            </a:pPr>
            <a:r>
              <a:rPr sz="1500">
                <a:solidFill>
                  <a:srgbClr val="556075"/>
                </a:solidFill>
              </a:rPr>
              <a:t>   Why does the author mention X? 作者为什么提到X？</a:t>
            </a:r>
          </a:p>
          <a:p>
            <a:pPr>
              <a:spcBef>
                <a:spcPts val="900"/>
              </a:spcBef>
            </a:pPr>
            <a:r>
              <a:rPr sz="1800" b="1">
                <a:solidFill>
                  <a:srgbClr val="1B5E33"/>
                </a:solidFill>
              </a:rPr>
              <a:t>• 态度推断</a:t>
            </a:r>
          </a:p>
          <a:p>
            <a:pPr>
              <a:spcBef>
                <a:spcPts val="100"/>
              </a:spcBef>
            </a:pPr>
            <a:r>
              <a:rPr sz="1500">
                <a:solidFill>
                  <a:srgbClr val="556075"/>
                </a:solidFill>
              </a:rPr>
              <a:t>   What is the author's attitude towards X? 作者对X的态度？</a:t>
            </a:r>
          </a:p>
          <a:p>
            <a:pPr>
              <a:spcBef>
                <a:spcPts val="900"/>
              </a:spcBef>
            </a:pPr>
            <a:r>
              <a:rPr sz="1800" b="1">
                <a:solidFill>
                  <a:srgbClr val="1B5E33"/>
                </a:solidFill>
              </a:rPr>
              <a:t>• 隐含推断</a:t>
            </a:r>
          </a:p>
          <a:p>
            <a:pPr>
              <a:spcBef>
                <a:spcPts val="100"/>
              </a:spcBef>
            </a:pPr>
            <a:r>
              <a:rPr sz="1500">
                <a:solidFill>
                  <a:srgbClr val="556075"/>
                </a:solidFill>
              </a:rPr>
              <a:t>   What is implied about X? X暗示什么？</a:t>
            </a:r>
          </a:p>
          <a:p>
            <a:pPr>
              <a:spcBef>
                <a:spcPts val="900"/>
              </a:spcBef>
            </a:pPr>
            <a:r>
              <a:rPr sz="1800" b="1">
                <a:solidFill>
                  <a:srgbClr val="1B5E33"/>
                </a:solidFill>
              </a:rPr>
              <a:t>• 逻辑推断</a:t>
            </a:r>
          </a:p>
          <a:p>
            <a:pPr>
              <a:spcBef>
                <a:spcPts val="100"/>
              </a:spcBef>
            </a:pPr>
            <a:r>
              <a:rPr sz="1500">
                <a:solidFill>
                  <a:srgbClr val="556075"/>
                </a:solidFill>
              </a:rPr>
              <a:t>   What can be concluded from X? 从X可以得出什么结论？</a:t>
            </a:r>
          </a:p>
          <a:p>
            <a:pPr>
              <a:spcBef>
                <a:spcPts val="900"/>
              </a:spcBef>
            </a:pPr>
            <a:r>
              <a:rPr sz="1800" b="1">
                <a:solidFill>
                  <a:srgbClr val="1B5E33"/>
                </a:solidFill>
              </a:rPr>
              <a:t>• 共同策略</a:t>
            </a:r>
          </a:p>
          <a:p>
            <a:pPr>
              <a:spcBef>
                <a:spcPts val="100"/>
              </a:spcBef>
            </a:pPr>
            <a:r>
              <a:rPr sz="1500">
                <a:solidFill>
                  <a:srgbClr val="556075"/>
                </a:solidFill>
              </a:rPr>
              <a:t>   都要在原文找支撑——不能凭感觉</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推断题有效范围</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有效推断 vs 无效推断：
原文："The study found that students who slept at least 8 hours performed better in tests."
有效推断：Sleep may positively affect academic performance ✓
（有原文逻辑支撑）
无效推断：All students should sleep exactly 8 hours ✓
（over-specific，原文说"at least 8"）
无效推断：Sleep is the most important factor in exam success ✗
（原文没有说是"最重要"因素——过度推断）
规律：推断要有原文逻辑支撑——不能超出原文说的范围</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作者态度推断方法</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IELTS作者态度题做题方法：
1.找作者的立场词：clearly/unfortunately/surprisingly/worryingly
→ clearly=肯定; unfortunately=负面态度; surprisingly=意外
2.找选择性证据：作者只引用支持某一方的证据→偏向该方
3.找结论句：作者的总结句往往最直接反映态度
4.关注情感词：positive words→支持; negative words→反对
常见态度：supportive/critical/cautious/neutral/optimistic/pessimistic</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推断题实战练习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原文：
"While space exploration has yielded remarkable scientific discoveries, the billions spent on Mars missions could arguably be better directed towards solving immediate problems on Earth, such as climate change and poverty. That said, the technological innovations generated by space programmes have undeniably benefited everyday life."
问："What can be inferred about the author's view on space exploration?"
A. The author believes space exploration should be abandoned.
B. The author has mixed views about the priorities of space spending.
C. The author fully supports Mars missions as the best use of resources.
D. The author thinks space technology has no practical applications.</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分析：
原文结构：转折对比（一方面质疑花钱→另一方面肯定创新价值）
A."abandoned"→ 原文没说放弃，只是质疑优先级 ✗
B.混合观点→ "While...could be better directed" + "undeniably benefited"→ 两方面 ✓
C."fully supports"→ 原文有质疑，不是完全支持 ✗
D."no practical applications"→ 原文说"undeniably benefited" ✗
答案：B</a:t>
            </a:r>
          </a:p>
        </p:txBody>
      </p:sp>
      <p:sp>
        <p:nvSpPr>
          <p:cNvPr id="14" name="Rectangle 13"/>
          <p:cNvSpPr/>
          <p:nvPr/>
        </p:nvSpPr>
        <p:spPr>
          <a:xfrm>
            <a:off x="548640" y="5669279"/>
            <a:ext cx="11064240" cy="36576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态度题技巧：看转折词前后——转折对比 = 混合/中立/谨慎态度</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意图推断实战</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原文：
"It is worth noting that in 1900, the average life expectancy in Europe was just 47 years. Today, it exceeds 80."
问："Why does the author mention these statistics?"
A. To argue that medical care has improved significantly
B. To suggest that modern lifestyles are healthier than historical ones
C. To illustrate the dramatic improvement in life expectancy over a century
D. To criticise the quality of healthcare in 1900</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分析：
这段数据说什么？数字对比：47 vs 80——显示了巨大变化
A."medical care improved"→ 推断了原因，但原文只给数据，没说原因 ✗
B."lifestyles healthier"→ 无中生有 ✗
C."illustrate the dramatic improvement"→ 就是这个对比数据说明的 ✓
D."criticise healthcare"→ 原文没有批评 ✗
答案：C</a:t>
            </a:r>
          </a:p>
        </p:txBody>
      </p:sp>
      <p:sp>
        <p:nvSpPr>
          <p:cNvPr id="14" name="Rectangle 13"/>
          <p:cNvSpPr/>
          <p:nvPr/>
        </p:nvSpPr>
        <p:spPr>
          <a:xfrm>
            <a:off x="548640" y="5669279"/>
            <a:ext cx="11064240" cy="36576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意图题：作者引用数据/例子→通常是为了说明/支持某个论点</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E09A10"/>
                </a:solidFill>
                <a:latin typeface="Calibri"/>
              </a:rPr>
              <a:t>PART 03</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AWL学术词汇核心</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Academic Word List: Core Vocabulary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AWL简介</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Academic Word List Overview</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什么是AWL</a:t>
            </a:r>
          </a:p>
          <a:p>
            <a:pPr>
              <a:spcBef>
                <a:spcPts val="100"/>
              </a:spcBef>
            </a:pPr>
            <a:r>
              <a:rPr sz="1500">
                <a:solidFill>
                  <a:srgbClr val="556075"/>
                </a:solidFill>
              </a:rPr>
              <a:t>   Academic Word List——学术英语最常用的570个词族</a:t>
            </a:r>
          </a:p>
          <a:p>
            <a:pPr>
              <a:spcBef>
                <a:spcPts val="900"/>
              </a:spcBef>
            </a:pPr>
            <a:r>
              <a:rPr sz="1800" b="1">
                <a:solidFill>
                  <a:srgbClr val="1B5E33"/>
                </a:solidFill>
              </a:rPr>
              <a:t>• IELTS覆盖率</a:t>
            </a:r>
          </a:p>
          <a:p>
            <a:pPr>
              <a:spcBef>
                <a:spcPts val="100"/>
              </a:spcBef>
            </a:pPr>
            <a:r>
              <a:rPr sz="1500">
                <a:solidFill>
                  <a:srgbClr val="556075"/>
                </a:solidFill>
              </a:rPr>
              <a:t>   AWL词汇覆盖IELTS阅读约30%的词汇</a:t>
            </a:r>
          </a:p>
          <a:p>
            <a:pPr>
              <a:spcBef>
                <a:spcPts val="900"/>
              </a:spcBef>
            </a:pPr>
            <a:r>
              <a:rPr sz="1800" b="1">
                <a:solidFill>
                  <a:srgbClr val="1B5E33"/>
                </a:solidFill>
              </a:rPr>
              <a:t>• 优先级</a:t>
            </a:r>
          </a:p>
          <a:p>
            <a:pPr>
              <a:spcBef>
                <a:spcPts val="100"/>
              </a:spcBef>
            </a:pPr>
            <a:r>
              <a:rPr sz="1500">
                <a:solidFill>
                  <a:srgbClr val="556075"/>
                </a:solidFill>
              </a:rPr>
              <a:t>   学AWL比学生僻词更高效——出现频率更高</a:t>
            </a:r>
          </a:p>
          <a:p>
            <a:pPr>
              <a:spcBef>
                <a:spcPts val="900"/>
              </a:spcBef>
            </a:pPr>
            <a:r>
              <a:rPr sz="1800" b="1">
                <a:solidFill>
                  <a:srgbClr val="1B5E33"/>
                </a:solidFill>
              </a:rPr>
              <a:t>• 词族概念</a:t>
            </a:r>
          </a:p>
          <a:p>
            <a:pPr>
              <a:spcBef>
                <a:spcPts val="100"/>
              </a:spcBef>
            </a:pPr>
            <a:r>
              <a:rPr sz="1500">
                <a:solidFill>
                  <a:srgbClr val="556075"/>
                </a:solidFill>
              </a:rPr>
              <a:t>   一个词族包含所有形式：analyse/analysis/analytical/analytically</a:t>
            </a:r>
          </a:p>
          <a:p>
            <a:pPr>
              <a:spcBef>
                <a:spcPts val="900"/>
              </a:spcBef>
            </a:pPr>
            <a:r>
              <a:rPr sz="1800" b="1">
                <a:solidFill>
                  <a:srgbClr val="1B5E33"/>
                </a:solidFill>
              </a:rPr>
              <a:t>• 备考建议</a:t>
            </a:r>
          </a:p>
          <a:p>
            <a:pPr>
              <a:spcBef>
                <a:spcPts val="100"/>
              </a:spcBef>
            </a:pPr>
            <a:r>
              <a:rPr sz="1500">
                <a:solidFill>
                  <a:srgbClr val="556075"/>
                </a:solidFill>
              </a:rPr>
              <a:t>   优先掌握AWL前200高频词族——覆盖IELTS核心词汇</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AWL十大高频词族</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Top 10 AWL Word Families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analyse/analysis</a:t>
            </a:r>
          </a:p>
          <a:p>
            <a:pPr>
              <a:spcBef>
                <a:spcPts val="100"/>
              </a:spcBef>
            </a:pPr>
            <a:r>
              <a:rPr sz="1500">
                <a:solidFill>
                  <a:srgbClr val="556075"/>
                </a:solidFill>
              </a:rPr>
              <a:t>   分析——非常高频，各学科都用</a:t>
            </a:r>
          </a:p>
          <a:p>
            <a:pPr>
              <a:spcBef>
                <a:spcPts val="900"/>
              </a:spcBef>
            </a:pPr>
            <a:r>
              <a:rPr sz="1800" b="1">
                <a:solidFill>
                  <a:srgbClr val="1B5E33"/>
                </a:solidFill>
              </a:rPr>
              <a:t>• approach/approaches</a:t>
            </a:r>
          </a:p>
          <a:p>
            <a:pPr>
              <a:spcBef>
                <a:spcPts val="100"/>
              </a:spcBef>
            </a:pPr>
            <a:r>
              <a:rPr sz="1500">
                <a:solidFill>
                  <a:srgbClr val="556075"/>
                </a:solidFill>
              </a:rPr>
              <a:t>   方法，接近——比较通用</a:t>
            </a:r>
          </a:p>
          <a:p>
            <a:pPr>
              <a:spcBef>
                <a:spcPts val="900"/>
              </a:spcBef>
            </a:pPr>
            <a:r>
              <a:rPr sz="1800" b="1">
                <a:solidFill>
                  <a:srgbClr val="1B5E33"/>
                </a:solidFill>
              </a:rPr>
              <a:t>• significant/significance</a:t>
            </a:r>
          </a:p>
          <a:p>
            <a:pPr>
              <a:spcBef>
                <a:spcPts val="100"/>
              </a:spcBef>
            </a:pPr>
            <a:r>
              <a:rPr sz="1500">
                <a:solidFill>
                  <a:srgbClr val="556075"/>
                </a:solidFill>
              </a:rPr>
              <a:t>   重要的，重要性——形容研究结果常用</a:t>
            </a:r>
          </a:p>
          <a:p>
            <a:pPr>
              <a:spcBef>
                <a:spcPts val="900"/>
              </a:spcBef>
            </a:pPr>
            <a:r>
              <a:rPr sz="1800" b="1">
                <a:solidFill>
                  <a:srgbClr val="1B5E33"/>
                </a:solidFill>
              </a:rPr>
              <a:t>• establish/establishment</a:t>
            </a:r>
          </a:p>
          <a:p>
            <a:pPr>
              <a:spcBef>
                <a:spcPts val="100"/>
              </a:spcBef>
            </a:pPr>
            <a:r>
              <a:rPr sz="1500">
                <a:solidFill>
                  <a:srgbClr val="556075"/>
                </a:solidFill>
              </a:rPr>
              <a:t>   建立，确立——学术写作高频</a:t>
            </a:r>
          </a:p>
          <a:p>
            <a:pPr>
              <a:spcBef>
                <a:spcPts val="900"/>
              </a:spcBef>
            </a:pPr>
            <a:r>
              <a:rPr sz="1800" b="1">
                <a:solidFill>
                  <a:srgbClr val="1B5E33"/>
                </a:solidFill>
              </a:rPr>
              <a:t>• indicate/indication</a:t>
            </a:r>
          </a:p>
          <a:p>
            <a:pPr>
              <a:spcBef>
                <a:spcPts val="100"/>
              </a:spcBef>
            </a:pPr>
            <a:r>
              <a:rPr sz="1500">
                <a:solidFill>
                  <a:srgbClr val="556075"/>
                </a:solidFill>
              </a:rPr>
              <a:t>   表明，指示——用于描述研究/数据</a:t>
            </a:r>
          </a:p>
          <a:p>
            <a:pPr>
              <a:spcBef>
                <a:spcPts val="900"/>
              </a:spcBef>
            </a:pPr>
            <a:r>
              <a:rPr sz="1800" b="1">
                <a:solidFill>
                  <a:srgbClr val="1B5E33"/>
                </a:solidFill>
              </a:rPr>
              <a:t>• process/processed</a:t>
            </a:r>
          </a:p>
          <a:p>
            <a:pPr>
              <a:spcBef>
                <a:spcPts val="100"/>
              </a:spcBef>
            </a:pPr>
            <a:r>
              <a:rPr sz="1500">
                <a:solidFill>
                  <a:srgbClr val="556075"/>
                </a:solidFill>
              </a:rPr>
              <a:t>   过程，处理——极高频基础词</a:t>
            </a:r>
          </a:p>
          <a:p>
            <a:pPr>
              <a:spcBef>
                <a:spcPts val="900"/>
              </a:spcBef>
            </a:pPr>
            <a:r>
              <a:rPr sz="1800" b="1">
                <a:solidFill>
                  <a:srgbClr val="1B5E33"/>
                </a:solidFill>
              </a:rPr>
              <a:t>• require/requirement</a:t>
            </a:r>
          </a:p>
          <a:p>
            <a:pPr>
              <a:spcBef>
                <a:spcPts val="100"/>
              </a:spcBef>
            </a:pPr>
            <a:r>
              <a:rPr sz="1500">
                <a:solidFill>
                  <a:srgbClr val="556075"/>
                </a:solidFill>
              </a:rPr>
              <a:t>   需要，要求——考试高频词</a:t>
            </a:r>
          </a:p>
          <a:p>
            <a:pPr>
              <a:spcBef>
                <a:spcPts val="900"/>
              </a:spcBef>
            </a:pPr>
            <a:r>
              <a:rPr sz="1800" b="1">
                <a:solidFill>
                  <a:srgbClr val="1B5E33"/>
                </a:solidFill>
              </a:rPr>
              <a:t>• research/researcher</a:t>
            </a:r>
          </a:p>
          <a:p>
            <a:pPr>
              <a:spcBef>
                <a:spcPts val="100"/>
              </a:spcBef>
            </a:pPr>
            <a:r>
              <a:rPr sz="1500">
                <a:solidFill>
                  <a:srgbClr val="556075"/>
                </a:solidFill>
              </a:rPr>
              <a:t>   研究，研究员——学术文章基础词</a:t>
            </a:r>
          </a:p>
          <a:p>
            <a:pPr>
              <a:spcBef>
                <a:spcPts val="900"/>
              </a:spcBef>
            </a:pPr>
            <a:r>
              <a:rPr sz="1800" b="1">
                <a:solidFill>
                  <a:srgbClr val="1B5E33"/>
                </a:solidFill>
              </a:rPr>
              <a:t>• concept/conceptual</a:t>
            </a:r>
          </a:p>
          <a:p>
            <a:pPr>
              <a:spcBef>
                <a:spcPts val="100"/>
              </a:spcBef>
            </a:pPr>
            <a:r>
              <a:rPr sz="1500">
                <a:solidFill>
                  <a:srgbClr val="556075"/>
                </a:solidFill>
              </a:rPr>
              <a:t>   概念，概念上的——学术思维词汇</a:t>
            </a:r>
          </a:p>
          <a:p>
            <a:pPr>
              <a:spcBef>
                <a:spcPts val="900"/>
              </a:spcBef>
            </a:pPr>
            <a:r>
              <a:rPr sz="1800" b="1">
                <a:solidFill>
                  <a:srgbClr val="1B5E33"/>
                </a:solidFill>
              </a:rPr>
              <a:t>• vary/variation/various</a:t>
            </a:r>
          </a:p>
          <a:p>
            <a:pPr>
              <a:spcBef>
                <a:spcPts val="100"/>
              </a:spcBef>
            </a:pPr>
            <a:r>
              <a:rPr sz="1500">
                <a:solidFill>
                  <a:srgbClr val="556075"/>
                </a:solidFill>
              </a:rPr>
              <a:t>   变化，变化，各种的——数据描述高频</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AWL词汇语境理解训练</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在IELTS文章中识别AWL词汇：
原文："Researchers have established that the concept of neuroplasticity requires a fundamental reassessment of how we approach brain injury treatment. Various studies indicate that significant variation in recovery rates can be attributed to the process of neural regeneration."
找出AWL词汇：
established / concept / requires / approach / various / indicate / significant / variation / process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AWL词汇替换识别</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AWL词汇在IELTS中的同义替换规律：
AWL词 → 可能替换为的普通词：
establish → create/set up/found
indicate → show/suggest/prove/demonstrate
require → need/demand/necessitate
approach → method/way/technique
significant → important/major/considerable
process → procedure/system/method
vary/various → different/diverse/range of
analysis → study/examination/investigation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AWL实战识别练习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在以下句子中：
1.找出AWL词汇
2.猜测生词意思
句子1："The findings indicate a significant correlation between urban density and public health outcomes."
句子2："Researchers analysed data from various sources to establish patterns in consumer behaviour."</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分析：
句子1 AWL词：indicate（表明）/ significant（重要的/显著的）/ correlation（相关性）
生词：correlation → 看上下文"between X and Y"→ 两者之间的关系/相关性
句子2 AWL词：analysed（分析）/ various（各种各样的）/ establish（确立/找到）
整体意思：研究人员分析多来源数据，以找出消费者行为模式</a:t>
            </a:r>
          </a:p>
        </p:txBody>
      </p:sp>
      <p:sp>
        <p:nvSpPr>
          <p:cNvPr id="14" name="Rectangle 13"/>
          <p:cNvSpPr/>
          <p:nvPr/>
        </p:nvSpPr>
        <p:spPr>
          <a:xfrm>
            <a:off x="548640" y="5669279"/>
            <a:ext cx="11064240" cy="36576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AWL词汇有规律：名词/动词/形容词/副词形式——认识一个形式，其他形式也能猜</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推断题+词汇题联合练习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原文：
"The introduction of microplastics into the food chain through contaminated seafood represents an insidious threat—one that is not immediately apparent but accumulates over time, with potentially serious consequences for human health."
题1（词义）："insidious"最接近的含义：
题2（推断）：作者对微塑料问题的态度是：</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答案：
题1：insidious → "not immediately apparent but accumulates over time"= 定义解释
→ 意思：harmful in a gradual, hidden way（隐匿的/潜伏的） = B类：定义线索法
题2："represents a threat...potentially serious consequences"→ 担忧/警惕态度
态度：concerned/alarmed（担忧的）</a:t>
            </a:r>
          </a:p>
        </p:txBody>
      </p:sp>
      <p:sp>
        <p:nvSpPr>
          <p:cNvPr id="14" name="Rectangle 13"/>
          <p:cNvSpPr/>
          <p:nvPr/>
        </p:nvSpPr>
        <p:spPr>
          <a:xfrm>
            <a:off x="548640" y="5669279"/>
            <a:ext cx="11064240" cy="36576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词义题+推断题经常在同一段出现——一次精读解决两道题</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E09A10"/>
                </a:solidFill>
                <a:latin typeface="Calibri"/>
              </a:rPr>
              <a:t>PART 04</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高频词汇专项突破</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High-Frequency Vocabulary Mastery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IELTS阅读高频词汇分类</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IELTS Reading Vocabulary Categories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学科类词汇</a:t>
            </a:r>
          </a:p>
          <a:p>
            <a:pPr>
              <a:spcBef>
                <a:spcPts val="100"/>
              </a:spcBef>
            </a:pPr>
            <a:r>
              <a:rPr sz="1500">
                <a:solidFill>
                  <a:srgbClr val="556075"/>
                </a:solidFill>
              </a:rPr>
              <a:t>   Science/Economics/History/Environment——各领域专词</a:t>
            </a:r>
          </a:p>
          <a:p>
            <a:pPr>
              <a:spcBef>
                <a:spcPts val="900"/>
              </a:spcBef>
            </a:pPr>
            <a:r>
              <a:rPr sz="1800" b="1">
                <a:solidFill>
                  <a:srgbClr val="1B5E33"/>
                </a:solidFill>
              </a:rPr>
              <a:t>• 学术动词</a:t>
            </a:r>
          </a:p>
          <a:p>
            <a:pPr>
              <a:spcBef>
                <a:spcPts val="100"/>
              </a:spcBef>
            </a:pPr>
            <a:r>
              <a:rPr sz="1500">
                <a:solidFill>
                  <a:srgbClr val="556075"/>
                </a:solidFill>
              </a:rPr>
              <a:t>   analyse/evaluate/demonstrate/investigate/reveal</a:t>
            </a:r>
          </a:p>
          <a:p>
            <a:pPr>
              <a:spcBef>
                <a:spcPts val="900"/>
              </a:spcBef>
            </a:pPr>
            <a:r>
              <a:rPr sz="1800" b="1">
                <a:solidFill>
                  <a:srgbClr val="1B5E33"/>
                </a:solidFill>
              </a:rPr>
              <a:t>• 描述变化</a:t>
            </a:r>
          </a:p>
          <a:p>
            <a:pPr>
              <a:spcBef>
                <a:spcPts val="100"/>
              </a:spcBef>
            </a:pPr>
            <a:r>
              <a:rPr sz="1500">
                <a:solidFill>
                  <a:srgbClr val="556075"/>
                </a:solidFill>
              </a:rPr>
              <a:t>   increase/decrease/fluctuate/stabilise/peak/plateau</a:t>
            </a:r>
          </a:p>
          <a:p>
            <a:pPr>
              <a:spcBef>
                <a:spcPts val="900"/>
              </a:spcBef>
            </a:pPr>
            <a:r>
              <a:rPr sz="1800" b="1">
                <a:solidFill>
                  <a:srgbClr val="1B5E33"/>
                </a:solidFill>
              </a:rPr>
              <a:t>• 对比转折</a:t>
            </a:r>
          </a:p>
          <a:p>
            <a:pPr>
              <a:spcBef>
                <a:spcPts val="100"/>
              </a:spcBef>
            </a:pPr>
            <a:r>
              <a:rPr sz="1500">
                <a:solidFill>
                  <a:srgbClr val="556075"/>
                </a:solidFill>
              </a:rPr>
              <a:t>   however/despite/whereas/in contrast/on the other hand</a:t>
            </a:r>
          </a:p>
          <a:p>
            <a:pPr>
              <a:spcBef>
                <a:spcPts val="900"/>
              </a:spcBef>
            </a:pPr>
            <a:r>
              <a:rPr sz="1800" b="1">
                <a:solidFill>
                  <a:srgbClr val="1B5E33"/>
                </a:solidFill>
              </a:rPr>
              <a:t>• 因果关系</a:t>
            </a:r>
          </a:p>
          <a:p>
            <a:pPr>
              <a:spcBef>
                <a:spcPts val="100"/>
              </a:spcBef>
            </a:pPr>
            <a:r>
              <a:rPr sz="1500">
                <a:solidFill>
                  <a:srgbClr val="556075"/>
                </a:solidFill>
              </a:rPr>
              <a:t>   lead to/result in/cause/due to/as a consequence</a:t>
            </a:r>
          </a:p>
          <a:p>
            <a:pPr>
              <a:spcBef>
                <a:spcPts val="900"/>
              </a:spcBef>
            </a:pPr>
            <a:r>
              <a:rPr sz="1800" b="1">
                <a:solidFill>
                  <a:srgbClr val="1B5E33"/>
                </a:solidFill>
              </a:rPr>
              <a:t>• 程度副词</a:t>
            </a:r>
          </a:p>
          <a:p>
            <a:pPr>
              <a:spcBef>
                <a:spcPts val="100"/>
              </a:spcBef>
            </a:pPr>
            <a:r>
              <a:rPr sz="1500">
                <a:solidFill>
                  <a:srgbClr val="556075"/>
                </a:solidFill>
              </a:rPr>
              <a:t>   significantly/substantially/gradually/considerably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深圳学生词汇弱点分析</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Vocabulary Weaknesses for Shenzhen Students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问题1</a:t>
            </a:r>
          </a:p>
          <a:p>
            <a:pPr>
              <a:spcBef>
                <a:spcPts val="100"/>
              </a:spcBef>
            </a:pPr>
            <a:r>
              <a:rPr sz="1500">
                <a:solidFill>
                  <a:srgbClr val="556075"/>
                </a:solidFill>
              </a:rPr>
              <a:t>   认识单词但不认识词族——analyse知道，analytical不认识</a:t>
            </a:r>
          </a:p>
          <a:p>
            <a:pPr>
              <a:spcBef>
                <a:spcPts val="900"/>
              </a:spcBef>
            </a:pPr>
            <a:r>
              <a:rPr sz="1800" b="1">
                <a:solidFill>
                  <a:srgbClr val="1B5E33"/>
                </a:solidFill>
              </a:rPr>
              <a:t>• 问题2</a:t>
            </a:r>
          </a:p>
          <a:p>
            <a:pPr>
              <a:spcBef>
                <a:spcPts val="100"/>
              </a:spcBef>
            </a:pPr>
            <a:r>
              <a:rPr sz="1500">
                <a:solidFill>
                  <a:srgbClr val="556075"/>
                </a:solidFill>
              </a:rPr>
              <a:t>   认识单词但不知在语境中意思——"address"=address/解决/处理</a:t>
            </a:r>
          </a:p>
          <a:p>
            <a:pPr>
              <a:spcBef>
                <a:spcPts val="900"/>
              </a:spcBef>
            </a:pPr>
            <a:r>
              <a:rPr sz="1800" b="1">
                <a:solidFill>
                  <a:srgbClr val="1B5E33"/>
                </a:solidFill>
              </a:rPr>
              <a:t>• 问题3</a:t>
            </a:r>
          </a:p>
          <a:p>
            <a:pPr>
              <a:spcBef>
                <a:spcPts val="100"/>
              </a:spcBef>
            </a:pPr>
            <a:r>
              <a:rPr sz="1500">
                <a:solidFill>
                  <a:srgbClr val="556075"/>
                </a:solidFill>
              </a:rPr>
              <a:t>   同义词判断失误——similar和identical在题目中意思不同</a:t>
            </a:r>
          </a:p>
          <a:p>
            <a:pPr>
              <a:spcBef>
                <a:spcPts val="900"/>
              </a:spcBef>
            </a:pPr>
            <a:r>
              <a:rPr sz="1800" b="1">
                <a:solidFill>
                  <a:srgbClr val="1B5E33"/>
                </a:solidFill>
              </a:rPr>
              <a:t>• 问题4</a:t>
            </a:r>
          </a:p>
          <a:p>
            <a:pPr>
              <a:spcBef>
                <a:spcPts val="100"/>
              </a:spcBef>
            </a:pPr>
            <a:r>
              <a:rPr sz="1500">
                <a:solidFill>
                  <a:srgbClr val="556075"/>
                </a:solidFill>
              </a:rPr>
              <a:t>   熟词僻义——familiar words with unusual meanings</a:t>
            </a:r>
          </a:p>
          <a:p>
            <a:pPr>
              <a:spcBef>
                <a:spcPts val="900"/>
              </a:spcBef>
            </a:pPr>
            <a:r>
              <a:rPr sz="1800" b="1">
                <a:solidFill>
                  <a:srgbClr val="1B5E33"/>
                </a:solidFill>
              </a:rPr>
              <a:t>• 解决方法</a:t>
            </a:r>
          </a:p>
          <a:p>
            <a:pPr>
              <a:spcBef>
                <a:spcPts val="100"/>
              </a:spcBef>
            </a:pPr>
            <a:r>
              <a:rPr sz="1500">
                <a:solidFill>
                  <a:srgbClr val="556075"/>
                </a:solidFill>
              </a:rPr>
              <a:t>   学词族+在语境中记词——不背孤立单词</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熟词僻义专项</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IELTS中常见的熟词僻义：
1. address：a.地址（常见）→ b.解决/处理问题（IELTS高频！）
"The government needs to address the housing crisis."
2. appreciate：a.感谢（常见）→ b.理解/认识到（学术文章常见）
"We must appreciate the complexity of the issue."
3. reflect：a.反射（常见）→ b.反映/体现
"These statistics reflect a growing trend."
4. check：a.检查（常见）→ b.阻止/抑制
"Regulations were introduced to check the spread of disease."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词汇语境判断练习</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在语境中判断词义：
1. "Scientists are working to isolate the gene responsible for this condition."
isolate = ?
2. "The paper challenged the conventional view on climate change."
challenged = ?
3. "Participants were drawn from a representative sample of the population."
drawn = ?
答案：
1. isolate = 分离/隔离（不是"孤立"的常见意思）
2. challenged = 质疑/挑战（不只是"挑战比赛"）
3. drawn = 选取/抽取（不是"画"）</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词汇语境判断实战</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以下句子中，划线词的意思是？
1."The author's argument rests on several questionable assumptions."
(rest on = ?)
2."Urban sprawl has consumed vast areas of once-productive farmland."
(sprawl = ?)
3."The new policy was met with considerable resistance from industry."
(met with = ?)</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分析：
1. rest on：不是"休息在"——语境：argument rests on assumptions
→ rests on = 依赖于/基于（based on/relies on）
2. sprawl：城市+sprawl+消耗农田
→ sprawl = 无序扩张/蔓延（uncontrolled expansion）
3. met with：policy + met with + resistance
→ met with = 遭遇/受到（encountered/received）</a:t>
            </a:r>
          </a:p>
        </p:txBody>
      </p:sp>
      <p:sp>
        <p:nvSpPr>
          <p:cNvPr id="14" name="Rectangle 13"/>
          <p:cNvSpPr/>
          <p:nvPr/>
        </p:nvSpPr>
        <p:spPr>
          <a:xfrm>
            <a:off x="548640" y="5669279"/>
            <a:ext cx="11064240" cy="36576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语境猜词：把句子其他部分读懂→生词的意思自然浮现</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高频词汇语境辨析</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辨析容易混淆的高频词：
1. affect vs effect
原文："Climate change affects local ecosystems."
effect(n.): "The effects of climate change are visible."
2. imply vs infer
"The author implies that...（作者暗示）"
"We can infer from the text...（我们可以推断）"
3. suggest vs prove
Suggest：较弱（暗示/提示）→ 研究暗示
Prove：较强（证明）→ 确凿证据证明
注意：IELTS推断题选项：prove→往往过于确定→谨慎选</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2194560"/>
          </a:xfrm>
          <a:prstGeom prst="rect">
            <a:avLst/>
          </a:prstGeom>
          <a:noFill/>
        </p:spPr>
        <p:txBody>
          <a:bodyPr wrap="square">
            <a:spAutoFit/>
          </a:bodyPr>
          <a:lstStyle/>
          <a:p>
            <a:r>
              <a:rPr sz="1400">
                <a:solidFill>
                  <a:srgbClr val="1B7A3D"/>
                </a:solidFill>
              </a:rPr>
              <a:t>suggest vs prove区别：IELTS选项如果用prove，通常是过度说法→谨慎</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E09A10"/>
                </a:solidFill>
                <a:latin typeface="Calibri"/>
              </a:rPr>
              <a:t>PART 05</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词汇推断综合实战</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Vocabulary &amp; Inference: Full Practice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综合做题策略</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Combined Strategy for Vocab &amp; Inference</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词汇题步骤</a:t>
            </a:r>
          </a:p>
          <a:p>
            <a:pPr>
              <a:spcBef>
                <a:spcPts val="100"/>
              </a:spcBef>
            </a:pPr>
            <a:r>
              <a:rPr sz="1500">
                <a:solidFill>
                  <a:srgbClr val="556075"/>
                </a:solidFill>
              </a:rPr>
              <a:t>   找词→读含该词的完整句→用语境猜→对照选项选最接近的</a:t>
            </a:r>
          </a:p>
          <a:p>
            <a:pPr>
              <a:spcBef>
                <a:spcPts val="900"/>
              </a:spcBef>
            </a:pPr>
            <a:r>
              <a:rPr sz="1800" b="1">
                <a:solidFill>
                  <a:srgbClr val="1B5E33"/>
                </a:solidFill>
              </a:rPr>
              <a:t>• 推断题步骤</a:t>
            </a:r>
          </a:p>
          <a:p>
            <a:pPr>
              <a:spcBef>
                <a:spcPts val="100"/>
              </a:spcBef>
            </a:pPr>
            <a:r>
              <a:rPr sz="1500">
                <a:solidFill>
                  <a:srgbClr val="556075"/>
                </a:solidFill>
              </a:rPr>
              <a:t>   找相关段→精读→找原文支撑→选有原文基础的推断</a:t>
            </a:r>
          </a:p>
          <a:p>
            <a:pPr>
              <a:spcBef>
                <a:spcPts val="900"/>
              </a:spcBef>
            </a:pPr>
            <a:r>
              <a:rPr sz="1800" b="1">
                <a:solidFill>
                  <a:srgbClr val="1B5E33"/>
                </a:solidFill>
              </a:rPr>
              <a:t>• 先易后难</a:t>
            </a:r>
          </a:p>
          <a:p>
            <a:pPr>
              <a:spcBef>
                <a:spcPts val="100"/>
              </a:spcBef>
            </a:pPr>
            <a:r>
              <a:rPr sz="1500">
                <a:solidFill>
                  <a:srgbClr val="556075"/>
                </a:solidFill>
              </a:rPr>
              <a:t>   跳过不确定的词义/推断→做其他题→回来用排除法</a:t>
            </a:r>
          </a:p>
          <a:p>
            <a:pPr>
              <a:spcBef>
                <a:spcPts val="900"/>
              </a:spcBef>
            </a:pPr>
            <a:r>
              <a:rPr sz="1800" b="1">
                <a:solidFill>
                  <a:srgbClr val="1B5E33"/>
                </a:solidFill>
              </a:rPr>
              <a:t>• 时间分配</a:t>
            </a:r>
          </a:p>
          <a:p>
            <a:pPr>
              <a:spcBef>
                <a:spcPts val="100"/>
              </a:spcBef>
            </a:pPr>
            <a:r>
              <a:rPr sz="1500">
                <a:solidFill>
                  <a:srgbClr val="556075"/>
                </a:solidFill>
              </a:rPr>
              <a:t>   词义题30-45秒/题；推断题45-60秒/题</a:t>
            </a:r>
          </a:p>
          <a:p>
            <a:pPr>
              <a:spcBef>
                <a:spcPts val="900"/>
              </a:spcBef>
            </a:pPr>
            <a:r>
              <a:rPr sz="1800" b="1">
                <a:solidFill>
                  <a:srgbClr val="1B5E33"/>
                </a:solidFill>
              </a:rPr>
              <a:t>• 准确率提升</a:t>
            </a:r>
          </a:p>
          <a:p>
            <a:pPr>
              <a:spcBef>
                <a:spcPts val="100"/>
              </a:spcBef>
            </a:pPr>
            <a:r>
              <a:rPr sz="1500">
                <a:solidFill>
                  <a:srgbClr val="556075"/>
                </a:solidFill>
              </a:rPr>
              <a:t>   词义题：认识同义词 / 推断题：有原文支撑才选</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深圳学生提分关键</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Key Improvement Points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词汇量提升</a:t>
            </a:r>
          </a:p>
          <a:p>
            <a:pPr>
              <a:spcBef>
                <a:spcPts val="100"/>
              </a:spcBef>
            </a:pPr>
            <a:r>
              <a:rPr sz="1500">
                <a:solidFill>
                  <a:srgbClr val="556075"/>
                </a:solidFill>
              </a:rPr>
              <a:t>   每天学10个AWL词族——3个月积累300个核心词</a:t>
            </a:r>
          </a:p>
          <a:p>
            <a:pPr>
              <a:spcBef>
                <a:spcPts val="900"/>
              </a:spcBef>
            </a:pPr>
            <a:r>
              <a:rPr sz="1800" b="1">
                <a:solidFill>
                  <a:srgbClr val="1B5E33"/>
                </a:solidFill>
              </a:rPr>
              <a:t>• 语境记忆</a:t>
            </a:r>
          </a:p>
          <a:p>
            <a:pPr>
              <a:spcBef>
                <a:spcPts val="100"/>
              </a:spcBef>
            </a:pPr>
            <a:r>
              <a:rPr sz="1500">
                <a:solidFill>
                  <a:srgbClr val="556075"/>
                </a:solidFill>
              </a:rPr>
              <a:t>   在句子/段落中记词——不背孤立单词</a:t>
            </a:r>
          </a:p>
          <a:p>
            <a:pPr>
              <a:spcBef>
                <a:spcPts val="900"/>
              </a:spcBef>
            </a:pPr>
            <a:r>
              <a:rPr sz="1800" b="1">
                <a:solidFill>
                  <a:srgbClr val="1B5E33"/>
                </a:solidFill>
              </a:rPr>
              <a:t>• 推断练习</a:t>
            </a:r>
          </a:p>
          <a:p>
            <a:pPr>
              <a:spcBef>
                <a:spcPts val="100"/>
              </a:spcBef>
            </a:pPr>
            <a:r>
              <a:rPr sz="1500">
                <a:solidFill>
                  <a:srgbClr val="556075"/>
                </a:solidFill>
              </a:rPr>
              <a:t>   每天做2道推断题——建立"有支撑才推断"的习惯</a:t>
            </a:r>
          </a:p>
          <a:p>
            <a:pPr>
              <a:spcBef>
                <a:spcPts val="900"/>
              </a:spcBef>
            </a:pPr>
            <a:r>
              <a:rPr sz="1800" b="1">
                <a:solidFill>
                  <a:srgbClr val="1B5E33"/>
                </a:solidFill>
              </a:rPr>
              <a:t>• 错题分析</a:t>
            </a:r>
          </a:p>
          <a:p>
            <a:pPr>
              <a:spcBef>
                <a:spcPts val="100"/>
              </a:spcBef>
            </a:pPr>
            <a:r>
              <a:rPr sz="1500">
                <a:solidFill>
                  <a:srgbClr val="556075"/>
                </a:solidFill>
              </a:rPr>
              <a:t>   推断题错了→找原文支撑句→理解为什么这个推断合理</a:t>
            </a:r>
          </a:p>
          <a:p>
            <a:pPr>
              <a:spcBef>
                <a:spcPts val="900"/>
              </a:spcBef>
            </a:pPr>
            <a:r>
              <a:rPr sz="1800" b="1">
                <a:solidFill>
                  <a:srgbClr val="1B5E33"/>
                </a:solidFill>
              </a:rPr>
              <a:t>• 词义题积累</a:t>
            </a:r>
          </a:p>
          <a:p>
            <a:pPr>
              <a:spcBef>
                <a:spcPts val="100"/>
              </a:spcBef>
            </a:pPr>
            <a:r>
              <a:rPr sz="1500">
                <a:solidFill>
                  <a:srgbClr val="556075"/>
                </a:solidFill>
              </a:rPr>
              <a:t>   整理"熟词僻义"表——address/reflect/check等</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综合备考重点回顾</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词义题：语境猜词3法——同义/反义线索→定义解释→逻辑推断</a:t>
            </a:r>
          </a:p>
          <a:p>
            <a:pPr>
              <a:spcBef>
                <a:spcPts val="1000"/>
              </a:spcBef>
            </a:pPr>
            <a:r>
              <a:rPr sz="1650">
                <a:solidFill>
                  <a:srgbClr val="1E293B"/>
                </a:solidFill>
              </a:rPr>
              <a:t>• 推断题：有原文支撑才选——排除极端词/超出范围/无中生有</a:t>
            </a:r>
          </a:p>
          <a:p>
            <a:pPr>
              <a:spcBef>
                <a:spcPts val="1000"/>
              </a:spcBef>
            </a:pPr>
            <a:r>
              <a:rPr sz="1650">
                <a:solidFill>
                  <a:srgbClr val="1E293B"/>
                </a:solidFill>
              </a:rPr>
              <a:t>• AWL词汇：词族学习（4种词性）——认识analyse就认识analysis/analytical</a:t>
            </a:r>
          </a:p>
          <a:p>
            <a:pPr>
              <a:spcBef>
                <a:spcPts val="1000"/>
              </a:spcBef>
            </a:pPr>
            <a:r>
              <a:rPr sz="1650">
                <a:solidFill>
                  <a:srgbClr val="1E293B"/>
                </a:solidFill>
              </a:rPr>
              <a:t>• 联合策略：词义+推断在同段时→一次精读两题都解决</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深圳学生综合提分行动计划</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行动1：每天10个AWL词族（含例句）——3个月300词族打底</a:t>
            </a:r>
          </a:p>
          <a:p>
            <a:pPr>
              <a:spcBef>
                <a:spcPts val="1000"/>
              </a:spcBef>
            </a:pPr>
            <a:r>
              <a:rPr sz="1650">
                <a:solidFill>
                  <a:srgbClr val="1E293B"/>
                </a:solidFill>
              </a:rPr>
              <a:t>• 行动2：每天2道推断题，标出原文支撑句——培养有依据推断的习惯</a:t>
            </a:r>
          </a:p>
          <a:p>
            <a:pPr>
              <a:spcBef>
                <a:spcPts val="1000"/>
              </a:spcBef>
            </a:pPr>
            <a:r>
              <a:rPr sz="1650">
                <a:solidFill>
                  <a:srgbClr val="1E293B"/>
                </a:solidFill>
              </a:rPr>
              <a:t>• 行动3：建立"熟词僻义"笔记：address/reflect/check/draw/rest/present</a:t>
            </a:r>
          </a:p>
          <a:p>
            <a:pPr>
              <a:spcBef>
                <a:spcPts val="1000"/>
              </a:spcBef>
            </a:pPr>
            <a:r>
              <a:rPr sz="1650">
                <a:solidFill>
                  <a:srgbClr val="1E293B"/>
                </a:solidFill>
              </a:rPr>
              <a:t>• 行动4：做完每道词义题后，查原文确认语境——加深语境记忆</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综合实战：词义+推断联合题组</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原文：
"The proliferation of fast food outlets in urban areas has had a profound impact on dietary habits. While convenient and affordable, these establishments offer predominantly calorie-dense foods with minimal nutritional value. Public health experts argue that this shift in consumption patterns is intrinsically linked to the rising prevalence of obesity and diet-related diseases."
题1（词义）："proliferation" in paragraph 1 is closest in meaning to:
A.restriction B.rapid spread C.improvement D.regulation
题2（推断）：What can be inferred about fast food?
A.It will be banned in urban areas
B.It is the only cause of obesity
C.Its convenience comes with health costs
D.Public health experts recommend it</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答案：
题1：proliferation
语境："proliferation of fast food outlets"→ 快餐店的___
之后说"profound impact"→ 影响很大 → 数量/范围上的扩展
答案：B（rapid spread）
题2推断：
快餐：convenient/affordable ✓ BUT calorie-dense/minimal nutrition
→ 便利有代价（健康影响）→ C ✓
A"will be banned"→无中生有 ✗ B"only cause"→原文没说 ✗ D"experts recommend"→相反 ✗
答案：C</a:t>
            </a:r>
          </a:p>
        </p:txBody>
      </p:sp>
      <p:sp>
        <p:nvSpPr>
          <p:cNvPr id="14" name="Rectangle 13"/>
          <p:cNvSpPr/>
          <p:nvPr/>
        </p:nvSpPr>
        <p:spPr>
          <a:xfrm>
            <a:off x="548640" y="5669279"/>
            <a:ext cx="11064240" cy="36576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联合做题：一次精读可解决同段的词义题+推断题——效率最高</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推断链练习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建立推断链：
原文："Investment in renewable energy reached a record high of $500 billion globally last year, while fossil fuel investment declined for the third consecutive year."
推断链：
原文事实：可再生能源投资创新高+化石燃料投资连续3年下降
→ 合理推断1：The energy sector is transitioning away from fossil fuels
→ 合理推断2：Renewable energy is attracting more financial interest
→ 过度推断（❌）：Fossil fuels will be completely replaced within 5 years</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2194560"/>
          </a:xfrm>
          <a:prstGeom prst="rect">
            <a:avLst/>
          </a:prstGeom>
          <a:noFill/>
        </p:spPr>
        <p:txBody>
          <a:bodyPr wrap="square">
            <a:spAutoFit/>
          </a:bodyPr>
          <a:lstStyle/>
          <a:p>
            <a:r>
              <a:rPr sz="1400">
                <a:solidFill>
                  <a:srgbClr val="1B7A3D"/>
                </a:solidFill>
              </a:rPr>
              <a:t>推断边界：基于原文数据/事实→逻辑推出，但不超出原文明确说的范围</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词义题高分示范：3步法</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84048"/>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题目：原文段落：
"The advent of smartphones has fundamentally altered communication paradigms. Unlike previous technologies that merely expedited existing forms of communication, smartphones have engendered entirely new modes of social interaction, from real-time video calls to ephemeral messaging applications."
词义题：The word "ephemeral" in the passage most nearly means:
A. international B. short-lived C. expensive D. innovative</a:t>
            </a:r>
          </a:p>
        </p:txBody>
      </p:sp>
      <p:sp>
        <p:nvSpPr>
          <p:cNvPr id="10" name="Rounded Rectangle 9"/>
          <p:cNvSpPr/>
          <p:nvPr/>
        </p:nvSpPr>
        <p:spPr>
          <a:xfrm>
            <a:off x="548640" y="1783080"/>
            <a:ext cx="7040880" cy="416052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3步法：
步骤1：找词在原文中的位置——"ephemeral messaging applications"
步骤2：用语境推断——"messaging applications"是一种app；前文讲new modes
步骤3：有没有线索？看上下文——没有直接线索，但语境分析：
ephem- 类似希腊词根ephem=一天/短暂 → 或用逻辑：messaging app消失？
联系已知：SnapChat等app的消息会消失 → ephemeral = disappearing/short-lived
答案：B（short-lived）</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E09A10"/>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词根线索：ephem- 来自希腊语"一天"→短暂的</a:t>
            </a:r>
          </a:p>
          <a:p>
            <a:pPr>
              <a:spcBef>
                <a:spcPts val="700"/>
              </a:spcBef>
            </a:pPr>
            <a:r>
              <a:rPr sz="1200">
                <a:solidFill>
                  <a:srgbClr val="1E293B"/>
                </a:solidFill>
              </a:rPr>
              <a:t>▸ 语境联系：messaging apps中的ephemeral联系SnapChat等知名app</a:t>
            </a:r>
          </a:p>
          <a:p>
            <a:pPr>
              <a:spcBef>
                <a:spcPts val="700"/>
              </a:spcBef>
            </a:pPr>
            <a:r>
              <a:rPr sz="1200">
                <a:solidFill>
                  <a:srgbClr val="1E293B"/>
                </a:solidFill>
              </a:rPr>
              <a:t>▸ 排除法：A(international)/C(expensive)/D(innovative)都与"messaging"无直接关联</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推断题高分示范：态度推断</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84048"/>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题目：原文：
"Despite numerous government initiatives to improve air quality in major cities, pollution levels remain stubbornly high. Ambitious targets set a decade ago have been largely missed, and citizens in many urban areas continue to breathe air that falls below international health standards. One might question whether policymakers are genuinely committed to solving this problem."
推断题："What is the author's attitude towards government efforts to improve air quality?"
A. Strongly supportive of recent government initiatives
B. Sceptical about the effectiveness and commitment of policymakers
C. Neutral and simply reporting facts about air pollution
D. Optimistic that targets will be achieved in the near future</a:t>
            </a:r>
          </a:p>
        </p:txBody>
      </p:sp>
      <p:sp>
        <p:nvSpPr>
          <p:cNvPr id="10" name="Rounded Rectangle 9"/>
          <p:cNvSpPr/>
          <p:nvPr/>
        </p:nvSpPr>
        <p:spPr>
          <a:xfrm>
            <a:off x="548640" y="1783080"/>
            <a:ext cx="7040880" cy="416052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态度分析：
"Despite...remain stubbornly high"→ 政府努力了，但没成效（负面评价语气）
"largely missed"→ 批评性词汇
"One might question whether genuinely committed"→ 直接质疑诚意
综合：批评/质疑政府在污染问题上的效果和诚意
A"strongly supportive"→ 与语气相反 ✗
B"sceptical"→ 质疑 = 文章语气 ✓
C"neutral"→ 文章有明显批评立场，非中立 ✗
D"optimistic"→ 没有乐观信号 ✗
答案：B</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E09A10"/>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态度词识别：stubbornly/largely missed/One might question→批评性语气</a:t>
            </a:r>
          </a:p>
          <a:p>
            <a:pPr>
              <a:spcBef>
                <a:spcPts val="700"/>
              </a:spcBef>
            </a:pPr>
            <a:r>
              <a:rPr sz="1200">
                <a:solidFill>
                  <a:srgbClr val="1E293B"/>
                </a:solidFill>
              </a:rPr>
              <a:t>▸ 态度题三步：找立场词→判断正面/负面/中立→选最匹配的</a:t>
            </a:r>
          </a:p>
          <a:p>
            <a:pPr>
              <a:spcBef>
                <a:spcPts val="700"/>
              </a:spcBef>
            </a:pPr>
            <a:r>
              <a:rPr sz="1200">
                <a:solidFill>
                  <a:srgbClr val="1E293B"/>
                </a:solidFill>
              </a:rPr>
              <a:t>▸ 关键：作者没有说"应该放弃"——只是质疑效果→sceptical最准</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语境猜词：3种方法对比</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方法1：同义/反义线索</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方法2+3：定义线索/逻辑推断</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信号词：or/like/unlike/but/however/similar to</a:t>
            </a:r>
          </a:p>
          <a:p>
            <a:pPr>
              <a:spcBef>
                <a:spcPts val="700"/>
              </a:spcBef>
            </a:pPr>
            <a:r>
              <a:rPr sz="1350">
                <a:solidFill>
                  <a:srgbClr val="C02A2A"/>
                </a:solidFill>
              </a:rPr>
              <a:t>✗ 操作：找信号词→找配对词→推断意思</a:t>
            </a:r>
          </a:p>
          <a:p>
            <a:pPr>
              <a:spcBef>
                <a:spcPts val="700"/>
              </a:spcBef>
            </a:pPr>
            <a:r>
              <a:rPr sz="1350">
                <a:solidFill>
                  <a:srgbClr val="C02A2A"/>
                </a:solidFill>
              </a:rPr>
              <a:t>✗ 例：unlike A, B is...→B与A相反</a:t>
            </a:r>
          </a:p>
          <a:p>
            <a:pPr>
              <a:spcBef>
                <a:spcPts val="700"/>
              </a:spcBef>
            </a:pPr>
            <a:r>
              <a:rPr sz="1350">
                <a:solidFill>
                  <a:srgbClr val="C02A2A"/>
                </a:solidFill>
              </a:rPr>
              <a:t>✗ 准确率：高——有明确线索</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定义信号：is/means/refers to/known as/i.e.</a:t>
            </a:r>
          </a:p>
          <a:p>
            <a:pPr>
              <a:spcBef>
                <a:spcPts val="700"/>
              </a:spcBef>
            </a:pPr>
            <a:r>
              <a:rPr sz="1350">
                <a:solidFill>
                  <a:srgbClr val="1B7A3D"/>
                </a:solidFill>
              </a:rPr>
              <a:t>✓ 操作：信号词后面就是解释</a:t>
            </a:r>
          </a:p>
          <a:p>
            <a:pPr>
              <a:spcBef>
                <a:spcPts val="700"/>
              </a:spcBef>
            </a:pPr>
            <a:r>
              <a:rPr sz="1350">
                <a:solidFill>
                  <a:srgbClr val="1B7A3D"/>
                </a:solidFill>
              </a:rPr>
              <a:t>✓ 逻辑推断：整句话上下文推理</a:t>
            </a:r>
          </a:p>
          <a:p>
            <a:pPr>
              <a:spcBef>
                <a:spcPts val="700"/>
              </a:spcBef>
            </a:pPr>
            <a:r>
              <a:rPr sz="1350">
                <a:solidFill>
                  <a:srgbClr val="1B7A3D"/>
                </a:solidFill>
              </a:rPr>
              <a:t>✓ 准确率：定义高/逻辑推断中等</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有效推断 vs 无效推断</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有效推断（选这个）</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无效推断（不选这个）</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有原文逻辑支撑——可以从原文推出</a:t>
            </a:r>
          </a:p>
          <a:p>
            <a:pPr>
              <a:spcBef>
                <a:spcPts val="700"/>
              </a:spcBef>
            </a:pPr>
            <a:r>
              <a:rPr sz="1350">
                <a:solidFill>
                  <a:srgbClr val="C02A2A"/>
                </a:solidFill>
              </a:rPr>
              <a:t>✗ 推断范围与原文一致——不超出原文</a:t>
            </a:r>
          </a:p>
          <a:p>
            <a:pPr>
              <a:spcBef>
                <a:spcPts val="700"/>
              </a:spcBef>
            </a:pPr>
            <a:r>
              <a:rPr sz="1350">
                <a:solidFill>
                  <a:srgbClr val="C02A2A"/>
                </a:solidFill>
              </a:rPr>
              <a:t>✗ 没有极端词（always/all/never）</a:t>
            </a:r>
          </a:p>
          <a:p>
            <a:pPr>
              <a:spcBef>
                <a:spcPts val="700"/>
              </a:spcBef>
            </a:pPr>
            <a:r>
              <a:rPr sz="1350">
                <a:solidFill>
                  <a:srgbClr val="C02A2A"/>
                </a:solidFill>
              </a:rPr>
              <a:t>✗ 是原文信息的合理延伸</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超出原文范围——无中生有</a:t>
            </a:r>
          </a:p>
          <a:p>
            <a:pPr>
              <a:spcBef>
                <a:spcPts val="700"/>
              </a:spcBef>
            </a:pPr>
            <a:r>
              <a:rPr sz="1350">
                <a:solidFill>
                  <a:srgbClr val="1B7A3D"/>
                </a:solidFill>
              </a:rPr>
              <a:t>✓ 含极端词——over-generalization</a:t>
            </a:r>
          </a:p>
          <a:p>
            <a:pPr>
              <a:spcBef>
                <a:spcPts val="700"/>
              </a:spcBef>
            </a:pPr>
            <a:r>
              <a:rPr sz="1350">
                <a:solidFill>
                  <a:srgbClr val="1B7A3D"/>
                </a:solidFill>
              </a:rPr>
              <a:t>✓ 只是常识/个人判断——原文没有支撑</a:t>
            </a:r>
          </a:p>
          <a:p>
            <a:pPr>
              <a:spcBef>
                <a:spcPts val="700"/>
              </a:spcBef>
            </a:pPr>
            <a:r>
              <a:rPr sz="1350">
                <a:solidFill>
                  <a:srgbClr val="1B7A3D"/>
                </a:solidFill>
              </a:rPr>
              <a:t>✓ 与原文信息相反</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方法步骤</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词汇题+推断题联合做题流程</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280160"/>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35024"/>
            <a:ext cx="640080" cy="502920"/>
          </a:xfrm>
          <a:prstGeom prst="rect">
            <a:avLst/>
          </a:prstGeom>
          <a:noFill/>
        </p:spPr>
        <p:txBody>
          <a:bodyPr wrap="square" anchor="t">
            <a:spAutoFit/>
          </a:bodyPr>
          <a:lstStyle/>
          <a:p>
            <a:pPr algn="ctr"/>
            <a:r>
              <a:rPr sz="2200" b="1" i="0">
                <a:solidFill>
                  <a:srgbClr val="FFFFFF"/>
                </a:solidFill>
                <a:latin typeface="Calibri"/>
              </a:rPr>
              <a:t>1</a:t>
            </a:r>
          </a:p>
        </p:txBody>
      </p:sp>
      <p:sp>
        <p:nvSpPr>
          <p:cNvPr id="10" name="Rectangle 9"/>
          <p:cNvSpPr/>
          <p:nvPr/>
        </p:nvSpPr>
        <p:spPr>
          <a:xfrm>
            <a:off x="841248" y="1938528"/>
            <a:ext cx="45720" cy="-6400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1280160"/>
            <a:ext cx="10058400" cy="411480"/>
          </a:xfrm>
          <a:prstGeom prst="rect">
            <a:avLst/>
          </a:prstGeom>
          <a:noFill/>
        </p:spPr>
        <p:txBody>
          <a:bodyPr wrap="square" anchor="t">
            <a:spAutoFit/>
          </a:bodyPr>
          <a:lstStyle/>
          <a:p>
            <a:pPr algn="l"/>
            <a:r>
              <a:rPr sz="1600" b="1" i="0">
                <a:solidFill>
                  <a:srgbClr val="1B5E33"/>
                </a:solidFill>
                <a:latin typeface="Calibri"/>
              </a:rPr>
              <a:t>Step 1：标记生词/推断词</a:t>
            </a:r>
          </a:p>
        </p:txBody>
      </p:sp>
      <p:sp>
        <p:nvSpPr>
          <p:cNvPr id="12" name="TextBox 11"/>
          <p:cNvSpPr txBox="1"/>
          <p:nvPr/>
        </p:nvSpPr>
        <p:spPr>
          <a:xfrm>
            <a:off x="1417320" y="1645919"/>
            <a:ext cx="10058400" cy="228599"/>
          </a:xfrm>
          <a:prstGeom prst="rect">
            <a:avLst/>
          </a:prstGeom>
          <a:noFill/>
        </p:spPr>
        <p:txBody>
          <a:bodyPr wrap="square" anchor="t">
            <a:spAutoFit/>
          </a:bodyPr>
          <a:lstStyle/>
          <a:p>
            <a:pPr algn="l"/>
            <a:r>
              <a:rPr sz="1350" b="0" i="0">
                <a:solidFill>
                  <a:srgbClr val="556075"/>
                </a:solidFill>
                <a:latin typeface="Calibri"/>
              </a:rPr>
              <a:t>做题时圈出不认识的词和题目问的词</a:t>
            </a:r>
          </a:p>
        </p:txBody>
      </p:sp>
      <p:sp>
        <p:nvSpPr>
          <p:cNvPr id="13" name="Rounded Rectangle 12"/>
          <p:cNvSpPr/>
          <p:nvPr/>
        </p:nvSpPr>
        <p:spPr>
          <a:xfrm>
            <a:off x="548640" y="1874519"/>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1929384"/>
            <a:ext cx="640080" cy="502920"/>
          </a:xfrm>
          <a:prstGeom prst="rect">
            <a:avLst/>
          </a:prstGeom>
          <a:noFill/>
        </p:spPr>
        <p:txBody>
          <a:bodyPr wrap="square" anchor="t">
            <a:spAutoFit/>
          </a:bodyPr>
          <a:lstStyle/>
          <a:p>
            <a:pPr algn="ctr"/>
            <a:r>
              <a:rPr sz="2200" b="1" i="0">
                <a:solidFill>
                  <a:srgbClr val="FFFFFF"/>
                </a:solidFill>
                <a:latin typeface="Calibri"/>
              </a:rPr>
              <a:t>2</a:t>
            </a:r>
          </a:p>
        </p:txBody>
      </p:sp>
      <p:sp>
        <p:nvSpPr>
          <p:cNvPr id="15" name="Rectangle 14"/>
          <p:cNvSpPr/>
          <p:nvPr/>
        </p:nvSpPr>
        <p:spPr>
          <a:xfrm>
            <a:off x="841248" y="2532887"/>
            <a:ext cx="45720" cy="-6400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1874519"/>
            <a:ext cx="10058400" cy="411480"/>
          </a:xfrm>
          <a:prstGeom prst="rect">
            <a:avLst/>
          </a:prstGeom>
          <a:noFill/>
        </p:spPr>
        <p:txBody>
          <a:bodyPr wrap="square" anchor="t">
            <a:spAutoFit/>
          </a:bodyPr>
          <a:lstStyle/>
          <a:p>
            <a:pPr algn="l"/>
            <a:r>
              <a:rPr sz="1600" b="1" i="0">
                <a:solidFill>
                  <a:srgbClr val="1B5E33"/>
                </a:solidFill>
                <a:latin typeface="Calibri"/>
              </a:rPr>
              <a:t>Step 2：读完整句子</a:t>
            </a:r>
          </a:p>
        </p:txBody>
      </p:sp>
      <p:sp>
        <p:nvSpPr>
          <p:cNvPr id="17" name="TextBox 16"/>
          <p:cNvSpPr txBox="1"/>
          <p:nvPr/>
        </p:nvSpPr>
        <p:spPr>
          <a:xfrm>
            <a:off x="1417320" y="2240279"/>
            <a:ext cx="10058400" cy="228599"/>
          </a:xfrm>
          <a:prstGeom prst="rect">
            <a:avLst/>
          </a:prstGeom>
          <a:noFill/>
        </p:spPr>
        <p:txBody>
          <a:bodyPr wrap="square" anchor="t">
            <a:spAutoFit/>
          </a:bodyPr>
          <a:lstStyle/>
          <a:p>
            <a:pPr algn="l"/>
            <a:r>
              <a:rPr sz="1350" b="0" i="0">
                <a:solidFill>
                  <a:srgbClr val="556075"/>
                </a:solidFill>
                <a:latin typeface="Calibri"/>
              </a:rPr>
              <a:t>读包含生词的整句话——不要只看生词本身</a:t>
            </a:r>
          </a:p>
        </p:txBody>
      </p:sp>
      <p:sp>
        <p:nvSpPr>
          <p:cNvPr id="18" name="Rounded Rectangle 17"/>
          <p:cNvSpPr/>
          <p:nvPr/>
        </p:nvSpPr>
        <p:spPr>
          <a:xfrm>
            <a:off x="548640" y="2468879"/>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2523744"/>
            <a:ext cx="640080" cy="502920"/>
          </a:xfrm>
          <a:prstGeom prst="rect">
            <a:avLst/>
          </a:prstGeom>
          <a:noFill/>
        </p:spPr>
        <p:txBody>
          <a:bodyPr wrap="square" anchor="t">
            <a:spAutoFit/>
          </a:bodyPr>
          <a:lstStyle/>
          <a:p>
            <a:pPr algn="ctr"/>
            <a:r>
              <a:rPr sz="2200" b="1" i="0">
                <a:solidFill>
                  <a:srgbClr val="FFFFFF"/>
                </a:solidFill>
                <a:latin typeface="Calibri"/>
              </a:rPr>
              <a:t>3</a:t>
            </a:r>
          </a:p>
        </p:txBody>
      </p:sp>
      <p:sp>
        <p:nvSpPr>
          <p:cNvPr id="20" name="Rectangle 19"/>
          <p:cNvSpPr/>
          <p:nvPr/>
        </p:nvSpPr>
        <p:spPr>
          <a:xfrm>
            <a:off x="841248" y="3127248"/>
            <a:ext cx="45720" cy="-6400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17320" y="2468879"/>
            <a:ext cx="10058400" cy="411480"/>
          </a:xfrm>
          <a:prstGeom prst="rect">
            <a:avLst/>
          </a:prstGeom>
          <a:noFill/>
        </p:spPr>
        <p:txBody>
          <a:bodyPr wrap="square" anchor="t">
            <a:spAutoFit/>
          </a:bodyPr>
          <a:lstStyle/>
          <a:p>
            <a:pPr algn="l"/>
            <a:r>
              <a:rPr sz="1600" b="1" i="0">
                <a:solidFill>
                  <a:srgbClr val="1B5E33"/>
                </a:solidFill>
                <a:latin typeface="Calibri"/>
              </a:rPr>
              <a:t>Step 3：找语境线索</a:t>
            </a:r>
          </a:p>
        </p:txBody>
      </p:sp>
      <p:sp>
        <p:nvSpPr>
          <p:cNvPr id="22" name="TextBox 21"/>
          <p:cNvSpPr txBox="1"/>
          <p:nvPr/>
        </p:nvSpPr>
        <p:spPr>
          <a:xfrm>
            <a:off x="1417320" y="2834639"/>
            <a:ext cx="10058400" cy="228599"/>
          </a:xfrm>
          <a:prstGeom prst="rect">
            <a:avLst/>
          </a:prstGeom>
          <a:noFill/>
        </p:spPr>
        <p:txBody>
          <a:bodyPr wrap="square" anchor="t">
            <a:spAutoFit/>
          </a:bodyPr>
          <a:lstStyle/>
          <a:p>
            <a:pPr algn="l"/>
            <a:r>
              <a:rPr sz="1350" b="0" i="0">
                <a:solidFill>
                  <a:srgbClr val="556075"/>
                </a:solidFill>
                <a:latin typeface="Calibri"/>
              </a:rPr>
              <a:t>同义/反义/定义/逻辑——哪种线索最明显？</a:t>
            </a:r>
          </a:p>
        </p:txBody>
      </p:sp>
      <p:sp>
        <p:nvSpPr>
          <p:cNvPr id="23" name="Rounded Rectangle 22"/>
          <p:cNvSpPr/>
          <p:nvPr/>
        </p:nvSpPr>
        <p:spPr>
          <a:xfrm>
            <a:off x="548640" y="3063239"/>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3118103"/>
            <a:ext cx="640080" cy="502920"/>
          </a:xfrm>
          <a:prstGeom prst="rect">
            <a:avLst/>
          </a:prstGeom>
          <a:noFill/>
        </p:spPr>
        <p:txBody>
          <a:bodyPr wrap="square" anchor="t">
            <a:spAutoFit/>
          </a:bodyPr>
          <a:lstStyle/>
          <a:p>
            <a:pPr algn="ctr"/>
            <a:r>
              <a:rPr sz="2200" b="1" i="0">
                <a:solidFill>
                  <a:srgbClr val="FFFFFF"/>
                </a:solidFill>
                <a:latin typeface="Calibri"/>
              </a:rPr>
              <a:t>4</a:t>
            </a:r>
          </a:p>
        </p:txBody>
      </p:sp>
      <p:sp>
        <p:nvSpPr>
          <p:cNvPr id="25" name="Rectangle 24"/>
          <p:cNvSpPr/>
          <p:nvPr/>
        </p:nvSpPr>
        <p:spPr>
          <a:xfrm>
            <a:off x="841248" y="3721607"/>
            <a:ext cx="45720" cy="-6400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417320" y="3063239"/>
            <a:ext cx="10058400" cy="411480"/>
          </a:xfrm>
          <a:prstGeom prst="rect">
            <a:avLst/>
          </a:prstGeom>
          <a:noFill/>
        </p:spPr>
        <p:txBody>
          <a:bodyPr wrap="square" anchor="t">
            <a:spAutoFit/>
          </a:bodyPr>
          <a:lstStyle/>
          <a:p>
            <a:pPr algn="l"/>
            <a:r>
              <a:rPr sz="1600" b="1" i="0">
                <a:solidFill>
                  <a:srgbClr val="1B5E33"/>
                </a:solidFill>
                <a:latin typeface="Calibri"/>
              </a:rPr>
              <a:t>Step 4：猜大意</a:t>
            </a:r>
          </a:p>
        </p:txBody>
      </p:sp>
      <p:sp>
        <p:nvSpPr>
          <p:cNvPr id="27" name="TextBox 26"/>
          <p:cNvSpPr txBox="1"/>
          <p:nvPr/>
        </p:nvSpPr>
        <p:spPr>
          <a:xfrm>
            <a:off x="1417320" y="3428999"/>
            <a:ext cx="10058400" cy="228599"/>
          </a:xfrm>
          <a:prstGeom prst="rect">
            <a:avLst/>
          </a:prstGeom>
          <a:noFill/>
        </p:spPr>
        <p:txBody>
          <a:bodyPr wrap="square" anchor="t">
            <a:spAutoFit/>
          </a:bodyPr>
          <a:lstStyle/>
          <a:p>
            <a:pPr algn="l"/>
            <a:r>
              <a:rPr sz="1350" b="0" i="0">
                <a:solidFill>
                  <a:srgbClr val="556075"/>
                </a:solidFill>
                <a:latin typeface="Calibri"/>
              </a:rPr>
              <a:t>不需要精确——正面/负面/表示增加/减少即可</a:t>
            </a:r>
          </a:p>
        </p:txBody>
      </p:sp>
      <p:sp>
        <p:nvSpPr>
          <p:cNvPr id="28" name="Rounded Rectangle 27"/>
          <p:cNvSpPr/>
          <p:nvPr/>
        </p:nvSpPr>
        <p:spPr>
          <a:xfrm>
            <a:off x="548640" y="3657599"/>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3712463"/>
            <a:ext cx="640080" cy="502920"/>
          </a:xfrm>
          <a:prstGeom prst="rect">
            <a:avLst/>
          </a:prstGeom>
          <a:noFill/>
        </p:spPr>
        <p:txBody>
          <a:bodyPr wrap="square" anchor="t">
            <a:spAutoFit/>
          </a:bodyPr>
          <a:lstStyle/>
          <a:p>
            <a:pPr algn="ctr"/>
            <a:r>
              <a:rPr sz="2200" b="1" i="0">
                <a:solidFill>
                  <a:srgbClr val="FFFFFF"/>
                </a:solidFill>
                <a:latin typeface="Calibri"/>
              </a:rPr>
              <a:t>5</a:t>
            </a:r>
          </a:p>
        </p:txBody>
      </p:sp>
      <p:sp>
        <p:nvSpPr>
          <p:cNvPr id="30" name="Rectangle 29"/>
          <p:cNvSpPr/>
          <p:nvPr/>
        </p:nvSpPr>
        <p:spPr>
          <a:xfrm>
            <a:off x="841248" y="4315968"/>
            <a:ext cx="45720" cy="-6400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417320" y="3657599"/>
            <a:ext cx="10058400" cy="411480"/>
          </a:xfrm>
          <a:prstGeom prst="rect">
            <a:avLst/>
          </a:prstGeom>
          <a:noFill/>
        </p:spPr>
        <p:txBody>
          <a:bodyPr wrap="square" anchor="t">
            <a:spAutoFit/>
          </a:bodyPr>
          <a:lstStyle/>
          <a:p>
            <a:pPr algn="l"/>
            <a:r>
              <a:rPr sz="1600" b="1" i="0">
                <a:solidFill>
                  <a:srgbClr val="1B5E33"/>
                </a:solidFill>
                <a:latin typeface="Calibri"/>
              </a:rPr>
              <a:t>Step 5：对照选项</a:t>
            </a:r>
          </a:p>
        </p:txBody>
      </p:sp>
      <p:sp>
        <p:nvSpPr>
          <p:cNvPr id="32" name="TextBox 31"/>
          <p:cNvSpPr txBox="1"/>
          <p:nvPr/>
        </p:nvSpPr>
        <p:spPr>
          <a:xfrm>
            <a:off x="1417320" y="4023359"/>
            <a:ext cx="10058400" cy="228599"/>
          </a:xfrm>
          <a:prstGeom prst="rect">
            <a:avLst/>
          </a:prstGeom>
          <a:noFill/>
        </p:spPr>
        <p:txBody>
          <a:bodyPr wrap="square" anchor="t">
            <a:spAutoFit/>
          </a:bodyPr>
          <a:lstStyle/>
          <a:p>
            <a:pPr algn="l"/>
            <a:r>
              <a:rPr sz="1350" b="0" i="0">
                <a:solidFill>
                  <a:srgbClr val="556075"/>
                </a:solidFill>
                <a:latin typeface="Calibri"/>
              </a:rPr>
              <a:t>选最接近猜测意思的选项</a:t>
            </a:r>
          </a:p>
        </p:txBody>
      </p:sp>
      <p:sp>
        <p:nvSpPr>
          <p:cNvPr id="33" name="Rounded Rectangle 32"/>
          <p:cNvSpPr/>
          <p:nvPr/>
        </p:nvSpPr>
        <p:spPr>
          <a:xfrm>
            <a:off x="548640" y="4251959"/>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8640" y="4306823"/>
            <a:ext cx="640080" cy="502920"/>
          </a:xfrm>
          <a:prstGeom prst="rect">
            <a:avLst/>
          </a:prstGeom>
          <a:noFill/>
        </p:spPr>
        <p:txBody>
          <a:bodyPr wrap="square" anchor="t">
            <a:spAutoFit/>
          </a:bodyPr>
          <a:lstStyle/>
          <a:p>
            <a:pPr algn="ctr"/>
            <a:r>
              <a:rPr sz="2200" b="1" i="0">
                <a:solidFill>
                  <a:srgbClr val="FFFFFF"/>
                </a:solidFill>
                <a:latin typeface="Calibri"/>
              </a:rPr>
              <a:t>6</a:t>
            </a:r>
          </a:p>
        </p:txBody>
      </p:sp>
      <p:sp>
        <p:nvSpPr>
          <p:cNvPr id="35" name="Rectangle 34"/>
          <p:cNvSpPr/>
          <p:nvPr/>
        </p:nvSpPr>
        <p:spPr>
          <a:xfrm>
            <a:off x="841248" y="4910327"/>
            <a:ext cx="45720" cy="-6400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417320" y="4251959"/>
            <a:ext cx="10058400" cy="411480"/>
          </a:xfrm>
          <a:prstGeom prst="rect">
            <a:avLst/>
          </a:prstGeom>
          <a:noFill/>
        </p:spPr>
        <p:txBody>
          <a:bodyPr wrap="square" anchor="t">
            <a:spAutoFit/>
          </a:bodyPr>
          <a:lstStyle/>
          <a:p>
            <a:pPr algn="l"/>
            <a:r>
              <a:rPr sz="1600" b="1" i="0">
                <a:solidFill>
                  <a:srgbClr val="1B5E33"/>
                </a:solidFill>
                <a:latin typeface="Calibri"/>
              </a:rPr>
              <a:t>Step 6：推断题验证</a:t>
            </a:r>
          </a:p>
        </p:txBody>
      </p:sp>
      <p:sp>
        <p:nvSpPr>
          <p:cNvPr id="37" name="TextBox 36"/>
          <p:cNvSpPr txBox="1"/>
          <p:nvPr/>
        </p:nvSpPr>
        <p:spPr>
          <a:xfrm>
            <a:off x="1417320" y="4617720"/>
            <a:ext cx="10058400" cy="228599"/>
          </a:xfrm>
          <a:prstGeom prst="rect">
            <a:avLst/>
          </a:prstGeom>
          <a:noFill/>
        </p:spPr>
        <p:txBody>
          <a:bodyPr wrap="square" anchor="t">
            <a:spAutoFit/>
          </a:bodyPr>
          <a:lstStyle/>
          <a:p>
            <a:pPr algn="l"/>
            <a:r>
              <a:rPr sz="1350" b="0" i="0">
                <a:solidFill>
                  <a:srgbClr val="556075"/>
                </a:solidFill>
                <a:latin typeface="Calibri"/>
              </a:rPr>
              <a:t>推断选项→问"原文有支撑这个推断的证据吗？"</a:t>
            </a:r>
          </a:p>
        </p:txBody>
      </p:sp>
      <p:sp>
        <p:nvSpPr>
          <p:cNvPr id="38" name="Rounded Rectangle 37"/>
          <p:cNvSpPr/>
          <p:nvPr/>
        </p:nvSpPr>
        <p:spPr>
          <a:xfrm>
            <a:off x="548640" y="4846319"/>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48640" y="4901183"/>
            <a:ext cx="640080" cy="502920"/>
          </a:xfrm>
          <a:prstGeom prst="rect">
            <a:avLst/>
          </a:prstGeom>
          <a:noFill/>
        </p:spPr>
        <p:txBody>
          <a:bodyPr wrap="square" anchor="t">
            <a:spAutoFit/>
          </a:bodyPr>
          <a:lstStyle/>
          <a:p>
            <a:pPr algn="ctr"/>
            <a:r>
              <a:rPr sz="2200" b="1" i="0">
                <a:solidFill>
                  <a:srgbClr val="FFFFFF"/>
                </a:solidFill>
                <a:latin typeface="Calibri"/>
              </a:rPr>
              <a:t>7</a:t>
            </a:r>
          </a:p>
        </p:txBody>
      </p:sp>
      <p:sp>
        <p:nvSpPr>
          <p:cNvPr id="40" name="Rectangle 39"/>
          <p:cNvSpPr/>
          <p:nvPr/>
        </p:nvSpPr>
        <p:spPr>
          <a:xfrm>
            <a:off x="841248" y="5504687"/>
            <a:ext cx="45720" cy="-6400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417320" y="4846319"/>
            <a:ext cx="10058400" cy="411480"/>
          </a:xfrm>
          <a:prstGeom prst="rect">
            <a:avLst/>
          </a:prstGeom>
          <a:noFill/>
        </p:spPr>
        <p:txBody>
          <a:bodyPr wrap="square" anchor="t">
            <a:spAutoFit/>
          </a:bodyPr>
          <a:lstStyle/>
          <a:p>
            <a:pPr algn="l"/>
            <a:r>
              <a:rPr sz="1600" b="1" i="0">
                <a:solidFill>
                  <a:srgbClr val="1B5E33"/>
                </a:solidFill>
                <a:latin typeface="Calibri"/>
              </a:rPr>
              <a:t>Step 7：排除极端选项</a:t>
            </a:r>
          </a:p>
        </p:txBody>
      </p:sp>
      <p:sp>
        <p:nvSpPr>
          <p:cNvPr id="42" name="TextBox 41"/>
          <p:cNvSpPr txBox="1"/>
          <p:nvPr/>
        </p:nvSpPr>
        <p:spPr>
          <a:xfrm>
            <a:off x="1417320" y="5212079"/>
            <a:ext cx="10058400" cy="228599"/>
          </a:xfrm>
          <a:prstGeom prst="rect">
            <a:avLst/>
          </a:prstGeom>
          <a:noFill/>
        </p:spPr>
        <p:txBody>
          <a:bodyPr wrap="square" anchor="t">
            <a:spAutoFit/>
          </a:bodyPr>
          <a:lstStyle/>
          <a:p>
            <a:pPr algn="l"/>
            <a:r>
              <a:rPr sz="1350" b="0" i="0">
                <a:solidFill>
                  <a:srgbClr val="556075"/>
                </a:solidFill>
                <a:latin typeface="Calibri"/>
              </a:rPr>
              <a:t>含all/always/never/only的推断→谨慎</a:t>
            </a:r>
          </a:p>
        </p:txBody>
      </p:sp>
      <p:sp>
        <p:nvSpPr>
          <p:cNvPr id="43" name="Rounded Rectangle 42"/>
          <p:cNvSpPr/>
          <p:nvPr/>
        </p:nvSpPr>
        <p:spPr>
          <a:xfrm>
            <a:off x="548640" y="5440679"/>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48640" y="5495543"/>
            <a:ext cx="640080" cy="502920"/>
          </a:xfrm>
          <a:prstGeom prst="rect">
            <a:avLst/>
          </a:prstGeom>
          <a:noFill/>
        </p:spPr>
        <p:txBody>
          <a:bodyPr wrap="square" anchor="t">
            <a:spAutoFit/>
          </a:bodyPr>
          <a:lstStyle/>
          <a:p>
            <a:pPr algn="ctr"/>
            <a:r>
              <a:rPr sz="2200" b="1" i="0">
                <a:solidFill>
                  <a:srgbClr val="FFFFFF"/>
                </a:solidFill>
                <a:latin typeface="Calibri"/>
              </a:rPr>
              <a:t>8</a:t>
            </a:r>
          </a:p>
        </p:txBody>
      </p:sp>
      <p:sp>
        <p:nvSpPr>
          <p:cNvPr id="45" name="TextBox 44"/>
          <p:cNvSpPr txBox="1"/>
          <p:nvPr/>
        </p:nvSpPr>
        <p:spPr>
          <a:xfrm>
            <a:off x="1417320" y="5440679"/>
            <a:ext cx="10058400" cy="411480"/>
          </a:xfrm>
          <a:prstGeom prst="rect">
            <a:avLst/>
          </a:prstGeom>
          <a:noFill/>
        </p:spPr>
        <p:txBody>
          <a:bodyPr wrap="square" anchor="t">
            <a:spAutoFit/>
          </a:bodyPr>
          <a:lstStyle/>
          <a:p>
            <a:pPr algn="l"/>
            <a:r>
              <a:rPr sz="1600" b="1" i="0">
                <a:solidFill>
                  <a:srgbClr val="1B5E33"/>
                </a:solidFill>
                <a:latin typeface="Calibri"/>
              </a:rPr>
              <a:t>Step 8：确认答案</a:t>
            </a:r>
          </a:p>
        </p:txBody>
      </p:sp>
      <p:sp>
        <p:nvSpPr>
          <p:cNvPr id="46" name="TextBox 45"/>
          <p:cNvSpPr txBox="1"/>
          <p:nvPr/>
        </p:nvSpPr>
        <p:spPr>
          <a:xfrm>
            <a:off x="1417320" y="5806440"/>
            <a:ext cx="10058400" cy="228599"/>
          </a:xfrm>
          <a:prstGeom prst="rect">
            <a:avLst/>
          </a:prstGeom>
          <a:noFill/>
        </p:spPr>
        <p:txBody>
          <a:bodyPr wrap="square" anchor="t">
            <a:spAutoFit/>
          </a:bodyPr>
          <a:lstStyle/>
          <a:p>
            <a:pPr algn="l"/>
            <a:r>
              <a:rPr sz="1350" b="0" i="0">
                <a:solidFill>
                  <a:srgbClr val="556075"/>
                </a:solidFill>
                <a:latin typeface="Calibri"/>
              </a:rPr>
              <a:t>两题如果在同段——一次精读效率最高</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当堂练习：语境猜词速训</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88720"/>
            <a:ext cx="11064240" cy="640080"/>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用30秒猜出以下生词的大意（用任何一种方法）</a:t>
            </a:r>
          </a:p>
        </p:txBody>
      </p:sp>
      <p:sp>
        <p:nvSpPr>
          <p:cNvPr id="10" name="TextBox 9"/>
          <p:cNvSpPr txBox="1"/>
          <p:nvPr/>
        </p:nvSpPr>
        <p:spPr>
          <a:xfrm>
            <a:off x="640080" y="2057400"/>
            <a:ext cx="10972800" cy="4206240"/>
          </a:xfrm>
          <a:prstGeom prst="rect">
            <a:avLst/>
          </a:prstGeom>
          <a:noFill/>
        </p:spPr>
        <p:txBody>
          <a:bodyPr wrap="square">
            <a:spAutoFit/>
          </a:bodyPr>
          <a:lstStyle/>
          <a:p>
            <a:r>
              <a:rPr sz="1700" b="1">
                <a:solidFill>
                  <a:srgbClr val="1B5E33"/>
                </a:solidFill>
              </a:rPr>
              <a:t>▢ 句子1</a:t>
            </a:r>
          </a:p>
          <a:p>
            <a:pPr>
              <a:spcBef>
                <a:spcPts val="100"/>
              </a:spcBef>
            </a:pPr>
            <a:r>
              <a:rPr sz="1400">
                <a:solidFill>
                  <a:srgbClr val="556075"/>
                </a:solidFill>
              </a:rPr>
              <a:t>   原文："The architect's design was remarkably austere, with no unnecessary decorations or embellishments."
生词：austere
线索类型？→
【答案】反义线索：no unnecessary decorations/embellishments = austere的对比
austere = 简单朴素的，没有多余装饰（严肃简洁的）</a:t>
            </a:r>
          </a:p>
          <a:p>
            <a:pPr>
              <a:spcBef>
                <a:spcPts val="1100"/>
              </a:spcBef>
            </a:pPr>
            <a:r>
              <a:rPr sz="1700" b="1">
                <a:solidFill>
                  <a:srgbClr val="1B5E33"/>
                </a:solidFill>
              </a:rPr>
              <a:t>▢ 句子2</a:t>
            </a:r>
          </a:p>
          <a:p>
            <a:pPr>
              <a:spcBef>
                <a:spcPts val="100"/>
              </a:spcBef>
            </a:pPr>
            <a:r>
              <a:rPr sz="1400">
                <a:solidFill>
                  <a:srgbClr val="556075"/>
                </a:solidFill>
              </a:rPr>
              <a:t>   原文："The virus proliferated rapidly in warm conditions, doubling in numbers every 20 minutes."
生词：proliferated
【答案】逻辑线索："doubling in numbers"= proliferated的结果/意思
proliferated = 快速增殖/繁殖（rapid growth/multiplication）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当堂练习：推断题有效性判断</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88720"/>
            <a:ext cx="11064240" cy="640080"/>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判断以下推断是否有效（有原文支撑？）</a:t>
            </a:r>
          </a:p>
        </p:txBody>
      </p:sp>
      <p:sp>
        <p:nvSpPr>
          <p:cNvPr id="10" name="TextBox 9"/>
          <p:cNvSpPr txBox="1"/>
          <p:nvPr/>
        </p:nvSpPr>
        <p:spPr>
          <a:xfrm>
            <a:off x="640080" y="2057400"/>
            <a:ext cx="10972800" cy="4206240"/>
          </a:xfrm>
          <a:prstGeom prst="rect">
            <a:avLst/>
          </a:prstGeom>
          <a:noFill/>
        </p:spPr>
        <p:txBody>
          <a:bodyPr wrap="square">
            <a:spAutoFit/>
          </a:bodyPr>
          <a:lstStyle/>
          <a:p>
            <a:r>
              <a:rPr sz="1700" b="1">
                <a:solidFill>
                  <a:srgbClr val="1B5E33"/>
                </a:solidFill>
              </a:rPr>
              <a:t>▢ 原文："The survey of 500 adults found that 73% reported feeling stressed at least once per week."</a:t>
            </a:r>
          </a:p>
          <a:p>
            <a:pPr>
              <a:spcBef>
                <a:spcPts val="100"/>
              </a:spcBef>
            </a:pPr>
            <a:r>
              <a:rPr sz="1400">
                <a:solidFill>
                  <a:srgbClr val="556075"/>
                </a:solidFill>
              </a:rPr>
              <a:t>   推断A："Stress is a common experience for many adults." → 有效/无效？
推断B："All adults suffer from serious stress disorders." → 有效/无效？
【答案】A：73%=majority→ 合理推断common experience ✓
B：All+serious disorders → 过度推断，原文只说感到stressed ✗</a:t>
            </a:r>
          </a:p>
          <a:p>
            <a:pPr>
              <a:spcBef>
                <a:spcPts val="1100"/>
              </a:spcBef>
            </a:pPr>
            <a:r>
              <a:rPr sz="1700" b="1">
                <a:solidFill>
                  <a:srgbClr val="1B5E33"/>
                </a:solidFill>
              </a:rPr>
              <a:t>▢ 总结规律</a:t>
            </a:r>
          </a:p>
          <a:p>
            <a:pPr>
              <a:spcBef>
                <a:spcPts val="100"/>
              </a:spcBef>
            </a:pPr>
            <a:r>
              <a:rPr sz="1400">
                <a:solidFill>
                  <a:srgbClr val="556075"/>
                </a:solidFill>
              </a:rPr>
              <a:t>   有效推断：73%→many/most/a majority（有数据支撑的适度推断）✓
无效推断：all/suffer disorders（极端词+超出原文范围）✗
【答案】规则：数据支撑+适度范围=有效；极端词+无中生有=无效</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语境猜词5大技巧</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23444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1B5E33"/>
                </a:solidFill>
                <a:latin typeface="Calibri"/>
              </a:rPr>
              <a:t>技巧1：读整句话</a:t>
            </a:r>
          </a:p>
        </p:txBody>
      </p:sp>
      <p:sp>
        <p:nvSpPr>
          <p:cNvPr id="11" name="TextBox 10"/>
          <p:cNvSpPr txBox="1"/>
          <p:nvPr/>
        </p:nvSpPr>
        <p:spPr>
          <a:xfrm>
            <a:off x="822959" y="1737360"/>
            <a:ext cx="5029200" cy="853440"/>
          </a:xfrm>
          <a:prstGeom prst="rect">
            <a:avLst/>
          </a:prstGeom>
          <a:noFill/>
        </p:spPr>
        <p:txBody>
          <a:bodyPr wrap="square" anchor="t">
            <a:spAutoFit/>
          </a:bodyPr>
          <a:lstStyle/>
          <a:p>
            <a:pPr algn="l"/>
            <a:r>
              <a:rPr sz="1250" b="0" i="0">
                <a:solidFill>
                  <a:srgbClr val="556075"/>
                </a:solidFill>
                <a:latin typeface="Calibri"/>
              </a:rPr>
              <a:t>不要只看生词——整句话告诉你语境</a:t>
            </a:r>
          </a:p>
        </p:txBody>
      </p:sp>
      <p:sp>
        <p:nvSpPr>
          <p:cNvPr id="12" name="Rounded Rectangle 11"/>
          <p:cNvSpPr/>
          <p:nvPr/>
        </p:nvSpPr>
        <p:spPr>
          <a:xfrm>
            <a:off x="6355079" y="123444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1B5E33"/>
                </a:solidFill>
                <a:latin typeface="Calibri"/>
              </a:rPr>
              <a:t>技巧2：找线索词</a:t>
            </a:r>
          </a:p>
        </p:txBody>
      </p:sp>
      <p:sp>
        <p:nvSpPr>
          <p:cNvPr id="15" name="TextBox 14"/>
          <p:cNvSpPr txBox="1"/>
          <p:nvPr/>
        </p:nvSpPr>
        <p:spPr>
          <a:xfrm>
            <a:off x="6629399" y="1737360"/>
            <a:ext cx="5029200" cy="853440"/>
          </a:xfrm>
          <a:prstGeom prst="rect">
            <a:avLst/>
          </a:prstGeom>
          <a:noFill/>
        </p:spPr>
        <p:txBody>
          <a:bodyPr wrap="square" anchor="t">
            <a:spAutoFit/>
          </a:bodyPr>
          <a:lstStyle/>
          <a:p>
            <a:pPr algn="l"/>
            <a:r>
              <a:rPr sz="1250" b="0" i="0">
                <a:solidFill>
                  <a:srgbClr val="556075"/>
                </a:solidFill>
                <a:latin typeface="Calibri"/>
              </a:rPr>
              <a:t>or/unlike/is/known as/i.e.→ 有线索词直接用</a:t>
            </a:r>
          </a:p>
        </p:txBody>
      </p:sp>
      <p:sp>
        <p:nvSpPr>
          <p:cNvPr id="16" name="Rounded Rectangle 15"/>
          <p:cNvSpPr/>
          <p:nvPr/>
        </p:nvSpPr>
        <p:spPr>
          <a:xfrm>
            <a:off x="548640" y="286512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86512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2956560"/>
            <a:ext cx="5029200" cy="411480"/>
          </a:xfrm>
          <a:prstGeom prst="rect">
            <a:avLst/>
          </a:prstGeom>
          <a:noFill/>
        </p:spPr>
        <p:txBody>
          <a:bodyPr wrap="square" anchor="t">
            <a:spAutoFit/>
          </a:bodyPr>
          <a:lstStyle/>
          <a:p>
            <a:pPr algn="l"/>
            <a:r>
              <a:rPr sz="1400" b="1" i="0">
                <a:solidFill>
                  <a:srgbClr val="1B5E33"/>
                </a:solidFill>
                <a:latin typeface="Calibri"/>
              </a:rPr>
              <a:t>技巧3：猜大意即可</a:t>
            </a:r>
          </a:p>
        </p:txBody>
      </p:sp>
      <p:sp>
        <p:nvSpPr>
          <p:cNvPr id="19" name="TextBox 18"/>
          <p:cNvSpPr txBox="1"/>
          <p:nvPr/>
        </p:nvSpPr>
        <p:spPr>
          <a:xfrm>
            <a:off x="822959" y="3368040"/>
            <a:ext cx="5029200" cy="853440"/>
          </a:xfrm>
          <a:prstGeom prst="rect">
            <a:avLst/>
          </a:prstGeom>
          <a:noFill/>
        </p:spPr>
        <p:txBody>
          <a:bodyPr wrap="square" anchor="t">
            <a:spAutoFit/>
          </a:bodyPr>
          <a:lstStyle/>
          <a:p>
            <a:pPr algn="l"/>
            <a:r>
              <a:rPr sz="1250" b="0" i="0">
                <a:solidFill>
                  <a:srgbClr val="556075"/>
                </a:solidFill>
                <a:latin typeface="Calibri"/>
              </a:rPr>
              <a:t>不需要准确——知道正/负面、大/小方向</a:t>
            </a:r>
          </a:p>
        </p:txBody>
      </p:sp>
      <p:sp>
        <p:nvSpPr>
          <p:cNvPr id="20" name="Rounded Rectangle 19"/>
          <p:cNvSpPr/>
          <p:nvPr/>
        </p:nvSpPr>
        <p:spPr>
          <a:xfrm>
            <a:off x="6355079" y="286512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86512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2956560"/>
            <a:ext cx="5029200" cy="411480"/>
          </a:xfrm>
          <a:prstGeom prst="rect">
            <a:avLst/>
          </a:prstGeom>
          <a:noFill/>
        </p:spPr>
        <p:txBody>
          <a:bodyPr wrap="square" anchor="t">
            <a:spAutoFit/>
          </a:bodyPr>
          <a:lstStyle/>
          <a:p>
            <a:pPr algn="l"/>
            <a:r>
              <a:rPr sz="1400" b="1" i="0">
                <a:solidFill>
                  <a:srgbClr val="1B5E33"/>
                </a:solidFill>
                <a:latin typeface="Calibri"/>
              </a:rPr>
              <a:t>技巧4：逻辑连接</a:t>
            </a:r>
          </a:p>
        </p:txBody>
      </p:sp>
      <p:sp>
        <p:nvSpPr>
          <p:cNvPr id="23" name="TextBox 22"/>
          <p:cNvSpPr txBox="1"/>
          <p:nvPr/>
        </p:nvSpPr>
        <p:spPr>
          <a:xfrm>
            <a:off x="6629399" y="3368040"/>
            <a:ext cx="5029200" cy="853440"/>
          </a:xfrm>
          <a:prstGeom prst="rect">
            <a:avLst/>
          </a:prstGeom>
          <a:noFill/>
        </p:spPr>
        <p:txBody>
          <a:bodyPr wrap="square" anchor="t">
            <a:spAutoFit/>
          </a:bodyPr>
          <a:lstStyle/>
          <a:p>
            <a:pPr algn="l"/>
            <a:r>
              <a:rPr sz="1250" b="0" i="0">
                <a:solidFill>
                  <a:srgbClr val="556075"/>
                </a:solidFill>
                <a:latin typeface="Calibri"/>
              </a:rPr>
              <a:t>生词前后的内容有因果/转折关系——推断方向</a:t>
            </a:r>
          </a:p>
        </p:txBody>
      </p:sp>
      <p:sp>
        <p:nvSpPr>
          <p:cNvPr id="24" name="Rounded Rectangle 23"/>
          <p:cNvSpPr/>
          <p:nvPr/>
        </p:nvSpPr>
        <p:spPr>
          <a:xfrm>
            <a:off x="548640" y="449580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9580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 y="4587240"/>
            <a:ext cx="5029200" cy="411480"/>
          </a:xfrm>
          <a:prstGeom prst="rect">
            <a:avLst/>
          </a:prstGeom>
          <a:noFill/>
        </p:spPr>
        <p:txBody>
          <a:bodyPr wrap="square" anchor="t">
            <a:spAutoFit/>
          </a:bodyPr>
          <a:lstStyle/>
          <a:p>
            <a:pPr algn="l"/>
            <a:r>
              <a:rPr sz="1400" b="1" i="0">
                <a:solidFill>
                  <a:srgbClr val="1B5E33"/>
                </a:solidFill>
                <a:latin typeface="Calibri"/>
              </a:rPr>
              <a:t>技巧5：放弃时机</a:t>
            </a:r>
          </a:p>
        </p:txBody>
      </p:sp>
      <p:sp>
        <p:nvSpPr>
          <p:cNvPr id="27" name="TextBox 26"/>
          <p:cNvSpPr txBox="1"/>
          <p:nvPr/>
        </p:nvSpPr>
        <p:spPr>
          <a:xfrm>
            <a:off x="822959" y="4998720"/>
            <a:ext cx="5029200" cy="853440"/>
          </a:xfrm>
          <a:prstGeom prst="rect">
            <a:avLst/>
          </a:prstGeom>
          <a:noFill/>
        </p:spPr>
        <p:txBody>
          <a:bodyPr wrap="square" anchor="t">
            <a:spAutoFit/>
          </a:bodyPr>
          <a:lstStyle/>
          <a:p>
            <a:pPr algn="l"/>
            <a:r>
              <a:rPr sz="1250" b="0" i="0">
                <a:solidFill>
                  <a:srgbClr val="556075"/>
                </a:solidFill>
                <a:latin typeface="Calibri"/>
              </a:rPr>
              <a:t>猜2次还不确定→先跳过，不影响后续做题</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推断题5大技巧</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23444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1B5E33"/>
                </a:solidFill>
                <a:latin typeface="Calibri"/>
              </a:rPr>
              <a:t>技巧1：找原文支撑</a:t>
            </a:r>
          </a:p>
        </p:txBody>
      </p:sp>
      <p:sp>
        <p:nvSpPr>
          <p:cNvPr id="11" name="TextBox 10"/>
          <p:cNvSpPr txBox="1"/>
          <p:nvPr/>
        </p:nvSpPr>
        <p:spPr>
          <a:xfrm>
            <a:off x="822959" y="1737360"/>
            <a:ext cx="5029200" cy="853440"/>
          </a:xfrm>
          <a:prstGeom prst="rect">
            <a:avLst/>
          </a:prstGeom>
          <a:noFill/>
        </p:spPr>
        <p:txBody>
          <a:bodyPr wrap="square" anchor="t">
            <a:spAutoFit/>
          </a:bodyPr>
          <a:lstStyle/>
          <a:p>
            <a:pPr algn="l"/>
            <a:r>
              <a:rPr sz="1250" b="0" i="0">
                <a:solidFill>
                  <a:srgbClr val="556075"/>
                </a:solidFill>
                <a:latin typeface="Calibri"/>
              </a:rPr>
              <a:t>每个推断选项都问：原文有支撑这个推断的句子吗？</a:t>
            </a:r>
          </a:p>
        </p:txBody>
      </p:sp>
      <p:sp>
        <p:nvSpPr>
          <p:cNvPr id="12" name="Rounded Rectangle 11"/>
          <p:cNvSpPr/>
          <p:nvPr/>
        </p:nvSpPr>
        <p:spPr>
          <a:xfrm>
            <a:off x="6355079" y="123444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1B5E33"/>
                </a:solidFill>
                <a:latin typeface="Calibri"/>
              </a:rPr>
              <a:t>技巧2：排除极端词</a:t>
            </a:r>
          </a:p>
        </p:txBody>
      </p:sp>
      <p:sp>
        <p:nvSpPr>
          <p:cNvPr id="15" name="TextBox 14"/>
          <p:cNvSpPr txBox="1"/>
          <p:nvPr/>
        </p:nvSpPr>
        <p:spPr>
          <a:xfrm>
            <a:off x="6629399" y="1737360"/>
            <a:ext cx="5029200" cy="853440"/>
          </a:xfrm>
          <a:prstGeom prst="rect">
            <a:avLst/>
          </a:prstGeom>
          <a:noFill/>
        </p:spPr>
        <p:txBody>
          <a:bodyPr wrap="square" anchor="t">
            <a:spAutoFit/>
          </a:bodyPr>
          <a:lstStyle/>
          <a:p>
            <a:pPr algn="l"/>
            <a:r>
              <a:rPr sz="1250" b="0" i="0">
                <a:solidFill>
                  <a:srgbClr val="556075"/>
                </a:solidFill>
                <a:latin typeface="Calibri"/>
              </a:rPr>
              <a:t>all/always/never/only的推断→先质疑</a:t>
            </a:r>
          </a:p>
        </p:txBody>
      </p:sp>
      <p:sp>
        <p:nvSpPr>
          <p:cNvPr id="16" name="Rounded Rectangle 15"/>
          <p:cNvSpPr/>
          <p:nvPr/>
        </p:nvSpPr>
        <p:spPr>
          <a:xfrm>
            <a:off x="548640" y="286512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86512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2956560"/>
            <a:ext cx="5029200" cy="411480"/>
          </a:xfrm>
          <a:prstGeom prst="rect">
            <a:avLst/>
          </a:prstGeom>
          <a:noFill/>
        </p:spPr>
        <p:txBody>
          <a:bodyPr wrap="square" anchor="t">
            <a:spAutoFit/>
          </a:bodyPr>
          <a:lstStyle/>
          <a:p>
            <a:pPr algn="l"/>
            <a:r>
              <a:rPr sz="1400" b="1" i="0">
                <a:solidFill>
                  <a:srgbClr val="1B5E33"/>
                </a:solidFill>
                <a:latin typeface="Calibri"/>
              </a:rPr>
              <a:t>技巧3：不过度推断</a:t>
            </a:r>
          </a:p>
        </p:txBody>
      </p:sp>
      <p:sp>
        <p:nvSpPr>
          <p:cNvPr id="19" name="TextBox 18"/>
          <p:cNvSpPr txBox="1"/>
          <p:nvPr/>
        </p:nvSpPr>
        <p:spPr>
          <a:xfrm>
            <a:off x="822959" y="3368040"/>
            <a:ext cx="5029200" cy="853440"/>
          </a:xfrm>
          <a:prstGeom prst="rect">
            <a:avLst/>
          </a:prstGeom>
          <a:noFill/>
        </p:spPr>
        <p:txBody>
          <a:bodyPr wrap="square" anchor="t">
            <a:spAutoFit/>
          </a:bodyPr>
          <a:lstStyle/>
          <a:p>
            <a:pPr algn="l"/>
            <a:r>
              <a:rPr sz="1250" b="0" i="0">
                <a:solidFill>
                  <a:srgbClr val="556075"/>
                </a:solidFill>
                <a:latin typeface="Calibri"/>
              </a:rPr>
              <a:t>原文说A→不要选"因此B/C/D也一定"</a:t>
            </a:r>
          </a:p>
        </p:txBody>
      </p:sp>
      <p:sp>
        <p:nvSpPr>
          <p:cNvPr id="20" name="Rounded Rectangle 19"/>
          <p:cNvSpPr/>
          <p:nvPr/>
        </p:nvSpPr>
        <p:spPr>
          <a:xfrm>
            <a:off x="6355079" y="286512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86512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2956560"/>
            <a:ext cx="5029200" cy="411480"/>
          </a:xfrm>
          <a:prstGeom prst="rect">
            <a:avLst/>
          </a:prstGeom>
          <a:noFill/>
        </p:spPr>
        <p:txBody>
          <a:bodyPr wrap="square" anchor="t">
            <a:spAutoFit/>
          </a:bodyPr>
          <a:lstStyle/>
          <a:p>
            <a:pPr algn="l"/>
            <a:r>
              <a:rPr sz="1400" b="1" i="0">
                <a:solidFill>
                  <a:srgbClr val="1B5E33"/>
                </a:solidFill>
                <a:latin typeface="Calibri"/>
              </a:rPr>
              <a:t>技巧4：态度词识别</a:t>
            </a:r>
          </a:p>
        </p:txBody>
      </p:sp>
      <p:sp>
        <p:nvSpPr>
          <p:cNvPr id="23" name="TextBox 22"/>
          <p:cNvSpPr txBox="1"/>
          <p:nvPr/>
        </p:nvSpPr>
        <p:spPr>
          <a:xfrm>
            <a:off x="6629399" y="3368040"/>
            <a:ext cx="5029200" cy="853440"/>
          </a:xfrm>
          <a:prstGeom prst="rect">
            <a:avLst/>
          </a:prstGeom>
          <a:noFill/>
        </p:spPr>
        <p:txBody>
          <a:bodyPr wrap="square" anchor="t">
            <a:spAutoFit/>
          </a:bodyPr>
          <a:lstStyle/>
          <a:p>
            <a:pPr algn="l"/>
            <a:r>
              <a:rPr sz="1250" b="0" i="0">
                <a:solidFill>
                  <a:srgbClr val="556075"/>
                </a:solidFill>
                <a:latin typeface="Calibri"/>
              </a:rPr>
              <a:t>unfortunately/worryingly→负面; encouragingly→正面</a:t>
            </a:r>
          </a:p>
        </p:txBody>
      </p:sp>
      <p:sp>
        <p:nvSpPr>
          <p:cNvPr id="24" name="Rounded Rectangle 23"/>
          <p:cNvSpPr/>
          <p:nvPr/>
        </p:nvSpPr>
        <p:spPr>
          <a:xfrm>
            <a:off x="548640" y="449580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9580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 y="4587240"/>
            <a:ext cx="5029200" cy="411480"/>
          </a:xfrm>
          <a:prstGeom prst="rect">
            <a:avLst/>
          </a:prstGeom>
          <a:noFill/>
        </p:spPr>
        <p:txBody>
          <a:bodyPr wrap="square" anchor="t">
            <a:spAutoFit/>
          </a:bodyPr>
          <a:lstStyle/>
          <a:p>
            <a:pPr algn="l"/>
            <a:r>
              <a:rPr sz="1400" b="1" i="0">
                <a:solidFill>
                  <a:srgbClr val="1B5E33"/>
                </a:solidFill>
                <a:latin typeface="Calibri"/>
              </a:rPr>
              <a:t>技巧5：意图题方向</a:t>
            </a:r>
          </a:p>
        </p:txBody>
      </p:sp>
      <p:sp>
        <p:nvSpPr>
          <p:cNvPr id="27" name="TextBox 26"/>
          <p:cNvSpPr txBox="1"/>
          <p:nvPr/>
        </p:nvSpPr>
        <p:spPr>
          <a:xfrm>
            <a:off x="822959" y="4998720"/>
            <a:ext cx="5029200" cy="853440"/>
          </a:xfrm>
          <a:prstGeom prst="rect">
            <a:avLst/>
          </a:prstGeom>
          <a:noFill/>
        </p:spPr>
        <p:txBody>
          <a:bodyPr wrap="square" anchor="t">
            <a:spAutoFit/>
          </a:bodyPr>
          <a:lstStyle/>
          <a:p>
            <a:pPr algn="l"/>
            <a:r>
              <a:rPr sz="1250" b="0" i="0">
                <a:solidFill>
                  <a:srgbClr val="556075"/>
                </a:solidFill>
                <a:latin typeface="Calibri"/>
              </a:rPr>
              <a:t>作者引用例子/数据→通常为了支持上下文的论点</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词汇积累策略</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23444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1B5E33"/>
                </a:solidFill>
                <a:latin typeface="Calibri"/>
              </a:rPr>
              <a:t>AWL优先</a:t>
            </a:r>
          </a:p>
        </p:txBody>
      </p:sp>
      <p:sp>
        <p:nvSpPr>
          <p:cNvPr id="11" name="TextBox 10"/>
          <p:cNvSpPr txBox="1"/>
          <p:nvPr/>
        </p:nvSpPr>
        <p:spPr>
          <a:xfrm>
            <a:off x="822959" y="1737360"/>
            <a:ext cx="5029200" cy="914400"/>
          </a:xfrm>
          <a:prstGeom prst="rect">
            <a:avLst/>
          </a:prstGeom>
          <a:noFill/>
        </p:spPr>
        <p:txBody>
          <a:bodyPr wrap="square" anchor="t">
            <a:spAutoFit/>
          </a:bodyPr>
          <a:lstStyle/>
          <a:p>
            <a:pPr algn="l"/>
            <a:r>
              <a:rPr sz="1250" b="0" i="0">
                <a:solidFill>
                  <a:srgbClr val="556075"/>
                </a:solidFill>
                <a:latin typeface="Calibri"/>
              </a:rPr>
              <a:t>570个AWL词族覆盖IELTS30%词汇——优先学</a:t>
            </a:r>
          </a:p>
        </p:txBody>
      </p:sp>
      <p:sp>
        <p:nvSpPr>
          <p:cNvPr id="12" name="Rounded Rectangle 11"/>
          <p:cNvSpPr/>
          <p:nvPr/>
        </p:nvSpPr>
        <p:spPr>
          <a:xfrm>
            <a:off x="6355079" y="123444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1B5E33"/>
                </a:solidFill>
                <a:latin typeface="Calibri"/>
              </a:rPr>
              <a:t>词族学习</a:t>
            </a:r>
          </a:p>
        </p:txBody>
      </p:sp>
      <p:sp>
        <p:nvSpPr>
          <p:cNvPr id="15" name="TextBox 14"/>
          <p:cNvSpPr txBox="1"/>
          <p:nvPr/>
        </p:nvSpPr>
        <p:spPr>
          <a:xfrm>
            <a:off x="6629399" y="1737360"/>
            <a:ext cx="5029200" cy="914400"/>
          </a:xfrm>
          <a:prstGeom prst="rect">
            <a:avLst/>
          </a:prstGeom>
          <a:noFill/>
        </p:spPr>
        <p:txBody>
          <a:bodyPr wrap="square" anchor="t">
            <a:spAutoFit/>
          </a:bodyPr>
          <a:lstStyle/>
          <a:p>
            <a:pPr algn="l"/>
            <a:r>
              <a:rPr sz="1250" b="0" i="0">
                <a:solidFill>
                  <a:srgbClr val="556075"/>
                </a:solidFill>
                <a:latin typeface="Calibri"/>
              </a:rPr>
              <a:t>学一个词学会所有形式：analyse/analysis/analytical</a:t>
            </a:r>
          </a:p>
        </p:txBody>
      </p:sp>
      <p:sp>
        <p:nvSpPr>
          <p:cNvPr id="16" name="Rounded Rectangle 15"/>
          <p:cNvSpPr/>
          <p:nvPr/>
        </p:nvSpPr>
        <p:spPr>
          <a:xfrm>
            <a:off x="548640" y="292608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92608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3017520"/>
            <a:ext cx="5029200" cy="411480"/>
          </a:xfrm>
          <a:prstGeom prst="rect">
            <a:avLst/>
          </a:prstGeom>
          <a:noFill/>
        </p:spPr>
        <p:txBody>
          <a:bodyPr wrap="square" anchor="t">
            <a:spAutoFit/>
          </a:bodyPr>
          <a:lstStyle/>
          <a:p>
            <a:pPr algn="l"/>
            <a:r>
              <a:rPr sz="1400" b="1" i="0">
                <a:solidFill>
                  <a:srgbClr val="1B5E33"/>
                </a:solidFill>
                <a:latin typeface="Calibri"/>
              </a:rPr>
              <a:t>语境记忆</a:t>
            </a:r>
          </a:p>
        </p:txBody>
      </p:sp>
      <p:sp>
        <p:nvSpPr>
          <p:cNvPr id="19" name="TextBox 18"/>
          <p:cNvSpPr txBox="1"/>
          <p:nvPr/>
        </p:nvSpPr>
        <p:spPr>
          <a:xfrm>
            <a:off x="822959" y="3429000"/>
            <a:ext cx="5029200" cy="914400"/>
          </a:xfrm>
          <a:prstGeom prst="rect">
            <a:avLst/>
          </a:prstGeom>
          <a:noFill/>
        </p:spPr>
        <p:txBody>
          <a:bodyPr wrap="square" anchor="t">
            <a:spAutoFit/>
          </a:bodyPr>
          <a:lstStyle/>
          <a:p>
            <a:pPr algn="l"/>
            <a:r>
              <a:rPr sz="1250" b="0" i="0">
                <a:solidFill>
                  <a:srgbClr val="556075"/>
                </a:solidFill>
                <a:latin typeface="Calibri"/>
              </a:rPr>
              <a:t>在句子里记词——比背单词表效率高3倍</a:t>
            </a:r>
          </a:p>
        </p:txBody>
      </p:sp>
      <p:sp>
        <p:nvSpPr>
          <p:cNvPr id="20" name="Rounded Rectangle 19"/>
          <p:cNvSpPr/>
          <p:nvPr/>
        </p:nvSpPr>
        <p:spPr>
          <a:xfrm>
            <a:off x="6355079" y="292608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92608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3017520"/>
            <a:ext cx="5029200" cy="411480"/>
          </a:xfrm>
          <a:prstGeom prst="rect">
            <a:avLst/>
          </a:prstGeom>
          <a:noFill/>
        </p:spPr>
        <p:txBody>
          <a:bodyPr wrap="square" anchor="t">
            <a:spAutoFit/>
          </a:bodyPr>
          <a:lstStyle/>
          <a:p>
            <a:pPr algn="l"/>
            <a:r>
              <a:rPr sz="1400" b="1" i="0">
                <a:solidFill>
                  <a:srgbClr val="1B5E33"/>
                </a:solidFill>
                <a:latin typeface="Calibri"/>
              </a:rPr>
              <a:t>熟词僻义</a:t>
            </a:r>
          </a:p>
        </p:txBody>
      </p:sp>
      <p:sp>
        <p:nvSpPr>
          <p:cNvPr id="23" name="TextBox 22"/>
          <p:cNvSpPr txBox="1"/>
          <p:nvPr/>
        </p:nvSpPr>
        <p:spPr>
          <a:xfrm>
            <a:off x="6629399" y="3429000"/>
            <a:ext cx="5029200" cy="914400"/>
          </a:xfrm>
          <a:prstGeom prst="rect">
            <a:avLst/>
          </a:prstGeom>
          <a:noFill/>
        </p:spPr>
        <p:txBody>
          <a:bodyPr wrap="square" anchor="t">
            <a:spAutoFit/>
          </a:bodyPr>
          <a:lstStyle/>
          <a:p>
            <a:pPr algn="l"/>
            <a:r>
              <a:rPr sz="1250" b="0" i="0">
                <a:solidFill>
                  <a:srgbClr val="556075"/>
                </a:solidFill>
                <a:latin typeface="Calibri"/>
              </a:rPr>
              <a:t>建立"熟词僻义"表：address/reflect/check/draw/rest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L08考场词汇与推断时间管理</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23444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1B5E33"/>
                </a:solidFill>
                <a:latin typeface="Calibri"/>
              </a:rPr>
              <a:t>词义题</a:t>
            </a:r>
          </a:p>
        </p:txBody>
      </p:sp>
      <p:sp>
        <p:nvSpPr>
          <p:cNvPr id="11" name="TextBox 10"/>
          <p:cNvSpPr txBox="1"/>
          <p:nvPr/>
        </p:nvSpPr>
        <p:spPr>
          <a:xfrm>
            <a:off x="822959" y="1737360"/>
            <a:ext cx="5029200" cy="914400"/>
          </a:xfrm>
          <a:prstGeom prst="rect">
            <a:avLst/>
          </a:prstGeom>
          <a:noFill/>
        </p:spPr>
        <p:txBody>
          <a:bodyPr wrap="square" anchor="t">
            <a:spAutoFit/>
          </a:bodyPr>
          <a:lstStyle/>
          <a:p>
            <a:pPr algn="l"/>
            <a:r>
              <a:rPr sz="1250" b="0" i="0">
                <a:solidFill>
                  <a:srgbClr val="556075"/>
                </a:solidFill>
                <a:latin typeface="Calibri"/>
              </a:rPr>
              <a:t>每题30-45秒；不确定先跳过，用排除法回来做</a:t>
            </a:r>
          </a:p>
        </p:txBody>
      </p:sp>
      <p:sp>
        <p:nvSpPr>
          <p:cNvPr id="12" name="Rounded Rectangle 11"/>
          <p:cNvSpPr/>
          <p:nvPr/>
        </p:nvSpPr>
        <p:spPr>
          <a:xfrm>
            <a:off x="6355079" y="123444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1B5E33"/>
                </a:solidFill>
                <a:latin typeface="Calibri"/>
              </a:rPr>
              <a:t>推断题</a:t>
            </a:r>
          </a:p>
        </p:txBody>
      </p:sp>
      <p:sp>
        <p:nvSpPr>
          <p:cNvPr id="15" name="TextBox 14"/>
          <p:cNvSpPr txBox="1"/>
          <p:nvPr/>
        </p:nvSpPr>
        <p:spPr>
          <a:xfrm>
            <a:off x="6629399" y="1737360"/>
            <a:ext cx="5029200" cy="914400"/>
          </a:xfrm>
          <a:prstGeom prst="rect">
            <a:avLst/>
          </a:prstGeom>
          <a:noFill/>
        </p:spPr>
        <p:txBody>
          <a:bodyPr wrap="square" anchor="t">
            <a:spAutoFit/>
          </a:bodyPr>
          <a:lstStyle/>
          <a:p>
            <a:pPr algn="l"/>
            <a:r>
              <a:rPr sz="1250" b="0" i="0">
                <a:solidFill>
                  <a:srgbClr val="556075"/>
                </a:solidFill>
                <a:latin typeface="Calibri"/>
              </a:rPr>
              <a:t>每题45-60秒；找支撑句花15秒，验证选项30秒</a:t>
            </a:r>
          </a:p>
        </p:txBody>
      </p:sp>
      <p:sp>
        <p:nvSpPr>
          <p:cNvPr id="16" name="Rounded Rectangle 15"/>
          <p:cNvSpPr/>
          <p:nvPr/>
        </p:nvSpPr>
        <p:spPr>
          <a:xfrm>
            <a:off x="548640" y="292608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92608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3017520"/>
            <a:ext cx="5029200" cy="411480"/>
          </a:xfrm>
          <a:prstGeom prst="rect">
            <a:avLst/>
          </a:prstGeom>
          <a:noFill/>
        </p:spPr>
        <p:txBody>
          <a:bodyPr wrap="square" anchor="t">
            <a:spAutoFit/>
          </a:bodyPr>
          <a:lstStyle/>
          <a:p>
            <a:pPr algn="l"/>
            <a:r>
              <a:rPr sz="1400" b="1" i="0">
                <a:solidFill>
                  <a:srgbClr val="1B5E33"/>
                </a:solidFill>
                <a:latin typeface="Calibri"/>
              </a:rPr>
              <a:t>难题策略</a:t>
            </a:r>
          </a:p>
        </p:txBody>
      </p:sp>
      <p:sp>
        <p:nvSpPr>
          <p:cNvPr id="19" name="TextBox 18"/>
          <p:cNvSpPr txBox="1"/>
          <p:nvPr/>
        </p:nvSpPr>
        <p:spPr>
          <a:xfrm>
            <a:off x="822959" y="3429000"/>
            <a:ext cx="5029200" cy="914400"/>
          </a:xfrm>
          <a:prstGeom prst="rect">
            <a:avLst/>
          </a:prstGeom>
          <a:noFill/>
        </p:spPr>
        <p:txBody>
          <a:bodyPr wrap="square" anchor="t">
            <a:spAutoFit/>
          </a:bodyPr>
          <a:lstStyle/>
          <a:p>
            <a:pPr algn="l"/>
            <a:r>
              <a:rPr sz="1250" b="0" i="0">
                <a:solidFill>
                  <a:srgbClr val="556075"/>
                </a:solidFill>
                <a:latin typeface="Calibri"/>
              </a:rPr>
              <a:t>词义和推断题如在同段——一次精读两题都做</a:t>
            </a:r>
          </a:p>
        </p:txBody>
      </p:sp>
      <p:sp>
        <p:nvSpPr>
          <p:cNvPr id="20" name="Rounded Rectangle 19"/>
          <p:cNvSpPr/>
          <p:nvPr/>
        </p:nvSpPr>
        <p:spPr>
          <a:xfrm>
            <a:off x="6355079" y="292608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92608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3017520"/>
            <a:ext cx="5029200" cy="411480"/>
          </a:xfrm>
          <a:prstGeom prst="rect">
            <a:avLst/>
          </a:prstGeom>
          <a:noFill/>
        </p:spPr>
        <p:txBody>
          <a:bodyPr wrap="square" anchor="t">
            <a:spAutoFit/>
          </a:bodyPr>
          <a:lstStyle/>
          <a:p>
            <a:pPr algn="l"/>
            <a:r>
              <a:rPr sz="1400" b="1" i="0">
                <a:solidFill>
                  <a:srgbClr val="1B5E33"/>
                </a:solidFill>
                <a:latin typeface="Calibri"/>
              </a:rPr>
              <a:t>检查时间</a:t>
            </a:r>
          </a:p>
        </p:txBody>
      </p:sp>
      <p:sp>
        <p:nvSpPr>
          <p:cNvPr id="23" name="TextBox 22"/>
          <p:cNvSpPr txBox="1"/>
          <p:nvPr/>
        </p:nvSpPr>
        <p:spPr>
          <a:xfrm>
            <a:off x="6629399" y="3429000"/>
            <a:ext cx="5029200" cy="914400"/>
          </a:xfrm>
          <a:prstGeom prst="rect">
            <a:avLst/>
          </a:prstGeom>
          <a:noFill/>
        </p:spPr>
        <p:txBody>
          <a:bodyPr wrap="square" anchor="t">
            <a:spAutoFit/>
          </a:bodyPr>
          <a:lstStyle/>
          <a:p>
            <a:pPr algn="l"/>
            <a:r>
              <a:rPr sz="1250" b="0" i="0">
                <a:solidFill>
                  <a:srgbClr val="556075"/>
                </a:solidFill>
                <a:latin typeface="Calibri"/>
              </a:rPr>
              <a:t>最后2分钟：检查未做/跳过的词义和推断题</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AWL核心词汇（一）：分析与研究</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234440"/>
            <a:ext cx="4937760" cy="436418"/>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436418"/>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43641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43641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670858"/>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670858"/>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70858"/>
            <a:ext cx="4754880" cy="436418"/>
          </a:xfrm>
          <a:prstGeom prst="rect">
            <a:avLst/>
          </a:prstGeom>
          <a:noFill/>
        </p:spPr>
        <p:txBody>
          <a:bodyPr wrap="square" anchor="ctr">
            <a:spAutoFit/>
          </a:bodyPr>
          <a:lstStyle/>
          <a:p>
            <a:pPr algn="l"/>
            <a:r>
              <a:rPr sz="1250" b="1" i="0">
                <a:solidFill>
                  <a:srgbClr val="1B5E33"/>
                </a:solidFill>
                <a:latin typeface="Calibri"/>
              </a:rPr>
              <a:t>analyse/analysis</a:t>
            </a:r>
          </a:p>
        </p:txBody>
      </p:sp>
      <p:sp>
        <p:nvSpPr>
          <p:cNvPr id="15" name="TextBox 14"/>
          <p:cNvSpPr txBox="1"/>
          <p:nvPr/>
        </p:nvSpPr>
        <p:spPr>
          <a:xfrm>
            <a:off x="5623560" y="1670858"/>
            <a:ext cx="5852160" cy="436418"/>
          </a:xfrm>
          <a:prstGeom prst="rect">
            <a:avLst/>
          </a:prstGeom>
          <a:noFill/>
        </p:spPr>
        <p:txBody>
          <a:bodyPr wrap="square" anchor="ctr">
            <a:spAutoFit/>
          </a:bodyPr>
          <a:lstStyle/>
          <a:p>
            <a:pPr algn="l"/>
            <a:r>
              <a:rPr sz="1250" b="0" i="0">
                <a:solidFill>
                  <a:srgbClr val="1E293B"/>
                </a:solidFill>
                <a:latin typeface="Calibri"/>
              </a:rPr>
              <a:t>分析</a:t>
            </a:r>
          </a:p>
        </p:txBody>
      </p:sp>
      <p:sp>
        <p:nvSpPr>
          <p:cNvPr id="16" name="Rectangle 15"/>
          <p:cNvSpPr/>
          <p:nvPr/>
        </p:nvSpPr>
        <p:spPr>
          <a:xfrm>
            <a:off x="548640" y="2107276"/>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107276"/>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107276"/>
            <a:ext cx="4754880" cy="436418"/>
          </a:xfrm>
          <a:prstGeom prst="rect">
            <a:avLst/>
          </a:prstGeom>
          <a:noFill/>
        </p:spPr>
        <p:txBody>
          <a:bodyPr wrap="square" anchor="ctr">
            <a:spAutoFit/>
          </a:bodyPr>
          <a:lstStyle/>
          <a:p>
            <a:pPr algn="l"/>
            <a:r>
              <a:rPr sz="1250" b="1" i="0">
                <a:solidFill>
                  <a:srgbClr val="1B5E33"/>
                </a:solidFill>
                <a:latin typeface="Calibri"/>
              </a:rPr>
              <a:t>evaluate/evaluation</a:t>
            </a:r>
          </a:p>
        </p:txBody>
      </p:sp>
      <p:sp>
        <p:nvSpPr>
          <p:cNvPr id="19" name="TextBox 18"/>
          <p:cNvSpPr txBox="1"/>
          <p:nvPr/>
        </p:nvSpPr>
        <p:spPr>
          <a:xfrm>
            <a:off x="5623560" y="2107276"/>
            <a:ext cx="5852160" cy="436418"/>
          </a:xfrm>
          <a:prstGeom prst="rect">
            <a:avLst/>
          </a:prstGeom>
          <a:noFill/>
        </p:spPr>
        <p:txBody>
          <a:bodyPr wrap="square" anchor="ctr">
            <a:spAutoFit/>
          </a:bodyPr>
          <a:lstStyle/>
          <a:p>
            <a:pPr algn="l"/>
            <a:r>
              <a:rPr sz="1250" b="0" i="0">
                <a:solidFill>
                  <a:srgbClr val="1E293B"/>
                </a:solidFill>
                <a:latin typeface="Calibri"/>
              </a:rPr>
              <a:t>评估；评价</a:t>
            </a:r>
          </a:p>
        </p:txBody>
      </p:sp>
      <p:sp>
        <p:nvSpPr>
          <p:cNvPr id="20" name="Rectangle 19"/>
          <p:cNvSpPr/>
          <p:nvPr/>
        </p:nvSpPr>
        <p:spPr>
          <a:xfrm>
            <a:off x="548640" y="2543694"/>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543694"/>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543694"/>
            <a:ext cx="4754880" cy="436418"/>
          </a:xfrm>
          <a:prstGeom prst="rect">
            <a:avLst/>
          </a:prstGeom>
          <a:noFill/>
        </p:spPr>
        <p:txBody>
          <a:bodyPr wrap="square" anchor="ctr">
            <a:spAutoFit/>
          </a:bodyPr>
          <a:lstStyle/>
          <a:p>
            <a:pPr algn="l"/>
            <a:r>
              <a:rPr sz="1250" b="1" i="0">
                <a:solidFill>
                  <a:srgbClr val="1B5E33"/>
                </a:solidFill>
                <a:latin typeface="Calibri"/>
              </a:rPr>
              <a:t>identify/identification</a:t>
            </a:r>
          </a:p>
        </p:txBody>
      </p:sp>
      <p:sp>
        <p:nvSpPr>
          <p:cNvPr id="23" name="TextBox 22"/>
          <p:cNvSpPr txBox="1"/>
          <p:nvPr/>
        </p:nvSpPr>
        <p:spPr>
          <a:xfrm>
            <a:off x="5623560" y="2543694"/>
            <a:ext cx="5852160" cy="436418"/>
          </a:xfrm>
          <a:prstGeom prst="rect">
            <a:avLst/>
          </a:prstGeom>
          <a:noFill/>
        </p:spPr>
        <p:txBody>
          <a:bodyPr wrap="square" anchor="ctr">
            <a:spAutoFit/>
          </a:bodyPr>
          <a:lstStyle/>
          <a:p>
            <a:pPr algn="l"/>
            <a:r>
              <a:rPr sz="1250" b="0" i="0">
                <a:solidFill>
                  <a:srgbClr val="1E293B"/>
                </a:solidFill>
                <a:latin typeface="Calibri"/>
              </a:rPr>
              <a:t>识别；确定</a:t>
            </a:r>
          </a:p>
        </p:txBody>
      </p:sp>
      <p:sp>
        <p:nvSpPr>
          <p:cNvPr id="24" name="Rectangle 23"/>
          <p:cNvSpPr/>
          <p:nvPr/>
        </p:nvSpPr>
        <p:spPr>
          <a:xfrm>
            <a:off x="548640" y="2980112"/>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2980112"/>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2980112"/>
            <a:ext cx="4754880" cy="436418"/>
          </a:xfrm>
          <a:prstGeom prst="rect">
            <a:avLst/>
          </a:prstGeom>
          <a:noFill/>
        </p:spPr>
        <p:txBody>
          <a:bodyPr wrap="square" anchor="ctr">
            <a:spAutoFit/>
          </a:bodyPr>
          <a:lstStyle/>
          <a:p>
            <a:pPr algn="l"/>
            <a:r>
              <a:rPr sz="1250" b="1" i="0">
                <a:solidFill>
                  <a:srgbClr val="1B5E33"/>
                </a:solidFill>
                <a:latin typeface="Calibri"/>
              </a:rPr>
              <a:t>investigate/investigation</a:t>
            </a:r>
          </a:p>
        </p:txBody>
      </p:sp>
      <p:sp>
        <p:nvSpPr>
          <p:cNvPr id="27" name="TextBox 26"/>
          <p:cNvSpPr txBox="1"/>
          <p:nvPr/>
        </p:nvSpPr>
        <p:spPr>
          <a:xfrm>
            <a:off x="5623560" y="2980112"/>
            <a:ext cx="5852160" cy="436418"/>
          </a:xfrm>
          <a:prstGeom prst="rect">
            <a:avLst/>
          </a:prstGeom>
          <a:noFill/>
        </p:spPr>
        <p:txBody>
          <a:bodyPr wrap="square" anchor="ctr">
            <a:spAutoFit/>
          </a:bodyPr>
          <a:lstStyle/>
          <a:p>
            <a:pPr algn="l"/>
            <a:r>
              <a:rPr sz="1250" b="0" i="0">
                <a:solidFill>
                  <a:srgbClr val="1E293B"/>
                </a:solidFill>
                <a:latin typeface="Calibri"/>
              </a:rPr>
              <a:t>调查；研究</a:t>
            </a:r>
          </a:p>
        </p:txBody>
      </p:sp>
      <p:sp>
        <p:nvSpPr>
          <p:cNvPr id="28" name="Rectangle 27"/>
          <p:cNvSpPr/>
          <p:nvPr/>
        </p:nvSpPr>
        <p:spPr>
          <a:xfrm>
            <a:off x="548640" y="3416530"/>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3416530"/>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3416530"/>
            <a:ext cx="4754880" cy="436418"/>
          </a:xfrm>
          <a:prstGeom prst="rect">
            <a:avLst/>
          </a:prstGeom>
          <a:noFill/>
        </p:spPr>
        <p:txBody>
          <a:bodyPr wrap="square" anchor="ctr">
            <a:spAutoFit/>
          </a:bodyPr>
          <a:lstStyle/>
          <a:p>
            <a:pPr algn="l"/>
            <a:r>
              <a:rPr sz="1250" b="1" i="0">
                <a:solidFill>
                  <a:srgbClr val="1B5E33"/>
                </a:solidFill>
                <a:latin typeface="Calibri"/>
              </a:rPr>
              <a:t>interpret/interpretation</a:t>
            </a:r>
          </a:p>
        </p:txBody>
      </p:sp>
      <p:sp>
        <p:nvSpPr>
          <p:cNvPr id="31" name="TextBox 30"/>
          <p:cNvSpPr txBox="1"/>
          <p:nvPr/>
        </p:nvSpPr>
        <p:spPr>
          <a:xfrm>
            <a:off x="5623560" y="3416530"/>
            <a:ext cx="5852160" cy="436418"/>
          </a:xfrm>
          <a:prstGeom prst="rect">
            <a:avLst/>
          </a:prstGeom>
          <a:noFill/>
        </p:spPr>
        <p:txBody>
          <a:bodyPr wrap="square" anchor="ctr">
            <a:spAutoFit/>
          </a:bodyPr>
          <a:lstStyle/>
          <a:p>
            <a:pPr algn="l"/>
            <a:r>
              <a:rPr sz="1250" b="0" i="0">
                <a:solidFill>
                  <a:srgbClr val="1E293B"/>
                </a:solidFill>
                <a:latin typeface="Calibri"/>
              </a:rPr>
              <a:t>解读；诠释</a:t>
            </a:r>
          </a:p>
        </p:txBody>
      </p:sp>
      <p:sp>
        <p:nvSpPr>
          <p:cNvPr id="32" name="Rectangle 31"/>
          <p:cNvSpPr/>
          <p:nvPr/>
        </p:nvSpPr>
        <p:spPr>
          <a:xfrm>
            <a:off x="548640" y="3852949"/>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3852949"/>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3852949"/>
            <a:ext cx="4754880" cy="436418"/>
          </a:xfrm>
          <a:prstGeom prst="rect">
            <a:avLst/>
          </a:prstGeom>
          <a:noFill/>
        </p:spPr>
        <p:txBody>
          <a:bodyPr wrap="square" anchor="ctr">
            <a:spAutoFit/>
          </a:bodyPr>
          <a:lstStyle/>
          <a:p>
            <a:pPr algn="l"/>
            <a:r>
              <a:rPr sz="1250" b="1" i="0">
                <a:solidFill>
                  <a:srgbClr val="1B5E33"/>
                </a:solidFill>
                <a:latin typeface="Calibri"/>
              </a:rPr>
              <a:t>assess/assessment</a:t>
            </a:r>
          </a:p>
        </p:txBody>
      </p:sp>
      <p:sp>
        <p:nvSpPr>
          <p:cNvPr id="35" name="TextBox 34"/>
          <p:cNvSpPr txBox="1"/>
          <p:nvPr/>
        </p:nvSpPr>
        <p:spPr>
          <a:xfrm>
            <a:off x="5623560" y="3852949"/>
            <a:ext cx="5852160" cy="436418"/>
          </a:xfrm>
          <a:prstGeom prst="rect">
            <a:avLst/>
          </a:prstGeom>
          <a:noFill/>
        </p:spPr>
        <p:txBody>
          <a:bodyPr wrap="square" anchor="ctr">
            <a:spAutoFit/>
          </a:bodyPr>
          <a:lstStyle/>
          <a:p>
            <a:pPr algn="l"/>
            <a:r>
              <a:rPr sz="1250" b="0" i="0">
                <a:solidFill>
                  <a:srgbClr val="1E293B"/>
                </a:solidFill>
                <a:latin typeface="Calibri"/>
              </a:rPr>
              <a:t>评估；评价</a:t>
            </a:r>
          </a:p>
        </p:txBody>
      </p:sp>
      <p:sp>
        <p:nvSpPr>
          <p:cNvPr id="36" name="Rectangle 35"/>
          <p:cNvSpPr/>
          <p:nvPr/>
        </p:nvSpPr>
        <p:spPr>
          <a:xfrm>
            <a:off x="548640" y="4289367"/>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4289367"/>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4289367"/>
            <a:ext cx="4754880" cy="436418"/>
          </a:xfrm>
          <a:prstGeom prst="rect">
            <a:avLst/>
          </a:prstGeom>
          <a:noFill/>
        </p:spPr>
        <p:txBody>
          <a:bodyPr wrap="square" anchor="ctr">
            <a:spAutoFit/>
          </a:bodyPr>
          <a:lstStyle/>
          <a:p>
            <a:pPr algn="l"/>
            <a:r>
              <a:rPr sz="1250" b="1" i="0">
                <a:solidFill>
                  <a:srgbClr val="1B5E33"/>
                </a:solidFill>
                <a:latin typeface="Calibri"/>
              </a:rPr>
              <a:t>demonstrate/demonstration</a:t>
            </a:r>
          </a:p>
        </p:txBody>
      </p:sp>
      <p:sp>
        <p:nvSpPr>
          <p:cNvPr id="39" name="TextBox 38"/>
          <p:cNvSpPr txBox="1"/>
          <p:nvPr/>
        </p:nvSpPr>
        <p:spPr>
          <a:xfrm>
            <a:off x="5623560" y="4289367"/>
            <a:ext cx="5852160" cy="436418"/>
          </a:xfrm>
          <a:prstGeom prst="rect">
            <a:avLst/>
          </a:prstGeom>
          <a:noFill/>
        </p:spPr>
        <p:txBody>
          <a:bodyPr wrap="square" anchor="ctr">
            <a:spAutoFit/>
          </a:bodyPr>
          <a:lstStyle/>
          <a:p>
            <a:pPr algn="l"/>
            <a:r>
              <a:rPr sz="1250" b="0" i="0">
                <a:solidFill>
                  <a:srgbClr val="1E293B"/>
                </a:solidFill>
                <a:latin typeface="Calibri"/>
              </a:rPr>
              <a:t>证明；展示</a:t>
            </a:r>
          </a:p>
        </p:txBody>
      </p:sp>
      <p:sp>
        <p:nvSpPr>
          <p:cNvPr id="40" name="Rectangle 39"/>
          <p:cNvSpPr/>
          <p:nvPr/>
        </p:nvSpPr>
        <p:spPr>
          <a:xfrm>
            <a:off x="548640" y="4725785"/>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0" y="4725785"/>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4725785"/>
            <a:ext cx="4754880" cy="436418"/>
          </a:xfrm>
          <a:prstGeom prst="rect">
            <a:avLst/>
          </a:prstGeom>
          <a:noFill/>
        </p:spPr>
        <p:txBody>
          <a:bodyPr wrap="square" anchor="ctr">
            <a:spAutoFit/>
          </a:bodyPr>
          <a:lstStyle/>
          <a:p>
            <a:pPr algn="l"/>
            <a:r>
              <a:rPr sz="1250" b="1" i="0">
                <a:solidFill>
                  <a:srgbClr val="1B5E33"/>
                </a:solidFill>
                <a:latin typeface="Calibri"/>
              </a:rPr>
              <a:t>examine/examination</a:t>
            </a:r>
          </a:p>
        </p:txBody>
      </p:sp>
      <p:sp>
        <p:nvSpPr>
          <p:cNvPr id="43" name="TextBox 42"/>
          <p:cNvSpPr txBox="1"/>
          <p:nvPr/>
        </p:nvSpPr>
        <p:spPr>
          <a:xfrm>
            <a:off x="5623560" y="4725785"/>
            <a:ext cx="5852160" cy="436418"/>
          </a:xfrm>
          <a:prstGeom prst="rect">
            <a:avLst/>
          </a:prstGeom>
          <a:noFill/>
        </p:spPr>
        <p:txBody>
          <a:bodyPr wrap="square" anchor="ctr">
            <a:spAutoFit/>
          </a:bodyPr>
          <a:lstStyle/>
          <a:p>
            <a:pPr algn="l"/>
            <a:r>
              <a:rPr sz="1250" b="0" i="0">
                <a:solidFill>
                  <a:srgbClr val="1E293B"/>
                </a:solidFill>
                <a:latin typeface="Calibri"/>
              </a:rPr>
              <a:t>检查；考察</a:t>
            </a:r>
          </a:p>
        </p:txBody>
      </p:sp>
      <p:sp>
        <p:nvSpPr>
          <p:cNvPr id="44" name="Rectangle 43"/>
          <p:cNvSpPr/>
          <p:nvPr/>
        </p:nvSpPr>
        <p:spPr>
          <a:xfrm>
            <a:off x="548640" y="5162203"/>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486400" y="5162203"/>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85800" y="5162203"/>
            <a:ext cx="4754880" cy="436418"/>
          </a:xfrm>
          <a:prstGeom prst="rect">
            <a:avLst/>
          </a:prstGeom>
          <a:noFill/>
        </p:spPr>
        <p:txBody>
          <a:bodyPr wrap="square" anchor="ctr">
            <a:spAutoFit/>
          </a:bodyPr>
          <a:lstStyle/>
          <a:p>
            <a:pPr algn="l"/>
            <a:r>
              <a:rPr sz="1250" b="1" i="0">
                <a:solidFill>
                  <a:srgbClr val="1B5E33"/>
                </a:solidFill>
                <a:latin typeface="Calibri"/>
              </a:rPr>
              <a:t>define/definition</a:t>
            </a:r>
          </a:p>
        </p:txBody>
      </p:sp>
      <p:sp>
        <p:nvSpPr>
          <p:cNvPr id="47" name="TextBox 46"/>
          <p:cNvSpPr txBox="1"/>
          <p:nvPr/>
        </p:nvSpPr>
        <p:spPr>
          <a:xfrm>
            <a:off x="5623560" y="5162203"/>
            <a:ext cx="5852160" cy="436418"/>
          </a:xfrm>
          <a:prstGeom prst="rect">
            <a:avLst/>
          </a:prstGeom>
          <a:noFill/>
        </p:spPr>
        <p:txBody>
          <a:bodyPr wrap="square" anchor="ctr">
            <a:spAutoFit/>
          </a:bodyPr>
          <a:lstStyle/>
          <a:p>
            <a:pPr algn="l"/>
            <a:r>
              <a:rPr sz="1250" b="0" i="0">
                <a:solidFill>
                  <a:srgbClr val="1E293B"/>
                </a:solidFill>
                <a:latin typeface="Calibri"/>
              </a:rPr>
              <a:t>定义</a:t>
            </a:r>
          </a:p>
        </p:txBody>
      </p:sp>
      <p:sp>
        <p:nvSpPr>
          <p:cNvPr id="48" name="Rectangle 47"/>
          <p:cNvSpPr/>
          <p:nvPr/>
        </p:nvSpPr>
        <p:spPr>
          <a:xfrm>
            <a:off x="548640" y="5598621"/>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486400" y="5598621"/>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85800" y="5598621"/>
            <a:ext cx="4754880" cy="436418"/>
          </a:xfrm>
          <a:prstGeom prst="rect">
            <a:avLst/>
          </a:prstGeom>
          <a:noFill/>
        </p:spPr>
        <p:txBody>
          <a:bodyPr wrap="square" anchor="ctr">
            <a:spAutoFit/>
          </a:bodyPr>
          <a:lstStyle/>
          <a:p>
            <a:pPr algn="l"/>
            <a:r>
              <a:rPr sz="1250" b="1" i="0">
                <a:solidFill>
                  <a:srgbClr val="1B5E33"/>
                </a:solidFill>
                <a:latin typeface="Calibri"/>
              </a:rPr>
              <a:t>categorise/category</a:t>
            </a:r>
          </a:p>
        </p:txBody>
      </p:sp>
      <p:sp>
        <p:nvSpPr>
          <p:cNvPr id="51" name="TextBox 50"/>
          <p:cNvSpPr txBox="1"/>
          <p:nvPr/>
        </p:nvSpPr>
        <p:spPr>
          <a:xfrm>
            <a:off x="5623560" y="5598621"/>
            <a:ext cx="5852160" cy="436418"/>
          </a:xfrm>
          <a:prstGeom prst="rect">
            <a:avLst/>
          </a:prstGeom>
          <a:noFill/>
        </p:spPr>
        <p:txBody>
          <a:bodyPr wrap="square" anchor="ctr">
            <a:spAutoFit/>
          </a:bodyPr>
          <a:lstStyle/>
          <a:p>
            <a:pPr algn="l"/>
            <a:r>
              <a:rPr sz="1250" b="0" i="0">
                <a:solidFill>
                  <a:srgbClr val="1E293B"/>
                </a:solidFill>
                <a:latin typeface="Calibri"/>
              </a:rPr>
              <a:t>分类；类别</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AWL核心词汇（二）：描述与解释</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234440"/>
            <a:ext cx="4937760" cy="436418"/>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436418"/>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43641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43641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670858"/>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670858"/>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70858"/>
            <a:ext cx="4754880" cy="436418"/>
          </a:xfrm>
          <a:prstGeom prst="rect">
            <a:avLst/>
          </a:prstGeom>
          <a:noFill/>
        </p:spPr>
        <p:txBody>
          <a:bodyPr wrap="square" anchor="ctr">
            <a:spAutoFit/>
          </a:bodyPr>
          <a:lstStyle/>
          <a:p>
            <a:pPr algn="l"/>
            <a:r>
              <a:rPr sz="1250" b="1" i="0">
                <a:solidFill>
                  <a:srgbClr val="1B5E33"/>
                </a:solidFill>
                <a:latin typeface="Calibri"/>
              </a:rPr>
              <a:t>indicate/indication</a:t>
            </a:r>
          </a:p>
        </p:txBody>
      </p:sp>
      <p:sp>
        <p:nvSpPr>
          <p:cNvPr id="15" name="TextBox 14"/>
          <p:cNvSpPr txBox="1"/>
          <p:nvPr/>
        </p:nvSpPr>
        <p:spPr>
          <a:xfrm>
            <a:off x="5623560" y="1670858"/>
            <a:ext cx="5852160" cy="436418"/>
          </a:xfrm>
          <a:prstGeom prst="rect">
            <a:avLst/>
          </a:prstGeom>
          <a:noFill/>
        </p:spPr>
        <p:txBody>
          <a:bodyPr wrap="square" anchor="ctr">
            <a:spAutoFit/>
          </a:bodyPr>
          <a:lstStyle/>
          <a:p>
            <a:pPr algn="l"/>
            <a:r>
              <a:rPr sz="1250" b="0" i="0">
                <a:solidFill>
                  <a:srgbClr val="1E293B"/>
                </a:solidFill>
                <a:latin typeface="Calibri"/>
              </a:rPr>
              <a:t>表明；指示</a:t>
            </a:r>
          </a:p>
        </p:txBody>
      </p:sp>
      <p:sp>
        <p:nvSpPr>
          <p:cNvPr id="16" name="Rectangle 15"/>
          <p:cNvSpPr/>
          <p:nvPr/>
        </p:nvSpPr>
        <p:spPr>
          <a:xfrm>
            <a:off x="548640" y="2107276"/>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107276"/>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107276"/>
            <a:ext cx="4754880" cy="436418"/>
          </a:xfrm>
          <a:prstGeom prst="rect">
            <a:avLst/>
          </a:prstGeom>
          <a:noFill/>
        </p:spPr>
        <p:txBody>
          <a:bodyPr wrap="square" anchor="ctr">
            <a:spAutoFit/>
          </a:bodyPr>
          <a:lstStyle/>
          <a:p>
            <a:pPr algn="l"/>
            <a:r>
              <a:rPr sz="1250" b="1" i="0">
                <a:solidFill>
                  <a:srgbClr val="1B5E33"/>
                </a:solidFill>
                <a:latin typeface="Calibri"/>
              </a:rPr>
              <a:t>suggest/suggestion</a:t>
            </a:r>
          </a:p>
        </p:txBody>
      </p:sp>
      <p:sp>
        <p:nvSpPr>
          <p:cNvPr id="19" name="TextBox 18"/>
          <p:cNvSpPr txBox="1"/>
          <p:nvPr/>
        </p:nvSpPr>
        <p:spPr>
          <a:xfrm>
            <a:off x="5623560" y="2107276"/>
            <a:ext cx="5852160" cy="436418"/>
          </a:xfrm>
          <a:prstGeom prst="rect">
            <a:avLst/>
          </a:prstGeom>
          <a:noFill/>
        </p:spPr>
        <p:txBody>
          <a:bodyPr wrap="square" anchor="ctr">
            <a:spAutoFit/>
          </a:bodyPr>
          <a:lstStyle/>
          <a:p>
            <a:pPr algn="l"/>
            <a:r>
              <a:rPr sz="1250" b="0" i="0">
                <a:solidFill>
                  <a:srgbClr val="1E293B"/>
                </a:solidFill>
                <a:latin typeface="Calibri"/>
              </a:rPr>
              <a:t>建议；暗示</a:t>
            </a:r>
          </a:p>
        </p:txBody>
      </p:sp>
      <p:sp>
        <p:nvSpPr>
          <p:cNvPr id="20" name="Rectangle 19"/>
          <p:cNvSpPr/>
          <p:nvPr/>
        </p:nvSpPr>
        <p:spPr>
          <a:xfrm>
            <a:off x="548640" y="2543694"/>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543694"/>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543694"/>
            <a:ext cx="4754880" cy="436418"/>
          </a:xfrm>
          <a:prstGeom prst="rect">
            <a:avLst/>
          </a:prstGeom>
          <a:noFill/>
        </p:spPr>
        <p:txBody>
          <a:bodyPr wrap="square" anchor="ctr">
            <a:spAutoFit/>
          </a:bodyPr>
          <a:lstStyle/>
          <a:p>
            <a:pPr algn="l"/>
            <a:r>
              <a:rPr sz="1250" b="1" i="0">
                <a:solidFill>
                  <a:srgbClr val="1B5E33"/>
                </a:solidFill>
                <a:latin typeface="Calibri"/>
              </a:rPr>
              <a:t>establish/establishment</a:t>
            </a:r>
          </a:p>
        </p:txBody>
      </p:sp>
      <p:sp>
        <p:nvSpPr>
          <p:cNvPr id="23" name="TextBox 22"/>
          <p:cNvSpPr txBox="1"/>
          <p:nvPr/>
        </p:nvSpPr>
        <p:spPr>
          <a:xfrm>
            <a:off x="5623560" y="2543694"/>
            <a:ext cx="5852160" cy="436418"/>
          </a:xfrm>
          <a:prstGeom prst="rect">
            <a:avLst/>
          </a:prstGeom>
          <a:noFill/>
        </p:spPr>
        <p:txBody>
          <a:bodyPr wrap="square" anchor="ctr">
            <a:spAutoFit/>
          </a:bodyPr>
          <a:lstStyle/>
          <a:p>
            <a:pPr algn="l"/>
            <a:r>
              <a:rPr sz="1250" b="0" i="0">
                <a:solidFill>
                  <a:srgbClr val="1E293B"/>
                </a:solidFill>
                <a:latin typeface="Calibri"/>
              </a:rPr>
              <a:t>建立；确立</a:t>
            </a:r>
          </a:p>
        </p:txBody>
      </p:sp>
      <p:sp>
        <p:nvSpPr>
          <p:cNvPr id="24" name="Rectangle 23"/>
          <p:cNvSpPr/>
          <p:nvPr/>
        </p:nvSpPr>
        <p:spPr>
          <a:xfrm>
            <a:off x="548640" y="2980112"/>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2980112"/>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2980112"/>
            <a:ext cx="4754880" cy="436418"/>
          </a:xfrm>
          <a:prstGeom prst="rect">
            <a:avLst/>
          </a:prstGeom>
          <a:noFill/>
        </p:spPr>
        <p:txBody>
          <a:bodyPr wrap="square" anchor="ctr">
            <a:spAutoFit/>
          </a:bodyPr>
          <a:lstStyle/>
          <a:p>
            <a:pPr algn="l"/>
            <a:r>
              <a:rPr sz="1250" b="1" i="0">
                <a:solidFill>
                  <a:srgbClr val="1B5E33"/>
                </a:solidFill>
                <a:latin typeface="Calibri"/>
              </a:rPr>
              <a:t>reveal/revelation</a:t>
            </a:r>
          </a:p>
        </p:txBody>
      </p:sp>
      <p:sp>
        <p:nvSpPr>
          <p:cNvPr id="27" name="TextBox 26"/>
          <p:cNvSpPr txBox="1"/>
          <p:nvPr/>
        </p:nvSpPr>
        <p:spPr>
          <a:xfrm>
            <a:off x="5623560" y="2980112"/>
            <a:ext cx="5852160" cy="436418"/>
          </a:xfrm>
          <a:prstGeom prst="rect">
            <a:avLst/>
          </a:prstGeom>
          <a:noFill/>
        </p:spPr>
        <p:txBody>
          <a:bodyPr wrap="square" anchor="ctr">
            <a:spAutoFit/>
          </a:bodyPr>
          <a:lstStyle/>
          <a:p>
            <a:pPr algn="l"/>
            <a:r>
              <a:rPr sz="1250" b="0" i="0">
                <a:solidFill>
                  <a:srgbClr val="1E293B"/>
                </a:solidFill>
                <a:latin typeface="Calibri"/>
              </a:rPr>
              <a:t>揭示；透露</a:t>
            </a:r>
          </a:p>
        </p:txBody>
      </p:sp>
      <p:sp>
        <p:nvSpPr>
          <p:cNvPr id="28" name="Rectangle 27"/>
          <p:cNvSpPr/>
          <p:nvPr/>
        </p:nvSpPr>
        <p:spPr>
          <a:xfrm>
            <a:off x="548640" y="3416530"/>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3416530"/>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3416530"/>
            <a:ext cx="4754880" cy="436418"/>
          </a:xfrm>
          <a:prstGeom prst="rect">
            <a:avLst/>
          </a:prstGeom>
          <a:noFill/>
        </p:spPr>
        <p:txBody>
          <a:bodyPr wrap="square" anchor="ctr">
            <a:spAutoFit/>
          </a:bodyPr>
          <a:lstStyle/>
          <a:p>
            <a:pPr algn="l"/>
            <a:r>
              <a:rPr sz="1250" b="1" i="0">
                <a:solidFill>
                  <a:srgbClr val="1B5E33"/>
                </a:solidFill>
                <a:latin typeface="Calibri"/>
              </a:rPr>
              <a:t>highlight/highlighted</a:t>
            </a:r>
          </a:p>
        </p:txBody>
      </p:sp>
      <p:sp>
        <p:nvSpPr>
          <p:cNvPr id="31" name="TextBox 30"/>
          <p:cNvSpPr txBox="1"/>
          <p:nvPr/>
        </p:nvSpPr>
        <p:spPr>
          <a:xfrm>
            <a:off x="5623560" y="3416530"/>
            <a:ext cx="5852160" cy="436418"/>
          </a:xfrm>
          <a:prstGeom prst="rect">
            <a:avLst/>
          </a:prstGeom>
          <a:noFill/>
        </p:spPr>
        <p:txBody>
          <a:bodyPr wrap="square" anchor="ctr">
            <a:spAutoFit/>
          </a:bodyPr>
          <a:lstStyle/>
          <a:p>
            <a:pPr algn="l"/>
            <a:r>
              <a:rPr sz="1250" b="0" i="0">
                <a:solidFill>
                  <a:srgbClr val="1E293B"/>
                </a:solidFill>
                <a:latin typeface="Calibri"/>
              </a:rPr>
              <a:t>突出；强调</a:t>
            </a:r>
          </a:p>
        </p:txBody>
      </p:sp>
      <p:sp>
        <p:nvSpPr>
          <p:cNvPr id="32" name="Rectangle 31"/>
          <p:cNvSpPr/>
          <p:nvPr/>
        </p:nvSpPr>
        <p:spPr>
          <a:xfrm>
            <a:off x="548640" y="3852949"/>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3852949"/>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3852949"/>
            <a:ext cx="4754880" cy="436418"/>
          </a:xfrm>
          <a:prstGeom prst="rect">
            <a:avLst/>
          </a:prstGeom>
          <a:noFill/>
        </p:spPr>
        <p:txBody>
          <a:bodyPr wrap="square" anchor="ctr">
            <a:spAutoFit/>
          </a:bodyPr>
          <a:lstStyle/>
          <a:p>
            <a:pPr algn="l"/>
            <a:r>
              <a:rPr sz="1250" b="1" i="0">
                <a:solidFill>
                  <a:srgbClr val="1B5E33"/>
                </a:solidFill>
                <a:latin typeface="Calibri"/>
              </a:rPr>
              <a:t>emphasise/emphasis</a:t>
            </a:r>
          </a:p>
        </p:txBody>
      </p:sp>
      <p:sp>
        <p:nvSpPr>
          <p:cNvPr id="35" name="TextBox 34"/>
          <p:cNvSpPr txBox="1"/>
          <p:nvPr/>
        </p:nvSpPr>
        <p:spPr>
          <a:xfrm>
            <a:off x="5623560" y="3852949"/>
            <a:ext cx="5852160" cy="436418"/>
          </a:xfrm>
          <a:prstGeom prst="rect">
            <a:avLst/>
          </a:prstGeom>
          <a:noFill/>
        </p:spPr>
        <p:txBody>
          <a:bodyPr wrap="square" anchor="ctr">
            <a:spAutoFit/>
          </a:bodyPr>
          <a:lstStyle/>
          <a:p>
            <a:pPr algn="l"/>
            <a:r>
              <a:rPr sz="1250" b="0" i="0">
                <a:solidFill>
                  <a:srgbClr val="1E293B"/>
                </a:solidFill>
                <a:latin typeface="Calibri"/>
              </a:rPr>
              <a:t>强调</a:t>
            </a:r>
          </a:p>
        </p:txBody>
      </p:sp>
      <p:sp>
        <p:nvSpPr>
          <p:cNvPr id="36" name="Rectangle 35"/>
          <p:cNvSpPr/>
          <p:nvPr/>
        </p:nvSpPr>
        <p:spPr>
          <a:xfrm>
            <a:off x="548640" y="4289367"/>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4289367"/>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4289367"/>
            <a:ext cx="4754880" cy="436418"/>
          </a:xfrm>
          <a:prstGeom prst="rect">
            <a:avLst/>
          </a:prstGeom>
          <a:noFill/>
        </p:spPr>
        <p:txBody>
          <a:bodyPr wrap="square" anchor="ctr">
            <a:spAutoFit/>
          </a:bodyPr>
          <a:lstStyle/>
          <a:p>
            <a:pPr algn="l"/>
            <a:r>
              <a:rPr sz="1250" b="1" i="0">
                <a:solidFill>
                  <a:srgbClr val="1B5E33"/>
                </a:solidFill>
                <a:latin typeface="Calibri"/>
              </a:rPr>
              <a:t>illustrate/illustration</a:t>
            </a:r>
          </a:p>
        </p:txBody>
      </p:sp>
      <p:sp>
        <p:nvSpPr>
          <p:cNvPr id="39" name="TextBox 38"/>
          <p:cNvSpPr txBox="1"/>
          <p:nvPr/>
        </p:nvSpPr>
        <p:spPr>
          <a:xfrm>
            <a:off x="5623560" y="4289367"/>
            <a:ext cx="5852160" cy="436418"/>
          </a:xfrm>
          <a:prstGeom prst="rect">
            <a:avLst/>
          </a:prstGeom>
          <a:noFill/>
        </p:spPr>
        <p:txBody>
          <a:bodyPr wrap="square" anchor="ctr">
            <a:spAutoFit/>
          </a:bodyPr>
          <a:lstStyle/>
          <a:p>
            <a:pPr algn="l"/>
            <a:r>
              <a:rPr sz="1250" b="0" i="0">
                <a:solidFill>
                  <a:srgbClr val="1E293B"/>
                </a:solidFill>
                <a:latin typeface="Calibri"/>
              </a:rPr>
              <a:t>说明；阐释</a:t>
            </a:r>
          </a:p>
        </p:txBody>
      </p:sp>
      <p:sp>
        <p:nvSpPr>
          <p:cNvPr id="40" name="Rectangle 39"/>
          <p:cNvSpPr/>
          <p:nvPr/>
        </p:nvSpPr>
        <p:spPr>
          <a:xfrm>
            <a:off x="548640" y="4725785"/>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0" y="4725785"/>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4725785"/>
            <a:ext cx="4754880" cy="436418"/>
          </a:xfrm>
          <a:prstGeom prst="rect">
            <a:avLst/>
          </a:prstGeom>
          <a:noFill/>
        </p:spPr>
        <p:txBody>
          <a:bodyPr wrap="square" anchor="ctr">
            <a:spAutoFit/>
          </a:bodyPr>
          <a:lstStyle/>
          <a:p>
            <a:pPr algn="l"/>
            <a:r>
              <a:rPr sz="1250" b="1" i="0">
                <a:solidFill>
                  <a:srgbClr val="1B5E33"/>
                </a:solidFill>
                <a:latin typeface="Calibri"/>
              </a:rPr>
              <a:t>argue/argument</a:t>
            </a:r>
          </a:p>
        </p:txBody>
      </p:sp>
      <p:sp>
        <p:nvSpPr>
          <p:cNvPr id="43" name="TextBox 42"/>
          <p:cNvSpPr txBox="1"/>
          <p:nvPr/>
        </p:nvSpPr>
        <p:spPr>
          <a:xfrm>
            <a:off x="5623560" y="4725785"/>
            <a:ext cx="5852160" cy="436418"/>
          </a:xfrm>
          <a:prstGeom prst="rect">
            <a:avLst/>
          </a:prstGeom>
          <a:noFill/>
        </p:spPr>
        <p:txBody>
          <a:bodyPr wrap="square" anchor="ctr">
            <a:spAutoFit/>
          </a:bodyPr>
          <a:lstStyle/>
          <a:p>
            <a:pPr algn="l"/>
            <a:r>
              <a:rPr sz="1250" b="0" i="0">
                <a:solidFill>
                  <a:srgbClr val="1E293B"/>
                </a:solidFill>
                <a:latin typeface="Calibri"/>
              </a:rPr>
              <a:t>论证；争论</a:t>
            </a:r>
          </a:p>
        </p:txBody>
      </p:sp>
      <p:sp>
        <p:nvSpPr>
          <p:cNvPr id="44" name="Rectangle 43"/>
          <p:cNvSpPr/>
          <p:nvPr/>
        </p:nvSpPr>
        <p:spPr>
          <a:xfrm>
            <a:off x="548640" y="5162203"/>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486400" y="5162203"/>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85800" y="5162203"/>
            <a:ext cx="4754880" cy="436418"/>
          </a:xfrm>
          <a:prstGeom prst="rect">
            <a:avLst/>
          </a:prstGeom>
          <a:noFill/>
        </p:spPr>
        <p:txBody>
          <a:bodyPr wrap="square" anchor="ctr">
            <a:spAutoFit/>
          </a:bodyPr>
          <a:lstStyle/>
          <a:p>
            <a:pPr algn="l"/>
            <a:r>
              <a:rPr sz="1250" b="1" i="0">
                <a:solidFill>
                  <a:srgbClr val="1B5E33"/>
                </a:solidFill>
                <a:latin typeface="Calibri"/>
              </a:rPr>
              <a:t>claim/claimed</a:t>
            </a:r>
          </a:p>
        </p:txBody>
      </p:sp>
      <p:sp>
        <p:nvSpPr>
          <p:cNvPr id="47" name="TextBox 46"/>
          <p:cNvSpPr txBox="1"/>
          <p:nvPr/>
        </p:nvSpPr>
        <p:spPr>
          <a:xfrm>
            <a:off x="5623560" y="5162203"/>
            <a:ext cx="5852160" cy="436418"/>
          </a:xfrm>
          <a:prstGeom prst="rect">
            <a:avLst/>
          </a:prstGeom>
          <a:noFill/>
        </p:spPr>
        <p:txBody>
          <a:bodyPr wrap="square" anchor="ctr">
            <a:spAutoFit/>
          </a:bodyPr>
          <a:lstStyle/>
          <a:p>
            <a:pPr algn="l"/>
            <a:r>
              <a:rPr sz="1250" b="0" i="0">
                <a:solidFill>
                  <a:srgbClr val="1E293B"/>
                </a:solidFill>
                <a:latin typeface="Calibri"/>
              </a:rPr>
              <a:t>声称；主张</a:t>
            </a:r>
          </a:p>
        </p:txBody>
      </p:sp>
      <p:sp>
        <p:nvSpPr>
          <p:cNvPr id="48" name="Rectangle 47"/>
          <p:cNvSpPr/>
          <p:nvPr/>
        </p:nvSpPr>
        <p:spPr>
          <a:xfrm>
            <a:off x="548640" y="5598621"/>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486400" y="5598621"/>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85800" y="5598621"/>
            <a:ext cx="4754880" cy="436418"/>
          </a:xfrm>
          <a:prstGeom prst="rect">
            <a:avLst/>
          </a:prstGeom>
          <a:noFill/>
        </p:spPr>
        <p:txBody>
          <a:bodyPr wrap="square" anchor="ctr">
            <a:spAutoFit/>
          </a:bodyPr>
          <a:lstStyle/>
          <a:p>
            <a:pPr algn="l"/>
            <a:r>
              <a:rPr sz="1250" b="1" i="0">
                <a:solidFill>
                  <a:srgbClr val="1B5E33"/>
                </a:solidFill>
                <a:latin typeface="Calibri"/>
              </a:rPr>
              <a:t>acknowledge/acknowledgement</a:t>
            </a:r>
          </a:p>
        </p:txBody>
      </p:sp>
      <p:sp>
        <p:nvSpPr>
          <p:cNvPr id="51" name="TextBox 50"/>
          <p:cNvSpPr txBox="1"/>
          <p:nvPr/>
        </p:nvSpPr>
        <p:spPr>
          <a:xfrm>
            <a:off x="5623560" y="5598621"/>
            <a:ext cx="5852160" cy="436418"/>
          </a:xfrm>
          <a:prstGeom prst="rect">
            <a:avLst/>
          </a:prstGeom>
          <a:noFill/>
        </p:spPr>
        <p:txBody>
          <a:bodyPr wrap="square" anchor="ctr">
            <a:spAutoFit/>
          </a:bodyPr>
          <a:lstStyle/>
          <a:p>
            <a:pPr algn="l"/>
            <a:r>
              <a:rPr sz="1250" b="0" i="0">
                <a:solidFill>
                  <a:srgbClr val="1E293B"/>
                </a:solidFill>
                <a:latin typeface="Calibri"/>
              </a:rPr>
              <a:t>承认；确认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AWL核心词汇（三）：变化与过程</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234440"/>
            <a:ext cx="4937760" cy="436418"/>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436418"/>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43641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43641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670858"/>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670858"/>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70858"/>
            <a:ext cx="4754880" cy="436418"/>
          </a:xfrm>
          <a:prstGeom prst="rect">
            <a:avLst/>
          </a:prstGeom>
          <a:noFill/>
        </p:spPr>
        <p:txBody>
          <a:bodyPr wrap="square" anchor="ctr">
            <a:spAutoFit/>
          </a:bodyPr>
          <a:lstStyle/>
          <a:p>
            <a:pPr algn="l"/>
            <a:r>
              <a:rPr sz="1250" b="1" i="0">
                <a:solidFill>
                  <a:srgbClr val="1B5E33"/>
                </a:solidFill>
                <a:latin typeface="Calibri"/>
              </a:rPr>
              <a:t>increase/decrease</a:t>
            </a:r>
          </a:p>
        </p:txBody>
      </p:sp>
      <p:sp>
        <p:nvSpPr>
          <p:cNvPr id="15" name="TextBox 14"/>
          <p:cNvSpPr txBox="1"/>
          <p:nvPr/>
        </p:nvSpPr>
        <p:spPr>
          <a:xfrm>
            <a:off x="5623560" y="1670858"/>
            <a:ext cx="5852160" cy="436418"/>
          </a:xfrm>
          <a:prstGeom prst="rect">
            <a:avLst/>
          </a:prstGeom>
          <a:noFill/>
        </p:spPr>
        <p:txBody>
          <a:bodyPr wrap="square" anchor="ctr">
            <a:spAutoFit/>
          </a:bodyPr>
          <a:lstStyle/>
          <a:p>
            <a:pPr algn="l"/>
            <a:r>
              <a:rPr sz="1250" b="0" i="0">
                <a:solidFill>
                  <a:srgbClr val="1E293B"/>
                </a:solidFill>
                <a:latin typeface="Calibri"/>
              </a:rPr>
              <a:t>增加/减少</a:t>
            </a:r>
          </a:p>
        </p:txBody>
      </p:sp>
      <p:sp>
        <p:nvSpPr>
          <p:cNvPr id="16" name="Rectangle 15"/>
          <p:cNvSpPr/>
          <p:nvPr/>
        </p:nvSpPr>
        <p:spPr>
          <a:xfrm>
            <a:off x="548640" y="2107276"/>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107276"/>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107276"/>
            <a:ext cx="4754880" cy="436418"/>
          </a:xfrm>
          <a:prstGeom prst="rect">
            <a:avLst/>
          </a:prstGeom>
          <a:noFill/>
        </p:spPr>
        <p:txBody>
          <a:bodyPr wrap="square" anchor="ctr">
            <a:spAutoFit/>
          </a:bodyPr>
          <a:lstStyle/>
          <a:p>
            <a:pPr algn="l"/>
            <a:r>
              <a:rPr sz="1250" b="1" i="0">
                <a:solidFill>
                  <a:srgbClr val="1B5E33"/>
                </a:solidFill>
                <a:latin typeface="Calibri"/>
              </a:rPr>
              <a:t>fluctuate/fluctuation</a:t>
            </a:r>
          </a:p>
        </p:txBody>
      </p:sp>
      <p:sp>
        <p:nvSpPr>
          <p:cNvPr id="19" name="TextBox 18"/>
          <p:cNvSpPr txBox="1"/>
          <p:nvPr/>
        </p:nvSpPr>
        <p:spPr>
          <a:xfrm>
            <a:off x="5623560" y="2107276"/>
            <a:ext cx="5852160" cy="436418"/>
          </a:xfrm>
          <a:prstGeom prst="rect">
            <a:avLst/>
          </a:prstGeom>
          <a:noFill/>
        </p:spPr>
        <p:txBody>
          <a:bodyPr wrap="square" anchor="ctr">
            <a:spAutoFit/>
          </a:bodyPr>
          <a:lstStyle/>
          <a:p>
            <a:pPr algn="l"/>
            <a:r>
              <a:rPr sz="1250" b="0" i="0">
                <a:solidFill>
                  <a:srgbClr val="1E293B"/>
                </a:solidFill>
                <a:latin typeface="Calibri"/>
              </a:rPr>
              <a:t>波动</a:t>
            </a:r>
          </a:p>
        </p:txBody>
      </p:sp>
      <p:sp>
        <p:nvSpPr>
          <p:cNvPr id="20" name="Rectangle 19"/>
          <p:cNvSpPr/>
          <p:nvPr/>
        </p:nvSpPr>
        <p:spPr>
          <a:xfrm>
            <a:off x="548640" y="2543694"/>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543694"/>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543694"/>
            <a:ext cx="4754880" cy="436418"/>
          </a:xfrm>
          <a:prstGeom prst="rect">
            <a:avLst/>
          </a:prstGeom>
          <a:noFill/>
        </p:spPr>
        <p:txBody>
          <a:bodyPr wrap="square" anchor="ctr">
            <a:spAutoFit/>
          </a:bodyPr>
          <a:lstStyle/>
          <a:p>
            <a:pPr algn="l"/>
            <a:r>
              <a:rPr sz="1250" b="1" i="0">
                <a:solidFill>
                  <a:srgbClr val="1B5E33"/>
                </a:solidFill>
                <a:latin typeface="Calibri"/>
              </a:rPr>
              <a:t>develop/development</a:t>
            </a:r>
          </a:p>
        </p:txBody>
      </p:sp>
      <p:sp>
        <p:nvSpPr>
          <p:cNvPr id="23" name="TextBox 22"/>
          <p:cNvSpPr txBox="1"/>
          <p:nvPr/>
        </p:nvSpPr>
        <p:spPr>
          <a:xfrm>
            <a:off x="5623560" y="2543694"/>
            <a:ext cx="5852160" cy="436418"/>
          </a:xfrm>
          <a:prstGeom prst="rect">
            <a:avLst/>
          </a:prstGeom>
          <a:noFill/>
        </p:spPr>
        <p:txBody>
          <a:bodyPr wrap="square" anchor="ctr">
            <a:spAutoFit/>
          </a:bodyPr>
          <a:lstStyle/>
          <a:p>
            <a:pPr algn="l"/>
            <a:r>
              <a:rPr sz="1250" b="0" i="0">
                <a:solidFill>
                  <a:srgbClr val="1E293B"/>
                </a:solidFill>
                <a:latin typeface="Calibri"/>
              </a:rPr>
              <a:t>发展；进展</a:t>
            </a:r>
          </a:p>
        </p:txBody>
      </p:sp>
      <p:sp>
        <p:nvSpPr>
          <p:cNvPr id="24" name="Rectangle 23"/>
          <p:cNvSpPr/>
          <p:nvPr/>
        </p:nvSpPr>
        <p:spPr>
          <a:xfrm>
            <a:off x="548640" y="2980112"/>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2980112"/>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2980112"/>
            <a:ext cx="4754880" cy="436418"/>
          </a:xfrm>
          <a:prstGeom prst="rect">
            <a:avLst/>
          </a:prstGeom>
          <a:noFill/>
        </p:spPr>
        <p:txBody>
          <a:bodyPr wrap="square" anchor="ctr">
            <a:spAutoFit/>
          </a:bodyPr>
          <a:lstStyle/>
          <a:p>
            <a:pPr algn="l"/>
            <a:r>
              <a:rPr sz="1250" b="1" i="0">
                <a:solidFill>
                  <a:srgbClr val="1B5E33"/>
                </a:solidFill>
                <a:latin typeface="Calibri"/>
              </a:rPr>
              <a:t>transform/transformation</a:t>
            </a:r>
          </a:p>
        </p:txBody>
      </p:sp>
      <p:sp>
        <p:nvSpPr>
          <p:cNvPr id="27" name="TextBox 26"/>
          <p:cNvSpPr txBox="1"/>
          <p:nvPr/>
        </p:nvSpPr>
        <p:spPr>
          <a:xfrm>
            <a:off x="5623560" y="2980112"/>
            <a:ext cx="5852160" cy="436418"/>
          </a:xfrm>
          <a:prstGeom prst="rect">
            <a:avLst/>
          </a:prstGeom>
          <a:noFill/>
        </p:spPr>
        <p:txBody>
          <a:bodyPr wrap="square" anchor="ctr">
            <a:spAutoFit/>
          </a:bodyPr>
          <a:lstStyle/>
          <a:p>
            <a:pPr algn="l"/>
            <a:r>
              <a:rPr sz="1250" b="0" i="0">
                <a:solidFill>
                  <a:srgbClr val="1E293B"/>
                </a:solidFill>
                <a:latin typeface="Calibri"/>
              </a:rPr>
              <a:t>转变；转化</a:t>
            </a:r>
          </a:p>
        </p:txBody>
      </p:sp>
      <p:sp>
        <p:nvSpPr>
          <p:cNvPr id="28" name="Rectangle 27"/>
          <p:cNvSpPr/>
          <p:nvPr/>
        </p:nvSpPr>
        <p:spPr>
          <a:xfrm>
            <a:off x="548640" y="3416530"/>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3416530"/>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3416530"/>
            <a:ext cx="4754880" cy="436418"/>
          </a:xfrm>
          <a:prstGeom prst="rect">
            <a:avLst/>
          </a:prstGeom>
          <a:noFill/>
        </p:spPr>
        <p:txBody>
          <a:bodyPr wrap="square" anchor="ctr">
            <a:spAutoFit/>
          </a:bodyPr>
          <a:lstStyle/>
          <a:p>
            <a:pPr algn="l"/>
            <a:r>
              <a:rPr sz="1250" b="1" i="0">
                <a:solidFill>
                  <a:srgbClr val="1B5E33"/>
                </a:solidFill>
                <a:latin typeface="Calibri"/>
              </a:rPr>
              <a:t>evolve/evolution</a:t>
            </a:r>
          </a:p>
        </p:txBody>
      </p:sp>
      <p:sp>
        <p:nvSpPr>
          <p:cNvPr id="31" name="TextBox 30"/>
          <p:cNvSpPr txBox="1"/>
          <p:nvPr/>
        </p:nvSpPr>
        <p:spPr>
          <a:xfrm>
            <a:off x="5623560" y="3416530"/>
            <a:ext cx="5852160" cy="436418"/>
          </a:xfrm>
          <a:prstGeom prst="rect">
            <a:avLst/>
          </a:prstGeom>
          <a:noFill/>
        </p:spPr>
        <p:txBody>
          <a:bodyPr wrap="square" anchor="ctr">
            <a:spAutoFit/>
          </a:bodyPr>
          <a:lstStyle/>
          <a:p>
            <a:pPr algn="l"/>
            <a:r>
              <a:rPr sz="1250" b="0" i="0">
                <a:solidFill>
                  <a:srgbClr val="1E293B"/>
                </a:solidFill>
                <a:latin typeface="Calibri"/>
              </a:rPr>
              <a:t>演变；进化</a:t>
            </a:r>
          </a:p>
        </p:txBody>
      </p:sp>
      <p:sp>
        <p:nvSpPr>
          <p:cNvPr id="32" name="Rectangle 31"/>
          <p:cNvSpPr/>
          <p:nvPr/>
        </p:nvSpPr>
        <p:spPr>
          <a:xfrm>
            <a:off x="548640" y="3852949"/>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3852949"/>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3852949"/>
            <a:ext cx="4754880" cy="436418"/>
          </a:xfrm>
          <a:prstGeom prst="rect">
            <a:avLst/>
          </a:prstGeom>
          <a:noFill/>
        </p:spPr>
        <p:txBody>
          <a:bodyPr wrap="square" anchor="ctr">
            <a:spAutoFit/>
          </a:bodyPr>
          <a:lstStyle/>
          <a:p>
            <a:pPr algn="l"/>
            <a:r>
              <a:rPr sz="1250" b="1" i="0">
                <a:solidFill>
                  <a:srgbClr val="1B5E33"/>
                </a:solidFill>
                <a:latin typeface="Calibri"/>
              </a:rPr>
              <a:t>emerge/emergence</a:t>
            </a:r>
          </a:p>
        </p:txBody>
      </p:sp>
      <p:sp>
        <p:nvSpPr>
          <p:cNvPr id="35" name="TextBox 34"/>
          <p:cNvSpPr txBox="1"/>
          <p:nvPr/>
        </p:nvSpPr>
        <p:spPr>
          <a:xfrm>
            <a:off x="5623560" y="3852949"/>
            <a:ext cx="5852160" cy="436418"/>
          </a:xfrm>
          <a:prstGeom prst="rect">
            <a:avLst/>
          </a:prstGeom>
          <a:noFill/>
        </p:spPr>
        <p:txBody>
          <a:bodyPr wrap="square" anchor="ctr">
            <a:spAutoFit/>
          </a:bodyPr>
          <a:lstStyle/>
          <a:p>
            <a:pPr algn="l"/>
            <a:r>
              <a:rPr sz="1250" b="0" i="0">
                <a:solidFill>
                  <a:srgbClr val="1E293B"/>
                </a:solidFill>
                <a:latin typeface="Calibri"/>
              </a:rPr>
              <a:t>出现；兴起</a:t>
            </a:r>
          </a:p>
        </p:txBody>
      </p:sp>
      <p:sp>
        <p:nvSpPr>
          <p:cNvPr id="36" name="Rectangle 35"/>
          <p:cNvSpPr/>
          <p:nvPr/>
        </p:nvSpPr>
        <p:spPr>
          <a:xfrm>
            <a:off x="548640" y="4289367"/>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4289367"/>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4289367"/>
            <a:ext cx="4754880" cy="436418"/>
          </a:xfrm>
          <a:prstGeom prst="rect">
            <a:avLst/>
          </a:prstGeom>
          <a:noFill/>
        </p:spPr>
        <p:txBody>
          <a:bodyPr wrap="square" anchor="ctr">
            <a:spAutoFit/>
          </a:bodyPr>
          <a:lstStyle/>
          <a:p>
            <a:pPr algn="l"/>
            <a:r>
              <a:rPr sz="1250" b="1" i="0">
                <a:solidFill>
                  <a:srgbClr val="1B5E33"/>
                </a:solidFill>
                <a:latin typeface="Calibri"/>
              </a:rPr>
              <a:t>shift/shifting</a:t>
            </a:r>
          </a:p>
        </p:txBody>
      </p:sp>
      <p:sp>
        <p:nvSpPr>
          <p:cNvPr id="39" name="TextBox 38"/>
          <p:cNvSpPr txBox="1"/>
          <p:nvPr/>
        </p:nvSpPr>
        <p:spPr>
          <a:xfrm>
            <a:off x="5623560" y="4289367"/>
            <a:ext cx="5852160" cy="436418"/>
          </a:xfrm>
          <a:prstGeom prst="rect">
            <a:avLst/>
          </a:prstGeom>
          <a:noFill/>
        </p:spPr>
        <p:txBody>
          <a:bodyPr wrap="square" anchor="ctr">
            <a:spAutoFit/>
          </a:bodyPr>
          <a:lstStyle/>
          <a:p>
            <a:pPr algn="l"/>
            <a:r>
              <a:rPr sz="1250" b="0" i="0">
                <a:solidFill>
                  <a:srgbClr val="1E293B"/>
                </a:solidFill>
                <a:latin typeface="Calibri"/>
              </a:rPr>
              <a:t>转变；转移</a:t>
            </a:r>
          </a:p>
        </p:txBody>
      </p:sp>
      <p:sp>
        <p:nvSpPr>
          <p:cNvPr id="40" name="Rectangle 39"/>
          <p:cNvSpPr/>
          <p:nvPr/>
        </p:nvSpPr>
        <p:spPr>
          <a:xfrm>
            <a:off x="548640" y="4725785"/>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0" y="4725785"/>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4725785"/>
            <a:ext cx="4754880" cy="436418"/>
          </a:xfrm>
          <a:prstGeom prst="rect">
            <a:avLst/>
          </a:prstGeom>
          <a:noFill/>
        </p:spPr>
        <p:txBody>
          <a:bodyPr wrap="square" anchor="ctr">
            <a:spAutoFit/>
          </a:bodyPr>
          <a:lstStyle/>
          <a:p>
            <a:pPr algn="l"/>
            <a:r>
              <a:rPr sz="1250" b="1" i="0">
                <a:solidFill>
                  <a:srgbClr val="1B5E33"/>
                </a:solidFill>
                <a:latin typeface="Calibri"/>
              </a:rPr>
              <a:t>expand/expansion</a:t>
            </a:r>
          </a:p>
        </p:txBody>
      </p:sp>
      <p:sp>
        <p:nvSpPr>
          <p:cNvPr id="43" name="TextBox 42"/>
          <p:cNvSpPr txBox="1"/>
          <p:nvPr/>
        </p:nvSpPr>
        <p:spPr>
          <a:xfrm>
            <a:off x="5623560" y="4725785"/>
            <a:ext cx="5852160" cy="436418"/>
          </a:xfrm>
          <a:prstGeom prst="rect">
            <a:avLst/>
          </a:prstGeom>
          <a:noFill/>
        </p:spPr>
        <p:txBody>
          <a:bodyPr wrap="square" anchor="ctr">
            <a:spAutoFit/>
          </a:bodyPr>
          <a:lstStyle/>
          <a:p>
            <a:pPr algn="l"/>
            <a:r>
              <a:rPr sz="1250" b="0" i="0">
                <a:solidFill>
                  <a:srgbClr val="1E293B"/>
                </a:solidFill>
                <a:latin typeface="Calibri"/>
              </a:rPr>
              <a:t>扩展；扩大</a:t>
            </a:r>
          </a:p>
        </p:txBody>
      </p:sp>
      <p:sp>
        <p:nvSpPr>
          <p:cNvPr id="44" name="Rectangle 43"/>
          <p:cNvSpPr/>
          <p:nvPr/>
        </p:nvSpPr>
        <p:spPr>
          <a:xfrm>
            <a:off x="548640" y="5162203"/>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486400" y="5162203"/>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85800" y="5162203"/>
            <a:ext cx="4754880" cy="436418"/>
          </a:xfrm>
          <a:prstGeom prst="rect">
            <a:avLst/>
          </a:prstGeom>
          <a:noFill/>
        </p:spPr>
        <p:txBody>
          <a:bodyPr wrap="square" anchor="ctr">
            <a:spAutoFit/>
          </a:bodyPr>
          <a:lstStyle/>
          <a:p>
            <a:pPr algn="l"/>
            <a:r>
              <a:rPr sz="1250" b="1" i="0">
                <a:solidFill>
                  <a:srgbClr val="1B5E33"/>
                </a:solidFill>
                <a:latin typeface="Calibri"/>
              </a:rPr>
              <a:t>decline/declining</a:t>
            </a:r>
          </a:p>
        </p:txBody>
      </p:sp>
      <p:sp>
        <p:nvSpPr>
          <p:cNvPr id="47" name="TextBox 46"/>
          <p:cNvSpPr txBox="1"/>
          <p:nvPr/>
        </p:nvSpPr>
        <p:spPr>
          <a:xfrm>
            <a:off x="5623560" y="5162203"/>
            <a:ext cx="5852160" cy="436418"/>
          </a:xfrm>
          <a:prstGeom prst="rect">
            <a:avLst/>
          </a:prstGeom>
          <a:noFill/>
        </p:spPr>
        <p:txBody>
          <a:bodyPr wrap="square" anchor="ctr">
            <a:spAutoFit/>
          </a:bodyPr>
          <a:lstStyle/>
          <a:p>
            <a:pPr algn="l"/>
            <a:r>
              <a:rPr sz="1250" b="0" i="0">
                <a:solidFill>
                  <a:srgbClr val="1E293B"/>
                </a:solidFill>
                <a:latin typeface="Calibri"/>
              </a:rPr>
              <a:t>下降；衰退</a:t>
            </a:r>
          </a:p>
        </p:txBody>
      </p:sp>
      <p:sp>
        <p:nvSpPr>
          <p:cNvPr id="48" name="Rectangle 47"/>
          <p:cNvSpPr/>
          <p:nvPr/>
        </p:nvSpPr>
        <p:spPr>
          <a:xfrm>
            <a:off x="548640" y="5598621"/>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486400" y="5598621"/>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85800" y="5598621"/>
            <a:ext cx="4754880" cy="436418"/>
          </a:xfrm>
          <a:prstGeom prst="rect">
            <a:avLst/>
          </a:prstGeom>
          <a:noFill/>
        </p:spPr>
        <p:txBody>
          <a:bodyPr wrap="square" anchor="ctr">
            <a:spAutoFit/>
          </a:bodyPr>
          <a:lstStyle/>
          <a:p>
            <a:pPr algn="l"/>
            <a:r>
              <a:rPr sz="1250" b="1" i="0">
                <a:solidFill>
                  <a:srgbClr val="1B5E33"/>
                </a:solidFill>
                <a:latin typeface="Calibri"/>
              </a:rPr>
              <a:t>stabilise/stability</a:t>
            </a:r>
          </a:p>
        </p:txBody>
      </p:sp>
      <p:sp>
        <p:nvSpPr>
          <p:cNvPr id="51" name="TextBox 50"/>
          <p:cNvSpPr txBox="1"/>
          <p:nvPr/>
        </p:nvSpPr>
        <p:spPr>
          <a:xfrm>
            <a:off x="5623560" y="5598621"/>
            <a:ext cx="5852160" cy="436418"/>
          </a:xfrm>
          <a:prstGeom prst="rect">
            <a:avLst/>
          </a:prstGeom>
          <a:noFill/>
        </p:spPr>
        <p:txBody>
          <a:bodyPr wrap="square" anchor="ctr">
            <a:spAutoFit/>
          </a:bodyPr>
          <a:lstStyle/>
          <a:p>
            <a:pPr algn="l"/>
            <a:r>
              <a:rPr sz="1250" b="0" i="0">
                <a:solidFill>
                  <a:srgbClr val="1E293B"/>
                </a:solidFill>
                <a:latin typeface="Calibri"/>
              </a:rPr>
              <a:t>稳定</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词汇备考：6.0→7.0提分路径</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Rectangle 6"/>
          <p:cNvSpPr/>
          <p:nvPr/>
        </p:nvSpPr>
        <p:spPr>
          <a:xfrm>
            <a:off x="548640" y="1188720"/>
            <a:ext cx="5486400" cy="4572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6.0→6.5（前4周）</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每天学10个AWL词族（含4种词性）</a:t>
            </a:r>
          </a:p>
          <a:p>
            <a:pPr>
              <a:spcBef>
                <a:spcPts val="700"/>
              </a:spcBef>
            </a:pPr>
            <a:r>
              <a:rPr sz="1450">
                <a:solidFill>
                  <a:srgbClr val="1E293B"/>
                </a:solidFill>
              </a:rPr>
              <a:t>• 重点：语境猜词3种方法练习</a:t>
            </a:r>
          </a:p>
          <a:p>
            <a:pPr>
              <a:spcBef>
                <a:spcPts val="700"/>
              </a:spcBef>
            </a:pPr>
            <a:r>
              <a:rPr sz="1450">
                <a:solidFill>
                  <a:srgbClr val="1E293B"/>
                </a:solidFill>
              </a:rPr>
              <a:t>• 每周做2套含词义题的完整阅读</a:t>
            </a:r>
          </a:p>
          <a:p>
            <a:pPr>
              <a:spcBef>
                <a:spcPts val="700"/>
              </a:spcBef>
            </a:pPr>
            <a:r>
              <a:rPr sz="1450">
                <a:solidFill>
                  <a:srgbClr val="1E293B"/>
                </a:solidFill>
              </a:rPr>
              <a:t>• 整理熟词僻义表（每周5个词）</a:t>
            </a:r>
          </a:p>
          <a:p>
            <a:pPr>
              <a:spcBef>
                <a:spcPts val="700"/>
              </a:spcBef>
            </a:pPr>
            <a:r>
              <a:rPr sz="1450">
                <a:solidFill>
                  <a:srgbClr val="1E293B"/>
                </a:solidFill>
              </a:rPr>
              <a:t>• 目标：词义题准确率60%→75%</a:t>
            </a:r>
          </a:p>
        </p:txBody>
      </p:sp>
      <p:sp>
        <p:nvSpPr>
          <p:cNvPr id="10" name="Rectangle 9"/>
          <p:cNvSpPr/>
          <p:nvPr/>
        </p:nvSpPr>
        <p:spPr>
          <a:xfrm>
            <a:off x="6355079" y="1188720"/>
            <a:ext cx="5486400" cy="45720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6.5→7.0（后4周）</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重点：推断题有效推断判断训练</a:t>
            </a:r>
          </a:p>
          <a:p>
            <a:pPr>
              <a:spcBef>
                <a:spcPts val="700"/>
              </a:spcBef>
            </a:pPr>
            <a:r>
              <a:rPr sz="1450">
                <a:solidFill>
                  <a:srgbClr val="1E293B"/>
                </a:solidFill>
              </a:rPr>
              <a:t>• 每天做2道推断题，标注原文支撑句</a:t>
            </a:r>
          </a:p>
          <a:p>
            <a:pPr>
              <a:spcBef>
                <a:spcPts val="700"/>
              </a:spcBef>
            </a:pPr>
            <a:r>
              <a:rPr sz="1450">
                <a:solidFill>
                  <a:srgbClr val="1E293B"/>
                </a:solidFill>
              </a:rPr>
              <a:t>• 积累300个AWL词族（覆盖90%考点）</a:t>
            </a:r>
          </a:p>
          <a:p>
            <a:pPr>
              <a:spcBef>
                <a:spcPts val="700"/>
              </a:spcBef>
            </a:pPr>
            <a:r>
              <a:rPr sz="1450">
                <a:solidFill>
                  <a:srgbClr val="1E293B"/>
                </a:solidFill>
              </a:rPr>
              <a:t>• 态度题专项训练（找立场词）</a:t>
            </a:r>
          </a:p>
          <a:p>
            <a:pPr>
              <a:spcBef>
                <a:spcPts val="700"/>
              </a:spcBef>
            </a:pPr>
            <a:r>
              <a:rPr sz="1450">
                <a:solidFill>
                  <a:srgbClr val="1E293B"/>
                </a:solidFill>
              </a:rPr>
              <a:t>• 目标：推断题准确率65%→82%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词义题 vs 推断题：联合备考策略</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Rectangle 6"/>
          <p:cNvSpPr/>
          <p:nvPr/>
        </p:nvSpPr>
        <p:spPr>
          <a:xfrm>
            <a:off x="548640" y="1188720"/>
            <a:ext cx="5486400" cy="4572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词义题（Vocabulary in Context）</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策略：读整句话→找线索→猜大意→选最近的</a:t>
            </a:r>
          </a:p>
          <a:p>
            <a:pPr>
              <a:spcBef>
                <a:spcPts val="700"/>
              </a:spcBef>
            </a:pPr>
            <a:r>
              <a:rPr sz="1450">
                <a:solidFill>
                  <a:srgbClr val="1E293B"/>
                </a:solidFill>
              </a:rPr>
              <a:t>• 备考：积累AWL词族+熟词僻义</a:t>
            </a:r>
          </a:p>
          <a:p>
            <a:pPr>
              <a:spcBef>
                <a:spcPts val="700"/>
              </a:spcBef>
            </a:pPr>
            <a:r>
              <a:rPr sz="1450">
                <a:solidFill>
                  <a:srgbClr val="1E293B"/>
                </a:solidFill>
              </a:rPr>
              <a:t>• 时间：30-45秒/题</a:t>
            </a:r>
          </a:p>
          <a:p>
            <a:pPr>
              <a:spcBef>
                <a:spcPts val="700"/>
              </a:spcBef>
            </a:pPr>
            <a:r>
              <a:rPr sz="1450">
                <a:solidFill>
                  <a:srgbClr val="1E293B"/>
                </a:solidFill>
              </a:rPr>
              <a:t>• 同段题：与推断题在同段→一次精读</a:t>
            </a:r>
          </a:p>
        </p:txBody>
      </p:sp>
      <p:sp>
        <p:nvSpPr>
          <p:cNvPr id="10" name="Rectangle 9"/>
          <p:cNvSpPr/>
          <p:nvPr/>
        </p:nvSpPr>
        <p:spPr>
          <a:xfrm>
            <a:off x="6355079" y="1188720"/>
            <a:ext cx="5486400" cy="45720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推断题（Inference Questions）</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策略：找原文支撑→排除无依据选项</a:t>
            </a:r>
          </a:p>
          <a:p>
            <a:pPr>
              <a:spcBef>
                <a:spcPts val="700"/>
              </a:spcBef>
            </a:pPr>
            <a:r>
              <a:rPr sz="1450">
                <a:solidFill>
                  <a:srgbClr val="1E293B"/>
                </a:solidFill>
              </a:rPr>
              <a:t>• 备考：练习找推断支撑句的能力</a:t>
            </a:r>
          </a:p>
          <a:p>
            <a:pPr>
              <a:spcBef>
                <a:spcPts val="700"/>
              </a:spcBef>
            </a:pPr>
            <a:r>
              <a:rPr sz="1450">
                <a:solidFill>
                  <a:srgbClr val="1E293B"/>
                </a:solidFill>
              </a:rPr>
              <a:t>• 时间：45-60秒/题</a:t>
            </a:r>
          </a:p>
          <a:p>
            <a:pPr>
              <a:spcBef>
                <a:spcPts val="700"/>
              </a:spcBef>
            </a:pPr>
            <a:r>
              <a:rPr sz="1450">
                <a:solidFill>
                  <a:srgbClr val="1E293B"/>
                </a:solidFill>
              </a:rPr>
              <a:t>• 关键：有支撑=有效，无支撑/极端=无效</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词义题 vs 推断题失分分析与对策</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Rectangle 6"/>
          <p:cNvSpPr/>
          <p:nvPr/>
        </p:nvSpPr>
        <p:spPr>
          <a:xfrm>
            <a:off x="548640" y="1188720"/>
            <a:ext cx="5486400" cy="4572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词义题常见失分原因</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第1名：只看生词，不读整句话（40%）</a:t>
            </a:r>
          </a:p>
          <a:p>
            <a:pPr>
              <a:spcBef>
                <a:spcPts val="700"/>
              </a:spcBef>
            </a:pPr>
            <a:r>
              <a:rPr sz="1450">
                <a:solidFill>
                  <a:srgbClr val="1E293B"/>
                </a:solidFill>
              </a:rPr>
              <a:t>• 第2名：选有原文词的选项（原词陷阱）（30%）</a:t>
            </a:r>
          </a:p>
          <a:p>
            <a:pPr>
              <a:spcBef>
                <a:spcPts val="700"/>
              </a:spcBef>
            </a:pPr>
            <a:r>
              <a:rPr sz="1450">
                <a:solidFill>
                  <a:srgbClr val="1E293B"/>
                </a:solidFill>
              </a:rPr>
              <a:t>• 第3名：常见词的僻义不认识（20%）</a:t>
            </a:r>
          </a:p>
          <a:p>
            <a:pPr>
              <a:spcBef>
                <a:spcPts val="700"/>
              </a:spcBef>
            </a:pPr>
            <a:r>
              <a:rPr sz="1450">
                <a:solidFill>
                  <a:srgbClr val="1E293B"/>
                </a:solidFill>
              </a:rPr>
              <a:t>• 对策：强制读完整句→找语境线索→选项对照</a:t>
            </a:r>
          </a:p>
        </p:txBody>
      </p:sp>
      <p:sp>
        <p:nvSpPr>
          <p:cNvPr id="10" name="Rectangle 9"/>
          <p:cNvSpPr/>
          <p:nvPr/>
        </p:nvSpPr>
        <p:spPr>
          <a:xfrm>
            <a:off x="6355079" y="1188720"/>
            <a:ext cx="5486400" cy="45720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推断题常见失分原因</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第1名：过度推断，选了超出原文的选项（45%）</a:t>
            </a:r>
          </a:p>
          <a:p>
            <a:pPr>
              <a:spcBef>
                <a:spcPts val="700"/>
              </a:spcBef>
            </a:pPr>
            <a:r>
              <a:rPr sz="1450">
                <a:solidFill>
                  <a:srgbClr val="1E293B"/>
                </a:solidFill>
              </a:rPr>
              <a:t>• 第2名：忽略极端词all/always/never（35%）</a:t>
            </a:r>
          </a:p>
          <a:p>
            <a:pPr>
              <a:spcBef>
                <a:spcPts val="700"/>
              </a:spcBef>
            </a:pPr>
            <a:r>
              <a:rPr sz="1450">
                <a:solidFill>
                  <a:srgbClr val="1E293B"/>
                </a:solidFill>
              </a:rPr>
              <a:t>• 第3名：没回原文找支撑，凭感觉选（30%）</a:t>
            </a:r>
          </a:p>
          <a:p>
            <a:pPr>
              <a:spcBef>
                <a:spcPts val="700"/>
              </a:spcBef>
            </a:pPr>
            <a:r>
              <a:rPr sz="1450">
                <a:solidFill>
                  <a:srgbClr val="1E293B"/>
                </a:solidFill>
              </a:rPr>
              <a:t>• 对策：每选项问"原文有支撑吗？"才选</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词汇学习方法：高效 vs 低效</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Rectangle 6"/>
          <p:cNvSpPr/>
          <p:nvPr/>
        </p:nvSpPr>
        <p:spPr>
          <a:xfrm>
            <a:off x="548640" y="1188720"/>
            <a:ext cx="5486400" cy="4572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低效方法（不推荐）</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背单词表——没有语境，忘得快</a:t>
            </a:r>
          </a:p>
          <a:p>
            <a:pPr>
              <a:spcBef>
                <a:spcPts val="700"/>
              </a:spcBef>
            </a:pPr>
            <a:r>
              <a:rPr sz="1450">
                <a:solidFill>
                  <a:srgbClr val="1E293B"/>
                </a:solidFill>
              </a:rPr>
              <a:t>• 背中文意思——不知道如何在语境用</a:t>
            </a:r>
          </a:p>
          <a:p>
            <a:pPr>
              <a:spcBef>
                <a:spcPts val="700"/>
              </a:spcBef>
            </a:pPr>
            <a:r>
              <a:rPr sz="1450">
                <a:solidFill>
                  <a:srgbClr val="1E293B"/>
                </a:solidFill>
              </a:rPr>
              <a:t>• 只背一种词性——analyse但不学analysis</a:t>
            </a:r>
          </a:p>
          <a:p>
            <a:pPr>
              <a:spcBef>
                <a:spcPts val="700"/>
              </a:spcBef>
            </a:pPr>
            <a:r>
              <a:rPr sz="1450">
                <a:solidFill>
                  <a:srgbClr val="1E293B"/>
                </a:solidFill>
              </a:rPr>
              <a:t>• 不分主次——生僻词和AWL同等重视</a:t>
            </a:r>
          </a:p>
        </p:txBody>
      </p:sp>
      <p:sp>
        <p:nvSpPr>
          <p:cNvPr id="10" name="Rectangle 9"/>
          <p:cNvSpPr/>
          <p:nvPr/>
        </p:nvSpPr>
        <p:spPr>
          <a:xfrm>
            <a:off x="6355079" y="1188720"/>
            <a:ext cx="5486400" cy="45720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高效方法（推荐）</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在句子/段落中学词——有语境记得住</a:t>
            </a:r>
          </a:p>
          <a:p>
            <a:pPr>
              <a:spcBef>
                <a:spcPts val="700"/>
              </a:spcBef>
            </a:pPr>
            <a:r>
              <a:rPr sz="1450">
                <a:solidFill>
                  <a:srgbClr val="1E293B"/>
                </a:solidFill>
              </a:rPr>
              <a:t>• 学词族——一次学4种词性（名动形副）</a:t>
            </a:r>
          </a:p>
          <a:p>
            <a:pPr>
              <a:spcBef>
                <a:spcPts val="700"/>
              </a:spcBef>
            </a:pPr>
            <a:r>
              <a:rPr sz="1450">
                <a:solidFill>
                  <a:srgbClr val="1E293B"/>
                </a:solidFill>
              </a:rPr>
              <a:t>• AWL优先——高频词先学，性价比最高</a:t>
            </a:r>
          </a:p>
          <a:p>
            <a:pPr>
              <a:spcBef>
                <a:spcPts val="700"/>
              </a:spcBef>
            </a:pPr>
            <a:r>
              <a:rPr sz="1450">
                <a:solidFill>
                  <a:srgbClr val="1E293B"/>
                </a:solidFill>
              </a:rPr>
              <a:t>• 语境判断训练——在文章中识别词义变化</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深圳学生词汇推断综合提升30天计划</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Rectangle 6"/>
          <p:cNvSpPr/>
          <p:nvPr/>
        </p:nvSpPr>
        <p:spPr>
          <a:xfrm>
            <a:off x="548640" y="1188720"/>
            <a:ext cx="5486400" cy="4572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第1-15天：词汇基础</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第1-5天：AWL词族1-50（每天10个）</a:t>
            </a:r>
          </a:p>
          <a:p>
            <a:pPr>
              <a:spcBef>
                <a:spcPts val="700"/>
              </a:spcBef>
            </a:pPr>
            <a:r>
              <a:rPr sz="1450">
                <a:solidFill>
                  <a:srgbClr val="1E293B"/>
                </a:solidFill>
              </a:rPr>
              <a:t>• 第6-10天：AWL词族51-100（每天10个）</a:t>
            </a:r>
          </a:p>
          <a:p>
            <a:pPr>
              <a:spcBef>
                <a:spcPts val="700"/>
              </a:spcBef>
            </a:pPr>
            <a:r>
              <a:rPr sz="1450">
                <a:solidFill>
                  <a:srgbClr val="1E293B"/>
                </a:solidFill>
              </a:rPr>
              <a:t>• 第11-15天：熟词僻义20词+语境猜词练习</a:t>
            </a:r>
          </a:p>
          <a:p>
            <a:pPr>
              <a:spcBef>
                <a:spcPts val="700"/>
              </a:spcBef>
            </a:pPr>
            <a:r>
              <a:rPr sz="1450">
                <a:solidFill>
                  <a:srgbClr val="1E293B"/>
                </a:solidFill>
              </a:rPr>
              <a:t>• 每天：做1道词义题，语境猜词训练</a:t>
            </a:r>
          </a:p>
        </p:txBody>
      </p:sp>
      <p:sp>
        <p:nvSpPr>
          <p:cNvPr id="10" name="Rectangle 9"/>
          <p:cNvSpPr/>
          <p:nvPr/>
        </p:nvSpPr>
        <p:spPr>
          <a:xfrm>
            <a:off x="6355079" y="1188720"/>
            <a:ext cx="5486400" cy="45720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第16-30天：推断强化</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第16-20天：推断题每天2道，标注支撑句</a:t>
            </a:r>
          </a:p>
          <a:p>
            <a:pPr>
              <a:spcBef>
                <a:spcPts val="700"/>
              </a:spcBef>
            </a:pPr>
            <a:r>
              <a:rPr sz="1450">
                <a:solidFill>
                  <a:srgbClr val="1E293B"/>
                </a:solidFill>
              </a:rPr>
              <a:t>• 第21-25天：态度/意图推断专项5题/天</a:t>
            </a:r>
          </a:p>
          <a:p>
            <a:pPr>
              <a:spcBef>
                <a:spcPts val="700"/>
              </a:spcBef>
            </a:pPr>
            <a:r>
              <a:rPr sz="1450">
                <a:solidFill>
                  <a:srgbClr val="1E293B"/>
                </a:solidFill>
              </a:rPr>
              <a:t>• 第26-30天：综合计时：词义+推断一起做</a:t>
            </a:r>
          </a:p>
          <a:p>
            <a:pPr>
              <a:spcBef>
                <a:spcPts val="700"/>
              </a:spcBef>
            </a:pPr>
            <a:r>
              <a:rPr sz="1450">
                <a:solidFill>
                  <a:srgbClr val="1E293B"/>
                </a:solidFill>
              </a:rPr>
              <a:t>• 每天：AWL词族巩固（复习前50个）</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自检清单</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L08学完自测：词汇与推断掌握度</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TextBox 7"/>
          <p:cNvSpPr txBox="1"/>
          <p:nvPr/>
        </p:nvSpPr>
        <p:spPr>
          <a:xfrm>
            <a:off x="731520" y="1371600"/>
            <a:ext cx="10789920" cy="4846320"/>
          </a:xfrm>
          <a:prstGeom prst="rect">
            <a:avLst/>
          </a:prstGeom>
          <a:noFill/>
        </p:spPr>
        <p:txBody>
          <a:bodyPr wrap="square">
            <a:spAutoFit/>
          </a:bodyPr>
          <a:lstStyle/>
          <a:p>
            <a:r>
              <a:rPr sz="1600">
                <a:solidFill>
                  <a:srgbClr val="1E293B"/>
                </a:solidFill>
              </a:rPr>
              <a:t>☐ 能用3种语境猜词法（同义/反义/定义/逻辑）猜出生词大意</a:t>
            </a:r>
          </a:p>
          <a:p>
            <a:pPr>
              <a:spcBef>
                <a:spcPts val="1200"/>
              </a:spcBef>
            </a:pPr>
            <a:r>
              <a:rPr sz="1600">
                <a:solidFill>
                  <a:srgbClr val="1E293B"/>
                </a:solidFill>
              </a:rPr>
              <a:t>☐ 词义题做题：找词→读完整句→语境推断→对照选项</a:t>
            </a:r>
          </a:p>
          <a:p>
            <a:pPr>
              <a:spcBef>
                <a:spcPts val="1200"/>
              </a:spcBef>
            </a:pPr>
            <a:r>
              <a:rPr sz="1600">
                <a:solidFill>
                  <a:srgbClr val="1E293B"/>
                </a:solidFill>
              </a:rPr>
              <a:t>☐ 推断题：每个选项都问"原文有支撑吗？"才选</a:t>
            </a:r>
          </a:p>
          <a:p>
            <a:pPr>
              <a:spcBef>
                <a:spcPts val="1200"/>
              </a:spcBef>
            </a:pPr>
            <a:r>
              <a:rPr sz="1600">
                <a:solidFill>
                  <a:srgbClr val="1E293B"/>
                </a:solidFill>
              </a:rPr>
              <a:t>☐ 能识别无效推断：极端词/超出范围/无中生有</a:t>
            </a:r>
          </a:p>
          <a:p>
            <a:pPr>
              <a:spcBef>
                <a:spcPts val="1200"/>
              </a:spcBef>
            </a:pPr>
            <a:r>
              <a:rPr sz="1600">
                <a:solidFill>
                  <a:srgbClr val="1E293B"/>
                </a:solidFill>
              </a:rPr>
              <a:t>☐ 知道AWL词汇优先级并每天积累词族</a:t>
            </a:r>
          </a:p>
          <a:p>
            <a:pPr>
              <a:spcBef>
                <a:spcPts val="1200"/>
              </a:spcBef>
            </a:pPr>
            <a:r>
              <a:rPr sz="1600">
                <a:solidFill>
                  <a:srgbClr val="1E293B"/>
                </a:solidFill>
              </a:rPr>
              <a:t>☐ 建立了"熟词僻义"表（至少10个词）</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058400" cy="731520"/>
          </a:xfrm>
          <a:prstGeom prst="rect">
            <a:avLst/>
          </a:prstGeom>
          <a:noFill/>
        </p:spPr>
        <p:txBody>
          <a:bodyPr wrap="square" anchor="t">
            <a:spAutoFit/>
          </a:bodyPr>
          <a:lstStyle/>
          <a:p>
            <a:pPr algn="l"/>
            <a:r>
              <a:rPr sz="3000" b="1" i="0">
                <a:solidFill>
                  <a:srgbClr val="FFFFFF"/>
                </a:solidFill>
                <a:latin typeface="Calibri"/>
              </a:rPr>
              <a:t>L08 课堂小结</a:t>
            </a:r>
          </a:p>
        </p:txBody>
      </p:sp>
      <p:sp>
        <p:nvSpPr>
          <p:cNvPr id="5" name="TextBox 4"/>
          <p:cNvSpPr txBox="1"/>
          <p:nvPr/>
        </p:nvSpPr>
        <p:spPr>
          <a:xfrm>
            <a:off x="731520" y="1325880"/>
            <a:ext cx="10058400" cy="457200"/>
          </a:xfrm>
          <a:prstGeom prst="rect">
            <a:avLst/>
          </a:prstGeom>
          <a:noFill/>
        </p:spPr>
        <p:txBody>
          <a:bodyPr wrap="square" anchor="t">
            <a:spAutoFit/>
          </a:bodyPr>
          <a:lstStyle/>
          <a:p>
            <a:pPr algn="l"/>
            <a:r>
              <a:rPr sz="1600" b="1" i="0">
                <a:solidFill>
                  <a:srgbClr val="E09A10"/>
                </a:solidFill>
                <a:latin typeface="Calibri"/>
              </a:rPr>
              <a:t>📌 本课核心要点</a:t>
            </a:r>
          </a:p>
        </p:txBody>
      </p:sp>
      <p:sp>
        <p:nvSpPr>
          <p:cNvPr id="6" name="TextBox 5"/>
          <p:cNvSpPr txBox="1"/>
          <p:nvPr/>
        </p:nvSpPr>
        <p:spPr>
          <a:xfrm>
            <a:off x="731520" y="1874519"/>
            <a:ext cx="10698480" cy="3474720"/>
          </a:xfrm>
          <a:prstGeom prst="rect">
            <a:avLst/>
          </a:prstGeom>
          <a:noFill/>
        </p:spPr>
        <p:txBody>
          <a:bodyPr wrap="square">
            <a:spAutoFit/>
          </a:bodyPr>
          <a:lstStyle/>
          <a:p>
            <a:r>
              <a:rPr sz="1550">
                <a:solidFill>
                  <a:srgbClr val="FFFFFF"/>
                </a:solidFill>
              </a:rPr>
              <a:t>✓  语境猜词3法：同义/反义线索→定义解释线索→逻辑推断</a:t>
            </a:r>
          </a:p>
          <a:p>
            <a:pPr>
              <a:spcBef>
                <a:spcPts val="1100"/>
              </a:spcBef>
            </a:pPr>
            <a:r>
              <a:rPr sz="1550">
                <a:solidFill>
                  <a:srgbClr val="FFFFFF"/>
                </a:solidFill>
              </a:rPr>
              <a:t>✓  推断题要有原文支撑——不能超出原文范围，无中生有</a:t>
            </a:r>
          </a:p>
          <a:p>
            <a:pPr>
              <a:spcBef>
                <a:spcPts val="1100"/>
              </a:spcBef>
            </a:pPr>
            <a:r>
              <a:rPr sz="1550">
                <a:solidFill>
                  <a:srgbClr val="FFFFFF"/>
                </a:solidFill>
              </a:rPr>
              <a:t>✓  态度题：找立场词（unfortunately/worryingly/clearly）判断态度</a:t>
            </a:r>
          </a:p>
          <a:p>
            <a:pPr>
              <a:spcBef>
                <a:spcPts val="1100"/>
              </a:spcBef>
            </a:pPr>
            <a:r>
              <a:rPr sz="1550">
                <a:solidFill>
                  <a:srgbClr val="FFFFFF"/>
                </a:solidFill>
              </a:rPr>
              <a:t>✓  AWL词汇是IELTS核心——优先学词族，在语境中记忆</a:t>
            </a:r>
          </a:p>
          <a:p>
            <a:pPr>
              <a:spcBef>
                <a:spcPts val="1100"/>
              </a:spcBef>
            </a:pPr>
            <a:r>
              <a:rPr sz="1550">
                <a:solidFill>
                  <a:srgbClr val="FFFFFF"/>
                </a:solidFill>
              </a:rPr>
              <a:t>✓  词义+推断常在同段出现——一次精读两题都做，节省时间</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练习巩固</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L08 课后作业  Homework</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TextBox 7"/>
          <p:cNvSpPr txBox="1"/>
          <p:nvPr/>
        </p:nvSpPr>
        <p:spPr>
          <a:xfrm>
            <a:off x="548640" y="1143000"/>
            <a:ext cx="10058400" cy="365760"/>
          </a:xfrm>
          <a:prstGeom prst="rect">
            <a:avLst/>
          </a:prstGeom>
          <a:noFill/>
        </p:spPr>
        <p:txBody>
          <a:bodyPr wrap="square" anchor="t">
            <a:spAutoFit/>
          </a:bodyPr>
          <a:lstStyle/>
          <a:p>
            <a:pPr algn="l"/>
            <a:r>
              <a:rPr sz="1300" b="1" i="0">
                <a:solidFill>
                  <a:srgbClr val="E09A10"/>
                </a:solidFill>
                <a:latin typeface="Calibri"/>
              </a:rPr>
              <a:t>⏱ 建议用时：约2小时</a:t>
            </a:r>
          </a:p>
        </p:txBody>
      </p:sp>
      <p:sp>
        <p:nvSpPr>
          <p:cNvPr id="9" name="TextBox 8"/>
          <p:cNvSpPr txBox="1"/>
          <p:nvPr/>
        </p:nvSpPr>
        <p:spPr>
          <a:xfrm>
            <a:off x="640080" y="1645920"/>
            <a:ext cx="10972800" cy="4572000"/>
          </a:xfrm>
          <a:prstGeom prst="rect">
            <a:avLst/>
          </a:prstGeom>
          <a:noFill/>
        </p:spPr>
        <p:txBody>
          <a:bodyPr wrap="square">
            <a:spAutoFit/>
          </a:bodyPr>
          <a:lstStyle/>
          <a:p>
            <a:r>
              <a:rPr sz="1550" b="1">
                <a:solidFill>
                  <a:srgbClr val="1E293B"/>
                </a:solidFill>
              </a:rPr>
              <a:t>作业 1　Cambridge IELTS真题：完成2套含词义题和推断题的阅读，分析每道错题</a:t>
            </a:r>
          </a:p>
          <a:p>
            <a:pPr>
              <a:spcBef>
                <a:spcPts val="1300"/>
              </a:spcBef>
            </a:pPr>
            <a:r>
              <a:rPr sz="1550" b="1">
                <a:solidFill>
                  <a:srgbClr val="1E293B"/>
                </a:solidFill>
              </a:rPr>
              <a:t>作业 2　每天学10个AWL词族，本周完成前50个AWL词族（4种词性各一个例句）</a:t>
            </a:r>
          </a:p>
          <a:p>
            <a:pPr>
              <a:spcBef>
                <a:spcPts val="1300"/>
              </a:spcBef>
            </a:pPr>
            <a:r>
              <a:rPr sz="1550" b="1">
                <a:solidFill>
                  <a:srgbClr val="1E293B"/>
                </a:solidFill>
              </a:rPr>
              <a:t>作业 3　建立"熟词僻义"笔记本：记录10个高频熟词的学术意思</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280160"/>
            <a:ext cx="10058400" cy="548640"/>
          </a:xfrm>
          <a:prstGeom prst="rect">
            <a:avLst/>
          </a:prstGeom>
          <a:noFill/>
        </p:spPr>
        <p:txBody>
          <a:bodyPr wrap="square" anchor="t">
            <a:spAutoFit/>
          </a:bodyPr>
          <a:lstStyle/>
          <a:p>
            <a:pPr algn="l"/>
            <a:r>
              <a:rPr sz="1800" b="1" i="0">
                <a:solidFill>
                  <a:srgbClr val="E09A10"/>
                </a:solidFill>
                <a:latin typeface="Calibri"/>
              </a:rPr>
              <a:t>下节预告  Next Lesson</a:t>
            </a:r>
          </a:p>
        </p:txBody>
      </p:sp>
      <p:sp>
        <p:nvSpPr>
          <p:cNvPr id="4" name="TextBox 3"/>
          <p:cNvSpPr txBox="1"/>
          <p:nvPr/>
        </p:nvSpPr>
        <p:spPr>
          <a:xfrm>
            <a:off x="914400" y="1920240"/>
            <a:ext cx="10332720" cy="914400"/>
          </a:xfrm>
          <a:prstGeom prst="rect">
            <a:avLst/>
          </a:prstGeom>
          <a:noFill/>
        </p:spPr>
        <p:txBody>
          <a:bodyPr wrap="square" anchor="t">
            <a:spAutoFit/>
          </a:bodyPr>
          <a:lstStyle/>
          <a:p>
            <a:pPr algn="l"/>
            <a:r>
              <a:rPr sz="3000" b="1" i="0">
                <a:solidFill>
                  <a:srgbClr val="FFFFFF"/>
                </a:solidFill>
                <a:latin typeface="Calibri"/>
              </a:rPr>
              <a:t>L09 · 速读技巧专项</a:t>
            </a:r>
          </a:p>
        </p:txBody>
      </p:sp>
      <p:sp>
        <p:nvSpPr>
          <p:cNvPr id="5" name="TextBox 4"/>
          <p:cNvSpPr txBox="1"/>
          <p:nvPr/>
        </p:nvSpPr>
        <p:spPr>
          <a:xfrm>
            <a:off x="914400" y="3200400"/>
            <a:ext cx="10332720" cy="2743200"/>
          </a:xfrm>
          <a:prstGeom prst="rect">
            <a:avLst/>
          </a:prstGeom>
          <a:noFill/>
        </p:spPr>
        <p:txBody>
          <a:bodyPr wrap="square">
            <a:spAutoFit/>
          </a:bodyPr>
          <a:lstStyle/>
          <a:p>
            <a:r>
              <a:rPr sz="1600">
                <a:solidFill>
                  <a:srgbClr val="CFDCF2"/>
                </a:solidFill>
              </a:rPr>
              <a:t>→ Skimming与Scanning的区别</a:t>
            </a:r>
          </a:p>
          <a:p>
            <a:pPr>
              <a:spcBef>
                <a:spcPts val="1000"/>
              </a:spcBef>
            </a:pPr>
            <a:r>
              <a:rPr sz="1600">
                <a:solidFill>
                  <a:srgbClr val="CFDCF2"/>
                </a:solidFill>
              </a:rPr>
              <a:t>→ 速读训练方法</a:t>
            </a:r>
          </a:p>
          <a:p>
            <a:pPr>
              <a:spcBef>
                <a:spcPts val="1000"/>
              </a:spcBef>
            </a:pPr>
            <a:r>
              <a:rPr sz="1600">
                <a:solidFill>
                  <a:srgbClr val="CFDCF2"/>
                </a:solidFill>
              </a:rPr>
              <a:t>→ 考场时间分配策略</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