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L04</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填空题全攻略
词数限制与精准定位</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Completion Questions: Notes, Summary, Table, Flow-chart</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4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填空题五大类型</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词数限制规则</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词性预测技巧</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Notes与Table攻略</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Flow-chart与Summary攻略</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填空题类型总览</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Types of Completion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五大填空题类型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Five Types of Completion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Notes Completion</a:t>
            </a:r>
          </a:p>
          <a:p>
            <a:pPr>
              <a:spcBef>
                <a:spcPts val="100"/>
              </a:spcBef>
            </a:pPr>
            <a:r>
              <a:rPr sz="1500">
                <a:solidFill>
                  <a:srgbClr val="556075"/>
                </a:solidFill>
              </a:rPr>
              <a:t>   笔记填空——通常按文章顺序</a:t>
            </a:r>
          </a:p>
          <a:p>
            <a:pPr>
              <a:spcBef>
                <a:spcPts val="900"/>
              </a:spcBef>
            </a:pPr>
            <a:r>
              <a:rPr sz="1800" b="1">
                <a:solidFill>
                  <a:srgbClr val="1B5E33"/>
                </a:solidFill>
              </a:rPr>
              <a:t>• Summary Completion</a:t>
            </a:r>
          </a:p>
          <a:p>
            <a:pPr>
              <a:spcBef>
                <a:spcPts val="100"/>
              </a:spcBef>
            </a:pPr>
            <a:r>
              <a:rPr sz="1500">
                <a:solidFill>
                  <a:srgbClr val="556075"/>
                </a:solidFill>
              </a:rPr>
              <a:t>   摘要填空——可能不按顺序，覆盖文章部分内容</a:t>
            </a:r>
          </a:p>
          <a:p>
            <a:pPr>
              <a:spcBef>
                <a:spcPts val="900"/>
              </a:spcBef>
            </a:pPr>
            <a:r>
              <a:rPr sz="1800" b="1">
                <a:solidFill>
                  <a:srgbClr val="1B5E33"/>
                </a:solidFill>
              </a:rPr>
              <a:t>• Table/Form Completion</a:t>
            </a:r>
          </a:p>
          <a:p>
            <a:pPr>
              <a:spcBef>
                <a:spcPts val="100"/>
              </a:spcBef>
            </a:pPr>
            <a:r>
              <a:rPr sz="1500">
                <a:solidFill>
                  <a:srgbClr val="556075"/>
                </a:solidFill>
              </a:rPr>
              <a:t>   表格填空——按行列顺序，数字/专有名词常见</a:t>
            </a:r>
          </a:p>
          <a:p>
            <a:pPr>
              <a:spcBef>
                <a:spcPts val="900"/>
              </a:spcBef>
            </a:pPr>
            <a:r>
              <a:rPr sz="1800" b="1">
                <a:solidFill>
                  <a:srgbClr val="1B5E33"/>
                </a:solidFill>
              </a:rPr>
              <a:t>• Flow-chart Completion</a:t>
            </a:r>
          </a:p>
          <a:p>
            <a:pPr>
              <a:spcBef>
                <a:spcPts val="100"/>
              </a:spcBef>
            </a:pPr>
            <a:r>
              <a:rPr sz="1500">
                <a:solidFill>
                  <a:srgbClr val="556075"/>
                </a:solidFill>
              </a:rPr>
              <a:t>   流程图填空——严格按步骤顺序，动词多见</a:t>
            </a:r>
          </a:p>
          <a:p>
            <a:pPr>
              <a:spcBef>
                <a:spcPts val="900"/>
              </a:spcBef>
            </a:pPr>
            <a:r>
              <a:rPr sz="1800" b="1">
                <a:solidFill>
                  <a:srgbClr val="1B5E33"/>
                </a:solidFill>
              </a:rPr>
              <a:t>• Sentence Completion</a:t>
            </a:r>
          </a:p>
          <a:p>
            <a:pPr>
              <a:spcBef>
                <a:spcPts val="100"/>
              </a:spcBef>
            </a:pPr>
            <a:r>
              <a:rPr sz="1500">
                <a:solidFill>
                  <a:srgbClr val="556075"/>
                </a:solidFill>
              </a:rPr>
              <a:t>   句子完成——注意语法合理性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所有填空题共同规律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Common Rules for All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词数限制</a:t>
            </a:r>
          </a:p>
          <a:p>
            <a:pPr>
              <a:spcBef>
                <a:spcPts val="100"/>
              </a:spcBef>
            </a:pPr>
            <a:r>
              <a:rPr sz="1500">
                <a:solidFill>
                  <a:srgbClr val="556075"/>
                </a:solidFill>
              </a:rPr>
              <a:t>   每题都有词数限制：1词/2词/2词+数字——超限即错</a:t>
            </a:r>
          </a:p>
          <a:p>
            <a:pPr>
              <a:spcBef>
                <a:spcPts val="900"/>
              </a:spcBef>
            </a:pPr>
            <a:r>
              <a:rPr sz="1800" b="1">
                <a:solidFill>
                  <a:srgbClr val="1B5E33"/>
                </a:solidFill>
              </a:rPr>
              <a:t>• 原词填写</a:t>
            </a:r>
          </a:p>
          <a:p>
            <a:pPr>
              <a:spcBef>
                <a:spcPts val="100"/>
              </a:spcBef>
            </a:pPr>
            <a:r>
              <a:rPr sz="1500">
                <a:solidFill>
                  <a:srgbClr val="556075"/>
                </a:solidFill>
              </a:rPr>
              <a:t>   答案通常是文章原词——不改变词形</a:t>
            </a:r>
          </a:p>
          <a:p>
            <a:pPr>
              <a:spcBef>
                <a:spcPts val="900"/>
              </a:spcBef>
            </a:pPr>
            <a:r>
              <a:rPr sz="1800" b="1">
                <a:solidFill>
                  <a:srgbClr val="1B5E33"/>
                </a:solidFill>
              </a:rPr>
              <a:t>• 拼写必须正确</a:t>
            </a:r>
          </a:p>
          <a:p>
            <a:pPr>
              <a:spcBef>
                <a:spcPts val="100"/>
              </a:spcBef>
            </a:pPr>
            <a:r>
              <a:rPr sz="1500">
                <a:solidFill>
                  <a:srgbClr val="556075"/>
                </a:solidFill>
              </a:rPr>
              <a:t>   答案拼写必须正确，大写字母通常可接受</a:t>
            </a:r>
          </a:p>
          <a:p>
            <a:pPr>
              <a:spcBef>
                <a:spcPts val="900"/>
              </a:spcBef>
            </a:pPr>
            <a:r>
              <a:rPr sz="1800" b="1">
                <a:solidFill>
                  <a:srgbClr val="1B5E33"/>
                </a:solidFill>
              </a:rPr>
              <a:t>• 同义替换定位</a:t>
            </a:r>
          </a:p>
          <a:p>
            <a:pPr>
              <a:spcBef>
                <a:spcPts val="100"/>
              </a:spcBef>
            </a:pPr>
            <a:r>
              <a:rPr sz="1500">
                <a:solidFill>
                  <a:srgbClr val="556075"/>
                </a:solidFill>
              </a:rPr>
              <a:t>   题目用不同词——同义替换找到段落再抄原词</a:t>
            </a:r>
          </a:p>
          <a:p>
            <a:pPr>
              <a:spcBef>
                <a:spcPts val="900"/>
              </a:spcBef>
            </a:pPr>
            <a:r>
              <a:rPr sz="1800" b="1">
                <a:solidFill>
                  <a:srgbClr val="1B5E33"/>
                </a:solidFill>
              </a:rPr>
              <a:t>• 顺序特征</a:t>
            </a:r>
          </a:p>
          <a:p>
            <a:pPr>
              <a:spcBef>
                <a:spcPts val="100"/>
              </a:spcBef>
            </a:pPr>
            <a:r>
              <a:rPr sz="1500">
                <a:solidFill>
                  <a:srgbClr val="556075"/>
                </a:solidFill>
              </a:rPr>
              <a:t>   Notes/Table/Flow-chart按顺序；Summary可能不按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做题四步流程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1：读词数限制（10秒）——写在题目旁边提醒自己</a:t>
            </a:r>
          </a:p>
          <a:p>
            <a:pPr>
              <a:spcBef>
                <a:spcPts val="1000"/>
              </a:spcBef>
            </a:pPr>
            <a:r>
              <a:rPr sz="1650">
                <a:solidFill>
                  <a:srgbClr val="1E293B"/>
                </a:solidFill>
              </a:rPr>
              <a:t>• Step 2：预测词性（20秒）——空格前后语法结构预测需要什么词</a:t>
            </a:r>
          </a:p>
          <a:p>
            <a:pPr>
              <a:spcBef>
                <a:spcPts val="1000"/>
              </a:spcBef>
            </a:pPr>
            <a:r>
              <a:rPr sz="1650">
                <a:solidFill>
                  <a:srgbClr val="1E293B"/>
                </a:solidFill>
              </a:rPr>
              <a:t>• Step 3：同义替换定位（30-50秒）——用题目关键词找文章段落</a:t>
            </a:r>
          </a:p>
          <a:p>
            <a:pPr>
              <a:spcBef>
                <a:spcPts val="1000"/>
              </a:spcBef>
            </a:pPr>
            <a:r>
              <a:rPr sz="1650">
                <a:solidFill>
                  <a:srgbClr val="1E293B"/>
                </a:solidFill>
              </a:rPr>
              <a:t>• Step 4：填写原词（10秒）——直接写文章原词，不改词形，不超词数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词数限制详解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NO MORE THAN TWO WORDS：最多2词（1词也可以）</a:t>
            </a:r>
          </a:p>
          <a:p>
            <a:pPr>
              <a:spcBef>
                <a:spcPts val="1000"/>
              </a:spcBef>
            </a:pPr>
            <a:r>
              <a:rPr sz="1650">
                <a:solidFill>
                  <a:srgbClr val="1E293B"/>
                </a:solidFill>
              </a:rPr>
              <a:t>• AND/OR A NUMBER：还可以另加1个数字（2020=1词）</a:t>
            </a:r>
          </a:p>
          <a:p>
            <a:pPr>
              <a:spcBef>
                <a:spcPts val="1000"/>
              </a:spcBef>
            </a:pPr>
            <a:r>
              <a:rPr sz="1650">
                <a:solidFill>
                  <a:srgbClr val="1E293B"/>
                </a:solidFill>
              </a:rPr>
              <a:t>• ONE WORD ONLY：只能1词——"a study"这种冠词+名词也不行</a:t>
            </a:r>
          </a:p>
          <a:p>
            <a:pPr>
              <a:spcBef>
                <a:spcPts val="1000"/>
              </a:spcBef>
            </a:pPr>
            <a:r>
              <a:rPr sz="1650">
                <a:solidFill>
                  <a:srgbClr val="1E293B"/>
                </a:solidFill>
              </a:rPr>
              <a:t>• 连字符词：well-known/long-term=1词（连字符连接的整体）</a:t>
            </a:r>
          </a:p>
          <a:p>
            <a:pPr>
              <a:spcBef>
                <a:spcPts val="1000"/>
              </a:spcBef>
            </a:pPr>
            <a:r>
              <a:rPr sz="1650">
                <a:solidFill>
                  <a:srgbClr val="1E293B"/>
                </a:solidFill>
              </a:rPr>
              <a:t>• 注意：超出词数即错，零容忍——每题做完先数词数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Notes Completion示范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笔记填空示例：
Solar Energy Report:
• Cost: decreased by _____(1) since 2010
• Market: now competitive with _____(2)
• Limit: depends on _____(3) hours per day
原文：Solar costs have fallen by more than 90% since 2010, making it competitive with fossil fuels. Output depends on available sunlight hours.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解题：(1)"decreased by ___"→"fallen by more than 90%"→答案：90%（数字）
(2)"competitive with ___"→"fossil fuels"→答案：fossil fuels（2词）
(3)"depends on ___ hours"→"available sunlight hours"→答案：sunlight（1词）
词数检查：90%(1数字)✓ fossil fuels(2词)✓ sunlight(1词)✓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笔记填空按顺序——找到(1)后，(2)和(3)一定在后面段落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Table Completion示范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表格示例：
Country | Energy % | Policy Since
Germany | _____(1)% | 2000
Denmark | 50% | _____(2)
China | 20% | _____(3)
原文：Germany generates 45% of power from renewables since 2000; Denmark since the 1990s; China began its renewable target in 2015.</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解题：(1)Germany+percentage→"45%"→答案：45
(2)Denmark+since→"1990s"→答案：1990s（1词）
(3)China+began→"2015"→答案：2015
表格技巧：Country(行)+Policy(列)=交叉定位，精准快速</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表格填空通常按行顺序——读懂表格结构后定位速度极快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词性预测与同义替换</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Predicting Answer Type + Paraphrase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空格位置决定词性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Position Predicts Part of Speech</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冠词后</a:t>
            </a:r>
          </a:p>
          <a:p>
            <a:pPr>
              <a:spcBef>
                <a:spcPts val="100"/>
              </a:spcBef>
            </a:pPr>
            <a:r>
              <a:rPr sz="1500">
                <a:solidFill>
                  <a:srgbClr val="556075"/>
                </a:solidFill>
              </a:rPr>
              <a:t>   a/an/the + _____ → 名词（或形容词+名词）</a:t>
            </a:r>
          </a:p>
          <a:p>
            <a:pPr>
              <a:spcBef>
                <a:spcPts val="900"/>
              </a:spcBef>
            </a:pPr>
            <a:r>
              <a:rPr sz="1800" b="1">
                <a:solidFill>
                  <a:srgbClr val="1B5E33"/>
                </a:solidFill>
              </a:rPr>
              <a:t>• 动词后</a:t>
            </a:r>
          </a:p>
          <a:p>
            <a:pPr>
              <a:spcBef>
                <a:spcPts val="100"/>
              </a:spcBef>
            </a:pPr>
            <a:r>
              <a:rPr sz="1500">
                <a:solidFill>
                  <a:srgbClr val="556075"/>
                </a:solidFill>
              </a:rPr>
              <a:t>   verb + _____ → 名词宾语或副词</a:t>
            </a:r>
          </a:p>
          <a:p>
            <a:pPr>
              <a:spcBef>
                <a:spcPts val="900"/>
              </a:spcBef>
            </a:pPr>
            <a:r>
              <a:rPr sz="1800" b="1">
                <a:solidFill>
                  <a:srgbClr val="1B5E33"/>
                </a:solidFill>
              </a:rPr>
              <a:t>• 介词后</a:t>
            </a:r>
          </a:p>
          <a:p>
            <a:pPr>
              <a:spcBef>
                <a:spcPts val="100"/>
              </a:spcBef>
            </a:pPr>
            <a:r>
              <a:rPr sz="1500">
                <a:solidFill>
                  <a:srgbClr val="556075"/>
                </a:solidFill>
              </a:rPr>
              <a:t>   in/on/by/for + _____ → 名词或动名词(-ing)</a:t>
            </a:r>
          </a:p>
          <a:p>
            <a:pPr>
              <a:spcBef>
                <a:spcPts val="900"/>
              </a:spcBef>
            </a:pPr>
            <a:r>
              <a:rPr sz="1800" b="1">
                <a:solidFill>
                  <a:srgbClr val="1B5E33"/>
                </a:solidFill>
              </a:rPr>
              <a:t>• be动词后</a:t>
            </a:r>
          </a:p>
          <a:p>
            <a:pPr>
              <a:spcBef>
                <a:spcPts val="100"/>
              </a:spcBef>
            </a:pPr>
            <a:r>
              <a:rPr sz="1500">
                <a:solidFill>
                  <a:srgbClr val="556075"/>
                </a:solidFill>
              </a:rPr>
              <a:t>   is/are/was + _____ → 形容词或过去分词</a:t>
            </a:r>
          </a:p>
          <a:p>
            <a:pPr>
              <a:spcBef>
                <a:spcPts val="900"/>
              </a:spcBef>
            </a:pPr>
            <a:r>
              <a:rPr sz="1800" b="1">
                <a:solidFill>
                  <a:srgbClr val="1B5E33"/>
                </a:solidFill>
              </a:rPr>
              <a:t>• 并列连词后</a:t>
            </a:r>
          </a:p>
          <a:p>
            <a:pPr>
              <a:spcBef>
                <a:spcPts val="100"/>
              </a:spcBef>
            </a:pPr>
            <a:r>
              <a:rPr sz="1500">
                <a:solidFill>
                  <a:srgbClr val="556075"/>
                </a:solidFill>
              </a:rPr>
              <a:t>   and/or + _____ → 与前词同词性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答案内容类型预测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Predicting Content Category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年份/数字</a:t>
            </a:r>
          </a:p>
          <a:p>
            <a:pPr>
              <a:spcBef>
                <a:spcPts val="100"/>
              </a:spcBef>
            </a:pPr>
            <a:r>
              <a:rPr sz="1500">
                <a:solidFill>
                  <a:srgbClr val="556075"/>
                </a:solidFill>
              </a:rPr>
              <a:t>   上下文提到时间/量/比例时——答案通常是数字</a:t>
            </a:r>
          </a:p>
          <a:p>
            <a:pPr>
              <a:spcBef>
                <a:spcPts val="900"/>
              </a:spcBef>
            </a:pPr>
            <a:r>
              <a:rPr sz="1800" b="1">
                <a:solidFill>
                  <a:srgbClr val="1B5E33"/>
                </a:solidFill>
              </a:rPr>
              <a:t>• 专有名词</a:t>
            </a:r>
          </a:p>
          <a:p>
            <a:pPr>
              <a:spcBef>
                <a:spcPts val="100"/>
              </a:spcBef>
            </a:pPr>
            <a:r>
              <a:rPr sz="1500">
                <a:solidFill>
                  <a:srgbClr val="556075"/>
                </a:solidFill>
              </a:rPr>
              <a:t>   人名/地名/机构名——答案首字母大写</a:t>
            </a:r>
          </a:p>
          <a:p>
            <a:pPr>
              <a:spcBef>
                <a:spcPts val="900"/>
              </a:spcBef>
            </a:pPr>
            <a:r>
              <a:rPr sz="1800" b="1">
                <a:solidFill>
                  <a:srgbClr val="1B5E33"/>
                </a:solidFill>
              </a:rPr>
              <a:t>• 形容词</a:t>
            </a:r>
          </a:p>
          <a:p>
            <a:pPr>
              <a:spcBef>
                <a:spcPts val="100"/>
              </a:spcBef>
            </a:pPr>
            <a:r>
              <a:rPr sz="1500">
                <a:solidFill>
                  <a:srgbClr val="556075"/>
                </a:solidFill>
              </a:rPr>
              <a:t>   the _____ method/approach/technique——描述性词</a:t>
            </a:r>
          </a:p>
          <a:p>
            <a:pPr>
              <a:spcBef>
                <a:spcPts val="900"/>
              </a:spcBef>
            </a:pPr>
            <a:r>
              <a:rPr sz="1800" b="1">
                <a:solidFill>
                  <a:srgbClr val="1B5E33"/>
                </a:solidFill>
              </a:rPr>
              <a:t>• 动词</a:t>
            </a:r>
          </a:p>
          <a:p>
            <a:pPr>
              <a:spcBef>
                <a:spcPts val="100"/>
              </a:spcBef>
            </a:pPr>
            <a:r>
              <a:rPr sz="1500">
                <a:solidFill>
                  <a:srgbClr val="556075"/>
                </a:solidFill>
              </a:rPr>
              <a:t>   流程图步骤描述——动词原形/过去式常见</a:t>
            </a:r>
          </a:p>
          <a:p>
            <a:pPr>
              <a:spcBef>
                <a:spcPts val="900"/>
              </a:spcBef>
            </a:pPr>
            <a:r>
              <a:rPr sz="1800" b="1">
                <a:solidFill>
                  <a:srgbClr val="1B5E33"/>
                </a:solidFill>
              </a:rPr>
              <a:t>• 名词</a:t>
            </a:r>
          </a:p>
          <a:p>
            <a:pPr>
              <a:spcBef>
                <a:spcPts val="100"/>
              </a:spcBef>
            </a:pPr>
            <a:r>
              <a:rPr sz="1500">
                <a:solidFill>
                  <a:srgbClr val="556075"/>
                </a:solidFill>
              </a:rPr>
              <a:t>   最常见——结果/特征/类型/材料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词性预测练习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1."The project was completed in _____(1)"→数字（年份）</a:t>
            </a:r>
          </a:p>
          <a:p>
            <a:pPr>
              <a:spcBef>
                <a:spcPts val="1000"/>
              </a:spcBef>
            </a:pPr>
            <a:r>
              <a:rPr sz="1650">
                <a:solidFill>
                  <a:srgbClr val="1E293B"/>
                </a:solidFill>
              </a:rPr>
              <a:t>• 2."Scientists _____(2) the results in 2019"→动词</a:t>
            </a:r>
          </a:p>
          <a:p>
            <a:pPr>
              <a:spcBef>
                <a:spcPts val="1000"/>
              </a:spcBef>
            </a:pPr>
            <a:r>
              <a:rPr sz="1650">
                <a:solidFill>
                  <a:srgbClr val="1E293B"/>
                </a:solidFill>
              </a:rPr>
              <a:t>• 3."The _____(3) discovery changed everything"→形容词</a:t>
            </a:r>
          </a:p>
          <a:p>
            <a:pPr>
              <a:spcBef>
                <a:spcPts val="1000"/>
              </a:spcBef>
            </a:pPr>
            <a:r>
              <a:rPr sz="1650">
                <a:solidFill>
                  <a:srgbClr val="1E293B"/>
                </a:solidFill>
              </a:rPr>
              <a:t>• 4."Costs rose to _____(4) by 2000"→数字</a:t>
            </a:r>
          </a:p>
          <a:p>
            <a:pPr>
              <a:spcBef>
                <a:spcPts val="1000"/>
              </a:spcBef>
            </a:pPr>
            <a:r>
              <a:rPr sz="1650">
                <a:solidFill>
                  <a:srgbClr val="1E293B"/>
                </a:solidFill>
              </a:rPr>
              <a:t>• 5."This method is more _____(5) than others"→形容词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同义替换定位方法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方法：用题目词的同义词/近义词在文章中搜索</a:t>
            </a:r>
          </a:p>
          <a:p>
            <a:pPr>
              <a:spcBef>
                <a:spcPts val="1000"/>
              </a:spcBef>
            </a:pPr>
            <a:r>
              <a:rPr sz="1650">
                <a:solidFill>
                  <a:srgbClr val="1E293B"/>
                </a:solidFill>
              </a:rPr>
              <a:t>• 原则：定位用同义替换，答案写文章原词</a:t>
            </a:r>
          </a:p>
          <a:p>
            <a:pPr>
              <a:spcBef>
                <a:spcPts val="1000"/>
              </a:spcBef>
            </a:pPr>
            <a:r>
              <a:rPr sz="1650">
                <a:solidFill>
                  <a:srgbClr val="1E293B"/>
                </a:solidFill>
              </a:rPr>
              <a:t>• 示例：题目"exercise reduces risk" → 文章"physical activity lowers likelihood"</a:t>
            </a:r>
          </a:p>
          <a:p>
            <a:pPr>
              <a:spcBef>
                <a:spcPts val="1000"/>
              </a:spcBef>
            </a:pPr>
            <a:r>
              <a:rPr sz="1650">
                <a:solidFill>
                  <a:srgbClr val="1E293B"/>
                </a:solidFill>
              </a:rPr>
              <a:t>• 定位词：exercise→physical activity / reduces→lowers</a:t>
            </a:r>
          </a:p>
          <a:p>
            <a:pPr>
              <a:spcBef>
                <a:spcPts val="1000"/>
              </a:spcBef>
            </a:pPr>
            <a:r>
              <a:rPr sz="1650">
                <a:solidFill>
                  <a:srgbClr val="1E293B"/>
                </a:solidFill>
              </a:rPr>
              <a:t>• 填写：文章原词"lowers"（不写"reduces"）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词性预测实战示范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快速预测以下空格词性（30秒）：
1."The _____ was first discovered in 1492"
2."The building is made of _____"
3."Researchers _____ the data"
4."This _____ approach reduced costs"
5."The population grew to _____ by 2000"</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答案：1.名词（被发现的东西）2.名词（材料）3.动词（研究者做的动作）4.形容词（修饰approach）5.数字（人口数量）</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词性预测速度目标：每道题10秒内——培养直觉，不要过分思考</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同义替换填空示范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题目："Exercise can _____ the risk of heart disease"
文章："Regular physical activity significantly reduces the likelihood of cardiovascular disease"
同义替换链：exercise=physical activity / heart disease=cardiovascular disease / risk=likelihood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答案：reduces（动词，文章原词）
词数检查：reduces=1词 ✓
验证：填入后整句语法正确✓</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关键：用同义替换找到段落，但答案必须是文章中出现的那个词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Notes与Table攻略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Notes and Table Completion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Notes Completion深度解析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Notes Completion In Depth</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100%按文章顺序</a:t>
            </a:r>
          </a:p>
          <a:p>
            <a:pPr>
              <a:spcBef>
                <a:spcPts val="100"/>
              </a:spcBef>
            </a:pPr>
            <a:r>
              <a:rPr sz="1500">
                <a:solidFill>
                  <a:srgbClr val="556075"/>
                </a:solidFill>
              </a:rPr>
              <a:t>   答案出现顺序与题目顺序完全一致——最好定位</a:t>
            </a:r>
          </a:p>
          <a:p>
            <a:pPr>
              <a:spcBef>
                <a:spcPts val="900"/>
              </a:spcBef>
            </a:pPr>
            <a:r>
              <a:rPr sz="1800" b="1">
                <a:solidFill>
                  <a:srgbClr val="1B5E33"/>
                </a:solidFill>
              </a:rPr>
              <a:t>• 笔记结构辅助</a:t>
            </a:r>
          </a:p>
          <a:p>
            <a:pPr>
              <a:spcBef>
                <a:spcPts val="100"/>
              </a:spcBef>
            </a:pPr>
            <a:r>
              <a:rPr sz="1500">
                <a:solidFill>
                  <a:srgbClr val="556075"/>
                </a:solidFill>
              </a:rPr>
              <a:t>   笔记标题/类别词直接对应文章段落——定位快</a:t>
            </a:r>
          </a:p>
          <a:p>
            <a:pPr>
              <a:spcBef>
                <a:spcPts val="900"/>
              </a:spcBef>
            </a:pPr>
            <a:r>
              <a:rPr sz="1800" b="1">
                <a:solidFill>
                  <a:srgbClr val="1B5E33"/>
                </a:solidFill>
              </a:rPr>
              <a:t>• 上下文丰富</a:t>
            </a:r>
          </a:p>
          <a:p>
            <a:pPr>
              <a:spcBef>
                <a:spcPts val="100"/>
              </a:spcBef>
            </a:pPr>
            <a:r>
              <a:rPr sz="1500">
                <a:solidFill>
                  <a:srgbClr val="556075"/>
                </a:solidFill>
              </a:rPr>
              <a:t>   每题周围有大量已知信息——帮助缩小搜索范围</a:t>
            </a:r>
          </a:p>
          <a:p>
            <a:pPr>
              <a:spcBef>
                <a:spcPts val="900"/>
              </a:spcBef>
            </a:pPr>
            <a:r>
              <a:rPr sz="1800" b="1">
                <a:solidFill>
                  <a:srgbClr val="1B5E33"/>
                </a:solidFill>
              </a:rPr>
              <a:t>• 数字高频</a:t>
            </a:r>
          </a:p>
          <a:p>
            <a:pPr>
              <a:spcBef>
                <a:spcPts val="100"/>
              </a:spcBef>
            </a:pPr>
            <a:r>
              <a:rPr sz="1500">
                <a:solidFill>
                  <a:srgbClr val="556075"/>
                </a:solidFill>
              </a:rPr>
              <a:t>   日期/数量/比例在Notes中非常常见——需要精确抄写</a:t>
            </a:r>
          </a:p>
          <a:p>
            <a:pPr>
              <a:spcBef>
                <a:spcPts val="900"/>
              </a:spcBef>
            </a:pPr>
            <a:r>
              <a:rPr sz="1800" b="1">
                <a:solidFill>
                  <a:srgbClr val="1B5E33"/>
                </a:solidFill>
              </a:rPr>
              <a:t>• 目标速度</a:t>
            </a:r>
          </a:p>
          <a:p>
            <a:pPr>
              <a:spcBef>
                <a:spcPts val="100"/>
              </a:spcBef>
            </a:pPr>
            <a:r>
              <a:rPr sz="1500">
                <a:solidFill>
                  <a:srgbClr val="556075"/>
                </a:solidFill>
              </a:rPr>
              <a:t>   Notes是最容易的填空——目标每题&lt;40秒</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Table Completion深度解析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Table Completion In Depth</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双向定位</a:t>
            </a:r>
          </a:p>
          <a:p>
            <a:pPr>
              <a:spcBef>
                <a:spcPts val="100"/>
              </a:spcBef>
            </a:pPr>
            <a:r>
              <a:rPr sz="1500">
                <a:solidFill>
                  <a:srgbClr val="556075"/>
                </a:solidFill>
              </a:rPr>
              <a:t>   横轴类别+纵轴类别→交叉定位——精确度极高</a:t>
            </a:r>
          </a:p>
          <a:p>
            <a:pPr>
              <a:spcBef>
                <a:spcPts val="900"/>
              </a:spcBef>
            </a:pPr>
            <a:r>
              <a:rPr sz="1800" b="1">
                <a:solidFill>
                  <a:srgbClr val="1B5E33"/>
                </a:solidFill>
              </a:rPr>
              <a:t>• 结构理解优先</a:t>
            </a:r>
          </a:p>
          <a:p>
            <a:pPr>
              <a:spcBef>
                <a:spcPts val="100"/>
              </a:spcBef>
            </a:pPr>
            <a:r>
              <a:rPr sz="1500">
                <a:solidFill>
                  <a:srgbClr val="556075"/>
                </a:solidFill>
              </a:rPr>
              <a:t>   先读懂表格结构（行/列标题），再去文章定位</a:t>
            </a:r>
          </a:p>
          <a:p>
            <a:pPr>
              <a:spcBef>
                <a:spcPts val="900"/>
              </a:spcBef>
            </a:pPr>
            <a:r>
              <a:rPr sz="1800" b="1">
                <a:solidFill>
                  <a:srgbClr val="1B5E33"/>
                </a:solidFill>
              </a:rPr>
              <a:t>• 数字答案多</a:t>
            </a:r>
          </a:p>
          <a:p>
            <a:pPr>
              <a:spcBef>
                <a:spcPts val="100"/>
              </a:spcBef>
            </a:pPr>
            <a:r>
              <a:rPr sz="1500">
                <a:solidFill>
                  <a:srgbClr val="556075"/>
                </a:solidFill>
              </a:rPr>
              <a:t>   数据表格中数字类答案最常见——注意精确抄写</a:t>
            </a:r>
          </a:p>
          <a:p>
            <a:pPr>
              <a:spcBef>
                <a:spcPts val="900"/>
              </a:spcBef>
            </a:pPr>
            <a:r>
              <a:rPr sz="1800" b="1">
                <a:solidFill>
                  <a:srgbClr val="1B5E33"/>
                </a:solidFill>
              </a:rPr>
              <a:t>• 专有名词</a:t>
            </a:r>
          </a:p>
          <a:p>
            <a:pPr>
              <a:spcBef>
                <a:spcPts val="100"/>
              </a:spcBef>
            </a:pPr>
            <a:r>
              <a:rPr sz="1500">
                <a:solidFill>
                  <a:srgbClr val="556075"/>
                </a:solidFill>
              </a:rPr>
              <a:t>   人名/地名/机构名在表格中常见——注意大小写</a:t>
            </a:r>
          </a:p>
          <a:p>
            <a:pPr>
              <a:spcBef>
                <a:spcPts val="900"/>
              </a:spcBef>
            </a:pPr>
            <a:r>
              <a:rPr sz="1800" b="1">
                <a:solidFill>
                  <a:srgbClr val="1B5E33"/>
                </a:solidFill>
              </a:rPr>
              <a:t>• 按行顺序</a:t>
            </a:r>
          </a:p>
          <a:p>
            <a:pPr>
              <a:spcBef>
                <a:spcPts val="100"/>
              </a:spcBef>
            </a:pPr>
            <a:r>
              <a:rPr sz="1500">
                <a:solidFill>
                  <a:srgbClr val="556075"/>
                </a:solidFill>
              </a:rPr>
              <a:t>   通常按行从左到右读——用行内已知词帮助定位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Notes和Table共同攻略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两者都100%按文章顺序出现——最容易的填空类型</a:t>
            </a:r>
          </a:p>
          <a:p>
            <a:pPr>
              <a:spcBef>
                <a:spcPts val="1000"/>
              </a:spcBef>
            </a:pPr>
            <a:r>
              <a:rPr sz="1650">
                <a:solidFill>
                  <a:srgbClr val="1E293B"/>
                </a:solidFill>
              </a:rPr>
              <a:t>• 先读懂结构（笔记标题/表格行列标题）再去定位</a:t>
            </a:r>
          </a:p>
          <a:p>
            <a:pPr>
              <a:spcBef>
                <a:spcPts val="1000"/>
              </a:spcBef>
            </a:pPr>
            <a:r>
              <a:rPr sz="1650">
                <a:solidFill>
                  <a:srgbClr val="1E293B"/>
                </a:solidFill>
              </a:rPr>
              <a:t>• 数字类答案在两种题型中都非常常见</a:t>
            </a:r>
          </a:p>
          <a:p>
            <a:pPr>
              <a:spcBef>
                <a:spcPts val="1000"/>
              </a:spcBef>
            </a:pPr>
            <a:r>
              <a:rPr sz="1650">
                <a:solidFill>
                  <a:srgbClr val="1E293B"/>
                </a:solidFill>
              </a:rPr>
              <a:t>• 用行内/笔记节内已知词帮助定位下一个答案</a:t>
            </a:r>
          </a:p>
          <a:p>
            <a:pPr>
              <a:spcBef>
                <a:spcPts val="1000"/>
              </a:spcBef>
            </a:pPr>
            <a:r>
              <a:rPr sz="1650">
                <a:solidFill>
                  <a:srgbClr val="1E293B"/>
                </a:solidFill>
              </a:rPr>
              <a:t>• 目标速度：每题&lt;45秒——是填空题中最快的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常见答案类型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Notes：日期/比例/名词短语/动词（描述细节）</a:t>
            </a:r>
          </a:p>
          <a:p>
            <a:pPr>
              <a:spcBef>
                <a:spcPts val="1000"/>
              </a:spcBef>
            </a:pPr>
            <a:r>
              <a:rPr sz="1650">
                <a:solidFill>
                  <a:srgbClr val="1E293B"/>
                </a:solidFill>
              </a:rPr>
              <a:t>• Table：数字（最多）/专有名词/形容词</a:t>
            </a:r>
          </a:p>
          <a:p>
            <a:pPr>
              <a:spcBef>
                <a:spcPts val="1000"/>
              </a:spcBef>
            </a:pPr>
            <a:r>
              <a:rPr sz="1650">
                <a:solidFill>
                  <a:srgbClr val="1E293B"/>
                </a:solidFill>
              </a:rPr>
              <a:t>• 两者答案通常都是1-2词——词数超限直接判错</a:t>
            </a:r>
          </a:p>
          <a:p>
            <a:pPr>
              <a:spcBef>
                <a:spcPts val="1000"/>
              </a:spcBef>
            </a:pPr>
            <a:r>
              <a:rPr sz="1650">
                <a:solidFill>
                  <a:srgbClr val="1E293B"/>
                </a:solidFill>
              </a:rPr>
              <a:t>• 答案必须来自文章原词——不改词形，不换同义词</a:t>
            </a:r>
          </a:p>
          <a:p>
            <a:pPr>
              <a:spcBef>
                <a:spcPts val="1000"/>
              </a:spcBef>
            </a:pPr>
            <a:r>
              <a:rPr sz="1650">
                <a:solidFill>
                  <a:srgbClr val="1E293B"/>
                </a:solidFill>
              </a:rPr>
              <a:t>• 专有名词注意大小写——地名/人名首字母大写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Notes Completion完整解题流程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Notes题目：
Global Warming Effects:
• Temperature: average rise of _____(1)°C since 1900
• Sea level: expected to _____(2) by 1 metre
• Species: over _____(3) plant and animal species at risk
原文：Since 1900, global temperatures have risen by 1.5 degrees. Sea levels will rise by one metre by 2100. Over one million species are threatened.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步骤：
(1)"rise of ___°C"→"risen by 1.5 degrees"→答案：1.5（数字）
(2)"expected to ___"→"will rise"→答案：rise（动词）
(3)"over ___ species"→"over one million"→答案：one million（2词）
词数：1.5(数字)✓ rise(1词)✓ one million(2词)✓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Notes按顺序——找到(1)后，(2)(3)一定在后面段落中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Table Completion解题示范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Country | Policy Type | Start | CO2 Reduction
Germany | Solar subsidy | _____(1) | 30%
Denmark | Wind investment | 1990s | _____(2)
China | Carbon tax | 2015 | _____(3)%
原文：Germany's solar subsidy programme began in 2000 and achieved a 30% reduction. Denmark achieved world-leading reductions through wind. China's carbon tax reduced emissions by 15%.</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
(1)Germany+Start→"began in 2000"→答案：2000
(2)Denmark+CO2 Reduction→"world-leading reductions"→答案：world-leading（可能）或具体数字
(3)China+%→"reduced by 15%"→答案：15
表格技巧：已知China的Start=2015(行标题)，锁定原文段落后找15%</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表格交叉定位：行标题（Germany）+列标题（Start）= 唯一精确位置</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Flow-chart与Summary攻略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Flow-chart and Summary Completion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Flow-chart Completion特点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Flow-chart Features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100%严格顺序</a:t>
            </a:r>
          </a:p>
          <a:p>
            <a:pPr>
              <a:spcBef>
                <a:spcPts val="100"/>
              </a:spcBef>
            </a:pPr>
            <a:r>
              <a:rPr sz="1500">
                <a:solidFill>
                  <a:srgbClr val="556075"/>
                </a:solidFill>
              </a:rPr>
              <a:t>   流程图步骤完全按文章顺序——最容易按顺序定位</a:t>
            </a:r>
          </a:p>
          <a:p>
            <a:pPr>
              <a:spcBef>
                <a:spcPts val="900"/>
              </a:spcBef>
            </a:pPr>
            <a:r>
              <a:rPr sz="1800" b="1">
                <a:solidFill>
                  <a:srgbClr val="1B5E33"/>
                </a:solidFill>
              </a:rPr>
              <a:t>• 动词/动名词多</a:t>
            </a:r>
          </a:p>
          <a:p>
            <a:pPr>
              <a:spcBef>
                <a:spcPts val="100"/>
              </a:spcBef>
            </a:pPr>
            <a:r>
              <a:rPr sz="1500">
                <a:solidFill>
                  <a:srgbClr val="556075"/>
                </a:solidFill>
              </a:rPr>
              <a:t>   每个步骤描述一个动作——动词类答案非常常见</a:t>
            </a:r>
          </a:p>
          <a:p>
            <a:pPr>
              <a:spcBef>
                <a:spcPts val="900"/>
              </a:spcBef>
            </a:pPr>
            <a:r>
              <a:rPr sz="1800" b="1">
                <a:solidFill>
                  <a:srgbClr val="1B5E33"/>
                </a:solidFill>
              </a:rPr>
              <a:t>• 箭头辅助理解</a:t>
            </a:r>
          </a:p>
          <a:p>
            <a:pPr>
              <a:spcBef>
                <a:spcPts val="100"/>
              </a:spcBef>
            </a:pPr>
            <a:r>
              <a:rPr sz="1500">
                <a:solidFill>
                  <a:srgbClr val="556075"/>
                </a:solidFill>
              </a:rPr>
              <a:t>   箭头显示步骤顺序和因果关系——理解流程逻辑</a:t>
            </a:r>
          </a:p>
          <a:p>
            <a:pPr>
              <a:spcBef>
                <a:spcPts val="900"/>
              </a:spcBef>
            </a:pPr>
            <a:r>
              <a:rPr sz="1800" b="1">
                <a:solidFill>
                  <a:srgbClr val="1B5E33"/>
                </a:solidFill>
              </a:rPr>
              <a:t>• 前后相关</a:t>
            </a:r>
          </a:p>
          <a:p>
            <a:pPr>
              <a:spcBef>
                <a:spcPts val="100"/>
              </a:spcBef>
            </a:pPr>
            <a:r>
              <a:rPr sz="1500">
                <a:solidFill>
                  <a:srgbClr val="556075"/>
                </a:solidFill>
              </a:rPr>
              <a:t>   每步骤与前后相关——用已知步骤帮助定位下一步</a:t>
            </a:r>
          </a:p>
          <a:p>
            <a:pPr>
              <a:spcBef>
                <a:spcPts val="900"/>
              </a:spcBef>
            </a:pPr>
            <a:r>
              <a:rPr sz="1800" b="1">
                <a:solidFill>
                  <a:srgbClr val="1B5E33"/>
                </a:solidFill>
              </a:rPr>
              <a:t>• 科学/工艺主题</a:t>
            </a:r>
          </a:p>
          <a:p>
            <a:pPr>
              <a:spcBef>
                <a:spcPts val="100"/>
              </a:spcBef>
            </a:pPr>
            <a:r>
              <a:rPr sz="1500">
                <a:solidFill>
                  <a:srgbClr val="556075"/>
                </a:solidFill>
              </a:rPr>
              <a:t>   常考科学过程/工业流程/生物学循环——类比有助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Summary Completion特点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Summary Completion Features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范围不确定</a:t>
            </a:r>
          </a:p>
          <a:p>
            <a:pPr>
              <a:spcBef>
                <a:spcPts val="100"/>
              </a:spcBef>
            </a:pPr>
            <a:r>
              <a:rPr sz="1500">
                <a:solidFill>
                  <a:srgbClr val="556075"/>
                </a:solidFill>
              </a:rPr>
              <a:t>   Summary只覆盖文章部分内容——先判断对应哪几段</a:t>
            </a:r>
          </a:p>
          <a:p>
            <a:pPr>
              <a:spcBef>
                <a:spcPts val="900"/>
              </a:spcBef>
            </a:pPr>
            <a:r>
              <a:rPr sz="1800" b="1">
                <a:solidFill>
                  <a:srgbClr val="1B5E33"/>
                </a:solidFill>
              </a:rPr>
              <a:t>• 不一定按顺序</a:t>
            </a:r>
          </a:p>
          <a:p>
            <a:pPr>
              <a:spcBef>
                <a:spcPts val="100"/>
              </a:spcBef>
            </a:pPr>
            <a:r>
              <a:rPr sz="1500">
                <a:solidFill>
                  <a:srgbClr val="556075"/>
                </a:solidFill>
              </a:rPr>
              <a:t>   Summary内容可能与文章顺序不同——需全文搜索</a:t>
            </a:r>
          </a:p>
          <a:p>
            <a:pPr>
              <a:spcBef>
                <a:spcPts val="900"/>
              </a:spcBef>
            </a:pPr>
            <a:r>
              <a:rPr sz="1800" b="1">
                <a:solidFill>
                  <a:srgbClr val="1B5E33"/>
                </a:solidFill>
              </a:rPr>
              <a:t>• 选词填空版</a:t>
            </a:r>
          </a:p>
          <a:p>
            <a:pPr>
              <a:spcBef>
                <a:spcPts val="100"/>
              </a:spcBef>
            </a:pPr>
            <a:r>
              <a:rPr sz="1500">
                <a:solidFill>
                  <a:srgbClr val="556075"/>
                </a:solidFill>
              </a:rPr>
              <a:t>   有时有选词表——排除法+词性法辅助</a:t>
            </a:r>
          </a:p>
          <a:p>
            <a:pPr>
              <a:spcBef>
                <a:spcPts val="900"/>
              </a:spcBef>
            </a:pPr>
            <a:r>
              <a:rPr sz="1800" b="1">
                <a:solidFill>
                  <a:srgbClr val="1B5E33"/>
                </a:solidFill>
              </a:rPr>
              <a:t>• 同义替换多</a:t>
            </a:r>
          </a:p>
          <a:p>
            <a:pPr>
              <a:spcBef>
                <a:spcPts val="100"/>
              </a:spcBef>
            </a:pPr>
            <a:r>
              <a:rPr sz="1500">
                <a:solidFill>
                  <a:srgbClr val="556075"/>
                </a:solidFill>
              </a:rPr>
              <a:t>   Summary用不同词描述文章内容——同义替换意识更重要</a:t>
            </a:r>
          </a:p>
          <a:p>
            <a:pPr>
              <a:spcBef>
                <a:spcPts val="900"/>
              </a:spcBef>
            </a:pPr>
            <a:r>
              <a:rPr sz="1800" b="1">
                <a:solidFill>
                  <a:srgbClr val="1B5E33"/>
                </a:solidFill>
              </a:rPr>
              <a:t>• 最难类型</a:t>
            </a:r>
          </a:p>
          <a:p>
            <a:pPr>
              <a:spcBef>
                <a:spcPts val="100"/>
              </a:spcBef>
            </a:pPr>
            <a:r>
              <a:rPr sz="1500">
                <a:solidFill>
                  <a:srgbClr val="556075"/>
                </a:solidFill>
              </a:rPr>
              <a:t>   Summary是最难的填空——需要更多时间分配</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Flow-chart做题策略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1：看懂流程图结构，了解有几个步骤和步骤顺序</a:t>
            </a:r>
          </a:p>
          <a:p>
            <a:pPr>
              <a:spcBef>
                <a:spcPts val="1000"/>
              </a:spcBef>
            </a:pPr>
            <a:r>
              <a:rPr sz="1650">
                <a:solidFill>
                  <a:srgbClr val="1E293B"/>
                </a:solidFill>
              </a:rPr>
              <a:t>• Step 2：按步骤顺序在文章中逐步定位答案</a:t>
            </a:r>
          </a:p>
          <a:p>
            <a:pPr>
              <a:spcBef>
                <a:spcPts val="1000"/>
              </a:spcBef>
            </a:pPr>
            <a:r>
              <a:rPr sz="1650">
                <a:solidFill>
                  <a:srgbClr val="1E293B"/>
                </a:solidFill>
              </a:rPr>
              <a:t>• Step 3：动词类答案——找描述步骤动作的词</a:t>
            </a:r>
          </a:p>
          <a:p>
            <a:pPr>
              <a:spcBef>
                <a:spcPts val="1000"/>
              </a:spcBef>
            </a:pPr>
            <a:r>
              <a:rPr sz="1650">
                <a:solidFill>
                  <a:srgbClr val="1E293B"/>
                </a:solidFill>
              </a:rPr>
              <a:t>• Step 4：利用已找到的步骤帮助定位下一个步骤</a:t>
            </a:r>
          </a:p>
          <a:p>
            <a:pPr>
              <a:spcBef>
                <a:spcPts val="1000"/>
              </a:spcBef>
            </a:pPr>
            <a:r>
              <a:rPr sz="1650">
                <a:solidFill>
                  <a:srgbClr val="1E293B"/>
                </a:solidFill>
              </a:rPr>
              <a:t>• Step 5：词数检查——流程图答案通常是1-2词</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Summary做题策略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1：读完整摘要，判断对应文章哪几段</a:t>
            </a:r>
          </a:p>
          <a:p>
            <a:pPr>
              <a:spcBef>
                <a:spcPts val="1000"/>
              </a:spcBef>
            </a:pPr>
            <a:r>
              <a:rPr sz="1650">
                <a:solidFill>
                  <a:srgbClr val="1E293B"/>
                </a:solidFill>
              </a:rPr>
              <a:t>• Step 2：识别摘要中的同义替换——题目词≠文章词</a:t>
            </a:r>
          </a:p>
          <a:p>
            <a:pPr>
              <a:spcBef>
                <a:spcPts val="1000"/>
              </a:spcBef>
            </a:pPr>
            <a:r>
              <a:rPr sz="1650">
                <a:solidFill>
                  <a:srgbClr val="1E293B"/>
                </a:solidFill>
              </a:rPr>
              <a:t>• Step 3：全文搜索（不只看开头）——逐段匹配</a:t>
            </a:r>
          </a:p>
          <a:p>
            <a:pPr>
              <a:spcBef>
                <a:spcPts val="1000"/>
              </a:spcBef>
            </a:pPr>
            <a:r>
              <a:rPr sz="1650">
                <a:solidFill>
                  <a:srgbClr val="1E293B"/>
                </a:solidFill>
              </a:rPr>
              <a:t>• Step 4：选词填空——先词性排除，再语义验证</a:t>
            </a:r>
          </a:p>
          <a:p>
            <a:pPr>
              <a:spcBef>
                <a:spcPts val="1000"/>
              </a:spcBef>
            </a:pPr>
            <a:r>
              <a:rPr sz="1650">
                <a:solidFill>
                  <a:srgbClr val="1E293B"/>
                </a:solidFill>
              </a:rPr>
              <a:t>• Step 5：填入后整句话语义必须合理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Flow-chart示范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水循环流程图：
Ocean water _____(1) → Forms _____(2) → Falls as _____(3) or snow → Flows into rivers → Returns to ocean
原文：Water evaporates from ocean surfaces. It rises and cools to form clouds. Water then falls as precipitation—rain or snow—and runs into rivers before returning to the sea.</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
(1)Ocean water ___ → "evaporates from ocean"→ 答案：evaporates（动词）
(2)Forms ___ → "form clouds in atmosphere"→ 答案：clouds（名词）
(3)Falls as ___ or snow → 与snow并列 → 答案：rain（名词）
词数检查：全为单词✓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Flow-chart按顺序——用已找到的答案帮助定位下一个</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Summary Completion示范（选词填空）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选词表：climate / carbon dioxide / savanna / deforestation
摘要：The Amazon regulates _____(1). It absorbs _____(2). However, _____(3) threatens this ecosystem.
原文：The Amazon regulates the global climate. It absorbs vast quantities of carbon dioxide. Deforestation at an alarming rate threatens the forest.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
(1)"regulates ___"→调节什么？→ climate（气候）✓
(2)"absorbs ___"→吸收什么？→ carbon dioxide（CO2）✓
(3)"___ threatens"→做主语的威胁行为→ deforestation（伐木）✓
词数：全为单词（或2词）✓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Summary选词技巧：先词性排除，再语义验证——填入后整句话合理</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Sentence Completion与错误防范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Sentence Completion and Error Prevention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Sentence Completion攻略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Sentence Completion Strategy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语法必须正确</a:t>
            </a:r>
          </a:p>
          <a:p>
            <a:pPr>
              <a:spcBef>
                <a:spcPts val="100"/>
              </a:spcBef>
            </a:pPr>
            <a:r>
              <a:rPr sz="1500">
                <a:solidFill>
                  <a:srgbClr val="556075"/>
                </a:solidFill>
              </a:rPr>
              <a:t>   填入答案后整句话语法必须完整正确</a:t>
            </a:r>
          </a:p>
          <a:p>
            <a:pPr>
              <a:spcBef>
                <a:spcPts val="900"/>
              </a:spcBef>
            </a:pPr>
            <a:r>
              <a:rPr sz="1800" b="1">
                <a:solidFill>
                  <a:srgbClr val="1B5E33"/>
                </a:solidFill>
              </a:rPr>
              <a:t>• 语义必须合理</a:t>
            </a:r>
          </a:p>
          <a:p>
            <a:pPr>
              <a:spcBef>
                <a:spcPts val="100"/>
              </a:spcBef>
            </a:pPr>
            <a:r>
              <a:rPr sz="1500">
                <a:solidFill>
                  <a:srgbClr val="556075"/>
                </a:solidFill>
              </a:rPr>
              <a:t>   填入答案后整句话意思必须合理通顺</a:t>
            </a:r>
          </a:p>
          <a:p>
            <a:pPr>
              <a:spcBef>
                <a:spcPts val="900"/>
              </a:spcBef>
            </a:pPr>
            <a:r>
              <a:rPr sz="1800" b="1">
                <a:solidFill>
                  <a:srgbClr val="1B5E33"/>
                </a:solidFill>
              </a:rPr>
              <a:t>• 词形可能变化</a:t>
            </a:r>
          </a:p>
          <a:p>
            <a:pPr>
              <a:spcBef>
                <a:spcPts val="100"/>
              </a:spcBef>
            </a:pPr>
            <a:r>
              <a:rPr sz="1500">
                <a:solidFill>
                  <a:srgbClr val="556075"/>
                </a:solidFill>
              </a:rPr>
              <a:t>   句子完成中词形可能需要变化——如动词时态</a:t>
            </a:r>
          </a:p>
          <a:p>
            <a:pPr>
              <a:spcBef>
                <a:spcPts val="900"/>
              </a:spcBef>
            </a:pPr>
            <a:r>
              <a:rPr sz="1800" b="1">
                <a:solidFill>
                  <a:srgbClr val="1B5E33"/>
                </a:solidFill>
              </a:rPr>
              <a:t>• 同样有词数限制</a:t>
            </a:r>
          </a:p>
          <a:p>
            <a:pPr>
              <a:spcBef>
                <a:spcPts val="100"/>
              </a:spcBef>
            </a:pPr>
            <a:r>
              <a:rPr sz="1500">
                <a:solidFill>
                  <a:srgbClr val="556075"/>
                </a:solidFill>
              </a:rPr>
              <a:t>   句子完成题也有词数限制——同样严格遵守</a:t>
            </a:r>
          </a:p>
          <a:p>
            <a:pPr>
              <a:spcBef>
                <a:spcPts val="900"/>
              </a:spcBef>
            </a:pPr>
            <a:r>
              <a:rPr sz="1800" b="1">
                <a:solidFill>
                  <a:srgbClr val="1B5E33"/>
                </a:solidFill>
              </a:rPr>
              <a:t>• 定位方法相同</a:t>
            </a:r>
          </a:p>
          <a:p>
            <a:pPr>
              <a:spcBef>
                <a:spcPts val="100"/>
              </a:spcBef>
            </a:pPr>
            <a:r>
              <a:rPr sz="1500">
                <a:solidFill>
                  <a:srgbClr val="556075"/>
                </a:solidFill>
              </a:rPr>
              <a:t>   用句子中已有关键词定位文章段落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四大常见错误防范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4 Common Mistakes to Avoid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错误1：超词数</a:t>
            </a:r>
          </a:p>
          <a:p>
            <a:pPr>
              <a:spcBef>
                <a:spcPts val="100"/>
              </a:spcBef>
            </a:pPr>
            <a:r>
              <a:rPr sz="1500">
                <a:solidFill>
                  <a:srgbClr val="556075"/>
                </a:solidFill>
              </a:rPr>
              <a:t>   写了多余的冠词——the/a/an也计入词数</a:t>
            </a:r>
          </a:p>
          <a:p>
            <a:pPr>
              <a:spcBef>
                <a:spcPts val="900"/>
              </a:spcBef>
            </a:pPr>
            <a:r>
              <a:rPr sz="1800" b="1">
                <a:solidFill>
                  <a:srgbClr val="1B5E33"/>
                </a:solidFill>
              </a:rPr>
              <a:t>• 错误2：改词形</a:t>
            </a:r>
          </a:p>
          <a:p>
            <a:pPr>
              <a:spcBef>
                <a:spcPts val="100"/>
              </a:spcBef>
            </a:pPr>
            <a:r>
              <a:rPr sz="1500">
                <a:solidFill>
                  <a:srgbClr val="556075"/>
                </a:solidFill>
              </a:rPr>
              <a:t>   文章用"increase"，学生写"increased"——写原词</a:t>
            </a:r>
          </a:p>
          <a:p>
            <a:pPr>
              <a:spcBef>
                <a:spcPts val="900"/>
              </a:spcBef>
            </a:pPr>
            <a:r>
              <a:rPr sz="1800" b="1">
                <a:solidFill>
                  <a:srgbClr val="1B5E33"/>
                </a:solidFill>
              </a:rPr>
              <a:t>• 错误3：写同义词</a:t>
            </a:r>
          </a:p>
          <a:p>
            <a:pPr>
              <a:spcBef>
                <a:spcPts val="100"/>
              </a:spcBef>
            </a:pPr>
            <a:r>
              <a:rPr sz="1500">
                <a:solidFill>
                  <a:srgbClr val="556075"/>
                </a:solidFill>
              </a:rPr>
              <a:t>   用理解替换了文章词——必须文章原词</a:t>
            </a:r>
          </a:p>
          <a:p>
            <a:pPr>
              <a:spcBef>
                <a:spcPts val="900"/>
              </a:spcBef>
            </a:pPr>
            <a:r>
              <a:rPr sz="1800" b="1">
                <a:solidFill>
                  <a:srgbClr val="1B5E33"/>
                </a:solidFill>
              </a:rPr>
              <a:t>• 错误4：拼写错</a:t>
            </a:r>
          </a:p>
          <a:p>
            <a:pPr>
              <a:spcBef>
                <a:spcPts val="100"/>
              </a:spcBef>
            </a:pPr>
            <a:r>
              <a:rPr sz="1500">
                <a:solidFill>
                  <a:srgbClr val="556075"/>
                </a:solidFill>
              </a:rPr>
              <a:t>   抄写出错——做完后回头对照检查</a:t>
            </a:r>
          </a:p>
          <a:p>
            <a:pPr>
              <a:spcBef>
                <a:spcPts val="900"/>
              </a:spcBef>
            </a:pPr>
            <a:r>
              <a:rPr sz="1800" b="1">
                <a:solidFill>
                  <a:srgbClr val="1B5E33"/>
                </a:solidFill>
              </a:rPr>
              <a:t>• 错误5：留空白</a:t>
            </a:r>
          </a:p>
          <a:p>
            <a:pPr>
              <a:spcBef>
                <a:spcPts val="100"/>
              </a:spcBef>
            </a:pPr>
            <a:r>
              <a:rPr sz="1500">
                <a:solidFill>
                  <a:srgbClr val="556075"/>
                </a:solidFill>
              </a:rPr>
              <a:t>   不扣分——宁可猜也绝对不留空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Sentence Completion做题要点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要点1：先预测词性——空格在名词/动词/形容词位置？</a:t>
            </a:r>
          </a:p>
          <a:p>
            <a:pPr>
              <a:spcBef>
                <a:spcPts val="1000"/>
              </a:spcBef>
            </a:pPr>
            <a:r>
              <a:rPr sz="1650">
                <a:solidFill>
                  <a:srgbClr val="1E293B"/>
                </a:solidFill>
              </a:rPr>
              <a:t>• 要点2：填入后大声在心里读整句——语法+语义均合理</a:t>
            </a:r>
          </a:p>
          <a:p>
            <a:pPr>
              <a:spcBef>
                <a:spcPts val="1000"/>
              </a:spcBef>
            </a:pPr>
            <a:r>
              <a:rPr sz="1650">
                <a:solidFill>
                  <a:srgbClr val="1E293B"/>
                </a:solidFill>
              </a:rPr>
              <a:t>• 要点3：词数严格——句子完成也有词数限制</a:t>
            </a:r>
          </a:p>
          <a:p>
            <a:pPr>
              <a:spcBef>
                <a:spcPts val="1000"/>
              </a:spcBef>
            </a:pPr>
            <a:r>
              <a:rPr sz="1650">
                <a:solidFill>
                  <a:srgbClr val="1E293B"/>
                </a:solidFill>
              </a:rPr>
              <a:t>• 要点4：答案来自文章原词——不改词形不换同义词</a:t>
            </a:r>
          </a:p>
          <a:p>
            <a:pPr>
              <a:spcBef>
                <a:spcPts val="1000"/>
              </a:spcBef>
            </a:pPr>
            <a:r>
              <a:rPr sz="1650">
                <a:solidFill>
                  <a:srgbClr val="1E293B"/>
                </a:solidFill>
              </a:rPr>
              <a:t>• 要点5：拼写检查——与文章原词对照检查一遍</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填空题错误防范清单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检查1：词数是否超限？（数一数每个答案的词数）</a:t>
            </a:r>
          </a:p>
          <a:p>
            <a:pPr>
              <a:spcBef>
                <a:spcPts val="1000"/>
              </a:spcBef>
            </a:pPr>
            <a:r>
              <a:rPr sz="1650">
                <a:solidFill>
                  <a:srgbClr val="1E293B"/>
                </a:solidFill>
              </a:rPr>
              <a:t>• 检查2：是否直接用了文章原词？（不是同义词）</a:t>
            </a:r>
          </a:p>
          <a:p>
            <a:pPr>
              <a:spcBef>
                <a:spcPts val="1000"/>
              </a:spcBef>
            </a:pPr>
            <a:r>
              <a:rPr sz="1650">
                <a:solidFill>
                  <a:srgbClr val="1E293B"/>
                </a:solidFill>
              </a:rPr>
              <a:t>• 检查3：词形是否与文章一致？（不改时态/数/形式）</a:t>
            </a:r>
          </a:p>
          <a:p>
            <a:pPr>
              <a:spcBef>
                <a:spcPts val="1000"/>
              </a:spcBef>
            </a:pPr>
            <a:r>
              <a:rPr sz="1650">
                <a:solidFill>
                  <a:srgbClr val="1E293B"/>
                </a:solidFill>
              </a:rPr>
              <a:t>• 检查4：专有名词大写了吗？</a:t>
            </a:r>
          </a:p>
          <a:p>
            <a:pPr>
              <a:spcBef>
                <a:spcPts val="1000"/>
              </a:spcBef>
            </a:pPr>
            <a:r>
              <a:rPr sz="1650">
                <a:solidFill>
                  <a:srgbClr val="1E293B"/>
                </a:solidFill>
              </a:rPr>
              <a:t>• 检查5：所有空格都填了答案吗？（IELTS不扣分）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Sentence Completion示范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industrial revolution began in Britain in the _____(1) century, driven by the _____(2), transforming _____(3) and enabling mass production.
原文：The industrial revolution began in Britain in the late 18th century, driven primarily by the invention of the steam engine, which transformed manufacturing processes and enabled mass production.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解题：
(1)"the ___ century"→"late 18th century"→答案：18th（或"late 18th"2词）
(2)"driven by the ___"→"invention of the steam engine"→答案：steam engine（2词，去掉"invention of the"超限）
(3)"transforming ___"→"transformed manufacturing processes"→答案：manufacturing processes（2词）
词数检查：18th(1词)✓ steam engine(2词)✓ manufacturing processes(2词)✓</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句子完成填入后检验：读整句话，语法正确+语义合理即可</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深圳学生填空题高频错误分析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错误分析题：以下答案正确吗？
原文：The population decreased significantly in the 1990s.
题目："The population _____ considerably in the nineties."
学生答案A：decreased significantly（2词，但"significantly≠considerably"，题目词已是同义词）
学生答案B：decreased（1词，文章原词✓）
学生答案C：fell（1词，同义词——不是文章原词✗）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正确答案：B（"decreased"，文章原词，词数1词，词形正确）
错误分析：A超词数可能（2词可能超限）；C是同义词非原词
原则：找到文章原词后直接抄写——不添不减不改</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填空题黄金原则：答案来自文章原词+词数不超限+拼写正确</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填空题高分示范：Notes Completion完整流程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题目：Notes题目（NO MORE THAN TWO WORDS AND/OR A NUMBER）：
Climate Change Effects:
• Temperature: rose by _____(1) since pre-industrial times
• Arctic ice: decreased by _____(2) in 40 years
• Extreme weather: _____(3) more frequent globally
原文：Temperatures have risen by 1.2 degrees Celsius since pre-industrial times. Arctic sea ice extent has shrunk by about 40% over the past four decades. Extreme weather events have become significantly more frequent around the world.</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解题过程：
Step 1：词数——最多2词+数字
Step 2：预测词性——(1)数字(2)数字/比例(3)形容词/名词
Step 3：定位
(1)"rose by ___"→"risen by 1.2 degrees Celsius"→答案：1.2（数字）[注：degrees Celsius=2词超限，只写1.2]
(2)"decreased by ___"→"shrunk by about 40%"→答案：40%（数字）
(3)"___ more frequent"→"significantly more frequent"→答案：significantly（1词）
Step 4：词数检查：1.2✓ 40%✓ significantly✓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词数陷阱：(1)答案不写"degrees Celsius"——数字本身就足够，且更安全</a:t>
            </a:r>
          </a:p>
          <a:p>
            <a:pPr>
              <a:spcBef>
                <a:spcPts val="700"/>
              </a:spcBef>
            </a:pPr>
            <a:r>
              <a:rPr sz="1200">
                <a:solidFill>
                  <a:srgbClr val="1E293B"/>
                </a:solidFill>
              </a:rPr>
              <a:t>▸ 原词原形：directly copy from text — do not paraphrase</a:t>
            </a:r>
          </a:p>
          <a:p>
            <a:pPr>
              <a:spcBef>
                <a:spcPts val="700"/>
              </a:spcBef>
            </a:pPr>
            <a:r>
              <a:rPr sz="1200">
                <a:solidFill>
                  <a:srgbClr val="1E293B"/>
                </a:solidFill>
              </a:rPr>
              <a:t>▸ 按顺序原则：找到(1)后继续读，(2)和(3)在后面</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填空题高分示范：Summary Completion选词填空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题目：选词表：photosynthesis / oxygen / sunlight / carbon dioxide / glucose / chlorophyll
摘要：Plants use _____(1) to carry out _____(2). In this process, _____(3) from the air and water are converted into _____(4) for energy. _____(5) is released as a byproduct.
原文：Using chlorophyll, plants absorb sunlight to power photosynthesis. Carbon dioxide from the air and water are converted into glucose. Oxygen is released as a byproduct.</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
(1)"use ___ to carry out"→用什么进行光合作用？→ sunlight（阳光）✓
(2)"carry out ___"→进行什么？→ photosynthesis（光合作用）✓
(3)"___ from the air"→空气中的什么物质？→ carbon dioxide（CO2）✓
(4)"converted into ___ for energy"→转化成什么？→ glucose（葡萄糖）✓
(5)"___ is released"→释放的是什么？→ oxygen（氧气）✓
检验：chlorophyll未用到→正常（选词表有多余选项）</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排除法：先确定词性（全部名词），再用语义选择</a:t>
            </a:r>
          </a:p>
          <a:p>
            <a:pPr>
              <a:spcBef>
                <a:spcPts val="700"/>
              </a:spcBef>
            </a:pPr>
            <a:r>
              <a:rPr sz="1200">
                <a:solidFill>
                  <a:srgbClr val="1E293B"/>
                </a:solidFill>
              </a:rPr>
              <a:t>▸ 检验：每个答案填入后整句话语义合理</a:t>
            </a:r>
          </a:p>
          <a:p>
            <a:pPr>
              <a:spcBef>
                <a:spcPts val="700"/>
              </a:spcBef>
            </a:pPr>
            <a:r>
              <a:rPr sz="1200">
                <a:solidFill>
                  <a:srgbClr val="1E293B"/>
                </a:solidFill>
              </a:rPr>
              <a:t>▸ 备注：选词表中chlorophyll未使用——是正常的干扰选项</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高分做法 vs 低分做法：填空题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低分做法</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高分做法</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不看词数限制，写了3-4个词</a:t>
            </a:r>
          </a:p>
          <a:p>
            <a:pPr>
              <a:spcBef>
                <a:spcPts val="700"/>
              </a:spcBef>
            </a:pPr>
            <a:r>
              <a:rPr sz="1350">
                <a:solidFill>
                  <a:srgbClr val="C02A2A"/>
                </a:solidFill>
              </a:rPr>
              <a:t>✗ 用自己理解的词替换文章词</a:t>
            </a:r>
          </a:p>
          <a:p>
            <a:pPr>
              <a:spcBef>
                <a:spcPts val="700"/>
              </a:spcBef>
            </a:pPr>
            <a:r>
              <a:rPr sz="1350">
                <a:solidFill>
                  <a:srgbClr val="C02A2A"/>
                </a:solidFill>
              </a:rPr>
              <a:t>✗ 换同义词（significant→important）</a:t>
            </a:r>
          </a:p>
          <a:p>
            <a:pPr>
              <a:spcBef>
                <a:spcPts val="700"/>
              </a:spcBef>
            </a:pPr>
            <a:r>
              <a:rPr sz="1350">
                <a:solidFill>
                  <a:srgbClr val="C02A2A"/>
                </a:solidFill>
              </a:rPr>
              <a:t>✗ 拼写粗心出错</a:t>
            </a:r>
          </a:p>
          <a:p>
            <a:pPr>
              <a:spcBef>
                <a:spcPts val="700"/>
              </a:spcBef>
            </a:pPr>
            <a:r>
              <a:rPr sz="1350">
                <a:solidFill>
                  <a:srgbClr val="C02A2A"/>
                </a:solidFill>
              </a:rPr>
              <a:t>✗ 空白题目直接跳过不填</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做题前先看词数，全程提醒自己</a:t>
            </a:r>
          </a:p>
          <a:p>
            <a:pPr>
              <a:spcBef>
                <a:spcPts val="700"/>
              </a:spcBef>
            </a:pPr>
            <a:r>
              <a:rPr sz="1350">
                <a:solidFill>
                  <a:srgbClr val="1B7A3D"/>
                </a:solidFill>
              </a:rPr>
              <a:t>✓ 答案100%来自文章原词，不改内容</a:t>
            </a:r>
          </a:p>
          <a:p>
            <a:pPr>
              <a:spcBef>
                <a:spcPts val="700"/>
              </a:spcBef>
            </a:pPr>
            <a:r>
              <a:rPr sz="1350">
                <a:solidFill>
                  <a:srgbClr val="1B7A3D"/>
                </a:solidFill>
              </a:rPr>
              <a:t>✓ 必须是文章原词，不换同义词</a:t>
            </a:r>
          </a:p>
          <a:p>
            <a:pPr>
              <a:spcBef>
                <a:spcPts val="700"/>
              </a:spcBef>
            </a:pPr>
            <a:r>
              <a:rPr sz="1350">
                <a:solidFill>
                  <a:srgbClr val="1B7A3D"/>
                </a:solidFill>
              </a:rPr>
              <a:t>✓ 抄写后与原文对照检查一遍</a:t>
            </a:r>
          </a:p>
          <a:p>
            <a:pPr>
              <a:spcBef>
                <a:spcPts val="700"/>
              </a:spcBef>
            </a:pPr>
            <a:r>
              <a:rPr sz="1350">
                <a:solidFill>
                  <a:srgbClr val="1B7A3D"/>
                </a:solidFill>
              </a:rPr>
              <a:t>✓ IELTS不扣分——空白必须填，猜也要猜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五大填空题类型核心区别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按顺序（容易定位）</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不一定按顺序（需全文定位）</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Notes Completion：笔记按文章顺序</a:t>
            </a:r>
          </a:p>
          <a:p>
            <a:pPr>
              <a:spcBef>
                <a:spcPts val="700"/>
              </a:spcBef>
            </a:pPr>
            <a:r>
              <a:rPr sz="1350">
                <a:solidFill>
                  <a:srgbClr val="C02A2A"/>
                </a:solidFill>
              </a:rPr>
              <a:t>✗ Table Completion：按行列顺序</a:t>
            </a:r>
          </a:p>
          <a:p>
            <a:pPr>
              <a:spcBef>
                <a:spcPts val="700"/>
              </a:spcBef>
            </a:pPr>
            <a:r>
              <a:rPr sz="1350">
                <a:solidFill>
                  <a:srgbClr val="C02A2A"/>
                </a:solidFill>
              </a:rPr>
              <a:t>✗ Flow-chart Completion：100%按步骤顺序</a:t>
            </a:r>
          </a:p>
          <a:p>
            <a:pPr>
              <a:spcBef>
                <a:spcPts val="700"/>
              </a:spcBef>
            </a:pPr>
            <a:r>
              <a:rPr sz="1350">
                <a:solidFill>
                  <a:srgbClr val="C02A2A"/>
                </a:solidFill>
              </a:rPr>
              <a:t>✗ 策略：顺序扫描，找到一个→下一个在后面</a:t>
            </a:r>
          </a:p>
          <a:p>
            <a:pPr>
              <a:spcBef>
                <a:spcPts val="700"/>
              </a:spcBef>
            </a:pPr>
            <a:r>
              <a:rPr sz="1350">
                <a:solidFill>
                  <a:srgbClr val="C02A2A"/>
                </a:solidFill>
              </a:rPr>
              <a:t>✗ 目标速度：每题30-45秒</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Summary Completion：摘要可能跨段落</a:t>
            </a:r>
          </a:p>
          <a:p>
            <a:pPr>
              <a:spcBef>
                <a:spcPts val="700"/>
              </a:spcBef>
            </a:pPr>
            <a:r>
              <a:rPr sz="1350">
                <a:solidFill>
                  <a:srgbClr val="1B7A3D"/>
                </a:solidFill>
              </a:rPr>
              <a:t>✓ Sentence Completion：句子可能跨段落</a:t>
            </a:r>
          </a:p>
          <a:p>
            <a:pPr>
              <a:spcBef>
                <a:spcPts val="700"/>
              </a:spcBef>
            </a:pPr>
            <a:r>
              <a:rPr sz="1350">
                <a:solidFill>
                  <a:srgbClr val="1B7A3D"/>
                </a:solidFill>
              </a:rPr>
              <a:t>✓ 策略：建段落地图，全文范围搜索</a:t>
            </a:r>
          </a:p>
          <a:p>
            <a:pPr>
              <a:spcBef>
                <a:spcPts val="700"/>
              </a:spcBef>
            </a:pPr>
            <a:r>
              <a:rPr sz="1350">
                <a:solidFill>
                  <a:srgbClr val="1B7A3D"/>
                </a:solidFill>
              </a:rPr>
              <a:t>✓ 目标速度：每题60-90秒</a:t>
            </a:r>
          </a:p>
          <a:p>
            <a:pPr>
              <a:spcBef>
                <a:spcPts val="700"/>
              </a:spcBef>
            </a:pPr>
            <a:r>
              <a:rPr sz="1350">
                <a:solidFill>
                  <a:srgbClr val="1B7A3D"/>
                </a:solidFill>
              </a:rPr>
              <a:t>✓ 难度较高，需更多时间分配</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填空题8周专项训练计划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第1-2周：词数意识</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每题做完检查词数——零超限目标，培养词数红线意识</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第3-4周：词性预测</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每题做前先预测词性，对照答案检验准确率</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第5-6周：同义替换积累</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每题分析题目词与文章词的对应关系，积累100对</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第7-8周：计时综合</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Notes/Table每题&lt;45秒；Summary/Sentence每题&lt;90秒</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填空题标准做题流程（60秒/题）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前10秒：读词数</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看清楚词数限制，写在题目旁边提醒自己</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10-30秒：预测词性</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分析空格上下文，预测需要什么词性</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30-50秒：定位段落</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用关键词（含同义替换）Scanning定位</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50-60秒：填写答案</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直接写文章原词，不改词形，核查词数</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当堂练习：词性判断速训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判断以下空格需要什么词性（30秒内完成）</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词性判断</a:t>
            </a:r>
          </a:p>
          <a:p>
            <a:pPr>
              <a:spcBef>
                <a:spcPts val="100"/>
              </a:spcBef>
            </a:pPr>
            <a:r>
              <a:rPr sz="1400">
                <a:solidFill>
                  <a:srgbClr val="556075"/>
                </a:solidFill>
              </a:rPr>
              <a:t>   1."completed in _____(1)" 2."scientists _____(2)" 3."the _____(3) discovery" 4."grew to _____(4)" 5."more _____(5)"
【答案】1.数字(年份) 2.动词 3.形容词 4.数字 5.形容词</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当堂练习：词数检查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判断答案是否符合"NO MORE THAN TWO WORDS"</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词数判断</a:t>
            </a:r>
          </a:p>
          <a:p>
            <a:pPr>
              <a:spcBef>
                <a:spcPts val="100"/>
              </a:spcBef>
            </a:pPr>
            <a:r>
              <a:rPr sz="1400">
                <a:solidFill>
                  <a:srgbClr val="556075"/>
                </a:solidFill>
              </a:rPr>
              <a:t>   1."well-established" 2."the main factor" 3."renewable energy" 4."in the 1990s" 5."carbon-neutral"
【答案】1.✓(连字符=1词) 2.✗(3词含the) 3.✓(2词) 4.✗(3词) 5.✓(连字符=1词)</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填空题5大黄金规则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规则1：原词原形</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直接写文章原词——不换同义词，不改词形，不自己造词</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规则2：词数铁律</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超出词数限制的答案直接判错——零容忍</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规则3：词性预测</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空格前后语法结构告诉你需要什么词性</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规则4：拼写必对</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抄写后与文章对照——一个字母错误就错</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规则5：全部填写</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IELTS不扣分——宁可猜也不能留空</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词数陷阱汇总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冠词计入词数</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the/a/an计入——"the steam engine"=3词，超2词限制</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数字写法</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2020=1词(数字) / twenty=1词 / 2.5 million=视情况</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连字符</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well-known=1词 / long-term=1词 / carbon-neutral=1词</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专有名词</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New York=2词 / USA=1词(缩写) / United Nations=2词</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Summary Completion特别策略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确定摘要范围</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先读完整摘要，判断对应文章哪几段——不要全文搜索</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选词表排除法</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先排除词性明显不对的选项，缩小范围</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语义验证必须</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词性对了还要验证语义——填入后整句话合理吗？</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难题留到最后</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Summary最难——时间不够先做其他，最后回来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考场填空题时间分配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Notes/Table/Flow-chart</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每题目标30-45秒——按顺序，定位快</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Summary/Sentence</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每题目标60-90秒——需要全文搜索</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整组参考时间</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6-8道题 → 5-8分钟完成</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检查时间</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预留1-2分钟检查：词数+拼写+遗漏空格</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填空题高频词汇：科学研究动词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demonstrate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证明；展示</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investigate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调查；研究</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conclude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得出结论</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determine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确定；测定</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establish</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建立；证实</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identify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识别；发现</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indicate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表明；指示</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reveal</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揭示；显示</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confirm</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确认；证实</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analyse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分析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填空题高频词汇：变化趋势</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increase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增加；增长</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decrease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减少；下降</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decline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下降；衰退</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rise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上升；增长</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fall</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下降；减少</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grow</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增长；扩大</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reduce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降低；减少</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expand</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扩大；增加</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fluctuate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波动；起伏</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stabilise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趋于平稳</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填空题高频词汇：描述性形容词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significant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显著的；重要的</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substantial</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大量的</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considerable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相当大的</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major</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主要的</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crucial</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关键的</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effective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有效的</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efficient</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高效的</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potential</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潜在的</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widespread</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广泛的</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initial</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最初的</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填空题高频词汇：时间顺序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initially</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最初；起初</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subsequently</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随后</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eventually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最终</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previously</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以前</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currently</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当前；目前</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recently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最近</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traditionally</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传统上</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simultaneously</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同时</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consequently</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因此；随之</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ultimately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最终</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填空题备考路径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重点：词数意识——零超限</a:t>
            </a:r>
          </a:p>
          <a:p>
            <a:pPr>
              <a:spcBef>
                <a:spcPts val="700"/>
              </a:spcBef>
            </a:pPr>
            <a:r>
              <a:rPr sz="1450">
                <a:solidFill>
                  <a:srgbClr val="1E293B"/>
                </a:solidFill>
              </a:rPr>
              <a:t>• 重点：原词填写习惯</a:t>
            </a:r>
          </a:p>
          <a:p>
            <a:pPr>
              <a:spcBef>
                <a:spcPts val="700"/>
              </a:spcBef>
            </a:pPr>
            <a:r>
              <a:rPr sz="1450">
                <a:solidFill>
                  <a:srgbClr val="1E293B"/>
                </a:solidFill>
              </a:rPr>
              <a:t>• 每天：1组Notes/Table填空</a:t>
            </a:r>
          </a:p>
          <a:p>
            <a:pPr>
              <a:spcBef>
                <a:spcPts val="700"/>
              </a:spcBef>
            </a:pPr>
            <a:r>
              <a:rPr sz="1450">
                <a:solidFill>
                  <a:srgbClr val="1E293B"/>
                </a:solidFill>
              </a:rPr>
              <a:t>• 积累：100对同义替换词</a:t>
            </a:r>
          </a:p>
          <a:p>
            <a:pPr>
              <a:spcBef>
                <a:spcPts val="700"/>
              </a:spcBef>
            </a:pPr>
            <a:r>
              <a:rPr sz="1450">
                <a:solidFill>
                  <a:srgbClr val="1E293B"/>
                </a:solidFill>
              </a:rPr>
              <a:t>• 目标：填空错误率&lt;25%</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重点：Summary Completion专项</a:t>
            </a:r>
          </a:p>
          <a:p>
            <a:pPr>
              <a:spcBef>
                <a:spcPts val="700"/>
              </a:spcBef>
            </a:pPr>
            <a:r>
              <a:rPr sz="1450">
                <a:solidFill>
                  <a:srgbClr val="1E293B"/>
                </a:solidFill>
              </a:rPr>
              <a:t>• 重点：词性预测速度提升</a:t>
            </a:r>
          </a:p>
          <a:p>
            <a:pPr>
              <a:spcBef>
                <a:spcPts val="700"/>
              </a:spcBef>
            </a:pPr>
            <a:r>
              <a:rPr sz="1450">
                <a:solidFill>
                  <a:srgbClr val="1E293B"/>
                </a:solidFill>
              </a:rPr>
              <a:t>• 每天：1组Summary/Sentence</a:t>
            </a:r>
          </a:p>
          <a:p>
            <a:pPr>
              <a:spcBef>
                <a:spcPts val="700"/>
              </a:spcBef>
            </a:pPr>
            <a:r>
              <a:rPr sz="1450">
                <a:solidFill>
                  <a:srgbClr val="1E293B"/>
                </a:solidFill>
              </a:rPr>
              <a:t>• 积累：200个AWL词汇</a:t>
            </a:r>
          </a:p>
          <a:p>
            <a:pPr>
              <a:spcBef>
                <a:spcPts val="700"/>
              </a:spcBef>
            </a:pPr>
            <a:r>
              <a:rPr sz="1450">
                <a:solidFill>
                  <a:srgbClr val="1E293B"/>
                </a:solidFill>
              </a:rPr>
              <a:t>• 目标：填空错误率&lt;15%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五大填空类型时间对比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快速类型（≤45秒/题）</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Notes：按顺序，定位最快</a:t>
            </a:r>
          </a:p>
          <a:p>
            <a:pPr>
              <a:spcBef>
                <a:spcPts val="700"/>
              </a:spcBef>
            </a:pPr>
            <a:r>
              <a:rPr sz="1450">
                <a:solidFill>
                  <a:srgbClr val="1E293B"/>
                </a:solidFill>
              </a:rPr>
              <a:t>• Table：结构清晰，交叉定位</a:t>
            </a:r>
          </a:p>
          <a:p>
            <a:pPr>
              <a:spcBef>
                <a:spcPts val="700"/>
              </a:spcBef>
            </a:pPr>
            <a:r>
              <a:rPr sz="1450">
                <a:solidFill>
                  <a:srgbClr val="1E293B"/>
                </a:solidFill>
              </a:rPr>
              <a:t>• Flow-chart：100%按步骤顺序</a:t>
            </a:r>
          </a:p>
          <a:p>
            <a:pPr>
              <a:spcBef>
                <a:spcPts val="700"/>
              </a:spcBef>
            </a:pPr>
            <a:r>
              <a:rPr sz="1450">
                <a:solidFill>
                  <a:srgbClr val="1E293B"/>
                </a:solidFill>
              </a:rPr>
              <a:t>• 整组5道题 &lt; 4分钟</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慢速类型（≤90秒/题）</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Summary：全文搜索，最难</a:t>
            </a:r>
          </a:p>
          <a:p>
            <a:pPr>
              <a:spcBef>
                <a:spcPts val="700"/>
              </a:spcBef>
            </a:pPr>
            <a:r>
              <a:rPr sz="1450">
                <a:solidFill>
                  <a:srgbClr val="1E293B"/>
                </a:solidFill>
              </a:rPr>
              <a:t>• Sentence：需验证语法</a:t>
            </a:r>
          </a:p>
          <a:p>
            <a:pPr>
              <a:spcBef>
                <a:spcPts val="700"/>
              </a:spcBef>
            </a:pPr>
            <a:r>
              <a:rPr sz="1450">
                <a:solidFill>
                  <a:srgbClr val="1E293B"/>
                </a:solidFill>
              </a:rPr>
              <a:t>• 整组5道题 &lt; 8分钟</a:t>
            </a:r>
          </a:p>
          <a:p>
            <a:pPr>
              <a:spcBef>
                <a:spcPts val="700"/>
              </a:spcBef>
            </a:pPr>
            <a:r>
              <a:rPr sz="1450">
                <a:solidFill>
                  <a:srgbClr val="1E293B"/>
                </a:solidFill>
              </a:rPr>
              <a:t>• 时间不够先跳过，最后回来</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深圳学生常见问题Q&amp;A</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常见问题</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Q：答案要改成正确时态吗？</a:t>
            </a:r>
          </a:p>
          <a:p>
            <a:pPr>
              <a:spcBef>
                <a:spcPts val="700"/>
              </a:spcBef>
            </a:pPr>
            <a:r>
              <a:rPr sz="1450">
                <a:solidFill>
                  <a:srgbClr val="1E293B"/>
                </a:solidFill>
              </a:rPr>
              <a:t>• Q：答案可以写同义词吗？</a:t>
            </a:r>
          </a:p>
          <a:p>
            <a:pPr>
              <a:spcBef>
                <a:spcPts val="700"/>
              </a:spcBef>
            </a:pPr>
            <a:r>
              <a:rPr sz="1450">
                <a:solidFill>
                  <a:srgbClr val="1E293B"/>
                </a:solidFill>
              </a:rPr>
              <a:t>• Q：首字母需要大写吗？</a:t>
            </a:r>
          </a:p>
          <a:p>
            <a:pPr>
              <a:spcBef>
                <a:spcPts val="700"/>
              </a:spcBef>
            </a:pPr>
            <a:r>
              <a:rPr sz="1450">
                <a:solidFill>
                  <a:srgbClr val="1E293B"/>
                </a:solidFill>
              </a:rPr>
              <a:t>• Q：答案是短语要写全吗？</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标准解答</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A：不改，写文章中出现的原形</a:t>
            </a:r>
          </a:p>
          <a:p>
            <a:pPr>
              <a:spcBef>
                <a:spcPts val="700"/>
              </a:spcBef>
            </a:pPr>
            <a:r>
              <a:rPr sz="1450">
                <a:solidFill>
                  <a:srgbClr val="1E293B"/>
                </a:solidFill>
              </a:rPr>
              <a:t>• A：不可以，必须是文章原词</a:t>
            </a:r>
          </a:p>
          <a:p>
            <a:pPr>
              <a:spcBef>
                <a:spcPts val="700"/>
              </a:spcBef>
            </a:pPr>
            <a:r>
              <a:rPr sz="1450">
                <a:solidFill>
                  <a:srgbClr val="1E293B"/>
                </a:solidFill>
              </a:rPr>
              <a:t>• A：专有名词大写，其他通常不影响</a:t>
            </a:r>
          </a:p>
          <a:p>
            <a:pPr>
              <a:spcBef>
                <a:spcPts val="700"/>
              </a:spcBef>
            </a:pPr>
            <a:r>
              <a:rPr sz="1450">
                <a:solidFill>
                  <a:srgbClr val="1E293B"/>
                </a:solidFill>
              </a:rPr>
              <a:t>• A：注意词数限制——超限则只写核心词</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L04学完自测：填空题掌握度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熟悉五大填空类型及其顺序特点</a:t>
            </a:r>
          </a:p>
          <a:p>
            <a:pPr>
              <a:spcBef>
                <a:spcPts val="1200"/>
              </a:spcBef>
            </a:pPr>
            <a:r>
              <a:rPr sz="1600">
                <a:solidFill>
                  <a:srgbClr val="1E293B"/>
                </a:solidFill>
              </a:rPr>
              <a:t>☐ 做题前必看词数限制，从不超限</a:t>
            </a:r>
          </a:p>
          <a:p>
            <a:pPr>
              <a:spcBef>
                <a:spcPts val="1200"/>
              </a:spcBef>
            </a:pPr>
            <a:r>
              <a:rPr sz="1600">
                <a:solidFill>
                  <a:srgbClr val="1E293B"/>
                </a:solidFill>
              </a:rPr>
              <a:t>☐ 能用空格位置预测答案词性</a:t>
            </a:r>
          </a:p>
          <a:p>
            <a:pPr>
              <a:spcBef>
                <a:spcPts val="1200"/>
              </a:spcBef>
            </a:pPr>
            <a:r>
              <a:rPr sz="1600">
                <a:solidFill>
                  <a:srgbClr val="1E293B"/>
                </a:solidFill>
              </a:rPr>
              <a:t>☐ 答案来自文章原词，从不改词形</a:t>
            </a:r>
          </a:p>
          <a:p>
            <a:pPr>
              <a:spcBef>
                <a:spcPts val="1200"/>
              </a:spcBef>
            </a:pPr>
            <a:r>
              <a:rPr sz="1600">
                <a:solidFill>
                  <a:srgbClr val="1E293B"/>
                </a:solidFill>
              </a:rPr>
              <a:t>☐ 能识别题目与文章间的同义替换</a:t>
            </a:r>
          </a:p>
          <a:p>
            <a:pPr>
              <a:spcBef>
                <a:spcPts val="1200"/>
              </a:spcBef>
            </a:pPr>
            <a:r>
              <a:rPr sz="1600">
                <a:solidFill>
                  <a:srgbClr val="1E293B"/>
                </a:solidFill>
              </a:rPr>
              <a:t>☐ Notes/Table每题&lt;45秒完成</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L04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五大填空类型：Notes/Table/Flow-chart按顺序；Summary/Sentence需全文</a:t>
            </a:r>
          </a:p>
          <a:p>
            <a:pPr>
              <a:spcBef>
                <a:spcPts val="1100"/>
              </a:spcBef>
            </a:pPr>
            <a:r>
              <a:rPr sz="1550">
                <a:solidFill>
                  <a:srgbClr val="FFFFFF"/>
                </a:solidFill>
              </a:rPr>
              <a:t>✓  词数铁律：超出词数限制直接判错——考前仔细确认词数要求</a:t>
            </a:r>
          </a:p>
          <a:p>
            <a:pPr>
              <a:spcBef>
                <a:spcPts val="1100"/>
              </a:spcBef>
            </a:pPr>
            <a:r>
              <a:rPr sz="1550">
                <a:solidFill>
                  <a:srgbClr val="FFFFFF"/>
                </a:solidFill>
              </a:rPr>
              <a:t>✓  原词原形：答案100%来自文章原词，不改词形，不换同义词</a:t>
            </a:r>
          </a:p>
          <a:p>
            <a:pPr>
              <a:spcBef>
                <a:spcPts val="1100"/>
              </a:spcBef>
            </a:pPr>
            <a:r>
              <a:rPr sz="1550">
                <a:solidFill>
                  <a:srgbClr val="FFFFFF"/>
                </a:solidFill>
              </a:rPr>
              <a:t>✓  词性预测：空格前后语法结构预测词性，缩小搜索范围</a:t>
            </a:r>
          </a:p>
          <a:p>
            <a:pPr>
              <a:spcBef>
                <a:spcPts val="1100"/>
              </a:spcBef>
            </a:pPr>
            <a:r>
              <a:rPr sz="1550">
                <a:solidFill>
                  <a:srgbClr val="FFFFFF"/>
                </a:solidFill>
              </a:rPr>
              <a:t>✓  同义替换定位：用题目词的同义词找段落，再抄原词</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完成Cambridge IELTS真题中2组Notes/Table填空，分析同义替换</a:t>
            </a:r>
          </a:p>
          <a:p>
            <a:pPr>
              <a:spcBef>
                <a:spcPts val="1300"/>
              </a:spcBef>
            </a:pPr>
            <a:r>
              <a:rPr sz="1550" b="1">
                <a:solidFill>
                  <a:srgbClr val="1E293B"/>
                </a:solidFill>
              </a:rPr>
              <a:t>作业 2　做2组Summary Completion，记录每道题答案来自文章第几段</a:t>
            </a:r>
          </a:p>
          <a:p>
            <a:pPr>
              <a:spcBef>
                <a:spcPts val="1300"/>
              </a:spcBef>
            </a:pPr>
            <a:r>
              <a:rPr sz="1550" b="1">
                <a:solidFill>
                  <a:srgbClr val="1E293B"/>
                </a:solidFill>
              </a:rPr>
              <a:t>作业 3　检查习惯：做完所有填空后，逐一数答案词数并检查拼写</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L05 · 标题匹配专项：Paragraph Headings</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快速找段落主题句的方法</a:t>
            </a:r>
          </a:p>
          <a:p>
            <a:pPr>
              <a:spcBef>
                <a:spcPts val="1000"/>
              </a:spcBef>
            </a:pPr>
            <a:r>
              <a:rPr sz="1600">
                <a:solidFill>
                  <a:srgbClr val="CFDCF2"/>
                </a:solidFill>
              </a:rPr>
              <a:t>→ 排除干扰标题的技巧</a:t>
            </a:r>
          </a:p>
          <a:p>
            <a:pPr>
              <a:spcBef>
                <a:spcPts val="1000"/>
              </a:spcBef>
            </a:pPr>
            <a:r>
              <a:rPr sz="1600">
                <a:solidFill>
                  <a:srgbClr val="CFDCF2"/>
                </a:solidFill>
              </a:rPr>
              <a:t>→ 标题匹配8周训练计划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