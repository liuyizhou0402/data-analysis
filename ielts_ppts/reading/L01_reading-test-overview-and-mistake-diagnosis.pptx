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L01</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阅读考试全貌
&amp; 失分诊断</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Reading Overview &amp; Score Diagnosis</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考试结构与三篇文章</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时间管理：60分钟40题</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深圳学生阅读失分模式</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十大题型速览</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备考策略框架</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本课学习目标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阅读考试结构总览</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IELTS Reading: Test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考试基本信息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Reading Test Overview</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时间</a:t>
            </a:r>
          </a:p>
          <a:p>
            <a:pPr>
              <a:spcBef>
                <a:spcPts val="100"/>
              </a:spcBef>
            </a:pPr>
            <a:r>
              <a:rPr sz="1500">
                <a:solidFill>
                  <a:srgbClr val="556075"/>
                </a:solidFill>
              </a:rPr>
              <a:t>   60分钟——同时做题，无额外誊写时间（听力有10分钟誊写）</a:t>
            </a:r>
          </a:p>
          <a:p>
            <a:pPr>
              <a:spcBef>
                <a:spcPts val="900"/>
              </a:spcBef>
            </a:pPr>
            <a:r>
              <a:rPr sz="1800" b="1">
                <a:solidFill>
                  <a:srgbClr val="1B5E33"/>
                </a:solidFill>
              </a:rPr>
              <a:t>• 题量</a:t>
            </a:r>
          </a:p>
          <a:p>
            <a:pPr>
              <a:spcBef>
                <a:spcPts val="100"/>
              </a:spcBef>
            </a:pPr>
            <a:r>
              <a:rPr sz="1500">
                <a:solidFill>
                  <a:srgbClr val="556075"/>
                </a:solidFill>
              </a:rPr>
              <a:t>   40题——平均每题1分30秒</a:t>
            </a:r>
          </a:p>
          <a:p>
            <a:pPr>
              <a:spcBef>
                <a:spcPts val="900"/>
              </a:spcBef>
            </a:pPr>
            <a:r>
              <a:rPr sz="1800" b="1">
                <a:solidFill>
                  <a:srgbClr val="1B5E33"/>
                </a:solidFill>
              </a:rPr>
              <a:t>• 文章数量</a:t>
            </a:r>
          </a:p>
          <a:p>
            <a:pPr>
              <a:spcBef>
                <a:spcPts val="100"/>
              </a:spcBef>
            </a:pPr>
            <a:r>
              <a:rPr sz="1500">
                <a:solidFill>
                  <a:srgbClr val="556075"/>
                </a:solidFill>
              </a:rPr>
              <a:t>   3篇文章（学术类），从相对简单到高度学术</a:t>
            </a:r>
          </a:p>
          <a:p>
            <a:pPr>
              <a:spcBef>
                <a:spcPts val="900"/>
              </a:spcBef>
            </a:pPr>
            <a:r>
              <a:rPr sz="1800" b="1">
                <a:solidFill>
                  <a:srgbClr val="1B5E33"/>
                </a:solidFill>
              </a:rPr>
              <a:t>• 题型</a:t>
            </a:r>
          </a:p>
          <a:p>
            <a:pPr>
              <a:spcBef>
                <a:spcPts val="100"/>
              </a:spcBef>
            </a:pPr>
            <a:r>
              <a:rPr sz="1500">
                <a:solidFill>
                  <a:srgbClr val="556075"/>
                </a:solidFill>
              </a:rPr>
              <a:t>   约10种题型混合出现——每篇文章有3-5种题型</a:t>
            </a:r>
          </a:p>
          <a:p>
            <a:pPr>
              <a:spcBef>
                <a:spcPts val="900"/>
              </a:spcBef>
            </a:pPr>
            <a:r>
              <a:rPr sz="1800" b="1">
                <a:solidFill>
                  <a:srgbClr val="1B5E33"/>
                </a:solidFill>
              </a:rPr>
              <a:t>• 满分</a:t>
            </a:r>
          </a:p>
          <a:p>
            <a:pPr>
              <a:spcBef>
                <a:spcPts val="100"/>
              </a:spcBef>
            </a:pPr>
            <a:r>
              <a:rPr sz="1500">
                <a:solidFill>
                  <a:srgbClr val="556075"/>
                </a:solidFill>
              </a:rPr>
              <a:t>   40分，直接计分——不像听力那样有拼写容错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三篇文章特征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Three Passages: Features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Passage 1（约700-800词）</a:t>
            </a:r>
          </a:p>
          <a:p>
            <a:pPr>
              <a:spcBef>
                <a:spcPts val="100"/>
              </a:spcBef>
            </a:pPr>
            <a:r>
              <a:rPr sz="1500">
                <a:solidFill>
                  <a:srgbClr val="556075"/>
                </a:solidFill>
              </a:rPr>
              <a:t>   相对简单，话题贴近生活，题型以信息定位为主</a:t>
            </a:r>
          </a:p>
          <a:p>
            <a:pPr>
              <a:spcBef>
                <a:spcPts val="900"/>
              </a:spcBef>
            </a:pPr>
            <a:r>
              <a:rPr sz="1800" b="1">
                <a:solidFill>
                  <a:srgbClr val="1B5E33"/>
                </a:solidFill>
              </a:rPr>
              <a:t>• Passage 2（约800-900词）</a:t>
            </a:r>
          </a:p>
          <a:p>
            <a:pPr>
              <a:spcBef>
                <a:spcPts val="100"/>
              </a:spcBef>
            </a:pPr>
            <a:r>
              <a:rPr sz="1500">
                <a:solidFill>
                  <a:srgbClr val="556075"/>
                </a:solidFill>
              </a:rPr>
              <a:t>   难度中等，论证性文章，混合题型</a:t>
            </a:r>
          </a:p>
          <a:p>
            <a:pPr>
              <a:spcBef>
                <a:spcPts val="900"/>
              </a:spcBef>
            </a:pPr>
            <a:r>
              <a:rPr sz="1800" b="1">
                <a:solidFill>
                  <a:srgbClr val="1B5E33"/>
                </a:solidFill>
              </a:rPr>
              <a:t>• Passage 3（约900-1000词）</a:t>
            </a:r>
          </a:p>
          <a:p>
            <a:pPr>
              <a:spcBef>
                <a:spcPts val="100"/>
              </a:spcBef>
            </a:pPr>
            <a:r>
              <a:rPr sz="1500">
                <a:solidFill>
                  <a:srgbClr val="556075"/>
                </a:solidFill>
              </a:rPr>
              <a:t>   难度最高，学术论文风格，大量抽象词汇</a:t>
            </a:r>
          </a:p>
          <a:p>
            <a:pPr>
              <a:spcBef>
                <a:spcPts val="900"/>
              </a:spcBef>
            </a:pPr>
            <a:r>
              <a:rPr sz="1800" b="1">
                <a:solidFill>
                  <a:srgbClr val="1B5E33"/>
                </a:solidFill>
              </a:rPr>
              <a:t>• 时间分配建议</a:t>
            </a:r>
          </a:p>
          <a:p>
            <a:pPr>
              <a:spcBef>
                <a:spcPts val="100"/>
              </a:spcBef>
            </a:pPr>
            <a:r>
              <a:rPr sz="1500">
                <a:solidFill>
                  <a:srgbClr val="556075"/>
                </a:solidFill>
              </a:rPr>
              <a:t>   P1: 18分钟 / P2: 20分钟 / P3: 22分钟</a:t>
            </a:r>
          </a:p>
          <a:p>
            <a:pPr>
              <a:spcBef>
                <a:spcPts val="900"/>
              </a:spcBef>
            </a:pPr>
            <a:r>
              <a:rPr sz="1800" b="1">
                <a:solidFill>
                  <a:srgbClr val="1B5E33"/>
                </a:solidFill>
              </a:rPr>
              <a:t>• 深圳学生</a:t>
            </a:r>
          </a:p>
          <a:p>
            <a:pPr>
              <a:spcBef>
                <a:spcPts val="100"/>
              </a:spcBef>
            </a:pPr>
            <a:r>
              <a:rPr sz="1500">
                <a:solidFill>
                  <a:srgbClr val="556075"/>
                </a:solidFill>
              </a:rPr>
              <a:t>   P3是失分重灾区——学术词汇不足+推理要求高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时间管理：60分钟的分配策略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每题1分30秒是平均值——实际操作：快题30秒，难题2分钟</a:t>
            </a:r>
          </a:p>
          <a:p>
            <a:pPr>
              <a:spcBef>
                <a:spcPts val="1000"/>
              </a:spcBef>
            </a:pPr>
            <a:r>
              <a:rPr sz="1650">
                <a:solidFill>
                  <a:srgbClr val="1E293B"/>
                </a:solidFill>
              </a:rPr>
              <a:t>• 不会就跳过原则：超过2分钟未解决，先猜答案再继续</a:t>
            </a:r>
          </a:p>
          <a:p>
            <a:pPr>
              <a:spcBef>
                <a:spcPts val="1000"/>
              </a:spcBef>
            </a:pPr>
            <a:r>
              <a:rPr sz="1650">
                <a:solidFill>
                  <a:srgbClr val="1E293B"/>
                </a:solidFill>
              </a:rPr>
              <a:t>• P1要快：简单题必须高速做完，留时间给P3</a:t>
            </a:r>
          </a:p>
          <a:p>
            <a:pPr>
              <a:spcBef>
                <a:spcPts val="1000"/>
              </a:spcBef>
            </a:pPr>
            <a:r>
              <a:rPr sz="1650">
                <a:solidFill>
                  <a:srgbClr val="1E293B"/>
                </a:solidFill>
              </a:rPr>
              <a:t>• 最后5分钟：回检未答题目——空格比错误代价更大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阅读评分与换算</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7分需要约30/40题正确（75%）</a:t>
            </a:r>
          </a:p>
          <a:p>
            <a:pPr>
              <a:spcBef>
                <a:spcPts val="1000"/>
              </a:spcBef>
            </a:pPr>
            <a:r>
              <a:rPr sz="1650">
                <a:solidFill>
                  <a:srgbClr val="1E293B"/>
                </a:solidFill>
              </a:rPr>
              <a:t>• 6.5分需要约26/40题正确（65%）</a:t>
            </a:r>
          </a:p>
          <a:p>
            <a:pPr>
              <a:spcBef>
                <a:spcPts val="1000"/>
              </a:spcBef>
            </a:pPr>
            <a:r>
              <a:rPr sz="1650">
                <a:solidFill>
                  <a:srgbClr val="1E293B"/>
                </a:solidFill>
              </a:rPr>
              <a:t>• 6分需要约23/40题正确（57%）</a:t>
            </a:r>
          </a:p>
          <a:p>
            <a:pPr>
              <a:spcBef>
                <a:spcPts val="1000"/>
              </a:spcBef>
            </a:pPr>
            <a:r>
              <a:rPr sz="1650">
                <a:solidFill>
                  <a:srgbClr val="1E293B"/>
                </a:solidFill>
              </a:rPr>
              <a:t>• 深圳学生现状：多数在22-26题区间——目标是突破30题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深圳学生失分诊断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你属于哪种失分模式？
4种常见失分类型</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模式A（词汇型）：认识大多数单词，但推断题/标题题做错——缺乏学术词汇和上下文推断能力
模式B（速度型）：做题准确但时间不够——需要提升阅读速度至少50%
模式C（题型型）：某类题型（如判断题/标题匹配）频繁错误——需要专项题型训练
模式D（综合型）：三种问题都有——需要系统性训练，优先提升词汇和速度</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诊断方法：做一套完整阅读真题，分析错题：词汇不认识？时间不够？题型不懂？把错题分类即可确定自己的失分模式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阅读备考框架：10周计划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L01-L10学习路线图</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L01：全貌+诊断 / L02：判断题（T/F/NG）/ L03：信息定位题
L04：填空题 / L05：标题匹配题 / L06：选择题
L07：摘要填空+句子完成 / L08：词汇与推断
L09：学术阅读速读技巧 / L10：全真模考与查漏补缺
每节课：核心题型策略 + 真题练习 + 深圳学生常见错误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十大题型速览</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Overview of 10 Question Types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信息定位类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Information Location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True/False/Not Given（判断题）</a:t>
            </a:r>
          </a:p>
          <a:p>
            <a:pPr>
              <a:spcBef>
                <a:spcPts val="100"/>
              </a:spcBef>
            </a:pPr>
            <a:r>
              <a:rPr sz="1500">
                <a:solidFill>
                  <a:srgbClr val="556075"/>
                </a:solidFill>
              </a:rPr>
              <a:t>   最常见，最难——需要精确理解"Not Given"</a:t>
            </a:r>
          </a:p>
          <a:p>
            <a:pPr>
              <a:spcBef>
                <a:spcPts val="900"/>
              </a:spcBef>
            </a:pPr>
            <a:r>
              <a:rPr sz="1800" b="1">
                <a:solidFill>
                  <a:srgbClr val="1B5E33"/>
                </a:solidFill>
              </a:rPr>
              <a:t>• Yes/No/Not Given（观点判断）</a:t>
            </a:r>
          </a:p>
          <a:p>
            <a:pPr>
              <a:spcBef>
                <a:spcPts val="100"/>
              </a:spcBef>
            </a:pPr>
            <a:r>
              <a:rPr sz="1500">
                <a:solidFill>
                  <a:srgbClr val="556075"/>
                </a:solidFill>
              </a:rPr>
              <a:t>   针对作者观点，而非文本事实</a:t>
            </a:r>
          </a:p>
          <a:p>
            <a:pPr>
              <a:spcBef>
                <a:spcPts val="900"/>
              </a:spcBef>
            </a:pPr>
            <a:r>
              <a:rPr sz="1800" b="1">
                <a:solidFill>
                  <a:srgbClr val="1B5E33"/>
                </a:solidFill>
              </a:rPr>
              <a:t>• 匹配题（Matching Information）</a:t>
            </a:r>
          </a:p>
          <a:p>
            <a:pPr>
              <a:spcBef>
                <a:spcPts val="100"/>
              </a:spcBef>
            </a:pPr>
            <a:r>
              <a:rPr sz="1500">
                <a:solidFill>
                  <a:srgbClr val="556075"/>
                </a:solidFill>
              </a:rPr>
              <a:t>   把信息匹配到段落——需要scanning技巧</a:t>
            </a:r>
          </a:p>
          <a:p>
            <a:pPr>
              <a:spcBef>
                <a:spcPts val="900"/>
              </a:spcBef>
            </a:pPr>
            <a:r>
              <a:rPr sz="1800" b="1">
                <a:solidFill>
                  <a:srgbClr val="1B5E33"/>
                </a:solidFill>
              </a:rPr>
              <a:t>• 标题匹配（Heading Matching）</a:t>
            </a:r>
          </a:p>
          <a:p>
            <a:pPr>
              <a:spcBef>
                <a:spcPts val="100"/>
              </a:spcBef>
            </a:pPr>
            <a:r>
              <a:rPr sz="1500">
                <a:solidFill>
                  <a:srgbClr val="556075"/>
                </a:solidFill>
              </a:rPr>
              <a:t>   把标题匹配到段落——需要理解段落主旨</a:t>
            </a:r>
          </a:p>
          <a:p>
            <a:pPr>
              <a:spcBef>
                <a:spcPts val="900"/>
              </a:spcBef>
            </a:pPr>
            <a:r>
              <a:rPr sz="1800" b="1">
                <a:solidFill>
                  <a:srgbClr val="1B5E33"/>
                </a:solidFill>
              </a:rPr>
              <a:t>• 人名/观点匹配</a:t>
            </a:r>
          </a:p>
          <a:p>
            <a:pPr>
              <a:spcBef>
                <a:spcPts val="100"/>
              </a:spcBef>
            </a:pPr>
            <a:r>
              <a:rPr sz="1500">
                <a:solidFill>
                  <a:srgbClr val="556075"/>
                </a:solidFill>
              </a:rPr>
              <a:t>   把观点匹配到提出者——多个人名容易混淆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填充与选择类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Gap-Fill &amp; Choice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摘要填空（Summary Completion）</a:t>
            </a:r>
          </a:p>
          <a:p>
            <a:pPr>
              <a:spcBef>
                <a:spcPts val="100"/>
              </a:spcBef>
            </a:pPr>
            <a:r>
              <a:rPr sz="1500">
                <a:solidFill>
                  <a:srgbClr val="556075"/>
                </a:solidFill>
              </a:rPr>
              <a:t>   从文章找词填入摘要——多个空格连续</a:t>
            </a:r>
          </a:p>
          <a:p>
            <a:pPr>
              <a:spcBef>
                <a:spcPts val="900"/>
              </a:spcBef>
            </a:pPr>
            <a:r>
              <a:rPr sz="1800" b="1">
                <a:solidFill>
                  <a:srgbClr val="1B5E33"/>
                </a:solidFill>
              </a:rPr>
              <a:t>• 句子完成（Sentence Completion）</a:t>
            </a:r>
          </a:p>
          <a:p>
            <a:pPr>
              <a:spcBef>
                <a:spcPts val="100"/>
              </a:spcBef>
            </a:pPr>
            <a:r>
              <a:rPr sz="1500">
                <a:solidFill>
                  <a:srgbClr val="556075"/>
                </a:solidFill>
              </a:rPr>
              <a:t>   完成给出的句子——词数有严格限制</a:t>
            </a:r>
          </a:p>
          <a:p>
            <a:pPr>
              <a:spcBef>
                <a:spcPts val="900"/>
              </a:spcBef>
            </a:pPr>
            <a:r>
              <a:rPr sz="1800" b="1">
                <a:solidFill>
                  <a:srgbClr val="1B5E33"/>
                </a:solidFill>
              </a:rPr>
              <a:t>• 表格/流程/图解填空</a:t>
            </a:r>
          </a:p>
          <a:p>
            <a:pPr>
              <a:spcBef>
                <a:spcPts val="100"/>
              </a:spcBef>
            </a:pPr>
            <a:r>
              <a:rPr sz="1500">
                <a:solidFill>
                  <a:srgbClr val="556075"/>
                </a:solidFill>
              </a:rPr>
              <a:t>   填写表格或图表中的信息</a:t>
            </a:r>
          </a:p>
          <a:p>
            <a:pPr>
              <a:spcBef>
                <a:spcPts val="900"/>
              </a:spcBef>
            </a:pPr>
            <a:r>
              <a:rPr sz="1800" b="1">
                <a:solidFill>
                  <a:srgbClr val="1B5E33"/>
                </a:solidFill>
              </a:rPr>
              <a:t>• 单项/多项选择</a:t>
            </a:r>
          </a:p>
          <a:p>
            <a:pPr>
              <a:spcBef>
                <a:spcPts val="100"/>
              </a:spcBef>
            </a:pPr>
            <a:r>
              <a:rPr sz="1500">
                <a:solidFill>
                  <a:srgbClr val="556075"/>
                </a:solidFill>
              </a:rPr>
              <a:t>   选择正确答案——多项选择尤其难</a:t>
            </a:r>
          </a:p>
          <a:p>
            <a:pPr>
              <a:spcBef>
                <a:spcPts val="900"/>
              </a:spcBef>
            </a:pPr>
            <a:r>
              <a:rPr sz="1800" b="1">
                <a:solidFill>
                  <a:srgbClr val="1B5E33"/>
                </a:solidFill>
              </a:rPr>
              <a:t>• Short Answer Questions</a:t>
            </a:r>
          </a:p>
          <a:p>
            <a:pPr>
              <a:spcBef>
                <a:spcPts val="100"/>
              </a:spcBef>
            </a:pPr>
            <a:r>
              <a:rPr sz="1500">
                <a:solidFill>
                  <a:srgbClr val="556075"/>
                </a:solidFill>
              </a:rPr>
              <a:t>   用文章中的词语回答问题——词数限制很重要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题型优先级：得分效率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高效题型（必须拿分）：Summary填空 / 信息匹配 / Short Answer——相对客观</a:t>
            </a:r>
          </a:p>
          <a:p>
            <a:pPr>
              <a:spcBef>
                <a:spcPts val="1000"/>
              </a:spcBef>
            </a:pPr>
            <a:r>
              <a:rPr sz="1650">
                <a:solidFill>
                  <a:srgbClr val="1E293B"/>
                </a:solidFill>
              </a:rPr>
              <a:t>• 中效题型（争取拿分）：选择题 / 句子完成 / 表格填空——需要仔细阅读</a:t>
            </a:r>
          </a:p>
          <a:p>
            <a:pPr>
              <a:spcBef>
                <a:spcPts val="1000"/>
              </a:spcBef>
            </a:pPr>
            <a:r>
              <a:rPr sz="1650">
                <a:solidFill>
                  <a:srgbClr val="1E293B"/>
                </a:solidFill>
              </a:rPr>
              <a:t>• 难题型（控制时间）：T/F/NG / 标题匹配——容易耗时，设时间上限</a:t>
            </a:r>
          </a:p>
          <a:p>
            <a:pPr>
              <a:spcBef>
                <a:spcPts val="1000"/>
              </a:spcBef>
            </a:pPr>
            <a:r>
              <a:rPr sz="1650">
                <a:solidFill>
                  <a:srgbClr val="1E293B"/>
                </a:solidFill>
              </a:rPr>
              <a:t>• 策略：先做自己擅长的题型，把难题放到最后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阅读速度目标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目前速度测试：找一篇700词的英语文章，计时，看用多少分钟读完</a:t>
            </a:r>
          </a:p>
          <a:p>
            <a:pPr>
              <a:spcBef>
                <a:spcPts val="1000"/>
              </a:spcBef>
            </a:pPr>
            <a:r>
              <a:rPr sz="1650">
                <a:solidFill>
                  <a:srgbClr val="1E293B"/>
                </a:solidFill>
              </a:rPr>
              <a:t>• Band 7目标速度：约200-250词/分钟（含做题）</a:t>
            </a:r>
          </a:p>
          <a:p>
            <a:pPr>
              <a:spcBef>
                <a:spcPts val="1000"/>
              </a:spcBef>
            </a:pPr>
            <a:r>
              <a:rPr sz="1650">
                <a:solidFill>
                  <a:srgbClr val="1E293B"/>
                </a:solidFill>
              </a:rPr>
              <a:t>• 大多数深圳学生现状：约100-150词/分钟——需要提升1倍</a:t>
            </a:r>
          </a:p>
          <a:p>
            <a:pPr>
              <a:spcBef>
                <a:spcPts val="1000"/>
              </a:spcBef>
            </a:pPr>
            <a:r>
              <a:rPr sz="1650">
                <a:solidFill>
                  <a:srgbClr val="1E293B"/>
                </a:solidFill>
              </a:rPr>
              <a:t>• 提速方法：每天精读+泛读，刻意练习扫读（scanning）和略读（skimming）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阅读技巧三角形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略读/扫读/精读——三种速度的战略分配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Skimming（略读，全篇10-15%时间）：
快速读文章首尾段+每段第一句——了解文章结构，不读细节
Scanning（扫读，40-50%时间）：
带着问题找关键词——不读整段，只找答案所在位置
Detail Reading（精读，40-50%时间）：
只精读答案所在的1-3句——不读全文，只读关键句
深圳学生错误：全文精读——速度太慢，60分钟做不完</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战略核心：不要从头到尾精读——先略读了解结构，再扫读定位，最后精读确认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阅读词汇量目标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IELTS阅读所需词汇量分析</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Band 6：约6000-7000词汇量
Band 7：约8000-9000词汇量
Band 8：约10000-12000词汇量
深圳学生现状：多数有CET-4级别（约4500词）或CET-6（约6000词）的词汇量——距离Band 7有差距
提升策略：不是背所有词，而是：
①高频学术词汇（AWL：570个家族）——优先
②阅读中遇到的词——即时记忆
③猜词技巧——从上下文推断未知词义</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AWL（Academic Word List）是最高效的词汇投资——这570个词家族覆盖学术文章约10%的词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阅读核心技巧：三步做题法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3-Step Answer Strategy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第一步：题目先行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Step 1: Read Questions First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原则</a:t>
            </a:r>
          </a:p>
          <a:p>
            <a:pPr>
              <a:spcBef>
                <a:spcPts val="100"/>
              </a:spcBef>
            </a:pPr>
            <a:r>
              <a:rPr sz="1500">
                <a:solidFill>
                  <a:srgbClr val="556075"/>
                </a:solidFill>
              </a:rPr>
              <a:t>   先读题目，再读文章——带着问题读，效率提升50%</a:t>
            </a:r>
          </a:p>
          <a:p>
            <a:pPr>
              <a:spcBef>
                <a:spcPts val="900"/>
              </a:spcBef>
            </a:pPr>
            <a:r>
              <a:rPr sz="1800" b="1">
                <a:solidFill>
                  <a:srgbClr val="1B5E33"/>
                </a:solidFill>
              </a:rPr>
              <a:t>• 关键词提取</a:t>
            </a:r>
          </a:p>
          <a:p>
            <a:pPr>
              <a:spcBef>
                <a:spcPts val="100"/>
              </a:spcBef>
            </a:pPr>
            <a:r>
              <a:rPr sz="1500">
                <a:solidFill>
                  <a:srgbClr val="556075"/>
                </a:solidFill>
              </a:rPr>
              <a:t>   每个题目找2-3个关键词：专有名词/数字/不常见词</a:t>
            </a:r>
          </a:p>
          <a:p>
            <a:pPr>
              <a:spcBef>
                <a:spcPts val="900"/>
              </a:spcBef>
            </a:pPr>
            <a:r>
              <a:rPr sz="1800" b="1">
                <a:solidFill>
                  <a:srgbClr val="1B5E33"/>
                </a:solidFill>
              </a:rPr>
              <a:t>• 题型判断</a:t>
            </a:r>
          </a:p>
          <a:p>
            <a:pPr>
              <a:spcBef>
                <a:spcPts val="100"/>
              </a:spcBef>
            </a:pPr>
            <a:r>
              <a:rPr sz="1500">
                <a:solidFill>
                  <a:srgbClr val="556075"/>
                </a:solidFill>
              </a:rPr>
              <a:t>   先确认这道题是什么类型——决定怎么找答案</a:t>
            </a:r>
          </a:p>
          <a:p>
            <a:pPr>
              <a:spcBef>
                <a:spcPts val="900"/>
              </a:spcBef>
            </a:pPr>
            <a:r>
              <a:rPr sz="1800" b="1">
                <a:solidFill>
                  <a:srgbClr val="1B5E33"/>
                </a:solidFill>
              </a:rPr>
              <a:t>• 顺序策略</a:t>
            </a:r>
          </a:p>
          <a:p>
            <a:pPr>
              <a:spcBef>
                <a:spcPts val="100"/>
              </a:spcBef>
            </a:pPr>
            <a:r>
              <a:rPr sz="1500">
                <a:solidFill>
                  <a:srgbClr val="556075"/>
                </a:solidFill>
              </a:rPr>
              <a:t>   T/F/NG题通常按顺序——第一题的答案在文章前面</a:t>
            </a:r>
          </a:p>
          <a:p>
            <a:pPr>
              <a:spcBef>
                <a:spcPts val="900"/>
              </a:spcBef>
            </a:pPr>
            <a:r>
              <a:rPr sz="1800" b="1">
                <a:solidFill>
                  <a:srgbClr val="1B5E33"/>
                </a:solidFill>
              </a:rPr>
              <a:t>• 深圳学生</a:t>
            </a:r>
          </a:p>
          <a:p>
            <a:pPr>
              <a:spcBef>
                <a:spcPts val="100"/>
              </a:spcBef>
            </a:pPr>
            <a:r>
              <a:rPr sz="1500">
                <a:solidFill>
                  <a:srgbClr val="556075"/>
                </a:solidFill>
              </a:rPr>
              <a:t>   常见错误：先读完整篇文章再做题——浪费时间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第二步：定位扫读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Step 2: Scan for Location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关键词扫描</a:t>
            </a:r>
          </a:p>
          <a:p>
            <a:pPr>
              <a:spcBef>
                <a:spcPts val="100"/>
              </a:spcBef>
            </a:pPr>
            <a:r>
              <a:rPr sz="1500">
                <a:solidFill>
                  <a:srgbClr val="556075"/>
                </a:solidFill>
              </a:rPr>
              <a:t>   用题目关键词在文章中扫描——不读所有内容</a:t>
            </a:r>
          </a:p>
          <a:p>
            <a:pPr>
              <a:spcBef>
                <a:spcPts val="900"/>
              </a:spcBef>
            </a:pPr>
            <a:r>
              <a:rPr sz="1800" b="1">
                <a:solidFill>
                  <a:srgbClr val="1B5E33"/>
                </a:solidFill>
              </a:rPr>
              <a:t>• 同义替换意识</a:t>
            </a:r>
          </a:p>
          <a:p>
            <a:pPr>
              <a:spcBef>
                <a:spcPts val="100"/>
              </a:spcBef>
            </a:pPr>
            <a:r>
              <a:rPr sz="1500">
                <a:solidFill>
                  <a:srgbClr val="556075"/>
                </a:solidFill>
              </a:rPr>
              <a:t>   文章不会用题目的原词——找paraphrase（同义替换）</a:t>
            </a:r>
          </a:p>
          <a:p>
            <a:pPr>
              <a:spcBef>
                <a:spcPts val="900"/>
              </a:spcBef>
            </a:pPr>
            <a:r>
              <a:rPr sz="1800" b="1">
                <a:solidFill>
                  <a:srgbClr val="1B5E33"/>
                </a:solidFill>
              </a:rPr>
              <a:t>• 段落标记</a:t>
            </a:r>
          </a:p>
          <a:p>
            <a:pPr>
              <a:spcBef>
                <a:spcPts val="100"/>
              </a:spcBef>
            </a:pPr>
            <a:r>
              <a:rPr sz="1500">
                <a:solidFill>
                  <a:srgbClr val="556075"/>
                </a:solidFill>
              </a:rPr>
              <a:t>   找到可能相关段落，标记位置——先定位，再精读</a:t>
            </a:r>
          </a:p>
          <a:p>
            <a:pPr>
              <a:spcBef>
                <a:spcPts val="900"/>
              </a:spcBef>
            </a:pPr>
            <a:r>
              <a:rPr sz="1800" b="1">
                <a:solidFill>
                  <a:srgbClr val="1B5E33"/>
                </a:solidFill>
              </a:rPr>
              <a:t>• 专有名词优先</a:t>
            </a:r>
          </a:p>
          <a:p>
            <a:pPr>
              <a:spcBef>
                <a:spcPts val="100"/>
              </a:spcBef>
            </a:pPr>
            <a:r>
              <a:rPr sz="1500">
                <a:solidFill>
                  <a:srgbClr val="556075"/>
                </a:solidFill>
              </a:rPr>
              <a:t>   大写词/数字/日期最容易找——先扫这些特殊词</a:t>
            </a:r>
          </a:p>
          <a:p>
            <a:pPr>
              <a:spcBef>
                <a:spcPts val="900"/>
              </a:spcBef>
            </a:pPr>
            <a:r>
              <a:rPr sz="1800" b="1">
                <a:solidFill>
                  <a:srgbClr val="1B5E33"/>
                </a:solidFill>
              </a:rPr>
              <a:t>• 不要被干扰</a:t>
            </a:r>
          </a:p>
          <a:p>
            <a:pPr>
              <a:spcBef>
                <a:spcPts val="100"/>
              </a:spcBef>
            </a:pPr>
            <a:r>
              <a:rPr sz="1500">
                <a:solidFill>
                  <a:srgbClr val="556075"/>
                </a:solidFill>
              </a:rPr>
              <a:t>   相关词汇出现不代表是答案——要读完整句子确认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第三步：精读确认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只精读答案所在的1-3句——不读整段</a:t>
            </a:r>
          </a:p>
          <a:p>
            <a:pPr>
              <a:spcBef>
                <a:spcPts val="1000"/>
              </a:spcBef>
            </a:pPr>
            <a:r>
              <a:rPr sz="1650">
                <a:solidFill>
                  <a:srgbClr val="1E293B"/>
                </a:solidFill>
              </a:rPr>
              <a:t>• 比较：题目说的 vs 文章说的——同义替换？还是矛盾？</a:t>
            </a:r>
          </a:p>
          <a:p>
            <a:pPr>
              <a:spcBef>
                <a:spcPts val="1000"/>
              </a:spcBef>
            </a:pPr>
            <a:r>
              <a:rPr sz="1650">
                <a:solidFill>
                  <a:srgbClr val="1E293B"/>
                </a:solidFill>
              </a:rPr>
              <a:t>• T/F/NG：文章明确说 = True/False；文章没说/不能推断 = Not Given</a:t>
            </a:r>
          </a:p>
          <a:p>
            <a:pPr>
              <a:spcBef>
                <a:spcPts val="1000"/>
              </a:spcBef>
            </a:pPr>
            <a:r>
              <a:rPr sz="1650">
                <a:solidFill>
                  <a:srgbClr val="1E293B"/>
                </a:solidFill>
              </a:rPr>
              <a:t>• 填空：答案必须来自文章原词，注意词数限制</a:t>
            </a:r>
          </a:p>
          <a:p>
            <a:pPr>
              <a:spcBef>
                <a:spcPts val="1000"/>
              </a:spcBef>
            </a:pPr>
            <a:r>
              <a:rPr sz="1650">
                <a:solidFill>
                  <a:srgbClr val="1E293B"/>
                </a:solidFill>
              </a:rPr>
              <a:t>• 选择：用排除法——找出明显错误的选项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三步法的时间分配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步骤1（读题目）：每篇2-3分钟——提取关键词，不浪费时间</a:t>
            </a:r>
          </a:p>
          <a:p>
            <a:pPr>
              <a:spcBef>
                <a:spcPts val="1000"/>
              </a:spcBef>
            </a:pPr>
            <a:r>
              <a:rPr sz="1650">
                <a:solidFill>
                  <a:srgbClr val="1E293B"/>
                </a:solidFill>
              </a:rPr>
              <a:t>• 步骤2（扫描定位）：每道题30秒——快速找到段落</a:t>
            </a:r>
          </a:p>
          <a:p>
            <a:pPr>
              <a:spcBef>
                <a:spcPts val="1000"/>
              </a:spcBef>
            </a:pPr>
            <a:r>
              <a:rPr sz="1650">
                <a:solidFill>
                  <a:srgbClr val="1E293B"/>
                </a:solidFill>
              </a:rPr>
              <a:t>• 步骤3（精读确认）：每道题60-90秒——精确匹配答案</a:t>
            </a:r>
          </a:p>
          <a:p>
            <a:pPr>
              <a:spcBef>
                <a:spcPts val="1000"/>
              </a:spcBef>
            </a:pPr>
            <a:r>
              <a:rPr sz="1650">
                <a:solidFill>
                  <a:srgbClr val="1E293B"/>
                </a:solidFill>
              </a:rPr>
              <a:t>• 总计：每篇约18-22分钟——60分钟做3篇的理想节奏</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三步法实战演示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True/False/Not Given示范
原文：Scientists have found that regular exercise significantly reduces the risk of heart disease in adults over 50.</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题目："Exercise is beneficial only for elderly people."
步骤1（读题）：关键词是exercise / beneficial / only / elderly
步骤2（定位）：在文章找exercise相关段落
步骤3（精读）：原文说"adults over 50"——题目说"only for elderly people"——"adults over 50"包含老人，但也可指50+的中年人，而且原文没说"only"——所以这个限定是错误的
答案：FALSE（因为原文说reduces risk for adults over 50，没有说"only"）</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关键分辨：True=文章意思完全一致 / False=文章意思相反或有明显矛盾 / NG=文章根本没提或无法推断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文章用不同词表达相同意思——识别paraphrase是阅读核心技能</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练习：以下题目词汇 vs 文章原文，找出对应关系
题目：beneficial → 文章可能用：advantageous / valuable / positive / helpful
题目：increase → 文章可能用：rise / grow / surge / escalate
题目：difficult → 文章可能用：challenging / complex / arduous / problematic
题目：important → 文章可能用：significant / crucial / vital / pivotal
题目：show → 文章可能用：indicate / suggest / demonstrate / reveal
训练目标：看到任何词，立刻能想到3种同义替换——这是阅读高分的基础</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同义替换是IELTS阅读设题的核心机制——所有题型都依赖paraphrase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词汇与猜词技巧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Vocabulary &amp; Word Guessing Strategies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IELTS阅读词汇策略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Vocabulary Strategy for IELTS Reading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优先学AWL</a:t>
            </a:r>
          </a:p>
          <a:p>
            <a:pPr>
              <a:spcBef>
                <a:spcPts val="100"/>
              </a:spcBef>
            </a:pPr>
            <a:r>
              <a:rPr sz="1500">
                <a:solidFill>
                  <a:srgbClr val="556075"/>
                </a:solidFill>
              </a:rPr>
              <a:t>   570个学术词汇家族——这是Band 7词汇的核心</a:t>
            </a:r>
          </a:p>
          <a:p>
            <a:pPr>
              <a:spcBef>
                <a:spcPts val="900"/>
              </a:spcBef>
            </a:pPr>
            <a:r>
              <a:rPr sz="1800" b="1">
                <a:solidFill>
                  <a:srgbClr val="1B5E33"/>
                </a:solidFill>
              </a:rPr>
              <a:t>• 词根词缀</a:t>
            </a:r>
          </a:p>
          <a:p>
            <a:pPr>
              <a:spcBef>
                <a:spcPts val="100"/>
              </a:spcBef>
            </a:pPr>
            <a:r>
              <a:rPr sz="1500">
                <a:solidFill>
                  <a:srgbClr val="556075"/>
                </a:solidFill>
              </a:rPr>
              <a:t>   前缀/后缀/词根——学会分析新词</a:t>
            </a:r>
          </a:p>
          <a:p>
            <a:pPr>
              <a:spcBef>
                <a:spcPts val="900"/>
              </a:spcBef>
            </a:pPr>
            <a:r>
              <a:rPr sz="1800" b="1">
                <a:solidFill>
                  <a:srgbClr val="1B5E33"/>
                </a:solidFill>
              </a:rPr>
              <a:t>• 上下文猜词</a:t>
            </a:r>
          </a:p>
          <a:p>
            <a:pPr>
              <a:spcBef>
                <a:spcPts val="100"/>
              </a:spcBef>
            </a:pPr>
            <a:r>
              <a:rPr sz="1500">
                <a:solidFill>
                  <a:srgbClr val="556075"/>
                </a:solidFill>
              </a:rPr>
              <a:t>   即使不认识，也能从上下文推断——是必须掌握的技能</a:t>
            </a:r>
          </a:p>
          <a:p>
            <a:pPr>
              <a:spcBef>
                <a:spcPts val="900"/>
              </a:spcBef>
            </a:pPr>
            <a:r>
              <a:rPr sz="1800" b="1">
                <a:solidFill>
                  <a:srgbClr val="1B5E33"/>
                </a:solidFill>
              </a:rPr>
              <a:t>• 同义词网络</a:t>
            </a:r>
          </a:p>
          <a:p>
            <a:pPr>
              <a:spcBef>
                <a:spcPts val="100"/>
              </a:spcBef>
            </a:pPr>
            <a:r>
              <a:rPr sz="1500">
                <a:solidFill>
                  <a:srgbClr val="556075"/>
                </a:solidFill>
              </a:rPr>
              <a:t>   每学一个词，同时学3个同义词——建立词汇网络</a:t>
            </a:r>
          </a:p>
          <a:p>
            <a:pPr>
              <a:spcBef>
                <a:spcPts val="900"/>
              </a:spcBef>
            </a:pPr>
            <a:r>
              <a:rPr sz="1800" b="1">
                <a:solidFill>
                  <a:srgbClr val="1B5E33"/>
                </a:solidFill>
              </a:rPr>
              <a:t>• 深圳学生</a:t>
            </a:r>
          </a:p>
          <a:p>
            <a:pPr>
              <a:spcBef>
                <a:spcPts val="100"/>
              </a:spcBef>
            </a:pPr>
            <a:r>
              <a:rPr sz="1500">
                <a:solidFill>
                  <a:srgbClr val="556075"/>
                </a:solidFill>
              </a:rPr>
              <a:t>   重点补充academic vocabulary——日常词汇够用，学术词汇不足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猜词技巧四步法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Word Guessing Techniques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步骤1：词性</a:t>
            </a:r>
          </a:p>
          <a:p>
            <a:pPr>
              <a:spcBef>
                <a:spcPts val="100"/>
              </a:spcBef>
            </a:pPr>
            <a:r>
              <a:rPr sz="1500">
                <a:solidFill>
                  <a:srgbClr val="556075"/>
                </a:solidFill>
              </a:rPr>
              <a:t>   根据句子位置判断词性——动词/名词/形容词/副词</a:t>
            </a:r>
          </a:p>
          <a:p>
            <a:pPr>
              <a:spcBef>
                <a:spcPts val="900"/>
              </a:spcBef>
            </a:pPr>
            <a:r>
              <a:rPr sz="1800" b="1">
                <a:solidFill>
                  <a:srgbClr val="1B5E33"/>
                </a:solidFill>
              </a:rPr>
              <a:t>• 步骤2：词根</a:t>
            </a:r>
          </a:p>
          <a:p>
            <a:pPr>
              <a:spcBef>
                <a:spcPts val="100"/>
              </a:spcBef>
            </a:pPr>
            <a:r>
              <a:rPr sz="1500">
                <a:solidFill>
                  <a:srgbClr val="556075"/>
                </a:solidFill>
              </a:rPr>
              <a:t>   分析前缀和后缀——pre/un/dis/re/tion/ment/ous/ive</a:t>
            </a:r>
          </a:p>
          <a:p>
            <a:pPr>
              <a:spcBef>
                <a:spcPts val="900"/>
              </a:spcBef>
            </a:pPr>
            <a:r>
              <a:rPr sz="1800" b="1">
                <a:solidFill>
                  <a:srgbClr val="1B5E33"/>
                </a:solidFill>
              </a:rPr>
              <a:t>• 步骤3：上下文</a:t>
            </a:r>
          </a:p>
          <a:p>
            <a:pPr>
              <a:spcBef>
                <a:spcPts val="100"/>
              </a:spcBef>
            </a:pPr>
            <a:r>
              <a:rPr sz="1500">
                <a:solidFill>
                  <a:srgbClr val="556075"/>
                </a:solidFill>
              </a:rPr>
              <a:t>   看前后句意思——这个词在这里应该是正面/负面？</a:t>
            </a:r>
          </a:p>
          <a:p>
            <a:pPr>
              <a:spcBef>
                <a:spcPts val="900"/>
              </a:spcBef>
            </a:pPr>
            <a:r>
              <a:rPr sz="1800" b="1">
                <a:solidFill>
                  <a:srgbClr val="1B5E33"/>
                </a:solidFill>
              </a:rPr>
              <a:t>• 步骤4：替换测试</a:t>
            </a:r>
          </a:p>
          <a:p>
            <a:pPr>
              <a:spcBef>
                <a:spcPts val="100"/>
              </a:spcBef>
            </a:pPr>
            <a:r>
              <a:rPr sz="1500">
                <a:solidFill>
                  <a:srgbClr val="556075"/>
                </a:solidFill>
              </a:rPr>
              <a:t>   用你猜的意思替换进去——句子逻辑通顺吗？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AWL高频词汇分类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概念词：concept/theory/principle/framework/approach/perspective</a:t>
            </a:r>
          </a:p>
          <a:p>
            <a:pPr>
              <a:spcBef>
                <a:spcPts val="1000"/>
              </a:spcBef>
            </a:pPr>
            <a:r>
              <a:rPr sz="1650">
                <a:solidFill>
                  <a:srgbClr val="1E293B"/>
                </a:solidFill>
              </a:rPr>
              <a:t>• 变化词：significant/considerable/substantial/dramatic/marked</a:t>
            </a:r>
          </a:p>
          <a:p>
            <a:pPr>
              <a:spcBef>
                <a:spcPts val="1000"/>
              </a:spcBef>
            </a:pPr>
            <a:r>
              <a:rPr sz="1650">
                <a:solidFill>
                  <a:srgbClr val="1E293B"/>
                </a:solidFill>
              </a:rPr>
              <a:t>• 分析词：analyse/examine/evaluate/assess/investigate/identify</a:t>
            </a:r>
          </a:p>
          <a:p>
            <a:pPr>
              <a:spcBef>
                <a:spcPts val="1000"/>
              </a:spcBef>
            </a:pPr>
            <a:r>
              <a:rPr sz="1650">
                <a:solidFill>
                  <a:srgbClr val="1E293B"/>
                </a:solidFill>
              </a:rPr>
              <a:t>• 论证词：argue/suggest/indicate/demonstrate/conclude/imply</a:t>
            </a:r>
          </a:p>
          <a:p>
            <a:pPr>
              <a:spcBef>
                <a:spcPts val="1000"/>
              </a:spcBef>
            </a:pPr>
            <a:r>
              <a:rPr sz="1650">
                <a:solidFill>
                  <a:srgbClr val="1E293B"/>
                </a:solidFill>
              </a:rPr>
              <a:t>• 关系词：factor/aspect/element/feature/component/dimension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词根词缀速查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前缀un-/in-/dis-：否定意义</a:t>
            </a:r>
          </a:p>
          <a:p>
            <a:pPr>
              <a:spcBef>
                <a:spcPts val="1000"/>
              </a:spcBef>
            </a:pPr>
            <a:r>
              <a:rPr sz="1650">
                <a:solidFill>
                  <a:srgbClr val="1E293B"/>
                </a:solidFill>
              </a:rPr>
              <a:t>• 前缀pre-/post-：时间关系（前/后）</a:t>
            </a:r>
          </a:p>
          <a:p>
            <a:pPr>
              <a:spcBef>
                <a:spcPts val="1000"/>
              </a:spcBef>
            </a:pPr>
            <a:r>
              <a:rPr sz="1650">
                <a:solidFill>
                  <a:srgbClr val="1E293B"/>
                </a:solidFill>
              </a:rPr>
              <a:t>• 前缀re-：重复</a:t>
            </a:r>
          </a:p>
          <a:p>
            <a:pPr>
              <a:spcBef>
                <a:spcPts val="1000"/>
              </a:spcBef>
            </a:pPr>
            <a:r>
              <a:rPr sz="1650">
                <a:solidFill>
                  <a:srgbClr val="1E293B"/>
                </a:solidFill>
              </a:rPr>
              <a:t>• 后缀-tion/-ment：名词化</a:t>
            </a:r>
          </a:p>
          <a:p>
            <a:pPr>
              <a:spcBef>
                <a:spcPts val="1000"/>
              </a:spcBef>
            </a:pPr>
            <a:r>
              <a:rPr sz="1650">
                <a:solidFill>
                  <a:srgbClr val="1E293B"/>
                </a:solidFill>
              </a:rPr>
              <a:t>• 后缀-ous/-ive/-al：形容词化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猜词示范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不认识的词如何推断？
示范：文章中的"ameliorate"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步骤1（词性）：在"scientists seek to ameliorate the problem"中——动词位置
步骤2（词根）：melio- 类似 "melior" = better（拉丁语），a-前缀是"to"
步骤3（上下文）：科学家"seek to"做某事对"problem"——应该是正面行为（解决/改善）
步骤4（替换测试）："scientists seek to improve/solve the problem"——逻辑通顺
推断：ameliorate = improve/make better
实际意思：ameliorate = 改善/缓解 ✓</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猜词准确率：通过这4步，即使完全不认识的词也能猜到7-8成准确——这就够了</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词汇学习计划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30天词汇强化计划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Week 1：AWL Group 1-3（最高频）每天20个词，造句+同义词
Week 2：AWL Group 4-6，同时做真题练习中遇到的词
Week 3：AWL Group 7-10，专项猜词练习
Week 4：综合复习，全真阅读测试，检测词汇提升效果
每天15分钟词汇 = 30天后AWL掌握率提升显著</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阅读核心词汇表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Reading Core Vocabulary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AWL高频词汇（学术文章必备）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analyse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分析（analyze=美式拼写）——考官最喜欢的学术动词</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concept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概念（the concept of X / conceptual framework）</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significant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显著的（significant difference/change/impact）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indicate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表明（the data indicates that...）</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established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既定的（established methods / well-established theory）</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approach</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方法/途径（a new approach to / take an approach）</a:t>
            </a:r>
          </a:p>
        </p:txBody>
      </p:sp>
      <p:sp>
        <p:nvSpPr>
          <p:cNvPr id="36" name="Rectangle 35"/>
          <p:cNvSpPr/>
          <p:nvPr/>
        </p:nvSpPr>
        <p:spPr>
          <a:xfrm>
            <a:off x="548640" y="5202936"/>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1B5E33"/>
                </a:solidFill>
                <a:latin typeface="Calibri"/>
              </a:rPr>
              <a:t>perspective</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视角（from a different perspective / multiple perspectives）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同义替换高频组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increase（增加）</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rise / grow / surge / escalate / climb / expand / mount</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decrease（减少）</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fall / drop / decline / diminish / reduce / contract</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show（显示）</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indicate / suggest / reveal / demonstrate / reflect / imply</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important（重要）</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significant / crucial / vital / pivotal / essential / critical</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change（变化）</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alter / shift / transform / modify / adjust / evolve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problem（问题）</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issue / challenge / difficulty / obstacle / barrier / concern</a:t>
            </a:r>
          </a:p>
        </p:txBody>
      </p:sp>
      <p:sp>
        <p:nvSpPr>
          <p:cNvPr id="36" name="Rectangle 35"/>
          <p:cNvSpPr/>
          <p:nvPr/>
        </p:nvSpPr>
        <p:spPr>
          <a:xfrm>
            <a:off x="548640" y="5202936"/>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1B5E33"/>
                </a:solidFill>
                <a:latin typeface="Calibri"/>
              </a:rPr>
              <a:t>method（方法）</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approach / technique / strategy / procedure / mechanism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阅读题型关键词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TRUE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the text states / confirms / the passage clearly says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FALSE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contradicts / opposite to / the text says... but the question says...</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NOT GIVEN</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not mentioned / cannot be inferred / no information about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匹配题</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locate / which paragraph / where in the passage</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填空题</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no more than X words / from the passage / complete the summary</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标题题</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main idea of paragraph / best heading for / topic sentence</a:t>
            </a:r>
          </a:p>
        </p:txBody>
      </p:sp>
      <p:sp>
        <p:nvSpPr>
          <p:cNvPr id="36" name="Rectangle 35"/>
          <p:cNvSpPr/>
          <p:nvPr/>
        </p:nvSpPr>
        <p:spPr>
          <a:xfrm>
            <a:off x="548640" y="5202936"/>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1B5E33"/>
                </a:solidFill>
                <a:latin typeface="Calibri"/>
              </a:rPr>
              <a:t>选择题</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according to the passage / the author suggests / it is stated that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阅读高分速效技巧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题目先行</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先读所有题目再读文章——节省20%时间</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关键词定位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每道题提取2-3个关键词，扫描文章定位段落</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T/F/NG</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空格不扣分，不确定就写NG——NG比猜False更安全</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词数限制</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填空题词数超限则为错误——严格遵守</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时间控制</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每篇最多22分钟——宁可留空也要做完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做失分诊断：找一套完整真题测试，把错题分类（词汇/速度/题型）</a:t>
            </a:r>
          </a:p>
          <a:p>
            <a:pPr>
              <a:spcBef>
                <a:spcPts val="1200"/>
              </a:spcBef>
            </a:pPr>
            <a:r>
              <a:rPr sz="1600">
                <a:solidFill>
                  <a:srgbClr val="1E293B"/>
                </a:solidFill>
              </a:rPr>
              <a:t>☐ 测试阅读速度：计时读一篇700词英语文章，目标&lt;5分钟</a:t>
            </a:r>
          </a:p>
          <a:p>
            <a:pPr>
              <a:spcBef>
                <a:spcPts val="1200"/>
              </a:spcBef>
            </a:pPr>
            <a:r>
              <a:rPr sz="1600">
                <a:solidFill>
                  <a:srgbClr val="1E293B"/>
                </a:solidFill>
              </a:rPr>
              <a:t>☐ 开始AWL词汇：每天学20个AWL词汇，造1个例句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L01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考试结构：60分钟/40题/3篇文章，P1简单→P3难</a:t>
            </a:r>
          </a:p>
          <a:p>
            <a:pPr>
              <a:spcBef>
                <a:spcPts val="1100"/>
              </a:spcBef>
            </a:pPr>
            <a:r>
              <a:rPr sz="1550">
                <a:solidFill>
                  <a:srgbClr val="FFFFFF"/>
                </a:solidFill>
              </a:rPr>
              <a:t>✓  时间分配：P1:18分钟 / P2:20分钟 / P3:22分钟</a:t>
            </a:r>
          </a:p>
          <a:p>
            <a:pPr>
              <a:spcBef>
                <a:spcPts val="1100"/>
              </a:spcBef>
            </a:pPr>
            <a:r>
              <a:rPr sz="1550">
                <a:solidFill>
                  <a:srgbClr val="FFFFFF"/>
                </a:solidFill>
              </a:rPr>
              <a:t>✓  三步做题法：读题目→扫描定位→精读确认</a:t>
            </a:r>
          </a:p>
          <a:p>
            <a:pPr>
              <a:spcBef>
                <a:spcPts val="1100"/>
              </a:spcBef>
            </a:pPr>
            <a:r>
              <a:rPr sz="1550">
                <a:solidFill>
                  <a:srgbClr val="FFFFFF"/>
                </a:solidFill>
              </a:rPr>
              <a:t>✓  技巧核心：同义替换识别 + 猜词四步法 + 题目先行</a:t>
            </a:r>
          </a:p>
          <a:p>
            <a:pPr>
              <a:spcBef>
                <a:spcPts val="1100"/>
              </a:spcBef>
            </a:pPr>
            <a:r>
              <a:rPr sz="1550">
                <a:solidFill>
                  <a:srgbClr val="FFFFFF"/>
                </a:solidFill>
              </a:rPr>
              <a:t>✓  备考优先：词汇（AWL）+ 速度训练 + 题型专项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诊断测试：做完整真题一套，分析错题类型，确定自己的失分模式</a:t>
            </a:r>
          </a:p>
          <a:p>
            <a:pPr>
              <a:spcBef>
                <a:spcPts val="1300"/>
              </a:spcBef>
            </a:pPr>
            <a:r>
              <a:rPr sz="1550" b="1">
                <a:solidFill>
                  <a:srgbClr val="1E293B"/>
                </a:solidFill>
              </a:rPr>
              <a:t>作业 2　速读训练：每天计时读1篇英语文章（700词），目标&lt;4分钟</a:t>
            </a:r>
          </a:p>
          <a:p>
            <a:pPr>
              <a:spcBef>
                <a:spcPts val="1300"/>
              </a:spcBef>
            </a:pPr>
            <a:r>
              <a:rPr sz="1550" b="1">
                <a:solidFill>
                  <a:srgbClr val="1E293B"/>
                </a:solidFill>
              </a:rPr>
              <a:t>作业 3　开始AWL词汇计划：下载AWL表，每天学习Group 1的前20个词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L02 · 判断题全攻略：True/False/Not Given</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T/F/NG vs Y/N/NG的区别</a:t>
            </a:r>
          </a:p>
          <a:p>
            <a:pPr>
              <a:spcBef>
                <a:spcPts val="1000"/>
              </a:spcBef>
            </a:pPr>
            <a:r>
              <a:rPr sz="1600">
                <a:solidFill>
                  <a:srgbClr val="CFDCF2"/>
                </a:solidFill>
              </a:rPr>
              <a:t>→ Not Given的判断逻辑</a:t>
            </a:r>
          </a:p>
          <a:p>
            <a:pPr>
              <a:spcBef>
                <a:spcPts val="1000"/>
              </a:spcBef>
            </a:pPr>
            <a:r>
              <a:rPr sz="1600">
                <a:solidFill>
                  <a:srgbClr val="CFDCF2"/>
                </a:solidFill>
              </a:rPr>
              <a:t>→ 深圳学生常见错误</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阅读综合强化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Comprehensive Reading Enhancement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同义替换深化训练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Paraphrase Training: Advanced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高频同义替换组（学术词汇）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Academic Synonym Groups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表示"发现"</a:t>
            </a:r>
          </a:p>
          <a:p>
            <a:pPr>
              <a:spcBef>
                <a:spcPts val="100"/>
              </a:spcBef>
            </a:pPr>
            <a:r>
              <a:rPr sz="1500">
                <a:solidFill>
                  <a:srgbClr val="556075"/>
                </a:solidFill>
              </a:rPr>
              <a:t>   find/discover/reveal/uncover/establish/demonstrate/show</a:t>
            </a:r>
          </a:p>
          <a:p>
            <a:pPr>
              <a:spcBef>
                <a:spcPts val="900"/>
              </a:spcBef>
            </a:pPr>
            <a:r>
              <a:rPr sz="1800" b="1">
                <a:solidFill>
                  <a:srgbClr val="1B5E33"/>
                </a:solidFill>
              </a:rPr>
              <a:t>• 表示"提出"</a:t>
            </a:r>
          </a:p>
          <a:p>
            <a:pPr>
              <a:spcBef>
                <a:spcPts val="100"/>
              </a:spcBef>
            </a:pPr>
            <a:r>
              <a:rPr sz="1500">
                <a:solidFill>
                  <a:srgbClr val="556075"/>
                </a:solidFill>
              </a:rPr>
              <a:t>   propose/suggest/argue/contend/maintain/claim/assert</a:t>
            </a:r>
          </a:p>
          <a:p>
            <a:pPr>
              <a:spcBef>
                <a:spcPts val="900"/>
              </a:spcBef>
            </a:pPr>
            <a:r>
              <a:rPr sz="1800" b="1">
                <a:solidFill>
                  <a:srgbClr val="1B5E33"/>
                </a:solidFill>
              </a:rPr>
              <a:t>• 表示"研究"</a:t>
            </a:r>
          </a:p>
          <a:p>
            <a:pPr>
              <a:spcBef>
                <a:spcPts val="100"/>
              </a:spcBef>
            </a:pPr>
            <a:r>
              <a:rPr sz="1500">
                <a:solidFill>
                  <a:srgbClr val="556075"/>
                </a:solidFill>
              </a:rPr>
              <a:t>   study/examine/investigate/analyse/explore/assess</a:t>
            </a:r>
          </a:p>
          <a:p>
            <a:pPr>
              <a:spcBef>
                <a:spcPts val="900"/>
              </a:spcBef>
            </a:pPr>
            <a:r>
              <a:rPr sz="1800" b="1">
                <a:solidFill>
                  <a:srgbClr val="1B5E33"/>
                </a:solidFill>
              </a:rPr>
              <a:t>• 表示"影响"</a:t>
            </a:r>
          </a:p>
          <a:p>
            <a:pPr>
              <a:spcBef>
                <a:spcPts val="100"/>
              </a:spcBef>
            </a:pPr>
            <a:r>
              <a:rPr sz="1500">
                <a:solidFill>
                  <a:srgbClr val="556075"/>
                </a:solidFill>
              </a:rPr>
              <a:t>   affect/influence/impact/shape/determine/alter</a:t>
            </a:r>
          </a:p>
          <a:p>
            <a:pPr>
              <a:spcBef>
                <a:spcPts val="900"/>
              </a:spcBef>
            </a:pPr>
            <a:r>
              <a:rPr sz="1800" b="1">
                <a:solidFill>
                  <a:srgbClr val="1B5E33"/>
                </a:solidFill>
              </a:rPr>
              <a:t>• 表示"增加"</a:t>
            </a:r>
          </a:p>
          <a:p>
            <a:pPr>
              <a:spcBef>
                <a:spcPts val="100"/>
              </a:spcBef>
            </a:pPr>
            <a:r>
              <a:rPr sz="1500">
                <a:solidFill>
                  <a:srgbClr val="556075"/>
                </a:solidFill>
              </a:rPr>
              <a:t>   increase/rise/grow/surge/escalate/mount/expand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同义替换的层次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Paraphrase Levels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词级替换</a:t>
            </a:r>
          </a:p>
          <a:p>
            <a:pPr>
              <a:spcBef>
                <a:spcPts val="100"/>
              </a:spcBef>
            </a:pPr>
            <a:r>
              <a:rPr sz="1500">
                <a:solidFill>
                  <a:srgbClr val="556075"/>
                </a:solidFill>
              </a:rPr>
              <a:t>   single word→single word: important→significant</a:t>
            </a:r>
          </a:p>
          <a:p>
            <a:pPr>
              <a:spcBef>
                <a:spcPts val="900"/>
              </a:spcBef>
            </a:pPr>
            <a:r>
              <a:rPr sz="1800" b="1">
                <a:solidFill>
                  <a:srgbClr val="1B5E33"/>
                </a:solidFill>
              </a:rPr>
              <a:t>• 短语级替换</a:t>
            </a:r>
          </a:p>
          <a:p>
            <a:pPr>
              <a:spcBef>
                <a:spcPts val="100"/>
              </a:spcBef>
            </a:pPr>
            <a:r>
              <a:rPr sz="1500">
                <a:solidFill>
                  <a:srgbClr val="556075"/>
                </a:solidFill>
              </a:rPr>
              <a:t>   phrase→phrase: a lot of→a considerable amount of</a:t>
            </a:r>
          </a:p>
          <a:p>
            <a:pPr>
              <a:spcBef>
                <a:spcPts val="900"/>
              </a:spcBef>
            </a:pPr>
            <a:r>
              <a:rPr sz="1800" b="1">
                <a:solidFill>
                  <a:srgbClr val="1B5E33"/>
                </a:solidFill>
              </a:rPr>
              <a:t>• 结构级替换</a:t>
            </a:r>
          </a:p>
          <a:p>
            <a:pPr>
              <a:spcBef>
                <a:spcPts val="100"/>
              </a:spcBef>
            </a:pPr>
            <a:r>
              <a:rPr sz="1500">
                <a:solidFill>
                  <a:srgbClr val="556075"/>
                </a:solidFill>
              </a:rPr>
              <a:t>   active→passive: X affects Y→Y is affected by X</a:t>
            </a:r>
          </a:p>
          <a:p>
            <a:pPr>
              <a:spcBef>
                <a:spcPts val="900"/>
              </a:spcBef>
            </a:pPr>
            <a:r>
              <a:rPr sz="1800" b="1">
                <a:solidFill>
                  <a:srgbClr val="1B5E33"/>
                </a:solidFill>
              </a:rPr>
              <a:t>• 概念级替换</a:t>
            </a:r>
          </a:p>
          <a:p>
            <a:pPr>
              <a:spcBef>
                <a:spcPts val="100"/>
              </a:spcBef>
            </a:pPr>
            <a:r>
              <a:rPr sz="1500">
                <a:solidFill>
                  <a:srgbClr val="556075"/>
                </a:solidFill>
              </a:rPr>
              <a:t>   concept paraphrase: climate change→environmental shifts</a:t>
            </a:r>
          </a:p>
          <a:p>
            <a:pPr>
              <a:spcBef>
                <a:spcPts val="900"/>
              </a:spcBef>
            </a:pPr>
            <a:r>
              <a:rPr sz="1800" b="1">
                <a:solidFill>
                  <a:srgbClr val="1B5E33"/>
                </a:solidFill>
              </a:rPr>
              <a:t>• 深圳学生</a:t>
            </a:r>
          </a:p>
          <a:p>
            <a:pPr>
              <a:spcBef>
                <a:spcPts val="100"/>
              </a:spcBef>
            </a:pPr>
            <a:r>
              <a:rPr sz="1500">
                <a:solidFill>
                  <a:srgbClr val="556075"/>
                </a:solidFill>
              </a:rPr>
              <a:t>   最难的是概念级替换——需要大量真题积累</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同义替换训练方法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每天做10道T/F/NG题，做完后找出文章中的paraphrase对照</a:t>
            </a:r>
          </a:p>
          <a:p>
            <a:pPr>
              <a:spcBef>
                <a:spcPts val="1000"/>
              </a:spcBef>
            </a:pPr>
            <a:r>
              <a:rPr sz="1650">
                <a:solidFill>
                  <a:srgbClr val="1E293B"/>
                </a:solidFill>
              </a:rPr>
              <a:t>• 建立个人paraphrase词典：题目词→文章词，积累100对</a:t>
            </a:r>
          </a:p>
          <a:p>
            <a:pPr>
              <a:spcBef>
                <a:spcPts val="1000"/>
              </a:spcBef>
            </a:pPr>
            <a:r>
              <a:rPr sz="1650">
                <a:solidFill>
                  <a:srgbClr val="1E293B"/>
                </a:solidFill>
              </a:rPr>
              <a:t>• 真题分析：每次做完阅读，专门分析所有题目的同义替换</a:t>
            </a:r>
          </a:p>
          <a:p>
            <a:pPr>
              <a:spcBef>
                <a:spcPts val="1000"/>
              </a:spcBef>
            </a:pPr>
            <a:r>
              <a:rPr sz="1650">
                <a:solidFill>
                  <a:srgbClr val="1E293B"/>
                </a:solidFill>
              </a:rPr>
              <a:t>• 测试自己：看题目词，能立刻想到3个同义词吗？</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Skimming vs Scanning实战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Skimming（略读）：读首段+每段首句——3分钟了解文章结构</a:t>
            </a:r>
          </a:p>
          <a:p>
            <a:pPr>
              <a:spcBef>
                <a:spcPts val="1000"/>
              </a:spcBef>
            </a:pPr>
            <a:r>
              <a:rPr sz="1650">
                <a:solidFill>
                  <a:srgbClr val="1E293B"/>
                </a:solidFill>
              </a:rPr>
              <a:t>• Scanning（扫读）：带着具体关键词，视线快速移动——找到就停</a:t>
            </a:r>
          </a:p>
          <a:p>
            <a:pPr>
              <a:spcBef>
                <a:spcPts val="1000"/>
              </a:spcBef>
            </a:pPr>
            <a:r>
              <a:rPr sz="1650">
                <a:solidFill>
                  <a:srgbClr val="1E293B"/>
                </a:solidFill>
              </a:rPr>
              <a:t>• 精读：只读答案所在的1-2句——其他不看</a:t>
            </a:r>
          </a:p>
          <a:p>
            <a:pPr>
              <a:spcBef>
                <a:spcPts val="1000"/>
              </a:spcBef>
            </a:pPr>
            <a:r>
              <a:rPr sz="1650">
                <a:solidFill>
                  <a:srgbClr val="1E293B"/>
                </a:solidFill>
              </a:rPr>
              <a:t>• 三种速度的占比：Skim 10% + Scan 50% + Detail 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完整做题流程示范（18分钟/篇）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IELTS Reading Passage 1 完整演示
如何在18分钟内高效完成一篇文章</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0-3分钟（Skimming）：读首段+每段第一句，建立段落地图，了解文章主题
3-5分钟（读题目）：快速读所有题目，提取关键词，判断题型
5-15分钟（做题）：按顺序做每道题——Scan定位→精读确认→写答案
15-18分钟（检查）：回顾空白题目，检查词数限制，填写猜测答案
深圳学生改变点：把"从头读到尾"改为"段落地图+题目先行"——节省8-10分钟</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实操练习：用下一次真题练习，严格按照18/20/22分钟时间控制——培养节奏感</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阅读材料推荐：如何积累学术词汇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备考材料选择与阅读习惯培养</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精读材料（每天20分钟）：Cambridge IELTS真题——含生词注释
泛读材料（每天10分钟）：BBC News / The Guardian / National Geographic
词汇工具：Cambridge Dictionary在线 / AWL Highlighter网站
训练方法：
精读：读完一段，找出所有不认识的词，查词典，造句
泛读：不查词典，通过上下文猜意思，培养语感
深圳学生的实际困难：缺乏英语阅读习惯——从每天10分钟开始</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坚持原则：每天10分钟泛读 &gt; 每周一次长时间阅读——习惯的力量</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阅读Band 7示范：三步法完整演示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题目：原文段落：Despite initial scepticism, solar energy has become one of the most rapidly growing energy sources worldwide. Costs have fallen by over 90% since 2010, making it economically competitive with fossil fuels in most markets.</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题目："Solar power is now more affordable than oil and gas in most countries."
三步法分析：
步骤1（读题）：关键词 = solar power / more affordable / oil and gas / most countries
步骤2（定位）：扫描找"solar"相关段落
步骤3（精读）：原文说"economically competitive with fossil fuels in most markets"
比较：more affordable=economically competitive ✓ / oil and gas=fossil fuels ✓ / most countries≈most markets ✓
答案：TRUE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同义替换识别：more affordable=economically competitive / oil and gas=fossil fuels</a:t>
            </a:r>
          </a:p>
          <a:p>
            <a:pPr>
              <a:spcBef>
                <a:spcPts val="700"/>
              </a:spcBef>
            </a:pPr>
            <a:r>
              <a:rPr sz="1200">
                <a:solidFill>
                  <a:srgbClr val="1E293B"/>
                </a:solidFill>
              </a:rPr>
              <a:t>▸ 关键细节：most countries vs most markets——两词接近，在IELTS中通常可接受</a:t>
            </a:r>
          </a:p>
          <a:p>
            <a:pPr>
              <a:spcBef>
                <a:spcPts val="700"/>
              </a:spcBef>
            </a:pPr>
            <a:r>
              <a:rPr sz="1200">
                <a:solidFill>
                  <a:srgbClr val="1E293B"/>
                </a:solidFill>
              </a:rPr>
              <a:t>▸ 训练要点：精读时，不要只确认关键词出现，要确认意思完全一致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阅读速读训练示范：Scanning技术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题目：段落（约150词）：The ancient city of Pompeii was destroyed by the eruption of Mount Vesuvius in 79 AD. The city was buried under several metres of volcanic ash, which paradoxically preserved it remarkably well. Excavations beginning in the 18th century have revealed an extraordinarily detailed snapshot of Roman life.</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题目：When did archaeologists begin uncovering Pompeii?
 Scanning演示：
扫描目标词：excavations / archaeologists / began / uncover
眼睛快速扫描全段——在"Excavations beginning in the 18th century"停下
答案：18th century（不能写"the 18th century"如果词数限制是2词）
 Scanning时间：约15秒——找到关键词立刻停，不读其他部分</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Scanning原则：眼睛只找目标词，不阅读周围内容</a:t>
            </a:r>
          </a:p>
          <a:p>
            <a:pPr>
              <a:spcBef>
                <a:spcPts val="700"/>
              </a:spcBef>
            </a:pPr>
            <a:r>
              <a:rPr sz="1200">
                <a:solidFill>
                  <a:srgbClr val="1E293B"/>
                </a:solidFill>
              </a:rPr>
              <a:t>▸ 词数注意：如果题目要求"NO MORE THAN TWO WORDS"——写"18th century"即可（2词）</a:t>
            </a:r>
          </a:p>
          <a:p>
            <a:pPr>
              <a:spcBef>
                <a:spcPts val="700"/>
              </a:spcBef>
            </a:pPr>
            <a:r>
              <a:rPr sz="1200">
                <a:solidFill>
                  <a:srgbClr val="1E293B"/>
                </a:solidFill>
              </a:rPr>
              <a:t>▸ 速度目标：每道Scanning题15-30秒定位——这是Score 7的速度要求</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阅读策略：Band 5 vs Band 7</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Band 5阅读策略（效率低）</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Band 7阅读策略（高效）</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从头到尾精读全文，然后做题</a:t>
            </a:r>
          </a:p>
          <a:p>
            <a:pPr>
              <a:spcBef>
                <a:spcPts val="700"/>
              </a:spcBef>
            </a:pPr>
            <a:r>
              <a:rPr sz="1350">
                <a:solidFill>
                  <a:srgbClr val="C02A2A"/>
                </a:solidFill>
              </a:rPr>
              <a:t>✗ 每个生词都要查字典</a:t>
            </a:r>
          </a:p>
          <a:p>
            <a:pPr>
              <a:spcBef>
                <a:spcPts val="700"/>
              </a:spcBef>
            </a:pPr>
            <a:r>
              <a:rPr sz="1350">
                <a:solidFill>
                  <a:srgbClr val="C02A2A"/>
                </a:solidFill>
              </a:rPr>
              <a:t>✗ 碰到难题花5分钟以上</a:t>
            </a:r>
          </a:p>
          <a:p>
            <a:pPr>
              <a:spcBef>
                <a:spcPts val="700"/>
              </a:spcBef>
            </a:pPr>
            <a:r>
              <a:rPr sz="1350">
                <a:solidFill>
                  <a:srgbClr val="C02A2A"/>
                </a:solidFill>
              </a:rPr>
              <a:t>✗ 题目顺序=阅读顺序（先读文章再读题）</a:t>
            </a:r>
          </a:p>
          <a:p>
            <a:pPr>
              <a:spcBef>
                <a:spcPts val="700"/>
              </a:spcBef>
            </a:pPr>
            <a:r>
              <a:rPr sz="1350">
                <a:solidFill>
                  <a:srgbClr val="C02A2A"/>
                </a:solidFill>
              </a:rPr>
              <a:t>✗ 结果：60分钟只做完2篇，第3篇没时间</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Skim(3分钟)+读题目(2分钟)+做题(15分钟)</a:t>
            </a:r>
          </a:p>
          <a:p>
            <a:pPr>
              <a:spcBef>
                <a:spcPts val="700"/>
              </a:spcBef>
            </a:pPr>
            <a:r>
              <a:rPr sz="1350">
                <a:solidFill>
                  <a:srgbClr val="1B7A3D"/>
                </a:solidFill>
              </a:rPr>
              <a:t>✓ 遇到生词用猜词四步法，不影响做题</a:t>
            </a:r>
          </a:p>
          <a:p>
            <a:pPr>
              <a:spcBef>
                <a:spcPts val="700"/>
              </a:spcBef>
            </a:pPr>
            <a:r>
              <a:rPr sz="1350">
                <a:solidFill>
                  <a:srgbClr val="1B7A3D"/>
                </a:solidFill>
              </a:rPr>
              <a:t>✓ 超过2分钟的题先猜答案，继续做</a:t>
            </a:r>
          </a:p>
          <a:p>
            <a:pPr>
              <a:spcBef>
                <a:spcPts val="700"/>
              </a:spcBef>
            </a:pPr>
            <a:r>
              <a:rPr sz="1350">
                <a:solidFill>
                  <a:srgbClr val="1B7A3D"/>
                </a:solidFill>
              </a:rPr>
              <a:t>✓ 题目先行：先读题目，带着问题去文章中找答案</a:t>
            </a:r>
          </a:p>
          <a:p>
            <a:pPr>
              <a:spcBef>
                <a:spcPts val="700"/>
              </a:spcBef>
            </a:pPr>
            <a:r>
              <a:rPr sz="1350">
                <a:solidFill>
                  <a:srgbClr val="1B7A3D"/>
                </a:solidFill>
              </a:rPr>
              <a:t>✓ 结果：60分钟完成3篇，且有5分钟检查</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深圳学生最常见错误 vs 正确做法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深圳学生常见错误</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正确做法</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用中文思维做题：先翻译，再判断——速度太慢</a:t>
            </a:r>
          </a:p>
          <a:p>
            <a:pPr>
              <a:spcBef>
                <a:spcPts val="700"/>
              </a:spcBef>
            </a:pPr>
            <a:r>
              <a:rPr sz="1350">
                <a:solidFill>
                  <a:srgbClr val="C02A2A"/>
                </a:solidFill>
              </a:rPr>
              <a:t>✗ 遇到不认识的词就放弃——其实可以猜词</a:t>
            </a:r>
          </a:p>
          <a:p>
            <a:pPr>
              <a:spcBef>
                <a:spcPts val="700"/>
              </a:spcBef>
            </a:pPr>
            <a:r>
              <a:rPr sz="1350">
                <a:solidFill>
                  <a:srgbClr val="C02A2A"/>
                </a:solidFill>
              </a:rPr>
              <a:t>✗ T/F/NG：把NG答成False——因为"感觉"不对</a:t>
            </a:r>
          </a:p>
          <a:p>
            <a:pPr>
              <a:spcBef>
                <a:spcPts val="700"/>
              </a:spcBef>
            </a:pPr>
            <a:r>
              <a:rPr sz="1350">
                <a:solidFill>
                  <a:srgbClr val="C02A2A"/>
                </a:solidFill>
              </a:rPr>
              <a:t>✗ 填空题不注意词数限制——超过限制即为错误</a:t>
            </a:r>
          </a:p>
          <a:p>
            <a:pPr>
              <a:spcBef>
                <a:spcPts val="700"/>
              </a:spcBef>
            </a:pPr>
            <a:r>
              <a:rPr sz="1350">
                <a:solidFill>
                  <a:srgbClr val="C02A2A"/>
                </a:solidFill>
              </a:rPr>
              <a:t>✗ 不做时间管理——一道题花太长时间</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英语思维直接对比：题目 vs 文章原文——不翻译</a:t>
            </a:r>
          </a:p>
          <a:p>
            <a:pPr>
              <a:spcBef>
                <a:spcPts val="700"/>
              </a:spcBef>
            </a:pPr>
            <a:r>
              <a:rPr sz="1350">
                <a:solidFill>
                  <a:srgbClr val="1B7A3D"/>
                </a:solidFill>
              </a:rPr>
              <a:t>✓ 猜词四步法：词性→词根→上下文→替换测试</a:t>
            </a:r>
          </a:p>
          <a:p>
            <a:pPr>
              <a:spcBef>
                <a:spcPts val="700"/>
              </a:spcBef>
            </a:pPr>
            <a:r>
              <a:rPr sz="1350">
                <a:solidFill>
                  <a:srgbClr val="1B7A3D"/>
                </a:solidFill>
              </a:rPr>
              <a:t>✓ T/F/NG：找不到明确矛盾→NG（不是False）</a:t>
            </a:r>
          </a:p>
          <a:p>
            <a:pPr>
              <a:spcBef>
                <a:spcPts val="700"/>
              </a:spcBef>
            </a:pPr>
            <a:r>
              <a:rPr sz="1350">
                <a:solidFill>
                  <a:srgbClr val="1B7A3D"/>
                </a:solidFill>
              </a:rPr>
              <a:t>✓ 填空题：严格遵守词数，多一个词就错</a:t>
            </a:r>
          </a:p>
          <a:p>
            <a:pPr>
              <a:spcBef>
                <a:spcPts val="700"/>
              </a:spcBef>
            </a:pPr>
            <a:r>
              <a:rPr sz="1350">
                <a:solidFill>
                  <a:srgbClr val="1B7A3D"/>
                </a:solidFill>
              </a:rPr>
              <a:t>✓ 时间控制：每题设时间上限，超时就猜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阅读Band 7突破路线图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Week 1-2：词汇基础</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每天学20个AWL词汇，做配套例句——目标：AWL Group 1-2掌握</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Week 3-4：题型专项</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每天做1种题型的专项练习（T/F/NG/Matching/填空），分析错误</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Week 5-6：速度训练</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计时做完整文章，目标每篇&lt;20分钟——培养速度意识</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Week 7-8：综合模考</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每周做1套完整40题，分析错误类型，针对性强化</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每日阅读训练计划（30分钟）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5分钟：词汇</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AWL词汇卡片复习+5个新词学习</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15分钟：题型练习</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专项做一种题型的5道题——精读分析每道题的解题逻辑</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10分钟：速读练习</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计时读一篇500词文章，建立段落地图，不做题——纯速度训练</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阅读高频词汇：AWL精选10词（Group 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analyse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分析；研究</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approach</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方法；途径</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area</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领域；区域</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assess</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评估；评价</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assume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假设；认为</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authority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权威；当局</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available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可获得的</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benefit</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利益；受益</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concept</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概念；观念</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context</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背景；语境</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阅读5大黄金法则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法则1：题目先行</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先读题目提取关键词，带着问题去文章找答案</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法则2：不翻译</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用英文直接对比题目和文章原文，翻译浪费时间</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法则3：同义替换</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题目词不等于文章词，意思相同就是答案</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法则4：控制时间</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每题超过2分钟就猜，继续做下一题，不纠结</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法则5：全部作答</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IELTS不扣分——空白必须填，猜也要猜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深圳学生阅读痛点 vs 解决方案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高频失分原因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词汇量不足——生词影响理解速度</a:t>
            </a:r>
          </a:p>
          <a:p>
            <a:pPr>
              <a:spcBef>
                <a:spcPts val="700"/>
              </a:spcBef>
            </a:pPr>
            <a:r>
              <a:rPr sz="1450">
                <a:solidFill>
                  <a:srgbClr val="1E293B"/>
                </a:solidFill>
              </a:rPr>
              <a:t>• 阅读速度慢——完成不了40题</a:t>
            </a:r>
          </a:p>
          <a:p>
            <a:pPr>
              <a:spcBef>
                <a:spcPts val="700"/>
              </a:spcBef>
            </a:pPr>
            <a:r>
              <a:rPr sz="1450">
                <a:solidFill>
                  <a:srgbClr val="1E293B"/>
                </a:solidFill>
              </a:rPr>
              <a:t>• T/F/NG判断错——NG混成False</a:t>
            </a:r>
          </a:p>
          <a:p>
            <a:pPr>
              <a:spcBef>
                <a:spcPts val="700"/>
              </a:spcBef>
            </a:pPr>
            <a:r>
              <a:rPr sz="1450">
                <a:solidFill>
                  <a:srgbClr val="1E293B"/>
                </a:solidFill>
              </a:rPr>
              <a:t>• 填空超词数——忽视词数限制</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针对性解决方案</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AWL词汇计划：每天20词持续8周</a:t>
            </a:r>
          </a:p>
          <a:p>
            <a:pPr>
              <a:spcBef>
                <a:spcPts val="700"/>
              </a:spcBef>
            </a:pPr>
            <a:r>
              <a:rPr sz="1450">
                <a:solidFill>
                  <a:srgbClr val="1E293B"/>
                </a:solidFill>
              </a:rPr>
              <a:t>• 限时训练：每篇严格控制20分钟</a:t>
            </a:r>
          </a:p>
          <a:p>
            <a:pPr>
              <a:spcBef>
                <a:spcPts val="700"/>
              </a:spcBef>
            </a:pPr>
            <a:r>
              <a:rPr sz="1450">
                <a:solidFill>
                  <a:srgbClr val="1E293B"/>
                </a:solidFill>
              </a:rPr>
              <a:t>• T/F/NG专项：每天5道判断题分析</a:t>
            </a:r>
          </a:p>
          <a:p>
            <a:pPr>
              <a:spcBef>
                <a:spcPts val="700"/>
              </a:spcBef>
            </a:pPr>
            <a:r>
              <a:rPr sz="1450">
                <a:solidFill>
                  <a:srgbClr val="1E293B"/>
                </a:solidFill>
              </a:rPr>
              <a:t>• 词数标记：填空前先标词数要求</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当堂练习：90秒快速阅读检测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计时90秒阅读段落，回答3个问题（不查词典）</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段落原文</a:t>
            </a:r>
          </a:p>
          <a:p>
            <a:pPr>
              <a:spcBef>
                <a:spcPts val="100"/>
              </a:spcBef>
            </a:pPr>
            <a:r>
              <a:rPr sz="1400">
                <a:solidFill>
                  <a:srgbClr val="556075"/>
                </a:solidFill>
              </a:rPr>
              <a:t>   Smartphones have transformed communication. Studies show users check devices 150+ times daily linked to notification anxiety, compulsive checking from fear of missing updates. Researchers warn of social isolation caused by constant virtual interaction.
【答案】Q1：研究员警告什么问题？→ social isolation
Q2：notification anxiety是什么？→ compulsive checking
Q3：用户每天查看手机多少次？→ 150+ times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考场应急处理5招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生词太多</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猜词四步法：词性→词根→上下文→替换测试，实在不懂就跳过</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时间不够</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剩5分钟把所有空白填上，哪怕是猜的</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T/F/NG不确定</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找不到明确矛盾就选NG——选False前必须确认有直接矛盾</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Matching找不到</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先做能确定的，剩下用排除法</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整篇看不懂</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先做细节题（数字/名字），再做主旨题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阅读6.0→7.0分段提升路径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6.0→6.5（第1-4周）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T/F/NG题型专项练习</a:t>
            </a:r>
          </a:p>
          <a:p>
            <a:pPr>
              <a:spcBef>
                <a:spcPts val="700"/>
              </a:spcBef>
            </a:pPr>
            <a:r>
              <a:rPr sz="1450">
                <a:solidFill>
                  <a:srgbClr val="1E293B"/>
                </a:solidFill>
              </a:rPr>
              <a:t>• 填空题词数控制</a:t>
            </a:r>
          </a:p>
          <a:p>
            <a:pPr>
              <a:spcBef>
                <a:spcPts val="700"/>
              </a:spcBef>
            </a:pPr>
            <a:r>
              <a:rPr sz="1450">
                <a:solidFill>
                  <a:srgbClr val="1E293B"/>
                </a:solidFill>
              </a:rPr>
              <a:t>• AWL Group 1-3词汇积累</a:t>
            </a:r>
          </a:p>
          <a:p>
            <a:pPr>
              <a:spcBef>
                <a:spcPts val="700"/>
              </a:spcBef>
            </a:pPr>
            <a:r>
              <a:rPr sz="1450">
                <a:solidFill>
                  <a:srgbClr val="1E293B"/>
                </a:solidFill>
              </a:rPr>
              <a:t>• 目标：错误率从15+降到10以内</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6.5→7.0（第5-8周）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标题匹配+信息定位专项</a:t>
            </a:r>
          </a:p>
          <a:p>
            <a:pPr>
              <a:spcBef>
                <a:spcPts val="700"/>
              </a:spcBef>
            </a:pPr>
            <a:r>
              <a:rPr sz="1450">
                <a:solidFill>
                  <a:srgbClr val="1E293B"/>
                </a:solidFill>
              </a:rPr>
              <a:t>• 速度训练：每篇&lt;20分钟</a:t>
            </a:r>
          </a:p>
          <a:p>
            <a:pPr>
              <a:spcBef>
                <a:spcPts val="700"/>
              </a:spcBef>
            </a:pPr>
            <a:r>
              <a:rPr sz="1450">
                <a:solidFill>
                  <a:srgbClr val="1E293B"/>
                </a:solidFill>
              </a:rPr>
              <a:t>• AWL Group 4-6词汇进阶</a:t>
            </a:r>
          </a:p>
          <a:p>
            <a:pPr>
              <a:spcBef>
                <a:spcPts val="700"/>
              </a:spcBef>
            </a:pPr>
            <a:r>
              <a:rPr sz="1450">
                <a:solidFill>
                  <a:srgbClr val="1E293B"/>
                </a:solidFill>
              </a:rPr>
              <a:t>• 目标：错误率从10降到6以内</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阅读Band 7自测清单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能在18分钟内完成一篇阅读（约700-900词）</a:t>
            </a:r>
          </a:p>
          <a:p>
            <a:pPr>
              <a:spcBef>
                <a:spcPts val="1200"/>
              </a:spcBef>
            </a:pPr>
            <a:r>
              <a:rPr sz="1600">
                <a:solidFill>
                  <a:srgbClr val="1E293B"/>
                </a:solidFill>
              </a:rPr>
              <a:t>☐ T/F/NG准确率达到80%以上</a:t>
            </a:r>
          </a:p>
          <a:p>
            <a:pPr>
              <a:spcBef>
                <a:spcPts val="1200"/>
              </a:spcBef>
            </a:pPr>
            <a:r>
              <a:rPr sz="1600">
                <a:solidFill>
                  <a:srgbClr val="1E293B"/>
                </a:solidFill>
              </a:rPr>
              <a:t>☐ 填空题从不超过词数限制</a:t>
            </a:r>
          </a:p>
          <a:p>
            <a:pPr>
              <a:spcBef>
                <a:spcPts val="1200"/>
              </a:spcBef>
            </a:pPr>
            <a:r>
              <a:rPr sz="1600">
                <a:solidFill>
                  <a:srgbClr val="1E293B"/>
                </a:solidFill>
              </a:rPr>
              <a:t>☐ 遇到生词能用上下文猜测大意</a:t>
            </a:r>
          </a:p>
          <a:p>
            <a:pPr>
              <a:spcBef>
                <a:spcPts val="1200"/>
              </a:spcBef>
            </a:pPr>
            <a:r>
              <a:rPr sz="1600">
                <a:solidFill>
                  <a:srgbClr val="1E293B"/>
                </a:solidFill>
              </a:rPr>
              <a:t>☐ AWL Group 1-3词汇全部掌握</a:t>
            </a:r>
          </a:p>
          <a:p>
            <a:pPr>
              <a:spcBef>
                <a:spcPts val="1200"/>
              </a:spcBef>
            </a:pPr>
            <a:r>
              <a:rPr sz="1600">
                <a:solidFill>
                  <a:srgbClr val="1E293B"/>
                </a:solidFill>
              </a:rPr>
              <a:t>☐ 建立了题目先行+段落地图的阅读习惯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