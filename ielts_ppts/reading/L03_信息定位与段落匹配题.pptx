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L03</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信息定位
&amp; 段落匹配题</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Matching Information &amp; Paragraph Headings</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3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Matching Information题型解析</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段落匹配做题步骤</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Heading Matching（标题匹配）</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Matching Features（特征匹配）</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词汇速查表</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综合练习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Matching Information：段落匹配</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Matching Information to Paragraphs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Matching Information: What to Expect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形式</a:t>
            </a:r>
          </a:p>
          <a:p>
            <a:pPr>
              <a:spcBef>
                <a:spcPts val="100"/>
              </a:spcBef>
            </a:pPr>
            <a:r>
              <a:rPr sz="1500">
                <a:solidFill>
                  <a:srgbClr val="556075"/>
                </a:solidFill>
              </a:rPr>
              <a:t>   给出一组信息，找出这些信息分别位于哪个段落（A/B/C...）</a:t>
            </a:r>
          </a:p>
          <a:p>
            <a:pPr>
              <a:spcBef>
                <a:spcPts val="900"/>
              </a:spcBef>
            </a:pPr>
            <a:r>
              <a:rPr sz="1800" b="1">
                <a:solidFill>
                  <a:srgbClr val="1B5E33"/>
                </a:solidFill>
              </a:rPr>
              <a:t>• 特点</a:t>
            </a:r>
          </a:p>
          <a:p>
            <a:pPr>
              <a:spcBef>
                <a:spcPts val="100"/>
              </a:spcBef>
            </a:pPr>
            <a:r>
              <a:rPr sz="1500">
                <a:solidFill>
                  <a:srgbClr val="556075"/>
                </a:solidFill>
              </a:rPr>
              <a:t>   可能有一些段落没有对应信息，也可能有些信息有多个段落</a:t>
            </a:r>
          </a:p>
          <a:p>
            <a:pPr>
              <a:spcBef>
                <a:spcPts val="900"/>
              </a:spcBef>
            </a:pPr>
            <a:r>
              <a:rPr sz="1800" b="1">
                <a:solidFill>
                  <a:srgbClr val="1B5E33"/>
                </a:solidFill>
              </a:rPr>
              <a:t>• 难点</a:t>
            </a:r>
          </a:p>
          <a:p>
            <a:pPr>
              <a:spcBef>
                <a:spcPts val="100"/>
              </a:spcBef>
            </a:pPr>
            <a:r>
              <a:rPr sz="1500">
                <a:solidFill>
                  <a:srgbClr val="556075"/>
                </a:solidFill>
              </a:rPr>
              <a:t>   需要理解每个信息的核心意思，不能只靠关键词</a:t>
            </a:r>
          </a:p>
          <a:p>
            <a:pPr>
              <a:spcBef>
                <a:spcPts val="900"/>
              </a:spcBef>
            </a:pPr>
            <a:r>
              <a:rPr sz="1800" b="1">
                <a:solidFill>
                  <a:srgbClr val="1B5E33"/>
                </a:solidFill>
              </a:rPr>
              <a:t>• 顺序</a:t>
            </a:r>
          </a:p>
          <a:p>
            <a:pPr>
              <a:spcBef>
                <a:spcPts val="100"/>
              </a:spcBef>
            </a:pPr>
            <a:r>
              <a:rPr sz="1500">
                <a:solidFill>
                  <a:srgbClr val="556075"/>
                </a:solidFill>
              </a:rPr>
              <a:t>   题目顺序≠文章顺序——需要返回阅读</a:t>
            </a:r>
          </a:p>
          <a:p>
            <a:pPr>
              <a:spcBef>
                <a:spcPts val="900"/>
              </a:spcBef>
            </a:pPr>
            <a:r>
              <a:rPr sz="1800" b="1">
                <a:solidFill>
                  <a:srgbClr val="1B5E33"/>
                </a:solidFill>
              </a:rPr>
              <a:t>• 建议</a:t>
            </a:r>
          </a:p>
          <a:p>
            <a:pPr>
              <a:spcBef>
                <a:spcPts val="100"/>
              </a:spcBef>
            </a:pPr>
            <a:r>
              <a:rPr sz="1500">
                <a:solidFill>
                  <a:srgbClr val="556075"/>
                </a:solidFill>
              </a:rPr>
              <a:t>   先建立"段落地图"再开始做这类题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做题步骤</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Step-by-Step Process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步骤1</a:t>
            </a:r>
          </a:p>
          <a:p>
            <a:pPr>
              <a:spcBef>
                <a:spcPts val="100"/>
              </a:spcBef>
            </a:pPr>
            <a:r>
              <a:rPr sz="1500">
                <a:solidFill>
                  <a:srgbClr val="556075"/>
                </a:solidFill>
              </a:rPr>
              <a:t>   阅读全文时，为每段做简短笔记（每段1-3个关键词）</a:t>
            </a:r>
          </a:p>
          <a:p>
            <a:pPr>
              <a:spcBef>
                <a:spcPts val="900"/>
              </a:spcBef>
            </a:pPr>
            <a:r>
              <a:rPr sz="1800" b="1">
                <a:solidFill>
                  <a:srgbClr val="1B5E33"/>
                </a:solidFill>
              </a:rPr>
              <a:t>• 步骤2</a:t>
            </a:r>
          </a:p>
          <a:p>
            <a:pPr>
              <a:spcBef>
                <a:spcPts val="100"/>
              </a:spcBef>
            </a:pPr>
            <a:r>
              <a:rPr sz="1500">
                <a:solidFill>
                  <a:srgbClr val="556075"/>
                </a:solidFill>
              </a:rPr>
              <a:t>   阅读第一道题目，提取核心信息（不只是关键词，是意思）</a:t>
            </a:r>
          </a:p>
          <a:p>
            <a:pPr>
              <a:spcBef>
                <a:spcPts val="900"/>
              </a:spcBef>
            </a:pPr>
            <a:r>
              <a:rPr sz="1800" b="1">
                <a:solidFill>
                  <a:srgbClr val="1B5E33"/>
                </a:solidFill>
              </a:rPr>
              <a:t>• 步骤3</a:t>
            </a:r>
          </a:p>
          <a:p>
            <a:pPr>
              <a:spcBef>
                <a:spcPts val="100"/>
              </a:spcBef>
            </a:pPr>
            <a:r>
              <a:rPr sz="1500">
                <a:solidFill>
                  <a:srgbClr val="556075"/>
                </a:solidFill>
              </a:rPr>
              <a:t>   根据对段落的理解，预测在哪个段落</a:t>
            </a:r>
          </a:p>
          <a:p>
            <a:pPr>
              <a:spcBef>
                <a:spcPts val="900"/>
              </a:spcBef>
            </a:pPr>
            <a:r>
              <a:rPr sz="1800" b="1">
                <a:solidFill>
                  <a:srgbClr val="1B5E33"/>
                </a:solidFill>
              </a:rPr>
              <a:t>• 步骤4</a:t>
            </a:r>
          </a:p>
          <a:p>
            <a:pPr>
              <a:spcBef>
                <a:spcPts val="100"/>
              </a:spcBef>
            </a:pPr>
            <a:r>
              <a:rPr sz="1500">
                <a:solidFill>
                  <a:srgbClr val="556075"/>
                </a:solidFill>
              </a:rPr>
              <a:t>   到预测段落精读，确认是否匹配</a:t>
            </a:r>
          </a:p>
          <a:p>
            <a:pPr>
              <a:spcBef>
                <a:spcPts val="900"/>
              </a:spcBef>
            </a:pPr>
            <a:r>
              <a:rPr sz="1800" b="1">
                <a:solidFill>
                  <a:srgbClr val="1B5E33"/>
                </a:solidFill>
              </a:rPr>
              <a:t>• 步骤5</a:t>
            </a:r>
          </a:p>
          <a:p>
            <a:pPr>
              <a:spcBef>
                <a:spcPts val="100"/>
              </a:spcBef>
            </a:pPr>
            <a:r>
              <a:rPr sz="1500">
                <a:solidFill>
                  <a:srgbClr val="556075"/>
                </a:solidFill>
              </a:rPr>
              <a:t>   不确定时扩大搜索范围，或先跳过做下一道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Matching Information的扫描策略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策略1：专有名词优先——大写词/数字/日期最容易扫描到</a:t>
            </a:r>
          </a:p>
          <a:p>
            <a:pPr>
              <a:spcBef>
                <a:spcPts val="1000"/>
              </a:spcBef>
            </a:pPr>
            <a:r>
              <a:rPr sz="1650">
                <a:solidFill>
                  <a:srgbClr val="1E293B"/>
                </a:solidFill>
              </a:rPr>
              <a:t>• 策略2：理解信息类型——这是举例？还是对比？还是原因？</a:t>
            </a:r>
          </a:p>
          <a:p>
            <a:pPr>
              <a:spcBef>
                <a:spcPts val="1000"/>
              </a:spcBef>
            </a:pPr>
            <a:r>
              <a:rPr sz="1650">
                <a:solidFill>
                  <a:srgbClr val="1E293B"/>
                </a:solidFill>
              </a:rPr>
              <a:t>• 策略3：段落主题记忆——每段读完后记住这段说的是什么</a:t>
            </a:r>
          </a:p>
          <a:p>
            <a:pPr>
              <a:spcBef>
                <a:spcPts val="1000"/>
              </a:spcBef>
            </a:pPr>
            <a:r>
              <a:rPr sz="1650">
                <a:solidFill>
                  <a:srgbClr val="1E293B"/>
                </a:solidFill>
              </a:rPr>
              <a:t>• 策略4：同义替换意识——题目用不同词表达，文章用原词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常见陷阱</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陷阱1：在错误段落找到了关键词——但意思不匹配</a:t>
            </a:r>
          </a:p>
          <a:p>
            <a:pPr>
              <a:spcBef>
                <a:spcPts val="1000"/>
              </a:spcBef>
            </a:pPr>
            <a:r>
              <a:rPr sz="1650">
                <a:solidFill>
                  <a:srgbClr val="1E293B"/>
                </a:solidFill>
              </a:rPr>
              <a:t>• 陷阱2：正确段落没有关键词——但有同义表达</a:t>
            </a:r>
          </a:p>
          <a:p>
            <a:pPr>
              <a:spcBef>
                <a:spcPts val="1000"/>
              </a:spcBef>
            </a:pPr>
            <a:r>
              <a:rPr sz="1650">
                <a:solidFill>
                  <a:srgbClr val="1E293B"/>
                </a:solidFill>
              </a:rPr>
              <a:t>• 陷阱3：答案可能跨句——不只在一个句子里</a:t>
            </a:r>
          </a:p>
          <a:p>
            <a:pPr>
              <a:spcBef>
                <a:spcPts val="1000"/>
              </a:spcBef>
            </a:pPr>
            <a:r>
              <a:rPr sz="1650">
                <a:solidFill>
                  <a:srgbClr val="1E293B"/>
                </a:solidFill>
              </a:rPr>
              <a:t>• 陷阱4：有些信息可能不止出现在一个段落——选最相关的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 Information示范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练习题：找出每条信息对应的段落
文章段落摘要：
A段：讨论气候变化对农业的影响
B段：提出政府应对气候变化的政策措施
C段：描述科学家开发的新型抗旱作物
D段：比较不同国家的碳排放数据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题目信息：
1. An international comparison of emission levels → D段（carbon emissions data = emission levels / different countries = international comparison）
2. A potential solution to crop water shortage → C段（drought-resistant crops = solution to water shortage）
3. Government responses to environmental challenges → B段（government policies = government responses / climate change = environmental challenges）</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Matching技巧：把题目信息"翻译"成同义表达，再去文章中找——关键是理解信息的核心意思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Heading Matching：标题匹配</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Paragraph Headings: Matching Strategy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标题匹配的本质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Understanding Heading Matching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考查重点</a:t>
            </a:r>
          </a:p>
          <a:p>
            <a:pPr>
              <a:spcBef>
                <a:spcPts val="100"/>
              </a:spcBef>
            </a:pPr>
            <a:r>
              <a:rPr sz="1500">
                <a:solidFill>
                  <a:srgbClr val="556075"/>
                </a:solidFill>
              </a:rPr>
              <a:t>   理解每个段落的主旨大意——不是细节信息</a:t>
            </a:r>
          </a:p>
          <a:p>
            <a:pPr>
              <a:spcBef>
                <a:spcPts val="900"/>
              </a:spcBef>
            </a:pPr>
            <a:r>
              <a:rPr sz="1800" b="1">
                <a:solidFill>
                  <a:srgbClr val="1B5E33"/>
                </a:solidFill>
              </a:rPr>
              <a:t>• 正确标题</a:t>
            </a:r>
          </a:p>
          <a:p>
            <a:pPr>
              <a:spcBef>
                <a:spcPts val="100"/>
              </a:spcBef>
            </a:pPr>
            <a:r>
              <a:rPr sz="1500">
                <a:solidFill>
                  <a:srgbClr val="556075"/>
                </a:solidFill>
              </a:rPr>
              <a:t>   正确标题概括了段落的核心信息——不是只提了一个细节</a:t>
            </a:r>
          </a:p>
          <a:p>
            <a:pPr>
              <a:spcBef>
                <a:spcPts val="900"/>
              </a:spcBef>
            </a:pPr>
            <a:r>
              <a:rPr sz="1800" b="1">
                <a:solidFill>
                  <a:srgbClr val="1B5E33"/>
                </a:solidFill>
              </a:rPr>
              <a:t>• 干扰选项</a:t>
            </a:r>
          </a:p>
          <a:p>
            <a:pPr>
              <a:spcBef>
                <a:spcPts val="100"/>
              </a:spcBef>
            </a:pPr>
            <a:r>
              <a:rPr sz="1500">
                <a:solidFill>
                  <a:srgbClr val="556075"/>
                </a:solidFill>
              </a:rPr>
              <a:t>   通常有比题目数量更多的标题可选——要排除干扰</a:t>
            </a:r>
          </a:p>
          <a:p>
            <a:pPr>
              <a:spcBef>
                <a:spcPts val="900"/>
              </a:spcBef>
            </a:pPr>
            <a:r>
              <a:rPr sz="1800" b="1">
                <a:solidFill>
                  <a:srgbClr val="1B5E33"/>
                </a:solidFill>
              </a:rPr>
              <a:t>• 顺序</a:t>
            </a:r>
          </a:p>
          <a:p>
            <a:pPr>
              <a:spcBef>
                <a:spcPts val="100"/>
              </a:spcBef>
            </a:pPr>
            <a:r>
              <a:rPr sz="1500">
                <a:solidFill>
                  <a:srgbClr val="556075"/>
                </a:solidFill>
              </a:rPr>
              <a:t>   标题通常不按顺序——要逐段判断</a:t>
            </a:r>
          </a:p>
          <a:p>
            <a:pPr>
              <a:spcBef>
                <a:spcPts val="900"/>
              </a:spcBef>
            </a:pPr>
            <a:r>
              <a:rPr sz="1800" b="1">
                <a:solidFill>
                  <a:srgbClr val="1B5E33"/>
                </a:solidFill>
              </a:rPr>
              <a:t>• 难度</a:t>
            </a:r>
          </a:p>
          <a:p>
            <a:pPr>
              <a:spcBef>
                <a:spcPts val="100"/>
              </a:spcBef>
            </a:pPr>
            <a:r>
              <a:rPr sz="1500">
                <a:solidFill>
                  <a:srgbClr val="556075"/>
                </a:solidFill>
              </a:rPr>
              <a:t>   标题匹配通常是最难的题型之一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标题匹配做题策略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Heading Matching Strategy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步骤1</a:t>
            </a:r>
          </a:p>
          <a:p>
            <a:pPr>
              <a:spcBef>
                <a:spcPts val="100"/>
              </a:spcBef>
            </a:pPr>
            <a:r>
              <a:rPr sz="1500">
                <a:solidFill>
                  <a:srgbClr val="556075"/>
                </a:solidFill>
              </a:rPr>
              <a:t>   先读所有备选标题——了解有哪些主题可能出现</a:t>
            </a:r>
          </a:p>
          <a:p>
            <a:pPr>
              <a:spcBef>
                <a:spcPts val="900"/>
              </a:spcBef>
            </a:pPr>
            <a:r>
              <a:rPr sz="1800" b="1">
                <a:solidFill>
                  <a:srgbClr val="1B5E33"/>
                </a:solidFill>
              </a:rPr>
              <a:t>• 步骤2</a:t>
            </a:r>
          </a:p>
          <a:p>
            <a:pPr>
              <a:spcBef>
                <a:spcPts val="100"/>
              </a:spcBef>
            </a:pPr>
            <a:r>
              <a:rPr sz="1500">
                <a:solidFill>
                  <a:srgbClr val="556075"/>
                </a:solidFill>
              </a:rPr>
              <a:t>   阅读段落时，找每段的主题句（通常是第一句或最后一句）</a:t>
            </a:r>
          </a:p>
          <a:p>
            <a:pPr>
              <a:spcBef>
                <a:spcPts val="900"/>
              </a:spcBef>
            </a:pPr>
            <a:r>
              <a:rPr sz="1800" b="1">
                <a:solidFill>
                  <a:srgbClr val="1B5E33"/>
                </a:solidFill>
              </a:rPr>
              <a:t>• 步骤3</a:t>
            </a:r>
          </a:p>
          <a:p>
            <a:pPr>
              <a:spcBef>
                <a:spcPts val="100"/>
              </a:spcBef>
            </a:pPr>
            <a:r>
              <a:rPr sz="1500">
                <a:solidFill>
                  <a:srgbClr val="556075"/>
                </a:solidFill>
              </a:rPr>
              <a:t>   把段落主旨和备选标题对应——用排除法</a:t>
            </a:r>
          </a:p>
          <a:p>
            <a:pPr>
              <a:spcBef>
                <a:spcPts val="900"/>
              </a:spcBef>
            </a:pPr>
            <a:r>
              <a:rPr sz="1800" b="1">
                <a:solidFill>
                  <a:srgbClr val="1B5E33"/>
                </a:solidFill>
              </a:rPr>
              <a:t>• 步骤4</a:t>
            </a:r>
          </a:p>
          <a:p>
            <a:pPr>
              <a:spcBef>
                <a:spcPts val="100"/>
              </a:spcBef>
            </a:pPr>
            <a:r>
              <a:rPr sz="1500">
                <a:solidFill>
                  <a:srgbClr val="556075"/>
                </a:solidFill>
              </a:rPr>
              <a:t>   确认：这个标题概括了整段，不只是一个细节</a:t>
            </a:r>
          </a:p>
          <a:p>
            <a:pPr>
              <a:spcBef>
                <a:spcPts val="900"/>
              </a:spcBef>
            </a:pPr>
            <a:r>
              <a:rPr sz="1800" b="1">
                <a:solidFill>
                  <a:srgbClr val="1B5E33"/>
                </a:solidFill>
              </a:rPr>
              <a:t>• 步骤5</a:t>
            </a:r>
          </a:p>
          <a:p>
            <a:pPr>
              <a:spcBef>
                <a:spcPts val="100"/>
              </a:spcBef>
            </a:pPr>
            <a:r>
              <a:rPr sz="1500">
                <a:solidFill>
                  <a:srgbClr val="556075"/>
                </a:solidFill>
              </a:rPr>
              <a:t>   不确定时，用排除法——先排除明显错误的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标题匹配的陷阱</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陷阱1：段落中反复出现某词，但标题用了另一个词——注意paraphrase</a:t>
            </a:r>
          </a:p>
          <a:p>
            <a:pPr>
              <a:spcBef>
                <a:spcPts val="1000"/>
              </a:spcBef>
            </a:pPr>
            <a:r>
              <a:rPr sz="1650">
                <a:solidFill>
                  <a:srgbClr val="1E293B"/>
                </a:solidFill>
              </a:rPr>
              <a:t>• 陷阱2：某个细节在题目中，但不是段落主旨——细节≠主旨</a:t>
            </a:r>
          </a:p>
          <a:p>
            <a:pPr>
              <a:spcBef>
                <a:spcPts val="1000"/>
              </a:spcBef>
            </a:pPr>
            <a:r>
              <a:rPr sz="1650">
                <a:solidFill>
                  <a:srgbClr val="1E293B"/>
                </a:solidFill>
              </a:rPr>
              <a:t>• 陷阱3：正确标题在段落的最后一句——不只看第一句</a:t>
            </a:r>
          </a:p>
          <a:p>
            <a:pPr>
              <a:spcBef>
                <a:spcPts val="1000"/>
              </a:spcBef>
            </a:pPr>
            <a:r>
              <a:rPr sz="1650">
                <a:solidFill>
                  <a:srgbClr val="1E293B"/>
                </a:solidFill>
              </a:rPr>
              <a:t>• 陷阱4：段落讨论了A和B的关系——标题应体现这个关系，不只是A或B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主题句识别技巧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主题句通常是段落第一句——介绍段落主要讨论的话题</a:t>
            </a:r>
          </a:p>
          <a:p>
            <a:pPr>
              <a:spcBef>
                <a:spcPts val="1000"/>
              </a:spcBef>
            </a:pPr>
            <a:r>
              <a:rPr sz="1650">
                <a:solidFill>
                  <a:srgbClr val="1E293B"/>
                </a:solidFill>
              </a:rPr>
              <a:t>• 但并非所有段落都有明显主题句——有时需要综合全段</a:t>
            </a:r>
          </a:p>
          <a:p>
            <a:pPr>
              <a:spcBef>
                <a:spcPts val="1000"/>
              </a:spcBef>
            </a:pPr>
            <a:r>
              <a:rPr sz="1650">
                <a:solidFill>
                  <a:srgbClr val="1E293B"/>
                </a:solidFill>
              </a:rPr>
              <a:t>• 转折词后的句子往往是段落重点——However/But/Yet后面是核心</a:t>
            </a:r>
          </a:p>
          <a:p>
            <a:pPr>
              <a:spcBef>
                <a:spcPts val="1000"/>
              </a:spcBef>
            </a:pPr>
            <a:r>
              <a:rPr sz="1650">
                <a:solidFill>
                  <a:srgbClr val="1E293B"/>
                </a:solidFill>
              </a:rPr>
              <a:t>• 最后一句有时是主题句——特别是用来总结或反转前面内容时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标题匹配综合示范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段落原文：Despite widespread concern about the negative effects of social media, recent research suggests the picture is more nuanced. While heavy use is associated with increased anxiety in some studies, moderate engagement has been linked to improved social connections and a sense of community, particularly among isolated individuals.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备选标题：
A. The dangers of excessive social media use
B. Social media's complex effects on wellbeing
C. Research findings on social anxiety
D. The benefits of online communities
分析：
段落前半讲负面（anxiety），后半讲正面（improved connections）——段落的主旨是"nuanced picture"（复杂/两面性）
答案：B（The complex effects = more nuanced）
为什么不选A：A只涵盖了负面，段落还讲了正面
为什么不选D：D只涵盖了正面的部分（online communities）</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标题匹配核心：标题必须概括整段，不只是某个细节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Matching Features &amp; Names</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Matching People/Features to Information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特征匹配题型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Matching Features: Question Type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形式</a:t>
            </a:r>
          </a:p>
          <a:p>
            <a:pPr>
              <a:spcBef>
                <a:spcPts val="100"/>
              </a:spcBef>
            </a:pPr>
            <a:r>
              <a:rPr sz="1500">
                <a:solidFill>
                  <a:srgbClr val="556075"/>
                </a:solidFill>
              </a:rPr>
              <a:t>   把特征/描述匹配到对应的人名/时期/研究/物体</a:t>
            </a:r>
          </a:p>
          <a:p>
            <a:pPr>
              <a:spcBef>
                <a:spcPts val="900"/>
              </a:spcBef>
            </a:pPr>
            <a:r>
              <a:rPr sz="1800" b="1">
                <a:solidFill>
                  <a:srgbClr val="1B5E33"/>
                </a:solidFill>
              </a:rPr>
              <a:t>• 多对一</a:t>
            </a:r>
          </a:p>
          <a:p>
            <a:pPr>
              <a:spcBef>
                <a:spcPts val="100"/>
              </a:spcBef>
            </a:pPr>
            <a:r>
              <a:rPr sz="1500">
                <a:solidFill>
                  <a:srgbClr val="556075"/>
                </a:solidFill>
              </a:rPr>
              <a:t>   同一个人/研究可能对应多个特征</a:t>
            </a:r>
          </a:p>
          <a:p>
            <a:pPr>
              <a:spcBef>
                <a:spcPts val="900"/>
              </a:spcBef>
            </a:pPr>
            <a:r>
              <a:rPr sz="1800" b="1">
                <a:solidFill>
                  <a:srgbClr val="1B5E33"/>
                </a:solidFill>
              </a:rPr>
              <a:t>• 一对一</a:t>
            </a:r>
          </a:p>
          <a:p>
            <a:pPr>
              <a:spcBef>
                <a:spcPts val="100"/>
              </a:spcBef>
            </a:pPr>
            <a:r>
              <a:rPr sz="1500">
                <a:solidFill>
                  <a:srgbClr val="556075"/>
                </a:solidFill>
              </a:rPr>
              <a:t>   有些情况每个特征只能匹配到一个对象</a:t>
            </a:r>
          </a:p>
          <a:p>
            <a:pPr>
              <a:spcBef>
                <a:spcPts val="900"/>
              </a:spcBef>
            </a:pPr>
            <a:r>
              <a:rPr sz="1800" b="1">
                <a:solidFill>
                  <a:srgbClr val="1B5E33"/>
                </a:solidFill>
              </a:rPr>
              <a:t>• 难点</a:t>
            </a:r>
          </a:p>
          <a:p>
            <a:pPr>
              <a:spcBef>
                <a:spcPts val="100"/>
              </a:spcBef>
            </a:pPr>
            <a:r>
              <a:rPr sz="1500">
                <a:solidFill>
                  <a:srgbClr val="556075"/>
                </a:solidFill>
              </a:rPr>
              <a:t>   多个人名/时期容易混淆，细节区分至关重要</a:t>
            </a:r>
          </a:p>
          <a:p>
            <a:pPr>
              <a:spcBef>
                <a:spcPts val="900"/>
              </a:spcBef>
            </a:pPr>
            <a:r>
              <a:rPr sz="1800" b="1">
                <a:solidFill>
                  <a:srgbClr val="1B5E33"/>
                </a:solidFill>
              </a:rPr>
              <a:t>• 策略</a:t>
            </a:r>
          </a:p>
          <a:p>
            <a:pPr>
              <a:spcBef>
                <a:spcPts val="100"/>
              </a:spcBef>
            </a:pPr>
            <a:r>
              <a:rPr sz="1500">
                <a:solidFill>
                  <a:srgbClr val="556075"/>
                </a:solidFill>
              </a:rPr>
              <a:t>   先读所有被匹配的对象，再逐个读特征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人名/观点匹配策略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Strategy for Name/Feature Matching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建立笔记</a:t>
            </a:r>
          </a:p>
          <a:p>
            <a:pPr>
              <a:spcBef>
                <a:spcPts val="100"/>
              </a:spcBef>
            </a:pPr>
            <a:r>
              <a:rPr sz="1500">
                <a:solidFill>
                  <a:srgbClr val="556075"/>
                </a:solidFill>
              </a:rPr>
              <a:t>   阅读时，对每个人名做2-3个关键词笔记</a:t>
            </a:r>
          </a:p>
          <a:p>
            <a:pPr>
              <a:spcBef>
                <a:spcPts val="900"/>
              </a:spcBef>
            </a:pPr>
            <a:r>
              <a:rPr sz="1800" b="1">
                <a:solidFill>
                  <a:srgbClr val="1B5E33"/>
                </a:solidFill>
              </a:rPr>
              <a:t>• 关键词定位</a:t>
            </a:r>
          </a:p>
          <a:p>
            <a:pPr>
              <a:spcBef>
                <a:spcPts val="100"/>
              </a:spcBef>
            </a:pPr>
            <a:r>
              <a:rPr sz="1500">
                <a:solidFill>
                  <a:srgbClr val="556075"/>
                </a:solidFill>
              </a:rPr>
              <a:t>   找到人名在文章中的位置——人名是大写词，容易扫描</a:t>
            </a:r>
          </a:p>
          <a:p>
            <a:pPr>
              <a:spcBef>
                <a:spcPts val="900"/>
              </a:spcBef>
            </a:pPr>
            <a:r>
              <a:rPr sz="1800" b="1">
                <a:solidFill>
                  <a:srgbClr val="1B5E33"/>
                </a:solidFill>
              </a:rPr>
              <a:t>• 读完整句</a:t>
            </a:r>
          </a:p>
          <a:p>
            <a:pPr>
              <a:spcBef>
                <a:spcPts val="100"/>
              </a:spcBef>
            </a:pPr>
            <a:r>
              <a:rPr sz="1500">
                <a:solidFill>
                  <a:srgbClr val="556075"/>
                </a:solidFill>
              </a:rPr>
              <a:t>   不只读人名旁边的词——读完整段关于这个人的内容</a:t>
            </a:r>
          </a:p>
          <a:p>
            <a:pPr>
              <a:spcBef>
                <a:spcPts val="900"/>
              </a:spcBef>
            </a:pPr>
            <a:r>
              <a:rPr sz="1800" b="1">
                <a:solidFill>
                  <a:srgbClr val="1B5E33"/>
                </a:solidFill>
              </a:rPr>
              <a:t>• 注意动词</a:t>
            </a:r>
          </a:p>
          <a:p>
            <a:pPr>
              <a:spcBef>
                <a:spcPts val="100"/>
              </a:spcBef>
            </a:pPr>
            <a:r>
              <a:rPr sz="1500">
                <a:solidFill>
                  <a:srgbClr val="556075"/>
                </a:solidFill>
              </a:rPr>
              <a:t>   argue/claim/suggest/find/propose——这些词后是观点</a:t>
            </a:r>
          </a:p>
          <a:p>
            <a:pPr>
              <a:spcBef>
                <a:spcPts val="900"/>
              </a:spcBef>
            </a:pPr>
            <a:r>
              <a:rPr sz="1800" b="1">
                <a:solidFill>
                  <a:srgbClr val="1B5E33"/>
                </a:solidFill>
              </a:rPr>
              <a:t>• 排除法</a:t>
            </a:r>
          </a:p>
          <a:p>
            <a:pPr>
              <a:spcBef>
                <a:spcPts val="100"/>
              </a:spcBef>
            </a:pPr>
            <a:r>
              <a:rPr sz="1500">
                <a:solidFill>
                  <a:srgbClr val="556075"/>
                </a:solidFill>
              </a:rPr>
              <a:t>   已经确认的选项可以暂时排除——缩小范围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特征匹配的典型陷阱</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陷阱1：相似观点分属不同人——读快了容易混淆</a:t>
            </a:r>
          </a:p>
          <a:p>
            <a:pPr>
              <a:spcBef>
                <a:spcPts val="1000"/>
              </a:spcBef>
            </a:pPr>
            <a:r>
              <a:rPr sz="1650">
                <a:solidFill>
                  <a:srgbClr val="1E293B"/>
                </a:solidFill>
              </a:rPr>
              <a:t>• 陷阱2：某人的观点在文章多处出现——需要找所有提到这个人的地方</a:t>
            </a:r>
          </a:p>
          <a:p>
            <a:pPr>
              <a:spcBef>
                <a:spcPts val="1000"/>
              </a:spcBef>
            </a:pPr>
            <a:r>
              <a:rPr sz="1650">
                <a:solidFill>
                  <a:srgbClr val="1E293B"/>
                </a:solidFill>
              </a:rPr>
              <a:t>• 陷阱3：人名在文章中出现，但那个句子是描述别人对他的评价</a:t>
            </a:r>
          </a:p>
          <a:p>
            <a:pPr>
              <a:spcBef>
                <a:spcPts val="1000"/>
              </a:spcBef>
            </a:pPr>
            <a:r>
              <a:rPr sz="1650">
                <a:solidFill>
                  <a:srgbClr val="1E293B"/>
                </a:solidFill>
              </a:rPr>
              <a:t>• 陷阱4：文章用he/she/they代替人名——要追踪代词指代</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处理多个人名的策略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策略1：在文章中用不同颜色标注不同人名（考试可用笔标注）</a:t>
            </a:r>
          </a:p>
          <a:p>
            <a:pPr>
              <a:spcBef>
                <a:spcPts val="1000"/>
              </a:spcBef>
            </a:pPr>
            <a:r>
              <a:rPr sz="1650">
                <a:solidFill>
                  <a:srgbClr val="1E293B"/>
                </a:solidFill>
              </a:rPr>
              <a:t>• 策略2：建立人名笔记本——每个人名后面写关键词</a:t>
            </a:r>
          </a:p>
          <a:p>
            <a:pPr>
              <a:spcBef>
                <a:spcPts val="1000"/>
              </a:spcBef>
            </a:pPr>
            <a:r>
              <a:rPr sz="1650">
                <a:solidFill>
                  <a:srgbClr val="1E293B"/>
                </a:solidFill>
              </a:rPr>
              <a:t>• 策略3：按题目顺序做，碰到不确定的先跳过</a:t>
            </a:r>
          </a:p>
          <a:p>
            <a:pPr>
              <a:spcBef>
                <a:spcPts val="1000"/>
              </a:spcBef>
            </a:pPr>
            <a:r>
              <a:rPr sz="1650">
                <a:solidFill>
                  <a:srgbClr val="1E293B"/>
                </a:solidFill>
              </a:rPr>
              <a:t>• 策略4：做完后逆向检查——每个人名是否有合理数量的特征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特征匹配综合练习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文章人名和观点：
Smith（2005）：发现数字媒体增加了学习效果
Johnson（2010）：认为传统教育方法更有效
Lee（2015）：提出混合式学习是最佳解决方案
Chen（2020）：发现数字工具在农村效果更显著</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题目：
1. Digital tools are more effective in rural settings → Chen 2020
2. A combination of methods produces best results → Lee 2015
3. Conventional teaching outperforms new technology → Johnson 2010
4. Technology enhances the learning experience → Smith 2005
解题步骤：
①先标注4个人名在文章中的位置
②读每个人名旁的内容，做笔记
③逐个匹配特征</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关键：在考试中用笔标注人名——这是特征匹配题最高效的做法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综合定位策略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Integrated Location Strategies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段落地图的建立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Building a Paragraph Map</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何时建立</a:t>
            </a:r>
          </a:p>
          <a:p>
            <a:pPr>
              <a:spcBef>
                <a:spcPts val="100"/>
              </a:spcBef>
            </a:pPr>
            <a:r>
              <a:rPr sz="1500">
                <a:solidFill>
                  <a:srgbClr val="556075"/>
                </a:solidFill>
              </a:rPr>
              <a:t>   在做任何匹配类题型前，先读全文建立段落地图</a:t>
            </a:r>
          </a:p>
          <a:p>
            <a:pPr>
              <a:spcBef>
                <a:spcPts val="900"/>
              </a:spcBef>
            </a:pPr>
            <a:r>
              <a:rPr sz="1800" b="1">
                <a:solidFill>
                  <a:srgbClr val="1B5E33"/>
                </a:solidFill>
              </a:rPr>
              <a:t>• 记录内容</a:t>
            </a:r>
          </a:p>
          <a:p>
            <a:pPr>
              <a:spcBef>
                <a:spcPts val="100"/>
              </a:spcBef>
            </a:pPr>
            <a:r>
              <a:rPr sz="1500">
                <a:solidFill>
                  <a:srgbClr val="556075"/>
                </a:solidFill>
              </a:rPr>
              <a:t>   每段用2-5个关键词记录主题——不写完整句子</a:t>
            </a:r>
          </a:p>
          <a:p>
            <a:pPr>
              <a:spcBef>
                <a:spcPts val="900"/>
              </a:spcBef>
            </a:pPr>
            <a:r>
              <a:rPr sz="1800" b="1">
                <a:solidFill>
                  <a:srgbClr val="1B5E33"/>
                </a:solidFill>
              </a:rPr>
              <a:t>• 时间投入</a:t>
            </a:r>
          </a:p>
          <a:p>
            <a:pPr>
              <a:spcBef>
                <a:spcPts val="100"/>
              </a:spcBef>
            </a:pPr>
            <a:r>
              <a:rPr sz="1500">
                <a:solidFill>
                  <a:srgbClr val="556075"/>
                </a:solidFill>
              </a:rPr>
              <a:t>   建立段落地图约需3-5分钟——但节省整体做题时间</a:t>
            </a:r>
          </a:p>
          <a:p>
            <a:pPr>
              <a:spcBef>
                <a:spcPts val="900"/>
              </a:spcBef>
            </a:pPr>
            <a:r>
              <a:rPr sz="1800" b="1">
                <a:solidFill>
                  <a:srgbClr val="1B5E33"/>
                </a:solidFill>
              </a:rPr>
              <a:t>• 使用方法</a:t>
            </a:r>
          </a:p>
          <a:p>
            <a:pPr>
              <a:spcBef>
                <a:spcPts val="100"/>
              </a:spcBef>
            </a:pPr>
            <a:r>
              <a:rPr sz="1500">
                <a:solidFill>
                  <a:srgbClr val="556075"/>
                </a:solidFill>
              </a:rPr>
              <a:t>   做题时先查段落地图，再到对应段落精读</a:t>
            </a:r>
          </a:p>
          <a:p>
            <a:pPr>
              <a:spcBef>
                <a:spcPts val="900"/>
              </a:spcBef>
            </a:pPr>
            <a:r>
              <a:rPr sz="1800" b="1">
                <a:solidFill>
                  <a:srgbClr val="1B5E33"/>
                </a:solidFill>
              </a:rPr>
              <a:t>• 深圳学生</a:t>
            </a:r>
          </a:p>
          <a:p>
            <a:pPr>
              <a:spcBef>
                <a:spcPts val="100"/>
              </a:spcBef>
            </a:pPr>
            <a:r>
              <a:rPr sz="1500">
                <a:solidFill>
                  <a:srgbClr val="556075"/>
                </a:solidFill>
              </a:rPr>
              <a:t>   建立段落地图是匹配类题型的效率倍增器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关键词扫描技术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Keyword Scanning Technique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专有名词</a:t>
            </a:r>
          </a:p>
          <a:p>
            <a:pPr>
              <a:spcBef>
                <a:spcPts val="100"/>
              </a:spcBef>
            </a:pPr>
            <a:r>
              <a:rPr sz="1500">
                <a:solidFill>
                  <a:srgbClr val="556075"/>
                </a:solidFill>
              </a:rPr>
              <a:t>   大写词/人名/地名/品牌名——最容易扫描</a:t>
            </a:r>
          </a:p>
          <a:p>
            <a:pPr>
              <a:spcBef>
                <a:spcPts val="900"/>
              </a:spcBef>
            </a:pPr>
            <a:r>
              <a:rPr sz="1800" b="1">
                <a:solidFill>
                  <a:srgbClr val="1B5E33"/>
                </a:solidFill>
              </a:rPr>
              <a:t>• 数字与日期</a:t>
            </a:r>
          </a:p>
          <a:p>
            <a:pPr>
              <a:spcBef>
                <a:spcPts val="100"/>
              </a:spcBef>
            </a:pPr>
            <a:r>
              <a:rPr sz="1500">
                <a:solidFill>
                  <a:srgbClr val="556075"/>
                </a:solidFill>
              </a:rPr>
              <a:t>   年份/数字/百分比——视觉上突出，容易定位</a:t>
            </a:r>
          </a:p>
          <a:p>
            <a:pPr>
              <a:spcBef>
                <a:spcPts val="900"/>
              </a:spcBef>
            </a:pPr>
            <a:r>
              <a:rPr sz="1800" b="1">
                <a:solidFill>
                  <a:srgbClr val="1B5E33"/>
                </a:solidFill>
              </a:rPr>
              <a:t>• 少见词</a:t>
            </a:r>
          </a:p>
          <a:p>
            <a:pPr>
              <a:spcBef>
                <a:spcPts val="100"/>
              </a:spcBef>
            </a:pPr>
            <a:r>
              <a:rPr sz="1500">
                <a:solidFill>
                  <a:srgbClr val="556075"/>
                </a:solidFill>
              </a:rPr>
              <a:t>   uncommon words 在文章中很容易找到</a:t>
            </a:r>
          </a:p>
          <a:p>
            <a:pPr>
              <a:spcBef>
                <a:spcPts val="900"/>
              </a:spcBef>
            </a:pPr>
            <a:r>
              <a:rPr sz="1800" b="1">
                <a:solidFill>
                  <a:srgbClr val="1B5E33"/>
                </a:solidFill>
              </a:rPr>
              <a:t>• 同义替换</a:t>
            </a:r>
          </a:p>
          <a:p>
            <a:pPr>
              <a:spcBef>
                <a:spcPts val="100"/>
              </a:spcBef>
            </a:pPr>
            <a:r>
              <a:rPr sz="1500">
                <a:solidFill>
                  <a:srgbClr val="556075"/>
                </a:solidFill>
              </a:rPr>
              <a:t>   题目中的词在文章中可能用了不同表达</a:t>
            </a:r>
          </a:p>
          <a:p>
            <a:pPr>
              <a:spcBef>
                <a:spcPts val="900"/>
              </a:spcBef>
            </a:pPr>
            <a:r>
              <a:rPr sz="1800" b="1">
                <a:solidFill>
                  <a:srgbClr val="1B5E33"/>
                </a:solidFill>
              </a:rPr>
              <a:t>• 扫描速度</a:t>
            </a:r>
          </a:p>
          <a:p>
            <a:pPr>
              <a:spcBef>
                <a:spcPts val="100"/>
              </a:spcBef>
            </a:pPr>
            <a:r>
              <a:rPr sz="1500">
                <a:solidFill>
                  <a:srgbClr val="556075"/>
                </a:solidFill>
              </a:rPr>
              <a:t>   扫描时眼睛快速移动，不读每个词——只找目标词</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定位后的精读技巧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找到位置后，读目标句子的前一句和后一句——上下文很重要</a:t>
            </a:r>
          </a:p>
          <a:p>
            <a:pPr>
              <a:spcBef>
                <a:spcPts val="1000"/>
              </a:spcBef>
            </a:pPr>
            <a:r>
              <a:rPr sz="1650">
                <a:solidFill>
                  <a:srgbClr val="1E293B"/>
                </a:solidFill>
              </a:rPr>
              <a:t>• 注意：找到了相关段落不代表找到了答案——要精读确认</a:t>
            </a:r>
          </a:p>
          <a:p>
            <a:pPr>
              <a:spcBef>
                <a:spcPts val="1000"/>
              </a:spcBef>
            </a:pPr>
            <a:r>
              <a:rPr sz="1650">
                <a:solidFill>
                  <a:srgbClr val="1E293B"/>
                </a:solidFill>
              </a:rPr>
              <a:t>• 特别注意转折词：However/But/Despite——转折后是重要信息</a:t>
            </a:r>
          </a:p>
          <a:p>
            <a:pPr>
              <a:spcBef>
                <a:spcPts val="1000"/>
              </a:spcBef>
            </a:pPr>
            <a:r>
              <a:rPr sz="1650">
                <a:solidFill>
                  <a:srgbClr val="1E293B"/>
                </a:solidFill>
              </a:rPr>
              <a:t>• 注意代词指代：it/they/this/these——确认指的是什么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时间管理：匹配题的时间控制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Matching Information：每道题不超过2分钟</a:t>
            </a:r>
          </a:p>
          <a:p>
            <a:pPr>
              <a:spcBef>
                <a:spcPts val="1000"/>
              </a:spcBef>
            </a:pPr>
            <a:r>
              <a:rPr sz="1650">
                <a:solidFill>
                  <a:srgbClr val="1E293B"/>
                </a:solidFill>
              </a:rPr>
              <a:t>• Heading Matching：每段不超过2分钟（通常有5-7段）</a:t>
            </a:r>
          </a:p>
          <a:p>
            <a:pPr>
              <a:spcBef>
                <a:spcPts val="1000"/>
              </a:spcBef>
            </a:pPr>
            <a:r>
              <a:rPr sz="1650">
                <a:solidFill>
                  <a:srgbClr val="1E293B"/>
                </a:solidFill>
              </a:rPr>
              <a:t>• Feature Matching：每道题不超过1.5分钟</a:t>
            </a:r>
          </a:p>
          <a:p>
            <a:pPr>
              <a:spcBef>
                <a:spcPts val="1000"/>
              </a:spcBef>
            </a:pPr>
            <a:r>
              <a:rPr sz="1650">
                <a:solidFill>
                  <a:srgbClr val="1E293B"/>
                </a:solidFill>
              </a:rPr>
              <a:t>• 超时策略：猜最近扫描到的段落，继续做下一题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综合定位练习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同一篇文章的3种匹配题练习
文章话题：城市化与环境</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Matching Information（哪段讲以下信息）：
1. 政府减排政策 → B段
2. 城市扩张对生态系统的破坏 → A段
Heading Matching（为以下段落选标题）：
A段→"Urban Expansion and Its Environmental Costs"
C段→"Technological Solutions to Urban Pollution"
Feature Matching（匹配研究者和发现）：
Smith：发现绿地减少与城市热岛效应相关 → Smith
Johnson：提出立法控制工业排放 → Johnson
综合效率：有了段落地图后，3种题型都能快速定位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实战建议：先建立段落地图（3分钟），再做所有匹配类题型——总效率最高</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匹配题词汇速查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Matching Questions Vocabulary Reference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信息定位常用词汇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locate</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定位/找到（locate the paragraph that...）</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identify</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识别/找出（identify which section...）</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refer to</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提及/涉及（which paragraph refers to...）</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describe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描述（which paragraph describes...）</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mention</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提到（which paragraph mentions...）</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1B5E33"/>
                </a:solidFill>
                <a:latin typeface="Calibri"/>
              </a:rPr>
              <a:t>discuss</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讨论（which paragraph discusses...）</a:t>
            </a:r>
          </a:p>
        </p:txBody>
      </p:sp>
      <p:sp>
        <p:nvSpPr>
          <p:cNvPr id="36" name="Rectangle 35"/>
          <p:cNvSpPr/>
          <p:nvPr/>
        </p:nvSpPr>
        <p:spPr>
          <a:xfrm>
            <a:off x="548640" y="5202936"/>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1B5E33"/>
                </a:solidFill>
                <a:latin typeface="Calibri"/>
              </a:rPr>
              <a:t>contrast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对比（which section contrasts X with 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段落主旨词汇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main idea</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主旨（the main idea of the paragraph is...）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primarily</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主要地（the paragraph is primarily about...）</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central argument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核心论点（the central argument of the passage）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topic sentence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主题句（the first/last sentence of the paragraph）</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conclude</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总结（the paragraph concludes by...）</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1B5E33"/>
                </a:solidFill>
                <a:latin typeface="Calibri"/>
              </a:rPr>
              <a:t>introduce</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介绍（the paragraph introduces the concept of...）</a:t>
            </a:r>
          </a:p>
        </p:txBody>
      </p:sp>
      <p:sp>
        <p:nvSpPr>
          <p:cNvPr id="36" name="Rectangle 35"/>
          <p:cNvSpPr/>
          <p:nvPr/>
        </p:nvSpPr>
        <p:spPr>
          <a:xfrm>
            <a:off x="548640" y="5202936"/>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1B5E33"/>
                </a:solidFill>
                <a:latin typeface="Calibri"/>
              </a:rPr>
              <a:t>outline</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概述（the author outlines the problems of...）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匹配题快速技巧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段落地图</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读全文时，每段3个关键词做笔记——节省反复翻页时间</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专有名词优先</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大写词/数字最容易扫描——先找这些定位位置</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排除法</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已确认的段落可暂时排除——缩小搜索范围</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标题≠细节</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Heading要概括整段主旨，细节题就是False</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人名标注</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在文章上用笔标注所有人名出现的位置——Feature Matching必备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做Matching Information专项：找3组真题练习，记录每题用时</a:t>
            </a:r>
          </a:p>
          <a:p>
            <a:pPr>
              <a:spcBef>
                <a:spcPts val="1200"/>
              </a:spcBef>
            </a:pPr>
            <a:r>
              <a:rPr sz="1600">
                <a:solidFill>
                  <a:srgbClr val="1E293B"/>
                </a:solidFill>
              </a:rPr>
              <a:t>☐ 建立段落地图练习：读一篇文章，用关键词记录每段主旨</a:t>
            </a:r>
          </a:p>
          <a:p>
            <a:pPr>
              <a:spcBef>
                <a:spcPts val="1200"/>
              </a:spcBef>
            </a:pPr>
            <a:r>
              <a:rPr sz="1600">
                <a:solidFill>
                  <a:srgbClr val="1E293B"/>
                </a:solidFill>
              </a:rPr>
              <a:t>☐ Heading Matching练习：选1篇文章做标题匹配，分析主题句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L03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Matching Information：带题目扫描，找段落位置，精读确认</a:t>
            </a:r>
          </a:p>
          <a:p>
            <a:pPr>
              <a:spcBef>
                <a:spcPts val="1100"/>
              </a:spcBef>
            </a:pPr>
            <a:r>
              <a:rPr sz="1550">
                <a:solidFill>
                  <a:srgbClr val="FFFFFF"/>
                </a:solidFill>
              </a:rPr>
              <a:t>✓  Heading Matching：理解段落主旨（不是细节），排除法，主题句识别</a:t>
            </a:r>
          </a:p>
          <a:p>
            <a:pPr>
              <a:spcBef>
                <a:spcPts val="1100"/>
              </a:spcBef>
            </a:pPr>
            <a:r>
              <a:rPr sz="1550">
                <a:solidFill>
                  <a:srgbClr val="FFFFFF"/>
                </a:solidFill>
              </a:rPr>
              <a:t>✓  Feature Matching：标注人名，建立笔记，追踪代词</a:t>
            </a:r>
          </a:p>
          <a:p>
            <a:pPr>
              <a:spcBef>
                <a:spcPts val="1100"/>
              </a:spcBef>
            </a:pPr>
            <a:r>
              <a:rPr sz="1550">
                <a:solidFill>
                  <a:srgbClr val="FFFFFF"/>
                </a:solidFill>
              </a:rPr>
              <a:t>✓  段落地图：先建立再做题——匹配题的效率倍增器</a:t>
            </a:r>
          </a:p>
          <a:p>
            <a:pPr>
              <a:spcBef>
                <a:spcPts val="1100"/>
              </a:spcBef>
            </a:pPr>
            <a:r>
              <a:rPr sz="1550">
                <a:solidFill>
                  <a:srgbClr val="FFFFFF"/>
                </a:solidFill>
              </a:rPr>
              <a:t>✓  核心技巧：同义替换识别 + 专有名词扫描 + 时间控制</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建议用时：约75分钟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Matching专项训练：做Cambridge IELTS中的3个Matching题组</a:t>
            </a:r>
          </a:p>
          <a:p>
            <a:pPr>
              <a:spcBef>
                <a:spcPts val="1300"/>
              </a:spcBef>
            </a:pPr>
            <a:r>
              <a:rPr sz="1550" b="1">
                <a:solidFill>
                  <a:srgbClr val="1E293B"/>
                </a:solidFill>
              </a:rPr>
              <a:t>作业 2　段落地图练习：读一篇学术文章，建立段落地图，用完整句子描述每段</a:t>
            </a:r>
          </a:p>
          <a:p>
            <a:pPr>
              <a:spcBef>
                <a:spcPts val="1300"/>
              </a:spcBef>
            </a:pPr>
            <a:r>
              <a:rPr sz="1550" b="1">
                <a:solidFill>
                  <a:srgbClr val="1E293B"/>
                </a:solidFill>
              </a:rPr>
              <a:t>作业 3　Heading Matching：选2组标题匹配题，分析为什么某些标题是错误的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L04 · 填空题全攻略：Summary &amp; Sentence Completion</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填空题词数限制的重要性</a:t>
            </a:r>
          </a:p>
          <a:p>
            <a:pPr>
              <a:spcBef>
                <a:spcPts val="1000"/>
              </a:spcBef>
            </a:pPr>
            <a:r>
              <a:rPr sz="1600">
                <a:solidFill>
                  <a:srgbClr val="CFDCF2"/>
                </a:solidFill>
              </a:rPr>
              <a:t>→ 从文章找原词的技巧</a:t>
            </a:r>
          </a:p>
          <a:p>
            <a:pPr>
              <a:spcBef>
                <a:spcPts val="1000"/>
              </a:spcBef>
            </a:pPr>
            <a:r>
              <a:rPr sz="1600">
                <a:solidFill>
                  <a:srgbClr val="CFDCF2"/>
                </a:solidFill>
              </a:rPr>
              <a:t>→ 深圳学生的常见错误</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Matching综合强化训练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Matching Skills: Advanced Practice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信息定位题常见错误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Common Matching Information Errors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关键词匹配陷阱</a:t>
            </a:r>
          </a:p>
          <a:p>
            <a:pPr>
              <a:spcBef>
                <a:spcPts val="100"/>
              </a:spcBef>
            </a:pPr>
            <a:r>
              <a:rPr sz="1500">
                <a:solidFill>
                  <a:srgbClr val="556075"/>
                </a:solidFill>
              </a:rPr>
              <a:t>   文章有关键词出现但意思不匹配——需要理解而非找词</a:t>
            </a:r>
          </a:p>
          <a:p>
            <a:pPr>
              <a:spcBef>
                <a:spcPts val="900"/>
              </a:spcBef>
            </a:pPr>
            <a:r>
              <a:rPr sz="1800" b="1">
                <a:solidFill>
                  <a:srgbClr val="1B5E33"/>
                </a:solidFill>
              </a:rPr>
              <a:t>• 同义替换盲区</a:t>
            </a:r>
          </a:p>
          <a:p>
            <a:pPr>
              <a:spcBef>
                <a:spcPts val="100"/>
              </a:spcBef>
            </a:pPr>
            <a:r>
              <a:rPr sz="1500">
                <a:solidFill>
                  <a:srgbClr val="556075"/>
                </a:solidFill>
              </a:rPr>
              <a:t>   题目用不同词表达，错过了正确段落</a:t>
            </a:r>
          </a:p>
          <a:p>
            <a:pPr>
              <a:spcBef>
                <a:spcPts val="900"/>
              </a:spcBef>
            </a:pPr>
            <a:r>
              <a:rPr sz="1800" b="1">
                <a:solidFill>
                  <a:srgbClr val="1B5E33"/>
                </a:solidFill>
              </a:rPr>
              <a:t>• 段落记忆不清</a:t>
            </a:r>
          </a:p>
          <a:p>
            <a:pPr>
              <a:spcBef>
                <a:spcPts val="100"/>
              </a:spcBef>
            </a:pPr>
            <a:r>
              <a:rPr sz="1500">
                <a:solidFill>
                  <a:srgbClr val="556075"/>
                </a:solidFill>
              </a:rPr>
              <a:t>   没有建立段落地图，反复重读浪费时间</a:t>
            </a:r>
          </a:p>
          <a:p>
            <a:pPr>
              <a:spcBef>
                <a:spcPts val="900"/>
              </a:spcBef>
            </a:pPr>
            <a:r>
              <a:rPr sz="1800" b="1">
                <a:solidFill>
                  <a:srgbClr val="1B5E33"/>
                </a:solidFill>
              </a:rPr>
              <a:t>• 答案跨句忽视</a:t>
            </a:r>
          </a:p>
          <a:p>
            <a:pPr>
              <a:spcBef>
                <a:spcPts val="100"/>
              </a:spcBef>
            </a:pPr>
            <a:r>
              <a:rPr sz="1500">
                <a:solidFill>
                  <a:srgbClr val="556075"/>
                </a:solidFill>
              </a:rPr>
              <a:t>   答案分布在两句话中，只看一句就跳过</a:t>
            </a:r>
          </a:p>
          <a:p>
            <a:pPr>
              <a:spcBef>
                <a:spcPts val="900"/>
              </a:spcBef>
            </a:pPr>
            <a:r>
              <a:rPr sz="1800" b="1">
                <a:solidFill>
                  <a:srgbClr val="1B5E33"/>
                </a:solidFill>
              </a:rPr>
              <a:t>• 未读所有段落</a:t>
            </a:r>
          </a:p>
          <a:p>
            <a:pPr>
              <a:spcBef>
                <a:spcPts val="100"/>
              </a:spcBef>
            </a:pPr>
            <a:r>
              <a:rPr sz="1500">
                <a:solidFill>
                  <a:srgbClr val="556075"/>
                </a:solidFill>
              </a:rPr>
              <a:t>   有些段落没有对应信息但仍需浏览</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标题匹配高分策略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Heading Matching: Advanced Strategies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策略1：找主题句</a:t>
            </a:r>
          </a:p>
          <a:p>
            <a:pPr>
              <a:spcBef>
                <a:spcPts val="100"/>
              </a:spcBef>
            </a:pPr>
            <a:r>
              <a:rPr sz="1500">
                <a:solidFill>
                  <a:srgbClr val="556075"/>
                </a:solidFill>
              </a:rPr>
              <a:t>   每段的主题句通常在首句或末句——精读这两句</a:t>
            </a:r>
          </a:p>
          <a:p>
            <a:pPr>
              <a:spcBef>
                <a:spcPts val="900"/>
              </a:spcBef>
            </a:pPr>
            <a:r>
              <a:rPr sz="1800" b="1">
                <a:solidFill>
                  <a:srgbClr val="1B5E33"/>
                </a:solidFill>
              </a:rPr>
              <a:t>• 策略2：排除干扰</a:t>
            </a:r>
          </a:p>
          <a:p>
            <a:pPr>
              <a:spcBef>
                <a:spcPts val="100"/>
              </a:spcBef>
            </a:pPr>
            <a:r>
              <a:rPr sz="1500">
                <a:solidFill>
                  <a:srgbClr val="556075"/>
                </a:solidFill>
              </a:rPr>
              <a:t>   明显错误的标题先排除，缩小选择范围</a:t>
            </a:r>
          </a:p>
          <a:p>
            <a:pPr>
              <a:spcBef>
                <a:spcPts val="900"/>
              </a:spcBef>
            </a:pPr>
            <a:r>
              <a:rPr sz="1800" b="1">
                <a:solidFill>
                  <a:srgbClr val="1B5E33"/>
                </a:solidFill>
              </a:rPr>
              <a:t>• 策略3：全段主旨</a:t>
            </a:r>
          </a:p>
          <a:p>
            <a:pPr>
              <a:spcBef>
                <a:spcPts val="100"/>
              </a:spcBef>
            </a:pPr>
            <a:r>
              <a:rPr sz="1500">
                <a:solidFill>
                  <a:srgbClr val="556075"/>
                </a:solidFill>
              </a:rPr>
              <a:t>   正确标题概括整段，不只是某一个细节</a:t>
            </a:r>
          </a:p>
          <a:p>
            <a:pPr>
              <a:spcBef>
                <a:spcPts val="900"/>
              </a:spcBef>
            </a:pPr>
            <a:r>
              <a:rPr sz="1800" b="1">
                <a:solidFill>
                  <a:srgbClr val="1B5E33"/>
                </a:solidFill>
              </a:rPr>
              <a:t>• 策略4：同义替换</a:t>
            </a:r>
          </a:p>
          <a:p>
            <a:pPr>
              <a:spcBef>
                <a:spcPts val="100"/>
              </a:spcBef>
            </a:pPr>
            <a:r>
              <a:rPr sz="1500">
                <a:solidFill>
                  <a:srgbClr val="556075"/>
                </a:solidFill>
              </a:rPr>
              <a:t>   标题词≠段落词——但意思相同即可匹配</a:t>
            </a:r>
          </a:p>
          <a:p>
            <a:pPr>
              <a:spcBef>
                <a:spcPts val="900"/>
              </a:spcBef>
            </a:pPr>
            <a:r>
              <a:rPr sz="1800" b="1">
                <a:solidFill>
                  <a:srgbClr val="1B5E33"/>
                </a:solidFill>
              </a:rPr>
              <a:t>• 策略5：检验一致性</a:t>
            </a:r>
          </a:p>
          <a:p>
            <a:pPr>
              <a:spcBef>
                <a:spcPts val="100"/>
              </a:spcBef>
            </a:pPr>
            <a:r>
              <a:rPr sz="1500">
                <a:solidFill>
                  <a:srgbClr val="556075"/>
                </a:solidFill>
              </a:rPr>
              <a:t>   选完后再次确认：标题是否与整段一致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信息定位题实战技巧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技巧1：先读所有题目信息，理解每条信息的核心意思（不只是关键词）</a:t>
            </a:r>
          </a:p>
          <a:p>
            <a:pPr>
              <a:spcBef>
                <a:spcPts val="1000"/>
              </a:spcBef>
            </a:pPr>
            <a:r>
              <a:rPr sz="1650">
                <a:solidFill>
                  <a:srgbClr val="1E293B"/>
                </a:solidFill>
              </a:rPr>
              <a:t>• 技巧2：阅读全文时，为每段建立简短笔记（3-5个关键词）</a:t>
            </a:r>
          </a:p>
          <a:p>
            <a:pPr>
              <a:spcBef>
                <a:spcPts val="1000"/>
              </a:spcBef>
            </a:pPr>
            <a:r>
              <a:rPr sz="1650">
                <a:solidFill>
                  <a:srgbClr val="1E293B"/>
                </a:solidFill>
              </a:rPr>
              <a:t>• 技巧3：按题目顺序逐一匹配，找到了就记录，没把握就标记继续</a:t>
            </a:r>
          </a:p>
          <a:p>
            <a:pPr>
              <a:spcBef>
                <a:spcPts val="1000"/>
              </a:spcBef>
            </a:pPr>
            <a:r>
              <a:rPr sz="1650">
                <a:solidFill>
                  <a:srgbClr val="1E293B"/>
                </a:solidFill>
              </a:rPr>
              <a:t>• 技巧4：对有多个可能段落的题目，用排除法缩小选择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标题匹配实战技巧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技巧1：先读全部备选标题，了解有哪些主题</a:t>
            </a:r>
          </a:p>
          <a:p>
            <a:pPr>
              <a:spcBef>
                <a:spcPts val="1000"/>
              </a:spcBef>
            </a:pPr>
            <a:r>
              <a:rPr sz="1650">
                <a:solidFill>
                  <a:srgbClr val="1E293B"/>
                </a:solidFill>
              </a:rPr>
              <a:t>• 技巧2：阅读每段时只找主旨——不读所有内容</a:t>
            </a:r>
          </a:p>
          <a:p>
            <a:pPr>
              <a:spcBef>
                <a:spcPts val="1000"/>
              </a:spcBef>
            </a:pPr>
            <a:r>
              <a:rPr sz="1650">
                <a:solidFill>
                  <a:srgbClr val="1E293B"/>
                </a:solidFill>
              </a:rPr>
              <a:t>• 技巧3：用排除法：先分配最确定的标题，剩下用比较法</a:t>
            </a:r>
          </a:p>
          <a:p>
            <a:pPr>
              <a:spcBef>
                <a:spcPts val="1000"/>
              </a:spcBef>
            </a:pPr>
            <a:r>
              <a:rPr sz="1650">
                <a:solidFill>
                  <a:srgbClr val="1E293B"/>
                </a:solidFill>
              </a:rPr>
              <a:t>• 技巧4：注意：一个标题只能用一次（除非题目说明可重复）</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Matching题完整示范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文章段落摘要：
A段：气候变化对农业生产力的具体影响
B段：各国政府应对气候变化的政策措施
C段：科学家开发新型抗旱作物的研究进展
D段：比较不同国家的碳排放数据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题目匹配：
1."A comparison of carbon output between nations" → D段（comparison=比较/carbon output=碳排放/nations=countries）
2."Development of crops resistant to water scarcity" → C段（development=开发/resistant=抗旱/water scarcity=缺水）
3."Governmental actions in response to climate crisis" → B段（governmental=政府/actions=政策/climate crisis=气候变化）</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方法：把题目信息翻译成同义表达，再与段落地图匹配——关键是理解信息的核心意思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信息定位题高分示范：同义替换识别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题目：文章段落：Industrial production in the region declined significantly after the introduction of automated manufacturing technologies, resulting in widespread unemployment among unskilled workers.</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题目信息："The negative impact of automation on employment in a specific area"
匹配分析：
分析题目→关键意思：自动化（automation）对就业（employment）的负面影响（negative impact），在特定地区（a specific area）
文章对应：automated manufacturing technologies（=automation）→ widespread unemployment（=negative impact on employment）→ in the region（=a specific area）
判断：完全匹配 → 选该段落</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同义替换链：automation=automated manufacturing technologies / unemployment=negative impact on employment</a:t>
            </a:r>
          </a:p>
          <a:p>
            <a:pPr>
              <a:spcBef>
                <a:spcPts val="700"/>
              </a:spcBef>
            </a:pPr>
            <a:r>
              <a:rPr sz="1200">
                <a:solidFill>
                  <a:srgbClr val="1E293B"/>
                </a:solidFill>
              </a:rPr>
              <a:t>▸ 理解而非找词：题目"negative impact"→文章"widespread unemployment"——意思相同</a:t>
            </a:r>
          </a:p>
          <a:p>
            <a:pPr>
              <a:spcBef>
                <a:spcPts val="700"/>
              </a:spcBef>
            </a:pPr>
            <a:r>
              <a:rPr sz="1200">
                <a:solidFill>
                  <a:srgbClr val="1E293B"/>
                </a:solidFill>
              </a:rPr>
              <a:t>▸ 地区范围：a specific area=in the region → 匹配</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标题匹配高分示范：主旨判断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题目：段落原文：While solar energy has seen dramatic cost reductions over the past decade, critics point out that the infrastructure required for wide-scale adoption remains expensive. The intermittent nature of solar power also poses challenges for grid stability, requiring significant investment in storage technologies.</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备选标题分析：
A. The falling price of solar panels（关注了成本降低，但只是段落开头的一个细节）
B. The challenges of integrating solar energy into existing power systems（概括了整段：基础设施贵+间歇性问题+存储技术需投资）
C. The growth of renewable energy worldwide（文章段落没讨论全球范围）
答案：B——B概括了整段的主旨，A只是细节，C超出了段落范围</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标题匹配核心：正确标题概括整段，不只是某一个细节</a:t>
            </a:r>
          </a:p>
          <a:p>
            <a:pPr>
              <a:spcBef>
                <a:spcPts val="700"/>
              </a:spcBef>
            </a:pPr>
            <a:r>
              <a:rPr sz="1200">
                <a:solidFill>
                  <a:srgbClr val="1E293B"/>
                </a:solidFill>
              </a:rPr>
              <a:t>▸ 排除法：A只覆盖了第一句，C的范围超出了段落内容</a:t>
            </a:r>
          </a:p>
          <a:p>
            <a:pPr>
              <a:spcBef>
                <a:spcPts val="700"/>
              </a:spcBef>
            </a:pPr>
            <a:r>
              <a:rPr sz="1200">
                <a:solidFill>
                  <a:srgbClr val="1E293B"/>
                </a:solidFill>
              </a:rPr>
              <a:t>▸ 验证方法：选完标题后，再次检查标题是否与整段所有内容一致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信息定位题 vs 标题匹配题：策略对比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信息定位题（Matching Information）</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标题匹配题（Matching Headings）</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考查：找出具体信息位于哪个段落</a:t>
            </a:r>
          </a:p>
          <a:p>
            <a:pPr>
              <a:spcBef>
                <a:spcPts val="700"/>
              </a:spcBef>
            </a:pPr>
            <a:r>
              <a:rPr sz="1350">
                <a:solidFill>
                  <a:srgbClr val="C02A2A"/>
                </a:solidFill>
              </a:rPr>
              <a:t>✗ 方法：理解题目信息→段落地图→精读确认</a:t>
            </a:r>
          </a:p>
          <a:p>
            <a:pPr>
              <a:spcBef>
                <a:spcPts val="700"/>
              </a:spcBef>
            </a:pPr>
            <a:r>
              <a:rPr sz="1350">
                <a:solidFill>
                  <a:srgbClr val="C02A2A"/>
                </a:solidFill>
              </a:rPr>
              <a:t>✗ 难点：同义替换识别，答案可跨句</a:t>
            </a:r>
          </a:p>
          <a:p>
            <a:pPr>
              <a:spcBef>
                <a:spcPts val="700"/>
              </a:spcBef>
            </a:pPr>
            <a:r>
              <a:rPr sz="1350">
                <a:solidFill>
                  <a:srgbClr val="C02A2A"/>
                </a:solidFill>
              </a:rPr>
              <a:t>✗ 时间：平均每题90秒</a:t>
            </a:r>
          </a:p>
          <a:p>
            <a:pPr>
              <a:spcBef>
                <a:spcPts val="700"/>
              </a:spcBef>
            </a:pPr>
            <a:r>
              <a:rPr sz="1350">
                <a:solidFill>
                  <a:srgbClr val="C02A2A"/>
                </a:solidFill>
              </a:rPr>
              <a:t>✗ 技巧：建立段落地图，按题目顺序匹配</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考查：为每个段落选择最合适的标题</a:t>
            </a:r>
          </a:p>
          <a:p>
            <a:pPr>
              <a:spcBef>
                <a:spcPts val="700"/>
              </a:spcBef>
            </a:pPr>
            <a:r>
              <a:rPr sz="1350">
                <a:solidFill>
                  <a:srgbClr val="1B7A3D"/>
                </a:solidFill>
              </a:rPr>
              <a:t>✓ 方法：读主题句→全段主旨→排除干扰</a:t>
            </a:r>
          </a:p>
          <a:p>
            <a:pPr>
              <a:spcBef>
                <a:spcPts val="700"/>
              </a:spcBef>
            </a:pPr>
            <a:r>
              <a:rPr sz="1350">
                <a:solidFill>
                  <a:srgbClr val="1B7A3D"/>
                </a:solidFill>
              </a:rPr>
              <a:t>✓ 难点：标题概括整段，不只是细节</a:t>
            </a:r>
          </a:p>
          <a:p>
            <a:pPr>
              <a:spcBef>
                <a:spcPts val="700"/>
              </a:spcBef>
            </a:pPr>
            <a:r>
              <a:rPr sz="1350">
                <a:solidFill>
                  <a:srgbClr val="1B7A3D"/>
                </a:solidFill>
              </a:rPr>
              <a:t>✓ 时间：平均每题60秒</a:t>
            </a:r>
          </a:p>
          <a:p>
            <a:pPr>
              <a:spcBef>
                <a:spcPts val="700"/>
              </a:spcBef>
            </a:pPr>
            <a:r>
              <a:rPr sz="1350">
                <a:solidFill>
                  <a:srgbClr val="1B7A3D"/>
                </a:solidFill>
              </a:rPr>
              <a:t>✓ 技巧：先排除明显错误标题，用排除法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Matching题深圳学生常见错误 vs 正确做法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深圳学生常见错误</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正确做法</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只靠关键词匹配，不理解信息含义</a:t>
            </a:r>
          </a:p>
          <a:p>
            <a:pPr>
              <a:spcBef>
                <a:spcPts val="700"/>
              </a:spcBef>
            </a:pPr>
            <a:r>
              <a:rPr sz="1350">
                <a:solidFill>
                  <a:srgbClr val="C02A2A"/>
                </a:solidFill>
              </a:rPr>
              <a:t>✗ 没有建立段落地图，反复重读浪费时间</a:t>
            </a:r>
          </a:p>
          <a:p>
            <a:pPr>
              <a:spcBef>
                <a:spcPts val="700"/>
              </a:spcBef>
            </a:pPr>
            <a:r>
              <a:rPr sz="1350">
                <a:solidFill>
                  <a:srgbClr val="C02A2A"/>
                </a:solidFill>
              </a:rPr>
              <a:t>✗ 标题匹配选了细节词对应的段落而非主旨</a:t>
            </a:r>
          </a:p>
          <a:p>
            <a:pPr>
              <a:spcBef>
                <a:spcPts val="700"/>
              </a:spcBef>
            </a:pPr>
            <a:r>
              <a:rPr sz="1350">
                <a:solidFill>
                  <a:srgbClr val="C02A2A"/>
                </a:solidFill>
              </a:rPr>
              <a:t>✗ 遇到不确定的题目跳过不写，考试结束空着</a:t>
            </a:r>
          </a:p>
          <a:p>
            <a:pPr>
              <a:spcBef>
                <a:spcPts val="700"/>
              </a:spcBef>
            </a:pPr>
            <a:r>
              <a:rPr sz="1350">
                <a:solidFill>
                  <a:srgbClr val="C02A2A"/>
                </a:solidFill>
              </a:rPr>
              <a:t>✗ 一道题超过3分钟仍然无法决定</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理解题目信息的核心意思，不只是找关键词</a:t>
            </a:r>
          </a:p>
          <a:p>
            <a:pPr>
              <a:spcBef>
                <a:spcPts val="700"/>
              </a:spcBef>
            </a:pPr>
            <a:r>
              <a:rPr sz="1350">
                <a:solidFill>
                  <a:srgbClr val="1B7A3D"/>
                </a:solidFill>
              </a:rPr>
              <a:t>✓ 阅读时建立段落地图，每段3-5词笔记</a:t>
            </a:r>
          </a:p>
          <a:p>
            <a:pPr>
              <a:spcBef>
                <a:spcPts val="700"/>
              </a:spcBef>
            </a:pPr>
            <a:r>
              <a:rPr sz="1350">
                <a:solidFill>
                  <a:srgbClr val="1B7A3D"/>
                </a:solidFill>
              </a:rPr>
              <a:t>✓ 标题匹配：找主题句，确认标题概括整段</a:t>
            </a:r>
          </a:p>
          <a:p>
            <a:pPr>
              <a:spcBef>
                <a:spcPts val="700"/>
              </a:spcBef>
            </a:pPr>
            <a:r>
              <a:rPr sz="1350">
                <a:solidFill>
                  <a:srgbClr val="1B7A3D"/>
                </a:solidFill>
              </a:rPr>
              <a:t>✓ 不确定的题目先猜一个，最后检查时再调整</a:t>
            </a:r>
          </a:p>
          <a:p>
            <a:pPr>
              <a:spcBef>
                <a:spcPts val="700"/>
              </a:spcBef>
            </a:pPr>
            <a:r>
              <a:rPr sz="1350">
                <a:solidFill>
                  <a:srgbClr val="1B7A3D"/>
                </a:solidFill>
              </a:rPr>
              <a:t>✓ 超过2分钟→做标记，继续下一题</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Matching题型8周专项训练计划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第1-2周：信息定位基础</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每天做5道信息定位题，重点练习建立段落地图——为每段做简短笔记</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第3-4周：同义替换专项</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分析每道信息定位题的paraphrase——记录题目词和文章词的对应关系</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第5-6周：标题匹配专项</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每天做一套标题匹配题，练习找主题句和排除干扰标题</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第7-8周：综合计时练习</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计时完成完整的Matching题组，目标：平均每题不超过90秒</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信息定位题标准做题流程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Step 1：建立段落地图（2-3分钟）</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快速阅读全文，为每段用3-5个关键词建立地图：记下每段讨论什么</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Step 2：读题目信息</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仔细读每条题目信息，理解核心意思——不只是提取关键词，要理解是在讲什么</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Step 3：匹配定位</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根据对段落的理解，预测在哪个段落——去该段精读验证</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Step 4：确认答案</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确认段落内容与题目信息一致（可同义替换）——写下答案，继续下一题</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当堂练习：Matching Information速训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阅读以下段落摘要，匹配3条题目信息（每题60秒）</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段落摘要</a:t>
            </a:r>
          </a:p>
          <a:p>
            <a:pPr>
              <a:spcBef>
                <a:spcPts val="100"/>
              </a:spcBef>
            </a:pPr>
            <a:r>
              <a:rPr sz="1400">
                <a:solidFill>
                  <a:srgbClr val="556075"/>
                </a:solidFill>
              </a:rPr>
              <a:t>   A段：介绍了咖啡的历史起源和传播路径
B段：分析咖啡对人体健康的利弊
C段：描述咖啡产业对发展中国家经济的重要性
D段：讨论咖啡种植对环境的影响
【答案】1."The economic significance of coffee farming for poorer nations" → C段
2."The environmental consequences of growing coffee" → D段
3."The historical origins of coffee" → A段
分析：题目1 economic=经济/poorer nations=发展中国家/题目2 environmental=环境/题目3 historical=历史</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当堂练习：标题匹配速训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为以下3个段落选择最合适的标题（备选：A.历史发展 B.科技创新 C.经济影响 D.环境挑战 E.政策应对）</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段落1摘要</a:t>
            </a:r>
          </a:p>
          <a:p>
            <a:pPr>
              <a:spcBef>
                <a:spcPts val="100"/>
              </a:spcBef>
            </a:pPr>
            <a:r>
              <a:rPr sz="1400">
                <a:solidFill>
                  <a:srgbClr val="556075"/>
                </a:solidFill>
              </a:rPr>
              <a:t>   This section examines how governments have introduced carbon taxes, fuel efficiency standards, and renewable energy subsidies to curb emissions.
【答案】E（政策应对）——关键词：governments/introduced taxes and standards/curb emissions</a:t>
            </a:r>
          </a:p>
          <a:p>
            <a:pPr>
              <a:spcBef>
                <a:spcPts val="1100"/>
              </a:spcBef>
            </a:pPr>
            <a:r>
              <a:rPr sz="1700" b="1">
                <a:solidFill>
                  <a:srgbClr val="1B5E33"/>
                </a:solidFill>
              </a:rPr>
              <a:t>▢ 段落2摘要</a:t>
            </a:r>
          </a:p>
          <a:p>
            <a:pPr>
              <a:spcBef>
                <a:spcPts val="100"/>
              </a:spcBef>
            </a:pPr>
            <a:r>
              <a:rPr sz="1400">
                <a:solidFill>
                  <a:srgbClr val="556075"/>
                </a:solidFill>
              </a:rPr>
              <a:t>   Researchers have developed new battery technologies capable of storing solar energy for up to 72 hours, potentially solving the intermittency problem.
【答案】B（科技创新）——关键词：researchers/developed new technologies/solving problems</a:t>
            </a:r>
          </a:p>
          <a:p>
            <a:pPr>
              <a:spcBef>
                <a:spcPts val="1100"/>
              </a:spcBef>
            </a:pPr>
            <a:r>
              <a:rPr sz="1700" b="1">
                <a:solidFill>
                  <a:srgbClr val="1B5E33"/>
                </a:solidFill>
              </a:rPr>
              <a:t>▢ 段落3摘要</a:t>
            </a:r>
          </a:p>
          <a:p>
            <a:pPr>
              <a:spcBef>
                <a:spcPts val="100"/>
              </a:spcBef>
            </a:pPr>
            <a:r>
              <a:rPr sz="1400">
                <a:solidFill>
                  <a:srgbClr val="556075"/>
                </a:solidFill>
              </a:rPr>
              <a:t>   The transition away from coal has devastated mining communities across Wales and Appalachia, where unemployment has reached 30%.
【答案】C（经济影响）——关键词：devastated communities/unemployment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Matching题5大做题技巧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技巧1：段落地图优先</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读文章时先建地图，做题时直接定位——不反复通读</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技巧2：理解题目意思</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不是找关键词，是理解这条信息在讲什么——什么事/什么关系</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技巧3：同义替换意识</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题目词不等于文章词——用意思匹配，不用词语匹配</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技巧4：排除法</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先匹配最确定的，剩下的用排除法——减少错误</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技巧5：不留空白</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不确定就猜——不留空，猜也有25%正确率</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标题匹配的干扰选项特征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干扰类型1：细节标题</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只对应段落中的一个细节，不概括整段——排除</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干扰类型2：范围过大</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标题范围比段落大（整个世界→该段只讲一个国家）——排除</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干扰类型3：范围过小</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标题范围比段落小（只讲了局部）——排除</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干扰类型4：有关联词</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标题关键词出现在段落中，但意思对应的是另一段——陷阱</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Matching题高频学术词汇：描述变化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significant</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重要的；显著的</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substantial</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大量的；实质性的</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considerable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相当大的；可观的</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dramatic</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戏剧性的；显著的</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marginal</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微小的；边缘的</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negligible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可忽略的；微不足道的</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gradual</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逐渐的</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rapid</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迅速的</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steady</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稳定的</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fluctuating</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波动的</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Matching题高频学术词汇：描述关系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associated with</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与...相关联</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linked to</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与...联系</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attributed to</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归因于</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resulted in</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导致；造成</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contributed to</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有助于；促成</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influenced by</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受...影响</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dependent on</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依赖于</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independent of</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独立于</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correlated with</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与...相关</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contrasted with</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与...对比</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Matching题段落地图建立示范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段落地图示范（5段文章）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A段：工业革命→机械化→英国经济</a:t>
            </a:r>
          </a:p>
          <a:p>
            <a:pPr>
              <a:spcBef>
                <a:spcPts val="700"/>
              </a:spcBef>
            </a:pPr>
            <a:r>
              <a:rPr sz="1450">
                <a:solidFill>
                  <a:srgbClr val="1E293B"/>
                </a:solidFill>
              </a:rPr>
              <a:t>• B段：工人运动→工资改革→政策</a:t>
            </a:r>
          </a:p>
          <a:p>
            <a:pPr>
              <a:spcBef>
                <a:spcPts val="700"/>
              </a:spcBef>
            </a:pPr>
            <a:r>
              <a:rPr sz="1450">
                <a:solidFill>
                  <a:srgbClr val="1E293B"/>
                </a:solidFill>
              </a:rPr>
              <a:t>• C段：技术创新→纺织业→出口增长</a:t>
            </a:r>
          </a:p>
          <a:p>
            <a:pPr>
              <a:spcBef>
                <a:spcPts val="700"/>
              </a:spcBef>
            </a:pPr>
            <a:r>
              <a:rPr sz="1450">
                <a:solidFill>
                  <a:srgbClr val="1E293B"/>
                </a:solidFill>
              </a:rPr>
              <a:t>• D段：城市化问题→卫生/住房/贫困</a:t>
            </a:r>
          </a:p>
          <a:p>
            <a:pPr>
              <a:spcBef>
                <a:spcPts val="700"/>
              </a:spcBef>
            </a:pPr>
            <a:r>
              <a:rPr sz="1450">
                <a:solidFill>
                  <a:srgbClr val="1E293B"/>
                </a:solidFill>
              </a:rPr>
              <a:t>• E段：全球影响→殖民地→贸易扩张</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如何用段落地图做题</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题目："Problems caused by urban growth"→D段</a:t>
            </a:r>
          </a:p>
          <a:p>
            <a:pPr>
              <a:spcBef>
                <a:spcPts val="700"/>
              </a:spcBef>
            </a:pPr>
            <a:r>
              <a:rPr sz="1450">
                <a:solidFill>
                  <a:srgbClr val="1E293B"/>
                </a:solidFill>
              </a:rPr>
              <a:t>• 题目："The spread of industry beyond Britain"→E段</a:t>
            </a:r>
          </a:p>
          <a:p>
            <a:pPr>
              <a:spcBef>
                <a:spcPts val="700"/>
              </a:spcBef>
            </a:pPr>
            <a:r>
              <a:rPr sz="1450">
                <a:solidFill>
                  <a:srgbClr val="1E293B"/>
                </a:solidFill>
              </a:rPr>
              <a:t>• 题目："Changes in pay for factory workers"→B段</a:t>
            </a:r>
          </a:p>
          <a:p>
            <a:pPr>
              <a:spcBef>
                <a:spcPts val="700"/>
              </a:spcBef>
            </a:pPr>
            <a:r>
              <a:rPr sz="1450">
                <a:solidFill>
                  <a:srgbClr val="1E293B"/>
                </a:solidFill>
              </a:rPr>
              <a:t>• 题目："New technologies in cloth production"→C段</a:t>
            </a:r>
          </a:p>
          <a:p>
            <a:pPr>
              <a:spcBef>
                <a:spcPts val="700"/>
              </a:spcBef>
            </a:pPr>
            <a:r>
              <a:rPr sz="1450">
                <a:solidFill>
                  <a:srgbClr val="1E293B"/>
                </a:solidFill>
              </a:rPr>
              <a:t>• 有了地图：每道题只需精读1个段落</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信息定位 vs 段落标题：做题时间分配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信息定位题（14分钟参考）</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建立段落地图：2-3分钟</a:t>
            </a:r>
          </a:p>
          <a:p>
            <a:pPr>
              <a:spcBef>
                <a:spcPts val="700"/>
              </a:spcBef>
            </a:pPr>
            <a:r>
              <a:rPr sz="1450">
                <a:solidFill>
                  <a:srgbClr val="1E293B"/>
                </a:solidFill>
              </a:rPr>
              <a:t>• 读所有题目信息：2分钟</a:t>
            </a:r>
          </a:p>
          <a:p>
            <a:pPr>
              <a:spcBef>
                <a:spcPts val="700"/>
              </a:spcBef>
            </a:pPr>
            <a:r>
              <a:rPr sz="1450">
                <a:solidFill>
                  <a:srgbClr val="1E293B"/>
                </a:solidFill>
              </a:rPr>
              <a:t>• 逐题匹配+精读确认：8分钟</a:t>
            </a:r>
          </a:p>
          <a:p>
            <a:pPr>
              <a:spcBef>
                <a:spcPts val="700"/>
              </a:spcBef>
            </a:pPr>
            <a:r>
              <a:rPr sz="1450">
                <a:solidFill>
                  <a:srgbClr val="1E293B"/>
                </a:solidFill>
              </a:rPr>
              <a:t>• 检查未做题目：2分钟</a:t>
            </a:r>
          </a:p>
          <a:p>
            <a:pPr>
              <a:spcBef>
                <a:spcPts val="700"/>
              </a:spcBef>
            </a:pPr>
            <a:r>
              <a:rPr sz="1450">
                <a:solidFill>
                  <a:srgbClr val="1E293B"/>
                </a:solidFill>
              </a:rPr>
              <a:t>• 总计：约14分钟（7-8道题）</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标题匹配题（10分钟参考）</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读所有备选标题：1分钟</a:t>
            </a:r>
          </a:p>
          <a:p>
            <a:pPr>
              <a:spcBef>
                <a:spcPts val="700"/>
              </a:spcBef>
            </a:pPr>
            <a:r>
              <a:rPr sz="1450">
                <a:solidFill>
                  <a:srgbClr val="1E293B"/>
                </a:solidFill>
              </a:rPr>
              <a:t>• 阅读各段找主题句：5分钟</a:t>
            </a:r>
          </a:p>
          <a:p>
            <a:pPr>
              <a:spcBef>
                <a:spcPts val="700"/>
              </a:spcBef>
            </a:pPr>
            <a:r>
              <a:rPr sz="1450">
                <a:solidFill>
                  <a:srgbClr val="1E293B"/>
                </a:solidFill>
              </a:rPr>
              <a:t>• 逐段匹配标题：3分钟</a:t>
            </a:r>
          </a:p>
          <a:p>
            <a:pPr>
              <a:spcBef>
                <a:spcPts val="700"/>
              </a:spcBef>
            </a:pPr>
            <a:r>
              <a:rPr sz="1450">
                <a:solidFill>
                  <a:srgbClr val="1E293B"/>
                </a:solidFill>
              </a:rPr>
              <a:t>• 用排除法解决难题：1分钟</a:t>
            </a:r>
          </a:p>
          <a:p>
            <a:pPr>
              <a:spcBef>
                <a:spcPts val="700"/>
              </a:spcBef>
            </a:pPr>
            <a:r>
              <a:rPr sz="1450">
                <a:solidFill>
                  <a:srgbClr val="1E293B"/>
                </a:solidFill>
              </a:rPr>
              <a:t>• 总计：约10分钟（5-6道题）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L03学完自测：Matching掌握度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能为一篇700词文章建立段落地图（&lt;3分钟）</a:t>
            </a:r>
          </a:p>
          <a:p>
            <a:pPr>
              <a:spcBef>
                <a:spcPts val="1200"/>
              </a:spcBef>
            </a:pPr>
            <a:r>
              <a:rPr sz="1600">
                <a:solidFill>
                  <a:srgbClr val="1E293B"/>
                </a:solidFill>
              </a:rPr>
              <a:t>☐ 信息定位题：识别同义替换，不只靠关键词</a:t>
            </a:r>
          </a:p>
          <a:p>
            <a:pPr>
              <a:spcBef>
                <a:spcPts val="1200"/>
              </a:spcBef>
            </a:pPr>
            <a:r>
              <a:rPr sz="1600">
                <a:solidFill>
                  <a:srgbClr val="1E293B"/>
                </a:solidFill>
              </a:rPr>
              <a:t>☐ 标题匹配：能区分主旨标题和细节标题</a:t>
            </a:r>
          </a:p>
          <a:p>
            <a:pPr>
              <a:spcBef>
                <a:spcPts val="1200"/>
              </a:spcBef>
            </a:pPr>
            <a:r>
              <a:rPr sz="1600">
                <a:solidFill>
                  <a:srgbClr val="1E293B"/>
                </a:solidFill>
              </a:rPr>
              <a:t>☐ 做题速度：信息定位平均&lt;90秒/题</a:t>
            </a:r>
          </a:p>
          <a:p>
            <a:pPr>
              <a:spcBef>
                <a:spcPts val="1200"/>
              </a:spcBef>
            </a:pPr>
            <a:r>
              <a:rPr sz="1600">
                <a:solidFill>
                  <a:srgbClr val="1E293B"/>
                </a:solidFill>
              </a:rPr>
              <a:t>☐ 连续5道Matching题的准确率&gt;80%</a:t>
            </a:r>
          </a:p>
          <a:p>
            <a:pPr>
              <a:spcBef>
                <a:spcPts val="1200"/>
              </a:spcBef>
            </a:pPr>
            <a:r>
              <a:rPr sz="1600">
                <a:solidFill>
                  <a:srgbClr val="1E293B"/>
                </a:solidFill>
              </a:rPr>
              <a:t>☐ 建立了段落地图+按题目顺序匹配的做题习惯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Matching题考场最后确认清单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检查1：所有题目都填了答案吗？</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IELTS不扣分——宁可猜也不留空</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检查2：答案字母/段落号写对了吗？</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注意大小写和段落编号格式</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检查3：标题匹配有没有重复用同一标题？</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除非题目说明，每个标题只用一次</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检查4：对难题用排除法验证了吗？</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排除明显错误的，从剩下的中选最优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L03核心词汇：段落结构标志词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举例标志</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for example / for instance / such as / including / namely</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对比标志</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however / on the other hand / by contrast / whereas / while</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因果标志</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because / therefore / as a result / consequently / thus</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总结标志</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in summary / in conclusion / overall / in short / to sum up</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递进标志</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furthermore / moreover / in addition / additionally / also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综合练习：信息定位+标题匹配混合题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以下是一篇关于城市化的文章段落摘要，完成两种题型</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信息定位题</a:t>
            </a:r>
          </a:p>
          <a:p>
            <a:pPr>
              <a:spcBef>
                <a:spcPts val="100"/>
              </a:spcBef>
            </a:pPr>
            <a:r>
              <a:rPr sz="1400">
                <a:solidFill>
                  <a:srgbClr val="556075"/>
                </a:solidFill>
              </a:rPr>
              <a:t>   A段：城市化率历史数据 / B段：城市贫民窟问题 / C段：智慧城市技术 / D段：绿色城市规划
题目：1."Use of technology to improve city management" / 2."Historical statistics on urban growth" / 3."Environmental approaches to city design"
【答案】1→C段(technology=科技) / 2→A段(historical statistics=历史数据) / 3→D段(environmental=绿色)</a:t>
            </a:r>
          </a:p>
          <a:p>
            <a:pPr>
              <a:spcBef>
                <a:spcPts val="1100"/>
              </a:spcBef>
            </a:pPr>
            <a:r>
              <a:rPr sz="1700" b="1">
                <a:solidFill>
                  <a:srgbClr val="1B5E33"/>
                </a:solidFill>
              </a:rPr>
              <a:t>▢ 标题匹配题</a:t>
            </a:r>
          </a:p>
          <a:p>
            <a:pPr>
              <a:spcBef>
                <a:spcPts val="100"/>
              </a:spcBef>
            </a:pPr>
            <a:r>
              <a:rPr sz="1400">
                <a:solidFill>
                  <a:srgbClr val="556075"/>
                </a:solidFill>
              </a:rPr>
              <a:t>   B段：Cities in developing countries often lack basic sanitation. Millions live without clean water or sewage, leading to public health crises.
备选：X.城市基础设施投资 Y.贫困人口的生活条件 Z.发展中国家的卫生问题
【答案】Y（贫困人口的生活条件）——整段描述无卫生设施/缺水的生活条件，Y最准确概括整段主旨</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Matching题高频学术词汇：比较与评估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superior to</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优于；胜过</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inferior to</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逊于；不如</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comparable to</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与...相当；可比较</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contrast with</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与...对比</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similar to</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与...相似</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different from</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与...不同</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in comparison with</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与...比较</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relative to</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相对于</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equivalent to</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等同于</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proportional to</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与...成比例</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Matching题备考策略总结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每日练习</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每天做5道信息定位题+3道标题匹配题，精分析每道题的同义替换</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建立词库</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建立个人paraphrase词典：积累题目词和文章词的对应关系，目标200对</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段落地图</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每次做阅读都练习建地图——读完一段用3-5词概括，不积累就不快</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计时训练</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每道信息定位题限时90秒，每道标题匹配题限时60秒——速度是关键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