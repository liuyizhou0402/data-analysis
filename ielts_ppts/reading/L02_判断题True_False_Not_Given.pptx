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1463040"/>
            <a:ext cx="34134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0" b="1" i="0">
                <a:solidFill>
                  <a:srgbClr val="E09A10"/>
                </a:solidFill>
                <a:latin typeface="Calibri"/>
              </a:rPr>
              <a:t>L02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3566160"/>
            <a:ext cx="34134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7680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9A10"/>
                </a:solidFill>
                <a:latin typeface="Calibri"/>
              </a:rPr>
              <a:t>IELTS Reading 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680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判断题全攻略
True/False/Not 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749807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CFDCF2"/>
                </a:solidFill>
                <a:latin typeface="Calibri"/>
              </a:rPr>
              <a:t>T/F/NG &amp; Y/N/NG Mastery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669280"/>
            <a:ext cx="3840480" cy="54864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742432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第 2 节课 · 课时 90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本课流程  Lesson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66928" cy="566928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T/F/NG vs Y/N/NG的本质区别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7128"/>
            <a:ext cx="566928" cy="566928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True的判断标准与陷阱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566928" cy="566928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False的判断标准与陷阱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25880"/>
            <a:ext cx="566928" cy="566928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34416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Not Given的识别方法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67128"/>
            <a:ext cx="566928" cy="566928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212848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185416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判断题词汇速查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008376"/>
            <a:ext cx="566928" cy="566928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54096"/>
            <a:ext cx="5669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26664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1E293B"/>
                </a:solidFill>
                <a:latin typeface="Calibri"/>
              </a:rPr>
              <a:t>综合练习与错误分析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09A10"/>
                </a:solidFill>
                <a:latin typeface="Calibri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T/F/NG vs Y/N/NG：本质区别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True/False/NG vs Yes/No/NG: Core Difference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T/F/NG——文章事实判断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True/False/Not Given: Factual Statements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判断对象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文章中的客观信息/事实——不是作者的主观意见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True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题目表述与文章信息一致（可有同义替换）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False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题目表述与文章信息相矛盾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Not Given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文章中没有相关信息，或信息不足以判断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考查重点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精确阅读——题目与文章的细微差别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Y/N/NG——作者观点判断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Yes/No/Not Given: Author's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判断对象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作者表达的观点/论点/主张——主观立场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Yes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题目表述的观点与作者立场一致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No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题目表述的观点与作者立场相反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Not Given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文章没有表达相关观点，或作者立场不明确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识别方法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通常由argue/believe/think/claim等主观动词引入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T/F/NG最难点：Not Given的识别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NG ≠ 错误：NG的意思是"文章没说"——不代表现实世界中是错的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NG的核心逻辑：只看文章——能在文章中找到相关信息吗？找不到→NG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深圳学生最大误区：用常识判断——"我知道这是真的/假的"不重要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判断流程：1.在文章找相关词 → 2.找到了→True/False → 找不到→NG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True/False的精确区分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True：题目意思 = 文章意思（同义替换OK）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False：题目意思 ≠ 文章意思（矛盾/相反/部分错误）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False陷阱：只有一个词不同就可能是False——注意only/all/most/some的区别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例：文章说"most students"——题目说"all students"→ FALSE（过度概括）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T/F/NG判断流程示范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原文：The research was conducted over a period of three years in five European countries.
判断题目：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题目1：The research lasted for three years.
→ 在文章找：conducted over a period of three years ✓
→ "lasted for three years" = "over a period of three years" （同义替换）
→ 答案：TRUE
题目2：The research was carried out in six European countries.
→ 文章说：five European countries / 题目说：six
→ 数字矛盾：5 vs 6
→ 答案：FALSE
题目3：The research received government funding.
→ 文章完全没提到funding/政府资助
→ 找不到相关信息
→ 答案：NOT GIVEN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判断逻辑：先找关键词定位，再比较细节差异——只看文章，不用常识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09A10"/>
                </a:solidFill>
                <a:latin typeface="Calibr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True的陷阱与识别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Identifying True Statements: Traps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True的同义替换模式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Common Paraphrase Patterns for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数字/时间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approximately = about = around / by 2020 = before 2021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程度词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significantly = considerably = substantially / rapidly = quickly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动词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demonstrate = show = reveal / increase = rise = grow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名词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method = approach = technique / challenge = difficulty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反义换说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not decrease = increase / never failed = always succeeded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深圳学生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最容易在paraphrase中漏掉细节——要一一核对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True的验证步骤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Verification Process for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步骤1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找到文章中相关段落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步骤2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读完包含答案的完整句子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步骤3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对比：题目用词 vs 文章用词——是否同义替换？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步骤4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确认所有细节一致——特别是数字/范围/程度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步骤5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确认没有被题目"加料"——题目有没有说文章没说的内容？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True陷阱类型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陷阱1：过度概括——文章说"some"，题目说"all"→ FALSE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陷阱2：范围扩大——文章说"in Asia"，题目说"worldwide"→ FALSE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陷阱3：因果关系——文章只说A和B都存在，题目说A导致B→ NG/FALSE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陷阱4：时间错误——文章说"was"（过去），题目说"is"（现在）→取决于意思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True确认清单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清单1：题目中的每个重要词都在文章中有对应（同义或原词）？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清单2：题目有没有比文章说得"更多"或"更绝对"？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清单3：数字/时间/范围等细节完全一致？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清单4：题目的逻辑关系（因果/对比）与文章一致？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True判断综合练习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原文：Scientists at the University of Cambridge conducted a study showing that urban green spaces can reduce stress levels by up to 30% in city residents.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判断：
1. "Cambridge researchers found that parks lower stress." → TRUE（同义替换：scientists=researchers / study showing=found / green spaces=parks / reduce=lower）
2. "Green spaces eliminate stress completely in urban areas." → FALSE（reduce by up to 30% ≠ eliminate completely）
3. "City parks were built specifically to reduce stress." → NOT GIVEN（文章没说parks是为了减压而建的）
分析要点：True必须完全对应，False有矛盾，NG文章根本没提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练习方法：做判断题时，先找到相关句，再逐字对比——不要"感觉"是True就写True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09A10"/>
                </a:solidFill>
                <a:latin typeface="Calibri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False与Not Given的精确区分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False vs Not Given: The Critical Distinction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False的明确标志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Clear Indicators of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直接矛盾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文章说A，题目说非A——数字/方向/主体/时间/程度相反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范围不同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文章说some/most，题目说all/every——或相反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关系不同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文章说correlates with，题目说causes——因果 vs 相关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主客体错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文章说A影响B，题目说B影响A——主体颠倒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深圳学生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False最容易做对——关键词矛盾很明显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Not Given的识别逻辑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NG Identification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定义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在文章中找不到足够信息来判断题目的真假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类型1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题目提到的实体/人物/概念完全没在文章中出现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类型2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文章只提到了相关话题的一部分，题目的具体方面没被提到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类型3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文章说了A和B，但没说A和B的关系——题目问关系则是NG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关键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NG不代表题目内容是错的——只代表文章没说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False vs NG 关键区别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False：文章"说了"但说法与题目"相矛盾"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NG：文章"根本没说"或"说得不够"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判断流程：先找——如果找到了相关信息→比较→True/False；如果找不到→NG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深圳学生：最大错误是把NG答成False——因为"感觉"题目说的是错的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NG高频陷阱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陷阱1：文章提到相关话题，但题目的具体方面没提→NG（不是False）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陷阱2：题目说X比Y好——文章只分别讲了X和Y，没比较→NG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陷阱3：题目说X的原因是Y——文章提到了X和Y，但没说因果关系→NG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陷阱4：题目问将来会怎样——文章只说了现状，没说将来→NG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False vs NG 实战练习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原文：The company was established in 1998 and currently employs over 5,000 staff. Its main products include electronic devices and software solutions.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判断：
1. "The company was founded in the late 1990s." → TRUE（1998年=late 1990s）
2. "The company employs fewer than 3,000 people." → FALSE（文章说over 5,000，题目说fewer than 3,000——直接矛盾）
3. "The company has offices in more than 10 countries." → NOT GIVEN（文章根本没提到offices的分布/国家数量）
4. "The company's primary revenue comes from software." → NOT GIVEN（文章只说main products，没说revenue来源）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NG关键：文章说了products，但没说revenue来源——不能从products推断revenue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09A10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判断题实战策略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T/F/NG: Practical Strategy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判断题做题流程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Complete Step-by-Step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步骤1：读题目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提取关键词——注意限定词（all/some/only/never/most）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步骤2：定位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在文章中扫描关键词或其同义词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步骤3：精读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读完包含关键词的完整句子，有时要读前后各一句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步骤4：比较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 vs 文章——完全一致？矛盾？找不到？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步骤5：确认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再次检查限定词——题目有没有比文章更绝对？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限定词专项训练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Quantifier Focus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绝对词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all/every/always/never/completely/entirely——文章用"some"就是False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部分词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some/many/often/usually/most——相对灵活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比较词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more/less/better/worse/higher/lower——注意比较对象是否一致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时间词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currently/now/recently/in the past/traditionally——时态很重要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深圳学生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经常忽略限定词——"some people"和"people"完全不同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速度提升策略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T/F/NG题通常按顺序排列——第一题答案在文章开头附近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每道判断题最多花2分钟——超时就先猜NG，继续做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不确定时的策略：NG比False更安全——因为False需要有明确矛盾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建立"文章地图"：略读时标注每段主题——快速定位段落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高频错误类型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错误1：Not Given答成False——因为"觉得"题目说错了，但文章根本没提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错误2：True答成NG——找到了相关内容但没认出同义替换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错误3：False答成True——没注意到限定词的差异（all vs most）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错误4：超时——在一道NG题上花了3分钟以上还没找到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判断题综合示范：学术文章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原文（节选）：Dr. Johnson's 2019 study examined 500 participants over six months. Unlike previous research which focused on children, this study concentrated on adults aged 18-35. The findings revealed a strong correlation between sleep duration and cognitive performance, though the researchers acknowledged that other factors may also be involved.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题目1：The study involved 500 adult volunteers. → TRUE（participants=volunteers / adults aged 18-35确认）
题目2：Dr. Johnson's research was the first to examine adults. → FALSE（Unlike previous research which focused on children——过去有研究，但是研究儿童的，这是第一个研究成人的→其实是TRUE！注意"first to examine adults"在文章中有支持）
重新判断：TRUE（unlike previous research focused on children→this study concentrated on adults→是第一个研究成人的）
题目3：The study proved that sleep is the only factor affecting cognitive performance. → FALSE（acknowledged that other factors may also be involved——矛盾）
题目4：Dr. Johnson has published other studies on cognitive performance. → NOT GIVEN（文章没提其他研究）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分析技巧：仔细读每个限定词——"only"和"first"是判断关键词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09A10"/>
                </a:solidFill>
                <a:latin typeface="Calibri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判断题关键词汇表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T/F/NG Key Vocabulary Reference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True的同义替换模式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demonstrate/show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说明/显示（demonstrate = show）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approximately/about/around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大约（数字前的程度词）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conduct/carry out/perform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进行/执行（研究类动词）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significant/considerable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显著的/相当大的（程度词）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establish/found/set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建立/创立（机构/研究）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conclude/find/determine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得出结论/发现（研究结果动词）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method/approach/technique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方法/途径（研究方法词）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False的信号词汇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all/every/entirely/completely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绝对量——文章用some/most即为False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never/always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绝对频率——文章用often/usually即为False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only/solely/exclusively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唯一性——文章有其他情况即为False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increase/decrease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方向词——方向相反即为False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cause/lead 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因果关系——文章只说correlation即为False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before/after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时间顺序——顺序相反即为False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more/less/higher/lower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比较词——比较关系相反即为False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Not Given信号词汇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funding/budget/cost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资金相关——除非文章明确提到，否则常为NG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popularity/success/reception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接受度/成功——除非文章评价，否则常为NG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comparison between X and 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比较——除非文章有明确比较，否则常为NG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reason/cause/purpose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原因/目的——除非文章说明，否则常为NG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future/will happen/plan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将来——除非文章预测，否则常为NG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8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0" y="4636008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3600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opinion/attitude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63600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观点/态度——T/F/NG中，作者观点通常为NG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02936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5202936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0293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other countries/places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520293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其他地方——除非文章提及，否则常为NG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判断题快速决策框架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020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0208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找到相关词？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没找到→NG / 找到了→继续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020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0208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内容一致？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完全一致（可同义替换）→TRUE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65120"/>
            <a:ext cx="5486400" cy="14020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65120"/>
            <a:ext cx="109728" cy="140208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有矛盾？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有明确矛盾（数字/方向/范围）→FALSE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865120"/>
            <a:ext cx="5486400" cy="14020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865120"/>
            <a:ext cx="109728" cy="140208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2956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找到但说法不完整？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36804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文章提到了但不够判断→NG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95800"/>
            <a:ext cx="5486400" cy="14020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95800"/>
            <a:ext cx="109728" cy="140208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587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不确定时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998720"/>
            <a:ext cx="50292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写NG比写FALSE更安全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L02课后自检清单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T/F/NG专项练习：找IELTS真题的判断题，专项做5组题，分析错误类型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限定词训练：在你的错题中，标记所有限定词（all/some/only），这是False的关键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NG识别练习：找3道NG题，分析为什么是NG——文章说了什么但没说什么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L02 课堂小结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09A10"/>
                </a:solidFill>
                <a:latin typeface="Calibri"/>
              </a:rPr>
              <a:t>📌 本课核心要点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>
                <a:solidFill>
                  <a:srgbClr val="FFFFFF"/>
                </a:solidFill>
              </a:rPr>
              <a:t>✓  T/F/NG判断文章事实，Y/N/NG判断作者观点——两类题完全不同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True：完全一致，同义替换OK，细节（数字/限定词）必须匹配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False：有明确矛盾——数字/范围/方向/因果关系相反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Not Given：文章没提到，或提到了但信息不足以判断</a:t>
            </a:r>
          </a:p>
          <a:p>
            <a:pPr>
              <a:spcBef>
                <a:spcPts val="1100"/>
              </a:spcBef>
            </a:pPr>
            <a:r>
              <a:rPr sz="1550">
                <a:solidFill>
                  <a:srgbClr val="FFFFFF"/>
                </a:solidFill>
              </a:rPr>
              <a:t>✓  最大陷阱：把NG答成False——因为"感觉错"但文章根本没说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练习巩固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L02 课后作业  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09A10"/>
                </a:solidFill>
                <a:latin typeface="Calibri"/>
              </a:rPr>
              <a:t>⏱ 建议用时：约75分钟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E293B"/>
                </a:solidFill>
              </a:rPr>
              <a:t>作业 1　T/F/NG真题练习：做Cambridge IELTS中的3组判断题，分析错误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2　限定词笔记：列出10个限定词（all/some/only等），各造2个True/False对比例句</a:t>
            </a:r>
          </a:p>
          <a:p>
            <a:pPr>
              <a:spcBef>
                <a:spcPts val="1300"/>
              </a:spcBef>
            </a:pPr>
            <a:r>
              <a:rPr sz="1550" b="1">
                <a:solidFill>
                  <a:srgbClr val="1E293B"/>
                </a:solidFill>
              </a:rPr>
              <a:t>作业 3　NG自测：选5道NG题，说出为什么这道题不能判断True或False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09A10"/>
                </a:solidFill>
                <a:latin typeface="Calibri"/>
              </a:rPr>
              <a:t>下节预告 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L03 · 信息定位题：Matching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FDCF2"/>
                </a:solidFill>
              </a:rPr>
              <a:t>→ Matching段落的策略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关键词扫描技术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CFDCF2"/>
                </a:solidFill>
              </a:rPr>
              <a:t>→ 深圳学生常见错误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E09A10"/>
                </a:solidFill>
                <a:latin typeface="Calibri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T/F/NG综合强化训练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B9C8E0"/>
                </a:solidFill>
                <a:latin typeface="Calibri"/>
              </a:rPr>
              <a:t>T/F/NG Intensive Practice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T/F/NG错误归因分析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Common Error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误把NG答成False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文章有相关词但无明确矛盾——应选NG而非False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误把False答成NG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文章明确说相反——有证据才选False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限定词忽略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all vs some/only等限定词改变整个句子意思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因果关系混淆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题目说A导致B，文章说B导致A——方向相反为False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猜词错误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生词猜测错误导致误判——先猜词再判断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核心讲解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NG的5种常见模式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11064240" cy="86868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25296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1">
                <a:solidFill>
                  <a:srgbClr val="1B5E33"/>
                </a:solidFill>
                <a:latin typeface="Calibri"/>
              </a:rPr>
              <a:t>5 Patterns of NOT GIVEN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5E33"/>
                </a:solidFill>
              </a:rPr>
              <a:t>• 模式1：话题未提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文章完全没有讨论题目涉及的话题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模式2：只提一方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题目做比较，文章只描述了其中一方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模式3：信息不足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文章提到相关信息但不足以支持T or F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模式4：未来/预测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题目涉及预测，文章只描述现状或过去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B5E33"/>
                </a:solidFill>
              </a:rPr>
              <a:t>• 模式5：原因未提</a:t>
            </a:r>
          </a:p>
          <a:p>
            <a:pPr>
              <a:spcBef>
                <a:spcPts val="100"/>
              </a:spcBef>
            </a:pPr>
            <a:r>
              <a:rPr sz="1500">
                <a:solidFill>
                  <a:srgbClr val="556075"/>
                </a:solidFill>
              </a:rPr>
              <a:t>   文章描述了事件但没有解释原因或结果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T/F/NG判题黄金标准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True标准：题目信息与文章完全一致（可同义替换），细节匹配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False标准：有明确直接的矛盾——不是感觉不对，是文章说了相反的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NG标准：文章没有提到，或提到了但信息不足以判断T or F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实操原则：宁选NG不选False——False必须有明确证据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实战判题四步骤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1E293B"/>
                </a:solidFill>
              </a:rPr>
              <a:t>• 步骤1：读题提取核心信息和关键词（注意限定词all/some/only等）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步骤2：Scanning定位文章相关段落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步骤3：精读相关1-2句，与题目信息逐字对比</a:t>
            </a:r>
          </a:p>
          <a:p>
            <a:pPr>
              <a:spcBef>
                <a:spcPts val="1000"/>
              </a:spcBef>
            </a:pPr>
            <a:r>
              <a:rPr sz="1650">
                <a:solidFill>
                  <a:srgbClr val="1E293B"/>
                </a:solidFill>
              </a:rPr>
              <a:t>• 步骤4：完全一致→True / 有矛盾→False / 找不到或不确定→NG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例题精讲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真题示范：T/F/NG完整判题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07008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【题目 / Question】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原文：The factory was established in 1987 and initially employed 200 workers. By 1995, staff numbers had risen to over 800, making it the region's largest employer.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【参考答案 / Answer】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7A3D"/>
                </a:solidFill>
              </a:rPr>
              <a:t>题目1："The factory had fewer than 300 employees when first opened." → TRUE（initially=when first opened / 200&lt;300 ✓）
题目2："The factory became the country's biggest employer." → FALSE（region不等于country，范围矛盾）
题目3："The factory exported goods to other countries." → NOT GIVEN（文章完全未提出口）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69279"/>
            <a:ext cx="11064240" cy="36576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87567"/>
            <a:ext cx="5486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💡 技巧点拨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126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556075"/>
                </a:solidFill>
              </a:rPr>
              <a:t>核心技巧：题目1同义替换；题目2范围词矛盾；题目3信息缺失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T/F/NG高分示范：限定词陷阱识别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题目：原文：Some researchers argue that moderate coffee consumption may reduce the risk of type 2 diabetes, although the evidence remains inconclusive.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题目："All scientists believe coffee prevents diabetes."
限定词对比：
All scientists（全部）→ Some researchers（部分）⚠
believe（确信）→ argue + may（可能）⚠
prevents（预防）→ may reduce the risk of（可能降低风险）⚠
答案：FALSE——三个限定词均有明确矛盾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09A10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技巧：题目中的绝对词（all/never/always）往往是False的信号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对比：all scientists（全部）不等于 some researchers（部分）→ 明确矛盾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练习：专门找含绝对限定词的T/F/NG题做专项训练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高分范例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T/F/NG高分示范：复杂NG判断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0D2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10789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题目：原文：The ancient Romans used a variety of methods to preserve food, including salting, smoking, and storing in olive oil.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7040880" cy="41605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6294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293B"/>
                </a:solidFill>
              </a:rPr>
              <a:t>题目："Roman food preservation techniques were superior to modern methods."
判题分析：
文章内容：描述了罗马人的食物保存方法（腌制/熏制/橄榄油浸泡）
题目要求：比较罗马方法 vs 现代方法
文章有没有比较古代vs现代？→ 完全没有！
答案：NOT GIVEN——文章没有作任何比较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830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09A10"/>
                </a:solidFill>
                <a:latin typeface="Calibri"/>
              </a:rPr>
              <a:t>✍ 得分点批注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9319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293B"/>
                </a:solidFill>
              </a:rPr>
              <a:t>▸ NG识别：文章提到了A（罗马方法），但根本没提B（现代方法）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常见NG模式：文章只说一方，题目要求两方比较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E293B"/>
                </a:solidFill>
              </a:rPr>
              <a:t>▸ 注意：False是文章说了相反的，NG是文章根本没说这件事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 vs Y/N/NG：两类判断题区别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T/F/NG（判断文章事实）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Y/N/NG（判断作者观点）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考查对象：文章中的客观事实、数据、信息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True：事实与题目一致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False：事实与题目有明确矛盾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NG：信息不足，无法判断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来源：针对数据/时间/地点/人物的具体信息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考查对象：作者的观点、论点、立场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Yes：题目符合作者观点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No：题目与作者观点相悖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NG：作者未表达相关观点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来源：针对作者态度词/论点句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对比示范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T/F/NG答题错误模式对比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错误判断方式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88720"/>
            <a:ext cx="5486400" cy="45720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16152"/>
            <a:ext cx="521208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正确判断方式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486400" cy="4480560"/>
          </a:xfrm>
          <a:prstGeom prst="round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86400" cy="4480560"/>
          </a:xfrm>
          <a:prstGeom prst="roundRect">
            <a:avLst/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C02A2A"/>
                </a:solidFill>
              </a:rPr>
              <a:t>✗ "感觉不对"就选False——没有文章依据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文章有相关词就认为能判断T/F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忽略限定词差异（all vs some）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凭常识/背景知识判断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C02A2A"/>
                </a:solidFill>
              </a:rPr>
              <a:t>✗ 一道题超过3分钟仍纠结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B7A3D"/>
                </a:solidFill>
              </a:rPr>
              <a:t>✓ False必须有文章中明确直接的矛盾证据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相关词出现不等于能判断——看内容是否一致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逐字对比限定词：all vs some是明确矛盾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只看文章原文，常识无效</a:t>
            </a:r>
          </a:p>
          <a:p>
            <a:pPr>
              <a:spcBef>
                <a:spcPts val="700"/>
              </a:spcBef>
            </a:pPr>
            <a:r>
              <a:rPr sz="1350">
                <a:solidFill>
                  <a:srgbClr val="1B7A3D"/>
                </a:solidFill>
              </a:rPr>
              <a:t>✓ 超过90秒不确定→选NG，继续下一题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T/F/NG专项训练8周计划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第1-2周：基础识别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每天做10道T/F/NG题，找出判断依据——文章在哪里、说了什么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第3-4周：限定词专项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专门收集含限定词的题目（all/some/only等），分析对判断的影响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041648"/>
            <a:ext cx="45720" cy="393191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第5-6周：NG专项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每天分析5道NG题，练习识别"信息不足"的特征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9703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34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第7-8周：综合模拟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00600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每周2套完整T/F/NG题组，严格控制每题90秒上限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方法步骤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T/F/NG做题标准流程（90秒/题）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1938528"/>
            <a:ext cx="45720" cy="393191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2801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前15秒：读题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64591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快速读题，画出限定词和关键词，理解题目的核心主张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8658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990087"/>
            <a:ext cx="45720" cy="393191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3317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15-45秒：定位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9747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Scanning文章，找含题目关键词（或同义词）的段落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79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4041648"/>
            <a:ext cx="45720" cy="393191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383279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45-75秒：精读对比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49039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精读定位到的1-3句，与题目逐点比较，检查限定词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640080" cy="640080"/>
          </a:xfrm>
          <a:prstGeom prst="round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9703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34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5E33"/>
                </a:solidFill>
                <a:latin typeface="Calibri"/>
              </a:rPr>
              <a:t>75-90秒：判断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00600"/>
            <a:ext cx="10058400" cy="685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6075"/>
                </a:solidFill>
                <a:latin typeface="Calibri"/>
              </a:rPr>
              <a:t>完全一致→True / 明确矛盾→False / 找不到或不确定→NG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当堂练习：T/F/NG判断速训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快速判断以下3道题——每题给60秒，写出T/F/NG及依据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5E33"/>
                </a:solidFill>
              </a:rPr>
              <a:t>▢ 题目1</a:t>
            </a:r>
          </a:p>
          <a:p>
            <a:pPr>
              <a:spcBef>
                <a:spcPts val="100"/>
              </a:spcBef>
            </a:pPr>
            <a:r>
              <a:rPr sz="1400">
                <a:solidFill>
                  <a:srgbClr val="556075"/>
                </a:solidFill>
              </a:rPr>
              <a:t>   原文：The museum was founded in 1892 and contains over 50,000 artefacts.
题目："The museum was established in the late 19th century and has more than 50,000 exhibits."
【答案】TRUE：founded=established / 1892=late 19th century / artefacts=exhibits</a:t>
            </a:r>
          </a:p>
          <a:p>
            <a:pPr>
              <a:spcBef>
                <a:spcPts val="1100"/>
              </a:spcBef>
            </a:pPr>
            <a:r>
              <a:rPr sz="1700" b="1">
                <a:solidFill>
                  <a:srgbClr val="1B5E33"/>
                </a:solidFill>
              </a:rPr>
              <a:t>▢ 题目2</a:t>
            </a:r>
          </a:p>
          <a:p>
            <a:pPr>
              <a:spcBef>
                <a:spcPts val="100"/>
              </a:spcBef>
            </a:pPr>
            <a:r>
              <a:rPr sz="1400">
                <a:solidFill>
                  <a:srgbClr val="556075"/>
                </a:solidFill>
              </a:rPr>
              <a:t>   原文：Only certain species of sharks are known to attack humans without provocation.
题目："All sharks are dangerous to humans."
【答案】FALSE：Only certain species 不等于 All sharks → 明确限定词矛盾</a:t>
            </a:r>
          </a:p>
          <a:p>
            <a:pPr>
              <a:spcBef>
                <a:spcPts val="1100"/>
              </a:spcBef>
            </a:pPr>
            <a:r>
              <a:rPr sz="1700" b="1">
                <a:solidFill>
                  <a:srgbClr val="1B5E33"/>
                </a:solidFill>
              </a:rPr>
              <a:t>▢ 题目3</a:t>
            </a:r>
          </a:p>
          <a:p>
            <a:pPr>
              <a:spcBef>
                <a:spcPts val="100"/>
              </a:spcBef>
            </a:pPr>
            <a:r>
              <a:rPr sz="1400">
                <a:solidFill>
                  <a:srgbClr val="556075"/>
                </a:solidFill>
              </a:rPr>
              <a:t>   原文：Ancient Egyptians developed sophisticated irrigation systems to support agriculture.
题目："Egyptian farming methods were adopted by other ancient civilisations."
【答案】NOT GIVEN：文章只描述了埃及的灌溉系统，未提是否被其他文明采用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课堂练习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错题分析：深圳学生典型错误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📝 分析以下2个常见错误案例——找出错误原因并给出正确答案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5E33"/>
                </a:solidFill>
              </a:rPr>
              <a:t>▢ 错误案例1</a:t>
            </a:r>
          </a:p>
          <a:p>
            <a:pPr>
              <a:spcBef>
                <a:spcPts val="100"/>
              </a:spcBef>
            </a:pPr>
            <a:r>
              <a:rPr sz="1400">
                <a:solidFill>
                  <a:srgbClr val="556075"/>
                </a:solidFill>
              </a:rPr>
              <a:t>   题目："Most experts support this theory." 原文："Some experts support..." 学生选True
【解析】错误原因：忽略限定词 most vs some → some不等于most → 正确答案：FALSE</a:t>
            </a:r>
          </a:p>
          <a:p>
            <a:pPr>
              <a:spcBef>
                <a:spcPts val="1100"/>
              </a:spcBef>
            </a:pPr>
            <a:r>
              <a:rPr sz="1700" b="1">
                <a:solidFill>
                  <a:srgbClr val="1B5E33"/>
                </a:solidFill>
              </a:rPr>
              <a:t>▢ 错误案例2</a:t>
            </a:r>
          </a:p>
          <a:p>
            <a:pPr>
              <a:spcBef>
                <a:spcPts val="100"/>
              </a:spcBef>
            </a:pPr>
            <a:r>
              <a:rPr sz="1400">
                <a:solidFill>
                  <a:srgbClr val="556075"/>
                </a:solidFill>
              </a:rPr>
              <a:t>   题目："The bridge took ten years to complete." 原文："Construction lasted from 1995 to 2004." 学生选NG
【解析】错误原因：没有计算 1995→2004=9年，不等于10年 → 数字矛盾 → 正确答案：FALSE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T/F/NG限定词速查表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全称限定词（警惕！）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all / every / always / never / none / completely / entirely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部分限定词（与全称对比）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some / many / most / often / usually / generally / tend 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程度限定词（注意强弱）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definitely / certainly vs possibly / may / might / could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范围限定词（注意大小）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worldwide / globally vs locally / regionally / in some areas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True/False/NG判断速记口诀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TRUE口诀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对比题目与原文——意思相同（可换词）加细节匹配 →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FALSE口诀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找到明确矛盾——数字不同/方向相反/范围不符/因果颠倒 →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NG口诀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找不到相关信息，或信息不完整无法判断 → NOT GIVEN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保底策略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不确定True还是False → 先考虑NG / 不确定False还是NG → 选NG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判断题高频替换词：表示增减变化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增加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increase / rise / grow / climb / surge / escalate / expand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减少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decrease / fall / drop / decline / shrink / diminish / reduce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不变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remain / stay / maintain / keep / stable / constant / unchanged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超过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exceed / surpass / top / be more than / be over / be above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少于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be less than / be below / be under / be fewer than / not reach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判断题高频替换词：表示时间与因果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开始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begin / start / commence / launch / initiate / found / establish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结束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end / finish / complete / conclude / terminate / cease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因为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because / since / as / due to / owing to / as a result of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导致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lead to / result in / cause / bring about / give rise 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然而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however / nevertheless / nonetheless / yet / despite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T/F/NG题目结构分析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True题目的常见结构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主要信息与文章一致，用同义词替换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数字范围与文章吻合（约等也算）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限定词范围与文章一致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因果/顺序关系与文章方向相同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举例：文章200→题目"fewer than 300"→True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False题目的常见结构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数字明确不同（50→100，增→减）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限定词范围不同（all vs some）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方向/因果颠倒（支持→反对）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人物/地点/时间有明确差异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举例：文章region→题目country→False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NG应对策略：何时选NG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确定选NG的情况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文章搜索2次以上找不到相关内容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文章提到话题但讨论完全不同的方面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题目要求做比较，文章只描述了一方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题目涉及未来/预测，文章只描述现状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超过90秒仍无法判断True还是False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不应选NG的情况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文章有明确说相反的内容→选False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文章有数字但与题目不同→选False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文章有限定词但与题目不同→选False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文章方向/因果与题目相反→选False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只是因为自己没找到→可能还未定位对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自检清单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L02学完自测：T/F/NG掌握度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1E293B"/>
                </a:solidFill>
              </a:rPr>
              <a:t>☐ 能区分T/F/NG和Y/N/NG的不同考查重点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True判断：同义替换识别准确率&gt;85%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False判断：能识别限定词矛盾（all vs some等）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NG判断：能区分"文章没提"和"文章说相反"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做题速度：平均每道T/F/NG题&lt;90秒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1E293B"/>
                </a:solidFill>
              </a:rPr>
              <a:t>☐ 连续5道T/F/NG题组的准确率&gt;80%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技巧速记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T/F/NG高频考点总结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数字陷阱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题目数字不等于文章数字→False；检查增减方向是否一致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79" y="123444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79" y="123444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399" y="132588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范围陷阱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73736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all/every/always → False若文章只说some/many/often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时间陷阱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题目说before→文章说after；题目说初期→文章说后期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926080"/>
            <a:ext cx="5486400" cy="14630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79" y="2926080"/>
            <a:ext cx="109728" cy="146304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0175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B5E33"/>
                </a:solidFill>
                <a:latin typeface="Calibri"/>
              </a:rPr>
              <a:t>比较陷阱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42900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6075"/>
                </a:solidFill>
                <a:latin typeface="Calibri"/>
              </a:rPr>
              <a:t>题目比A和B→文章只提了A→NG；A小于B但题说A大于B→False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T/F/NG判断题：因果关系高频替换词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因为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because / since / as / due to / owing to / given that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导致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lead to / result in / cause / bring about / trigger / give rise 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尽管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although / though / even though / while / whereas / notwithstanding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因此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therefore / thus / hence / consequently / as a result / thereby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但是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however / nevertheless / yet / on the other hand / by contrast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备考策略：判断题提分路径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判断题专项备考（每天30分钟）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每天10道判断题——精做每道，找判断依据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建立错题本：每道错题写出正确判断原因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限定词笔记：积累100个限定词对（all/some等）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真题分析：做完对答案后找原文对应句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79" y="1188720"/>
            <a:ext cx="5486400" cy="457200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25296"/>
            <a:ext cx="5212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整体阅读备考节奏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19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1E293B"/>
                </a:solidFill>
              </a:rPr>
              <a:t>• 第1-2月：题型专项（每周1种题型）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第3月：速度训练（每篇限时20分钟）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第4月：综合模拟（每周2套完整40题）</a:t>
            </a:r>
          </a:p>
          <a:p>
            <a:pPr>
              <a:spcBef>
                <a:spcPts val="700"/>
              </a:spcBef>
            </a:pPr>
            <a:r>
              <a:rPr sz="1450">
                <a:solidFill>
                  <a:srgbClr val="1E293B"/>
                </a:solidFill>
              </a:rPr>
              <a:t>• 考前1周：真题回顾+错题复习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E09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9A10"/>
                </a:solidFill>
                <a:latin typeface="Calibri"/>
              </a:rPr>
              <a:t>词汇 · 句型库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T/F/NG判断题：程度与频率限定词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3A6"/>
                </a:solidFill>
                <a:latin typeface="Calibri"/>
              </a:rPr>
              <a:t>IELTS Reading · 深圳提分课程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493776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234440"/>
            <a:ext cx="6126480" cy="566928"/>
          </a:xfrm>
          <a:prstGeom prst="rect">
            <a:avLst/>
          </a:prstGeom>
          <a:solidFill>
            <a:srgbClr val="1B5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表达 / Expression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23444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用法 / 中文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01368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801368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801368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总是/从不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01368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always / never / invariably / without exception / at all times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368296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0" y="2368296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68296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通常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368296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usually / generally / typically / as a rule / in most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35224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0" y="2935224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35224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有时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935224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sometimes / occasionally / in some cases / at times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02152"/>
            <a:ext cx="49377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3502152"/>
            <a:ext cx="61264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502152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可能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may / might / could / possibly / perhaps / it is possible that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493776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4069080"/>
            <a:ext cx="6126480" cy="56692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069080"/>
            <a:ext cx="4754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1B5E33"/>
                </a:solidFill>
                <a:latin typeface="Calibri"/>
              </a:rPr>
              <a:t>确定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069080"/>
            <a:ext cx="58521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Calibri"/>
              </a:rPr>
              <a:t>definitely / certainly / undoubtedly / clearly / it is clear that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