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 cy="685800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778240" y="0"/>
            <a:ext cx="3413455" cy="6858000"/>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778240" y="1463040"/>
            <a:ext cx="3413455" cy="1828800"/>
          </a:xfrm>
          <a:prstGeom prst="rect">
            <a:avLst/>
          </a:prstGeom>
          <a:noFill/>
        </p:spPr>
        <p:txBody>
          <a:bodyPr wrap="square" anchor="t">
            <a:spAutoFit/>
          </a:bodyPr>
          <a:lstStyle/>
          <a:p>
            <a:pPr algn="ctr"/>
            <a:r>
              <a:rPr sz="12000" b="1" i="0">
                <a:solidFill>
                  <a:srgbClr val="F28C1D"/>
                </a:solidFill>
                <a:latin typeface="Calibri"/>
              </a:rPr>
              <a:t>L01</a:t>
            </a:r>
          </a:p>
        </p:txBody>
      </p:sp>
      <p:sp>
        <p:nvSpPr>
          <p:cNvPr id="6" name="TextBox 5"/>
          <p:cNvSpPr txBox="1"/>
          <p:nvPr/>
        </p:nvSpPr>
        <p:spPr>
          <a:xfrm>
            <a:off x="8778240" y="3566160"/>
            <a:ext cx="3413455" cy="731520"/>
          </a:xfrm>
          <a:prstGeom prst="rect">
            <a:avLst/>
          </a:prstGeom>
          <a:noFill/>
        </p:spPr>
        <p:txBody>
          <a:bodyPr wrap="square" anchor="t">
            <a:spAutoFit/>
          </a:bodyPr>
          <a:lstStyle/>
          <a:p>
            <a:pPr algn="ctr"/>
            <a:r>
              <a:rPr sz="3000" b="1" i="0">
                <a:solidFill>
                  <a:srgbClr val="FFFFFF"/>
                </a:solidFill>
                <a:latin typeface="Calibri"/>
              </a:rPr>
              <a:t>/ 10</a:t>
            </a:r>
          </a:p>
        </p:txBody>
      </p:sp>
      <p:sp>
        <p:nvSpPr>
          <p:cNvPr id="7" name="TextBox 6"/>
          <p:cNvSpPr txBox="1"/>
          <p:nvPr/>
        </p:nvSpPr>
        <p:spPr>
          <a:xfrm>
            <a:off x="777240" y="1280160"/>
            <a:ext cx="7680960" cy="640080"/>
          </a:xfrm>
          <a:prstGeom prst="rect">
            <a:avLst/>
          </a:prstGeom>
          <a:noFill/>
        </p:spPr>
        <p:txBody>
          <a:bodyPr wrap="square" anchor="t">
            <a:spAutoFit/>
          </a:bodyPr>
          <a:lstStyle/>
          <a:p>
            <a:pPr algn="l"/>
            <a:r>
              <a:rPr sz="2000" b="1" i="0">
                <a:solidFill>
                  <a:srgbClr val="F28C1D"/>
                </a:solidFill>
                <a:latin typeface="Calibri"/>
              </a:rPr>
              <a:t>IELTS Speaking 口语</a:t>
            </a:r>
          </a:p>
        </p:txBody>
      </p:sp>
      <p:sp>
        <p:nvSpPr>
          <p:cNvPr id="8" name="TextBox 7"/>
          <p:cNvSpPr txBox="1"/>
          <p:nvPr/>
        </p:nvSpPr>
        <p:spPr>
          <a:xfrm>
            <a:off x="777240" y="1920240"/>
            <a:ext cx="7680960" cy="2194560"/>
          </a:xfrm>
          <a:prstGeom prst="rect">
            <a:avLst/>
          </a:prstGeom>
          <a:noFill/>
        </p:spPr>
        <p:txBody>
          <a:bodyPr wrap="square" anchor="t">
            <a:spAutoFit/>
          </a:bodyPr>
          <a:lstStyle/>
          <a:p>
            <a:pPr algn="l"/>
            <a:r>
              <a:rPr sz="4200" b="1" i="0">
                <a:solidFill>
                  <a:srgbClr val="FFFFFF"/>
                </a:solidFill>
                <a:latin typeface="Calibri"/>
              </a:rPr>
              <a:t>口语考试全貌
&amp; 评分框架</a:t>
            </a:r>
          </a:p>
        </p:txBody>
      </p:sp>
      <p:sp>
        <p:nvSpPr>
          <p:cNvPr id="9" name="TextBox 8"/>
          <p:cNvSpPr txBox="1"/>
          <p:nvPr/>
        </p:nvSpPr>
        <p:spPr>
          <a:xfrm>
            <a:off x="777240" y="4206240"/>
            <a:ext cx="7498079" cy="1097280"/>
          </a:xfrm>
          <a:prstGeom prst="rect">
            <a:avLst/>
          </a:prstGeom>
          <a:noFill/>
        </p:spPr>
        <p:txBody>
          <a:bodyPr wrap="square" anchor="t">
            <a:spAutoFit/>
          </a:bodyPr>
          <a:lstStyle/>
          <a:p>
            <a:pPr algn="l"/>
            <a:r>
              <a:rPr sz="1800" b="0" i="0">
                <a:solidFill>
                  <a:srgbClr val="CFDCF2"/>
                </a:solidFill>
                <a:latin typeface="Calibri"/>
              </a:rPr>
              <a:t>Speaking Overview &amp; Scoring Framework</a:t>
            </a:r>
          </a:p>
        </p:txBody>
      </p:sp>
      <p:sp>
        <p:nvSpPr>
          <p:cNvPr id="10" name="Rounded Rectangle 9"/>
          <p:cNvSpPr/>
          <p:nvPr/>
        </p:nvSpPr>
        <p:spPr>
          <a:xfrm>
            <a:off x="777240" y="5669280"/>
            <a:ext cx="3840480" cy="548640"/>
          </a:xfrm>
          <a:prstGeom prst="round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5742432"/>
            <a:ext cx="3657600" cy="411480"/>
          </a:xfrm>
          <a:prstGeom prst="rect">
            <a:avLst/>
          </a:prstGeom>
          <a:noFill/>
        </p:spPr>
        <p:txBody>
          <a:bodyPr wrap="square" anchor="t">
            <a:spAutoFit/>
          </a:bodyPr>
          <a:lstStyle/>
          <a:p>
            <a:pPr algn="l"/>
            <a:r>
              <a:rPr sz="1300" b="1" i="0">
                <a:solidFill>
                  <a:srgbClr val="FFFFFF"/>
                </a:solidFill>
                <a:latin typeface="Calibri"/>
              </a:rPr>
              <a:t>第 1 节课 · 课时 90 分钟</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本课流程  Lesson Roadmap</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Rounded Rectangle 6"/>
          <p:cNvSpPr/>
          <p:nvPr/>
        </p:nvSpPr>
        <p:spPr>
          <a:xfrm>
            <a:off x="548640" y="1325880"/>
            <a:ext cx="566928" cy="566928"/>
          </a:xfrm>
          <a:prstGeom prst="round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371600"/>
            <a:ext cx="566928" cy="457200"/>
          </a:xfrm>
          <a:prstGeom prst="rect">
            <a:avLst/>
          </a:prstGeom>
          <a:noFill/>
        </p:spPr>
        <p:txBody>
          <a:bodyPr wrap="square" anchor="t">
            <a:spAutoFit/>
          </a:bodyPr>
          <a:lstStyle/>
          <a:p>
            <a:pPr algn="ctr"/>
            <a:r>
              <a:rPr sz="2000" b="1" i="0">
                <a:solidFill>
                  <a:srgbClr val="FFFFFF"/>
                </a:solidFill>
                <a:latin typeface="Calibri"/>
              </a:rPr>
              <a:t>1</a:t>
            </a:r>
          </a:p>
        </p:txBody>
      </p:sp>
      <p:sp>
        <p:nvSpPr>
          <p:cNvPr id="9" name="TextBox 8"/>
          <p:cNvSpPr txBox="1"/>
          <p:nvPr/>
        </p:nvSpPr>
        <p:spPr>
          <a:xfrm>
            <a:off x="1280160" y="1344168"/>
            <a:ext cx="4937760" cy="731520"/>
          </a:xfrm>
          <a:prstGeom prst="rect">
            <a:avLst/>
          </a:prstGeom>
          <a:noFill/>
        </p:spPr>
        <p:txBody>
          <a:bodyPr wrap="square" anchor="ctr">
            <a:spAutoFit/>
          </a:bodyPr>
          <a:lstStyle/>
          <a:p>
            <a:pPr algn="l"/>
            <a:r>
              <a:rPr sz="1450" b="1" i="0">
                <a:solidFill>
                  <a:srgbClr val="1E293B"/>
                </a:solidFill>
                <a:latin typeface="Calibri"/>
              </a:rPr>
              <a:t>考试结构与三个Part</a:t>
            </a:r>
          </a:p>
        </p:txBody>
      </p:sp>
      <p:sp>
        <p:nvSpPr>
          <p:cNvPr id="10" name="Rounded Rectangle 9"/>
          <p:cNvSpPr/>
          <p:nvPr/>
        </p:nvSpPr>
        <p:spPr>
          <a:xfrm>
            <a:off x="548640" y="2167128"/>
            <a:ext cx="566928" cy="566928"/>
          </a:xfrm>
          <a:prstGeom prst="round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212848"/>
            <a:ext cx="566928" cy="457200"/>
          </a:xfrm>
          <a:prstGeom prst="rect">
            <a:avLst/>
          </a:prstGeom>
          <a:noFill/>
        </p:spPr>
        <p:txBody>
          <a:bodyPr wrap="square" anchor="t">
            <a:spAutoFit/>
          </a:bodyPr>
          <a:lstStyle/>
          <a:p>
            <a:pPr algn="ctr"/>
            <a:r>
              <a:rPr sz="2000" b="1" i="0">
                <a:solidFill>
                  <a:srgbClr val="FFFFFF"/>
                </a:solidFill>
                <a:latin typeface="Calibri"/>
              </a:rPr>
              <a:t>2</a:t>
            </a:r>
          </a:p>
        </p:txBody>
      </p:sp>
      <p:sp>
        <p:nvSpPr>
          <p:cNvPr id="12" name="TextBox 11"/>
          <p:cNvSpPr txBox="1"/>
          <p:nvPr/>
        </p:nvSpPr>
        <p:spPr>
          <a:xfrm>
            <a:off x="1280160" y="2185416"/>
            <a:ext cx="4937760" cy="731520"/>
          </a:xfrm>
          <a:prstGeom prst="rect">
            <a:avLst/>
          </a:prstGeom>
          <a:noFill/>
        </p:spPr>
        <p:txBody>
          <a:bodyPr wrap="square" anchor="ctr">
            <a:spAutoFit/>
          </a:bodyPr>
          <a:lstStyle/>
          <a:p>
            <a:pPr algn="l"/>
            <a:r>
              <a:rPr sz="1450" b="1" i="0">
                <a:solidFill>
                  <a:srgbClr val="1E293B"/>
                </a:solidFill>
                <a:latin typeface="Calibri"/>
              </a:rPr>
              <a:t>四维评分标准</a:t>
            </a:r>
          </a:p>
        </p:txBody>
      </p:sp>
      <p:sp>
        <p:nvSpPr>
          <p:cNvPr id="13" name="Rounded Rectangle 12"/>
          <p:cNvSpPr/>
          <p:nvPr/>
        </p:nvSpPr>
        <p:spPr>
          <a:xfrm>
            <a:off x="548640" y="3008376"/>
            <a:ext cx="566928" cy="566928"/>
          </a:xfrm>
          <a:prstGeom prst="round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054096"/>
            <a:ext cx="566928" cy="457200"/>
          </a:xfrm>
          <a:prstGeom prst="rect">
            <a:avLst/>
          </a:prstGeom>
          <a:noFill/>
        </p:spPr>
        <p:txBody>
          <a:bodyPr wrap="square" anchor="t">
            <a:spAutoFit/>
          </a:bodyPr>
          <a:lstStyle/>
          <a:p>
            <a:pPr algn="ctr"/>
            <a:r>
              <a:rPr sz="2000" b="1" i="0">
                <a:solidFill>
                  <a:srgbClr val="FFFFFF"/>
                </a:solidFill>
                <a:latin typeface="Calibri"/>
              </a:rPr>
              <a:t>3</a:t>
            </a:r>
          </a:p>
        </p:txBody>
      </p:sp>
      <p:sp>
        <p:nvSpPr>
          <p:cNvPr id="15" name="TextBox 14"/>
          <p:cNvSpPr txBox="1"/>
          <p:nvPr/>
        </p:nvSpPr>
        <p:spPr>
          <a:xfrm>
            <a:off x="1280160" y="3026664"/>
            <a:ext cx="4937760" cy="731520"/>
          </a:xfrm>
          <a:prstGeom prst="rect">
            <a:avLst/>
          </a:prstGeom>
          <a:noFill/>
        </p:spPr>
        <p:txBody>
          <a:bodyPr wrap="square" anchor="ctr">
            <a:spAutoFit/>
          </a:bodyPr>
          <a:lstStyle/>
          <a:p>
            <a:pPr algn="l"/>
            <a:r>
              <a:rPr sz="1450" b="1" i="0">
                <a:solidFill>
                  <a:srgbClr val="1E293B"/>
                </a:solidFill>
                <a:latin typeface="Calibri"/>
              </a:rPr>
              <a:t>深圳学生失分模式</a:t>
            </a:r>
          </a:p>
        </p:txBody>
      </p:sp>
      <p:sp>
        <p:nvSpPr>
          <p:cNvPr id="16" name="Rounded Rectangle 15"/>
          <p:cNvSpPr/>
          <p:nvPr/>
        </p:nvSpPr>
        <p:spPr>
          <a:xfrm>
            <a:off x="548640" y="3849624"/>
            <a:ext cx="566928" cy="566928"/>
          </a:xfrm>
          <a:prstGeom prst="round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895344"/>
            <a:ext cx="566928" cy="457200"/>
          </a:xfrm>
          <a:prstGeom prst="rect">
            <a:avLst/>
          </a:prstGeom>
          <a:noFill/>
        </p:spPr>
        <p:txBody>
          <a:bodyPr wrap="square" anchor="t">
            <a:spAutoFit/>
          </a:bodyPr>
          <a:lstStyle/>
          <a:p>
            <a:pPr algn="ctr"/>
            <a:r>
              <a:rPr sz="2000" b="1" i="0">
                <a:solidFill>
                  <a:srgbClr val="FFFFFF"/>
                </a:solidFill>
                <a:latin typeface="Calibri"/>
              </a:rPr>
              <a:t>4</a:t>
            </a:r>
          </a:p>
        </p:txBody>
      </p:sp>
      <p:sp>
        <p:nvSpPr>
          <p:cNvPr id="18" name="TextBox 17"/>
          <p:cNvSpPr txBox="1"/>
          <p:nvPr/>
        </p:nvSpPr>
        <p:spPr>
          <a:xfrm>
            <a:off x="1280160" y="3867911"/>
            <a:ext cx="4937760" cy="731520"/>
          </a:xfrm>
          <a:prstGeom prst="rect">
            <a:avLst/>
          </a:prstGeom>
          <a:noFill/>
        </p:spPr>
        <p:txBody>
          <a:bodyPr wrap="square" anchor="ctr">
            <a:spAutoFit/>
          </a:bodyPr>
          <a:lstStyle/>
          <a:p>
            <a:pPr algn="l"/>
            <a:r>
              <a:rPr sz="1450" b="1" i="0">
                <a:solidFill>
                  <a:srgbClr val="1E293B"/>
                </a:solidFill>
                <a:latin typeface="Calibri"/>
              </a:rPr>
              <a:t>备考策略框架</a:t>
            </a:r>
          </a:p>
        </p:txBody>
      </p:sp>
      <p:sp>
        <p:nvSpPr>
          <p:cNvPr id="19" name="Rounded Rectangle 18"/>
          <p:cNvSpPr/>
          <p:nvPr/>
        </p:nvSpPr>
        <p:spPr>
          <a:xfrm>
            <a:off x="6400800" y="1325880"/>
            <a:ext cx="566928" cy="566928"/>
          </a:xfrm>
          <a:prstGeom prst="round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1371600"/>
            <a:ext cx="566928" cy="457200"/>
          </a:xfrm>
          <a:prstGeom prst="rect">
            <a:avLst/>
          </a:prstGeom>
          <a:noFill/>
        </p:spPr>
        <p:txBody>
          <a:bodyPr wrap="square" anchor="t">
            <a:spAutoFit/>
          </a:bodyPr>
          <a:lstStyle/>
          <a:p>
            <a:pPr algn="ctr"/>
            <a:r>
              <a:rPr sz="2000" b="1" i="0">
                <a:solidFill>
                  <a:srgbClr val="FFFFFF"/>
                </a:solidFill>
                <a:latin typeface="Calibri"/>
              </a:rPr>
              <a:t>5</a:t>
            </a:r>
          </a:p>
        </p:txBody>
      </p:sp>
      <p:sp>
        <p:nvSpPr>
          <p:cNvPr id="21" name="TextBox 20"/>
          <p:cNvSpPr txBox="1"/>
          <p:nvPr/>
        </p:nvSpPr>
        <p:spPr>
          <a:xfrm>
            <a:off x="7132320" y="1344168"/>
            <a:ext cx="4937760" cy="731520"/>
          </a:xfrm>
          <a:prstGeom prst="rect">
            <a:avLst/>
          </a:prstGeom>
          <a:noFill/>
        </p:spPr>
        <p:txBody>
          <a:bodyPr wrap="square" anchor="ctr">
            <a:spAutoFit/>
          </a:bodyPr>
          <a:lstStyle/>
          <a:p>
            <a:pPr algn="l"/>
            <a:r>
              <a:rPr sz="1450" b="1" i="0">
                <a:solidFill>
                  <a:srgbClr val="1E293B"/>
                </a:solidFill>
                <a:latin typeface="Calibri"/>
              </a:rPr>
              <a:t>核心术语</a:t>
            </a:r>
          </a:p>
        </p:txBody>
      </p:sp>
      <p:sp>
        <p:nvSpPr>
          <p:cNvPr id="22" name="Rounded Rectangle 21"/>
          <p:cNvSpPr/>
          <p:nvPr/>
        </p:nvSpPr>
        <p:spPr>
          <a:xfrm>
            <a:off x="6400800" y="2167128"/>
            <a:ext cx="566928" cy="566928"/>
          </a:xfrm>
          <a:prstGeom prst="round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0" y="2212848"/>
            <a:ext cx="566928" cy="457200"/>
          </a:xfrm>
          <a:prstGeom prst="rect">
            <a:avLst/>
          </a:prstGeom>
          <a:noFill/>
        </p:spPr>
        <p:txBody>
          <a:bodyPr wrap="square" anchor="t">
            <a:spAutoFit/>
          </a:bodyPr>
          <a:lstStyle/>
          <a:p>
            <a:pPr algn="ctr"/>
            <a:r>
              <a:rPr sz="2000" b="1" i="0">
                <a:solidFill>
                  <a:srgbClr val="FFFFFF"/>
                </a:solidFill>
                <a:latin typeface="Calibri"/>
              </a:rPr>
              <a:t>6</a:t>
            </a:r>
          </a:p>
        </p:txBody>
      </p:sp>
      <p:sp>
        <p:nvSpPr>
          <p:cNvPr id="24" name="TextBox 23"/>
          <p:cNvSpPr txBox="1"/>
          <p:nvPr/>
        </p:nvSpPr>
        <p:spPr>
          <a:xfrm>
            <a:off x="7132320" y="2185416"/>
            <a:ext cx="4937760" cy="731520"/>
          </a:xfrm>
          <a:prstGeom prst="rect">
            <a:avLst/>
          </a:prstGeom>
          <a:noFill/>
        </p:spPr>
        <p:txBody>
          <a:bodyPr wrap="square" anchor="ctr">
            <a:spAutoFit/>
          </a:bodyPr>
          <a:lstStyle/>
          <a:p>
            <a:pPr algn="l"/>
            <a:r>
              <a:rPr sz="1450" b="1" i="0">
                <a:solidFill>
                  <a:srgbClr val="1E293B"/>
                </a:solidFill>
                <a:latin typeface="Calibri"/>
              </a:rPr>
              <a:t>备考路线</a:t>
            </a:r>
          </a:p>
        </p:txBody>
      </p:sp>
      <p:sp>
        <p:nvSpPr>
          <p:cNvPr id="25" name="Rounded Rectangle 24"/>
          <p:cNvSpPr/>
          <p:nvPr/>
        </p:nvSpPr>
        <p:spPr>
          <a:xfrm>
            <a:off x="6400800" y="3008376"/>
            <a:ext cx="566928" cy="566928"/>
          </a:xfrm>
          <a:prstGeom prst="round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0" y="3054096"/>
            <a:ext cx="566928" cy="457200"/>
          </a:xfrm>
          <a:prstGeom prst="rect">
            <a:avLst/>
          </a:prstGeom>
          <a:noFill/>
        </p:spPr>
        <p:txBody>
          <a:bodyPr wrap="square" anchor="t">
            <a:spAutoFit/>
          </a:bodyPr>
          <a:lstStyle/>
          <a:p>
            <a:pPr algn="ctr"/>
            <a:r>
              <a:rPr sz="2000" b="1" i="0">
                <a:solidFill>
                  <a:srgbClr val="FFFFFF"/>
                </a:solidFill>
                <a:latin typeface="Calibri"/>
              </a:rPr>
              <a:t>7</a:t>
            </a:r>
          </a:p>
        </p:txBody>
      </p:sp>
      <p:sp>
        <p:nvSpPr>
          <p:cNvPr id="27" name="TextBox 26"/>
          <p:cNvSpPr txBox="1"/>
          <p:nvPr/>
        </p:nvSpPr>
        <p:spPr>
          <a:xfrm>
            <a:off x="7132320" y="3026664"/>
            <a:ext cx="4937760" cy="731520"/>
          </a:xfrm>
          <a:prstGeom prst="rect">
            <a:avLst/>
          </a:prstGeom>
          <a:noFill/>
        </p:spPr>
        <p:txBody>
          <a:bodyPr wrap="square" anchor="ctr">
            <a:spAutoFit/>
          </a:bodyPr>
          <a:lstStyle/>
          <a:p>
            <a:pPr algn="l"/>
            <a:r>
              <a:rPr sz="1450" b="1" i="0">
                <a:solidFill>
                  <a:srgbClr val="1E293B"/>
                </a:solidFill>
                <a:latin typeface="Calibri"/>
              </a:rPr>
              <a:t>课堂练习</a:t>
            </a:r>
          </a:p>
        </p:txBody>
      </p:sp>
      <p:sp>
        <p:nvSpPr>
          <p:cNvPr id="28" name="Rounded Rectangle 27"/>
          <p:cNvSpPr/>
          <p:nvPr/>
        </p:nvSpPr>
        <p:spPr>
          <a:xfrm>
            <a:off x="6400800" y="3849624"/>
            <a:ext cx="566928" cy="566928"/>
          </a:xfrm>
          <a:prstGeom prst="round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0" y="3895344"/>
            <a:ext cx="566928" cy="457200"/>
          </a:xfrm>
          <a:prstGeom prst="rect">
            <a:avLst/>
          </a:prstGeom>
          <a:noFill/>
        </p:spPr>
        <p:txBody>
          <a:bodyPr wrap="square" anchor="t">
            <a:spAutoFit/>
          </a:bodyPr>
          <a:lstStyle/>
          <a:p>
            <a:pPr algn="ctr"/>
            <a:r>
              <a:rPr sz="2000" b="1" i="0">
                <a:solidFill>
                  <a:srgbClr val="FFFFFF"/>
                </a:solidFill>
                <a:latin typeface="Calibri"/>
              </a:rPr>
              <a:t>8</a:t>
            </a:r>
          </a:p>
        </p:txBody>
      </p:sp>
      <p:sp>
        <p:nvSpPr>
          <p:cNvPr id="30" name="TextBox 29"/>
          <p:cNvSpPr txBox="1"/>
          <p:nvPr/>
        </p:nvSpPr>
        <p:spPr>
          <a:xfrm>
            <a:off x="7132320" y="3867911"/>
            <a:ext cx="4937760" cy="731520"/>
          </a:xfrm>
          <a:prstGeom prst="rect">
            <a:avLst/>
          </a:prstGeom>
          <a:noFill/>
        </p:spPr>
        <p:txBody>
          <a:bodyPr wrap="square" anchor="ctr">
            <a:spAutoFit/>
          </a:bodyPr>
          <a:lstStyle/>
          <a:p>
            <a:pPr algn="l"/>
            <a:r>
              <a:rPr sz="1450" b="1" i="0">
                <a:solidFill>
                  <a:srgbClr val="1E293B"/>
                </a:solidFill>
                <a:latin typeface="Calibri"/>
              </a:rPr>
              <a:t>小结作业</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10节课口语学习路线图</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640080" y="1234440"/>
            <a:ext cx="10972800" cy="4572000"/>
          </a:xfrm>
          <a:prstGeom prst="rect">
            <a:avLst/>
          </a:prstGeom>
          <a:noFill/>
        </p:spPr>
        <p:txBody>
          <a:bodyPr wrap="square">
            <a:spAutoFit/>
          </a:bodyPr>
          <a:lstStyle/>
          <a:p>
            <a:r>
              <a:rPr sz="1850" b="1">
                <a:solidFill>
                  <a:srgbClr val="A33607"/>
                </a:solidFill>
              </a:rPr>
              <a:t>• L01</a:t>
            </a:r>
          </a:p>
          <a:p>
            <a:pPr>
              <a:spcBef>
                <a:spcPts val="100"/>
              </a:spcBef>
            </a:pPr>
            <a:r>
              <a:rPr sz="1550">
                <a:solidFill>
                  <a:srgbClr val="556075"/>
                </a:solidFill>
              </a:rPr>
              <a:t>   考试全貌+评分框架 → 知道考什么、怎么评分</a:t>
            </a:r>
          </a:p>
          <a:p>
            <a:pPr>
              <a:spcBef>
                <a:spcPts val="1000"/>
              </a:spcBef>
            </a:pPr>
            <a:r>
              <a:rPr sz="1850" b="1">
                <a:solidFill>
                  <a:srgbClr val="A33607"/>
                </a:solidFill>
              </a:rPr>
              <a:t>• L02</a:t>
            </a:r>
          </a:p>
          <a:p>
            <a:pPr>
              <a:spcBef>
                <a:spcPts val="100"/>
              </a:spcBef>
            </a:pPr>
            <a:r>
              <a:rPr sz="1550">
                <a:solidFill>
                  <a:srgbClr val="556075"/>
                </a:solidFill>
              </a:rPr>
              <a:t>   Part 1 日常问答 → 建立基础答题模板</a:t>
            </a:r>
          </a:p>
          <a:p>
            <a:pPr>
              <a:spcBef>
                <a:spcPts val="1000"/>
              </a:spcBef>
            </a:pPr>
            <a:r>
              <a:rPr sz="1850" b="1">
                <a:solidFill>
                  <a:srgbClr val="A33607"/>
                </a:solidFill>
              </a:rPr>
              <a:t>• L03-L04</a:t>
            </a:r>
          </a:p>
          <a:p>
            <a:pPr>
              <a:spcBef>
                <a:spcPts val="100"/>
              </a:spcBef>
            </a:pPr>
            <a:r>
              <a:rPr sz="1550">
                <a:solidFill>
                  <a:srgbClr val="556075"/>
                </a:solidFill>
              </a:rPr>
              <a:t>   Part 2 独白攻略（人物/地点/经历/物品）</a:t>
            </a:r>
          </a:p>
          <a:p>
            <a:pPr>
              <a:spcBef>
                <a:spcPts val="1000"/>
              </a:spcBef>
            </a:pPr>
            <a:r>
              <a:rPr sz="1850" b="1">
                <a:solidFill>
                  <a:srgbClr val="A33607"/>
                </a:solidFill>
              </a:rPr>
              <a:t>• L05</a:t>
            </a:r>
          </a:p>
          <a:p>
            <a:pPr>
              <a:spcBef>
                <a:spcPts val="100"/>
              </a:spcBef>
            </a:pPr>
            <a:r>
              <a:rPr sz="1550">
                <a:solidFill>
                  <a:srgbClr val="556075"/>
                </a:solidFill>
              </a:rPr>
              <a:t>   Part 3 学术讨论 → 构建论点，深度分析</a:t>
            </a:r>
          </a:p>
          <a:p>
            <a:pPr>
              <a:spcBef>
                <a:spcPts val="1000"/>
              </a:spcBef>
            </a:pPr>
            <a:r>
              <a:rPr sz="1850" b="1">
                <a:solidFill>
                  <a:srgbClr val="A33607"/>
                </a:solidFill>
              </a:rPr>
              <a:t>• L06-L09</a:t>
            </a:r>
          </a:p>
          <a:p>
            <a:pPr>
              <a:spcBef>
                <a:spcPts val="100"/>
              </a:spcBef>
            </a:pPr>
            <a:r>
              <a:rPr sz="1550">
                <a:solidFill>
                  <a:srgbClr val="556075"/>
                </a:solidFill>
              </a:rPr>
              <a:t>   词汇/流利度/语法/发音四维专项提升</a:t>
            </a:r>
          </a:p>
          <a:p>
            <a:pPr>
              <a:spcBef>
                <a:spcPts val="1000"/>
              </a:spcBef>
            </a:pPr>
            <a:r>
              <a:rPr sz="1850" b="1">
                <a:solidFill>
                  <a:srgbClr val="A33607"/>
                </a:solidFill>
              </a:rPr>
              <a:t>• L10</a:t>
            </a:r>
          </a:p>
          <a:p>
            <a:pPr>
              <a:spcBef>
                <a:spcPts val="100"/>
              </a:spcBef>
            </a:pPr>
            <a:r>
              <a:rPr sz="1550">
                <a:solidFill>
                  <a:srgbClr val="556075"/>
                </a:solidFill>
              </a:rPr>
              <a:t>   全真模考+冲刺 → 查漏补缺，冲刺目标分</a:t>
            </a:r>
          </a:p>
        </p:txBody>
      </p:sp>
      <p:sp>
        <p:nvSpPr>
          <p:cNvPr id="8" name="Rectangle 7"/>
          <p:cNvSpPr/>
          <p:nvPr/>
        </p:nvSpPr>
        <p:spPr>
          <a:xfrm>
            <a:off x="548640" y="5989320"/>
            <a:ext cx="11064240" cy="548640"/>
          </a:xfrm>
          <a:prstGeom prst="rect">
            <a:avLst/>
          </a:prstGeom>
          <a:solidFill>
            <a:srgbClr val="FDF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035040"/>
            <a:ext cx="10698480" cy="457200"/>
          </a:xfrm>
          <a:prstGeom prst="rect">
            <a:avLst/>
          </a:prstGeom>
          <a:noFill/>
        </p:spPr>
        <p:txBody>
          <a:bodyPr wrap="square" anchor="ctr">
            <a:spAutoFit/>
          </a:bodyPr>
          <a:lstStyle/>
          <a:p>
            <a:pPr algn="l"/>
            <a:r>
              <a:rPr sz="1250" b="0" i="1">
                <a:solidFill>
                  <a:srgbClr val="C02A2A"/>
                </a:solidFill>
                <a:latin typeface="Calibri"/>
              </a:rPr>
              <a:t>⚠ 深圳学生注意：每节课配合Part 1/2/3真题练习；建议每天开口说英语至少15分钟</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学习目标  Learning Objectives</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548640" y="1188720"/>
            <a:ext cx="10972800" cy="457200"/>
          </a:xfrm>
          <a:prstGeom prst="rect">
            <a:avLst/>
          </a:prstGeom>
          <a:noFill/>
        </p:spPr>
        <p:txBody>
          <a:bodyPr wrap="square" anchor="t">
            <a:spAutoFit/>
          </a:bodyPr>
          <a:lstStyle/>
          <a:p>
            <a:pPr algn="l"/>
            <a:r>
              <a:rPr sz="1600" b="1" i="0">
                <a:solidFill>
                  <a:srgbClr val="F28C1D"/>
                </a:solidFill>
                <a:latin typeface="Calibri"/>
              </a:rPr>
              <a:t>完成本课后，你将能够：</a:t>
            </a:r>
          </a:p>
        </p:txBody>
      </p:sp>
      <p:sp>
        <p:nvSpPr>
          <p:cNvPr id="8" name="TextBox 7"/>
          <p:cNvSpPr txBox="1"/>
          <p:nvPr/>
        </p:nvSpPr>
        <p:spPr>
          <a:xfrm>
            <a:off x="640080" y="1828800"/>
            <a:ext cx="10972800" cy="4572000"/>
          </a:xfrm>
          <a:prstGeom prst="rect">
            <a:avLst/>
          </a:prstGeom>
          <a:noFill/>
        </p:spPr>
        <p:txBody>
          <a:bodyPr wrap="square">
            <a:spAutoFit/>
          </a:bodyPr>
          <a:lstStyle/>
          <a:p>
            <a:r>
              <a:rPr sz="1800">
                <a:solidFill>
                  <a:srgbClr val="1E293B"/>
                </a:solidFill>
              </a:rPr>
              <a:t>✦  掌握雅思口语三个Part的结构、时长与评分重点</a:t>
            </a:r>
          </a:p>
          <a:p>
            <a:pPr>
              <a:spcBef>
                <a:spcPts val="1400"/>
              </a:spcBef>
            </a:pPr>
            <a:r>
              <a:rPr sz="1800">
                <a:solidFill>
                  <a:srgbClr val="1E293B"/>
                </a:solidFill>
              </a:rPr>
              <a:t>✦  理解四个评分维度（CC/LR/GRA/P）各占25%的含义</a:t>
            </a:r>
          </a:p>
          <a:p>
            <a:pPr>
              <a:spcBef>
                <a:spcPts val="1400"/>
              </a:spcBef>
            </a:pPr>
            <a:r>
              <a:rPr sz="1800">
                <a:solidFill>
                  <a:srgbClr val="1E293B"/>
                </a:solidFill>
              </a:rPr>
              <a:t>✦  识别自身最主要的失分类型，制定针对性提升计划</a:t>
            </a:r>
          </a:p>
          <a:p>
            <a:pPr>
              <a:spcBef>
                <a:spcPts val="1400"/>
              </a:spcBef>
            </a:pPr>
            <a:r>
              <a:rPr sz="1800">
                <a:solidFill>
                  <a:srgbClr val="1E293B"/>
                </a:solidFill>
              </a:rPr>
              <a:t>✦  建立正确的口语备考心态：开口&gt;完美</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7A16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000" b="1" i="0">
                <a:solidFill>
                  <a:srgbClr val="FFFFFF"/>
                </a:solidFill>
                <a:latin typeface="Calibri"/>
              </a:rPr>
              <a:t>🎯 深圳学生高频痛点 · 深圳学生口语三大痛点</a:t>
            </a:r>
          </a:p>
        </p:txBody>
      </p:sp>
      <p:sp>
        <p:nvSpPr>
          <p:cNvPr id="6" name="TextBox 5"/>
          <p:cNvSpPr txBox="1"/>
          <p:nvPr/>
        </p:nvSpPr>
        <p:spPr>
          <a:xfrm>
            <a:off x="548640" y="1143000"/>
            <a:ext cx="5486400" cy="411480"/>
          </a:xfrm>
          <a:prstGeom prst="rect">
            <a:avLst/>
          </a:prstGeom>
          <a:noFill/>
        </p:spPr>
        <p:txBody>
          <a:bodyPr wrap="square" anchor="t">
            <a:spAutoFit/>
          </a:bodyPr>
          <a:lstStyle/>
          <a:p>
            <a:pPr algn="l"/>
            <a:r>
              <a:rPr sz="1500" b="1" i="0">
                <a:solidFill>
                  <a:srgbClr val="C02A2A"/>
                </a:solidFill>
                <a:latin typeface="Calibri"/>
              </a:rPr>
              <a:t>❌ 常见误区</a:t>
            </a:r>
          </a:p>
        </p:txBody>
      </p:sp>
      <p:sp>
        <p:nvSpPr>
          <p:cNvPr id="7" name="TextBox 6"/>
          <p:cNvSpPr txBox="1"/>
          <p:nvPr/>
        </p:nvSpPr>
        <p:spPr>
          <a:xfrm>
            <a:off x="548640" y="1645920"/>
            <a:ext cx="5486400" cy="4572000"/>
          </a:xfrm>
          <a:prstGeom prst="rect">
            <a:avLst/>
          </a:prstGeom>
          <a:noFill/>
        </p:spPr>
        <p:txBody>
          <a:bodyPr wrap="square">
            <a:spAutoFit/>
          </a:bodyPr>
          <a:lstStyle/>
          <a:p>
            <a:r>
              <a:rPr sz="1400">
                <a:solidFill>
                  <a:srgbClr val="C02A2A"/>
                </a:solidFill>
              </a:rPr>
              <a:t>✗ 词穷：想法有，说不出——脑中有中文，嘴里找不到英文对应词，沉默超过3秒</a:t>
            </a:r>
          </a:p>
          <a:p>
            <a:pPr>
              <a:spcBef>
                <a:spcPts val="800"/>
              </a:spcBef>
            </a:pPr>
            <a:r>
              <a:rPr sz="1400">
                <a:solidFill>
                  <a:srgbClr val="C02A2A"/>
                </a:solidFill>
              </a:rPr>
              <a:t>✗ 中式英语：说出来了但考官听起来"奇怪"——逐字翻译中文思路，语序/搭配/习惯表达全错</a:t>
            </a:r>
          </a:p>
          <a:p>
            <a:pPr>
              <a:spcBef>
                <a:spcPts val="800"/>
              </a:spcBef>
            </a:pPr>
            <a:r>
              <a:rPr sz="1400">
                <a:solidFill>
                  <a:srgbClr val="C02A2A"/>
                </a:solidFill>
              </a:rPr>
              <a:t>✗ 紧张到说不出：Part 3难题一来就"脑子空白"——不是不会，是心理压力让语言能力下降</a:t>
            </a:r>
          </a:p>
        </p:txBody>
      </p:sp>
      <p:sp>
        <p:nvSpPr>
          <p:cNvPr id="8" name="Rectangle 7"/>
          <p:cNvSpPr/>
          <p:nvPr/>
        </p:nvSpPr>
        <p:spPr>
          <a:xfrm>
            <a:off x="6108192" y="1097280"/>
            <a:ext cx="36576" cy="5212080"/>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143000"/>
            <a:ext cx="5486400" cy="411480"/>
          </a:xfrm>
          <a:prstGeom prst="rect">
            <a:avLst/>
          </a:prstGeom>
          <a:noFill/>
        </p:spPr>
        <p:txBody>
          <a:bodyPr wrap="square" anchor="t">
            <a:spAutoFit/>
          </a:bodyPr>
          <a:lstStyle/>
          <a:p>
            <a:pPr algn="l"/>
            <a:r>
              <a:rPr sz="1500" b="1" i="0">
                <a:solidFill>
                  <a:srgbClr val="1B7A3D"/>
                </a:solidFill>
                <a:latin typeface="Calibri"/>
              </a:rPr>
              <a:t>✅ 正确做法</a:t>
            </a:r>
          </a:p>
        </p:txBody>
      </p:sp>
      <p:sp>
        <p:nvSpPr>
          <p:cNvPr id="10" name="TextBox 9"/>
          <p:cNvSpPr txBox="1"/>
          <p:nvPr/>
        </p:nvSpPr>
        <p:spPr>
          <a:xfrm>
            <a:off x="6309360" y="1645920"/>
            <a:ext cx="5394960" cy="4572000"/>
          </a:xfrm>
          <a:prstGeom prst="rect">
            <a:avLst/>
          </a:prstGeom>
          <a:noFill/>
        </p:spPr>
        <p:txBody>
          <a:bodyPr wrap="square">
            <a:spAutoFit/>
          </a:bodyPr>
          <a:lstStyle/>
          <a:p>
            <a:r>
              <a:rPr sz="1400">
                <a:solidFill>
                  <a:srgbClr val="1B7A3D"/>
                </a:solidFill>
              </a:rPr>
              <a:t>✓ 词汇激活：每个话题建立20个"可以立刻说出口"的词，而非背单词表</a:t>
            </a:r>
          </a:p>
          <a:p>
            <a:pPr>
              <a:spcBef>
                <a:spcPts val="800"/>
              </a:spcBef>
            </a:pPr>
            <a:r>
              <a:rPr sz="1400">
                <a:solidFill>
                  <a:srgbClr val="1B7A3D"/>
                </a:solidFill>
              </a:rPr>
              <a:t>✓ 句式模板：建立10个万能句式框架，减少实时翻译的认知负担</a:t>
            </a:r>
          </a:p>
          <a:p>
            <a:pPr>
              <a:spcBef>
                <a:spcPts val="800"/>
              </a:spcBef>
            </a:pPr>
            <a:r>
              <a:rPr sz="1400">
                <a:solidFill>
                  <a:srgbClr val="1B7A3D"/>
                </a:solidFill>
              </a:rPr>
              <a:t>✓ 心理建设：口语不是"说完美的英语"，是"用不完美的英语完成沟通"——开口是关键</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8C1D"/>
                </a:solidFill>
                <a:latin typeface="Calibri"/>
              </a:rPr>
              <a:t>PART 01</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考试结构：三个Part全解</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Exam Structure: Three Parts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Part 1：Introduction（4-5分钟）</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43000"/>
            <a:ext cx="11064240" cy="8686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A33607"/>
                </a:solidFill>
                <a:latin typeface="Calibri"/>
              </a:rPr>
              <a:t>考官主导的日常问答</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A33607"/>
                </a:solidFill>
              </a:rPr>
              <a:t>• 时长</a:t>
            </a:r>
          </a:p>
          <a:p>
            <a:pPr>
              <a:spcBef>
                <a:spcPts val="100"/>
              </a:spcBef>
            </a:pPr>
            <a:r>
              <a:rPr sz="1500">
                <a:solidFill>
                  <a:srgbClr val="556075"/>
                </a:solidFill>
              </a:rPr>
              <a:t>   4-5分钟，约9-12个问题</a:t>
            </a:r>
          </a:p>
          <a:p>
            <a:pPr>
              <a:spcBef>
                <a:spcPts val="900"/>
              </a:spcBef>
            </a:pPr>
            <a:r>
              <a:rPr sz="1800" b="1">
                <a:solidFill>
                  <a:srgbClr val="A33607"/>
                </a:solidFill>
              </a:rPr>
              <a:t>• 内容</a:t>
            </a:r>
          </a:p>
          <a:p>
            <a:pPr>
              <a:spcBef>
                <a:spcPts val="100"/>
              </a:spcBef>
            </a:pPr>
            <a:r>
              <a:rPr sz="1500">
                <a:solidFill>
                  <a:srgbClr val="556075"/>
                </a:solidFill>
              </a:rPr>
              <a:t>   3个话题：第1话题固定问"工作/学习"，第2/3话题随机</a:t>
            </a:r>
          </a:p>
          <a:p>
            <a:pPr>
              <a:spcBef>
                <a:spcPts val="900"/>
              </a:spcBef>
            </a:pPr>
            <a:r>
              <a:rPr sz="1800" b="1">
                <a:solidFill>
                  <a:srgbClr val="A33607"/>
                </a:solidFill>
              </a:rPr>
              <a:t>• 难度</a:t>
            </a:r>
          </a:p>
          <a:p>
            <a:pPr>
              <a:spcBef>
                <a:spcPts val="100"/>
              </a:spcBef>
            </a:pPr>
            <a:r>
              <a:rPr sz="1500">
                <a:solidFill>
                  <a:srgbClr val="556075"/>
                </a:solidFill>
              </a:rPr>
              <a:t>   最简单：日常生活类，无需专业知识</a:t>
            </a:r>
          </a:p>
          <a:p>
            <a:pPr>
              <a:spcBef>
                <a:spcPts val="900"/>
              </a:spcBef>
            </a:pPr>
            <a:r>
              <a:rPr sz="1800" b="1">
                <a:solidFill>
                  <a:srgbClr val="A33607"/>
                </a:solidFill>
              </a:rPr>
              <a:t>• 评分重点</a:t>
            </a:r>
          </a:p>
          <a:p>
            <a:pPr>
              <a:spcBef>
                <a:spcPts val="100"/>
              </a:spcBef>
            </a:pPr>
            <a:r>
              <a:rPr sz="1500">
                <a:solidFill>
                  <a:srgbClr val="556075"/>
                </a:solidFill>
              </a:rPr>
              <a:t>   流利度&gt;词汇&gt;准确性；考官不期待完美答案</a:t>
            </a:r>
          </a:p>
          <a:p>
            <a:pPr>
              <a:spcBef>
                <a:spcPts val="900"/>
              </a:spcBef>
            </a:pPr>
            <a:r>
              <a:rPr sz="1800" b="1">
                <a:solidFill>
                  <a:srgbClr val="A33607"/>
                </a:solidFill>
              </a:rPr>
              <a:t>• 目标</a:t>
            </a:r>
          </a:p>
          <a:p>
            <a:pPr>
              <a:spcBef>
                <a:spcPts val="100"/>
              </a:spcBef>
            </a:pPr>
            <a:r>
              <a:rPr sz="1500">
                <a:solidFill>
                  <a:srgbClr val="556075"/>
                </a:solidFill>
              </a:rPr>
              <a:t>   每题答2-4句，自然流畅，不要背稿感</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Part 2：Long Turn（3-4分钟）</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43000"/>
            <a:ext cx="11064240" cy="8686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A33607"/>
                </a:solidFill>
                <a:latin typeface="Calibri"/>
              </a:rPr>
              <a:t>考生独自发言</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A33607"/>
                </a:solidFill>
              </a:rPr>
              <a:t>• 时长</a:t>
            </a:r>
          </a:p>
          <a:p>
            <a:pPr>
              <a:spcBef>
                <a:spcPts val="100"/>
              </a:spcBef>
            </a:pPr>
            <a:r>
              <a:rPr sz="1500">
                <a:solidFill>
                  <a:srgbClr val="556075"/>
                </a:solidFill>
              </a:rPr>
              <a:t>   1分钟准备+约2分钟发言，考官可能追问1-2个问题</a:t>
            </a:r>
          </a:p>
          <a:p>
            <a:pPr>
              <a:spcBef>
                <a:spcPts val="900"/>
              </a:spcBef>
            </a:pPr>
            <a:r>
              <a:rPr sz="1800" b="1">
                <a:solidFill>
                  <a:srgbClr val="A33607"/>
                </a:solidFill>
              </a:rPr>
              <a:t>• 内容</a:t>
            </a:r>
          </a:p>
          <a:p>
            <a:pPr>
              <a:spcBef>
                <a:spcPts val="100"/>
              </a:spcBef>
            </a:pPr>
            <a:r>
              <a:rPr sz="1500">
                <a:solidFill>
                  <a:srgbClr val="556075"/>
                </a:solidFill>
              </a:rPr>
              <a:t>   卡片（Cue Card）上有4个提示点，必须覆盖所有提示点</a:t>
            </a:r>
          </a:p>
          <a:p>
            <a:pPr>
              <a:spcBef>
                <a:spcPts val="900"/>
              </a:spcBef>
            </a:pPr>
            <a:r>
              <a:rPr sz="1800" b="1">
                <a:solidFill>
                  <a:srgbClr val="A33607"/>
                </a:solidFill>
              </a:rPr>
              <a:t>• 题型</a:t>
            </a:r>
          </a:p>
          <a:p>
            <a:pPr>
              <a:spcBef>
                <a:spcPts val="100"/>
              </a:spcBef>
            </a:pPr>
            <a:r>
              <a:rPr sz="1500">
                <a:solidFill>
                  <a:srgbClr val="556075"/>
                </a:solidFill>
              </a:rPr>
              <a:t>   人物/地点/物品/活动/经历/媒体——各有攻略</a:t>
            </a:r>
          </a:p>
          <a:p>
            <a:pPr>
              <a:spcBef>
                <a:spcPts val="900"/>
              </a:spcBef>
            </a:pPr>
            <a:r>
              <a:rPr sz="1800" b="1">
                <a:solidFill>
                  <a:srgbClr val="A33607"/>
                </a:solidFill>
              </a:rPr>
              <a:t>• 评分重点</a:t>
            </a:r>
          </a:p>
          <a:p>
            <a:pPr>
              <a:spcBef>
                <a:spcPts val="100"/>
              </a:spcBef>
            </a:pPr>
            <a:r>
              <a:rPr sz="1500">
                <a:solidFill>
                  <a:srgbClr val="556075"/>
                </a:solidFill>
              </a:rPr>
              <a:t>   内容完整性+时间管理：必须说够约2分钟</a:t>
            </a:r>
          </a:p>
          <a:p>
            <a:pPr>
              <a:spcBef>
                <a:spcPts val="900"/>
              </a:spcBef>
            </a:pPr>
            <a:r>
              <a:rPr sz="1800" b="1">
                <a:solidFill>
                  <a:srgbClr val="A33607"/>
                </a:solidFill>
              </a:rPr>
              <a:t>• 目标</a:t>
            </a:r>
          </a:p>
          <a:p>
            <a:pPr>
              <a:spcBef>
                <a:spcPts val="100"/>
              </a:spcBef>
            </a:pPr>
            <a:r>
              <a:rPr sz="1500">
                <a:solidFill>
                  <a:srgbClr val="556075"/>
                </a:solidFill>
              </a:rPr>
              <a:t>   1分钟准备时做关键词笔记，发言有逻辑有细节</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Part 3：Discussion（4-5分钟）的性质</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850" b="1">
                <a:solidFill>
                  <a:srgbClr val="A33607"/>
                </a:solidFill>
              </a:rPr>
              <a:t>• 本质</a:t>
            </a:r>
          </a:p>
          <a:p>
            <a:pPr>
              <a:spcBef>
                <a:spcPts val="100"/>
              </a:spcBef>
            </a:pPr>
            <a:r>
              <a:rPr sz="1550">
                <a:solidFill>
                  <a:srgbClr val="556075"/>
                </a:solidFill>
              </a:rPr>
              <a:t>   考官与考生双向讨论，主题与Part 2相关但更抽象/学术</a:t>
            </a:r>
          </a:p>
          <a:p>
            <a:pPr>
              <a:spcBef>
                <a:spcPts val="1000"/>
              </a:spcBef>
            </a:pPr>
            <a:r>
              <a:rPr sz="1850" b="1">
                <a:solidFill>
                  <a:srgbClr val="A33607"/>
                </a:solidFill>
              </a:rPr>
              <a:t>• 难度</a:t>
            </a:r>
          </a:p>
          <a:p>
            <a:pPr>
              <a:spcBef>
                <a:spcPts val="100"/>
              </a:spcBef>
            </a:pPr>
            <a:r>
              <a:rPr sz="1550">
                <a:solidFill>
                  <a:srgbClr val="556075"/>
                </a:solidFill>
              </a:rPr>
              <a:t>   最高：需要论证观点、比较分析、讨论社会问题</a:t>
            </a:r>
          </a:p>
          <a:p>
            <a:pPr>
              <a:spcBef>
                <a:spcPts val="1000"/>
              </a:spcBef>
            </a:pPr>
            <a:r>
              <a:rPr sz="1850" b="1">
                <a:solidFill>
                  <a:srgbClr val="A33607"/>
                </a:solidFill>
              </a:rPr>
              <a:t>• 时长</a:t>
            </a:r>
          </a:p>
          <a:p>
            <a:pPr>
              <a:spcBef>
                <a:spcPts val="100"/>
              </a:spcBef>
            </a:pPr>
            <a:r>
              <a:rPr sz="1550">
                <a:solidFill>
                  <a:srgbClr val="556075"/>
                </a:solidFill>
              </a:rPr>
              <a:t>   4-5分钟，约6-8个问题，每题需答更多句子</a:t>
            </a:r>
          </a:p>
          <a:p>
            <a:pPr>
              <a:spcBef>
                <a:spcPts val="1000"/>
              </a:spcBef>
            </a:pPr>
            <a:r>
              <a:rPr sz="1850" b="1">
                <a:solidFill>
                  <a:srgbClr val="A33607"/>
                </a:solidFill>
              </a:rPr>
              <a:t>• 评分重点</a:t>
            </a:r>
          </a:p>
          <a:p>
            <a:pPr>
              <a:spcBef>
                <a:spcPts val="100"/>
              </a:spcBef>
            </a:pPr>
            <a:r>
              <a:rPr sz="1550">
                <a:solidFill>
                  <a:srgbClr val="556075"/>
                </a:solidFill>
              </a:rPr>
              <a:t>   词汇范围&gt;语法多样性&gt;论点深度；短答案得分低</a:t>
            </a:r>
          </a:p>
          <a:p>
            <a:pPr>
              <a:spcBef>
                <a:spcPts val="1000"/>
              </a:spcBef>
            </a:pPr>
            <a:r>
              <a:rPr sz="1850" b="1">
                <a:solidFill>
                  <a:srgbClr val="A33607"/>
                </a:solidFill>
              </a:rPr>
              <a:t>• 目标</a:t>
            </a:r>
          </a:p>
          <a:p>
            <a:pPr>
              <a:spcBef>
                <a:spcPts val="100"/>
              </a:spcBef>
            </a:pPr>
            <a:r>
              <a:rPr sz="1550">
                <a:solidFill>
                  <a:srgbClr val="556075"/>
                </a:solidFill>
              </a:rPr>
              <a:t>   每题至少3-4句，用观点+理由+例子的结构</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三个Part在备考中的重要性分配</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850" b="1">
                <a:solidFill>
                  <a:srgbClr val="A33607"/>
                </a:solidFill>
              </a:rPr>
              <a:t>• Part 1</a:t>
            </a:r>
          </a:p>
          <a:p>
            <a:pPr>
              <a:spcBef>
                <a:spcPts val="100"/>
              </a:spcBef>
            </a:pPr>
            <a:r>
              <a:rPr sz="1550">
                <a:solidFill>
                  <a:srgbClr val="556075"/>
                </a:solidFill>
              </a:rPr>
              <a:t>   40%时间：最基础，也最容易失分（词穷/太短/背稿感）</a:t>
            </a:r>
          </a:p>
          <a:p>
            <a:pPr>
              <a:spcBef>
                <a:spcPts val="1000"/>
              </a:spcBef>
            </a:pPr>
            <a:r>
              <a:rPr sz="1850" b="1">
                <a:solidFill>
                  <a:srgbClr val="A33607"/>
                </a:solidFill>
              </a:rPr>
              <a:t>• Part 2</a:t>
            </a:r>
          </a:p>
          <a:p>
            <a:pPr>
              <a:spcBef>
                <a:spcPts val="100"/>
              </a:spcBef>
            </a:pPr>
            <a:r>
              <a:rPr sz="1550">
                <a:solidFill>
                  <a:srgbClr val="556075"/>
                </a:solidFill>
              </a:rPr>
              <a:t>   35%时间：时间管理是关键，说短/说长都会扣分</a:t>
            </a:r>
          </a:p>
          <a:p>
            <a:pPr>
              <a:spcBef>
                <a:spcPts val="1000"/>
              </a:spcBef>
            </a:pPr>
            <a:r>
              <a:rPr sz="1850" b="1">
                <a:solidFill>
                  <a:srgbClr val="A33607"/>
                </a:solidFill>
              </a:rPr>
              <a:t>• Part 3</a:t>
            </a:r>
          </a:p>
          <a:p>
            <a:pPr>
              <a:spcBef>
                <a:spcPts val="100"/>
              </a:spcBef>
            </a:pPr>
            <a:r>
              <a:rPr sz="1550">
                <a:solidFill>
                  <a:srgbClr val="556075"/>
                </a:solidFill>
              </a:rPr>
              <a:t>   25%时间：深圳学生最弱但不是最该投入时间的部分</a:t>
            </a:r>
          </a:p>
          <a:p>
            <a:pPr>
              <a:spcBef>
                <a:spcPts val="1000"/>
              </a:spcBef>
            </a:pPr>
            <a:r>
              <a:rPr sz="1850" b="1">
                <a:solidFill>
                  <a:srgbClr val="A33607"/>
                </a:solidFill>
              </a:rPr>
              <a:t>• 原则</a:t>
            </a:r>
          </a:p>
          <a:p>
            <a:pPr>
              <a:spcBef>
                <a:spcPts val="100"/>
              </a:spcBef>
            </a:pPr>
            <a:r>
              <a:rPr sz="1550">
                <a:solidFill>
                  <a:srgbClr val="556075"/>
                </a:solidFill>
              </a:rPr>
              <a:t>   先把Part 1/2做稳，Part 3基础达标，整体分数更稳</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三个Part的时间感知练习</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6576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以下三个时间段，用手机计时，感受长短：
① 计时30秒（Part 1每题最低时长）
② 计时2分钟（Part 2目标发言时长）
③ 计时4分30秒（Part 3总时长感受）
说一段关于你自己的话，感受每个时间段有多长</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大多数学生发现：30秒比想象的短（平均只能说30-40个词）；2分钟比想象的长（需要准备很多内容）
Part 1每题平均35-50词，Part 2平均200-250词</a:t>
            </a:r>
          </a:p>
        </p:txBody>
      </p:sp>
      <p:sp>
        <p:nvSpPr>
          <p:cNvPr id="14" name="Rectangle 13"/>
          <p:cNvSpPr/>
          <p:nvPr/>
        </p:nvSpPr>
        <p:spPr>
          <a:xfrm>
            <a:off x="548640" y="5669279"/>
            <a:ext cx="11064240" cy="36576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Part 2时间管理口诀：1分钟准备写6-8个关键词→发言开头定基调→展开每个点15-20秒</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口语vs写作：为什么口语更难提分</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6576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对比以下两种情况，回答口语考试更难的原因：
写作：有时间思考，可以修改
口语：实时产出，说了不能改，还要应对考官追问</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口语难在：①实时翻译负担②紧张情绪影响③发音同时思考内容④无法修改已说内容
但口语也有优势：考官是人，会给facial feedback；不必完美，流利&gt;准确</a:t>
            </a:r>
          </a:p>
        </p:txBody>
      </p:sp>
      <p:sp>
        <p:nvSpPr>
          <p:cNvPr id="14" name="Rectangle 13"/>
          <p:cNvSpPr/>
          <p:nvPr/>
        </p:nvSpPr>
        <p:spPr>
          <a:xfrm>
            <a:off x="548640" y="5669279"/>
            <a:ext cx="11064240" cy="36576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口语备考的核心是：减少实时翻译的认知负担——大量输出练习，让英语表达"自动化"</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8C1D"/>
                </a:solidFill>
                <a:latin typeface="Calibri"/>
              </a:rPr>
              <a:t>PART 02</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四维评分标准详解</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Four Scoring Criteria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CC：流利度与连贯性（25%）</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43000"/>
            <a:ext cx="11064240" cy="8686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A33607"/>
                </a:solidFill>
                <a:latin typeface="Calibri"/>
              </a:rPr>
              <a:t>Fluency &amp; Coherence</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A33607"/>
                </a:solidFill>
              </a:rPr>
              <a:t>• 流利度定义</a:t>
            </a:r>
          </a:p>
          <a:p>
            <a:pPr>
              <a:spcBef>
                <a:spcPts val="100"/>
              </a:spcBef>
            </a:pPr>
            <a:r>
              <a:rPr sz="1500">
                <a:solidFill>
                  <a:srgbClr val="556075"/>
                </a:solidFill>
              </a:rPr>
              <a:t>   语速自然，停顿合理——不是"说得快"，是"说得流畅"</a:t>
            </a:r>
          </a:p>
          <a:p>
            <a:pPr>
              <a:spcBef>
                <a:spcPts val="900"/>
              </a:spcBef>
            </a:pPr>
            <a:r>
              <a:rPr sz="1800" b="1">
                <a:solidFill>
                  <a:srgbClr val="A33607"/>
                </a:solidFill>
              </a:rPr>
              <a:t>• 连贯性定义</a:t>
            </a:r>
          </a:p>
          <a:p>
            <a:pPr>
              <a:spcBef>
                <a:spcPts val="100"/>
              </a:spcBef>
            </a:pPr>
            <a:r>
              <a:rPr sz="1500">
                <a:solidFill>
                  <a:srgbClr val="556075"/>
                </a:solidFill>
              </a:rPr>
              <a:t>   逻辑清晰，上下文有联系，使用连接词自然过渡</a:t>
            </a:r>
          </a:p>
          <a:p>
            <a:pPr>
              <a:spcBef>
                <a:spcPts val="900"/>
              </a:spcBef>
            </a:pPr>
            <a:r>
              <a:rPr sz="1800" b="1">
                <a:solidFill>
                  <a:srgbClr val="A33607"/>
                </a:solidFill>
              </a:rPr>
              <a:t>• 扣分行为</a:t>
            </a:r>
          </a:p>
          <a:p>
            <a:pPr>
              <a:spcBef>
                <a:spcPts val="100"/>
              </a:spcBef>
            </a:pPr>
            <a:r>
              <a:rPr sz="1500">
                <a:solidFill>
                  <a:srgbClr val="556075"/>
                </a:solidFill>
              </a:rPr>
              <a:t>   频繁的"um/uh/er"停顿，答完半句停下，逻辑跳跃</a:t>
            </a:r>
          </a:p>
          <a:p>
            <a:pPr>
              <a:spcBef>
                <a:spcPts val="900"/>
              </a:spcBef>
            </a:pPr>
            <a:r>
              <a:rPr sz="1800" b="1">
                <a:solidFill>
                  <a:srgbClr val="A33607"/>
                </a:solidFill>
              </a:rPr>
              <a:t>• 得分行为</a:t>
            </a:r>
          </a:p>
          <a:p>
            <a:pPr>
              <a:spcBef>
                <a:spcPts val="100"/>
              </a:spcBef>
            </a:pPr>
            <a:r>
              <a:rPr sz="1500">
                <a:solidFill>
                  <a:srgbClr val="556075"/>
                </a:solidFill>
              </a:rPr>
              <a:t>   自然的语速，用"well/actually/I think"等填充语过渡</a:t>
            </a:r>
          </a:p>
          <a:p>
            <a:pPr>
              <a:spcBef>
                <a:spcPts val="900"/>
              </a:spcBef>
            </a:pPr>
            <a:r>
              <a:rPr sz="1800" b="1">
                <a:solidFill>
                  <a:srgbClr val="A33607"/>
                </a:solidFill>
              </a:rPr>
              <a:t>• 深圳学生问题</a:t>
            </a:r>
          </a:p>
          <a:p>
            <a:pPr>
              <a:spcBef>
                <a:spcPts val="100"/>
              </a:spcBef>
            </a:pPr>
            <a:r>
              <a:rPr sz="1500">
                <a:solidFill>
                  <a:srgbClr val="556075"/>
                </a:solidFill>
              </a:rPr>
              <a:t>   说话断断续续，每句之间有明显的"想词"停顿</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LR：词汇范围（25%）</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43000"/>
            <a:ext cx="11064240" cy="8686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A33607"/>
                </a:solidFill>
                <a:latin typeface="Calibri"/>
              </a:rPr>
              <a:t>Lexical Resource</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A33607"/>
                </a:solidFill>
              </a:rPr>
              <a:t>• 范围定义</a:t>
            </a:r>
          </a:p>
          <a:p>
            <a:pPr>
              <a:spcBef>
                <a:spcPts val="100"/>
              </a:spcBef>
            </a:pPr>
            <a:r>
              <a:rPr sz="1500">
                <a:solidFill>
                  <a:srgbClr val="556075"/>
                </a:solidFill>
              </a:rPr>
              <a:t>   使用词汇的多样性和准确性——不重复同一词，用地道搭配</a:t>
            </a:r>
          </a:p>
          <a:p>
            <a:pPr>
              <a:spcBef>
                <a:spcPts val="900"/>
              </a:spcBef>
            </a:pPr>
            <a:r>
              <a:rPr sz="1800" b="1">
                <a:solidFill>
                  <a:srgbClr val="A33607"/>
                </a:solidFill>
              </a:rPr>
              <a:t>• 精准定义</a:t>
            </a:r>
          </a:p>
          <a:p>
            <a:pPr>
              <a:spcBef>
                <a:spcPts val="100"/>
              </a:spcBef>
            </a:pPr>
            <a:r>
              <a:rPr sz="1500">
                <a:solidFill>
                  <a:srgbClr val="556075"/>
                </a:solidFill>
              </a:rPr>
              <a:t>   词汇用在正确的语境中，搭配自然</a:t>
            </a:r>
          </a:p>
          <a:p>
            <a:pPr>
              <a:spcBef>
                <a:spcPts val="900"/>
              </a:spcBef>
            </a:pPr>
            <a:r>
              <a:rPr sz="1800" b="1">
                <a:solidFill>
                  <a:srgbClr val="A33607"/>
                </a:solidFill>
              </a:rPr>
              <a:t>• 6分词汇</a:t>
            </a:r>
          </a:p>
          <a:p>
            <a:pPr>
              <a:spcBef>
                <a:spcPts val="100"/>
              </a:spcBef>
            </a:pPr>
            <a:r>
              <a:rPr sz="1500">
                <a:solidFill>
                  <a:srgbClr val="556075"/>
                </a:solidFill>
              </a:rPr>
              <a:t>   使用常见词，偶尔有较复杂词汇，但搭配错误较多</a:t>
            </a:r>
          </a:p>
          <a:p>
            <a:pPr>
              <a:spcBef>
                <a:spcPts val="900"/>
              </a:spcBef>
            </a:pPr>
            <a:r>
              <a:rPr sz="1800" b="1">
                <a:solidFill>
                  <a:srgbClr val="A33607"/>
                </a:solidFill>
              </a:rPr>
              <a:t>• 7分词汇</a:t>
            </a:r>
          </a:p>
          <a:p>
            <a:pPr>
              <a:spcBef>
                <a:spcPts val="100"/>
              </a:spcBef>
            </a:pPr>
            <a:r>
              <a:rPr sz="1500">
                <a:solidFill>
                  <a:srgbClr val="556075"/>
                </a:solidFill>
              </a:rPr>
              <a:t>   使用较丰富词汇，搭配基本正确，偶有不地道</a:t>
            </a:r>
          </a:p>
          <a:p>
            <a:pPr>
              <a:spcBef>
                <a:spcPts val="900"/>
              </a:spcBef>
            </a:pPr>
            <a:r>
              <a:rPr sz="1800" b="1">
                <a:solidFill>
                  <a:srgbClr val="A33607"/>
                </a:solidFill>
              </a:rPr>
              <a:t>• 8分词汇</a:t>
            </a:r>
          </a:p>
          <a:p>
            <a:pPr>
              <a:spcBef>
                <a:spcPts val="100"/>
              </a:spcBef>
            </a:pPr>
            <a:r>
              <a:rPr sz="1500">
                <a:solidFill>
                  <a:srgbClr val="556075"/>
                </a:solidFill>
              </a:rPr>
              <a:t>   使用话题相关词汇，搭配自然，能用习语/固定表达</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GRA与P评分标准对比</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850" b="1">
                <a:solidFill>
                  <a:srgbClr val="A33607"/>
                </a:solidFill>
              </a:rPr>
              <a:t>• GRA（语法）</a:t>
            </a:r>
          </a:p>
          <a:p>
            <a:pPr>
              <a:spcBef>
                <a:spcPts val="100"/>
              </a:spcBef>
            </a:pPr>
            <a:r>
              <a:rPr sz="1550">
                <a:solidFill>
                  <a:srgbClr val="556075"/>
                </a:solidFill>
              </a:rPr>
              <a:t>   使用多样语法结构：简单句+复合句+条件句+从句——不是只用简单句</a:t>
            </a:r>
          </a:p>
          <a:p>
            <a:pPr>
              <a:spcBef>
                <a:spcPts val="1000"/>
              </a:spcBef>
            </a:pPr>
            <a:r>
              <a:rPr sz="1850" b="1">
                <a:solidFill>
                  <a:srgbClr val="A33607"/>
                </a:solidFill>
              </a:rPr>
              <a:t>• P（发音）</a:t>
            </a:r>
          </a:p>
          <a:p>
            <a:pPr>
              <a:spcBef>
                <a:spcPts val="100"/>
              </a:spcBef>
            </a:pPr>
            <a:r>
              <a:rPr sz="1550">
                <a:solidFill>
                  <a:srgbClr val="556075"/>
                </a:solidFill>
              </a:rPr>
              <a:t>   能被考官轻松理解：元音/辅音基本准确，语调自然，重音正确</a:t>
            </a:r>
          </a:p>
          <a:p>
            <a:pPr>
              <a:spcBef>
                <a:spcPts val="1000"/>
              </a:spcBef>
            </a:pPr>
            <a:r>
              <a:rPr sz="1850" b="1">
                <a:solidFill>
                  <a:srgbClr val="A33607"/>
                </a:solidFill>
              </a:rPr>
              <a:t>• GRA 6分</a:t>
            </a:r>
          </a:p>
          <a:p>
            <a:pPr>
              <a:spcBef>
                <a:spcPts val="100"/>
              </a:spcBef>
            </a:pPr>
            <a:r>
              <a:rPr sz="1550">
                <a:solidFill>
                  <a:srgbClr val="556075"/>
                </a:solidFill>
              </a:rPr>
              <a:t>   主要使用简单句，偶尔用复合句，错误较多</a:t>
            </a:r>
          </a:p>
          <a:p>
            <a:pPr>
              <a:spcBef>
                <a:spcPts val="1000"/>
              </a:spcBef>
            </a:pPr>
            <a:r>
              <a:rPr sz="1850" b="1">
                <a:solidFill>
                  <a:srgbClr val="A33607"/>
                </a:solidFill>
              </a:rPr>
              <a:t>• GRA 7分</a:t>
            </a:r>
          </a:p>
          <a:p>
            <a:pPr>
              <a:spcBef>
                <a:spcPts val="100"/>
              </a:spcBef>
            </a:pPr>
            <a:r>
              <a:rPr sz="1550">
                <a:solidFill>
                  <a:srgbClr val="556075"/>
                </a:solidFill>
              </a:rPr>
              <a:t>   复合句比例提高，错误减少，复杂句式偶有出现</a:t>
            </a:r>
          </a:p>
          <a:p>
            <a:pPr>
              <a:spcBef>
                <a:spcPts val="1000"/>
              </a:spcBef>
            </a:pPr>
            <a:r>
              <a:rPr sz="1850" b="1">
                <a:solidFill>
                  <a:srgbClr val="A33607"/>
                </a:solidFill>
              </a:rPr>
              <a:t>• P 6-7分</a:t>
            </a:r>
          </a:p>
          <a:p>
            <a:pPr>
              <a:spcBef>
                <a:spcPts val="100"/>
              </a:spcBef>
            </a:pPr>
            <a:r>
              <a:rPr sz="1550">
                <a:solidFill>
                  <a:srgbClr val="556075"/>
                </a:solidFill>
              </a:rPr>
              <a:t>   基本可以理解，有明显口音，偶尔影响理解</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分数换算与目标设定</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850" b="1">
                <a:solidFill>
                  <a:srgbClr val="A33607"/>
                </a:solidFill>
              </a:rPr>
              <a:t>• 6.0分</a:t>
            </a:r>
          </a:p>
          <a:p>
            <a:pPr>
              <a:spcBef>
                <a:spcPts val="100"/>
              </a:spcBef>
            </a:pPr>
            <a:r>
              <a:rPr sz="1550">
                <a:solidFill>
                  <a:srgbClr val="556075"/>
                </a:solidFill>
              </a:rPr>
              <a:t>   CC/LR/GRA/P各约6分——日常交流流畅但词汇/语法有限</a:t>
            </a:r>
          </a:p>
          <a:p>
            <a:pPr>
              <a:spcBef>
                <a:spcPts val="1000"/>
              </a:spcBef>
            </a:pPr>
            <a:r>
              <a:rPr sz="1850" b="1">
                <a:solidFill>
                  <a:srgbClr val="A33607"/>
                </a:solidFill>
              </a:rPr>
              <a:t>• 6.5分</a:t>
            </a:r>
          </a:p>
          <a:p>
            <a:pPr>
              <a:spcBef>
                <a:spcPts val="100"/>
              </a:spcBef>
            </a:pPr>
            <a:r>
              <a:rPr sz="1550">
                <a:solidFill>
                  <a:srgbClr val="556075"/>
                </a:solidFill>
              </a:rPr>
              <a:t>   至少两个维度达到7分——需要有一定词汇范围和语法复杂性</a:t>
            </a:r>
          </a:p>
          <a:p>
            <a:pPr>
              <a:spcBef>
                <a:spcPts val="1000"/>
              </a:spcBef>
            </a:pPr>
            <a:r>
              <a:rPr sz="1850" b="1">
                <a:solidFill>
                  <a:srgbClr val="A33607"/>
                </a:solidFill>
              </a:rPr>
              <a:t>• 7.0分</a:t>
            </a:r>
          </a:p>
          <a:p>
            <a:pPr>
              <a:spcBef>
                <a:spcPts val="100"/>
              </a:spcBef>
            </a:pPr>
            <a:r>
              <a:rPr sz="1550">
                <a:solidFill>
                  <a:srgbClr val="556075"/>
                </a:solidFill>
              </a:rPr>
              <a:t>   大多数维度7分——需要稳定的复杂句+话题词汇+较少停顿</a:t>
            </a:r>
          </a:p>
          <a:p>
            <a:pPr>
              <a:spcBef>
                <a:spcPts val="1000"/>
              </a:spcBef>
            </a:pPr>
            <a:r>
              <a:rPr sz="1850" b="1">
                <a:solidFill>
                  <a:srgbClr val="A33607"/>
                </a:solidFill>
              </a:rPr>
              <a:t>• 7.5分</a:t>
            </a:r>
          </a:p>
          <a:p>
            <a:pPr>
              <a:spcBef>
                <a:spcPts val="100"/>
              </a:spcBef>
            </a:pPr>
            <a:r>
              <a:rPr sz="1550">
                <a:solidFill>
                  <a:srgbClr val="556075"/>
                </a:solidFill>
              </a:rPr>
              <a:t>   多数维度7-8分——语法多样+词汇丰富+发音清晰</a:t>
            </a:r>
          </a:p>
          <a:p>
            <a:pPr>
              <a:spcBef>
                <a:spcPts val="1000"/>
              </a:spcBef>
            </a:pPr>
            <a:r>
              <a:rPr sz="1850" b="1">
                <a:solidFill>
                  <a:srgbClr val="A33607"/>
                </a:solidFill>
              </a:rPr>
              <a:t>• 深圳学生目标</a:t>
            </a:r>
          </a:p>
          <a:p>
            <a:pPr>
              <a:spcBef>
                <a:spcPts val="100"/>
              </a:spcBef>
            </a:pPr>
            <a:r>
              <a:rPr sz="1550">
                <a:solidFill>
                  <a:srgbClr val="556075"/>
                </a:solidFill>
              </a:rPr>
              <a:t>   GRA和LR最容易通过备考提高；CC和P需要长期开口练习</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评分维度自测</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6576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以下问题用英语回答30秒："Tell me about your hometown."回答完成后自评：
① CC：停顿几次？停顿时用了什么填充语？
② LR：用了几个不同词？有没有话题相关词汇？
③ GRA：用了几种句式？有没有复合句/从句？
④ P：考官能听懂吗？有没有因为发音让表达不清楚？</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CC评估：超过3次3秒以上停顿=6分；1-2次自然停顿=7分
LR评估：只用基础词（big/good/like）=6分；有话题词=7分
GRA评估：全是简单句=6分；有1-2个复合句=7分
P评估：需要考官重复听才理解=6分；基本清晰=7分</a:t>
            </a:r>
          </a:p>
        </p:txBody>
      </p:sp>
      <p:sp>
        <p:nvSpPr>
          <p:cNvPr id="14" name="Rectangle 13"/>
          <p:cNvSpPr/>
          <p:nvPr/>
        </p:nvSpPr>
        <p:spPr>
          <a:xfrm>
            <a:off x="548640" y="5669279"/>
            <a:ext cx="11064240" cy="36576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四维度中先找最弱的那个——提最弱的维度比提已经6.5的维度性价比更高</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7分vs6分的实际差距</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6576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同一个问题"Why do people enjoy traveling?"的两种答案：
6分答案：People like traveling because it is interesting. They can see new places and learn new things.
7分答案：I think people are drawn to travel mainly because it offers a break from routine. When you visit somewhere unfamiliar, you're constantly exposed to new cultures and perspectives, which can be genuinely eye-opening.</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差距分析：
CC：7分答案更流畅，连接词用法自然（I think/mainly because/which）
LR：drawn to/break from routine/exposed to/eye-opening vs like/interesting
GRA：when从句+被动语态+which定语从句 vs 简单句
P：两者发音要求类似，但7分词汇的发音准确率要求更高</a:t>
            </a:r>
          </a:p>
        </p:txBody>
      </p:sp>
      <p:sp>
        <p:nvSpPr>
          <p:cNvPr id="14" name="Rectangle 13"/>
          <p:cNvSpPr/>
          <p:nvPr/>
        </p:nvSpPr>
        <p:spPr>
          <a:xfrm>
            <a:off x="548640" y="5669279"/>
            <a:ext cx="11064240" cy="36576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从6分到7分不需要学"高级词汇"，而是把已知词汇用得更精准，句式更多样</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8C1D"/>
                </a:solidFill>
                <a:latin typeface="Calibri"/>
              </a:rPr>
              <a:t>PART 03</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深圳学生失分模式分析</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Failure Pattern Analysis for Shenzhen Students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失分模式1：词穷性失分</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43000"/>
            <a:ext cx="11064240" cy="8686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A33607"/>
                </a:solidFill>
                <a:latin typeface="Calibri"/>
              </a:rPr>
              <a:t>想到了但说不出</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A33607"/>
                </a:solidFill>
              </a:rPr>
              <a:t>• 表现</a:t>
            </a:r>
          </a:p>
          <a:p>
            <a:pPr>
              <a:spcBef>
                <a:spcPts val="100"/>
              </a:spcBef>
            </a:pPr>
            <a:r>
              <a:rPr sz="1500">
                <a:solidFill>
                  <a:srgbClr val="556075"/>
                </a:solidFill>
              </a:rPr>
              <a:t>   停顿找词超过3秒；用简单词代替（thing/stuff/good/bad）</a:t>
            </a:r>
          </a:p>
          <a:p>
            <a:pPr>
              <a:spcBef>
                <a:spcPts val="900"/>
              </a:spcBef>
            </a:pPr>
            <a:r>
              <a:rPr sz="1800" b="1">
                <a:solidFill>
                  <a:srgbClr val="A33607"/>
                </a:solidFill>
              </a:rPr>
              <a:t>• 根本原因</a:t>
            </a:r>
          </a:p>
          <a:p>
            <a:pPr>
              <a:spcBef>
                <a:spcPts val="100"/>
              </a:spcBef>
            </a:pPr>
            <a:r>
              <a:rPr sz="1500">
                <a:solidFill>
                  <a:srgbClr val="556075"/>
                </a:solidFill>
              </a:rPr>
              <a:t>   词汇量有但"激活"不够——能认识不能产出</a:t>
            </a:r>
          </a:p>
          <a:p>
            <a:pPr>
              <a:spcBef>
                <a:spcPts val="900"/>
              </a:spcBef>
            </a:pPr>
            <a:r>
              <a:rPr sz="1800" b="1">
                <a:solidFill>
                  <a:srgbClr val="A33607"/>
                </a:solidFill>
              </a:rPr>
              <a:t>• 深圳特点</a:t>
            </a:r>
          </a:p>
          <a:p>
            <a:pPr>
              <a:spcBef>
                <a:spcPts val="100"/>
              </a:spcBef>
            </a:pPr>
            <a:r>
              <a:rPr sz="1500">
                <a:solidFill>
                  <a:srgbClr val="556075"/>
                </a:solidFill>
              </a:rPr>
              <a:t>   书面词汇量大，但口头产出词汇量只有书面的20-30%</a:t>
            </a:r>
          </a:p>
          <a:p>
            <a:pPr>
              <a:spcBef>
                <a:spcPts val="900"/>
              </a:spcBef>
            </a:pPr>
            <a:r>
              <a:rPr sz="1800" b="1">
                <a:solidFill>
                  <a:srgbClr val="A33607"/>
                </a:solidFill>
              </a:rPr>
              <a:t>• 解决方向</a:t>
            </a:r>
          </a:p>
          <a:p>
            <a:pPr>
              <a:spcBef>
                <a:spcPts val="100"/>
              </a:spcBef>
            </a:pPr>
            <a:r>
              <a:rPr sz="1500">
                <a:solidFill>
                  <a:srgbClr val="556075"/>
                </a:solidFill>
              </a:rPr>
              <a:t>   话题词汇激活训练：每个话题准备20个"可以立刻说出口"的词</a:t>
            </a:r>
          </a:p>
          <a:p>
            <a:pPr>
              <a:spcBef>
                <a:spcPts val="900"/>
              </a:spcBef>
            </a:pPr>
            <a:r>
              <a:rPr sz="1800" b="1">
                <a:solidFill>
                  <a:srgbClr val="A33607"/>
                </a:solidFill>
              </a:rPr>
              <a:t>• 训练方法</a:t>
            </a:r>
          </a:p>
          <a:p>
            <a:pPr>
              <a:spcBef>
                <a:spcPts val="100"/>
              </a:spcBef>
            </a:pPr>
            <a:r>
              <a:rPr sz="1500">
                <a:solidFill>
                  <a:srgbClr val="556075"/>
                </a:solidFill>
              </a:rPr>
              <a:t>   每天对着镜子说5分钟，强迫自己用目标词汇</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失分模式2：中式英语与套话</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43000"/>
            <a:ext cx="11064240" cy="8686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A33607"/>
                </a:solidFill>
                <a:latin typeface="Calibri"/>
              </a:rPr>
              <a:t>说出来了但不地道</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A33607"/>
                </a:solidFill>
              </a:rPr>
              <a:t>• 表现</a:t>
            </a:r>
          </a:p>
          <a:p>
            <a:pPr>
              <a:spcBef>
                <a:spcPts val="100"/>
              </a:spcBef>
            </a:pPr>
            <a:r>
              <a:rPr sz="1500">
                <a:solidFill>
                  <a:srgbClr val="556075"/>
                </a:solidFill>
              </a:rPr>
              <a:t>   逐字翻译中文（"I very like it"），套背过的模板</a:t>
            </a:r>
          </a:p>
          <a:p>
            <a:pPr>
              <a:spcBef>
                <a:spcPts val="900"/>
              </a:spcBef>
            </a:pPr>
            <a:r>
              <a:rPr sz="1800" b="1">
                <a:solidFill>
                  <a:srgbClr val="A33607"/>
                </a:solidFill>
              </a:rPr>
              <a:t>• 根本原因</a:t>
            </a:r>
          </a:p>
          <a:p>
            <a:pPr>
              <a:spcBef>
                <a:spcPts val="100"/>
              </a:spcBef>
            </a:pPr>
            <a:r>
              <a:rPr sz="1500">
                <a:solidFill>
                  <a:srgbClr val="556075"/>
                </a:solidFill>
              </a:rPr>
              <a:t>   缺乏英语思维习惯，背模板不如建立表达习惯</a:t>
            </a:r>
          </a:p>
          <a:p>
            <a:pPr>
              <a:spcBef>
                <a:spcPts val="900"/>
              </a:spcBef>
            </a:pPr>
            <a:r>
              <a:rPr sz="1800" b="1">
                <a:solidFill>
                  <a:srgbClr val="A33607"/>
                </a:solidFill>
              </a:rPr>
              <a:t>• 套话风险</a:t>
            </a:r>
          </a:p>
          <a:p>
            <a:pPr>
              <a:spcBef>
                <a:spcPts val="100"/>
              </a:spcBef>
            </a:pPr>
            <a:r>
              <a:rPr sz="1500">
                <a:solidFill>
                  <a:srgbClr val="556075"/>
                </a:solidFill>
              </a:rPr>
              <a:t>   考官每天听几十个考生，背诵模板一眼识别，CC分直接降</a:t>
            </a:r>
          </a:p>
          <a:p>
            <a:pPr>
              <a:spcBef>
                <a:spcPts val="900"/>
              </a:spcBef>
            </a:pPr>
            <a:r>
              <a:rPr sz="1800" b="1">
                <a:solidFill>
                  <a:srgbClr val="A33607"/>
                </a:solidFill>
              </a:rPr>
              <a:t>• 解决方向</a:t>
            </a:r>
          </a:p>
          <a:p>
            <a:pPr>
              <a:spcBef>
                <a:spcPts val="100"/>
              </a:spcBef>
            </a:pPr>
            <a:r>
              <a:rPr sz="1500">
                <a:solidFill>
                  <a:srgbClr val="556075"/>
                </a:solidFill>
              </a:rPr>
              <a:t>   学"表达方式"而非"模板句子"——学how to connect ideas</a:t>
            </a:r>
          </a:p>
          <a:p>
            <a:pPr>
              <a:spcBef>
                <a:spcPts val="900"/>
              </a:spcBef>
            </a:pPr>
            <a:r>
              <a:rPr sz="1800" b="1">
                <a:solidFill>
                  <a:srgbClr val="A33607"/>
                </a:solidFill>
              </a:rPr>
              <a:t>• 训练方法</a:t>
            </a:r>
          </a:p>
          <a:p>
            <a:pPr>
              <a:spcBef>
                <a:spcPts val="100"/>
              </a:spcBef>
            </a:pPr>
            <a:r>
              <a:rPr sz="1500">
                <a:solidFill>
                  <a:srgbClr val="556075"/>
                </a:solidFill>
              </a:rPr>
              <a:t>   影子跟读+改写练习：把中文直译句改成地道英文表达</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失分模式3和4分析</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850" b="1">
                <a:solidFill>
                  <a:srgbClr val="A33607"/>
                </a:solidFill>
              </a:rPr>
              <a:t>• 模式3：语法错误过多</a:t>
            </a:r>
          </a:p>
          <a:p>
            <a:pPr>
              <a:spcBef>
                <a:spcPts val="100"/>
              </a:spcBef>
            </a:pPr>
            <a:r>
              <a:rPr sz="1550">
                <a:solidFill>
                  <a:srgbClr val="556075"/>
                </a:solidFill>
              </a:rPr>
              <a:t>   时态混乱/主谓不一致/冠词缺失——每句有错误GRA难超6.5</a:t>
            </a:r>
          </a:p>
          <a:p>
            <a:pPr>
              <a:spcBef>
                <a:spcPts val="1000"/>
              </a:spcBef>
            </a:pPr>
            <a:r>
              <a:rPr sz="1850" b="1">
                <a:solidFill>
                  <a:srgbClr val="A33607"/>
                </a:solidFill>
              </a:rPr>
              <a:t>• 模式4：发音影响理解</a:t>
            </a:r>
          </a:p>
          <a:p>
            <a:pPr>
              <a:spcBef>
                <a:spcPts val="100"/>
              </a:spcBef>
            </a:pPr>
            <a:r>
              <a:rPr sz="1550">
                <a:solidFill>
                  <a:srgbClr val="556075"/>
                </a:solidFill>
              </a:rPr>
              <a:t>   广东口音特征：n/l不分/词尾辅音省略——考官需要猜意思才能理解</a:t>
            </a:r>
          </a:p>
          <a:p>
            <a:pPr>
              <a:spcBef>
                <a:spcPts val="1000"/>
              </a:spcBef>
            </a:pPr>
            <a:r>
              <a:rPr sz="1850" b="1">
                <a:solidFill>
                  <a:srgbClr val="A33607"/>
                </a:solidFill>
              </a:rPr>
              <a:t>• 模式5：答案太短</a:t>
            </a:r>
          </a:p>
          <a:p>
            <a:pPr>
              <a:spcBef>
                <a:spcPts val="100"/>
              </a:spcBef>
            </a:pPr>
            <a:r>
              <a:rPr sz="1550">
                <a:solidFill>
                  <a:srgbClr val="556075"/>
                </a:solidFill>
              </a:rPr>
              <a:t>   每题只答1-2句就停——CC分因内容不足被扣，考官会一直追问</a:t>
            </a:r>
          </a:p>
          <a:p>
            <a:pPr>
              <a:spcBef>
                <a:spcPts val="1000"/>
              </a:spcBef>
            </a:pPr>
            <a:r>
              <a:rPr sz="1850" b="1">
                <a:solidFill>
                  <a:srgbClr val="A33607"/>
                </a:solidFill>
              </a:rPr>
              <a:t>• 优先级</a:t>
            </a:r>
          </a:p>
          <a:p>
            <a:pPr>
              <a:spcBef>
                <a:spcPts val="100"/>
              </a:spcBef>
            </a:pPr>
            <a:r>
              <a:rPr sz="1550">
                <a:solidFill>
                  <a:srgbClr val="556075"/>
                </a:solidFill>
              </a:rPr>
              <a:t>   先解决模式1（词穷）和模式5（太短）——这两个最快见效</a:t>
            </a:r>
          </a:p>
          <a:p>
            <a:pPr>
              <a:spcBef>
                <a:spcPts val="1000"/>
              </a:spcBef>
            </a:pPr>
            <a:r>
              <a:rPr sz="1850" b="1">
                <a:solidFill>
                  <a:srgbClr val="A33607"/>
                </a:solidFill>
              </a:rPr>
              <a:t>• 时间分配</a:t>
            </a:r>
          </a:p>
          <a:p>
            <a:pPr>
              <a:spcBef>
                <a:spcPts val="100"/>
              </a:spcBef>
            </a:pPr>
            <a:r>
              <a:rPr sz="1550">
                <a:solidFill>
                  <a:srgbClr val="556075"/>
                </a:solidFill>
              </a:rPr>
              <a:t>   10节课：L02-L05解决模式5；L06-L09解决模式1/2/3/4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失分模式速查与自测</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850" b="1">
                <a:solidFill>
                  <a:srgbClr val="A33607"/>
                </a:solidFill>
              </a:rPr>
              <a:t>• 自测方法</a:t>
            </a:r>
          </a:p>
          <a:p>
            <a:pPr>
              <a:spcBef>
                <a:spcPts val="100"/>
              </a:spcBef>
            </a:pPr>
            <a:r>
              <a:rPr sz="1550">
                <a:solidFill>
                  <a:srgbClr val="556075"/>
                </a:solidFill>
              </a:rPr>
              <a:t>   录音30秒，回答"Tell me about a movie you like"，然后逐条对照</a:t>
            </a:r>
          </a:p>
          <a:p>
            <a:pPr>
              <a:spcBef>
                <a:spcPts val="1000"/>
              </a:spcBef>
            </a:pPr>
            <a:r>
              <a:rPr sz="1850" b="1">
                <a:solidFill>
                  <a:srgbClr val="A33607"/>
                </a:solidFill>
              </a:rPr>
              <a:t>• CC检查</a:t>
            </a:r>
          </a:p>
          <a:p>
            <a:pPr>
              <a:spcBef>
                <a:spcPts val="100"/>
              </a:spcBef>
            </a:pPr>
            <a:r>
              <a:rPr sz="1550">
                <a:solidFill>
                  <a:srgbClr val="556075"/>
                </a:solidFill>
              </a:rPr>
              <a:t>   停顿几次？每次停多久？用了哪些填充语？</a:t>
            </a:r>
          </a:p>
          <a:p>
            <a:pPr>
              <a:spcBef>
                <a:spcPts val="1000"/>
              </a:spcBef>
            </a:pPr>
            <a:r>
              <a:rPr sz="1850" b="1">
                <a:solidFill>
                  <a:srgbClr val="A33607"/>
                </a:solidFill>
              </a:rPr>
              <a:t>• LR检查</a:t>
            </a:r>
          </a:p>
          <a:p>
            <a:pPr>
              <a:spcBef>
                <a:spcPts val="100"/>
              </a:spcBef>
            </a:pPr>
            <a:r>
              <a:rPr sz="1550">
                <a:solidFill>
                  <a:srgbClr val="556075"/>
                </a:solidFill>
              </a:rPr>
              <a:t>   词汇多样吗？有话题相关词（plot/character/scene）吗？</a:t>
            </a:r>
          </a:p>
          <a:p>
            <a:pPr>
              <a:spcBef>
                <a:spcPts val="1000"/>
              </a:spcBef>
            </a:pPr>
            <a:r>
              <a:rPr sz="1850" b="1">
                <a:solidFill>
                  <a:srgbClr val="A33607"/>
                </a:solidFill>
              </a:rPr>
              <a:t>• GRA检查</a:t>
            </a:r>
          </a:p>
          <a:p>
            <a:pPr>
              <a:spcBef>
                <a:spcPts val="100"/>
              </a:spcBef>
            </a:pPr>
            <a:r>
              <a:rPr sz="1550">
                <a:solidFill>
                  <a:srgbClr val="556075"/>
                </a:solidFill>
              </a:rPr>
              <a:t>   有复合句/从句吗？时态正确吗？主谓一致吗？</a:t>
            </a:r>
          </a:p>
          <a:p>
            <a:pPr>
              <a:spcBef>
                <a:spcPts val="1000"/>
              </a:spcBef>
            </a:pPr>
            <a:r>
              <a:rPr sz="1850" b="1">
                <a:solidFill>
                  <a:srgbClr val="A33607"/>
                </a:solidFill>
              </a:rPr>
              <a:t>• P检查</a:t>
            </a:r>
          </a:p>
          <a:p>
            <a:pPr>
              <a:spcBef>
                <a:spcPts val="100"/>
              </a:spcBef>
            </a:pPr>
            <a:r>
              <a:rPr sz="1550">
                <a:solidFill>
                  <a:srgbClr val="556075"/>
                </a:solidFill>
              </a:rPr>
              <a:t>   听自己录音，感觉清晰吗？有没有让人听不懂的发音？</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失分模式诊断实战</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6576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回答以下问题，录音计时，然后用4维度评分表自评：
"Describe a subject you studied at school that you found interesting."
Part 1风格：用30-45秒回答
Part 3风格：为什么有些学科比其他更吸引人？用60秒回答</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自评清单：
① 说了多少秒？（低于20秒=太短）
② 停顿几次超过3秒？
③ 用了哪些有特色的词汇（不是good/like/very）？
④ 有几个复合句？
⑤ 有没有让人听不懂的发音？</a:t>
            </a:r>
          </a:p>
        </p:txBody>
      </p:sp>
      <p:sp>
        <p:nvSpPr>
          <p:cNvPr id="14" name="Rectangle 13"/>
          <p:cNvSpPr/>
          <p:nvPr/>
        </p:nvSpPr>
        <p:spPr>
          <a:xfrm>
            <a:off x="548640" y="5669279"/>
            <a:ext cx="11064240" cy="36576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录音是最真实的反馈——很多学生觉得自己说得不错，听录音才发现停顿多/词汇重复/语速过慢</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从诊断到行动：个人提升计划</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6576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根据刚才录音的自评结果，找出你的主要失分维度：
如果CC最弱 → 重点学L07（流利度）
如果LR最弱 → 重点学L06（词汇）
如果GRA最弱 → 重点学L08（语法）
如果P最弱 → 重点学L09（发音）
如果答案太短 → 重点学L02-L05（内容扩展）</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每个学生的主要问题不同——这门课提供工具箱，你要找到自己最需要的工具</a:t>
            </a:r>
          </a:p>
        </p:txBody>
      </p:sp>
      <p:sp>
        <p:nvSpPr>
          <p:cNvPr id="14" name="Rectangle 13"/>
          <p:cNvSpPr/>
          <p:nvPr/>
        </p:nvSpPr>
        <p:spPr>
          <a:xfrm>
            <a:off x="548640" y="5669279"/>
            <a:ext cx="11064240" cy="36576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10节课结束后：再做一次录音自评，对比进步——进步是可以看见和听见的</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8C1D"/>
                </a:solidFill>
                <a:latin typeface="Calibri"/>
              </a:rPr>
              <a:t>PART 04</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备考策略与学习框架</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Study Strategy &amp; Learning Framework</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口语备考的核心原则</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43000"/>
            <a:ext cx="11064240" cy="8686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A33607"/>
                </a:solidFill>
                <a:latin typeface="Calibri"/>
              </a:rPr>
              <a:t>与其他技能不同的备考逻辑</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A33607"/>
                </a:solidFill>
              </a:rPr>
              <a:t>• 开口&gt;完美</a:t>
            </a:r>
          </a:p>
          <a:p>
            <a:pPr>
              <a:spcBef>
                <a:spcPts val="100"/>
              </a:spcBef>
            </a:pPr>
            <a:r>
              <a:rPr sz="1500">
                <a:solidFill>
                  <a:srgbClr val="556075"/>
                </a:solidFill>
              </a:rPr>
              <a:t>   宁可说错，不能不说——每次纠结找完美表达=训练的时间浪费</a:t>
            </a:r>
          </a:p>
          <a:p>
            <a:pPr>
              <a:spcBef>
                <a:spcPts val="900"/>
              </a:spcBef>
            </a:pPr>
            <a:r>
              <a:rPr sz="1800" b="1">
                <a:solidFill>
                  <a:srgbClr val="A33607"/>
                </a:solidFill>
              </a:rPr>
              <a:t>• 输出&gt;输入</a:t>
            </a:r>
          </a:p>
          <a:p>
            <a:pPr>
              <a:spcBef>
                <a:spcPts val="100"/>
              </a:spcBef>
            </a:pPr>
            <a:r>
              <a:rPr sz="1500">
                <a:solidFill>
                  <a:srgbClr val="556075"/>
                </a:solidFill>
              </a:rPr>
              <a:t>   听英语/背词汇不如说英语——口语能力靠产出训练，不靠听和读</a:t>
            </a:r>
          </a:p>
          <a:p>
            <a:pPr>
              <a:spcBef>
                <a:spcPts val="900"/>
              </a:spcBef>
            </a:pPr>
            <a:r>
              <a:rPr sz="1800" b="1">
                <a:solidFill>
                  <a:srgbClr val="A33607"/>
                </a:solidFill>
              </a:rPr>
              <a:t>• 真实&gt;模板</a:t>
            </a:r>
          </a:p>
          <a:p>
            <a:pPr>
              <a:spcBef>
                <a:spcPts val="100"/>
              </a:spcBef>
            </a:pPr>
            <a:r>
              <a:rPr sz="1500">
                <a:solidFill>
                  <a:srgbClr val="556075"/>
                </a:solidFill>
              </a:rPr>
              <a:t>   地道的简单表达&gt;完美的背诵模板——考官能分辨</a:t>
            </a:r>
          </a:p>
          <a:p>
            <a:pPr>
              <a:spcBef>
                <a:spcPts val="900"/>
              </a:spcBef>
            </a:pPr>
            <a:r>
              <a:rPr sz="1800" b="1">
                <a:solidFill>
                  <a:srgbClr val="A33607"/>
                </a:solidFill>
              </a:rPr>
              <a:t>• 每天&gt;集中</a:t>
            </a:r>
          </a:p>
          <a:p>
            <a:pPr>
              <a:spcBef>
                <a:spcPts val="100"/>
              </a:spcBef>
            </a:pPr>
            <a:r>
              <a:rPr sz="1500">
                <a:solidFill>
                  <a:srgbClr val="556075"/>
                </a:solidFill>
              </a:rPr>
              <a:t>   每天15分钟开口&gt;每周一次2小时——语言技能需要高频练习</a:t>
            </a:r>
          </a:p>
          <a:p>
            <a:pPr>
              <a:spcBef>
                <a:spcPts val="900"/>
              </a:spcBef>
            </a:pPr>
            <a:r>
              <a:rPr sz="1800" b="1">
                <a:solidFill>
                  <a:srgbClr val="A33607"/>
                </a:solidFill>
              </a:rPr>
              <a:t>• 反馈&gt;练习</a:t>
            </a:r>
          </a:p>
          <a:p>
            <a:pPr>
              <a:spcBef>
                <a:spcPts val="100"/>
              </a:spcBef>
            </a:pPr>
            <a:r>
              <a:rPr sz="1500">
                <a:solidFill>
                  <a:srgbClr val="556075"/>
                </a:solidFill>
              </a:rPr>
              <a:t>   有反馈的练习&gt;无反馈的练习——录音/找伙伴/找老师反馈</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话题准备策略</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43000"/>
            <a:ext cx="11064240" cy="8686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A33607"/>
                </a:solidFill>
                <a:latin typeface="Calibri"/>
              </a:rPr>
              <a:t>覆盖80%考试内容的话题矩阵</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A33607"/>
                </a:solidFill>
              </a:rPr>
              <a:t>• 五大核心话题</a:t>
            </a:r>
          </a:p>
          <a:p>
            <a:pPr>
              <a:spcBef>
                <a:spcPts val="100"/>
              </a:spcBef>
            </a:pPr>
            <a:r>
              <a:rPr sz="1500">
                <a:solidFill>
                  <a:srgbClr val="556075"/>
                </a:solidFill>
              </a:rPr>
              <a:t>   教育/科技/环境/社会/文化——Part 3必考话题群</a:t>
            </a:r>
          </a:p>
          <a:p>
            <a:pPr>
              <a:spcBef>
                <a:spcPts val="900"/>
              </a:spcBef>
            </a:pPr>
            <a:r>
              <a:rPr sz="1800" b="1">
                <a:solidFill>
                  <a:srgbClr val="A33607"/>
                </a:solidFill>
              </a:rPr>
              <a:t>• 个人生活话题</a:t>
            </a:r>
          </a:p>
          <a:p>
            <a:pPr>
              <a:spcBef>
                <a:spcPts val="100"/>
              </a:spcBef>
            </a:pPr>
            <a:r>
              <a:rPr sz="1500">
                <a:solidFill>
                  <a:srgbClr val="556075"/>
                </a:solidFill>
              </a:rPr>
              <a:t>   工作/学习/家庭/爱好/城市/饮食/旅行/娱乐——Part 1必考</a:t>
            </a:r>
          </a:p>
          <a:p>
            <a:pPr>
              <a:spcBef>
                <a:spcPts val="900"/>
              </a:spcBef>
            </a:pPr>
            <a:r>
              <a:rPr sz="1800" b="1">
                <a:solidFill>
                  <a:srgbClr val="A33607"/>
                </a:solidFill>
              </a:rPr>
              <a:t>• 经历类话题</a:t>
            </a:r>
          </a:p>
          <a:p>
            <a:pPr>
              <a:spcBef>
                <a:spcPts val="100"/>
              </a:spcBef>
            </a:pPr>
            <a:r>
              <a:rPr sz="1500">
                <a:solidFill>
                  <a:srgbClr val="556075"/>
                </a:solidFill>
              </a:rPr>
              <a:t>   一次难忘的经历/一个重要的人/一件物品——Part 2必考</a:t>
            </a:r>
          </a:p>
          <a:p>
            <a:pPr>
              <a:spcBef>
                <a:spcPts val="900"/>
              </a:spcBef>
            </a:pPr>
            <a:r>
              <a:rPr sz="1800" b="1">
                <a:solidFill>
                  <a:srgbClr val="A33607"/>
                </a:solidFill>
              </a:rPr>
              <a:t>• 准备深度</a:t>
            </a:r>
          </a:p>
          <a:p>
            <a:pPr>
              <a:spcBef>
                <a:spcPts val="100"/>
              </a:spcBef>
            </a:pPr>
            <a:r>
              <a:rPr sz="1500">
                <a:solidFill>
                  <a:srgbClr val="556075"/>
                </a:solidFill>
              </a:rPr>
              <a:t>   每个话题：词汇20个+观点3个+例子1个=可以说5分钟</a:t>
            </a:r>
          </a:p>
          <a:p>
            <a:pPr>
              <a:spcBef>
                <a:spcPts val="900"/>
              </a:spcBef>
            </a:pPr>
            <a:r>
              <a:rPr sz="1800" b="1">
                <a:solidFill>
                  <a:srgbClr val="A33607"/>
                </a:solidFill>
              </a:rPr>
              <a:t>• 深圳考生优势</a:t>
            </a:r>
          </a:p>
          <a:p>
            <a:pPr>
              <a:spcBef>
                <a:spcPts val="100"/>
              </a:spcBef>
            </a:pPr>
            <a:r>
              <a:rPr sz="1500">
                <a:solidFill>
                  <a:srgbClr val="556075"/>
                </a:solidFill>
              </a:rPr>
              <a:t>   科技/教育话题有真实经验，用亲身经历比虚构内容更自然</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每日备考计划设计</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850" b="1">
                <a:solidFill>
                  <a:srgbClr val="A33607"/>
                </a:solidFill>
              </a:rPr>
              <a:t>• 早晨5分钟</a:t>
            </a:r>
          </a:p>
          <a:p>
            <a:pPr>
              <a:spcBef>
                <a:spcPts val="100"/>
              </a:spcBef>
            </a:pPr>
            <a:r>
              <a:rPr sz="1550">
                <a:solidFill>
                  <a:srgbClr val="556075"/>
                </a:solidFill>
              </a:rPr>
              <a:t>   起床后用英语"自言自语"：今天计划做什么，用完整句子说出来</a:t>
            </a:r>
          </a:p>
          <a:p>
            <a:pPr>
              <a:spcBef>
                <a:spcPts val="1000"/>
              </a:spcBef>
            </a:pPr>
            <a:r>
              <a:rPr sz="1850" b="1">
                <a:solidFill>
                  <a:srgbClr val="A33607"/>
                </a:solidFill>
              </a:rPr>
              <a:t>• 通勤时间</a:t>
            </a:r>
          </a:p>
          <a:p>
            <a:pPr>
              <a:spcBef>
                <a:spcPts val="100"/>
              </a:spcBef>
            </a:pPr>
            <a:r>
              <a:rPr sz="1550">
                <a:solidFill>
                  <a:srgbClr val="556075"/>
                </a:solidFill>
              </a:rPr>
              <a:t>   听真实英语对话（播客/TED）——输入为产出做准备</a:t>
            </a:r>
          </a:p>
          <a:p>
            <a:pPr>
              <a:spcBef>
                <a:spcPts val="1000"/>
              </a:spcBef>
            </a:pPr>
            <a:r>
              <a:rPr sz="1850" b="1">
                <a:solidFill>
                  <a:srgbClr val="A33607"/>
                </a:solidFill>
              </a:rPr>
              <a:t>• 午休10分钟</a:t>
            </a:r>
          </a:p>
          <a:p>
            <a:pPr>
              <a:spcBef>
                <a:spcPts val="100"/>
              </a:spcBef>
            </a:pPr>
            <a:r>
              <a:rPr sz="1550">
                <a:solidFill>
                  <a:srgbClr val="556075"/>
                </a:solidFill>
              </a:rPr>
              <a:t>   对着手机录音，回答一个Part 1题目，听录音评估</a:t>
            </a:r>
          </a:p>
          <a:p>
            <a:pPr>
              <a:spcBef>
                <a:spcPts val="1000"/>
              </a:spcBef>
            </a:pPr>
            <a:r>
              <a:rPr sz="1850" b="1">
                <a:solidFill>
                  <a:srgbClr val="A33607"/>
                </a:solidFill>
              </a:rPr>
              <a:t>• 晚上20分钟</a:t>
            </a:r>
          </a:p>
          <a:p>
            <a:pPr>
              <a:spcBef>
                <a:spcPts val="100"/>
              </a:spcBef>
            </a:pPr>
            <a:r>
              <a:rPr sz="1550">
                <a:solidFill>
                  <a:srgbClr val="556075"/>
                </a:solidFill>
              </a:rPr>
              <a:t>   专项练习：今天的课题（词汇/句式/话题）+录音反馈</a:t>
            </a:r>
          </a:p>
          <a:p>
            <a:pPr>
              <a:spcBef>
                <a:spcPts val="1000"/>
              </a:spcBef>
            </a:pPr>
            <a:r>
              <a:rPr sz="1850" b="1">
                <a:solidFill>
                  <a:srgbClr val="A33607"/>
                </a:solidFill>
              </a:rPr>
              <a:t>• 睡前复习</a:t>
            </a:r>
          </a:p>
          <a:p>
            <a:pPr>
              <a:spcBef>
                <a:spcPts val="100"/>
              </a:spcBef>
            </a:pPr>
            <a:r>
              <a:rPr sz="1550">
                <a:solidFill>
                  <a:srgbClr val="556075"/>
                </a:solidFill>
              </a:rPr>
              <a:t>   回顾今天学的3个表达，用中文想一遍，再用英语说一遍</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口语练习资源推荐</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850" b="1">
                <a:solidFill>
                  <a:srgbClr val="A33607"/>
                </a:solidFill>
              </a:rPr>
              <a:t>• 真题资源</a:t>
            </a:r>
          </a:p>
          <a:p>
            <a:pPr>
              <a:spcBef>
                <a:spcPts val="100"/>
              </a:spcBef>
            </a:pPr>
            <a:r>
              <a:rPr sz="1550">
                <a:solidFill>
                  <a:srgbClr val="556075"/>
                </a:solidFill>
              </a:rPr>
              <a:t>   剑桥雅思10-19（口语题目）；雅思官网题库；Cambridge Speak</a:t>
            </a:r>
          </a:p>
          <a:p>
            <a:pPr>
              <a:spcBef>
                <a:spcPts val="1000"/>
              </a:spcBef>
            </a:pPr>
            <a:r>
              <a:rPr sz="1850" b="1">
                <a:solidFill>
                  <a:srgbClr val="A33607"/>
                </a:solidFill>
              </a:rPr>
              <a:t>• 录音工具</a:t>
            </a:r>
          </a:p>
          <a:p>
            <a:pPr>
              <a:spcBef>
                <a:spcPts val="100"/>
              </a:spcBef>
            </a:pPr>
            <a:r>
              <a:rPr sz="1550">
                <a:solidFill>
                  <a:srgbClr val="556075"/>
                </a:solidFill>
              </a:rPr>
              <a:t>   手机录音→听回放→评估停顿/词汇/语法</a:t>
            </a:r>
          </a:p>
          <a:p>
            <a:pPr>
              <a:spcBef>
                <a:spcPts val="1000"/>
              </a:spcBef>
            </a:pPr>
            <a:r>
              <a:rPr sz="1850" b="1">
                <a:solidFill>
                  <a:srgbClr val="A33607"/>
                </a:solidFill>
              </a:rPr>
              <a:t>• 练习伙伴</a:t>
            </a:r>
          </a:p>
          <a:p>
            <a:pPr>
              <a:spcBef>
                <a:spcPts val="100"/>
              </a:spcBef>
            </a:pPr>
            <a:r>
              <a:rPr sz="1550">
                <a:solidFill>
                  <a:srgbClr val="556075"/>
                </a:solidFill>
              </a:rPr>
              <a:t>   语言交换（HelloTalk）；找同班同学互相模拟考试</a:t>
            </a:r>
          </a:p>
          <a:p>
            <a:pPr>
              <a:spcBef>
                <a:spcPts val="1000"/>
              </a:spcBef>
            </a:pPr>
            <a:r>
              <a:rPr sz="1850" b="1">
                <a:solidFill>
                  <a:srgbClr val="A33607"/>
                </a:solidFill>
              </a:rPr>
              <a:t>• 考官反馈</a:t>
            </a:r>
          </a:p>
          <a:p>
            <a:pPr>
              <a:spcBef>
                <a:spcPts val="100"/>
              </a:spcBef>
            </a:pPr>
            <a:r>
              <a:rPr sz="1550">
                <a:solidFill>
                  <a:srgbClr val="556075"/>
                </a:solidFill>
              </a:rPr>
              <a:t>   至少考前2周做一次完整模拟，由老师给出真实评分</a:t>
            </a:r>
          </a:p>
          <a:p>
            <a:pPr>
              <a:spcBef>
                <a:spcPts val="1000"/>
              </a:spcBef>
            </a:pPr>
            <a:r>
              <a:rPr sz="1850" b="1">
                <a:solidFill>
                  <a:srgbClr val="A33607"/>
                </a:solidFill>
              </a:rPr>
              <a:t>• 深圳资源</a:t>
            </a:r>
          </a:p>
          <a:p>
            <a:pPr>
              <a:spcBef>
                <a:spcPts val="100"/>
              </a:spcBef>
            </a:pPr>
            <a:r>
              <a:rPr sz="1550">
                <a:solidFill>
                  <a:srgbClr val="556075"/>
                </a:solidFill>
              </a:rPr>
              <a:t>   线下：南山/福田雅思培训机构；线上：雅思官方模拟考试平台</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30天备考计划速览</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6576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Week 1（框架建立）：L01-L02，掌握Part 1答题模板
Week 2（内容扩展）：L03-L05，掌握Part 2/3攻略
Week 3（四维提升）：L06-L09，专项提升各维度
Week 4（整合冲刺）：L10，模考+查漏，最后冲刺</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每周核心任务：
Week 1：建立每日开口习惯
Week 2：Part 2能说满2分钟
Week 3：每道题有词汇多样性
Week 4：稳定发挥，心态调整</a:t>
            </a:r>
          </a:p>
        </p:txBody>
      </p:sp>
      <p:sp>
        <p:nvSpPr>
          <p:cNvPr id="14" name="Rectangle 13"/>
          <p:cNvSpPr/>
          <p:nvPr/>
        </p:nvSpPr>
        <p:spPr>
          <a:xfrm>
            <a:off x="548640" y="5669279"/>
            <a:ext cx="11064240" cy="36576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30天不是必须，根据考试日期灵活调整——关键是每天坚持开口</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立刻行动：今天的第一步</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6576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完成本节课后，立刻做以下一件事：
录音回答："Tell me about your hometown."
（说30-45秒，不准备，直接说）
然后用四维度自评，记录结果作为基准线</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这个录音是你的"起点"——10节课后再录一次同样的题，对比进步
起点不重要，方向正确+每天坚持才重要</a:t>
            </a:r>
          </a:p>
        </p:txBody>
      </p:sp>
      <p:sp>
        <p:nvSpPr>
          <p:cNvPr id="14" name="Rectangle 13"/>
          <p:cNvSpPr/>
          <p:nvPr/>
        </p:nvSpPr>
        <p:spPr>
          <a:xfrm>
            <a:off x="548640" y="5669279"/>
            <a:ext cx="11064240" cy="36576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开口第一步比任何理论学习都重要——今天就做，不要等到"准备好了"再开口</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8C1D"/>
                </a:solidFill>
                <a:latin typeface="Calibri"/>
              </a:rPr>
              <a:t>PART 05</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核心术语与评分词汇</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Key Terms &amp; Scoring Vocabulary</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评分维度核心术语</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234440"/>
            <a:ext cx="4937760" cy="566928"/>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566928"/>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566928"/>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566928"/>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801368"/>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801368"/>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801368"/>
            <a:ext cx="4754880" cy="566928"/>
          </a:xfrm>
          <a:prstGeom prst="rect">
            <a:avLst/>
          </a:prstGeom>
          <a:noFill/>
        </p:spPr>
        <p:txBody>
          <a:bodyPr wrap="square" anchor="ctr">
            <a:spAutoFit/>
          </a:bodyPr>
          <a:lstStyle/>
          <a:p>
            <a:pPr algn="l"/>
            <a:r>
              <a:rPr sz="1250" b="1" i="0">
                <a:solidFill>
                  <a:srgbClr val="A33607"/>
                </a:solidFill>
                <a:latin typeface="Calibri"/>
              </a:rPr>
              <a:t>Fluency &amp; Coherence (CC)</a:t>
            </a:r>
          </a:p>
        </p:txBody>
      </p:sp>
      <p:sp>
        <p:nvSpPr>
          <p:cNvPr id="15" name="TextBox 14"/>
          <p:cNvSpPr txBox="1"/>
          <p:nvPr/>
        </p:nvSpPr>
        <p:spPr>
          <a:xfrm>
            <a:off x="5623560" y="1801368"/>
            <a:ext cx="5852160" cy="566928"/>
          </a:xfrm>
          <a:prstGeom prst="rect">
            <a:avLst/>
          </a:prstGeom>
          <a:noFill/>
        </p:spPr>
        <p:txBody>
          <a:bodyPr wrap="square" anchor="ctr">
            <a:spAutoFit/>
          </a:bodyPr>
          <a:lstStyle/>
          <a:p>
            <a:pPr algn="l"/>
            <a:r>
              <a:rPr sz="1250" b="0" i="0">
                <a:solidFill>
                  <a:srgbClr val="1E293B"/>
                </a:solidFill>
                <a:latin typeface="Calibri"/>
              </a:rPr>
              <a:t>流利度与连贯性：自然语速+逻辑连接（各25%）</a:t>
            </a:r>
          </a:p>
        </p:txBody>
      </p:sp>
      <p:sp>
        <p:nvSpPr>
          <p:cNvPr id="16" name="Rectangle 15"/>
          <p:cNvSpPr/>
          <p:nvPr/>
        </p:nvSpPr>
        <p:spPr>
          <a:xfrm>
            <a:off x="548640" y="2368296"/>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368296"/>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368296"/>
            <a:ext cx="4754880" cy="566928"/>
          </a:xfrm>
          <a:prstGeom prst="rect">
            <a:avLst/>
          </a:prstGeom>
          <a:noFill/>
        </p:spPr>
        <p:txBody>
          <a:bodyPr wrap="square" anchor="ctr">
            <a:spAutoFit/>
          </a:bodyPr>
          <a:lstStyle/>
          <a:p>
            <a:pPr algn="l"/>
            <a:r>
              <a:rPr sz="1250" b="1" i="0">
                <a:solidFill>
                  <a:srgbClr val="A33607"/>
                </a:solidFill>
                <a:latin typeface="Calibri"/>
              </a:rPr>
              <a:t>Lexical Resource (LR)</a:t>
            </a:r>
          </a:p>
        </p:txBody>
      </p:sp>
      <p:sp>
        <p:nvSpPr>
          <p:cNvPr id="19" name="TextBox 18"/>
          <p:cNvSpPr txBox="1"/>
          <p:nvPr/>
        </p:nvSpPr>
        <p:spPr>
          <a:xfrm>
            <a:off x="5623560" y="2368296"/>
            <a:ext cx="5852160" cy="566928"/>
          </a:xfrm>
          <a:prstGeom prst="rect">
            <a:avLst/>
          </a:prstGeom>
          <a:noFill/>
        </p:spPr>
        <p:txBody>
          <a:bodyPr wrap="square" anchor="ctr">
            <a:spAutoFit/>
          </a:bodyPr>
          <a:lstStyle/>
          <a:p>
            <a:pPr algn="l"/>
            <a:r>
              <a:rPr sz="1250" b="0" i="0">
                <a:solidFill>
                  <a:srgbClr val="1E293B"/>
                </a:solidFill>
                <a:latin typeface="Calibri"/>
              </a:rPr>
              <a:t>词汇范围：词汇多样性+搭配准确性（25%）</a:t>
            </a:r>
          </a:p>
        </p:txBody>
      </p:sp>
      <p:sp>
        <p:nvSpPr>
          <p:cNvPr id="20" name="Rectangle 19"/>
          <p:cNvSpPr/>
          <p:nvPr/>
        </p:nvSpPr>
        <p:spPr>
          <a:xfrm>
            <a:off x="548640" y="2935224"/>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935224"/>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35224"/>
            <a:ext cx="4754880" cy="566928"/>
          </a:xfrm>
          <a:prstGeom prst="rect">
            <a:avLst/>
          </a:prstGeom>
          <a:noFill/>
        </p:spPr>
        <p:txBody>
          <a:bodyPr wrap="square" anchor="ctr">
            <a:spAutoFit/>
          </a:bodyPr>
          <a:lstStyle/>
          <a:p>
            <a:pPr algn="l"/>
            <a:r>
              <a:rPr sz="1250" b="1" i="0">
                <a:solidFill>
                  <a:srgbClr val="A33607"/>
                </a:solidFill>
                <a:latin typeface="Calibri"/>
              </a:rPr>
              <a:t>Grammatical Range &amp; Accuracy (GRA)</a:t>
            </a:r>
          </a:p>
        </p:txBody>
      </p:sp>
      <p:sp>
        <p:nvSpPr>
          <p:cNvPr id="23" name="TextBox 22"/>
          <p:cNvSpPr txBox="1"/>
          <p:nvPr/>
        </p:nvSpPr>
        <p:spPr>
          <a:xfrm>
            <a:off x="5623560" y="2935224"/>
            <a:ext cx="5852160" cy="566928"/>
          </a:xfrm>
          <a:prstGeom prst="rect">
            <a:avLst/>
          </a:prstGeom>
          <a:noFill/>
        </p:spPr>
        <p:txBody>
          <a:bodyPr wrap="square" anchor="ctr">
            <a:spAutoFit/>
          </a:bodyPr>
          <a:lstStyle/>
          <a:p>
            <a:pPr algn="l"/>
            <a:r>
              <a:rPr sz="1250" b="0" i="0">
                <a:solidFill>
                  <a:srgbClr val="1E293B"/>
                </a:solidFill>
                <a:latin typeface="Calibri"/>
              </a:rPr>
              <a:t>语法范围与准确性：句式多样+错误少（25%）</a:t>
            </a:r>
          </a:p>
        </p:txBody>
      </p:sp>
      <p:sp>
        <p:nvSpPr>
          <p:cNvPr id="24" name="Rectangle 23"/>
          <p:cNvSpPr/>
          <p:nvPr/>
        </p:nvSpPr>
        <p:spPr>
          <a:xfrm>
            <a:off x="548640" y="3502152"/>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3502152"/>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502152"/>
            <a:ext cx="4754880" cy="566928"/>
          </a:xfrm>
          <a:prstGeom prst="rect">
            <a:avLst/>
          </a:prstGeom>
          <a:noFill/>
        </p:spPr>
        <p:txBody>
          <a:bodyPr wrap="square" anchor="ctr">
            <a:spAutoFit/>
          </a:bodyPr>
          <a:lstStyle/>
          <a:p>
            <a:pPr algn="l"/>
            <a:r>
              <a:rPr sz="1250" b="1" i="0">
                <a:solidFill>
                  <a:srgbClr val="A33607"/>
                </a:solidFill>
                <a:latin typeface="Calibri"/>
              </a:rPr>
              <a:t>Pronunciation (P)</a:t>
            </a:r>
          </a:p>
        </p:txBody>
      </p:sp>
      <p:sp>
        <p:nvSpPr>
          <p:cNvPr id="27" name="TextBox 26"/>
          <p:cNvSpPr txBox="1"/>
          <p:nvPr/>
        </p:nvSpPr>
        <p:spPr>
          <a:xfrm>
            <a:off x="5623560" y="3502152"/>
            <a:ext cx="5852160" cy="566928"/>
          </a:xfrm>
          <a:prstGeom prst="rect">
            <a:avLst/>
          </a:prstGeom>
          <a:noFill/>
        </p:spPr>
        <p:txBody>
          <a:bodyPr wrap="square" anchor="ctr">
            <a:spAutoFit/>
          </a:bodyPr>
          <a:lstStyle/>
          <a:p>
            <a:pPr algn="l"/>
            <a:r>
              <a:rPr sz="1250" b="0" i="0">
                <a:solidFill>
                  <a:srgbClr val="1E293B"/>
                </a:solidFill>
                <a:latin typeface="Calibri"/>
              </a:rPr>
              <a:t>发音：清晰度+语调自然+重音准确（25%）</a:t>
            </a:r>
          </a:p>
        </p:txBody>
      </p:sp>
      <p:sp>
        <p:nvSpPr>
          <p:cNvPr id="28" name="Rectangle 27"/>
          <p:cNvSpPr/>
          <p:nvPr/>
        </p:nvSpPr>
        <p:spPr>
          <a:xfrm>
            <a:off x="548640" y="4069080"/>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4069080"/>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069080"/>
            <a:ext cx="4754880" cy="566928"/>
          </a:xfrm>
          <a:prstGeom prst="rect">
            <a:avLst/>
          </a:prstGeom>
          <a:noFill/>
        </p:spPr>
        <p:txBody>
          <a:bodyPr wrap="square" anchor="ctr">
            <a:spAutoFit/>
          </a:bodyPr>
          <a:lstStyle/>
          <a:p>
            <a:pPr algn="l"/>
            <a:r>
              <a:rPr sz="1250" b="1" i="0">
                <a:solidFill>
                  <a:srgbClr val="A33607"/>
                </a:solidFill>
                <a:latin typeface="Calibri"/>
              </a:rPr>
              <a:t>Band Descriptor</a:t>
            </a:r>
          </a:p>
        </p:txBody>
      </p:sp>
      <p:sp>
        <p:nvSpPr>
          <p:cNvPr id="31" name="TextBox 30"/>
          <p:cNvSpPr txBox="1"/>
          <p:nvPr/>
        </p:nvSpPr>
        <p:spPr>
          <a:xfrm>
            <a:off x="5623560" y="4069080"/>
            <a:ext cx="5852160" cy="566928"/>
          </a:xfrm>
          <a:prstGeom prst="rect">
            <a:avLst/>
          </a:prstGeom>
          <a:noFill/>
        </p:spPr>
        <p:txBody>
          <a:bodyPr wrap="square" anchor="ctr">
            <a:spAutoFit/>
          </a:bodyPr>
          <a:lstStyle/>
          <a:p>
            <a:pPr algn="l"/>
            <a:r>
              <a:rPr sz="1250" b="0" i="0">
                <a:solidFill>
                  <a:srgbClr val="1E293B"/>
                </a:solidFill>
                <a:latin typeface="Calibri"/>
              </a:rPr>
              <a:t>评分描述语：每个分数段的具体表现说明</a:t>
            </a:r>
          </a:p>
        </p:txBody>
      </p:sp>
      <p:sp>
        <p:nvSpPr>
          <p:cNvPr id="32" name="Rectangle 31"/>
          <p:cNvSpPr/>
          <p:nvPr/>
        </p:nvSpPr>
        <p:spPr>
          <a:xfrm>
            <a:off x="548640" y="4636008"/>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4636008"/>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4636008"/>
            <a:ext cx="4754880" cy="566928"/>
          </a:xfrm>
          <a:prstGeom prst="rect">
            <a:avLst/>
          </a:prstGeom>
          <a:noFill/>
        </p:spPr>
        <p:txBody>
          <a:bodyPr wrap="square" anchor="ctr">
            <a:spAutoFit/>
          </a:bodyPr>
          <a:lstStyle/>
          <a:p>
            <a:pPr algn="l"/>
            <a:r>
              <a:rPr sz="1250" b="1" i="0">
                <a:solidFill>
                  <a:srgbClr val="A33607"/>
                </a:solidFill>
                <a:latin typeface="Calibri"/>
              </a:rPr>
              <a:t>Cue Card</a:t>
            </a:r>
          </a:p>
        </p:txBody>
      </p:sp>
      <p:sp>
        <p:nvSpPr>
          <p:cNvPr id="35" name="TextBox 34"/>
          <p:cNvSpPr txBox="1"/>
          <p:nvPr/>
        </p:nvSpPr>
        <p:spPr>
          <a:xfrm>
            <a:off x="5623560" y="4636008"/>
            <a:ext cx="5852160" cy="566928"/>
          </a:xfrm>
          <a:prstGeom prst="rect">
            <a:avLst/>
          </a:prstGeom>
          <a:noFill/>
        </p:spPr>
        <p:txBody>
          <a:bodyPr wrap="square" anchor="ctr">
            <a:spAutoFit/>
          </a:bodyPr>
          <a:lstStyle/>
          <a:p>
            <a:pPr algn="l"/>
            <a:r>
              <a:rPr sz="1250" b="0" i="0">
                <a:solidFill>
                  <a:srgbClr val="1E293B"/>
                </a:solidFill>
                <a:latin typeface="Calibri"/>
              </a:rPr>
              <a:t>提示卡：Part 2考生拿到的话题卡片，含4个提示点</a:t>
            </a:r>
          </a:p>
        </p:txBody>
      </p:sp>
      <p:sp>
        <p:nvSpPr>
          <p:cNvPr id="36" name="Rectangle 35"/>
          <p:cNvSpPr/>
          <p:nvPr/>
        </p:nvSpPr>
        <p:spPr>
          <a:xfrm>
            <a:off x="548640" y="5202936"/>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5202936"/>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5202936"/>
            <a:ext cx="4754880" cy="566928"/>
          </a:xfrm>
          <a:prstGeom prst="rect">
            <a:avLst/>
          </a:prstGeom>
          <a:noFill/>
        </p:spPr>
        <p:txBody>
          <a:bodyPr wrap="square" anchor="ctr">
            <a:spAutoFit/>
          </a:bodyPr>
          <a:lstStyle/>
          <a:p>
            <a:pPr algn="l"/>
            <a:r>
              <a:rPr sz="1250" b="1" i="0">
                <a:solidFill>
                  <a:srgbClr val="A33607"/>
                </a:solidFill>
                <a:latin typeface="Calibri"/>
              </a:rPr>
              <a:t>Examiner</a:t>
            </a:r>
          </a:p>
        </p:txBody>
      </p:sp>
      <p:sp>
        <p:nvSpPr>
          <p:cNvPr id="39" name="TextBox 38"/>
          <p:cNvSpPr txBox="1"/>
          <p:nvPr/>
        </p:nvSpPr>
        <p:spPr>
          <a:xfrm>
            <a:off x="5623560" y="5202936"/>
            <a:ext cx="5852160" cy="566928"/>
          </a:xfrm>
          <a:prstGeom prst="rect">
            <a:avLst/>
          </a:prstGeom>
          <a:noFill/>
        </p:spPr>
        <p:txBody>
          <a:bodyPr wrap="square" anchor="ctr">
            <a:spAutoFit/>
          </a:bodyPr>
          <a:lstStyle/>
          <a:p>
            <a:pPr algn="l"/>
            <a:r>
              <a:rPr sz="1250" b="0" i="0">
                <a:solidFill>
                  <a:srgbClr val="1E293B"/>
                </a:solidFill>
                <a:latin typeface="Calibri"/>
              </a:rPr>
              <a:t>考官：进行口语考试的雅思认证考官</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口语高频话题核心词</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234440"/>
            <a:ext cx="4937760" cy="566928"/>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566928"/>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566928"/>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566928"/>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801368"/>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801368"/>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801368"/>
            <a:ext cx="4754880" cy="566928"/>
          </a:xfrm>
          <a:prstGeom prst="rect">
            <a:avLst/>
          </a:prstGeom>
          <a:noFill/>
        </p:spPr>
        <p:txBody>
          <a:bodyPr wrap="square" anchor="ctr">
            <a:spAutoFit/>
          </a:bodyPr>
          <a:lstStyle/>
          <a:p>
            <a:pPr algn="l"/>
            <a:r>
              <a:rPr sz="1250" b="1" i="0">
                <a:solidFill>
                  <a:srgbClr val="A33607"/>
                </a:solidFill>
                <a:latin typeface="Calibri"/>
              </a:rPr>
              <a:t>routine</a:t>
            </a:r>
          </a:p>
        </p:txBody>
      </p:sp>
      <p:sp>
        <p:nvSpPr>
          <p:cNvPr id="15" name="TextBox 14"/>
          <p:cNvSpPr txBox="1"/>
          <p:nvPr/>
        </p:nvSpPr>
        <p:spPr>
          <a:xfrm>
            <a:off x="5623560" y="1801368"/>
            <a:ext cx="5852160" cy="566928"/>
          </a:xfrm>
          <a:prstGeom prst="rect">
            <a:avLst/>
          </a:prstGeom>
          <a:noFill/>
        </p:spPr>
        <p:txBody>
          <a:bodyPr wrap="square" anchor="ctr">
            <a:spAutoFit/>
          </a:bodyPr>
          <a:lstStyle/>
          <a:p>
            <a:pPr algn="l"/>
            <a:r>
              <a:rPr sz="1250" b="0" i="0">
                <a:solidFill>
                  <a:srgbClr val="1E293B"/>
                </a:solidFill>
                <a:latin typeface="Calibri"/>
              </a:rPr>
              <a:t>日常习惯/例行程序（I have a morning routine of...）</a:t>
            </a:r>
          </a:p>
        </p:txBody>
      </p:sp>
      <p:sp>
        <p:nvSpPr>
          <p:cNvPr id="16" name="Rectangle 15"/>
          <p:cNvSpPr/>
          <p:nvPr/>
        </p:nvSpPr>
        <p:spPr>
          <a:xfrm>
            <a:off x="548640" y="2368296"/>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368296"/>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368296"/>
            <a:ext cx="4754880" cy="566928"/>
          </a:xfrm>
          <a:prstGeom prst="rect">
            <a:avLst/>
          </a:prstGeom>
          <a:noFill/>
        </p:spPr>
        <p:txBody>
          <a:bodyPr wrap="square" anchor="ctr">
            <a:spAutoFit/>
          </a:bodyPr>
          <a:lstStyle/>
          <a:p>
            <a:pPr algn="l"/>
            <a:r>
              <a:rPr sz="1250" b="1" i="0">
                <a:solidFill>
                  <a:srgbClr val="A33607"/>
                </a:solidFill>
                <a:latin typeface="Calibri"/>
              </a:rPr>
              <a:t>perspective</a:t>
            </a:r>
          </a:p>
        </p:txBody>
      </p:sp>
      <p:sp>
        <p:nvSpPr>
          <p:cNvPr id="19" name="TextBox 18"/>
          <p:cNvSpPr txBox="1"/>
          <p:nvPr/>
        </p:nvSpPr>
        <p:spPr>
          <a:xfrm>
            <a:off x="5623560" y="2368296"/>
            <a:ext cx="5852160" cy="566928"/>
          </a:xfrm>
          <a:prstGeom prst="rect">
            <a:avLst/>
          </a:prstGeom>
          <a:noFill/>
        </p:spPr>
        <p:txBody>
          <a:bodyPr wrap="square" anchor="ctr">
            <a:spAutoFit/>
          </a:bodyPr>
          <a:lstStyle/>
          <a:p>
            <a:pPr algn="l"/>
            <a:r>
              <a:rPr sz="1250" b="0" i="0">
                <a:solidFill>
                  <a:srgbClr val="1E293B"/>
                </a:solidFill>
                <a:latin typeface="Calibri"/>
              </a:rPr>
              <a:t>视角/观点（from a broader perspective...）</a:t>
            </a:r>
          </a:p>
        </p:txBody>
      </p:sp>
      <p:sp>
        <p:nvSpPr>
          <p:cNvPr id="20" name="Rectangle 19"/>
          <p:cNvSpPr/>
          <p:nvPr/>
        </p:nvSpPr>
        <p:spPr>
          <a:xfrm>
            <a:off x="548640" y="2935224"/>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935224"/>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35224"/>
            <a:ext cx="4754880" cy="566928"/>
          </a:xfrm>
          <a:prstGeom prst="rect">
            <a:avLst/>
          </a:prstGeom>
          <a:noFill/>
        </p:spPr>
        <p:txBody>
          <a:bodyPr wrap="square" anchor="ctr">
            <a:spAutoFit/>
          </a:bodyPr>
          <a:lstStyle/>
          <a:p>
            <a:pPr algn="l"/>
            <a:r>
              <a:rPr sz="1250" b="1" i="0">
                <a:solidFill>
                  <a:srgbClr val="A33607"/>
                </a:solidFill>
                <a:latin typeface="Calibri"/>
              </a:rPr>
              <a:t>beneficial</a:t>
            </a:r>
          </a:p>
        </p:txBody>
      </p:sp>
      <p:sp>
        <p:nvSpPr>
          <p:cNvPr id="23" name="TextBox 22"/>
          <p:cNvSpPr txBox="1"/>
          <p:nvPr/>
        </p:nvSpPr>
        <p:spPr>
          <a:xfrm>
            <a:off x="5623560" y="2935224"/>
            <a:ext cx="5852160" cy="566928"/>
          </a:xfrm>
          <a:prstGeom prst="rect">
            <a:avLst/>
          </a:prstGeom>
          <a:noFill/>
        </p:spPr>
        <p:txBody>
          <a:bodyPr wrap="square" anchor="ctr">
            <a:spAutoFit/>
          </a:bodyPr>
          <a:lstStyle/>
          <a:p>
            <a:pPr algn="l"/>
            <a:r>
              <a:rPr sz="1250" b="0" i="0">
                <a:solidFill>
                  <a:srgbClr val="1E293B"/>
                </a:solidFill>
                <a:latin typeface="Calibri"/>
              </a:rPr>
              <a:t>有益的（it's beneficial in terms of...）</a:t>
            </a:r>
          </a:p>
        </p:txBody>
      </p:sp>
      <p:sp>
        <p:nvSpPr>
          <p:cNvPr id="24" name="Rectangle 23"/>
          <p:cNvSpPr/>
          <p:nvPr/>
        </p:nvSpPr>
        <p:spPr>
          <a:xfrm>
            <a:off x="548640" y="3502152"/>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3502152"/>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502152"/>
            <a:ext cx="4754880" cy="566928"/>
          </a:xfrm>
          <a:prstGeom prst="rect">
            <a:avLst/>
          </a:prstGeom>
          <a:noFill/>
        </p:spPr>
        <p:txBody>
          <a:bodyPr wrap="square" anchor="ctr">
            <a:spAutoFit/>
          </a:bodyPr>
          <a:lstStyle/>
          <a:p>
            <a:pPr algn="l"/>
            <a:r>
              <a:rPr sz="1250" b="1" i="0">
                <a:solidFill>
                  <a:srgbClr val="A33607"/>
                </a:solidFill>
                <a:latin typeface="Calibri"/>
              </a:rPr>
              <a:t>significant</a:t>
            </a:r>
          </a:p>
        </p:txBody>
      </p:sp>
      <p:sp>
        <p:nvSpPr>
          <p:cNvPr id="27" name="TextBox 26"/>
          <p:cNvSpPr txBox="1"/>
          <p:nvPr/>
        </p:nvSpPr>
        <p:spPr>
          <a:xfrm>
            <a:off x="5623560" y="3502152"/>
            <a:ext cx="5852160" cy="566928"/>
          </a:xfrm>
          <a:prstGeom prst="rect">
            <a:avLst/>
          </a:prstGeom>
          <a:noFill/>
        </p:spPr>
        <p:txBody>
          <a:bodyPr wrap="square" anchor="ctr">
            <a:spAutoFit/>
          </a:bodyPr>
          <a:lstStyle/>
          <a:p>
            <a:pPr algn="l"/>
            <a:r>
              <a:rPr sz="1250" b="0" i="0">
                <a:solidFill>
                  <a:srgbClr val="1E293B"/>
                </a:solidFill>
                <a:latin typeface="Calibri"/>
              </a:rPr>
              <a:t>重要的/显著的（a significant impact on...）</a:t>
            </a:r>
          </a:p>
        </p:txBody>
      </p:sp>
      <p:sp>
        <p:nvSpPr>
          <p:cNvPr id="28" name="Rectangle 27"/>
          <p:cNvSpPr/>
          <p:nvPr/>
        </p:nvSpPr>
        <p:spPr>
          <a:xfrm>
            <a:off x="548640" y="4069080"/>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4069080"/>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069080"/>
            <a:ext cx="4754880" cy="566928"/>
          </a:xfrm>
          <a:prstGeom prst="rect">
            <a:avLst/>
          </a:prstGeom>
          <a:noFill/>
        </p:spPr>
        <p:txBody>
          <a:bodyPr wrap="square" anchor="ctr">
            <a:spAutoFit/>
          </a:bodyPr>
          <a:lstStyle/>
          <a:p>
            <a:pPr algn="l"/>
            <a:r>
              <a:rPr sz="1250" b="1" i="0">
                <a:solidFill>
                  <a:srgbClr val="A33607"/>
                </a:solidFill>
                <a:latin typeface="Calibri"/>
              </a:rPr>
              <a:t>tend to</a:t>
            </a:r>
          </a:p>
        </p:txBody>
      </p:sp>
      <p:sp>
        <p:nvSpPr>
          <p:cNvPr id="31" name="TextBox 30"/>
          <p:cNvSpPr txBox="1"/>
          <p:nvPr/>
        </p:nvSpPr>
        <p:spPr>
          <a:xfrm>
            <a:off x="5623560" y="4069080"/>
            <a:ext cx="5852160" cy="566928"/>
          </a:xfrm>
          <a:prstGeom prst="rect">
            <a:avLst/>
          </a:prstGeom>
          <a:noFill/>
        </p:spPr>
        <p:txBody>
          <a:bodyPr wrap="square" anchor="ctr">
            <a:spAutoFit/>
          </a:bodyPr>
          <a:lstStyle/>
          <a:p>
            <a:pPr algn="l"/>
            <a:r>
              <a:rPr sz="1250" b="0" i="0">
                <a:solidFill>
                  <a:srgbClr val="1E293B"/>
                </a:solidFill>
                <a:latin typeface="Calibri"/>
              </a:rPr>
              <a:t>倾向于（people tend to...）</a:t>
            </a:r>
          </a:p>
        </p:txBody>
      </p:sp>
      <p:sp>
        <p:nvSpPr>
          <p:cNvPr id="32" name="Rectangle 31"/>
          <p:cNvSpPr/>
          <p:nvPr/>
        </p:nvSpPr>
        <p:spPr>
          <a:xfrm>
            <a:off x="548640" y="4636008"/>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4636008"/>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4636008"/>
            <a:ext cx="4754880" cy="566928"/>
          </a:xfrm>
          <a:prstGeom prst="rect">
            <a:avLst/>
          </a:prstGeom>
          <a:noFill/>
        </p:spPr>
        <p:txBody>
          <a:bodyPr wrap="square" anchor="ctr">
            <a:spAutoFit/>
          </a:bodyPr>
          <a:lstStyle/>
          <a:p>
            <a:pPr algn="l"/>
            <a:r>
              <a:rPr sz="1250" b="1" i="0">
                <a:solidFill>
                  <a:srgbClr val="A33607"/>
                </a:solidFill>
                <a:latin typeface="Calibri"/>
              </a:rPr>
              <a:t>in terms of</a:t>
            </a:r>
          </a:p>
        </p:txBody>
      </p:sp>
      <p:sp>
        <p:nvSpPr>
          <p:cNvPr id="35" name="TextBox 34"/>
          <p:cNvSpPr txBox="1"/>
          <p:nvPr/>
        </p:nvSpPr>
        <p:spPr>
          <a:xfrm>
            <a:off x="5623560" y="4636008"/>
            <a:ext cx="5852160" cy="566928"/>
          </a:xfrm>
          <a:prstGeom prst="rect">
            <a:avLst/>
          </a:prstGeom>
          <a:noFill/>
        </p:spPr>
        <p:txBody>
          <a:bodyPr wrap="square" anchor="ctr">
            <a:spAutoFit/>
          </a:bodyPr>
          <a:lstStyle/>
          <a:p>
            <a:pPr algn="l"/>
            <a:r>
              <a:rPr sz="1250" b="0" i="0">
                <a:solidFill>
                  <a:srgbClr val="1E293B"/>
                </a:solidFill>
                <a:latin typeface="Calibri"/>
              </a:rPr>
              <a:t>从...方面来说（in terms of education...）</a:t>
            </a:r>
          </a:p>
        </p:txBody>
      </p:sp>
      <p:sp>
        <p:nvSpPr>
          <p:cNvPr id="36" name="Rectangle 35"/>
          <p:cNvSpPr/>
          <p:nvPr/>
        </p:nvSpPr>
        <p:spPr>
          <a:xfrm>
            <a:off x="548640" y="5202936"/>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5202936"/>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5202936"/>
            <a:ext cx="4754880" cy="566928"/>
          </a:xfrm>
          <a:prstGeom prst="rect">
            <a:avLst/>
          </a:prstGeom>
          <a:noFill/>
        </p:spPr>
        <p:txBody>
          <a:bodyPr wrap="square" anchor="ctr">
            <a:spAutoFit/>
          </a:bodyPr>
          <a:lstStyle/>
          <a:p>
            <a:pPr algn="l"/>
            <a:r>
              <a:rPr sz="1250" b="1" i="0">
                <a:solidFill>
                  <a:srgbClr val="A33607"/>
                </a:solidFill>
                <a:latin typeface="Calibri"/>
              </a:rPr>
              <a:t>be exposed to</a:t>
            </a:r>
          </a:p>
        </p:txBody>
      </p:sp>
      <p:sp>
        <p:nvSpPr>
          <p:cNvPr id="39" name="TextBox 38"/>
          <p:cNvSpPr txBox="1"/>
          <p:nvPr/>
        </p:nvSpPr>
        <p:spPr>
          <a:xfrm>
            <a:off x="5623560" y="5202936"/>
            <a:ext cx="5852160" cy="566928"/>
          </a:xfrm>
          <a:prstGeom prst="rect">
            <a:avLst/>
          </a:prstGeom>
          <a:noFill/>
        </p:spPr>
        <p:txBody>
          <a:bodyPr wrap="square" anchor="ctr">
            <a:spAutoFit/>
          </a:bodyPr>
          <a:lstStyle/>
          <a:p>
            <a:pPr algn="l"/>
            <a:r>
              <a:rPr sz="1250" b="0" i="0">
                <a:solidFill>
                  <a:srgbClr val="1E293B"/>
                </a:solidFill>
                <a:latin typeface="Calibri"/>
              </a:rPr>
              <a:t>接触/暴露于（being exposed to different cultures...）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连接词与话语标记语</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234440"/>
            <a:ext cx="4937760" cy="566928"/>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566928"/>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566928"/>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566928"/>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801368"/>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801368"/>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801368"/>
            <a:ext cx="4754880" cy="566928"/>
          </a:xfrm>
          <a:prstGeom prst="rect">
            <a:avLst/>
          </a:prstGeom>
          <a:noFill/>
        </p:spPr>
        <p:txBody>
          <a:bodyPr wrap="square" anchor="ctr">
            <a:spAutoFit/>
          </a:bodyPr>
          <a:lstStyle/>
          <a:p>
            <a:pPr algn="l"/>
            <a:r>
              <a:rPr sz="1250" b="1" i="0">
                <a:solidFill>
                  <a:srgbClr val="A33607"/>
                </a:solidFill>
                <a:latin typeface="Calibri"/>
              </a:rPr>
              <a:t>Well,</a:t>
            </a:r>
          </a:p>
        </p:txBody>
      </p:sp>
      <p:sp>
        <p:nvSpPr>
          <p:cNvPr id="15" name="TextBox 14"/>
          <p:cNvSpPr txBox="1"/>
          <p:nvPr/>
        </p:nvSpPr>
        <p:spPr>
          <a:xfrm>
            <a:off x="5623560" y="1801368"/>
            <a:ext cx="5852160" cy="566928"/>
          </a:xfrm>
          <a:prstGeom prst="rect">
            <a:avLst/>
          </a:prstGeom>
          <a:noFill/>
        </p:spPr>
        <p:txBody>
          <a:bodyPr wrap="square" anchor="ctr">
            <a:spAutoFit/>
          </a:bodyPr>
          <a:lstStyle/>
          <a:p>
            <a:pPr algn="l"/>
            <a:r>
              <a:rPr sz="1250" b="0" i="0">
                <a:solidFill>
                  <a:srgbClr val="1E293B"/>
                </a:solidFill>
                <a:latin typeface="Calibri"/>
              </a:rPr>
              <a:t>好的/嗯——开场填充语，比"um"更自然</a:t>
            </a:r>
          </a:p>
        </p:txBody>
      </p:sp>
      <p:sp>
        <p:nvSpPr>
          <p:cNvPr id="16" name="Rectangle 15"/>
          <p:cNvSpPr/>
          <p:nvPr/>
        </p:nvSpPr>
        <p:spPr>
          <a:xfrm>
            <a:off x="548640" y="2368296"/>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368296"/>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368296"/>
            <a:ext cx="4754880" cy="566928"/>
          </a:xfrm>
          <a:prstGeom prst="rect">
            <a:avLst/>
          </a:prstGeom>
          <a:noFill/>
        </p:spPr>
        <p:txBody>
          <a:bodyPr wrap="square" anchor="ctr">
            <a:spAutoFit/>
          </a:bodyPr>
          <a:lstStyle/>
          <a:p>
            <a:pPr algn="l"/>
            <a:r>
              <a:rPr sz="1250" b="1" i="0">
                <a:solidFill>
                  <a:srgbClr val="A33607"/>
                </a:solidFill>
                <a:latin typeface="Calibri"/>
              </a:rPr>
              <a:t>Actually,</a:t>
            </a:r>
          </a:p>
        </p:txBody>
      </p:sp>
      <p:sp>
        <p:nvSpPr>
          <p:cNvPr id="19" name="TextBox 18"/>
          <p:cNvSpPr txBox="1"/>
          <p:nvPr/>
        </p:nvSpPr>
        <p:spPr>
          <a:xfrm>
            <a:off x="5623560" y="2368296"/>
            <a:ext cx="5852160" cy="566928"/>
          </a:xfrm>
          <a:prstGeom prst="rect">
            <a:avLst/>
          </a:prstGeom>
          <a:noFill/>
        </p:spPr>
        <p:txBody>
          <a:bodyPr wrap="square" anchor="ctr">
            <a:spAutoFit/>
          </a:bodyPr>
          <a:lstStyle/>
          <a:p>
            <a:pPr algn="l"/>
            <a:r>
              <a:rPr sz="1250" b="0" i="0">
                <a:solidFill>
                  <a:srgbClr val="1E293B"/>
                </a:solidFill>
                <a:latin typeface="Calibri"/>
              </a:rPr>
              <a:t>实际上——引出真实想法或纠正</a:t>
            </a:r>
          </a:p>
        </p:txBody>
      </p:sp>
      <p:sp>
        <p:nvSpPr>
          <p:cNvPr id="20" name="Rectangle 19"/>
          <p:cNvSpPr/>
          <p:nvPr/>
        </p:nvSpPr>
        <p:spPr>
          <a:xfrm>
            <a:off x="548640" y="2935224"/>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935224"/>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35224"/>
            <a:ext cx="4754880" cy="566928"/>
          </a:xfrm>
          <a:prstGeom prst="rect">
            <a:avLst/>
          </a:prstGeom>
          <a:noFill/>
        </p:spPr>
        <p:txBody>
          <a:bodyPr wrap="square" anchor="ctr">
            <a:spAutoFit/>
          </a:bodyPr>
          <a:lstStyle/>
          <a:p>
            <a:pPr algn="l"/>
            <a:r>
              <a:rPr sz="1250" b="1" i="0">
                <a:solidFill>
                  <a:srgbClr val="A33607"/>
                </a:solidFill>
                <a:latin typeface="Calibri"/>
              </a:rPr>
              <a:t>I think / I believe</a:t>
            </a:r>
          </a:p>
        </p:txBody>
      </p:sp>
      <p:sp>
        <p:nvSpPr>
          <p:cNvPr id="23" name="TextBox 22"/>
          <p:cNvSpPr txBox="1"/>
          <p:nvPr/>
        </p:nvSpPr>
        <p:spPr>
          <a:xfrm>
            <a:off x="5623560" y="2935224"/>
            <a:ext cx="5852160" cy="566928"/>
          </a:xfrm>
          <a:prstGeom prst="rect">
            <a:avLst/>
          </a:prstGeom>
          <a:noFill/>
        </p:spPr>
        <p:txBody>
          <a:bodyPr wrap="square" anchor="ctr">
            <a:spAutoFit/>
          </a:bodyPr>
          <a:lstStyle/>
          <a:p>
            <a:pPr algn="l"/>
            <a:r>
              <a:rPr sz="1250" b="0" i="0">
                <a:solidFill>
                  <a:srgbClr val="1E293B"/>
                </a:solidFill>
                <a:latin typeface="Calibri"/>
              </a:rPr>
              <a:t>我认为——表达个人观点的开头</a:t>
            </a:r>
          </a:p>
        </p:txBody>
      </p:sp>
      <p:sp>
        <p:nvSpPr>
          <p:cNvPr id="24" name="Rectangle 23"/>
          <p:cNvSpPr/>
          <p:nvPr/>
        </p:nvSpPr>
        <p:spPr>
          <a:xfrm>
            <a:off x="548640" y="3502152"/>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3502152"/>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502152"/>
            <a:ext cx="4754880" cy="566928"/>
          </a:xfrm>
          <a:prstGeom prst="rect">
            <a:avLst/>
          </a:prstGeom>
          <a:noFill/>
        </p:spPr>
        <p:txBody>
          <a:bodyPr wrap="square" anchor="ctr">
            <a:spAutoFit/>
          </a:bodyPr>
          <a:lstStyle/>
          <a:p>
            <a:pPr algn="l"/>
            <a:r>
              <a:rPr sz="1250" b="1" i="0">
                <a:solidFill>
                  <a:srgbClr val="A33607"/>
                </a:solidFill>
                <a:latin typeface="Calibri"/>
              </a:rPr>
              <a:t>To be honest,</a:t>
            </a:r>
          </a:p>
        </p:txBody>
      </p:sp>
      <p:sp>
        <p:nvSpPr>
          <p:cNvPr id="27" name="TextBox 26"/>
          <p:cNvSpPr txBox="1"/>
          <p:nvPr/>
        </p:nvSpPr>
        <p:spPr>
          <a:xfrm>
            <a:off x="5623560" y="3502152"/>
            <a:ext cx="5852160" cy="566928"/>
          </a:xfrm>
          <a:prstGeom prst="rect">
            <a:avLst/>
          </a:prstGeom>
          <a:noFill/>
        </p:spPr>
        <p:txBody>
          <a:bodyPr wrap="square" anchor="ctr">
            <a:spAutoFit/>
          </a:bodyPr>
          <a:lstStyle/>
          <a:p>
            <a:pPr algn="l"/>
            <a:r>
              <a:rPr sz="1250" b="0" i="0">
                <a:solidFill>
                  <a:srgbClr val="1E293B"/>
                </a:solidFill>
                <a:latin typeface="Calibri"/>
              </a:rPr>
              <a:t>说实话——让答案更真实自然</a:t>
            </a:r>
          </a:p>
        </p:txBody>
      </p:sp>
      <p:sp>
        <p:nvSpPr>
          <p:cNvPr id="28" name="Rectangle 27"/>
          <p:cNvSpPr/>
          <p:nvPr/>
        </p:nvSpPr>
        <p:spPr>
          <a:xfrm>
            <a:off x="548640" y="4069080"/>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4069080"/>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069080"/>
            <a:ext cx="4754880" cy="566928"/>
          </a:xfrm>
          <a:prstGeom prst="rect">
            <a:avLst/>
          </a:prstGeom>
          <a:noFill/>
        </p:spPr>
        <p:txBody>
          <a:bodyPr wrap="square" anchor="ctr">
            <a:spAutoFit/>
          </a:bodyPr>
          <a:lstStyle/>
          <a:p>
            <a:pPr algn="l"/>
            <a:r>
              <a:rPr sz="1250" b="1" i="0">
                <a:solidFill>
                  <a:srgbClr val="A33607"/>
                </a:solidFill>
                <a:latin typeface="Calibri"/>
              </a:rPr>
              <a:t>What I mean is,</a:t>
            </a:r>
          </a:p>
        </p:txBody>
      </p:sp>
      <p:sp>
        <p:nvSpPr>
          <p:cNvPr id="31" name="TextBox 30"/>
          <p:cNvSpPr txBox="1"/>
          <p:nvPr/>
        </p:nvSpPr>
        <p:spPr>
          <a:xfrm>
            <a:off x="5623560" y="4069080"/>
            <a:ext cx="5852160" cy="566928"/>
          </a:xfrm>
          <a:prstGeom prst="rect">
            <a:avLst/>
          </a:prstGeom>
          <a:noFill/>
        </p:spPr>
        <p:txBody>
          <a:bodyPr wrap="square" anchor="ctr">
            <a:spAutoFit/>
          </a:bodyPr>
          <a:lstStyle/>
          <a:p>
            <a:pPr algn="l"/>
            <a:r>
              <a:rPr sz="1250" b="0" i="0">
                <a:solidFill>
                  <a:srgbClr val="1E293B"/>
                </a:solidFill>
                <a:latin typeface="Calibri"/>
              </a:rPr>
              <a:t>我的意思是——解释或补充</a:t>
            </a:r>
          </a:p>
        </p:txBody>
      </p:sp>
      <p:sp>
        <p:nvSpPr>
          <p:cNvPr id="32" name="Rectangle 31"/>
          <p:cNvSpPr/>
          <p:nvPr/>
        </p:nvSpPr>
        <p:spPr>
          <a:xfrm>
            <a:off x="548640" y="4636008"/>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4636008"/>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4636008"/>
            <a:ext cx="4754880" cy="566928"/>
          </a:xfrm>
          <a:prstGeom prst="rect">
            <a:avLst/>
          </a:prstGeom>
          <a:noFill/>
        </p:spPr>
        <p:txBody>
          <a:bodyPr wrap="square" anchor="ctr">
            <a:spAutoFit/>
          </a:bodyPr>
          <a:lstStyle/>
          <a:p>
            <a:pPr algn="l"/>
            <a:r>
              <a:rPr sz="1250" b="1" i="0">
                <a:solidFill>
                  <a:srgbClr val="A33607"/>
                </a:solidFill>
                <a:latin typeface="Calibri"/>
              </a:rPr>
              <a:t>That's a good question.</a:t>
            </a:r>
          </a:p>
        </p:txBody>
      </p:sp>
      <p:sp>
        <p:nvSpPr>
          <p:cNvPr id="35" name="TextBox 34"/>
          <p:cNvSpPr txBox="1"/>
          <p:nvPr/>
        </p:nvSpPr>
        <p:spPr>
          <a:xfrm>
            <a:off x="5623560" y="4636008"/>
            <a:ext cx="5852160" cy="566928"/>
          </a:xfrm>
          <a:prstGeom prst="rect">
            <a:avLst/>
          </a:prstGeom>
          <a:noFill/>
        </p:spPr>
        <p:txBody>
          <a:bodyPr wrap="square" anchor="ctr">
            <a:spAutoFit/>
          </a:bodyPr>
          <a:lstStyle/>
          <a:p>
            <a:pPr algn="l"/>
            <a:r>
              <a:rPr sz="1250" b="0" i="0">
                <a:solidFill>
                  <a:srgbClr val="1E293B"/>
                </a:solidFill>
                <a:latin typeface="Calibri"/>
              </a:rPr>
              <a:t>很好的问题——Part 3争取思考时间</a:t>
            </a:r>
          </a:p>
        </p:txBody>
      </p:sp>
      <p:sp>
        <p:nvSpPr>
          <p:cNvPr id="36" name="Rectangle 35"/>
          <p:cNvSpPr/>
          <p:nvPr/>
        </p:nvSpPr>
        <p:spPr>
          <a:xfrm>
            <a:off x="548640" y="5202936"/>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5202936"/>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5202936"/>
            <a:ext cx="4754880" cy="566928"/>
          </a:xfrm>
          <a:prstGeom prst="rect">
            <a:avLst/>
          </a:prstGeom>
          <a:noFill/>
        </p:spPr>
        <p:txBody>
          <a:bodyPr wrap="square" anchor="ctr">
            <a:spAutoFit/>
          </a:bodyPr>
          <a:lstStyle/>
          <a:p>
            <a:pPr algn="l"/>
            <a:r>
              <a:rPr sz="1250" b="1" i="0">
                <a:solidFill>
                  <a:srgbClr val="A33607"/>
                </a:solidFill>
                <a:latin typeface="Calibri"/>
              </a:rPr>
              <a:t>It depends on...</a:t>
            </a:r>
          </a:p>
        </p:txBody>
      </p:sp>
      <p:sp>
        <p:nvSpPr>
          <p:cNvPr id="39" name="TextBox 38"/>
          <p:cNvSpPr txBox="1"/>
          <p:nvPr/>
        </p:nvSpPr>
        <p:spPr>
          <a:xfrm>
            <a:off x="5623560" y="5202936"/>
            <a:ext cx="5852160" cy="566928"/>
          </a:xfrm>
          <a:prstGeom prst="rect">
            <a:avLst/>
          </a:prstGeom>
          <a:noFill/>
        </p:spPr>
        <p:txBody>
          <a:bodyPr wrap="square" anchor="ctr">
            <a:spAutoFit/>
          </a:bodyPr>
          <a:lstStyle/>
          <a:p>
            <a:pPr algn="l"/>
            <a:r>
              <a:rPr sz="1250" b="0" i="0">
                <a:solidFill>
                  <a:srgbClr val="1E293B"/>
                </a:solidFill>
                <a:latin typeface="Calibri"/>
              </a:rPr>
              <a:t>这取决于...——面对复杂问题的开场</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六个Band分数口语特征对比</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Rectangle 6"/>
          <p:cNvSpPr/>
          <p:nvPr/>
        </p:nvSpPr>
        <p:spPr>
          <a:xfrm>
            <a:off x="548640" y="1188720"/>
            <a:ext cx="5486400" cy="4572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Band 6-6.5的特征</a:t>
            </a:r>
          </a:p>
        </p:txBody>
      </p:sp>
      <p:sp>
        <p:nvSpPr>
          <p:cNvPr id="9" name="TextBox 8"/>
          <p:cNvSpPr txBox="1"/>
          <p:nvPr/>
        </p:nvSpPr>
        <p:spPr>
          <a:xfrm>
            <a:off x="640080" y="1783080"/>
            <a:ext cx="5349240" cy="4480560"/>
          </a:xfrm>
          <a:prstGeom prst="rect">
            <a:avLst/>
          </a:prstGeom>
          <a:noFill/>
        </p:spPr>
        <p:txBody>
          <a:bodyPr wrap="square">
            <a:spAutoFit/>
          </a:bodyPr>
          <a:lstStyle/>
          <a:p>
            <a:r>
              <a:rPr sz="1650" b="1">
                <a:solidFill>
                  <a:srgbClr val="A33607"/>
                </a:solidFill>
              </a:rPr>
              <a:t>• CC</a:t>
            </a:r>
          </a:p>
          <a:p>
            <a:pPr>
              <a:spcBef>
                <a:spcPts val="100"/>
              </a:spcBef>
            </a:pPr>
            <a:r>
              <a:rPr sz="1350">
                <a:solidFill>
                  <a:srgbClr val="556075"/>
                </a:solidFill>
              </a:rPr>
              <a:t>   经常停顿/重复，连贯性时好时坏</a:t>
            </a:r>
          </a:p>
          <a:p>
            <a:pPr>
              <a:spcBef>
                <a:spcPts val="700"/>
              </a:spcBef>
            </a:pPr>
            <a:r>
              <a:rPr sz="1650" b="1">
                <a:solidFill>
                  <a:srgbClr val="A33607"/>
                </a:solidFill>
              </a:rPr>
              <a:t>• LR</a:t>
            </a:r>
          </a:p>
          <a:p>
            <a:pPr>
              <a:spcBef>
                <a:spcPts val="100"/>
              </a:spcBef>
            </a:pPr>
            <a:r>
              <a:rPr sz="1350">
                <a:solidFill>
                  <a:srgbClr val="556075"/>
                </a:solidFill>
              </a:rPr>
              <a:t>   基础词汇为主，偶尔有话题词汇</a:t>
            </a:r>
          </a:p>
          <a:p>
            <a:pPr>
              <a:spcBef>
                <a:spcPts val="700"/>
              </a:spcBef>
            </a:pPr>
            <a:r>
              <a:rPr sz="1650" b="1">
                <a:solidFill>
                  <a:srgbClr val="A33607"/>
                </a:solidFill>
              </a:rPr>
              <a:t>• GRA</a:t>
            </a:r>
          </a:p>
          <a:p>
            <a:pPr>
              <a:spcBef>
                <a:spcPts val="100"/>
              </a:spcBef>
            </a:pPr>
            <a:r>
              <a:rPr sz="1350">
                <a:solidFill>
                  <a:srgbClr val="556075"/>
                </a:solidFill>
              </a:rPr>
              <a:t>   简单句为主，复合句偶有错误</a:t>
            </a:r>
          </a:p>
          <a:p>
            <a:pPr>
              <a:spcBef>
                <a:spcPts val="700"/>
              </a:spcBef>
            </a:pPr>
            <a:r>
              <a:rPr sz="1650" b="1">
                <a:solidFill>
                  <a:srgbClr val="A33607"/>
                </a:solidFill>
              </a:rPr>
              <a:t>• P</a:t>
            </a:r>
          </a:p>
          <a:p>
            <a:pPr>
              <a:spcBef>
                <a:spcPts val="100"/>
              </a:spcBef>
            </a:pPr>
            <a:r>
              <a:rPr sz="1350">
                <a:solidFill>
                  <a:srgbClr val="556075"/>
                </a:solidFill>
              </a:rPr>
              <a:t>   基本清晰，但口音明显，偶影响理解</a:t>
            </a:r>
          </a:p>
        </p:txBody>
      </p:sp>
      <p:sp>
        <p:nvSpPr>
          <p:cNvPr id="10" name="Rectangle 9"/>
          <p:cNvSpPr/>
          <p:nvPr/>
        </p:nvSpPr>
        <p:spPr>
          <a:xfrm>
            <a:off x="6355079" y="1188720"/>
            <a:ext cx="5486400" cy="45720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Band 7-7.5的特征</a:t>
            </a:r>
          </a:p>
        </p:txBody>
      </p:sp>
      <p:sp>
        <p:nvSpPr>
          <p:cNvPr id="12" name="TextBox 11"/>
          <p:cNvSpPr txBox="1"/>
          <p:nvPr/>
        </p:nvSpPr>
        <p:spPr>
          <a:xfrm>
            <a:off x="6446519" y="1783080"/>
            <a:ext cx="5349240" cy="4480560"/>
          </a:xfrm>
          <a:prstGeom prst="rect">
            <a:avLst/>
          </a:prstGeom>
          <a:noFill/>
        </p:spPr>
        <p:txBody>
          <a:bodyPr wrap="square">
            <a:spAutoFit/>
          </a:bodyPr>
          <a:lstStyle/>
          <a:p>
            <a:r>
              <a:rPr sz="1650" b="1">
                <a:solidFill>
                  <a:srgbClr val="A33607"/>
                </a:solidFill>
              </a:rPr>
              <a:t>• CC</a:t>
            </a:r>
          </a:p>
          <a:p>
            <a:pPr>
              <a:spcBef>
                <a:spcPts val="100"/>
              </a:spcBef>
            </a:pPr>
            <a:r>
              <a:rPr sz="1350">
                <a:solidFill>
                  <a:srgbClr val="556075"/>
                </a:solidFill>
              </a:rPr>
              <a:t>   偶有停顿，多数时候流畅，连接词自然</a:t>
            </a:r>
          </a:p>
          <a:p>
            <a:pPr>
              <a:spcBef>
                <a:spcPts val="700"/>
              </a:spcBef>
            </a:pPr>
            <a:r>
              <a:rPr sz="1650" b="1">
                <a:solidFill>
                  <a:srgbClr val="A33607"/>
                </a:solidFill>
              </a:rPr>
              <a:t>• LR</a:t>
            </a:r>
          </a:p>
          <a:p>
            <a:pPr>
              <a:spcBef>
                <a:spcPts val="100"/>
              </a:spcBef>
            </a:pPr>
            <a:r>
              <a:rPr sz="1350">
                <a:solidFill>
                  <a:srgbClr val="556075"/>
                </a:solidFill>
              </a:rPr>
              <a:t>   话题相关词汇稳定使用，搭配较准确</a:t>
            </a:r>
          </a:p>
          <a:p>
            <a:pPr>
              <a:spcBef>
                <a:spcPts val="700"/>
              </a:spcBef>
            </a:pPr>
            <a:r>
              <a:rPr sz="1650" b="1">
                <a:solidFill>
                  <a:srgbClr val="A33607"/>
                </a:solidFill>
              </a:rPr>
              <a:t>• GRA</a:t>
            </a:r>
          </a:p>
          <a:p>
            <a:pPr>
              <a:spcBef>
                <a:spcPts val="100"/>
              </a:spcBef>
            </a:pPr>
            <a:r>
              <a:rPr sz="1350">
                <a:solidFill>
                  <a:srgbClr val="556075"/>
                </a:solidFill>
              </a:rPr>
              <a:t>   复合句稳定，语法多样，错误少</a:t>
            </a:r>
          </a:p>
          <a:p>
            <a:pPr>
              <a:spcBef>
                <a:spcPts val="700"/>
              </a:spcBef>
            </a:pPr>
            <a:r>
              <a:rPr sz="1650" b="1">
                <a:solidFill>
                  <a:srgbClr val="A33607"/>
                </a:solidFill>
              </a:rPr>
              <a:t>• P</a:t>
            </a:r>
          </a:p>
          <a:p>
            <a:pPr>
              <a:spcBef>
                <a:spcPts val="100"/>
              </a:spcBef>
            </a:pPr>
            <a:r>
              <a:rPr sz="1350">
                <a:solidFill>
                  <a:srgbClr val="556075"/>
                </a:solidFill>
              </a:rPr>
              <a:t>   清晰，口音不影响理解，语调较自然</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8C1D"/>
                </a:solidFill>
                <a:latin typeface="Calibri"/>
              </a:rPr>
              <a:t>PART 06</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备考方法：开口训练系统</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Study Method: Speaking Practice System</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方法步骤</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Step 1-3：建立开口习惯</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280160"/>
            <a:ext cx="640080" cy="640080"/>
          </a:xfrm>
          <a:prstGeom prst="round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335024"/>
            <a:ext cx="640080" cy="502920"/>
          </a:xfrm>
          <a:prstGeom prst="rect">
            <a:avLst/>
          </a:prstGeom>
          <a:noFill/>
        </p:spPr>
        <p:txBody>
          <a:bodyPr wrap="square" anchor="t">
            <a:spAutoFit/>
          </a:bodyPr>
          <a:lstStyle/>
          <a:p>
            <a:pPr algn="ctr"/>
            <a:r>
              <a:rPr sz="2200" b="1" i="0">
                <a:solidFill>
                  <a:srgbClr val="FFFFFF"/>
                </a:solidFill>
                <a:latin typeface="Calibri"/>
              </a:rPr>
              <a:t>1</a:t>
            </a:r>
          </a:p>
        </p:txBody>
      </p:sp>
      <p:sp>
        <p:nvSpPr>
          <p:cNvPr id="10" name="Rectangle 9"/>
          <p:cNvSpPr/>
          <p:nvPr/>
        </p:nvSpPr>
        <p:spPr>
          <a:xfrm>
            <a:off x="841248" y="1938528"/>
            <a:ext cx="45720" cy="393191"/>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17320" y="1280160"/>
            <a:ext cx="10058400" cy="411480"/>
          </a:xfrm>
          <a:prstGeom prst="rect">
            <a:avLst/>
          </a:prstGeom>
          <a:noFill/>
        </p:spPr>
        <p:txBody>
          <a:bodyPr wrap="square" anchor="t">
            <a:spAutoFit/>
          </a:bodyPr>
          <a:lstStyle/>
          <a:p>
            <a:pPr algn="l"/>
            <a:r>
              <a:rPr sz="1600" b="1" i="0">
                <a:solidFill>
                  <a:srgbClr val="A33607"/>
                </a:solidFill>
                <a:latin typeface="Calibri"/>
              </a:rPr>
              <a:t>每天录音（Day 1起）</a:t>
            </a:r>
          </a:p>
        </p:txBody>
      </p:sp>
      <p:sp>
        <p:nvSpPr>
          <p:cNvPr id="12" name="TextBox 11"/>
          <p:cNvSpPr txBox="1"/>
          <p:nvPr/>
        </p:nvSpPr>
        <p:spPr>
          <a:xfrm>
            <a:off x="1417320" y="1645919"/>
            <a:ext cx="10058400" cy="685799"/>
          </a:xfrm>
          <a:prstGeom prst="rect">
            <a:avLst/>
          </a:prstGeom>
          <a:noFill/>
        </p:spPr>
        <p:txBody>
          <a:bodyPr wrap="square" anchor="t">
            <a:spAutoFit/>
          </a:bodyPr>
          <a:lstStyle/>
          <a:p>
            <a:pPr algn="l"/>
            <a:r>
              <a:rPr sz="1350" b="0" i="0">
                <a:solidFill>
                  <a:srgbClr val="556075"/>
                </a:solidFill>
                <a:latin typeface="Calibri"/>
              </a:rPr>
              <a:t>不管说得好不好，每天至少录1段30秒以上的答案</a:t>
            </a:r>
          </a:p>
        </p:txBody>
      </p:sp>
      <p:sp>
        <p:nvSpPr>
          <p:cNvPr id="13" name="Rounded Rectangle 12"/>
          <p:cNvSpPr/>
          <p:nvPr/>
        </p:nvSpPr>
        <p:spPr>
          <a:xfrm>
            <a:off x="548640" y="2331720"/>
            <a:ext cx="640080" cy="640080"/>
          </a:xfrm>
          <a:prstGeom prst="round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386584"/>
            <a:ext cx="640080" cy="502920"/>
          </a:xfrm>
          <a:prstGeom prst="rect">
            <a:avLst/>
          </a:prstGeom>
          <a:noFill/>
        </p:spPr>
        <p:txBody>
          <a:bodyPr wrap="square" anchor="t">
            <a:spAutoFit/>
          </a:bodyPr>
          <a:lstStyle/>
          <a:p>
            <a:pPr algn="ctr"/>
            <a:r>
              <a:rPr sz="2200" b="1" i="0">
                <a:solidFill>
                  <a:srgbClr val="FFFFFF"/>
                </a:solidFill>
                <a:latin typeface="Calibri"/>
              </a:rPr>
              <a:t>2</a:t>
            </a:r>
          </a:p>
        </p:txBody>
      </p:sp>
      <p:sp>
        <p:nvSpPr>
          <p:cNvPr id="15" name="Rectangle 14"/>
          <p:cNvSpPr/>
          <p:nvPr/>
        </p:nvSpPr>
        <p:spPr>
          <a:xfrm>
            <a:off x="841248" y="2990087"/>
            <a:ext cx="45720" cy="393191"/>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17320" y="2331720"/>
            <a:ext cx="10058400" cy="411480"/>
          </a:xfrm>
          <a:prstGeom prst="rect">
            <a:avLst/>
          </a:prstGeom>
          <a:noFill/>
        </p:spPr>
        <p:txBody>
          <a:bodyPr wrap="square" anchor="t">
            <a:spAutoFit/>
          </a:bodyPr>
          <a:lstStyle/>
          <a:p>
            <a:pPr algn="l"/>
            <a:r>
              <a:rPr sz="1600" b="1" i="0">
                <a:solidFill>
                  <a:srgbClr val="A33607"/>
                </a:solidFill>
                <a:latin typeface="Calibri"/>
              </a:rPr>
              <a:t>听自己录音</a:t>
            </a:r>
          </a:p>
        </p:txBody>
      </p:sp>
      <p:sp>
        <p:nvSpPr>
          <p:cNvPr id="17" name="TextBox 16"/>
          <p:cNvSpPr txBox="1"/>
          <p:nvPr/>
        </p:nvSpPr>
        <p:spPr>
          <a:xfrm>
            <a:off x="1417320" y="2697479"/>
            <a:ext cx="10058400" cy="685799"/>
          </a:xfrm>
          <a:prstGeom prst="rect">
            <a:avLst/>
          </a:prstGeom>
          <a:noFill/>
        </p:spPr>
        <p:txBody>
          <a:bodyPr wrap="square" anchor="t">
            <a:spAutoFit/>
          </a:bodyPr>
          <a:lstStyle/>
          <a:p>
            <a:pPr algn="l"/>
            <a:r>
              <a:rPr sz="1350" b="0" i="0">
                <a:solidFill>
                  <a:srgbClr val="556075"/>
                </a:solidFill>
                <a:latin typeface="Calibri"/>
              </a:rPr>
              <a:t>录音后立刻听一遍，找出3个可以改进的地方</a:t>
            </a:r>
          </a:p>
        </p:txBody>
      </p:sp>
      <p:sp>
        <p:nvSpPr>
          <p:cNvPr id="18" name="Rounded Rectangle 17"/>
          <p:cNvSpPr/>
          <p:nvPr/>
        </p:nvSpPr>
        <p:spPr>
          <a:xfrm>
            <a:off x="548640" y="3383279"/>
            <a:ext cx="640080" cy="640080"/>
          </a:xfrm>
          <a:prstGeom prst="round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438144"/>
            <a:ext cx="640080" cy="502920"/>
          </a:xfrm>
          <a:prstGeom prst="rect">
            <a:avLst/>
          </a:prstGeom>
          <a:noFill/>
        </p:spPr>
        <p:txBody>
          <a:bodyPr wrap="square" anchor="t">
            <a:spAutoFit/>
          </a:bodyPr>
          <a:lstStyle/>
          <a:p>
            <a:pPr algn="ctr"/>
            <a:r>
              <a:rPr sz="2200" b="1" i="0">
                <a:solidFill>
                  <a:srgbClr val="FFFFFF"/>
                </a:solidFill>
                <a:latin typeface="Calibri"/>
              </a:rPr>
              <a:t>3</a:t>
            </a:r>
          </a:p>
        </p:txBody>
      </p:sp>
      <p:sp>
        <p:nvSpPr>
          <p:cNvPr id="20" name="TextBox 19"/>
          <p:cNvSpPr txBox="1"/>
          <p:nvPr/>
        </p:nvSpPr>
        <p:spPr>
          <a:xfrm>
            <a:off x="1417320" y="3383279"/>
            <a:ext cx="10058400" cy="411480"/>
          </a:xfrm>
          <a:prstGeom prst="rect">
            <a:avLst/>
          </a:prstGeom>
          <a:noFill/>
        </p:spPr>
        <p:txBody>
          <a:bodyPr wrap="square" anchor="t">
            <a:spAutoFit/>
          </a:bodyPr>
          <a:lstStyle/>
          <a:p>
            <a:pPr algn="l"/>
            <a:r>
              <a:rPr sz="1600" b="1" i="0">
                <a:solidFill>
                  <a:srgbClr val="A33607"/>
                </a:solidFill>
                <a:latin typeface="Calibri"/>
              </a:rPr>
              <a:t>话题激活</a:t>
            </a:r>
          </a:p>
        </p:txBody>
      </p:sp>
      <p:sp>
        <p:nvSpPr>
          <p:cNvPr id="21" name="TextBox 20"/>
          <p:cNvSpPr txBox="1"/>
          <p:nvPr/>
        </p:nvSpPr>
        <p:spPr>
          <a:xfrm>
            <a:off x="1417320" y="3749039"/>
            <a:ext cx="10058400" cy="685799"/>
          </a:xfrm>
          <a:prstGeom prst="rect">
            <a:avLst/>
          </a:prstGeom>
          <a:noFill/>
        </p:spPr>
        <p:txBody>
          <a:bodyPr wrap="square" anchor="t">
            <a:spAutoFit/>
          </a:bodyPr>
          <a:lstStyle/>
          <a:p>
            <a:pPr algn="l"/>
            <a:r>
              <a:rPr sz="1350" b="0" i="0">
                <a:solidFill>
                  <a:srgbClr val="556075"/>
                </a:solidFill>
                <a:latin typeface="Calibri"/>
              </a:rPr>
              <a:t>每天选一个话题，写出20个与之相关的词，然后口头造句</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方法步骤</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Step 4-6：提升表达质量</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280160"/>
            <a:ext cx="640080" cy="640080"/>
          </a:xfrm>
          <a:prstGeom prst="round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335024"/>
            <a:ext cx="640080" cy="502920"/>
          </a:xfrm>
          <a:prstGeom prst="rect">
            <a:avLst/>
          </a:prstGeom>
          <a:noFill/>
        </p:spPr>
        <p:txBody>
          <a:bodyPr wrap="square" anchor="t">
            <a:spAutoFit/>
          </a:bodyPr>
          <a:lstStyle/>
          <a:p>
            <a:pPr algn="ctr"/>
            <a:r>
              <a:rPr sz="2200" b="1" i="0">
                <a:solidFill>
                  <a:srgbClr val="FFFFFF"/>
                </a:solidFill>
                <a:latin typeface="Calibri"/>
              </a:rPr>
              <a:t>1</a:t>
            </a:r>
          </a:p>
        </p:txBody>
      </p:sp>
      <p:sp>
        <p:nvSpPr>
          <p:cNvPr id="10" name="Rectangle 9"/>
          <p:cNvSpPr/>
          <p:nvPr/>
        </p:nvSpPr>
        <p:spPr>
          <a:xfrm>
            <a:off x="841248" y="1938528"/>
            <a:ext cx="45720" cy="393191"/>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17320" y="1280160"/>
            <a:ext cx="10058400" cy="411480"/>
          </a:xfrm>
          <a:prstGeom prst="rect">
            <a:avLst/>
          </a:prstGeom>
          <a:noFill/>
        </p:spPr>
        <p:txBody>
          <a:bodyPr wrap="square" anchor="t">
            <a:spAutoFit/>
          </a:bodyPr>
          <a:lstStyle/>
          <a:p>
            <a:pPr algn="l"/>
            <a:r>
              <a:rPr sz="1600" b="1" i="0">
                <a:solidFill>
                  <a:srgbClr val="A33607"/>
                </a:solidFill>
                <a:latin typeface="Calibri"/>
              </a:rPr>
              <a:t>模仿地道表达</a:t>
            </a:r>
          </a:p>
        </p:txBody>
      </p:sp>
      <p:sp>
        <p:nvSpPr>
          <p:cNvPr id="12" name="TextBox 11"/>
          <p:cNvSpPr txBox="1"/>
          <p:nvPr/>
        </p:nvSpPr>
        <p:spPr>
          <a:xfrm>
            <a:off x="1417320" y="1645919"/>
            <a:ext cx="10058400" cy="685799"/>
          </a:xfrm>
          <a:prstGeom prst="rect">
            <a:avLst/>
          </a:prstGeom>
          <a:noFill/>
        </p:spPr>
        <p:txBody>
          <a:bodyPr wrap="square" anchor="t">
            <a:spAutoFit/>
          </a:bodyPr>
          <a:lstStyle/>
          <a:p>
            <a:pPr algn="l"/>
            <a:r>
              <a:rPr sz="1350" b="0" i="0">
                <a:solidFill>
                  <a:srgbClr val="556075"/>
                </a:solidFill>
                <a:latin typeface="Calibri"/>
              </a:rPr>
              <a:t>找一段雅思考官样本回答，跟读并模仿句式和词汇</a:t>
            </a:r>
          </a:p>
        </p:txBody>
      </p:sp>
      <p:sp>
        <p:nvSpPr>
          <p:cNvPr id="13" name="Rounded Rectangle 12"/>
          <p:cNvSpPr/>
          <p:nvPr/>
        </p:nvSpPr>
        <p:spPr>
          <a:xfrm>
            <a:off x="548640" y="2331720"/>
            <a:ext cx="640080" cy="640080"/>
          </a:xfrm>
          <a:prstGeom prst="round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386584"/>
            <a:ext cx="640080" cy="502920"/>
          </a:xfrm>
          <a:prstGeom prst="rect">
            <a:avLst/>
          </a:prstGeom>
          <a:noFill/>
        </p:spPr>
        <p:txBody>
          <a:bodyPr wrap="square" anchor="t">
            <a:spAutoFit/>
          </a:bodyPr>
          <a:lstStyle/>
          <a:p>
            <a:pPr algn="ctr"/>
            <a:r>
              <a:rPr sz="2200" b="1" i="0">
                <a:solidFill>
                  <a:srgbClr val="FFFFFF"/>
                </a:solidFill>
                <a:latin typeface="Calibri"/>
              </a:rPr>
              <a:t>2</a:t>
            </a:r>
          </a:p>
        </p:txBody>
      </p:sp>
      <p:sp>
        <p:nvSpPr>
          <p:cNvPr id="15" name="Rectangle 14"/>
          <p:cNvSpPr/>
          <p:nvPr/>
        </p:nvSpPr>
        <p:spPr>
          <a:xfrm>
            <a:off x="841248" y="2990087"/>
            <a:ext cx="45720" cy="393191"/>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17320" y="2331720"/>
            <a:ext cx="10058400" cy="411480"/>
          </a:xfrm>
          <a:prstGeom prst="rect">
            <a:avLst/>
          </a:prstGeom>
          <a:noFill/>
        </p:spPr>
        <p:txBody>
          <a:bodyPr wrap="square" anchor="t">
            <a:spAutoFit/>
          </a:bodyPr>
          <a:lstStyle/>
          <a:p>
            <a:pPr algn="l"/>
            <a:r>
              <a:rPr sz="1600" b="1" i="0">
                <a:solidFill>
                  <a:srgbClr val="A33607"/>
                </a:solidFill>
                <a:latin typeface="Calibri"/>
              </a:rPr>
              <a:t>改写中式英语</a:t>
            </a:r>
          </a:p>
        </p:txBody>
      </p:sp>
      <p:sp>
        <p:nvSpPr>
          <p:cNvPr id="17" name="TextBox 16"/>
          <p:cNvSpPr txBox="1"/>
          <p:nvPr/>
        </p:nvSpPr>
        <p:spPr>
          <a:xfrm>
            <a:off x="1417320" y="2697479"/>
            <a:ext cx="10058400" cy="685799"/>
          </a:xfrm>
          <a:prstGeom prst="rect">
            <a:avLst/>
          </a:prstGeom>
          <a:noFill/>
        </p:spPr>
        <p:txBody>
          <a:bodyPr wrap="square" anchor="t">
            <a:spAutoFit/>
          </a:bodyPr>
          <a:lstStyle/>
          <a:p>
            <a:pPr algn="l"/>
            <a:r>
              <a:rPr sz="1350" b="0" i="0">
                <a:solidFill>
                  <a:srgbClr val="556075"/>
                </a:solidFill>
                <a:latin typeface="Calibri"/>
              </a:rPr>
              <a:t>把自己录音中的中式表达找出来，改成地道英文</a:t>
            </a:r>
          </a:p>
        </p:txBody>
      </p:sp>
      <p:sp>
        <p:nvSpPr>
          <p:cNvPr id="18" name="Rounded Rectangle 17"/>
          <p:cNvSpPr/>
          <p:nvPr/>
        </p:nvSpPr>
        <p:spPr>
          <a:xfrm>
            <a:off x="548640" y="3383279"/>
            <a:ext cx="640080" cy="640080"/>
          </a:xfrm>
          <a:prstGeom prst="round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438144"/>
            <a:ext cx="640080" cy="502920"/>
          </a:xfrm>
          <a:prstGeom prst="rect">
            <a:avLst/>
          </a:prstGeom>
          <a:noFill/>
        </p:spPr>
        <p:txBody>
          <a:bodyPr wrap="square" anchor="t">
            <a:spAutoFit/>
          </a:bodyPr>
          <a:lstStyle/>
          <a:p>
            <a:pPr algn="ctr"/>
            <a:r>
              <a:rPr sz="2200" b="1" i="0">
                <a:solidFill>
                  <a:srgbClr val="FFFFFF"/>
                </a:solidFill>
                <a:latin typeface="Calibri"/>
              </a:rPr>
              <a:t>3</a:t>
            </a:r>
          </a:p>
        </p:txBody>
      </p:sp>
      <p:sp>
        <p:nvSpPr>
          <p:cNvPr id="20" name="TextBox 19"/>
          <p:cNvSpPr txBox="1"/>
          <p:nvPr/>
        </p:nvSpPr>
        <p:spPr>
          <a:xfrm>
            <a:off x="1417320" y="3383279"/>
            <a:ext cx="10058400" cy="411480"/>
          </a:xfrm>
          <a:prstGeom prst="rect">
            <a:avLst/>
          </a:prstGeom>
          <a:noFill/>
        </p:spPr>
        <p:txBody>
          <a:bodyPr wrap="square" anchor="t">
            <a:spAutoFit/>
          </a:bodyPr>
          <a:lstStyle/>
          <a:p>
            <a:pPr algn="l"/>
            <a:r>
              <a:rPr sz="1600" b="1" i="0">
                <a:solidFill>
                  <a:srgbClr val="A33607"/>
                </a:solidFill>
                <a:latin typeface="Calibri"/>
              </a:rPr>
              <a:t>计时练习</a:t>
            </a:r>
          </a:p>
        </p:txBody>
      </p:sp>
      <p:sp>
        <p:nvSpPr>
          <p:cNvPr id="21" name="TextBox 20"/>
          <p:cNvSpPr txBox="1"/>
          <p:nvPr/>
        </p:nvSpPr>
        <p:spPr>
          <a:xfrm>
            <a:off x="1417320" y="3749039"/>
            <a:ext cx="10058400" cy="685799"/>
          </a:xfrm>
          <a:prstGeom prst="rect">
            <a:avLst/>
          </a:prstGeom>
          <a:noFill/>
        </p:spPr>
        <p:txBody>
          <a:bodyPr wrap="square" anchor="t">
            <a:spAutoFit/>
          </a:bodyPr>
          <a:lstStyle/>
          <a:p>
            <a:pPr algn="l"/>
            <a:r>
              <a:rPr sz="1350" b="0" i="0">
                <a:solidFill>
                  <a:srgbClr val="556075"/>
                </a:solidFill>
                <a:latin typeface="Calibri"/>
              </a:rPr>
              <a:t>Part 1每题30-45秒；Part 2说满2分钟；Part 3每题45-60秒</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方法步骤</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Step 7-8：整合与模拟</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280160"/>
            <a:ext cx="640080" cy="640080"/>
          </a:xfrm>
          <a:prstGeom prst="round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335024"/>
            <a:ext cx="640080" cy="502920"/>
          </a:xfrm>
          <a:prstGeom prst="rect">
            <a:avLst/>
          </a:prstGeom>
          <a:noFill/>
        </p:spPr>
        <p:txBody>
          <a:bodyPr wrap="square" anchor="t">
            <a:spAutoFit/>
          </a:bodyPr>
          <a:lstStyle/>
          <a:p>
            <a:pPr algn="ctr"/>
            <a:r>
              <a:rPr sz="2200" b="1" i="0">
                <a:solidFill>
                  <a:srgbClr val="FFFFFF"/>
                </a:solidFill>
                <a:latin typeface="Calibri"/>
              </a:rPr>
              <a:t>1</a:t>
            </a:r>
          </a:p>
        </p:txBody>
      </p:sp>
      <p:sp>
        <p:nvSpPr>
          <p:cNvPr id="10" name="Rectangle 9"/>
          <p:cNvSpPr/>
          <p:nvPr/>
        </p:nvSpPr>
        <p:spPr>
          <a:xfrm>
            <a:off x="841248" y="1938528"/>
            <a:ext cx="45720" cy="393191"/>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17320" y="1280160"/>
            <a:ext cx="10058400" cy="411480"/>
          </a:xfrm>
          <a:prstGeom prst="rect">
            <a:avLst/>
          </a:prstGeom>
          <a:noFill/>
        </p:spPr>
        <p:txBody>
          <a:bodyPr wrap="square" anchor="t">
            <a:spAutoFit/>
          </a:bodyPr>
          <a:lstStyle/>
          <a:p>
            <a:pPr algn="l"/>
            <a:r>
              <a:rPr sz="1600" b="1" i="0">
                <a:solidFill>
                  <a:srgbClr val="A33607"/>
                </a:solidFill>
                <a:latin typeface="Calibri"/>
              </a:rPr>
              <a:t>完整Part模拟</a:t>
            </a:r>
          </a:p>
        </p:txBody>
      </p:sp>
      <p:sp>
        <p:nvSpPr>
          <p:cNvPr id="12" name="TextBox 11"/>
          <p:cNvSpPr txBox="1"/>
          <p:nvPr/>
        </p:nvSpPr>
        <p:spPr>
          <a:xfrm>
            <a:off x="1417320" y="1645919"/>
            <a:ext cx="10058400" cy="685799"/>
          </a:xfrm>
          <a:prstGeom prst="rect">
            <a:avLst/>
          </a:prstGeom>
          <a:noFill/>
        </p:spPr>
        <p:txBody>
          <a:bodyPr wrap="square" anchor="t">
            <a:spAutoFit/>
          </a:bodyPr>
          <a:lstStyle/>
          <a:p>
            <a:pPr algn="l"/>
            <a:r>
              <a:rPr sz="1350" b="0" i="0">
                <a:solidFill>
                  <a:srgbClr val="556075"/>
                </a:solidFill>
                <a:latin typeface="Calibri"/>
              </a:rPr>
              <a:t>每周至少做一次完整的Part 1+2+3（约14分钟）</a:t>
            </a:r>
          </a:p>
        </p:txBody>
      </p:sp>
      <p:sp>
        <p:nvSpPr>
          <p:cNvPr id="13" name="Rounded Rectangle 12"/>
          <p:cNvSpPr/>
          <p:nvPr/>
        </p:nvSpPr>
        <p:spPr>
          <a:xfrm>
            <a:off x="548640" y="2331720"/>
            <a:ext cx="640080" cy="640080"/>
          </a:xfrm>
          <a:prstGeom prst="round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386584"/>
            <a:ext cx="640080" cy="502920"/>
          </a:xfrm>
          <a:prstGeom prst="rect">
            <a:avLst/>
          </a:prstGeom>
          <a:noFill/>
        </p:spPr>
        <p:txBody>
          <a:bodyPr wrap="square" anchor="t">
            <a:spAutoFit/>
          </a:bodyPr>
          <a:lstStyle/>
          <a:p>
            <a:pPr algn="ctr"/>
            <a:r>
              <a:rPr sz="2200" b="1" i="0">
                <a:solidFill>
                  <a:srgbClr val="FFFFFF"/>
                </a:solidFill>
                <a:latin typeface="Calibri"/>
              </a:rPr>
              <a:t>2</a:t>
            </a:r>
          </a:p>
        </p:txBody>
      </p:sp>
      <p:sp>
        <p:nvSpPr>
          <p:cNvPr id="15" name="TextBox 14"/>
          <p:cNvSpPr txBox="1"/>
          <p:nvPr/>
        </p:nvSpPr>
        <p:spPr>
          <a:xfrm>
            <a:off x="1417320" y="2331720"/>
            <a:ext cx="10058400" cy="411480"/>
          </a:xfrm>
          <a:prstGeom prst="rect">
            <a:avLst/>
          </a:prstGeom>
          <a:noFill/>
        </p:spPr>
        <p:txBody>
          <a:bodyPr wrap="square" anchor="t">
            <a:spAutoFit/>
          </a:bodyPr>
          <a:lstStyle/>
          <a:p>
            <a:pPr algn="l"/>
            <a:r>
              <a:rPr sz="1600" b="1" i="0">
                <a:solidFill>
                  <a:srgbClr val="A33607"/>
                </a:solidFill>
                <a:latin typeface="Calibri"/>
              </a:rPr>
              <a:t>录音评分</a:t>
            </a:r>
          </a:p>
        </p:txBody>
      </p:sp>
      <p:sp>
        <p:nvSpPr>
          <p:cNvPr id="16" name="TextBox 15"/>
          <p:cNvSpPr txBox="1"/>
          <p:nvPr/>
        </p:nvSpPr>
        <p:spPr>
          <a:xfrm>
            <a:off x="1417320" y="2697479"/>
            <a:ext cx="10058400" cy="685799"/>
          </a:xfrm>
          <a:prstGeom prst="rect">
            <a:avLst/>
          </a:prstGeom>
          <a:noFill/>
        </p:spPr>
        <p:txBody>
          <a:bodyPr wrap="square" anchor="t">
            <a:spAutoFit/>
          </a:bodyPr>
          <a:lstStyle/>
          <a:p>
            <a:pPr algn="l"/>
            <a:r>
              <a:rPr sz="1350" b="0" i="0">
                <a:solidFill>
                  <a:srgbClr val="556075"/>
                </a:solidFill>
                <a:latin typeface="Calibri"/>
              </a:rPr>
              <a:t>用四维度评分表给自己打分，关注最弱的维度</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高分范例</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Band 7答案样本：Part 1 "Do you prefer cooking or eating out?"</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84048"/>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207008"/>
            <a:ext cx="10789920" cy="347472"/>
          </a:xfrm>
          <a:prstGeom prst="rect">
            <a:avLst/>
          </a:prstGeom>
          <a:noFill/>
        </p:spPr>
        <p:txBody>
          <a:bodyPr wrap="square" anchor="ctr">
            <a:spAutoFit/>
          </a:bodyPr>
          <a:lstStyle/>
          <a:p>
            <a:pPr algn="l"/>
            <a:r>
              <a:rPr sz="1200" b="1" i="0">
                <a:solidFill>
                  <a:srgbClr val="FFFFFF"/>
                </a:solidFill>
                <a:latin typeface="Calibri"/>
              </a:rPr>
              <a:t>题目："Do you prefer cooking or eating out?"</a:t>
            </a:r>
          </a:p>
        </p:txBody>
      </p:sp>
      <p:sp>
        <p:nvSpPr>
          <p:cNvPr id="10" name="Rounded Rectangle 9"/>
          <p:cNvSpPr/>
          <p:nvPr/>
        </p:nvSpPr>
        <p:spPr>
          <a:xfrm>
            <a:off x="548640" y="1783080"/>
            <a:ext cx="7040880" cy="416052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920240"/>
            <a:ext cx="6629400" cy="3977639"/>
          </a:xfrm>
          <a:prstGeom prst="rect">
            <a:avLst/>
          </a:prstGeom>
          <a:noFill/>
        </p:spPr>
        <p:txBody>
          <a:bodyPr wrap="square">
            <a:spAutoFit/>
          </a:bodyPr>
          <a:lstStyle/>
          <a:p>
            <a:r>
              <a:rPr sz="1300">
                <a:solidFill>
                  <a:srgbClr val="1E293B"/>
                </a:solidFill>
              </a:rPr>
              <a:t>To be honest, I'd say I have a slight preference for eating out, mainly because Shenzhen has an incredible variety of restaurants. I love exploring different cuisines — last week I tried a Yunnan restaurant near my office, and the flavours were completely different from anything I'd had before. That said, I do enjoy cooking on weekends when I have more time — it's quite therapeutic.</a:t>
            </a:r>
          </a:p>
        </p:txBody>
      </p:sp>
      <p:sp>
        <p:nvSpPr>
          <p:cNvPr id="12" name="TextBox 11"/>
          <p:cNvSpPr txBox="1"/>
          <p:nvPr/>
        </p:nvSpPr>
        <p:spPr>
          <a:xfrm>
            <a:off x="7772400" y="1783080"/>
            <a:ext cx="3931920" cy="365760"/>
          </a:xfrm>
          <a:prstGeom prst="rect">
            <a:avLst/>
          </a:prstGeom>
          <a:noFill/>
        </p:spPr>
        <p:txBody>
          <a:bodyPr wrap="square" anchor="t">
            <a:spAutoFit/>
          </a:bodyPr>
          <a:lstStyle/>
          <a:p>
            <a:pPr algn="l"/>
            <a:r>
              <a:rPr sz="1300" b="1" i="0">
                <a:solidFill>
                  <a:srgbClr val="F28C1D"/>
                </a:solidFill>
                <a:latin typeface="Calibri"/>
              </a:rPr>
              <a:t>✍ 得分点批注</a:t>
            </a:r>
          </a:p>
        </p:txBody>
      </p:sp>
      <p:sp>
        <p:nvSpPr>
          <p:cNvPr id="13" name="TextBox 12"/>
          <p:cNvSpPr txBox="1"/>
          <p:nvPr/>
        </p:nvSpPr>
        <p:spPr>
          <a:xfrm>
            <a:off x="7772400" y="2194560"/>
            <a:ext cx="3931920" cy="3703320"/>
          </a:xfrm>
          <a:prstGeom prst="rect">
            <a:avLst/>
          </a:prstGeom>
          <a:noFill/>
        </p:spPr>
        <p:txBody>
          <a:bodyPr wrap="square">
            <a:spAutoFit/>
          </a:bodyPr>
          <a:lstStyle/>
          <a:p>
            <a:r>
              <a:rPr sz="1200">
                <a:solidFill>
                  <a:srgbClr val="1E293B"/>
                </a:solidFill>
              </a:rPr>
              <a:t>▸ 注意开头：To be honest → 自然开场，避免"I prefer..."开头太直接</a:t>
            </a:r>
          </a:p>
          <a:p>
            <a:pPr>
              <a:spcBef>
                <a:spcPts val="700"/>
              </a:spcBef>
            </a:pPr>
            <a:r>
              <a:rPr sz="1200">
                <a:solidFill>
                  <a:srgbClr val="1E293B"/>
                </a:solidFill>
              </a:rPr>
              <a:t>▸ 注意词汇：slight preference / incredible variety / therapeutic——不是好的/不好的</a:t>
            </a:r>
          </a:p>
          <a:p>
            <a:pPr>
              <a:spcBef>
                <a:spcPts val="700"/>
              </a:spcBef>
            </a:pPr>
            <a:r>
              <a:rPr sz="1200">
                <a:solidFill>
                  <a:srgbClr val="1E293B"/>
                </a:solidFill>
              </a:rPr>
              <a:t>▸ 注意细节：加入具体细节（last week / Yunnan restaurant / near my office）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高分范例</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Band 6答案对比：同一题目</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84048"/>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207008"/>
            <a:ext cx="10789920" cy="347472"/>
          </a:xfrm>
          <a:prstGeom prst="rect">
            <a:avLst/>
          </a:prstGeom>
          <a:noFill/>
        </p:spPr>
        <p:txBody>
          <a:bodyPr wrap="square" anchor="ctr">
            <a:spAutoFit/>
          </a:bodyPr>
          <a:lstStyle/>
          <a:p>
            <a:pPr algn="l"/>
            <a:r>
              <a:rPr sz="1200" b="1" i="0">
                <a:solidFill>
                  <a:srgbClr val="FFFFFF"/>
                </a:solidFill>
                <a:latin typeface="Calibri"/>
              </a:rPr>
              <a:t>题目："Do you prefer cooking or eating out?"</a:t>
            </a:r>
          </a:p>
        </p:txBody>
      </p:sp>
      <p:sp>
        <p:nvSpPr>
          <p:cNvPr id="10" name="Rounded Rectangle 9"/>
          <p:cNvSpPr/>
          <p:nvPr/>
        </p:nvSpPr>
        <p:spPr>
          <a:xfrm>
            <a:off x="548640" y="1783080"/>
            <a:ext cx="7040880" cy="416052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920240"/>
            <a:ext cx="6629400" cy="3977639"/>
          </a:xfrm>
          <a:prstGeom prst="rect">
            <a:avLst/>
          </a:prstGeom>
          <a:noFill/>
        </p:spPr>
        <p:txBody>
          <a:bodyPr wrap="square">
            <a:spAutoFit/>
          </a:bodyPr>
          <a:lstStyle/>
          <a:p>
            <a:r>
              <a:rPr sz="1300">
                <a:solidFill>
                  <a:srgbClr val="1E293B"/>
                </a:solidFill>
              </a:rPr>
              <a:t>I prefer eating out because it is more convenient. There are many restaurants in Shenzhen and I like to eat different food. Sometimes I cook at home but I don't have much time.</a:t>
            </a:r>
          </a:p>
        </p:txBody>
      </p:sp>
      <p:sp>
        <p:nvSpPr>
          <p:cNvPr id="12" name="TextBox 11"/>
          <p:cNvSpPr txBox="1"/>
          <p:nvPr/>
        </p:nvSpPr>
        <p:spPr>
          <a:xfrm>
            <a:off x="7772400" y="1783080"/>
            <a:ext cx="3931920" cy="365760"/>
          </a:xfrm>
          <a:prstGeom prst="rect">
            <a:avLst/>
          </a:prstGeom>
          <a:noFill/>
        </p:spPr>
        <p:txBody>
          <a:bodyPr wrap="square" anchor="t">
            <a:spAutoFit/>
          </a:bodyPr>
          <a:lstStyle/>
          <a:p>
            <a:pPr algn="l"/>
            <a:r>
              <a:rPr sz="1300" b="1" i="0">
                <a:solidFill>
                  <a:srgbClr val="F28C1D"/>
                </a:solidFill>
                <a:latin typeface="Calibri"/>
              </a:rPr>
              <a:t>✍ 得分点批注</a:t>
            </a:r>
          </a:p>
        </p:txBody>
      </p:sp>
      <p:sp>
        <p:nvSpPr>
          <p:cNvPr id="13" name="TextBox 12"/>
          <p:cNvSpPr txBox="1"/>
          <p:nvPr/>
        </p:nvSpPr>
        <p:spPr>
          <a:xfrm>
            <a:off x="7772400" y="2194560"/>
            <a:ext cx="3931920" cy="3703320"/>
          </a:xfrm>
          <a:prstGeom prst="rect">
            <a:avLst/>
          </a:prstGeom>
          <a:noFill/>
        </p:spPr>
        <p:txBody>
          <a:bodyPr wrap="square">
            <a:spAutoFit/>
          </a:bodyPr>
          <a:lstStyle/>
          <a:p>
            <a:r>
              <a:rPr sz="1200">
                <a:solidFill>
                  <a:srgbClr val="1E293B"/>
                </a:solidFill>
              </a:rPr>
              <a:t>▸ 对比分析：CC相同但6分答案句与句之间逻辑跳跃</a:t>
            </a:r>
          </a:p>
          <a:p>
            <a:pPr>
              <a:spcBef>
                <a:spcPts val="700"/>
              </a:spcBef>
            </a:pPr>
            <a:r>
              <a:rPr sz="1200">
                <a:solidFill>
                  <a:srgbClr val="1E293B"/>
                </a:solidFill>
              </a:rPr>
              <a:t>▸ LR差距：convenient vs therapeutic; many vs incredible variety</a:t>
            </a:r>
          </a:p>
          <a:p>
            <a:pPr>
              <a:spcBef>
                <a:spcPts val="700"/>
              </a:spcBef>
            </a:pPr>
            <a:r>
              <a:rPr sz="1200">
                <a:solidFill>
                  <a:srgbClr val="1E293B"/>
                </a:solidFill>
              </a:rPr>
              <a:t>▸ GRA差距：7分答案有when从句+that said转折+破折号解释</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对比示范</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备考方式：低效 vs 高效</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5486400" cy="457200"/>
          </a:xfrm>
          <a:prstGeom prst="rect">
            <a:avLst/>
          </a:prstGeom>
          <a:solidFill>
            <a:srgbClr val="C0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16152"/>
            <a:ext cx="5212080" cy="402336"/>
          </a:xfrm>
          <a:prstGeom prst="rect">
            <a:avLst/>
          </a:prstGeom>
          <a:noFill/>
        </p:spPr>
        <p:txBody>
          <a:bodyPr wrap="square" anchor="ctr">
            <a:spAutoFit/>
          </a:bodyPr>
          <a:lstStyle/>
          <a:p>
            <a:pPr algn="l"/>
            <a:r>
              <a:rPr sz="1400" b="1" i="0">
                <a:solidFill>
                  <a:srgbClr val="FFFFFF"/>
                </a:solidFill>
                <a:latin typeface="Calibri"/>
              </a:rPr>
              <a:t>❌ 低效备考（分数停滞）</a:t>
            </a:r>
          </a:p>
        </p:txBody>
      </p:sp>
      <p:sp>
        <p:nvSpPr>
          <p:cNvPr id="10" name="Rectangle 9"/>
          <p:cNvSpPr/>
          <p:nvPr/>
        </p:nvSpPr>
        <p:spPr>
          <a:xfrm>
            <a:off x="6172200" y="1188720"/>
            <a:ext cx="5486400" cy="45720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216152"/>
            <a:ext cx="5212080" cy="402336"/>
          </a:xfrm>
          <a:prstGeom prst="rect">
            <a:avLst/>
          </a:prstGeom>
          <a:noFill/>
        </p:spPr>
        <p:txBody>
          <a:bodyPr wrap="square" anchor="ctr">
            <a:spAutoFit/>
          </a:bodyPr>
          <a:lstStyle/>
          <a:p>
            <a:pPr algn="l"/>
            <a:r>
              <a:rPr sz="1400" b="1" i="0">
                <a:solidFill>
                  <a:srgbClr val="FFFFFF"/>
                </a:solidFill>
                <a:latin typeface="Calibri"/>
              </a:rPr>
              <a:t>✅ 高效备考（快速提分）</a:t>
            </a:r>
          </a:p>
        </p:txBody>
      </p:sp>
      <p:sp>
        <p:nvSpPr>
          <p:cNvPr id="12" name="Rounded Rectangle 11"/>
          <p:cNvSpPr/>
          <p:nvPr/>
        </p:nvSpPr>
        <p:spPr>
          <a:xfrm>
            <a:off x="548640" y="1737360"/>
            <a:ext cx="5486400" cy="448056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1737360"/>
            <a:ext cx="5486400" cy="4480560"/>
          </a:xfrm>
          <a:prstGeom prst="roundRect">
            <a:avLst/>
          </a:prstGeom>
          <a:solidFill>
            <a:srgbClr val="EA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20240"/>
            <a:ext cx="5074920" cy="4114800"/>
          </a:xfrm>
          <a:prstGeom prst="rect">
            <a:avLst/>
          </a:prstGeom>
          <a:noFill/>
        </p:spPr>
        <p:txBody>
          <a:bodyPr wrap="square">
            <a:spAutoFit/>
          </a:bodyPr>
          <a:lstStyle/>
          <a:p>
            <a:r>
              <a:rPr sz="1350">
                <a:solidFill>
                  <a:srgbClr val="C02A2A"/>
                </a:solidFill>
              </a:rPr>
              <a:t>✗ 大量背模板句子，不开口练习</a:t>
            </a:r>
          </a:p>
          <a:p>
            <a:pPr>
              <a:spcBef>
                <a:spcPts val="700"/>
              </a:spcBef>
            </a:pPr>
            <a:r>
              <a:rPr sz="1350">
                <a:solidFill>
                  <a:srgbClr val="C02A2A"/>
                </a:solidFill>
              </a:rPr>
              <a:t>✗ 只看语法书，不说话</a:t>
            </a:r>
          </a:p>
          <a:p>
            <a:pPr>
              <a:spcBef>
                <a:spcPts val="700"/>
              </a:spcBef>
            </a:pPr>
            <a:r>
              <a:rPr sz="1350">
                <a:solidFill>
                  <a:srgbClr val="C02A2A"/>
                </a:solidFill>
              </a:rPr>
              <a:t>✗ 每周集中练习一次，平时不开口</a:t>
            </a:r>
          </a:p>
          <a:p>
            <a:pPr>
              <a:spcBef>
                <a:spcPts val="700"/>
              </a:spcBef>
            </a:pPr>
            <a:r>
              <a:rPr sz="1350">
                <a:solidFill>
                  <a:srgbClr val="C02A2A"/>
                </a:solidFill>
              </a:rPr>
              <a:t>✗ 只做Part 1，不练Part 2/3</a:t>
            </a:r>
          </a:p>
          <a:p>
            <a:pPr>
              <a:spcBef>
                <a:spcPts val="700"/>
              </a:spcBef>
            </a:pPr>
            <a:r>
              <a:rPr sz="1350">
                <a:solidFill>
                  <a:srgbClr val="C02A2A"/>
                </a:solidFill>
              </a:rPr>
              <a:t>✗ 不听自己录音，不知道自己的问题</a:t>
            </a:r>
          </a:p>
        </p:txBody>
      </p:sp>
      <p:sp>
        <p:nvSpPr>
          <p:cNvPr id="15" name="TextBox 14"/>
          <p:cNvSpPr txBox="1"/>
          <p:nvPr/>
        </p:nvSpPr>
        <p:spPr>
          <a:xfrm>
            <a:off x="6400800" y="1920240"/>
            <a:ext cx="5074920" cy="4114800"/>
          </a:xfrm>
          <a:prstGeom prst="rect">
            <a:avLst/>
          </a:prstGeom>
          <a:noFill/>
        </p:spPr>
        <p:txBody>
          <a:bodyPr wrap="square">
            <a:spAutoFit/>
          </a:bodyPr>
          <a:lstStyle/>
          <a:p>
            <a:r>
              <a:rPr sz="1350">
                <a:solidFill>
                  <a:srgbClr val="1B7A3D"/>
                </a:solidFill>
              </a:rPr>
              <a:t>✓ 每天开口15分钟，宁可说错也要开口</a:t>
            </a:r>
          </a:p>
          <a:p>
            <a:pPr>
              <a:spcBef>
                <a:spcPts val="700"/>
              </a:spcBef>
            </a:pPr>
            <a:r>
              <a:rPr sz="1350">
                <a:solidFill>
                  <a:srgbClr val="1B7A3D"/>
                </a:solidFill>
              </a:rPr>
              <a:t>✓ 录音+听录音+找3个改进点</a:t>
            </a:r>
          </a:p>
          <a:p>
            <a:pPr>
              <a:spcBef>
                <a:spcPts val="700"/>
              </a:spcBef>
            </a:pPr>
            <a:r>
              <a:rPr sz="1350">
                <a:solidFill>
                  <a:srgbClr val="1B7A3D"/>
                </a:solidFill>
              </a:rPr>
              <a:t>✓ 每天说，哪怕只是自言自语5分钟</a:t>
            </a:r>
          </a:p>
          <a:p>
            <a:pPr>
              <a:spcBef>
                <a:spcPts val="700"/>
              </a:spcBef>
            </a:pPr>
            <a:r>
              <a:rPr sz="1350">
                <a:solidFill>
                  <a:srgbClr val="1B7A3D"/>
                </a:solidFill>
              </a:rPr>
              <a:t>✓ 三个Part都练，按能力分配时间</a:t>
            </a:r>
          </a:p>
          <a:p>
            <a:pPr>
              <a:spcBef>
                <a:spcPts val="700"/>
              </a:spcBef>
            </a:pPr>
            <a:r>
              <a:rPr sz="1350">
                <a:solidFill>
                  <a:srgbClr val="1B7A3D"/>
                </a:solidFill>
              </a:rPr>
              <a:t>✓ 有反馈的练习：老师/伙伴/自我录音评估</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对比示范</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心态：考试心态 vs 学习心态</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5486400" cy="457200"/>
          </a:xfrm>
          <a:prstGeom prst="rect">
            <a:avLst/>
          </a:prstGeom>
          <a:solidFill>
            <a:srgbClr val="C0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16152"/>
            <a:ext cx="5212080" cy="402336"/>
          </a:xfrm>
          <a:prstGeom prst="rect">
            <a:avLst/>
          </a:prstGeom>
          <a:noFill/>
        </p:spPr>
        <p:txBody>
          <a:bodyPr wrap="square" anchor="ctr">
            <a:spAutoFit/>
          </a:bodyPr>
          <a:lstStyle/>
          <a:p>
            <a:pPr algn="l"/>
            <a:r>
              <a:rPr sz="1400" b="1" i="0">
                <a:solidFill>
                  <a:srgbClr val="FFFFFF"/>
                </a:solidFill>
                <a:latin typeface="Calibri"/>
              </a:rPr>
              <a:t>❌ 考试心态（阻碍进步）</a:t>
            </a:r>
          </a:p>
        </p:txBody>
      </p:sp>
      <p:sp>
        <p:nvSpPr>
          <p:cNvPr id="10" name="Rectangle 9"/>
          <p:cNvSpPr/>
          <p:nvPr/>
        </p:nvSpPr>
        <p:spPr>
          <a:xfrm>
            <a:off x="6172200" y="1188720"/>
            <a:ext cx="5486400" cy="45720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216152"/>
            <a:ext cx="5212080" cy="402336"/>
          </a:xfrm>
          <a:prstGeom prst="rect">
            <a:avLst/>
          </a:prstGeom>
          <a:noFill/>
        </p:spPr>
        <p:txBody>
          <a:bodyPr wrap="square" anchor="ctr">
            <a:spAutoFit/>
          </a:bodyPr>
          <a:lstStyle/>
          <a:p>
            <a:pPr algn="l"/>
            <a:r>
              <a:rPr sz="1400" b="1" i="0">
                <a:solidFill>
                  <a:srgbClr val="FFFFFF"/>
                </a:solidFill>
                <a:latin typeface="Calibri"/>
              </a:rPr>
              <a:t>✅ 学习心态（促进进步）</a:t>
            </a:r>
          </a:p>
        </p:txBody>
      </p:sp>
      <p:sp>
        <p:nvSpPr>
          <p:cNvPr id="12" name="Rounded Rectangle 11"/>
          <p:cNvSpPr/>
          <p:nvPr/>
        </p:nvSpPr>
        <p:spPr>
          <a:xfrm>
            <a:off x="548640" y="1737360"/>
            <a:ext cx="5486400" cy="448056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1737360"/>
            <a:ext cx="5486400" cy="4480560"/>
          </a:xfrm>
          <a:prstGeom prst="roundRect">
            <a:avLst/>
          </a:prstGeom>
          <a:solidFill>
            <a:srgbClr val="EA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20240"/>
            <a:ext cx="5074920" cy="4114800"/>
          </a:xfrm>
          <a:prstGeom prst="rect">
            <a:avLst/>
          </a:prstGeom>
          <a:noFill/>
        </p:spPr>
        <p:txBody>
          <a:bodyPr wrap="square">
            <a:spAutoFit/>
          </a:bodyPr>
          <a:lstStyle/>
          <a:p>
            <a:r>
              <a:rPr sz="1350">
                <a:solidFill>
                  <a:srgbClr val="C02A2A"/>
                </a:solidFill>
              </a:rPr>
              <a:t>✗ 说错了就停下来纠结</a:t>
            </a:r>
          </a:p>
          <a:p>
            <a:pPr>
              <a:spcBef>
                <a:spcPts val="700"/>
              </a:spcBef>
            </a:pPr>
            <a:r>
              <a:rPr sz="1350">
                <a:solidFill>
                  <a:srgbClr val="C02A2A"/>
                </a:solidFill>
              </a:rPr>
              <a:t>✗ 追求完美，不开口</a:t>
            </a:r>
          </a:p>
          <a:p>
            <a:pPr>
              <a:spcBef>
                <a:spcPts val="700"/>
              </a:spcBef>
            </a:pPr>
            <a:r>
              <a:rPr sz="1350">
                <a:solidFill>
                  <a:srgbClr val="C02A2A"/>
                </a:solidFill>
              </a:rPr>
              <a:t>✗ 听力/阅读好了口语自然会好</a:t>
            </a:r>
          </a:p>
          <a:p>
            <a:pPr>
              <a:spcBef>
                <a:spcPts val="700"/>
              </a:spcBef>
            </a:pPr>
            <a:r>
              <a:rPr sz="1350">
                <a:solidFill>
                  <a:srgbClr val="C02A2A"/>
                </a:solidFill>
              </a:rPr>
              <a:t>✗ "我发音不好，考官会不喜欢我"</a:t>
            </a:r>
          </a:p>
          <a:p>
            <a:pPr>
              <a:spcBef>
                <a:spcPts val="700"/>
              </a:spcBef>
            </a:pPr>
            <a:r>
              <a:rPr sz="1350">
                <a:solidFill>
                  <a:srgbClr val="C02A2A"/>
                </a:solidFill>
              </a:rPr>
              <a:t>✗ 考前一周突击练习</a:t>
            </a:r>
          </a:p>
        </p:txBody>
      </p:sp>
      <p:sp>
        <p:nvSpPr>
          <p:cNvPr id="15" name="TextBox 14"/>
          <p:cNvSpPr txBox="1"/>
          <p:nvPr/>
        </p:nvSpPr>
        <p:spPr>
          <a:xfrm>
            <a:off x="6400800" y="1920240"/>
            <a:ext cx="5074920" cy="4114800"/>
          </a:xfrm>
          <a:prstGeom prst="rect">
            <a:avLst/>
          </a:prstGeom>
          <a:noFill/>
        </p:spPr>
        <p:txBody>
          <a:bodyPr wrap="square">
            <a:spAutoFit/>
          </a:bodyPr>
          <a:lstStyle/>
          <a:p>
            <a:r>
              <a:rPr sz="1350">
                <a:solidFill>
                  <a:srgbClr val="1B7A3D"/>
                </a:solidFill>
              </a:rPr>
              <a:t>✓ 说错了继续说，错误是进步的素材</a:t>
            </a:r>
          </a:p>
          <a:p>
            <a:pPr>
              <a:spcBef>
                <a:spcPts val="700"/>
              </a:spcBef>
            </a:pPr>
            <a:r>
              <a:rPr sz="1350">
                <a:solidFill>
                  <a:srgbClr val="1B7A3D"/>
                </a:solidFill>
              </a:rPr>
              <a:t>✓ 完美是敌人，流利是朋友</a:t>
            </a:r>
          </a:p>
          <a:p>
            <a:pPr>
              <a:spcBef>
                <a:spcPts val="700"/>
              </a:spcBef>
            </a:pPr>
            <a:r>
              <a:rPr sz="1350">
                <a:solidFill>
                  <a:srgbClr val="1B7A3D"/>
                </a:solidFill>
              </a:rPr>
              <a:t>✓ 口语是独立技能，需要专门训练</a:t>
            </a:r>
          </a:p>
          <a:p>
            <a:pPr>
              <a:spcBef>
                <a:spcPts val="700"/>
              </a:spcBef>
            </a:pPr>
            <a:r>
              <a:rPr sz="1350">
                <a:solidFill>
                  <a:srgbClr val="1B7A3D"/>
                </a:solidFill>
              </a:rPr>
              <a:t>✓ 发音只需要"清晰可理解"，不需要完美</a:t>
            </a:r>
          </a:p>
          <a:p>
            <a:pPr>
              <a:spcBef>
                <a:spcPts val="700"/>
              </a:spcBef>
            </a:pPr>
            <a:r>
              <a:rPr sz="1350">
                <a:solidFill>
                  <a:srgbClr val="1B7A3D"/>
                </a:solidFill>
              </a:rPr>
              <a:t>✓ 每天15分钟，30天后见效</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8C1D"/>
                </a:solidFill>
                <a:latin typeface="Calibri"/>
              </a:rPr>
              <a:t>PART 07</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课堂练习：口语自测</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Classroom Drills: Speaking Self-Assessment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课堂练习</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练习1：四维度录音评估</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88720"/>
            <a:ext cx="11064240" cy="640080"/>
          </a:xfrm>
          <a:prstGeom prst="round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61872"/>
            <a:ext cx="10607040" cy="502920"/>
          </a:xfrm>
          <a:prstGeom prst="rect">
            <a:avLst/>
          </a:prstGeom>
          <a:noFill/>
        </p:spPr>
        <p:txBody>
          <a:bodyPr wrap="square" anchor="ctr">
            <a:spAutoFit/>
          </a:bodyPr>
          <a:lstStyle/>
          <a:p>
            <a:pPr algn="l"/>
            <a:r>
              <a:rPr sz="1400" b="1" i="0">
                <a:solidFill>
                  <a:srgbClr val="FFFFFF"/>
                </a:solidFill>
                <a:latin typeface="Calibri"/>
              </a:rPr>
              <a:t>📝 录音回答以下题目，然后用四维评分表自评</a:t>
            </a:r>
          </a:p>
        </p:txBody>
      </p:sp>
      <p:sp>
        <p:nvSpPr>
          <p:cNvPr id="10" name="TextBox 9"/>
          <p:cNvSpPr txBox="1"/>
          <p:nvPr/>
        </p:nvSpPr>
        <p:spPr>
          <a:xfrm>
            <a:off x="640080" y="2057400"/>
            <a:ext cx="10972800" cy="4206240"/>
          </a:xfrm>
          <a:prstGeom prst="rect">
            <a:avLst/>
          </a:prstGeom>
          <a:noFill/>
        </p:spPr>
        <p:txBody>
          <a:bodyPr wrap="square">
            <a:spAutoFit/>
          </a:bodyPr>
          <a:lstStyle/>
          <a:p>
            <a:r>
              <a:rPr sz="1500">
                <a:solidFill>
                  <a:srgbClr val="1E293B"/>
                </a:solidFill>
              </a:rPr>
              <a:t>▢ "Tell me about a TV show you enjoy watching."（Part 1风格，30-45秒）</a:t>
            </a:r>
          </a:p>
          <a:p>
            <a:pPr>
              <a:spcBef>
                <a:spcPts val="1100"/>
              </a:spcBef>
            </a:pPr>
            <a:r>
              <a:rPr sz="1500">
                <a:solidFill>
                  <a:srgbClr val="1E293B"/>
                </a:solidFill>
              </a:rPr>
              <a:t>▢ 评估CC：停顿几次？每次几秒？连接词用了几个？</a:t>
            </a:r>
          </a:p>
          <a:p>
            <a:pPr>
              <a:spcBef>
                <a:spcPts val="1100"/>
              </a:spcBef>
            </a:pPr>
            <a:r>
              <a:rPr sz="1500">
                <a:solidFill>
                  <a:srgbClr val="1E293B"/>
                </a:solidFill>
              </a:rPr>
              <a:t>▢ 评估LR：主题相关词汇几个？有没有重复的词？</a:t>
            </a:r>
          </a:p>
          <a:p>
            <a:pPr>
              <a:spcBef>
                <a:spcPts val="1100"/>
              </a:spcBef>
            </a:pPr>
            <a:r>
              <a:rPr sz="1500">
                <a:solidFill>
                  <a:srgbClr val="1E293B"/>
                </a:solidFill>
              </a:rPr>
              <a:t>▢ 评估GRA：有几种句式？有没有复合句？</a:t>
            </a:r>
          </a:p>
          <a:p>
            <a:pPr>
              <a:spcBef>
                <a:spcPts val="1100"/>
              </a:spcBef>
            </a:pPr>
            <a:r>
              <a:rPr sz="1500">
                <a:solidFill>
                  <a:srgbClr val="1E293B"/>
                </a:solidFill>
              </a:rPr>
              <a:t>▢ 评估P：听录音，哪些词的发音不清楚？</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课堂练习</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练习2：话题词汇激活</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88720"/>
            <a:ext cx="11064240" cy="640080"/>
          </a:xfrm>
          <a:prstGeom prst="round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61872"/>
            <a:ext cx="10607040" cy="502920"/>
          </a:xfrm>
          <a:prstGeom prst="rect">
            <a:avLst/>
          </a:prstGeom>
          <a:noFill/>
        </p:spPr>
        <p:txBody>
          <a:bodyPr wrap="square" anchor="ctr">
            <a:spAutoFit/>
          </a:bodyPr>
          <a:lstStyle/>
          <a:p>
            <a:pPr algn="l"/>
            <a:r>
              <a:rPr sz="1400" b="1" i="0">
                <a:solidFill>
                  <a:srgbClr val="FFFFFF"/>
                </a:solidFill>
                <a:latin typeface="Calibri"/>
              </a:rPr>
              <a:t>📝 选择一个话题，30秒内说出尽可能多的相关词汇</a:t>
            </a:r>
          </a:p>
        </p:txBody>
      </p:sp>
      <p:sp>
        <p:nvSpPr>
          <p:cNvPr id="10" name="TextBox 9"/>
          <p:cNvSpPr txBox="1"/>
          <p:nvPr/>
        </p:nvSpPr>
        <p:spPr>
          <a:xfrm>
            <a:off x="640080" y="2057400"/>
            <a:ext cx="10972800" cy="4206240"/>
          </a:xfrm>
          <a:prstGeom prst="rect">
            <a:avLst/>
          </a:prstGeom>
          <a:noFill/>
        </p:spPr>
        <p:txBody>
          <a:bodyPr wrap="square">
            <a:spAutoFit/>
          </a:bodyPr>
          <a:lstStyle/>
          <a:p>
            <a:r>
              <a:rPr sz="1500">
                <a:solidFill>
                  <a:srgbClr val="1E293B"/>
                </a:solidFill>
              </a:rPr>
              <a:t>▢ "Technology"话题：说出10个以上相关词（gadget/app/social media...）</a:t>
            </a:r>
          </a:p>
          <a:p>
            <a:pPr>
              <a:spcBef>
                <a:spcPts val="1100"/>
              </a:spcBef>
            </a:pPr>
            <a:r>
              <a:rPr sz="1500">
                <a:solidFill>
                  <a:srgbClr val="1E293B"/>
                </a:solidFill>
              </a:rPr>
              <a:t>▢ "Education"话题：说出10个以上相关词（curriculum/tuition/scholarship...）</a:t>
            </a:r>
          </a:p>
          <a:p>
            <a:pPr>
              <a:spcBef>
                <a:spcPts val="1100"/>
              </a:spcBef>
            </a:pPr>
            <a:r>
              <a:rPr sz="1500">
                <a:solidFill>
                  <a:srgbClr val="1E293B"/>
                </a:solidFill>
              </a:rPr>
              <a:t>▢ "Environment"话题：说出10个以上相关词（emission/sustainability/ecosystem...）</a:t>
            </a:r>
          </a:p>
          <a:p>
            <a:pPr>
              <a:spcBef>
                <a:spcPts val="1100"/>
              </a:spcBef>
            </a:pPr>
            <a:r>
              <a:rPr sz="1500">
                <a:solidFill>
                  <a:srgbClr val="1E293B"/>
                </a:solidFill>
              </a:rPr>
              <a:t>▢ 说完后数数：10-15个=良好；15+个=优秀；&lt;10个=需要加强词汇激活训练</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课堂练习</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练习3：中式英语改写</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88720"/>
            <a:ext cx="11064240" cy="640080"/>
          </a:xfrm>
          <a:prstGeom prst="round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61872"/>
            <a:ext cx="10607040" cy="502920"/>
          </a:xfrm>
          <a:prstGeom prst="rect">
            <a:avLst/>
          </a:prstGeom>
          <a:noFill/>
        </p:spPr>
        <p:txBody>
          <a:bodyPr wrap="square" anchor="ctr">
            <a:spAutoFit/>
          </a:bodyPr>
          <a:lstStyle/>
          <a:p>
            <a:pPr algn="l"/>
            <a:r>
              <a:rPr sz="1400" b="1" i="0">
                <a:solidFill>
                  <a:srgbClr val="FFFFFF"/>
                </a:solidFill>
                <a:latin typeface="Calibri"/>
              </a:rPr>
              <a:t>📝 以下句子用了中式英语，改写成地道英文</a:t>
            </a:r>
          </a:p>
        </p:txBody>
      </p:sp>
      <p:sp>
        <p:nvSpPr>
          <p:cNvPr id="10" name="TextBox 9"/>
          <p:cNvSpPr txBox="1"/>
          <p:nvPr/>
        </p:nvSpPr>
        <p:spPr>
          <a:xfrm>
            <a:off x="640080" y="2057400"/>
            <a:ext cx="10972800" cy="4206240"/>
          </a:xfrm>
          <a:prstGeom prst="rect">
            <a:avLst/>
          </a:prstGeom>
          <a:noFill/>
        </p:spPr>
        <p:txBody>
          <a:bodyPr wrap="square">
            <a:spAutoFit/>
          </a:bodyPr>
          <a:lstStyle/>
          <a:p>
            <a:r>
              <a:rPr sz="1500">
                <a:solidFill>
                  <a:srgbClr val="1E293B"/>
                </a:solidFill>
              </a:rPr>
              <a:t>▢ "I very like to eat spicy food."（x）→ ？</a:t>
            </a:r>
          </a:p>
          <a:p>
            <a:pPr>
              <a:spcBef>
                <a:spcPts val="1100"/>
              </a:spcBef>
            </a:pPr>
            <a:r>
              <a:rPr sz="1500">
                <a:solidFill>
                  <a:srgbClr val="1E293B"/>
                </a:solidFill>
              </a:rPr>
              <a:t>▢ "In my opinion, this problem is very serious."（x）→ ？</a:t>
            </a:r>
          </a:p>
          <a:p>
            <a:pPr>
              <a:spcBef>
                <a:spcPts val="1100"/>
              </a:spcBef>
            </a:pPr>
            <a:r>
              <a:rPr sz="1500">
                <a:solidFill>
                  <a:srgbClr val="1E293B"/>
                </a:solidFill>
              </a:rPr>
              <a:t>▢ "My English is not very good but I try my best."（x）→ ？</a:t>
            </a:r>
          </a:p>
          <a:p>
            <a:pPr>
              <a:spcBef>
                <a:spcPts val="1100"/>
              </a:spcBef>
            </a:pPr>
            <a:r>
              <a:rPr sz="1500">
                <a:solidFill>
                  <a:srgbClr val="1E293B"/>
                </a:solidFill>
              </a:rPr>
              <a:t>▢ "I think this is a very important question."（x）→ ？</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课堂练习</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练习4：计时答题</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88720"/>
            <a:ext cx="11064240" cy="640080"/>
          </a:xfrm>
          <a:prstGeom prst="round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61872"/>
            <a:ext cx="10607040" cy="502920"/>
          </a:xfrm>
          <a:prstGeom prst="rect">
            <a:avLst/>
          </a:prstGeom>
          <a:noFill/>
        </p:spPr>
        <p:txBody>
          <a:bodyPr wrap="square" anchor="ctr">
            <a:spAutoFit/>
          </a:bodyPr>
          <a:lstStyle/>
          <a:p>
            <a:pPr algn="l"/>
            <a:r>
              <a:rPr sz="1400" b="1" i="0">
                <a:solidFill>
                  <a:srgbClr val="FFFFFF"/>
                </a:solidFill>
                <a:latin typeface="Calibri"/>
              </a:rPr>
              <a:t>📝 计时回答以下问题，感受时间长度</a:t>
            </a:r>
          </a:p>
        </p:txBody>
      </p:sp>
      <p:sp>
        <p:nvSpPr>
          <p:cNvPr id="10" name="TextBox 9"/>
          <p:cNvSpPr txBox="1"/>
          <p:nvPr/>
        </p:nvSpPr>
        <p:spPr>
          <a:xfrm>
            <a:off x="640080" y="2057400"/>
            <a:ext cx="10972800" cy="4206240"/>
          </a:xfrm>
          <a:prstGeom prst="rect">
            <a:avLst/>
          </a:prstGeom>
          <a:noFill/>
        </p:spPr>
        <p:txBody>
          <a:bodyPr wrap="square">
            <a:spAutoFit/>
          </a:bodyPr>
          <a:lstStyle/>
          <a:p>
            <a:r>
              <a:rPr sz="1500">
                <a:solidFill>
                  <a:srgbClr val="1E293B"/>
                </a:solidFill>
              </a:rPr>
              <a:t>▢ "Where are you from?"（目标：30-45秒）</a:t>
            </a:r>
          </a:p>
          <a:p>
            <a:pPr>
              <a:spcBef>
                <a:spcPts val="1100"/>
              </a:spcBef>
            </a:pPr>
            <a:r>
              <a:rPr sz="1500">
                <a:solidFill>
                  <a:srgbClr val="1E293B"/>
                </a:solidFill>
              </a:rPr>
              <a:t>▢ "Describe your typical weekend."（目标：45-60秒）</a:t>
            </a:r>
          </a:p>
          <a:p>
            <a:pPr>
              <a:spcBef>
                <a:spcPts val="1100"/>
              </a:spcBef>
            </a:pPr>
            <a:r>
              <a:rPr sz="1500">
                <a:solidFill>
                  <a:srgbClr val="1E293B"/>
                </a:solidFill>
              </a:rPr>
              <a:t>▢ "Do you think social media has more advantages or disadvantages?"（目标：60秒）</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课堂练习</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练习5：改进版本对比</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88720"/>
            <a:ext cx="11064240" cy="640080"/>
          </a:xfrm>
          <a:prstGeom prst="round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61872"/>
            <a:ext cx="10607040" cy="502920"/>
          </a:xfrm>
          <a:prstGeom prst="rect">
            <a:avLst/>
          </a:prstGeom>
          <a:noFill/>
        </p:spPr>
        <p:txBody>
          <a:bodyPr wrap="square" anchor="ctr">
            <a:spAutoFit/>
          </a:bodyPr>
          <a:lstStyle/>
          <a:p>
            <a:pPr algn="l"/>
            <a:r>
              <a:rPr sz="1400" b="1" i="0">
                <a:solidFill>
                  <a:srgbClr val="FFFFFF"/>
                </a:solidFill>
                <a:latin typeface="Calibri"/>
              </a:rPr>
              <a:t>📝 听老师的示范，感受6分和7分答案的差距</a:t>
            </a:r>
          </a:p>
        </p:txBody>
      </p:sp>
      <p:sp>
        <p:nvSpPr>
          <p:cNvPr id="10" name="TextBox 9"/>
          <p:cNvSpPr txBox="1"/>
          <p:nvPr/>
        </p:nvSpPr>
        <p:spPr>
          <a:xfrm>
            <a:off x="640080" y="2057400"/>
            <a:ext cx="10972800" cy="4206240"/>
          </a:xfrm>
          <a:prstGeom prst="rect">
            <a:avLst/>
          </a:prstGeom>
          <a:noFill/>
        </p:spPr>
        <p:txBody>
          <a:bodyPr wrap="square">
            <a:spAutoFit/>
          </a:bodyPr>
          <a:lstStyle/>
          <a:p>
            <a:r>
              <a:rPr sz="1500">
                <a:solidFill>
                  <a:srgbClr val="1E293B"/>
                </a:solidFill>
              </a:rPr>
              <a:t>▢ "Do you like reading books?"——6分答案 vs 7分答案对比</a:t>
            </a:r>
          </a:p>
          <a:p>
            <a:pPr>
              <a:spcBef>
                <a:spcPts val="1100"/>
              </a:spcBef>
            </a:pPr>
            <a:r>
              <a:rPr sz="1500">
                <a:solidFill>
                  <a:srgbClr val="1E293B"/>
                </a:solidFill>
              </a:rPr>
              <a:t>▢ 找出7分答案多了哪些词汇和句式</a:t>
            </a:r>
          </a:p>
          <a:p>
            <a:pPr>
              <a:spcBef>
                <a:spcPts val="1100"/>
              </a:spcBef>
            </a:pPr>
            <a:r>
              <a:rPr sz="1500">
                <a:solidFill>
                  <a:srgbClr val="1E293B"/>
                </a:solidFill>
              </a:rPr>
              <a:t>▢ 用7分答案的框架，回答同一个问题（用自己的内容）</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8C1D"/>
                </a:solidFill>
                <a:latin typeface="Calibri"/>
              </a:rPr>
              <a:t>PART 08</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口语备考常见误区</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Common Pitfalls in Speaking Preparation</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7A16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000" b="1" i="0">
                <a:solidFill>
                  <a:srgbClr val="FFFFFF"/>
                </a:solidFill>
                <a:latin typeface="Calibri"/>
              </a:rPr>
              <a:t>🎯 深圳学生高频痛点 · 三大备考误区</a:t>
            </a:r>
          </a:p>
        </p:txBody>
      </p:sp>
      <p:sp>
        <p:nvSpPr>
          <p:cNvPr id="6" name="TextBox 5"/>
          <p:cNvSpPr txBox="1"/>
          <p:nvPr/>
        </p:nvSpPr>
        <p:spPr>
          <a:xfrm>
            <a:off x="548640" y="1143000"/>
            <a:ext cx="5486400" cy="411480"/>
          </a:xfrm>
          <a:prstGeom prst="rect">
            <a:avLst/>
          </a:prstGeom>
          <a:noFill/>
        </p:spPr>
        <p:txBody>
          <a:bodyPr wrap="square" anchor="t">
            <a:spAutoFit/>
          </a:bodyPr>
          <a:lstStyle/>
          <a:p>
            <a:pPr algn="l"/>
            <a:r>
              <a:rPr sz="1500" b="1" i="0">
                <a:solidFill>
                  <a:srgbClr val="C02A2A"/>
                </a:solidFill>
                <a:latin typeface="Calibri"/>
              </a:rPr>
              <a:t>❌ 常见误区</a:t>
            </a:r>
          </a:p>
        </p:txBody>
      </p:sp>
      <p:sp>
        <p:nvSpPr>
          <p:cNvPr id="7" name="TextBox 6"/>
          <p:cNvSpPr txBox="1"/>
          <p:nvPr/>
        </p:nvSpPr>
        <p:spPr>
          <a:xfrm>
            <a:off x="548640" y="1645920"/>
            <a:ext cx="5486400" cy="4572000"/>
          </a:xfrm>
          <a:prstGeom prst="rect">
            <a:avLst/>
          </a:prstGeom>
          <a:noFill/>
        </p:spPr>
        <p:txBody>
          <a:bodyPr wrap="square">
            <a:spAutoFit/>
          </a:bodyPr>
          <a:lstStyle/>
          <a:p>
            <a:r>
              <a:rPr sz="1400">
                <a:solidFill>
                  <a:srgbClr val="C02A2A"/>
                </a:solidFill>
              </a:rPr>
              <a:t>✗ 误区1：背诵模板——考官每天听几十个考生，模板一眼识别，CC分立刻降</a:t>
            </a:r>
          </a:p>
          <a:p>
            <a:pPr>
              <a:spcBef>
                <a:spcPts val="800"/>
              </a:spcBef>
            </a:pPr>
            <a:r>
              <a:rPr sz="1400">
                <a:solidFill>
                  <a:srgbClr val="C02A2A"/>
                </a:solidFill>
              </a:rPr>
              <a:t>✗ 误区2：只练词汇，不开口——背了1000个词但说话时只用50个，口头激活不够</a:t>
            </a:r>
          </a:p>
          <a:p>
            <a:pPr>
              <a:spcBef>
                <a:spcPts val="800"/>
              </a:spcBef>
            </a:pPr>
            <a:r>
              <a:rPr sz="1400">
                <a:solidFill>
                  <a:srgbClr val="C02A2A"/>
                </a:solidFill>
              </a:rPr>
              <a:t>✗ 误区3：等"准备好"再开口——语言能力在开口的过程中提升，不是在准备中提升</a:t>
            </a:r>
          </a:p>
        </p:txBody>
      </p:sp>
      <p:sp>
        <p:nvSpPr>
          <p:cNvPr id="8" name="Rectangle 7"/>
          <p:cNvSpPr/>
          <p:nvPr/>
        </p:nvSpPr>
        <p:spPr>
          <a:xfrm>
            <a:off x="6108192" y="1097280"/>
            <a:ext cx="36576" cy="5212080"/>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143000"/>
            <a:ext cx="5486400" cy="411480"/>
          </a:xfrm>
          <a:prstGeom prst="rect">
            <a:avLst/>
          </a:prstGeom>
          <a:noFill/>
        </p:spPr>
        <p:txBody>
          <a:bodyPr wrap="square" anchor="t">
            <a:spAutoFit/>
          </a:bodyPr>
          <a:lstStyle/>
          <a:p>
            <a:pPr algn="l"/>
            <a:r>
              <a:rPr sz="1500" b="1" i="0">
                <a:solidFill>
                  <a:srgbClr val="1B7A3D"/>
                </a:solidFill>
                <a:latin typeface="Calibri"/>
              </a:rPr>
              <a:t>✅ 正确做法</a:t>
            </a:r>
          </a:p>
        </p:txBody>
      </p:sp>
      <p:sp>
        <p:nvSpPr>
          <p:cNvPr id="10" name="TextBox 9"/>
          <p:cNvSpPr txBox="1"/>
          <p:nvPr/>
        </p:nvSpPr>
        <p:spPr>
          <a:xfrm>
            <a:off x="6309360" y="1645920"/>
            <a:ext cx="5394960" cy="4572000"/>
          </a:xfrm>
          <a:prstGeom prst="rect">
            <a:avLst/>
          </a:prstGeom>
          <a:noFill/>
        </p:spPr>
        <p:txBody>
          <a:bodyPr wrap="square">
            <a:spAutoFit/>
          </a:bodyPr>
          <a:lstStyle/>
          <a:p>
            <a:r>
              <a:rPr sz="1400">
                <a:solidFill>
                  <a:srgbClr val="1B7A3D"/>
                </a:solidFill>
              </a:rPr>
              <a:t>✓ 替代模板的方法：学"连接逻辑"而非"背句子"——学how to explain，不学what to say</a:t>
            </a:r>
          </a:p>
          <a:p>
            <a:pPr>
              <a:spcBef>
                <a:spcPts val="800"/>
              </a:spcBef>
            </a:pPr>
            <a:r>
              <a:rPr sz="1400">
                <a:solidFill>
                  <a:srgbClr val="1B7A3D"/>
                </a:solidFill>
              </a:rPr>
              <a:t>✓ 词汇激活训练：背完词汇立刻造口头例句，5分钟产出练习</a:t>
            </a:r>
          </a:p>
          <a:p>
            <a:pPr>
              <a:spcBef>
                <a:spcPts val="800"/>
              </a:spcBef>
            </a:pPr>
            <a:r>
              <a:rPr sz="1400">
                <a:solidFill>
                  <a:srgbClr val="1B7A3D"/>
                </a:solidFill>
              </a:rPr>
              <a:t>✓ 立刻开口：哪怕只有5分钟，今天就开始——完美准备是拖延的借口</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深圳学生特有的备考误区</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640080" y="1234440"/>
            <a:ext cx="10972800" cy="4572000"/>
          </a:xfrm>
          <a:prstGeom prst="rect">
            <a:avLst/>
          </a:prstGeom>
          <a:noFill/>
        </p:spPr>
        <p:txBody>
          <a:bodyPr wrap="square">
            <a:spAutoFit/>
          </a:bodyPr>
          <a:lstStyle/>
          <a:p>
            <a:r>
              <a:rPr sz="1850" b="1">
                <a:solidFill>
                  <a:srgbClr val="A33607"/>
                </a:solidFill>
              </a:rPr>
              <a:t>• 过度依赖写作思维</a:t>
            </a:r>
          </a:p>
          <a:p>
            <a:pPr>
              <a:spcBef>
                <a:spcPts val="100"/>
              </a:spcBef>
            </a:pPr>
            <a:r>
              <a:rPr sz="1550">
                <a:solidFill>
                  <a:srgbClr val="556075"/>
                </a:solidFill>
              </a:rPr>
              <a:t>   深圳学生写作强，但口语要求快速产出，写作思路太慢</a:t>
            </a:r>
          </a:p>
          <a:p>
            <a:pPr>
              <a:spcBef>
                <a:spcPts val="1000"/>
              </a:spcBef>
            </a:pPr>
            <a:r>
              <a:rPr sz="1850" b="1">
                <a:solidFill>
                  <a:srgbClr val="A33607"/>
                </a:solidFill>
              </a:rPr>
              <a:t>• 普通话腔影响</a:t>
            </a:r>
          </a:p>
          <a:p>
            <a:pPr>
              <a:spcBef>
                <a:spcPts val="100"/>
              </a:spcBef>
            </a:pPr>
            <a:r>
              <a:rPr sz="1550">
                <a:solidFill>
                  <a:srgbClr val="556075"/>
                </a:solidFill>
              </a:rPr>
              <a:t>   广东普通话腔→英语时容易带入n/l不分的特征，需要专项纠正</a:t>
            </a:r>
          </a:p>
          <a:p>
            <a:pPr>
              <a:spcBef>
                <a:spcPts val="1000"/>
              </a:spcBef>
            </a:pPr>
            <a:r>
              <a:rPr sz="1850" b="1">
                <a:solidFill>
                  <a:srgbClr val="A33607"/>
                </a:solidFill>
              </a:rPr>
              <a:t>• 过于在意"口音"</a:t>
            </a:r>
          </a:p>
          <a:p>
            <a:pPr>
              <a:spcBef>
                <a:spcPts val="100"/>
              </a:spcBef>
            </a:pPr>
            <a:r>
              <a:rPr sz="1550">
                <a:solidFill>
                  <a:srgbClr val="556075"/>
                </a:solidFill>
              </a:rPr>
              <a:t>   口音不是失分原因，清晰度才是——不要花大量时间"改口音"</a:t>
            </a:r>
          </a:p>
          <a:p>
            <a:pPr>
              <a:spcBef>
                <a:spcPts val="1000"/>
              </a:spcBef>
            </a:pPr>
            <a:r>
              <a:rPr sz="1850" b="1">
                <a:solidFill>
                  <a:srgbClr val="A33607"/>
                </a:solidFill>
              </a:rPr>
              <a:t>• 高估语法的重要性</a:t>
            </a:r>
          </a:p>
          <a:p>
            <a:pPr>
              <a:spcBef>
                <a:spcPts val="100"/>
              </a:spcBef>
            </a:pPr>
            <a:r>
              <a:rPr sz="1550">
                <a:solidFill>
                  <a:srgbClr val="556075"/>
                </a:solidFill>
              </a:rPr>
              <a:t>   GRA只占25%；流利说出错误句子&gt;停顿追求完美语法</a:t>
            </a:r>
          </a:p>
        </p:txBody>
      </p:sp>
      <p:sp>
        <p:nvSpPr>
          <p:cNvPr id="8" name="Rectangle 7"/>
          <p:cNvSpPr/>
          <p:nvPr/>
        </p:nvSpPr>
        <p:spPr>
          <a:xfrm>
            <a:off x="548640" y="5989320"/>
            <a:ext cx="11064240" cy="548640"/>
          </a:xfrm>
          <a:prstGeom prst="rect">
            <a:avLst/>
          </a:prstGeom>
          <a:solidFill>
            <a:srgbClr val="FDF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035040"/>
            <a:ext cx="10698480" cy="457200"/>
          </a:xfrm>
          <a:prstGeom prst="rect">
            <a:avLst/>
          </a:prstGeom>
          <a:noFill/>
        </p:spPr>
        <p:txBody>
          <a:bodyPr wrap="square" anchor="ctr">
            <a:spAutoFit/>
          </a:bodyPr>
          <a:lstStyle/>
          <a:p>
            <a:pPr algn="l"/>
            <a:r>
              <a:rPr sz="1250" b="0" i="1">
                <a:solidFill>
                  <a:srgbClr val="C02A2A"/>
                </a:solidFill>
                <a:latin typeface="Calibri"/>
              </a:rPr>
              <a:t>⚠ 深圳学生注意：深圳学生的优势：教育基础好，词汇量大，科技话题有真实经验——要善用这些优势</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口语备考时间投入建议</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640080" y="1234440"/>
            <a:ext cx="10972800" cy="4572000"/>
          </a:xfrm>
          <a:prstGeom prst="rect">
            <a:avLst/>
          </a:prstGeom>
          <a:noFill/>
        </p:spPr>
        <p:txBody>
          <a:bodyPr wrap="square">
            <a:spAutoFit/>
          </a:bodyPr>
          <a:lstStyle/>
          <a:p>
            <a:r>
              <a:rPr sz="1850" b="1">
                <a:solidFill>
                  <a:srgbClr val="A33607"/>
                </a:solidFill>
              </a:rPr>
              <a:t>• 日常练习</a:t>
            </a:r>
          </a:p>
          <a:p>
            <a:pPr>
              <a:spcBef>
                <a:spcPts val="100"/>
              </a:spcBef>
            </a:pPr>
            <a:r>
              <a:rPr sz="1550">
                <a:solidFill>
                  <a:srgbClr val="556075"/>
                </a:solidFill>
              </a:rPr>
              <a:t>   每天15分钟，7天=105分钟，效果远超每周一次2小时</a:t>
            </a:r>
          </a:p>
          <a:p>
            <a:pPr>
              <a:spcBef>
                <a:spcPts val="1000"/>
              </a:spcBef>
            </a:pPr>
            <a:r>
              <a:rPr sz="1850" b="1">
                <a:solidFill>
                  <a:srgbClr val="A33607"/>
                </a:solidFill>
              </a:rPr>
              <a:t>• 话题准备</a:t>
            </a:r>
          </a:p>
          <a:p>
            <a:pPr>
              <a:spcBef>
                <a:spcPts val="100"/>
              </a:spcBef>
            </a:pPr>
            <a:r>
              <a:rPr sz="1550">
                <a:solidFill>
                  <a:srgbClr val="556075"/>
                </a:solidFill>
              </a:rPr>
              <a:t>   每天准备1个话题词汇，10天覆盖10个核心话题</a:t>
            </a:r>
          </a:p>
          <a:p>
            <a:pPr>
              <a:spcBef>
                <a:spcPts val="1000"/>
              </a:spcBef>
            </a:pPr>
            <a:r>
              <a:rPr sz="1850" b="1">
                <a:solidFill>
                  <a:srgbClr val="A33607"/>
                </a:solidFill>
              </a:rPr>
              <a:t>• 录音反馈</a:t>
            </a:r>
          </a:p>
          <a:p>
            <a:pPr>
              <a:spcBef>
                <a:spcPts val="100"/>
              </a:spcBef>
            </a:pPr>
            <a:r>
              <a:rPr sz="1550">
                <a:solidFill>
                  <a:srgbClr val="556075"/>
                </a:solidFill>
              </a:rPr>
              <a:t>   每次录音后听一遍，每周找老师反馈一次</a:t>
            </a:r>
          </a:p>
          <a:p>
            <a:pPr>
              <a:spcBef>
                <a:spcPts val="1000"/>
              </a:spcBef>
            </a:pPr>
            <a:r>
              <a:rPr sz="1850" b="1">
                <a:solidFill>
                  <a:srgbClr val="A33607"/>
                </a:solidFill>
              </a:rPr>
              <a:t>• 模拟练习</a:t>
            </a:r>
          </a:p>
          <a:p>
            <a:pPr>
              <a:spcBef>
                <a:spcPts val="100"/>
              </a:spcBef>
            </a:pPr>
            <a:r>
              <a:rPr sz="1550">
                <a:solidFill>
                  <a:srgbClr val="556075"/>
                </a:solidFill>
              </a:rPr>
              <a:t>   考前2周，每周做1次完整口语模拟（Part 1+2+3）</a:t>
            </a:r>
          </a:p>
          <a:p>
            <a:pPr>
              <a:spcBef>
                <a:spcPts val="1000"/>
              </a:spcBef>
            </a:pPr>
            <a:r>
              <a:rPr sz="1850" b="1">
                <a:solidFill>
                  <a:srgbClr val="A33607"/>
                </a:solidFill>
              </a:rPr>
              <a:t>• 考前调整</a:t>
            </a:r>
          </a:p>
          <a:p>
            <a:pPr>
              <a:spcBef>
                <a:spcPts val="100"/>
              </a:spcBef>
            </a:pPr>
            <a:r>
              <a:rPr sz="1550">
                <a:solidFill>
                  <a:srgbClr val="556075"/>
                </a:solidFill>
              </a:rPr>
              <a:t>   考前一天不做大量练习，只做轻量热身——保持状态</a:t>
            </a:r>
          </a:p>
        </p:txBody>
      </p:sp>
      <p:sp>
        <p:nvSpPr>
          <p:cNvPr id="8" name="Rectangle 7"/>
          <p:cNvSpPr/>
          <p:nvPr/>
        </p:nvSpPr>
        <p:spPr>
          <a:xfrm>
            <a:off x="548640" y="5989320"/>
            <a:ext cx="11064240" cy="548640"/>
          </a:xfrm>
          <a:prstGeom prst="rect">
            <a:avLst/>
          </a:prstGeom>
          <a:solidFill>
            <a:srgbClr val="FDF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035040"/>
            <a:ext cx="10698480" cy="457200"/>
          </a:xfrm>
          <a:prstGeom prst="rect">
            <a:avLst/>
          </a:prstGeom>
          <a:noFill/>
        </p:spPr>
        <p:txBody>
          <a:bodyPr wrap="square" anchor="ctr">
            <a:spAutoFit/>
          </a:bodyPr>
          <a:lstStyle/>
          <a:p>
            <a:pPr algn="l"/>
            <a:r>
              <a:rPr sz="1250" b="0" i="1">
                <a:solidFill>
                  <a:srgbClr val="C02A2A"/>
                </a:solidFill>
                <a:latin typeface="Calibri"/>
              </a:rPr>
              <a:t>⚠ 深圳学生注意：总计：30天×15分钟/天=450分钟=7.5小时，这是目标提分所需的最低时间投入</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口语急救包：考场应对技巧</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234440"/>
            <a:ext cx="5486400" cy="14020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0208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A33607"/>
                </a:solidFill>
                <a:latin typeface="Calibri"/>
              </a:rPr>
              <a:t>词穷时</a:t>
            </a:r>
          </a:p>
        </p:txBody>
      </p:sp>
      <p:sp>
        <p:nvSpPr>
          <p:cNvPr id="11" name="TextBox 10"/>
          <p:cNvSpPr txBox="1"/>
          <p:nvPr/>
        </p:nvSpPr>
        <p:spPr>
          <a:xfrm>
            <a:off x="822959" y="1737360"/>
            <a:ext cx="5029200" cy="853440"/>
          </a:xfrm>
          <a:prstGeom prst="rect">
            <a:avLst/>
          </a:prstGeom>
          <a:noFill/>
        </p:spPr>
        <p:txBody>
          <a:bodyPr wrap="square" anchor="t">
            <a:spAutoFit/>
          </a:bodyPr>
          <a:lstStyle/>
          <a:p>
            <a:pPr algn="l"/>
            <a:r>
              <a:rPr sz="1250" b="0" i="0">
                <a:solidFill>
                  <a:srgbClr val="556075"/>
                </a:solidFill>
                <a:latin typeface="Calibri"/>
              </a:rPr>
              <a:t>用已知词解释：I can't recall the exact word, but what I mean is...</a:t>
            </a:r>
          </a:p>
        </p:txBody>
      </p:sp>
      <p:sp>
        <p:nvSpPr>
          <p:cNvPr id="12" name="Rounded Rectangle 11"/>
          <p:cNvSpPr/>
          <p:nvPr/>
        </p:nvSpPr>
        <p:spPr>
          <a:xfrm>
            <a:off x="6355079" y="1234440"/>
            <a:ext cx="5486400" cy="14020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0208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A33607"/>
                </a:solidFill>
                <a:latin typeface="Calibri"/>
              </a:rPr>
              <a:t>紧张时</a:t>
            </a:r>
          </a:p>
        </p:txBody>
      </p:sp>
      <p:sp>
        <p:nvSpPr>
          <p:cNvPr id="15" name="TextBox 14"/>
          <p:cNvSpPr txBox="1"/>
          <p:nvPr/>
        </p:nvSpPr>
        <p:spPr>
          <a:xfrm>
            <a:off x="6629399" y="1737360"/>
            <a:ext cx="5029200" cy="853440"/>
          </a:xfrm>
          <a:prstGeom prst="rect">
            <a:avLst/>
          </a:prstGeom>
          <a:noFill/>
        </p:spPr>
        <p:txBody>
          <a:bodyPr wrap="square" anchor="t">
            <a:spAutoFit/>
          </a:bodyPr>
          <a:lstStyle/>
          <a:p>
            <a:pPr algn="l"/>
            <a:r>
              <a:rPr sz="1250" b="0" i="0">
                <a:solidFill>
                  <a:srgbClr val="556075"/>
                </a:solidFill>
                <a:latin typeface="Calibri"/>
              </a:rPr>
              <a:t>深呼吸，说"That's an interesting question."给自己2秒时间</a:t>
            </a:r>
          </a:p>
        </p:txBody>
      </p:sp>
      <p:sp>
        <p:nvSpPr>
          <p:cNvPr id="16" name="Rounded Rectangle 15"/>
          <p:cNvSpPr/>
          <p:nvPr/>
        </p:nvSpPr>
        <p:spPr>
          <a:xfrm>
            <a:off x="548640" y="2865120"/>
            <a:ext cx="5486400" cy="14020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865120"/>
            <a:ext cx="109728" cy="140208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2956560"/>
            <a:ext cx="5029200" cy="411480"/>
          </a:xfrm>
          <a:prstGeom prst="rect">
            <a:avLst/>
          </a:prstGeom>
          <a:noFill/>
        </p:spPr>
        <p:txBody>
          <a:bodyPr wrap="square" anchor="t">
            <a:spAutoFit/>
          </a:bodyPr>
          <a:lstStyle/>
          <a:p>
            <a:pPr algn="l"/>
            <a:r>
              <a:rPr sz="1400" b="1" i="0">
                <a:solidFill>
                  <a:srgbClr val="A33607"/>
                </a:solidFill>
                <a:latin typeface="Calibri"/>
              </a:rPr>
              <a:t>答案太短时</a:t>
            </a:r>
          </a:p>
        </p:txBody>
      </p:sp>
      <p:sp>
        <p:nvSpPr>
          <p:cNvPr id="19" name="TextBox 18"/>
          <p:cNvSpPr txBox="1"/>
          <p:nvPr/>
        </p:nvSpPr>
        <p:spPr>
          <a:xfrm>
            <a:off x="822959" y="3368040"/>
            <a:ext cx="5029200" cy="853440"/>
          </a:xfrm>
          <a:prstGeom prst="rect">
            <a:avLst/>
          </a:prstGeom>
          <a:noFill/>
        </p:spPr>
        <p:txBody>
          <a:bodyPr wrap="square" anchor="t">
            <a:spAutoFit/>
          </a:bodyPr>
          <a:lstStyle/>
          <a:p>
            <a:pPr algn="l"/>
            <a:r>
              <a:rPr sz="1250" b="0" i="0">
                <a:solidFill>
                  <a:srgbClr val="556075"/>
                </a:solidFill>
                <a:latin typeface="Calibri"/>
              </a:rPr>
              <a:t>加细节：When? Where? Who? What happened? How did you feel?</a:t>
            </a:r>
          </a:p>
        </p:txBody>
      </p:sp>
      <p:sp>
        <p:nvSpPr>
          <p:cNvPr id="20" name="Rounded Rectangle 19"/>
          <p:cNvSpPr/>
          <p:nvPr/>
        </p:nvSpPr>
        <p:spPr>
          <a:xfrm>
            <a:off x="6355079" y="2865120"/>
            <a:ext cx="5486400" cy="14020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865120"/>
            <a:ext cx="109728" cy="140208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2956560"/>
            <a:ext cx="5029200" cy="411480"/>
          </a:xfrm>
          <a:prstGeom prst="rect">
            <a:avLst/>
          </a:prstGeom>
          <a:noFill/>
        </p:spPr>
        <p:txBody>
          <a:bodyPr wrap="square" anchor="t">
            <a:spAutoFit/>
          </a:bodyPr>
          <a:lstStyle/>
          <a:p>
            <a:pPr algn="l"/>
            <a:r>
              <a:rPr sz="1400" b="1" i="0">
                <a:solidFill>
                  <a:srgbClr val="A33607"/>
                </a:solidFill>
                <a:latin typeface="Calibri"/>
              </a:rPr>
              <a:t>没听懂题目时</a:t>
            </a:r>
          </a:p>
        </p:txBody>
      </p:sp>
      <p:sp>
        <p:nvSpPr>
          <p:cNvPr id="23" name="TextBox 22"/>
          <p:cNvSpPr txBox="1"/>
          <p:nvPr/>
        </p:nvSpPr>
        <p:spPr>
          <a:xfrm>
            <a:off x="6629399" y="3368040"/>
            <a:ext cx="5029200" cy="853440"/>
          </a:xfrm>
          <a:prstGeom prst="rect">
            <a:avLst/>
          </a:prstGeom>
          <a:noFill/>
        </p:spPr>
        <p:txBody>
          <a:bodyPr wrap="square" anchor="t">
            <a:spAutoFit/>
          </a:bodyPr>
          <a:lstStyle/>
          <a:p>
            <a:pPr algn="l"/>
            <a:r>
              <a:rPr sz="1250" b="0" i="0">
                <a:solidFill>
                  <a:srgbClr val="556075"/>
                </a:solidFill>
                <a:latin typeface="Calibri"/>
              </a:rPr>
              <a:t>礼貌请求重复：Sorry, could you repeat that question?</a:t>
            </a:r>
          </a:p>
        </p:txBody>
      </p:sp>
      <p:sp>
        <p:nvSpPr>
          <p:cNvPr id="24" name="Rounded Rectangle 23"/>
          <p:cNvSpPr/>
          <p:nvPr/>
        </p:nvSpPr>
        <p:spPr>
          <a:xfrm>
            <a:off x="548640" y="4495800"/>
            <a:ext cx="5486400" cy="14020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495800"/>
            <a:ext cx="109728" cy="140208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59" y="4587240"/>
            <a:ext cx="5029200" cy="411480"/>
          </a:xfrm>
          <a:prstGeom prst="rect">
            <a:avLst/>
          </a:prstGeom>
          <a:noFill/>
        </p:spPr>
        <p:txBody>
          <a:bodyPr wrap="square" anchor="t">
            <a:spAutoFit/>
          </a:bodyPr>
          <a:lstStyle/>
          <a:p>
            <a:pPr algn="l"/>
            <a:r>
              <a:rPr sz="1400" b="1" i="0">
                <a:solidFill>
                  <a:srgbClr val="A33607"/>
                </a:solidFill>
                <a:latin typeface="Calibri"/>
              </a:rPr>
              <a:t>答错了想纠正时</a:t>
            </a:r>
          </a:p>
        </p:txBody>
      </p:sp>
      <p:sp>
        <p:nvSpPr>
          <p:cNvPr id="27" name="TextBox 26"/>
          <p:cNvSpPr txBox="1"/>
          <p:nvPr/>
        </p:nvSpPr>
        <p:spPr>
          <a:xfrm>
            <a:off x="822959" y="4998720"/>
            <a:ext cx="5029200" cy="853440"/>
          </a:xfrm>
          <a:prstGeom prst="rect">
            <a:avLst/>
          </a:prstGeom>
          <a:noFill/>
        </p:spPr>
        <p:txBody>
          <a:bodyPr wrap="square" anchor="t">
            <a:spAutoFit/>
          </a:bodyPr>
          <a:lstStyle/>
          <a:p>
            <a:pPr algn="l"/>
            <a:r>
              <a:rPr sz="1250" b="0" i="0">
                <a:solidFill>
                  <a:srgbClr val="556075"/>
                </a:solidFill>
                <a:latin typeface="Calibri"/>
              </a:rPr>
              <a:t>Actually, let me rephrase that... / What I really meant was...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四维度快速参考卡</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234440"/>
            <a:ext cx="5486400" cy="146304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6304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A33607"/>
                </a:solidFill>
                <a:latin typeface="Calibri"/>
              </a:rPr>
              <a:t>CC提升</a:t>
            </a:r>
          </a:p>
        </p:txBody>
      </p:sp>
      <p:sp>
        <p:nvSpPr>
          <p:cNvPr id="11" name="TextBox 10"/>
          <p:cNvSpPr txBox="1"/>
          <p:nvPr/>
        </p:nvSpPr>
        <p:spPr>
          <a:xfrm>
            <a:off x="822959" y="1737360"/>
            <a:ext cx="5029200" cy="914400"/>
          </a:xfrm>
          <a:prstGeom prst="rect">
            <a:avLst/>
          </a:prstGeom>
          <a:noFill/>
        </p:spPr>
        <p:txBody>
          <a:bodyPr wrap="square" anchor="t">
            <a:spAutoFit/>
          </a:bodyPr>
          <a:lstStyle/>
          <a:p>
            <a:pPr algn="l"/>
            <a:r>
              <a:rPr sz="1250" b="0" i="0">
                <a:solidFill>
                  <a:srgbClr val="556075"/>
                </a:solidFill>
                <a:latin typeface="Calibri"/>
              </a:rPr>
              <a:t>多用连接词（However/Therefore/As a result/On the other hand）</a:t>
            </a:r>
          </a:p>
        </p:txBody>
      </p:sp>
      <p:sp>
        <p:nvSpPr>
          <p:cNvPr id="12" name="Rounded Rectangle 11"/>
          <p:cNvSpPr/>
          <p:nvPr/>
        </p:nvSpPr>
        <p:spPr>
          <a:xfrm>
            <a:off x="6355079" y="1234440"/>
            <a:ext cx="5486400" cy="146304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6304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A33607"/>
                </a:solidFill>
                <a:latin typeface="Calibri"/>
              </a:rPr>
              <a:t>LR提升</a:t>
            </a:r>
          </a:p>
        </p:txBody>
      </p:sp>
      <p:sp>
        <p:nvSpPr>
          <p:cNvPr id="15" name="TextBox 14"/>
          <p:cNvSpPr txBox="1"/>
          <p:nvPr/>
        </p:nvSpPr>
        <p:spPr>
          <a:xfrm>
            <a:off x="6629399" y="1737360"/>
            <a:ext cx="5029200" cy="914400"/>
          </a:xfrm>
          <a:prstGeom prst="rect">
            <a:avLst/>
          </a:prstGeom>
          <a:noFill/>
        </p:spPr>
        <p:txBody>
          <a:bodyPr wrap="square" anchor="t">
            <a:spAutoFit/>
          </a:bodyPr>
          <a:lstStyle/>
          <a:p>
            <a:pPr algn="l"/>
            <a:r>
              <a:rPr sz="1250" b="0" i="0">
                <a:solidFill>
                  <a:srgbClr val="556075"/>
                </a:solidFill>
                <a:latin typeface="Calibri"/>
              </a:rPr>
              <a:t>每个话题准备10个"话题词"，考前复习这些词</a:t>
            </a:r>
          </a:p>
        </p:txBody>
      </p:sp>
      <p:sp>
        <p:nvSpPr>
          <p:cNvPr id="16" name="Rounded Rectangle 15"/>
          <p:cNvSpPr/>
          <p:nvPr/>
        </p:nvSpPr>
        <p:spPr>
          <a:xfrm>
            <a:off x="548640" y="2926080"/>
            <a:ext cx="5486400" cy="146304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926080"/>
            <a:ext cx="109728" cy="146304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3017520"/>
            <a:ext cx="5029200" cy="411480"/>
          </a:xfrm>
          <a:prstGeom prst="rect">
            <a:avLst/>
          </a:prstGeom>
          <a:noFill/>
        </p:spPr>
        <p:txBody>
          <a:bodyPr wrap="square" anchor="t">
            <a:spAutoFit/>
          </a:bodyPr>
          <a:lstStyle/>
          <a:p>
            <a:pPr algn="l"/>
            <a:r>
              <a:rPr sz="1400" b="1" i="0">
                <a:solidFill>
                  <a:srgbClr val="A33607"/>
                </a:solidFill>
                <a:latin typeface="Calibri"/>
              </a:rPr>
              <a:t>GRA提升</a:t>
            </a:r>
          </a:p>
        </p:txBody>
      </p:sp>
      <p:sp>
        <p:nvSpPr>
          <p:cNvPr id="19" name="TextBox 18"/>
          <p:cNvSpPr txBox="1"/>
          <p:nvPr/>
        </p:nvSpPr>
        <p:spPr>
          <a:xfrm>
            <a:off x="822959" y="3429000"/>
            <a:ext cx="5029200" cy="914400"/>
          </a:xfrm>
          <a:prstGeom prst="rect">
            <a:avLst/>
          </a:prstGeom>
          <a:noFill/>
        </p:spPr>
        <p:txBody>
          <a:bodyPr wrap="square" anchor="t">
            <a:spAutoFit/>
          </a:bodyPr>
          <a:lstStyle/>
          <a:p>
            <a:pPr algn="l"/>
            <a:r>
              <a:rPr sz="1250" b="0" i="0">
                <a:solidFill>
                  <a:srgbClr val="556075"/>
                </a:solidFill>
                <a:latin typeface="Calibri"/>
              </a:rPr>
              <a:t>刻意使用：when从句/if条件句/which定语从句/被动语态</a:t>
            </a:r>
          </a:p>
        </p:txBody>
      </p:sp>
      <p:sp>
        <p:nvSpPr>
          <p:cNvPr id="20" name="Rounded Rectangle 19"/>
          <p:cNvSpPr/>
          <p:nvPr/>
        </p:nvSpPr>
        <p:spPr>
          <a:xfrm>
            <a:off x="6355079" y="2926080"/>
            <a:ext cx="5486400" cy="146304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926080"/>
            <a:ext cx="109728" cy="146304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3017520"/>
            <a:ext cx="5029200" cy="411480"/>
          </a:xfrm>
          <a:prstGeom prst="rect">
            <a:avLst/>
          </a:prstGeom>
          <a:noFill/>
        </p:spPr>
        <p:txBody>
          <a:bodyPr wrap="square" anchor="t">
            <a:spAutoFit/>
          </a:bodyPr>
          <a:lstStyle/>
          <a:p>
            <a:pPr algn="l"/>
            <a:r>
              <a:rPr sz="1400" b="1" i="0">
                <a:solidFill>
                  <a:srgbClr val="A33607"/>
                </a:solidFill>
                <a:latin typeface="Calibri"/>
              </a:rPr>
              <a:t>P提升</a:t>
            </a:r>
          </a:p>
        </p:txBody>
      </p:sp>
      <p:sp>
        <p:nvSpPr>
          <p:cNvPr id="23" name="TextBox 22"/>
          <p:cNvSpPr txBox="1"/>
          <p:nvPr/>
        </p:nvSpPr>
        <p:spPr>
          <a:xfrm>
            <a:off x="6629399" y="3429000"/>
            <a:ext cx="5029200" cy="914400"/>
          </a:xfrm>
          <a:prstGeom prst="rect">
            <a:avLst/>
          </a:prstGeom>
          <a:noFill/>
        </p:spPr>
        <p:txBody>
          <a:bodyPr wrap="square" anchor="t">
            <a:spAutoFit/>
          </a:bodyPr>
          <a:lstStyle/>
          <a:p>
            <a:pPr algn="l"/>
            <a:r>
              <a:rPr sz="1250" b="0" i="0">
                <a:solidFill>
                  <a:srgbClr val="556075"/>
                </a:solidFill>
                <a:latin typeface="Calibri"/>
              </a:rPr>
              <a:t>注意重读音节和句子重音，不是改口音而是让发音更清晰</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自检清单</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L01课后自检清单</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TextBox 7"/>
          <p:cNvSpPr txBox="1"/>
          <p:nvPr/>
        </p:nvSpPr>
        <p:spPr>
          <a:xfrm>
            <a:off x="731520" y="1371600"/>
            <a:ext cx="10789920" cy="4846320"/>
          </a:xfrm>
          <a:prstGeom prst="rect">
            <a:avLst/>
          </a:prstGeom>
          <a:noFill/>
        </p:spPr>
        <p:txBody>
          <a:bodyPr wrap="square">
            <a:spAutoFit/>
          </a:bodyPr>
          <a:lstStyle/>
          <a:p>
            <a:r>
              <a:rPr sz="1600">
                <a:solidFill>
                  <a:srgbClr val="1E293B"/>
                </a:solidFill>
              </a:rPr>
              <a:t>☐ 录音回答"Tell me about your hometown"，进行四维度自评</a:t>
            </a:r>
          </a:p>
          <a:p>
            <a:pPr>
              <a:spcBef>
                <a:spcPts val="1200"/>
              </a:spcBef>
            </a:pPr>
            <a:r>
              <a:rPr sz="1600">
                <a:solidFill>
                  <a:srgbClr val="1E293B"/>
                </a:solidFill>
              </a:rPr>
              <a:t>☐ 识别自己最弱的评分维度，在课本上标注</a:t>
            </a:r>
          </a:p>
          <a:p>
            <a:pPr>
              <a:spcBef>
                <a:spcPts val="1200"/>
              </a:spcBef>
            </a:pPr>
            <a:r>
              <a:rPr sz="1600">
                <a:solidFill>
                  <a:srgbClr val="1E293B"/>
                </a:solidFill>
              </a:rPr>
              <a:t>☐ 开始每日开口习惯：今天起每天15分钟英语开口练习</a:t>
            </a:r>
          </a:p>
          <a:p>
            <a:pPr>
              <a:spcBef>
                <a:spcPts val="1200"/>
              </a:spcBef>
            </a:pPr>
            <a:r>
              <a:rPr sz="1600">
                <a:solidFill>
                  <a:srgbClr val="1E293B"/>
                </a:solidFill>
              </a:rPr>
              <a:t>☐ 写出5个日常话题的各10个词汇（家庭/工作/爱好/城市/食物）</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 cy="685800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058400" cy="731520"/>
          </a:xfrm>
          <a:prstGeom prst="rect">
            <a:avLst/>
          </a:prstGeom>
          <a:noFill/>
        </p:spPr>
        <p:txBody>
          <a:bodyPr wrap="square" anchor="t">
            <a:spAutoFit/>
          </a:bodyPr>
          <a:lstStyle/>
          <a:p>
            <a:pPr algn="l"/>
            <a:r>
              <a:rPr sz="3000" b="1" i="0">
                <a:solidFill>
                  <a:srgbClr val="FFFFFF"/>
                </a:solidFill>
                <a:latin typeface="Calibri"/>
              </a:rPr>
              <a:t>L01 课堂小结</a:t>
            </a:r>
          </a:p>
        </p:txBody>
      </p:sp>
      <p:sp>
        <p:nvSpPr>
          <p:cNvPr id="5" name="TextBox 4"/>
          <p:cNvSpPr txBox="1"/>
          <p:nvPr/>
        </p:nvSpPr>
        <p:spPr>
          <a:xfrm>
            <a:off x="731520" y="1325880"/>
            <a:ext cx="10058400" cy="457200"/>
          </a:xfrm>
          <a:prstGeom prst="rect">
            <a:avLst/>
          </a:prstGeom>
          <a:noFill/>
        </p:spPr>
        <p:txBody>
          <a:bodyPr wrap="square" anchor="t">
            <a:spAutoFit/>
          </a:bodyPr>
          <a:lstStyle/>
          <a:p>
            <a:pPr algn="l"/>
            <a:r>
              <a:rPr sz="1600" b="1" i="0">
                <a:solidFill>
                  <a:srgbClr val="F28C1D"/>
                </a:solidFill>
                <a:latin typeface="Calibri"/>
              </a:rPr>
              <a:t>📌 本课核心要点</a:t>
            </a:r>
          </a:p>
        </p:txBody>
      </p:sp>
      <p:sp>
        <p:nvSpPr>
          <p:cNvPr id="6" name="TextBox 5"/>
          <p:cNvSpPr txBox="1"/>
          <p:nvPr/>
        </p:nvSpPr>
        <p:spPr>
          <a:xfrm>
            <a:off x="731520" y="1874519"/>
            <a:ext cx="10698480" cy="3474720"/>
          </a:xfrm>
          <a:prstGeom prst="rect">
            <a:avLst/>
          </a:prstGeom>
          <a:noFill/>
        </p:spPr>
        <p:txBody>
          <a:bodyPr wrap="square">
            <a:spAutoFit/>
          </a:bodyPr>
          <a:lstStyle/>
          <a:p>
            <a:r>
              <a:rPr sz="1550">
                <a:solidFill>
                  <a:srgbClr val="FFFFFF"/>
                </a:solidFill>
              </a:rPr>
              <a:t>✓  雅思口语三个Part：Part 1（日常问答）/Part 2（独白）/Part 3（学术讨论）</a:t>
            </a:r>
          </a:p>
          <a:p>
            <a:pPr>
              <a:spcBef>
                <a:spcPts val="1100"/>
              </a:spcBef>
            </a:pPr>
            <a:r>
              <a:rPr sz="1550">
                <a:solidFill>
                  <a:srgbClr val="FFFFFF"/>
                </a:solidFill>
              </a:rPr>
              <a:t>✓  四维评分各25%：CC流利连贯/LR词汇范围/GRA语法多样/P发音清晰</a:t>
            </a:r>
          </a:p>
          <a:p>
            <a:pPr>
              <a:spcBef>
                <a:spcPts val="1100"/>
              </a:spcBef>
            </a:pPr>
            <a:r>
              <a:rPr sz="1550">
                <a:solidFill>
                  <a:srgbClr val="FFFFFF"/>
                </a:solidFill>
              </a:rPr>
              <a:t>✓  深圳学生主要失分：词穷（LR）+答案太短（CC）+中式英语（LR/GRA）</a:t>
            </a:r>
          </a:p>
          <a:p>
            <a:pPr>
              <a:spcBef>
                <a:spcPts val="1100"/>
              </a:spcBef>
            </a:pPr>
            <a:r>
              <a:rPr sz="1550">
                <a:solidFill>
                  <a:srgbClr val="FFFFFF"/>
                </a:solidFill>
              </a:rPr>
              <a:t>✓  备考核心原则：每天开口&gt;背模板；产出练习&gt;输入积累</a:t>
            </a:r>
          </a:p>
          <a:p>
            <a:pPr>
              <a:spcBef>
                <a:spcPts val="1100"/>
              </a:spcBef>
            </a:pPr>
            <a:r>
              <a:rPr sz="1550">
                <a:solidFill>
                  <a:srgbClr val="FFFFFF"/>
                </a:solidFill>
              </a:rPr>
              <a:t>✓  立刻行动：今天录音，四维自评，找到最弱维度，针对性备考</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练习巩固</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L01 课后作业  Homework</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TextBox 7"/>
          <p:cNvSpPr txBox="1"/>
          <p:nvPr/>
        </p:nvSpPr>
        <p:spPr>
          <a:xfrm>
            <a:off x="548640" y="1143000"/>
            <a:ext cx="10058400" cy="365760"/>
          </a:xfrm>
          <a:prstGeom prst="rect">
            <a:avLst/>
          </a:prstGeom>
          <a:noFill/>
        </p:spPr>
        <p:txBody>
          <a:bodyPr wrap="square" anchor="t">
            <a:spAutoFit/>
          </a:bodyPr>
          <a:lstStyle/>
          <a:p>
            <a:pPr algn="l"/>
            <a:r>
              <a:rPr sz="1300" b="1" i="0">
                <a:solidFill>
                  <a:srgbClr val="F28C1D"/>
                </a:solidFill>
                <a:latin typeface="Calibri"/>
              </a:rPr>
              <a:t>⏱ 建议用时：约40分钟</a:t>
            </a:r>
          </a:p>
        </p:txBody>
      </p:sp>
      <p:sp>
        <p:nvSpPr>
          <p:cNvPr id="9" name="TextBox 8"/>
          <p:cNvSpPr txBox="1"/>
          <p:nvPr/>
        </p:nvSpPr>
        <p:spPr>
          <a:xfrm>
            <a:off x="640080" y="1645920"/>
            <a:ext cx="10972800" cy="4572000"/>
          </a:xfrm>
          <a:prstGeom prst="rect">
            <a:avLst/>
          </a:prstGeom>
          <a:noFill/>
        </p:spPr>
        <p:txBody>
          <a:bodyPr wrap="square">
            <a:spAutoFit/>
          </a:bodyPr>
          <a:lstStyle/>
          <a:p>
            <a:r>
              <a:rPr sz="1550" b="1">
                <a:solidFill>
                  <a:srgbClr val="1E293B"/>
                </a:solidFill>
              </a:rPr>
              <a:t>作业 1　录音自评：回答5道Part 1题目，用四维度表自评，找出最弱维度</a:t>
            </a:r>
          </a:p>
          <a:p>
            <a:pPr>
              <a:spcBef>
                <a:spcPts val="1300"/>
              </a:spcBef>
            </a:pPr>
            <a:r>
              <a:rPr sz="1550" b="1">
                <a:solidFill>
                  <a:srgbClr val="1E293B"/>
                </a:solidFill>
              </a:rPr>
              <a:t>作业 2　话题词汇激活：选3个话题，各写20个可以立刻说出口的词</a:t>
            </a:r>
          </a:p>
          <a:p>
            <a:pPr>
              <a:spcBef>
                <a:spcPts val="1300"/>
              </a:spcBef>
            </a:pPr>
            <a:r>
              <a:rPr sz="1550" b="1">
                <a:solidFill>
                  <a:srgbClr val="1E293B"/>
                </a:solidFill>
              </a:rPr>
              <a:t>作业 3　每日开口习惯建立：从今天起，每天早晨说5分钟英语（用手机录音）</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280160"/>
            <a:ext cx="10058400" cy="548640"/>
          </a:xfrm>
          <a:prstGeom prst="rect">
            <a:avLst/>
          </a:prstGeom>
          <a:noFill/>
        </p:spPr>
        <p:txBody>
          <a:bodyPr wrap="square" anchor="t">
            <a:spAutoFit/>
          </a:bodyPr>
          <a:lstStyle/>
          <a:p>
            <a:pPr algn="l"/>
            <a:r>
              <a:rPr sz="1800" b="1" i="0">
                <a:solidFill>
                  <a:srgbClr val="F28C1D"/>
                </a:solidFill>
                <a:latin typeface="Calibri"/>
              </a:rPr>
              <a:t>下节预告  Next Lesson</a:t>
            </a:r>
          </a:p>
        </p:txBody>
      </p:sp>
      <p:sp>
        <p:nvSpPr>
          <p:cNvPr id="4" name="TextBox 3"/>
          <p:cNvSpPr txBox="1"/>
          <p:nvPr/>
        </p:nvSpPr>
        <p:spPr>
          <a:xfrm>
            <a:off x="914400" y="1920240"/>
            <a:ext cx="10332720" cy="914400"/>
          </a:xfrm>
          <a:prstGeom prst="rect">
            <a:avLst/>
          </a:prstGeom>
          <a:noFill/>
        </p:spPr>
        <p:txBody>
          <a:bodyPr wrap="square" anchor="t">
            <a:spAutoFit/>
          </a:bodyPr>
          <a:lstStyle/>
          <a:p>
            <a:pPr algn="l"/>
            <a:r>
              <a:rPr sz="3000" b="1" i="0">
                <a:solidFill>
                  <a:srgbClr val="FFFFFF"/>
                </a:solidFill>
                <a:latin typeface="Calibri"/>
              </a:rPr>
              <a:t>L02 · Part 1 日常问答必胜技巧</a:t>
            </a:r>
          </a:p>
        </p:txBody>
      </p:sp>
      <p:sp>
        <p:nvSpPr>
          <p:cNvPr id="5" name="TextBox 4"/>
          <p:cNvSpPr txBox="1"/>
          <p:nvPr/>
        </p:nvSpPr>
        <p:spPr>
          <a:xfrm>
            <a:off x="914400" y="3200400"/>
            <a:ext cx="10332720" cy="2743200"/>
          </a:xfrm>
          <a:prstGeom prst="rect">
            <a:avLst/>
          </a:prstGeom>
          <a:noFill/>
        </p:spPr>
        <p:txBody>
          <a:bodyPr wrap="square">
            <a:spAutoFit/>
          </a:bodyPr>
          <a:lstStyle/>
          <a:p>
            <a:r>
              <a:rPr sz="1600">
                <a:solidFill>
                  <a:srgbClr val="CFDCF2"/>
                </a:solidFill>
              </a:rPr>
              <a:t>→ DRE答题框架：Direct + Reason + Example——让每题都有内容可说</a:t>
            </a:r>
          </a:p>
          <a:p>
            <a:pPr>
              <a:spcBef>
                <a:spcPts val="1000"/>
              </a:spcBef>
            </a:pPr>
            <a:r>
              <a:rPr sz="1600">
                <a:solidFill>
                  <a:srgbClr val="CFDCF2"/>
                </a:solidFill>
              </a:rPr>
              <a:t>→ 高频话题攻略：工作/学习/城市/爱好/家庭——深圳考生的个人化答题</a:t>
            </a:r>
          </a:p>
          <a:p>
            <a:pPr>
              <a:spcBef>
                <a:spcPts val="1000"/>
              </a:spcBef>
            </a:pPr>
            <a:r>
              <a:rPr sz="1600">
                <a:solidFill>
                  <a:srgbClr val="CFDCF2"/>
                </a:solidFill>
              </a:rPr>
              <a:t>→ 填充语系统：避免"um/uh"，用自然的填充语赢得思考时间</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