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L10</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全真模考
考场实战</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Mock Test &amp; Exam Strategy</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10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考场流程全解析：从进门到结束</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临场策略：每个Part的关键技巧</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紧张管理：系统性考场焦虑控制</a:t>
            </a:r>
          </a:p>
        </p:txBody>
      </p:sp>
      <p:sp>
        <p:nvSpPr>
          <p:cNvPr id="16" name="Rounded Rectangle 15"/>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全真模考演练</a:t>
            </a:r>
          </a:p>
        </p:txBody>
      </p:sp>
      <p:sp>
        <p:nvSpPr>
          <p:cNvPr id="19" name="Rounded Rectangle 18"/>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最后冲刺计划 + 词汇总复习</a:t>
            </a:r>
          </a:p>
        </p:txBody>
      </p:sp>
      <p:sp>
        <p:nvSpPr>
          <p:cNvPr id="22" name="Rounded Rectangle 21"/>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L01-L10核心要点总复习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考场流程全解析</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IELTS Speaking Test: Full Procedure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考场流程Overview</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Speaking Test Procedure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等候区</a:t>
            </a:r>
          </a:p>
          <a:p>
            <a:pPr>
              <a:spcBef>
                <a:spcPts val="100"/>
              </a:spcBef>
            </a:pPr>
            <a:r>
              <a:rPr sz="1500">
                <a:solidFill>
                  <a:srgbClr val="556075"/>
                </a:solidFill>
              </a:rPr>
              <a:t>   考前30分钟到达，签到，等候区等待——禁止使用手机</a:t>
            </a:r>
          </a:p>
          <a:p>
            <a:pPr>
              <a:spcBef>
                <a:spcPts val="900"/>
              </a:spcBef>
            </a:pPr>
            <a:r>
              <a:rPr sz="1800" b="1">
                <a:solidFill>
                  <a:srgbClr val="A33607"/>
                </a:solidFill>
              </a:rPr>
              <a:t>• 进入考场</a:t>
            </a:r>
          </a:p>
          <a:p>
            <a:pPr>
              <a:spcBef>
                <a:spcPts val="100"/>
              </a:spcBef>
            </a:pPr>
            <a:r>
              <a:rPr sz="1500">
                <a:solidFill>
                  <a:srgbClr val="556075"/>
                </a:solidFill>
              </a:rPr>
              <a:t>   考官带你进小房间，确认身份（护照/身份证），录音设备开启</a:t>
            </a:r>
          </a:p>
          <a:p>
            <a:pPr>
              <a:spcBef>
                <a:spcPts val="900"/>
              </a:spcBef>
            </a:pPr>
            <a:r>
              <a:rPr sz="1800" b="1">
                <a:solidFill>
                  <a:srgbClr val="A33607"/>
                </a:solidFill>
              </a:rPr>
              <a:t>• Part 1（4-5分钟）</a:t>
            </a:r>
          </a:p>
          <a:p>
            <a:pPr>
              <a:spcBef>
                <a:spcPts val="100"/>
              </a:spcBef>
            </a:pPr>
            <a:r>
              <a:rPr sz="1500">
                <a:solidFill>
                  <a:srgbClr val="556075"/>
                </a:solidFill>
              </a:rPr>
              <a:t>   考官问日常话题：family/hometown/hobbies——回答30-45秒</a:t>
            </a:r>
          </a:p>
          <a:p>
            <a:pPr>
              <a:spcBef>
                <a:spcPts val="900"/>
              </a:spcBef>
            </a:pPr>
            <a:r>
              <a:rPr sz="1800" b="1">
                <a:solidFill>
                  <a:srgbClr val="A33607"/>
                </a:solidFill>
              </a:rPr>
              <a:t>• Part 2（3-4分钟）</a:t>
            </a:r>
          </a:p>
          <a:p>
            <a:pPr>
              <a:spcBef>
                <a:spcPts val="100"/>
              </a:spcBef>
            </a:pPr>
            <a:r>
              <a:rPr sz="1500">
                <a:solidFill>
                  <a:srgbClr val="556075"/>
                </a:solidFill>
              </a:rPr>
              <a:t>   拿到题卡，1分钟准备，说1-2分钟，考官可能问1-2个跟进问题</a:t>
            </a:r>
          </a:p>
          <a:p>
            <a:pPr>
              <a:spcBef>
                <a:spcPts val="900"/>
              </a:spcBef>
            </a:pPr>
            <a:r>
              <a:rPr sz="1800" b="1">
                <a:solidFill>
                  <a:srgbClr val="A33607"/>
                </a:solidFill>
              </a:rPr>
              <a:t>• Part 3（4-5分钟）</a:t>
            </a:r>
          </a:p>
          <a:p>
            <a:pPr>
              <a:spcBef>
                <a:spcPts val="100"/>
              </a:spcBef>
            </a:pPr>
            <a:r>
              <a:rPr sz="1500">
                <a:solidFill>
                  <a:srgbClr val="556075"/>
                </a:solidFill>
              </a:rPr>
              <a:t>   考官问抽象话题，双方互动——每题目标45-60秒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考场环境与规则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Test Environment &amp; Rules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房间</a:t>
            </a:r>
          </a:p>
          <a:p>
            <a:pPr>
              <a:spcBef>
                <a:spcPts val="100"/>
              </a:spcBef>
            </a:pPr>
            <a:r>
              <a:rPr sz="1500">
                <a:solidFill>
                  <a:srgbClr val="556075"/>
                </a:solidFill>
              </a:rPr>
              <a:t>   小型考官室，桌子对面坐——不是大考场，是1对1面试</a:t>
            </a:r>
          </a:p>
          <a:p>
            <a:pPr>
              <a:spcBef>
                <a:spcPts val="900"/>
              </a:spcBef>
            </a:pPr>
            <a:r>
              <a:rPr sz="1800" b="1">
                <a:solidFill>
                  <a:srgbClr val="A33607"/>
                </a:solidFill>
              </a:rPr>
              <a:t>• 录音</a:t>
            </a:r>
          </a:p>
          <a:p>
            <a:pPr>
              <a:spcBef>
                <a:spcPts val="100"/>
              </a:spcBef>
            </a:pPr>
            <a:r>
              <a:rPr sz="1500">
                <a:solidFill>
                  <a:srgbClr val="556075"/>
                </a:solidFill>
              </a:rPr>
              <a:t>   全程录音，考官不看评分标准——考后评分员听录音评分</a:t>
            </a:r>
          </a:p>
          <a:p>
            <a:pPr>
              <a:spcBef>
                <a:spcPts val="900"/>
              </a:spcBef>
            </a:pPr>
            <a:r>
              <a:rPr sz="1800" b="1">
                <a:solidFill>
                  <a:srgbClr val="A33607"/>
                </a:solidFill>
              </a:rPr>
              <a:t>• 考官角色</a:t>
            </a:r>
          </a:p>
          <a:p>
            <a:pPr>
              <a:spcBef>
                <a:spcPts val="100"/>
              </a:spcBef>
            </a:pPr>
            <a:r>
              <a:rPr sz="1500">
                <a:solidFill>
                  <a:srgbClr val="556075"/>
                </a:solidFill>
              </a:rPr>
              <a:t>   考官只负责问问题和管时间，不会对你的答案点头或评论</a:t>
            </a:r>
          </a:p>
          <a:p>
            <a:pPr>
              <a:spcBef>
                <a:spcPts val="900"/>
              </a:spcBef>
            </a:pPr>
            <a:r>
              <a:rPr sz="1800" b="1">
                <a:solidFill>
                  <a:srgbClr val="A33607"/>
                </a:solidFill>
              </a:rPr>
              <a:t>• 如果听不清</a:t>
            </a:r>
          </a:p>
          <a:p>
            <a:pPr>
              <a:spcBef>
                <a:spcPts val="100"/>
              </a:spcBef>
            </a:pPr>
            <a:r>
              <a:rPr sz="1500">
                <a:solidFill>
                  <a:srgbClr val="556075"/>
                </a:solidFill>
              </a:rPr>
              <a:t>   可以礼貌说："Sorry, could you repeat that?" / "Could you rephrase that?"</a:t>
            </a:r>
          </a:p>
          <a:p>
            <a:pPr>
              <a:spcBef>
                <a:spcPts val="900"/>
              </a:spcBef>
            </a:pPr>
            <a:r>
              <a:rPr sz="1800" b="1">
                <a:solidFill>
                  <a:srgbClr val="A33607"/>
                </a:solidFill>
              </a:rPr>
              <a:t>• 时间控制</a:t>
            </a:r>
          </a:p>
          <a:p>
            <a:pPr>
              <a:spcBef>
                <a:spcPts val="100"/>
              </a:spcBef>
            </a:pPr>
            <a:r>
              <a:rPr sz="1500">
                <a:solidFill>
                  <a:srgbClr val="556075"/>
                </a:solidFill>
              </a:rPr>
              <a:t>   Part 2考官会打断你——时间到了就停，不要慌张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深圳学生常见考场误区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误区1："考官点头就是表示我说得好"——考官是中立的，点头是礼貌不是评分</a:t>
            </a:r>
          </a:p>
          <a:p>
            <a:pPr>
              <a:spcBef>
                <a:spcPts val="1000"/>
              </a:spcBef>
            </a:pPr>
            <a:r>
              <a:rPr sz="1650">
                <a:solidFill>
                  <a:srgbClr val="1E293B"/>
                </a:solidFill>
              </a:rPr>
              <a:t>• 误区2："听不懂题目就完了"——可以要求重复！这不会影响分数</a:t>
            </a:r>
          </a:p>
          <a:p>
            <a:pPr>
              <a:spcBef>
                <a:spcPts val="1000"/>
              </a:spcBef>
            </a:pPr>
            <a:r>
              <a:rPr sz="1650">
                <a:solidFill>
                  <a:srgbClr val="1E293B"/>
                </a:solidFill>
              </a:rPr>
              <a:t>• 误区3："Part 2必须说完所有提示点"——不需要！提示点是帮助你展开的</a:t>
            </a:r>
          </a:p>
          <a:p>
            <a:pPr>
              <a:spcBef>
                <a:spcPts val="1000"/>
              </a:spcBef>
            </a:pPr>
            <a:r>
              <a:rPr sz="1650">
                <a:solidFill>
                  <a:srgbClr val="1E293B"/>
                </a:solidFill>
              </a:rPr>
              <a:t>• 误区4："说错了就完了"——自我纠正（once/I mean/that is to say）完全OK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考前准备清单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材料准备：护照/身份证+准考证（缺一不可）</a:t>
            </a:r>
          </a:p>
          <a:p>
            <a:pPr>
              <a:spcBef>
                <a:spcPts val="1000"/>
              </a:spcBef>
            </a:pPr>
            <a:r>
              <a:rPr sz="1650">
                <a:solidFill>
                  <a:srgbClr val="1E293B"/>
                </a:solidFill>
              </a:rPr>
              <a:t>• 时间安排：提前30分钟到达，留好安检/等候时间</a:t>
            </a:r>
          </a:p>
          <a:p>
            <a:pPr>
              <a:spcBef>
                <a:spcPts val="1000"/>
              </a:spcBef>
            </a:pPr>
            <a:r>
              <a:rPr sz="1650">
                <a:solidFill>
                  <a:srgbClr val="1E293B"/>
                </a:solidFill>
              </a:rPr>
              <a:t>• 状态准备：考前一晚早睡，考当天早饭吃好——精力影响流利度</a:t>
            </a:r>
          </a:p>
          <a:p>
            <a:pPr>
              <a:spcBef>
                <a:spcPts val="1000"/>
              </a:spcBef>
            </a:pPr>
            <a:r>
              <a:rPr sz="1650">
                <a:solidFill>
                  <a:srgbClr val="1E293B"/>
                </a:solidFill>
              </a:rPr>
              <a:t>• 心理准备：考官是专业的，不会故意为难你——把它当成和老师的对话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考场应对实战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"Sorry, I didn't quite catch that. Could you repeat the question?"
考场突发情况处理</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情况1（没听清）：
"Sorry, I didn't quite catch that. Could you say it again, please?"
情况2（不懂题目）：
"I'm not sure I understand — could you rephrase that for me?"
情况3（突然卡壳）：
"Well, let me think about that for a moment..." / "That's actually quite a complex question..."
情况4（说错了）：
"...which is, I mean, quite significant..." / "...or rather, what I'm trying to say is..."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原则：保持镇定 + 用礼貌语言处理 + 考官不会扣分
最重要：不要沉默超过5秒——任何英语填充语都比沉默好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考场时间管理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Part 1/2/3各部分时间控制</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Part 1（30-45秒/题）：
太短（&lt;20秒）：考官会立刻追问，感觉答案不完整
太长（&gt;60秒）：考官会打断，且占用其他题目时间
Part 2（约2分钟）：
准备1分钟时写关键词，不写完整句子
说话约1分45秒时开始收尾，"所以这是我最难忘的..."
Part 3（45-60秒/题）：
目标每题至少45秒——比Part 1更长，展示分析能力</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计时练习：本课课后用手机秒表计时，练习每个Part的时间控制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临场策略：每个Part的关键技巧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In-Test Strategy: Key Techniques for Each 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1临场策略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Part 1: Maximising Your Score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话题预测</a:t>
            </a:r>
          </a:p>
          <a:p>
            <a:pPr>
              <a:spcBef>
                <a:spcPts val="100"/>
              </a:spcBef>
            </a:pPr>
            <a:r>
              <a:rPr sz="1500">
                <a:solidFill>
                  <a:srgbClr val="556075"/>
                </a:solidFill>
              </a:rPr>
              <a:t>   高频话题：hometown/family/work/study/hobbies/weather/transport/shopping</a:t>
            </a:r>
          </a:p>
          <a:p>
            <a:pPr>
              <a:spcBef>
                <a:spcPts val="900"/>
              </a:spcBef>
            </a:pPr>
            <a:r>
              <a:rPr sz="1800" b="1">
                <a:solidFill>
                  <a:srgbClr val="A33607"/>
                </a:solidFill>
              </a:rPr>
              <a:t>• 答案结构</a:t>
            </a:r>
          </a:p>
          <a:p>
            <a:pPr>
              <a:spcBef>
                <a:spcPts val="100"/>
              </a:spcBef>
            </a:pPr>
            <a:r>
              <a:rPr sz="1500">
                <a:solidFill>
                  <a:srgbClr val="556075"/>
                </a:solidFill>
              </a:rPr>
              <a:t>   不需要PEEL——用"直接回答+细节+延伸"就够</a:t>
            </a:r>
          </a:p>
          <a:p>
            <a:pPr>
              <a:spcBef>
                <a:spcPts val="900"/>
              </a:spcBef>
            </a:pPr>
            <a:r>
              <a:rPr sz="1800" b="1">
                <a:solidFill>
                  <a:srgbClr val="A33607"/>
                </a:solidFill>
              </a:rPr>
              <a:t>• 延伸技巧</a:t>
            </a:r>
          </a:p>
          <a:p>
            <a:pPr>
              <a:spcBef>
                <a:spcPts val="100"/>
              </a:spcBef>
            </a:pPr>
            <a:r>
              <a:rPr sz="1500">
                <a:solidFill>
                  <a:srgbClr val="556075"/>
                </a:solidFill>
              </a:rPr>
              <a:t>   每个答案加一个细节："I enjoy reading — particularly history books — because..."</a:t>
            </a:r>
          </a:p>
          <a:p>
            <a:pPr>
              <a:spcBef>
                <a:spcPts val="900"/>
              </a:spcBef>
            </a:pPr>
            <a:r>
              <a:rPr sz="1800" b="1">
                <a:solidFill>
                  <a:srgbClr val="A33607"/>
                </a:solidFill>
              </a:rPr>
              <a:t>• 个人化</a:t>
            </a:r>
          </a:p>
          <a:p>
            <a:pPr>
              <a:spcBef>
                <a:spcPts val="100"/>
              </a:spcBef>
            </a:pPr>
            <a:r>
              <a:rPr sz="1500">
                <a:solidFill>
                  <a:srgbClr val="556075"/>
                </a:solidFill>
              </a:rPr>
              <a:t>   加入具体细节："In Shenzhen specifically..." / "When I was in university..."</a:t>
            </a:r>
          </a:p>
          <a:p>
            <a:pPr>
              <a:spcBef>
                <a:spcPts val="900"/>
              </a:spcBef>
            </a:pPr>
            <a:r>
              <a:rPr sz="1800" b="1">
                <a:solidFill>
                  <a:srgbClr val="A33607"/>
                </a:solidFill>
              </a:rPr>
              <a:t>• 长度控制</a:t>
            </a:r>
          </a:p>
          <a:p>
            <a:pPr>
              <a:spcBef>
                <a:spcPts val="100"/>
              </a:spcBef>
            </a:pPr>
            <a:r>
              <a:rPr sz="1500">
                <a:solidFill>
                  <a:srgbClr val="556075"/>
                </a:solidFill>
              </a:rPr>
              <a:t>   30-45秒——说完就停，不要强行延长到无话可说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2临场策略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Part 2: Making the Most of Your 1-Minute Prep</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1分钟准备</a:t>
            </a:r>
          </a:p>
          <a:p>
            <a:pPr>
              <a:spcBef>
                <a:spcPts val="100"/>
              </a:spcBef>
            </a:pPr>
            <a:r>
              <a:rPr sz="1500">
                <a:solidFill>
                  <a:srgbClr val="556075"/>
                </a:solidFill>
              </a:rPr>
              <a:t>   写4-5个关键词，不写句子——关键词激活你的相关记忆和词汇</a:t>
            </a:r>
          </a:p>
          <a:p>
            <a:pPr>
              <a:spcBef>
                <a:spcPts val="900"/>
              </a:spcBef>
            </a:pPr>
            <a:r>
              <a:rPr sz="1800" b="1">
                <a:solidFill>
                  <a:srgbClr val="A33607"/>
                </a:solidFill>
              </a:rPr>
              <a:t>• 开场</a:t>
            </a:r>
          </a:p>
          <a:p>
            <a:pPr>
              <a:spcBef>
                <a:spcPts val="100"/>
              </a:spcBef>
            </a:pPr>
            <a:r>
              <a:rPr sz="1500">
                <a:solidFill>
                  <a:srgbClr val="556075"/>
                </a:solidFill>
              </a:rPr>
              <a:t>   直接开始：The [thing/person/place] I'd like to talk about is...</a:t>
            </a:r>
          </a:p>
          <a:p>
            <a:pPr>
              <a:spcBef>
                <a:spcPts val="900"/>
              </a:spcBef>
            </a:pPr>
            <a:r>
              <a:rPr sz="1800" b="1">
                <a:solidFill>
                  <a:srgbClr val="A33607"/>
                </a:solidFill>
              </a:rPr>
              <a:t>• 时间分配</a:t>
            </a:r>
          </a:p>
          <a:p>
            <a:pPr>
              <a:spcBef>
                <a:spcPts val="100"/>
              </a:spcBef>
            </a:pPr>
            <a:r>
              <a:rPr sz="1500">
                <a:solidFill>
                  <a:srgbClr val="556075"/>
                </a:solidFill>
              </a:rPr>
              <a:t>   人物类：20秒介绍→40秒描述→30秒感受→30秒反思</a:t>
            </a:r>
          </a:p>
          <a:p>
            <a:pPr>
              <a:spcBef>
                <a:spcPts val="900"/>
              </a:spcBef>
            </a:pPr>
            <a:r>
              <a:rPr sz="1800" b="1">
                <a:solidFill>
                  <a:srgbClr val="A33607"/>
                </a:solidFill>
              </a:rPr>
              <a:t>• 遇到不熟悉话题</a:t>
            </a:r>
          </a:p>
          <a:p>
            <a:pPr>
              <a:spcBef>
                <a:spcPts val="100"/>
              </a:spcBef>
            </a:pPr>
            <a:r>
              <a:rPr sz="1500">
                <a:solidFill>
                  <a:srgbClr val="556075"/>
                </a:solidFill>
              </a:rPr>
              <a:t>   用假设："I don't have direct experience, but I'd imagine..."</a:t>
            </a:r>
          </a:p>
          <a:p>
            <a:pPr>
              <a:spcBef>
                <a:spcPts val="900"/>
              </a:spcBef>
            </a:pPr>
            <a:r>
              <a:rPr sz="1800" b="1">
                <a:solidFill>
                  <a:srgbClr val="A33607"/>
                </a:solidFill>
              </a:rPr>
              <a:t>• 结尾</a:t>
            </a:r>
          </a:p>
          <a:p>
            <a:pPr>
              <a:spcBef>
                <a:spcPts val="100"/>
              </a:spcBef>
            </a:pPr>
            <a:r>
              <a:rPr sz="1500">
                <a:solidFill>
                  <a:srgbClr val="556075"/>
                </a:solidFill>
              </a:rPr>
              <a:t>   不要说"OK I'm done"——用总结句结束："This is why I still think about..."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3临场策略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立刻判断题型：观点/原因/比较/预测——选对应的开场词</a:t>
            </a:r>
          </a:p>
          <a:p>
            <a:pPr>
              <a:spcBef>
                <a:spcPts val="1000"/>
              </a:spcBef>
            </a:pPr>
            <a:r>
              <a:rPr sz="1650">
                <a:solidFill>
                  <a:srgbClr val="1E293B"/>
                </a:solidFill>
              </a:rPr>
              <a:t>• 不知道怎么回答时：拆解题目——"Who / What / When / Why / How"——总能找到角度</a:t>
            </a:r>
          </a:p>
          <a:p>
            <a:pPr>
              <a:spcBef>
                <a:spcPts val="1000"/>
              </a:spcBef>
            </a:pPr>
            <a:r>
              <a:rPr sz="1650">
                <a:solidFill>
                  <a:srgbClr val="1E293B"/>
                </a:solidFill>
              </a:rPr>
              <a:t>• 完全不了解话题时：用一般性分析——"In general terms, I'd say..."</a:t>
            </a:r>
          </a:p>
          <a:p>
            <a:pPr>
              <a:spcBef>
                <a:spcPts val="1000"/>
              </a:spcBef>
            </a:pPr>
            <a:r>
              <a:rPr sz="1650">
                <a:solidFill>
                  <a:srgbClr val="1E293B"/>
                </a:solidFill>
              </a:rPr>
              <a:t>• 考官追问时：加深度，不要重复——"Building on what I said, I'd add that..."</a:t>
            </a:r>
          </a:p>
          <a:p>
            <a:pPr>
              <a:spcBef>
                <a:spcPts val="1000"/>
              </a:spcBef>
            </a:pPr>
            <a:r>
              <a:rPr sz="1650">
                <a:solidFill>
                  <a:srgbClr val="1E293B"/>
                </a:solidFill>
              </a:rPr>
              <a:t>• 被反驳时：可以坚持立场——"I understand your point, but I still think..."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全程临场心态管理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把考官当老师：这是专业对话，不是审判——考官希望你表现好</a:t>
            </a:r>
          </a:p>
          <a:p>
            <a:pPr>
              <a:spcBef>
                <a:spcPts val="1000"/>
              </a:spcBef>
            </a:pPr>
            <a:r>
              <a:rPr sz="1650">
                <a:solidFill>
                  <a:srgbClr val="1E293B"/>
                </a:solidFill>
              </a:rPr>
              <a:t>• 犯错不要道歉：自我纠正后继续——"I mean.../What I meant to say is..."</a:t>
            </a:r>
          </a:p>
          <a:p>
            <a:pPr>
              <a:spcBef>
                <a:spcPts val="1000"/>
              </a:spcBef>
            </a:pPr>
            <a:r>
              <a:rPr sz="1650">
                <a:solidFill>
                  <a:srgbClr val="1E293B"/>
                </a:solidFill>
              </a:rPr>
              <a:t>• 沉默比犯错更影响分：任何英语都比沉默好</a:t>
            </a:r>
          </a:p>
          <a:p>
            <a:pPr>
              <a:spcBef>
                <a:spcPts val="1000"/>
              </a:spcBef>
            </a:pPr>
            <a:r>
              <a:rPr sz="1650">
                <a:solidFill>
                  <a:srgbClr val="1E293B"/>
                </a:solidFill>
              </a:rPr>
              <a:t>• 最后30秒不要放弃：即使前面说得不好，最后一道Part 3也要全力发挥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2准备1分钟示范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time when you had to make an important decision."
1分钟准备模拟</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准备时写的关键词：
决定：chose to study English seriously / instead of just pass exams
时间：second year of university / 2020
原因：wanted international career / Shenzhen opportunities
过程：self-study / IELTS / extra classes / sacrificed gaming time
感受：difficult at first / rewarding / confidence built
结果：got job / use English daily / glad I decided
然后用这些关键词说2分钟——不需要完整句子的笔记，关键词激活记忆</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关键技巧：关键词要涵盖"when/where/why/how/feeling"——让答案完整
避免：写完整句子（写不完）或什么都不写（太难想）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3策略示范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think young people today are better at making decisions than in the past?"
临场策略演示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立刻判断：观点类题型——开场：I'd argue...
快速构思：P（立场）→E（原因）→E（例子）→A（让步）
答案：I'd argue it's genuinely complex — in some ways yes, in others no. Today's young people have access to vastly more information than previous generations, which should theoretically improve decision-making. However, there's a paradox: more information can lead to decision paralysis, not better decisions. What's more, the constant presence of social media creates peer pressure that may actually impair independent thinking. That said, I do think Shenzhen's younger generation in particular show impressive entrepreneurial decision-making — the rate of startup culture here suggests real decisiveness.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临场思路：题目→判断题型→回忆开场词→快速P/E/E/A框架→开口——全过程约2-3秒
关键：开口说第一句话后，大脑会自动找内容——不要想好再开口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紧张管理：系统性考场焦虑控制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Anxiety Management: Systematic Approach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考场紧张的来源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Sources of Test Anxiety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未知恐惧</a:t>
            </a:r>
          </a:p>
          <a:p>
            <a:pPr>
              <a:spcBef>
                <a:spcPts val="100"/>
              </a:spcBef>
            </a:pPr>
            <a:r>
              <a:rPr sz="1500">
                <a:solidFill>
                  <a:srgbClr val="556075"/>
                </a:solidFill>
              </a:rPr>
              <a:t>   不知道会被问什么——通过预测高频话题减少未知</a:t>
            </a:r>
          </a:p>
          <a:p>
            <a:pPr>
              <a:spcBef>
                <a:spcPts val="900"/>
              </a:spcBef>
            </a:pPr>
            <a:r>
              <a:rPr sz="1800" b="1">
                <a:solidFill>
                  <a:srgbClr val="A33607"/>
                </a:solidFill>
              </a:rPr>
              <a:t>• 完美主义</a:t>
            </a:r>
          </a:p>
          <a:p>
            <a:pPr>
              <a:spcBef>
                <a:spcPts val="100"/>
              </a:spcBef>
            </a:pPr>
            <a:r>
              <a:rPr sz="1500">
                <a:solidFill>
                  <a:srgbClr val="556075"/>
                </a:solidFill>
              </a:rPr>
              <a:t>   害怕犯错——接受"好的IELTS答案允许少量错误"的事实</a:t>
            </a:r>
          </a:p>
          <a:p>
            <a:pPr>
              <a:spcBef>
                <a:spcPts val="900"/>
              </a:spcBef>
            </a:pPr>
            <a:r>
              <a:rPr sz="1800" b="1">
                <a:solidFill>
                  <a:srgbClr val="A33607"/>
                </a:solidFill>
              </a:rPr>
              <a:t>• 沉默恐惧</a:t>
            </a:r>
          </a:p>
          <a:p>
            <a:pPr>
              <a:spcBef>
                <a:spcPts val="100"/>
              </a:spcBef>
            </a:pPr>
            <a:r>
              <a:rPr sz="1500">
                <a:solidFill>
                  <a:srgbClr val="556075"/>
                </a:solidFill>
              </a:rPr>
              <a:t>   怕停顿——准备填充语和应急策略</a:t>
            </a:r>
          </a:p>
          <a:p>
            <a:pPr>
              <a:spcBef>
                <a:spcPts val="900"/>
              </a:spcBef>
            </a:pPr>
            <a:r>
              <a:rPr sz="1800" b="1">
                <a:solidFill>
                  <a:srgbClr val="A33607"/>
                </a:solidFill>
              </a:rPr>
              <a:t>• 比较心理</a:t>
            </a:r>
          </a:p>
          <a:p>
            <a:pPr>
              <a:spcBef>
                <a:spcPts val="100"/>
              </a:spcBef>
            </a:pPr>
            <a:r>
              <a:rPr sz="1500">
                <a:solidFill>
                  <a:srgbClr val="556075"/>
                </a:solidFill>
              </a:rPr>
              <a:t>   听到其他考生——考官在评的是你的能力，不是你和别人比较</a:t>
            </a:r>
          </a:p>
          <a:p>
            <a:pPr>
              <a:spcBef>
                <a:spcPts val="900"/>
              </a:spcBef>
            </a:pPr>
            <a:r>
              <a:rPr sz="1800" b="1">
                <a:solidFill>
                  <a:srgbClr val="A33607"/>
                </a:solidFill>
              </a:rPr>
              <a:t>• 深圳学生</a:t>
            </a:r>
          </a:p>
          <a:p>
            <a:pPr>
              <a:spcBef>
                <a:spcPts val="100"/>
              </a:spcBef>
            </a:pPr>
            <a:r>
              <a:rPr sz="1500">
                <a:solidFill>
                  <a:srgbClr val="556075"/>
                </a:solidFill>
              </a:rPr>
              <a:t>   常见：考前过度焦虑，考中过度自我监控——影响流利度</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紧张管理技巧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Anxiety Reduction Techniques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考前准备</a:t>
            </a:r>
          </a:p>
          <a:p>
            <a:pPr>
              <a:spcBef>
                <a:spcPts val="100"/>
              </a:spcBef>
            </a:pPr>
            <a:r>
              <a:rPr sz="1500">
                <a:solidFill>
                  <a:srgbClr val="556075"/>
                </a:solidFill>
              </a:rPr>
              <a:t>   模拟考试环境练习至少5次——熟悉度降低紧张感</a:t>
            </a:r>
          </a:p>
          <a:p>
            <a:pPr>
              <a:spcBef>
                <a:spcPts val="900"/>
              </a:spcBef>
            </a:pPr>
            <a:r>
              <a:rPr sz="1800" b="1">
                <a:solidFill>
                  <a:srgbClr val="A33607"/>
                </a:solidFill>
              </a:rPr>
              <a:t>• 呼吸技巧</a:t>
            </a:r>
          </a:p>
          <a:p>
            <a:pPr>
              <a:spcBef>
                <a:spcPts val="100"/>
              </a:spcBef>
            </a:pPr>
            <a:r>
              <a:rPr sz="1500">
                <a:solidFill>
                  <a:srgbClr val="556075"/>
                </a:solidFill>
              </a:rPr>
              <a:t>   等待时深呼吸：吸4秒/屏4秒/呼4秒——激活副交感神经</a:t>
            </a:r>
          </a:p>
          <a:p>
            <a:pPr>
              <a:spcBef>
                <a:spcPts val="900"/>
              </a:spcBef>
            </a:pPr>
            <a:r>
              <a:rPr sz="1800" b="1">
                <a:solidFill>
                  <a:srgbClr val="A33607"/>
                </a:solidFill>
              </a:rPr>
              <a:t>• 重新框架</a:t>
            </a:r>
          </a:p>
          <a:p>
            <a:pPr>
              <a:spcBef>
                <a:spcPts val="100"/>
              </a:spcBef>
            </a:pPr>
            <a:r>
              <a:rPr sz="1500">
                <a:solidFill>
                  <a:srgbClr val="556075"/>
                </a:solidFill>
              </a:rPr>
              <a:t>   把"我好紧张"改成"我好兴奋"——相同生理反应，不同解读</a:t>
            </a:r>
          </a:p>
          <a:p>
            <a:pPr>
              <a:spcBef>
                <a:spcPts val="900"/>
              </a:spcBef>
            </a:pPr>
            <a:r>
              <a:rPr sz="1800" b="1">
                <a:solidFill>
                  <a:srgbClr val="A33607"/>
                </a:solidFill>
              </a:rPr>
              <a:t>• 过去成功</a:t>
            </a:r>
          </a:p>
          <a:p>
            <a:pPr>
              <a:spcBef>
                <a:spcPts val="100"/>
              </a:spcBef>
            </a:pPr>
            <a:r>
              <a:rPr sz="1500">
                <a:solidFill>
                  <a:srgbClr val="556075"/>
                </a:solidFill>
              </a:rPr>
              <a:t>   考前回想一次说英语说得好的经历——激活"我可以"的记忆</a:t>
            </a:r>
          </a:p>
          <a:p>
            <a:pPr>
              <a:spcBef>
                <a:spcPts val="900"/>
              </a:spcBef>
            </a:pPr>
            <a:r>
              <a:rPr sz="1800" b="1">
                <a:solidFill>
                  <a:srgbClr val="A33607"/>
                </a:solidFill>
              </a:rPr>
              <a:t>• 聚焦当下</a:t>
            </a:r>
          </a:p>
          <a:p>
            <a:pPr>
              <a:spcBef>
                <a:spcPts val="100"/>
              </a:spcBef>
            </a:pPr>
            <a:r>
              <a:rPr sz="1500">
                <a:solidFill>
                  <a:srgbClr val="556075"/>
                </a:solidFill>
              </a:rPr>
              <a:t>   只想当前这一道题，不想前面说得怎样，不想后面有多难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考场紧张的应对方案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如果开场紧张：用1-2秒的填充语（Well.../To be honest...）给自己稳定</a:t>
            </a:r>
          </a:p>
          <a:p>
            <a:pPr>
              <a:spcBef>
                <a:spcPts val="1000"/>
              </a:spcBef>
            </a:pPr>
            <a:r>
              <a:rPr sz="1650">
                <a:solidFill>
                  <a:srgbClr val="1E293B"/>
                </a:solidFill>
              </a:rPr>
              <a:t>• 如果中途卡壳：接续性填充语（...and another thing I should mention is...）</a:t>
            </a:r>
          </a:p>
          <a:p>
            <a:pPr>
              <a:spcBef>
                <a:spcPts val="1000"/>
              </a:spcBef>
            </a:pPr>
            <a:r>
              <a:rPr sz="1650">
                <a:solidFill>
                  <a:srgbClr val="1E293B"/>
                </a:solidFill>
              </a:rPr>
              <a:t>• 如果彻底卡壳：Let me approach this from a different angle... / Actually...)</a:t>
            </a:r>
          </a:p>
          <a:p>
            <a:pPr>
              <a:spcBef>
                <a:spcPts val="1000"/>
              </a:spcBef>
            </a:pPr>
            <a:r>
              <a:rPr sz="1650">
                <a:solidFill>
                  <a:srgbClr val="1E293B"/>
                </a:solidFill>
              </a:rPr>
              <a:t>• 如果发现自己偏题：Let me come back to the original point... / In terms of your question...</a:t>
            </a:r>
          </a:p>
          <a:p>
            <a:pPr>
              <a:spcBef>
                <a:spcPts val="1000"/>
              </a:spcBef>
            </a:pPr>
            <a:r>
              <a:rPr sz="1650">
                <a:solidFill>
                  <a:srgbClr val="1E293B"/>
                </a:solidFill>
              </a:rPr>
              <a:t>• 总原则：保持声音，不要沉默——任何英语都比沉默好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考前一周情绪管理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考前7天：正常练习，不要过度备考——过度导致疲劳和焦虑</a:t>
            </a:r>
          </a:p>
          <a:p>
            <a:pPr>
              <a:spcBef>
                <a:spcPts val="1000"/>
              </a:spcBef>
            </a:pPr>
            <a:r>
              <a:rPr sz="1650">
                <a:solidFill>
                  <a:srgbClr val="1E293B"/>
                </a:solidFill>
              </a:rPr>
              <a:t>• 考前3天：轻量练习，重温核心框架——不要学新内容</a:t>
            </a:r>
          </a:p>
          <a:p>
            <a:pPr>
              <a:spcBef>
                <a:spcPts val="1000"/>
              </a:spcBef>
            </a:pPr>
            <a:r>
              <a:rPr sz="1650">
                <a:solidFill>
                  <a:srgbClr val="1E293B"/>
                </a:solidFill>
              </a:rPr>
              <a:t>• 考前1天：完全放松，早睡——状态比额外练习更重要</a:t>
            </a:r>
          </a:p>
          <a:p>
            <a:pPr>
              <a:spcBef>
                <a:spcPts val="1000"/>
              </a:spcBef>
            </a:pPr>
            <a:r>
              <a:rPr sz="1650">
                <a:solidFill>
                  <a:srgbClr val="1E293B"/>
                </a:solidFill>
              </a:rPr>
              <a:t>• 考当天早上：吃早饭，回顾5个高频话题词汇，做2分钟深呼吸练习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紧张管理实战演练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模拟高压情景下的答题练习</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模拟情景：你有10秒钟开始回答以下问题——
"Do you think technology is making the world a better or worse place?"
常见紧张反应：(1)大脑空白 (2)只说I think it's better/worse然后停 (3)说中文再切换
应对方案：Well, [深呼吸0.5秒] I suppose the honest answer is: it's doing both simultaneously. [开始PEEL框架]
练习：每天设一个计时器，随机选Part 3题，10秒后必须开口——训练应激反应</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关键：训练"开口反射"——不管有没有想好，10秒内必须说第一句话
大脑的特点：说出第一句话后，后续内容会自动跟上</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考场心态总结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从备考到考场的心态管理</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备考心态：进步比完美更重要——每天提高1%，考场就会不同
考场心态：考官不是敌人，是专业听众——他/她希望你表现好
犯错心态：小错误完全正常——Band 7允许偶尔不准确
最终心态：IELTS口语是展示你的英语能力，不是惩罚你的弱点
深圳学生加油：你们在中国最具国际化的城市成长，英语环境全国领先——利用这个优势！</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最重要的话：在考场上，比发音更重要的是内容；比内容更重要的是自信；比自信更重要的是开口</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全真模考演练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Full Mock Test Practice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模考题目：Part 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Mock Test Part 1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题目1</a:t>
            </a:r>
          </a:p>
          <a:p>
            <a:pPr>
              <a:spcBef>
                <a:spcPts val="100"/>
              </a:spcBef>
            </a:pPr>
            <a:r>
              <a:rPr sz="1500">
                <a:solidFill>
                  <a:srgbClr val="556075"/>
                </a:solidFill>
              </a:rPr>
              <a:t>   Do you live in a house or an apartment? What do you like about it?</a:t>
            </a:r>
          </a:p>
          <a:p>
            <a:pPr>
              <a:spcBef>
                <a:spcPts val="900"/>
              </a:spcBef>
            </a:pPr>
            <a:r>
              <a:rPr sz="1800" b="1">
                <a:solidFill>
                  <a:srgbClr val="A33607"/>
                </a:solidFill>
              </a:rPr>
              <a:t>• 题目2</a:t>
            </a:r>
          </a:p>
          <a:p>
            <a:pPr>
              <a:spcBef>
                <a:spcPts val="100"/>
              </a:spcBef>
            </a:pPr>
            <a:r>
              <a:rPr sz="1500">
                <a:solidFill>
                  <a:srgbClr val="556075"/>
                </a:solidFill>
              </a:rPr>
              <a:t>   What is your hometown like? Is it a good place to live?</a:t>
            </a:r>
          </a:p>
          <a:p>
            <a:pPr>
              <a:spcBef>
                <a:spcPts val="900"/>
              </a:spcBef>
            </a:pPr>
            <a:r>
              <a:rPr sz="1800" b="1">
                <a:solidFill>
                  <a:srgbClr val="A33607"/>
                </a:solidFill>
              </a:rPr>
              <a:t>• 题目3</a:t>
            </a:r>
          </a:p>
          <a:p>
            <a:pPr>
              <a:spcBef>
                <a:spcPts val="100"/>
              </a:spcBef>
            </a:pPr>
            <a:r>
              <a:rPr sz="1500">
                <a:solidFill>
                  <a:srgbClr val="556075"/>
                </a:solidFill>
              </a:rPr>
              <a:t>   Do you enjoy your current work or studies? Why?</a:t>
            </a:r>
          </a:p>
          <a:p>
            <a:pPr>
              <a:spcBef>
                <a:spcPts val="900"/>
              </a:spcBef>
            </a:pPr>
            <a:r>
              <a:rPr sz="1800" b="1">
                <a:solidFill>
                  <a:srgbClr val="A33607"/>
                </a:solidFill>
              </a:rPr>
              <a:t>• 题目4</a:t>
            </a:r>
          </a:p>
          <a:p>
            <a:pPr>
              <a:spcBef>
                <a:spcPts val="100"/>
              </a:spcBef>
            </a:pPr>
            <a:r>
              <a:rPr sz="1500">
                <a:solidFill>
                  <a:srgbClr val="556075"/>
                </a:solidFill>
              </a:rPr>
              <a:t>   What do you do in your spare time?</a:t>
            </a:r>
          </a:p>
          <a:p>
            <a:pPr>
              <a:spcBef>
                <a:spcPts val="900"/>
              </a:spcBef>
            </a:pPr>
            <a:r>
              <a:rPr sz="1800" b="1">
                <a:solidFill>
                  <a:srgbClr val="A33607"/>
                </a:solidFill>
              </a:rPr>
              <a:t>• 题目5</a:t>
            </a:r>
          </a:p>
          <a:p>
            <a:pPr>
              <a:spcBef>
                <a:spcPts val="100"/>
              </a:spcBef>
            </a:pPr>
            <a:r>
              <a:rPr sz="1500">
                <a:solidFill>
                  <a:srgbClr val="556075"/>
                </a:solidFill>
              </a:rPr>
              <a:t>   How important is English in your daily life?</a:t>
            </a:r>
          </a:p>
          <a:p>
            <a:pPr>
              <a:spcBef>
                <a:spcPts val="900"/>
              </a:spcBef>
            </a:pPr>
            <a:r>
              <a:rPr sz="1800" b="1">
                <a:solidFill>
                  <a:srgbClr val="A33607"/>
                </a:solidFill>
              </a:rPr>
              <a:t>• 评分提示</a:t>
            </a:r>
          </a:p>
          <a:p>
            <a:pPr>
              <a:spcBef>
                <a:spcPts val="100"/>
              </a:spcBef>
            </a:pPr>
            <a:r>
              <a:rPr sz="1500">
                <a:solidFill>
                  <a:srgbClr val="556075"/>
                </a:solidFill>
              </a:rPr>
              <a:t>   每题30-45秒，延伸技巧：+细节+地方特色+个人感受</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模考题目：Part 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Mock Test Part 2 Cue Card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题卡</a:t>
            </a:r>
          </a:p>
          <a:p>
            <a:pPr>
              <a:spcBef>
                <a:spcPts val="100"/>
              </a:spcBef>
            </a:pPr>
            <a:r>
              <a:rPr sz="1500">
                <a:solidFill>
                  <a:srgbClr val="556075"/>
                </a:solidFill>
              </a:rPr>
              <a:t>   Describe a skill you have learned that you find very useful.</a:t>
            </a:r>
          </a:p>
          <a:p>
            <a:pPr>
              <a:spcBef>
                <a:spcPts val="900"/>
              </a:spcBef>
            </a:pPr>
            <a:r>
              <a:rPr sz="1800" b="1">
                <a:solidFill>
                  <a:srgbClr val="A33607"/>
                </a:solidFill>
              </a:rPr>
              <a:t>• 提示点</a:t>
            </a:r>
          </a:p>
          <a:p>
            <a:pPr>
              <a:spcBef>
                <a:spcPts val="100"/>
              </a:spcBef>
            </a:pPr>
            <a:r>
              <a:rPr sz="1500">
                <a:solidFill>
                  <a:srgbClr val="556075"/>
                </a:solidFill>
              </a:rPr>
              <a:t>   You should say: what the skill is / how you learned it / who helped you / and explain why it is useful</a:t>
            </a:r>
          </a:p>
          <a:p>
            <a:pPr>
              <a:spcBef>
                <a:spcPts val="900"/>
              </a:spcBef>
            </a:pPr>
            <a:r>
              <a:rPr sz="1800" b="1">
                <a:solidFill>
                  <a:srgbClr val="A33607"/>
                </a:solidFill>
              </a:rPr>
              <a:t>• 准备时间</a:t>
            </a:r>
          </a:p>
          <a:p>
            <a:pPr>
              <a:spcBef>
                <a:spcPts val="100"/>
              </a:spcBef>
            </a:pPr>
            <a:r>
              <a:rPr sz="1500">
                <a:solidFill>
                  <a:srgbClr val="556075"/>
                </a:solidFill>
              </a:rPr>
              <a:t>   1分钟（现在开始计时）</a:t>
            </a:r>
          </a:p>
          <a:p>
            <a:pPr>
              <a:spcBef>
                <a:spcPts val="900"/>
              </a:spcBef>
            </a:pPr>
            <a:r>
              <a:rPr sz="1800" b="1">
                <a:solidFill>
                  <a:srgbClr val="A33607"/>
                </a:solidFill>
              </a:rPr>
              <a:t>• 参考答案框架</a:t>
            </a:r>
          </a:p>
          <a:p>
            <a:pPr>
              <a:spcBef>
                <a:spcPts val="100"/>
              </a:spcBef>
            </a:pPr>
            <a:r>
              <a:rPr sz="1500">
                <a:solidFill>
                  <a:srgbClr val="556075"/>
                </a:solidFill>
              </a:rPr>
              <a:t>   开场→技能介绍→学习过程→谁帮助了你→为什么有用→个人感受</a:t>
            </a:r>
          </a:p>
          <a:p>
            <a:pPr>
              <a:spcBef>
                <a:spcPts val="900"/>
              </a:spcBef>
            </a:pPr>
            <a:r>
              <a:rPr sz="1800" b="1">
                <a:solidFill>
                  <a:srgbClr val="A33607"/>
                </a:solidFill>
              </a:rPr>
              <a:t>• 计时</a:t>
            </a:r>
          </a:p>
          <a:p>
            <a:pPr>
              <a:spcBef>
                <a:spcPts val="100"/>
              </a:spcBef>
            </a:pPr>
            <a:r>
              <a:rPr sz="1500">
                <a:solidFill>
                  <a:srgbClr val="556075"/>
                </a:solidFill>
              </a:rPr>
              <a:t>   说1分45秒到2分钟，注意收尾</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模考题目：Part 3</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"What skills do you think are most important for people to have in today's world?"</a:t>
            </a:r>
          </a:p>
          <a:p>
            <a:pPr>
              <a:spcBef>
                <a:spcPts val="1000"/>
              </a:spcBef>
            </a:pPr>
            <a:r>
              <a:rPr sz="1650">
                <a:solidFill>
                  <a:srgbClr val="1E293B"/>
                </a:solidFill>
              </a:rPr>
              <a:t>• "Do you think schools teach students the skills they really need? Why/Why not?"</a:t>
            </a:r>
          </a:p>
          <a:p>
            <a:pPr>
              <a:spcBef>
                <a:spcPts val="1000"/>
              </a:spcBef>
            </a:pPr>
            <a:r>
              <a:rPr sz="1650">
                <a:solidFill>
                  <a:srgbClr val="1E293B"/>
                </a:solidFill>
              </a:rPr>
              <a:t>• "How do you think the skills people need will change in the next 20 years?"</a:t>
            </a:r>
          </a:p>
          <a:p>
            <a:pPr>
              <a:spcBef>
                <a:spcPts val="1000"/>
              </a:spcBef>
            </a:pPr>
            <a:r>
              <a:rPr sz="1650">
                <a:solidFill>
                  <a:srgbClr val="1E293B"/>
                </a:solidFill>
              </a:rPr>
              <a:t>• "Do you think it's better to learn a skill from a professional teacher or self-taught?"</a:t>
            </a:r>
          </a:p>
          <a:p>
            <a:pPr>
              <a:spcBef>
                <a:spcPts val="1000"/>
              </a:spcBef>
            </a:pPr>
            <a:r>
              <a:rPr sz="1650">
                <a:solidFill>
                  <a:srgbClr val="1E293B"/>
                </a:solidFill>
              </a:rPr>
              <a:t>• "How has technology changed the way we acquire new skills?"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模考自评标准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FC（流利度）：有没有长于3秒的停顿？连接词多于3种？</a:t>
            </a:r>
          </a:p>
          <a:p>
            <a:pPr>
              <a:spcBef>
                <a:spcPts val="1000"/>
              </a:spcBef>
            </a:pPr>
            <a:r>
              <a:rPr sz="1650">
                <a:solidFill>
                  <a:srgbClr val="1E293B"/>
                </a:solidFill>
              </a:rPr>
              <a:t>• LR（词汇）：有没有用高于"good/bad/nice"的词汇？</a:t>
            </a:r>
          </a:p>
          <a:p>
            <a:pPr>
              <a:spcBef>
                <a:spcPts val="1000"/>
              </a:spcBef>
            </a:pPr>
            <a:r>
              <a:rPr sz="1650">
                <a:solidFill>
                  <a:srgbClr val="1E293B"/>
                </a:solidFill>
              </a:rPr>
              <a:t>• GRA（语法）：有没有使用从句？有没有时态错误？</a:t>
            </a:r>
          </a:p>
          <a:p>
            <a:pPr>
              <a:spcBef>
                <a:spcPts val="1000"/>
              </a:spcBef>
            </a:pPr>
            <a:r>
              <a:rPr sz="1650">
                <a:solidFill>
                  <a:srgbClr val="1E293B"/>
                </a:solidFill>
              </a:rPr>
              <a:t>• PR（发音）：句末有没有降调？th/v/w发音准确吗？</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2模考参考答案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skill you have learned that you find very useful.
完整示范答案（约1分50秒）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 skill I'd like to describe is public speaking — something I learned primarily through necessity when I had to give presentations for my university degree. I was, to be honest, genuinely terrified of speaking in front of people. My hands would shake, my voice would tremble, and I'd lose my train of thought entirely. What changed everything was a professor who encouraged our class to join a debating club. Through weekly practice — standing up, getting feedback, refining my delivery — I gradually built both competence and confidence. The person who helped me most was actually a classmate who had real natural talent: watching how she structured arguments taught me more than any textbook could. I now find public speaking invaluable in my professional life — whether it's job interviews, client presentations, or simply making my ideas heard in meetings. What I find most rewarding is that the skill has transferred directly to my IELTS preparation.</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FC：流利，约1分50秒，无长停顿
LR：terrified/tremble/gradually/invaluable/transferred——5个7分词汇
GRA：定语从句×2 / 分词短语 / 倒装（What changed everything was）/ 强调句（What I find most rewarding is）
PR：重音在terrified/invaluable/rewarding，注意句末降调</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模考后自评表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模考完成后，填写自评表
4个维度各打分（1-9分）</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自评维度：
FC（流利度）：停顿次数___ 连接词种类___ 自评分___
LR（词汇）：高级词汇数量___ 话题专有词___ 自评分___
GRA（语法）：从句结构数量___ 时态错误___ 自评分___
PR（发音）：th/v/w准确___ 句末降调___ 自评分___
最薄弱维度：___  针对训练重点：___</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建议：每周做一次全真模考+自评——追踪4个维度的进步
考前1周：至少做3次全真模考，找出最后的弱点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L01-L10核心词汇总复习</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Comprehensive Vocabulary Review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1高分表达（L02核心）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To be honest with you...</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老实说（开场填充语）</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Speaking from personal experience...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从个人经历来说（个性化开场）</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I'd say I'm fairly...</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我会说我比较...（描述自己）</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What I particularly enjoy is...</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我特别享受的是...（强调从句）</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In Shenzhen specifically...</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特别是在深圳...（本地化素材）</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I've always had a thing for...</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我一直很喜欢...（地道表达）</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It's something I'm genuinely passionate about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这是我真正热情所在（展示真实性）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2核心表达（L03/L04核心）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The [X] that springs to mind is...</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想到的[X]是...（自然开场）</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What made it particularly memorable was...</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令它特别难忘的是...（强调）</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Looking back, I realise that...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回望过去，我意识到...（反思结构）</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It was, without doubt, one of the most...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这无疑是最...之一（强调）</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The experience fundamentally changed...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这段经历从根本上改变了...</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I'd been looking forward to it for weeks</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我已经期待了好几周（过去完成时）</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What struck me most about it was...</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最令我印象深刻的是...（名词从句）</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3核心表达（L05核心）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I'd argue that...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我认为...（比I think更有力）</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That said, I do acknowledge...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话虽如此，我承认...（让步）</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Take [X] as a case in point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以[X]为例（举例）</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The way I see it...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在我看来...（观点开场）</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It's genuinely complex, I think...</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我认为这真的很复杂...（展示深度）</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There's a growing tendency for...</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有越来越多的趋势...（社会现象）</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What concerns me most is...</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最令我担忧的是...（强调关注点）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四维高分词汇总览（L06-L09核心）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LR词汇</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significant/substantial/undeniably/fundamentally/genuinely/arguably</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FC连接词</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furthermore/that said/consequently/what's more/having said that</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GRA句型</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Not only...but / It is...that / What...is / Having+V3...</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PR重音词</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par-TIC-u-lar-ly / im-POR-tant / en-VI-ron-ment / sig-NI-fi-cant</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开场填充语</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Well... / The way I see it... / Speaking from experience...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收尾表达</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All things considered... / This is why... / Ultimately...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本地化素材</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In Shenzhen specifically / Shenzhen's tech sector / WeChat / innovation hub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考场最后锦囊</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Part 1</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30-45秒，细节+地方特色+个人感受——不要只答yes/no</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Part 2</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1分钟准备写关键词，2分钟按时间点展开，有感受有反思</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Part 3</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PEEL+让步，45-60秒，用"I'd argue"开场，"That said"让步</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紧张时</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深呼吸+填充语——Well...让自己稳定，任何英语都比沉默好</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犯错时</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自然纠正"I mean.../that is to say..."——不道歉，继续前进</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L10课后：考前一周计划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考前7天：做一次全真模考，记录4个维度自评分，找出最薄弱点</a:t>
            </a:r>
          </a:p>
          <a:p>
            <a:pPr>
              <a:spcBef>
                <a:spcPts val="1200"/>
              </a:spcBef>
            </a:pPr>
            <a:r>
              <a:rPr sz="1600">
                <a:solidFill>
                  <a:srgbClr val="1E293B"/>
                </a:solidFill>
              </a:rPr>
              <a:t>☐ 考前3天：重温5个话题词库 + 7种连接词 + Part 2时间控制练习</a:t>
            </a:r>
          </a:p>
          <a:p>
            <a:pPr>
              <a:spcBef>
                <a:spcPts val="1200"/>
              </a:spcBef>
            </a:pPr>
            <a:r>
              <a:rPr sz="1600">
                <a:solidFill>
                  <a:srgbClr val="1E293B"/>
                </a:solidFill>
              </a:rPr>
              <a:t>☐ 考前1天：轻松回顾核心框架，早睡保证精力，不学新内容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L10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L01-L10完整体系：考试全貌→Part1→Part2→Part3→词汇→流利→语法→发音→模考</a:t>
            </a:r>
          </a:p>
          <a:p>
            <a:pPr>
              <a:spcBef>
                <a:spcPts val="1100"/>
              </a:spcBef>
            </a:pPr>
            <a:r>
              <a:rPr sz="1550">
                <a:solidFill>
                  <a:srgbClr val="FFFFFF"/>
                </a:solidFill>
              </a:rPr>
              <a:t>✓  四大评分维度：FC流利连贯 / LR词汇范围 / GRA语法多样 / PR发音清晰</a:t>
            </a:r>
          </a:p>
          <a:p>
            <a:pPr>
              <a:spcBef>
                <a:spcPts val="1100"/>
              </a:spcBef>
            </a:pPr>
            <a:r>
              <a:rPr sz="1550">
                <a:solidFill>
                  <a:srgbClr val="FFFFFF"/>
                </a:solidFill>
              </a:rPr>
              <a:t>✓  深圳学生优势：国际化环境、WeChat/科技话题素材、英语接触机会多</a:t>
            </a:r>
          </a:p>
          <a:p>
            <a:pPr>
              <a:spcBef>
                <a:spcPts val="1100"/>
              </a:spcBef>
            </a:pPr>
            <a:r>
              <a:rPr sz="1550">
                <a:solidFill>
                  <a:srgbClr val="FFFFFF"/>
                </a:solidFill>
              </a:rPr>
              <a:t>✓  核心策略：开口&gt;完美 / 内容&gt;口音 / 练习&gt;天赋 / 每天15分钟&gt;每周突击</a:t>
            </a:r>
          </a:p>
          <a:p>
            <a:pPr>
              <a:spcBef>
                <a:spcPts val="1100"/>
              </a:spcBef>
            </a:pPr>
            <a:r>
              <a:rPr sz="1550">
                <a:solidFill>
                  <a:srgbClr val="FFFFFF"/>
                </a:solidFill>
              </a:rPr>
              <a:t>✓  最终目标：Band 7——四个维度各达6.5-7，不追求单维度8+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建议用时：约90分钟（含模考）</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全真模考：完成1次完整Part 1+2+3模考，录音，按4个维度自评</a:t>
            </a:r>
          </a:p>
          <a:p>
            <a:pPr>
              <a:spcBef>
                <a:spcPts val="1300"/>
              </a:spcBef>
            </a:pPr>
            <a:r>
              <a:rPr sz="1550" b="1">
                <a:solidFill>
                  <a:srgbClr val="1E293B"/>
                </a:solidFill>
              </a:rPr>
              <a:t>作业 2　一周冲刺计划：制定考前7天每日练习计划（每天30-45分钟）</a:t>
            </a:r>
          </a:p>
          <a:p>
            <a:pPr>
              <a:spcBef>
                <a:spcPts val="1300"/>
              </a:spcBef>
            </a:pPr>
            <a:r>
              <a:rPr sz="1550" b="1">
                <a:solidFill>
                  <a:srgbClr val="1E293B"/>
                </a:solidFill>
              </a:rPr>
              <a:t>作业 3　建立个人策略手册：把L01-L10最重要的框架和词汇整理成1张A4纸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L11 · 下一阶段：阅读备考</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阅读题型系统：10种题型的识别与应对策略</a:t>
            </a:r>
          </a:p>
          <a:p>
            <a:pPr>
              <a:spcBef>
                <a:spcPts val="1000"/>
              </a:spcBef>
            </a:pPr>
            <a:r>
              <a:rPr sz="1600">
                <a:solidFill>
                  <a:srgbClr val="CFDCF2"/>
                </a:solidFill>
              </a:rPr>
              <a:t>→ 阅读技巧：Skimming/Scanning/Detailed reading何时用</a:t>
            </a:r>
          </a:p>
          <a:p>
            <a:pPr>
              <a:spcBef>
                <a:spcPts val="1000"/>
              </a:spcBef>
            </a:pPr>
            <a:r>
              <a:rPr sz="1600">
                <a:solidFill>
                  <a:srgbClr val="CFDCF2"/>
                </a:solidFill>
              </a:rPr>
              <a:t>→ 深圳学生阅读痛点：词汇量和速度的双重挑战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L01-L10全面复习与最后冲刺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Comprehensive Review &amp; Final Sprint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四维评分综合提升策略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Four-Criteria Integrated Improvement Strategy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FC流利度最终冲刺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Fluency &amp; Coherence Final Sprint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目标</a:t>
            </a:r>
          </a:p>
          <a:p>
            <a:pPr>
              <a:spcBef>
                <a:spcPts val="100"/>
              </a:spcBef>
            </a:pPr>
            <a:r>
              <a:rPr sz="1500">
                <a:solidFill>
                  <a:srgbClr val="556075"/>
                </a:solidFill>
              </a:rPr>
              <a:t>   减少um/uh至&lt;3次/分钟，使用5+种不同连接词</a:t>
            </a:r>
          </a:p>
          <a:p>
            <a:pPr>
              <a:spcBef>
                <a:spcPts val="900"/>
              </a:spcBef>
            </a:pPr>
            <a:r>
              <a:rPr sz="1800" b="1">
                <a:solidFill>
                  <a:srgbClr val="A33607"/>
                </a:solidFill>
              </a:rPr>
              <a:t>• 本周练习</a:t>
            </a:r>
          </a:p>
          <a:p>
            <a:pPr>
              <a:spcBef>
                <a:spcPts val="100"/>
              </a:spcBef>
            </a:pPr>
            <a:r>
              <a:rPr sz="1500">
                <a:solidFill>
                  <a:srgbClr val="556075"/>
                </a:solidFill>
              </a:rPr>
              <a:t>   每天录音15分钟Part 1/3，回放统计FC指标，连续3天达标为止</a:t>
            </a:r>
          </a:p>
          <a:p>
            <a:pPr>
              <a:spcBef>
                <a:spcPts val="900"/>
              </a:spcBef>
            </a:pPr>
            <a:r>
              <a:rPr sz="1800" b="1">
                <a:solidFill>
                  <a:srgbClr val="A33607"/>
                </a:solidFill>
              </a:rPr>
              <a:t>• 填充语备用清单</a:t>
            </a:r>
          </a:p>
          <a:p>
            <a:pPr>
              <a:spcBef>
                <a:spcPts val="100"/>
              </a:spcBef>
            </a:pPr>
            <a:r>
              <a:rPr sz="1500">
                <a:solidFill>
                  <a:srgbClr val="556075"/>
                </a:solidFill>
              </a:rPr>
              <a:t>   Well / I suppose / The way I see it / Speaking from experience / Come to think of it</a:t>
            </a:r>
          </a:p>
          <a:p>
            <a:pPr>
              <a:spcBef>
                <a:spcPts val="900"/>
              </a:spcBef>
            </a:pPr>
            <a:r>
              <a:rPr sz="1800" b="1">
                <a:solidFill>
                  <a:srgbClr val="A33607"/>
                </a:solidFill>
              </a:rPr>
              <a:t>• 连接词备用</a:t>
            </a:r>
          </a:p>
          <a:p>
            <a:pPr>
              <a:spcBef>
                <a:spcPts val="100"/>
              </a:spcBef>
            </a:pPr>
            <a:r>
              <a:rPr sz="1500">
                <a:solidFill>
                  <a:srgbClr val="556075"/>
                </a:solidFill>
              </a:rPr>
              <a:t>   Furthermore / That said / Take X as a case in point / Ultimately / What's more</a:t>
            </a:r>
          </a:p>
          <a:p>
            <a:pPr>
              <a:spcBef>
                <a:spcPts val="900"/>
              </a:spcBef>
            </a:pPr>
            <a:r>
              <a:rPr sz="1800" b="1">
                <a:solidFill>
                  <a:srgbClr val="A33607"/>
                </a:solidFill>
              </a:rPr>
              <a:t>• 考场应急</a:t>
            </a:r>
          </a:p>
          <a:p>
            <a:pPr>
              <a:spcBef>
                <a:spcPts val="100"/>
              </a:spcBef>
            </a:pPr>
            <a:r>
              <a:rPr sz="1500">
                <a:solidFill>
                  <a:srgbClr val="556075"/>
                </a:solidFill>
              </a:rPr>
              <a:t>   如果卡壳：Well, let me approach this from a different angle...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LR词汇最终冲刺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Lexical Resource Final Sprint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目标</a:t>
            </a:r>
          </a:p>
          <a:p>
            <a:pPr>
              <a:spcBef>
                <a:spcPts val="100"/>
              </a:spcBef>
            </a:pPr>
            <a:r>
              <a:rPr sz="1500">
                <a:solidFill>
                  <a:srgbClr val="556075"/>
                </a:solidFill>
              </a:rPr>
              <a:t>   每个答案包含3+个7分级词汇，无Band 5词汇（very+形容词）</a:t>
            </a:r>
          </a:p>
          <a:p>
            <a:pPr>
              <a:spcBef>
                <a:spcPts val="900"/>
              </a:spcBef>
            </a:pPr>
            <a:r>
              <a:rPr sz="1800" b="1">
                <a:solidFill>
                  <a:srgbClr val="A33607"/>
                </a:solidFill>
              </a:rPr>
              <a:t>• 本周练习</a:t>
            </a:r>
          </a:p>
          <a:p>
            <a:pPr>
              <a:spcBef>
                <a:spcPts val="100"/>
              </a:spcBef>
            </a:pPr>
            <a:r>
              <a:rPr sz="1500">
                <a:solidFill>
                  <a:srgbClr val="556075"/>
                </a:solidFill>
              </a:rPr>
              <a:t>   复习5大话题词库，确认每个话题可以脱口说出8个词汇</a:t>
            </a:r>
          </a:p>
          <a:p>
            <a:pPr>
              <a:spcBef>
                <a:spcPts val="900"/>
              </a:spcBef>
            </a:pPr>
            <a:r>
              <a:rPr sz="1800" b="1">
                <a:solidFill>
                  <a:srgbClr val="A33607"/>
                </a:solidFill>
              </a:rPr>
              <a:t>• 万能升级词</a:t>
            </a:r>
          </a:p>
          <a:p>
            <a:pPr>
              <a:spcBef>
                <a:spcPts val="100"/>
              </a:spcBef>
            </a:pPr>
            <a:r>
              <a:rPr sz="1500">
                <a:solidFill>
                  <a:srgbClr val="556075"/>
                </a:solidFill>
              </a:rPr>
              <a:t>   significant/undeniably/genuinely/fundamentally/arguably/increasingly</a:t>
            </a:r>
          </a:p>
          <a:p>
            <a:pPr>
              <a:spcBef>
                <a:spcPts val="900"/>
              </a:spcBef>
            </a:pPr>
            <a:r>
              <a:rPr sz="1800" b="1">
                <a:solidFill>
                  <a:srgbClr val="A33607"/>
                </a:solidFill>
              </a:rPr>
              <a:t>• 搭配检查</a:t>
            </a:r>
          </a:p>
          <a:p>
            <a:pPr>
              <a:spcBef>
                <a:spcPts val="100"/>
              </a:spcBef>
            </a:pPr>
            <a:r>
              <a:rPr sz="1500">
                <a:solidFill>
                  <a:srgbClr val="556075"/>
                </a:solidFill>
              </a:rPr>
              <a:t>   确认make/take/have/play的常见搭配——这些是高频失分点</a:t>
            </a:r>
          </a:p>
          <a:p>
            <a:pPr>
              <a:spcBef>
                <a:spcPts val="900"/>
              </a:spcBef>
            </a:pPr>
            <a:r>
              <a:rPr sz="1800" b="1">
                <a:solidFill>
                  <a:srgbClr val="A33607"/>
                </a:solidFill>
              </a:rPr>
              <a:t>• 考场应急</a:t>
            </a:r>
          </a:p>
          <a:p>
            <a:pPr>
              <a:spcBef>
                <a:spcPts val="100"/>
              </a:spcBef>
            </a:pPr>
            <a:r>
              <a:rPr sz="1500">
                <a:solidFill>
                  <a:srgbClr val="556075"/>
                </a:solidFill>
              </a:rPr>
              <a:t>   如果想不起高级词：用2个准确词代替1个高级词</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GRA语法最终冲刺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目标：每个Part 2答案包含3种以上不同句型</a:t>
            </a:r>
          </a:p>
          <a:p>
            <a:pPr>
              <a:spcBef>
                <a:spcPts val="1000"/>
              </a:spcBef>
            </a:pPr>
            <a:r>
              <a:rPr sz="1650">
                <a:solidFill>
                  <a:srgbClr val="1E293B"/>
                </a:solidFill>
              </a:rPr>
              <a:t>• 本周练习：3个Part 2题，录音后专门标注句型，确认多样性</a:t>
            </a:r>
          </a:p>
          <a:p>
            <a:pPr>
              <a:spcBef>
                <a:spcPts val="1000"/>
              </a:spcBef>
            </a:pPr>
            <a:r>
              <a:rPr sz="1650">
                <a:solidFill>
                  <a:srgbClr val="1E293B"/>
                </a:solidFill>
              </a:rPr>
              <a:t>• 必用句型清单：定语从句（who/which/where）+ 分词短语 + 名词从句（what/that）</a:t>
            </a:r>
          </a:p>
          <a:p>
            <a:pPr>
              <a:spcBef>
                <a:spcPts val="1000"/>
              </a:spcBef>
            </a:pPr>
            <a:r>
              <a:rPr sz="1650">
                <a:solidFill>
                  <a:srgbClr val="1E293B"/>
                </a:solidFill>
              </a:rPr>
              <a:t>• 加分句型：倒装（Not only...but）+ 强调句（It is...that）</a:t>
            </a:r>
          </a:p>
          <a:p>
            <a:pPr>
              <a:spcBef>
                <a:spcPts val="1000"/>
              </a:spcBef>
            </a:pPr>
            <a:r>
              <a:rPr sz="1650">
                <a:solidFill>
                  <a:srgbClr val="1E293B"/>
                </a:solidFill>
              </a:rPr>
              <a:t>• 考场应急：说简单句没关系，但每3-4句话要有1个复杂结构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PR发音最终冲刺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目标：th/v/w发音明显改善，句末降调习惯建立</a:t>
            </a:r>
          </a:p>
          <a:p>
            <a:pPr>
              <a:spcBef>
                <a:spcPts val="1000"/>
              </a:spcBef>
            </a:pPr>
            <a:r>
              <a:rPr sz="1650">
                <a:solidFill>
                  <a:srgbClr val="1E293B"/>
                </a:solidFill>
              </a:rPr>
              <a:t>• 本周练习：每天10分钟Shadowing + 5分钟困难音专项</a:t>
            </a:r>
          </a:p>
          <a:p>
            <a:pPr>
              <a:spcBef>
                <a:spcPts val="1000"/>
              </a:spcBef>
            </a:pPr>
            <a:r>
              <a:rPr sz="1650">
                <a:solidFill>
                  <a:srgbClr val="1E293B"/>
                </a:solidFill>
              </a:rPr>
              <a:t>• 最重要的一点：句末降调——掌握这一点PR立刻提升</a:t>
            </a:r>
          </a:p>
          <a:p>
            <a:pPr>
              <a:spcBef>
                <a:spcPts val="1000"/>
              </a:spcBef>
            </a:pPr>
            <a:r>
              <a:rPr sz="1650">
                <a:solidFill>
                  <a:srgbClr val="1E293B"/>
                </a:solidFill>
              </a:rPr>
              <a:t>• 考场心态：不追求完美口音，追求清晰——让考官100%听懂每个词</a:t>
            </a:r>
          </a:p>
          <a:p>
            <a:pPr>
              <a:spcBef>
                <a:spcPts val="1000"/>
              </a:spcBef>
            </a:pPr>
            <a:r>
              <a:rPr sz="1650">
                <a:solidFill>
                  <a:srgbClr val="1E293B"/>
                </a:solidFill>
              </a:rPr>
              <a:t>• 最后一天：不练新内容，只做语调练习和自信建设</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考前一周每日计划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考前7天的具体安排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考前7天：全真模考（60分钟）+ 自评（30分钟）+ 针对性练习（30分钟）
考前6天：FC专项（30分钟）+ LR词库复习（20分钟）+ Shadowing（10分钟）
考前5天：GRA句型练习（30分钟）+ Part 2计时练习（20分钟）
考前4天：PR发音（20分钟）+ 话题预测练习（30分钟）
考前3天：轻量模拟Part 1+2（30分钟）+ 词汇复习（20分钟）
考前2天：回顾核心框架（20分钟）+ 放松（散步、睡眠保证8小时）
考前1天：不练习！回顾5个话题词汇 + 早睡 + 准备好证件</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考前一周：少即是多——不要在最后几天学新内容，维护已有能力才是正确策略</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考场最后锦囊：10条口语黄金法则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L01-L10核心策略总结</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 开口&gt;完美——任何英语都比沉默好，先开口再优化
2. PEEL不忘——Part 3每题都有P/E/E/L四个部分
3. 填充语自然——Well/I suppose代替um/uh，考官不会扣分
4. 连接词多样——至少用5种不同功能，不要只用and/but/so
5. 句末降调——最简单的PR提升，陈述句末尾语调下降
6. 词汇精准——significant/undeniably代替very+形容词
7. 本地素材——Shenzhen/WeChat/tech sector等让答案有说服力
8. 时态一致——Part 2全程过去时，不要中途换现在时
9. 长度适中——Part 1：30-45秒 / Part 2：约2分钟 / Part 3：45-60秒
10. 保持镇定——考官希望你表现好，把它当成和老师的专业对话</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最后一句话：你在深圳，中国最国际化的城市——你的英语环境全国领先。相信自己！</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L10最终示范：Band 7完整模考表现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题目："Part 2: Describe an activity you enjoy doing in your spare time."</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activity that springs to mind is long-distance running — something I took up rather unexpectedly about three years ago when a colleague challenged me to enter a 10km race. What I find most compelling about running is its meditative quality: when you're running for an extended period, your mind naturally detaches from the noise of daily life — the work pressures, the social media notifications — and settles into a kind of clarity that's genuinely difficult to achieve otherwise. In Shenzhen specifically, running along the coastal paths in Dapeng or through the Bijia Mountain trails offers this astonishing combination of urban accessibility and natural beauty. What the activity has taught me, more than fitness, is the value of consistent daily effort over dramatic occasional bursts — a philosophy that, I've found, applies equally well to language learning.</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四维分析：FC（流畅，自然填充语）/ LR（compelling/meditative/detaches/clarity/philosophy）</a:t>
            </a:r>
          </a:p>
          <a:p>
            <a:pPr>
              <a:spcBef>
                <a:spcPts val="700"/>
              </a:spcBef>
            </a:pPr>
            <a:r>
              <a:rPr sz="1200">
                <a:solidFill>
                  <a:srgbClr val="1E293B"/>
                </a:solidFill>
              </a:rPr>
              <a:t>▸ GRA（定语从句×2 / 分词短语 / that从句 / 独立主格 / 名词从句What...is）</a:t>
            </a:r>
          </a:p>
          <a:p>
            <a:pPr>
              <a:spcBef>
                <a:spcPts val="700"/>
              </a:spcBef>
            </a:pPr>
            <a:r>
              <a:rPr sz="1200">
                <a:solidFill>
                  <a:srgbClr val="1E293B"/>
                </a:solidFill>
              </a:rPr>
              <a:t>▸ PR（重音在compelling/meditative/genuinely/dramatic，句末降调）</a:t>
            </a:r>
          </a:p>
          <a:p>
            <a:pPr>
              <a:spcBef>
                <a:spcPts val="700"/>
              </a:spcBef>
            </a:pPr>
            <a:r>
              <a:rPr sz="1200">
                <a:solidFill>
                  <a:srgbClr val="1E293B"/>
                </a:solidFill>
              </a:rPr>
              <a:t>▸ Band 7+特征：Shenzhen本地素材 / 哲理性收尾 / 四维平衡</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L10最终示范：Band 7 Part 3完整表现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the way people spend their leisure time will change significantly in the future?"</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it will — and in ways that are both exciting and concerning. The most significant shift I anticipate is the further integration of digital and physical experience: activities that were once purely physical — sports, socialising, travel — are increasingly being mediated by digital technology. This raises genuinely complex questions about what "authentic" leisure actually means. That said, I do think there's a counter-trend worth noting: precisely because so much of our working and social life is now digitally mediated, people may actually seek out more analogue, unplugged leisure activities as a form of contrast — hiking, pottery, reading physical books. What I find particularly interesting about Shenzhen is that it exemplifies both trends simultaneously: a city with some of China's most tech-forward leisure culture AND a growing outdoor recreation scene. I suspect the future will be similarly contradictory.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FC：I'd argue / The most significant shift / That said / What I find / I suspect——5种不同开场</a:t>
            </a:r>
          </a:p>
          <a:p>
            <a:pPr>
              <a:spcBef>
                <a:spcPts val="700"/>
              </a:spcBef>
            </a:pPr>
            <a:r>
              <a:rPr sz="1200">
                <a:solidFill>
                  <a:srgbClr val="1E293B"/>
                </a:solidFill>
              </a:rPr>
              <a:t>▸ LR：integrate/mediated/authentic/counter-trend/analogue/unplugged/exemplifies——7个7+分词汇</a:t>
            </a:r>
          </a:p>
          <a:p>
            <a:pPr>
              <a:spcBef>
                <a:spcPts val="700"/>
              </a:spcBef>
            </a:pPr>
            <a:r>
              <a:rPr sz="1200">
                <a:solidFill>
                  <a:srgbClr val="1E293B"/>
                </a:solidFill>
              </a:rPr>
              <a:t>▸ GRA：定语从句×2 / that从句×2 / 分词短语 / 名词从句 / 倒装结构</a:t>
            </a:r>
          </a:p>
          <a:p>
            <a:pPr>
              <a:spcBef>
                <a:spcPts val="700"/>
              </a:spcBef>
            </a:pPr>
            <a:r>
              <a:rPr sz="1200">
                <a:solidFill>
                  <a:srgbClr val="1E293B"/>
                </a:solidFill>
              </a:rPr>
              <a:t>▸ 思辨深度：正面+反面两种趋势，本地例子Shenzhen——Band 8级内容深度</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模考自评：Band 6 vs Band 7答案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Band 6答案特征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Band 7答案特征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think it will change. Technology will affect it."（太短，15秒）</a:t>
            </a:r>
          </a:p>
          <a:p>
            <a:pPr>
              <a:spcBef>
                <a:spcPts val="700"/>
              </a:spcBef>
            </a:pPr>
            <a:r>
              <a:rPr sz="1350">
                <a:solidFill>
                  <a:srgbClr val="C02A2A"/>
                </a:solidFill>
              </a:rPr>
              <a:t>✗ 只有立场，无PEEL展开</a:t>
            </a:r>
          </a:p>
          <a:p>
            <a:pPr>
              <a:spcBef>
                <a:spcPts val="700"/>
              </a:spcBef>
            </a:pPr>
            <a:r>
              <a:rPr sz="1350">
                <a:solidFill>
                  <a:srgbClr val="C02A2A"/>
                </a:solidFill>
              </a:rPr>
              <a:t>✗ 词汇：think/change/affect——Band 5词汇</a:t>
            </a:r>
          </a:p>
          <a:p>
            <a:pPr>
              <a:spcBef>
                <a:spcPts val="700"/>
              </a:spcBef>
            </a:pPr>
            <a:r>
              <a:rPr sz="1350">
                <a:solidFill>
                  <a:srgbClr val="C02A2A"/>
                </a:solidFill>
              </a:rPr>
              <a:t>✗ 无连接词多样性</a:t>
            </a:r>
          </a:p>
          <a:p>
            <a:pPr>
              <a:spcBef>
                <a:spcPts val="700"/>
              </a:spcBef>
            </a:pPr>
            <a:r>
              <a:rPr sz="1350">
                <a:solidFill>
                  <a:srgbClr val="C02A2A"/>
                </a:solidFill>
              </a:rPr>
              <a:t>✗ 无本地素材，无深度分析</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"I'd argue it will, and in ways both..."（60秒，有结构）</a:t>
            </a:r>
          </a:p>
          <a:p>
            <a:pPr>
              <a:spcBef>
                <a:spcPts val="700"/>
              </a:spcBef>
            </a:pPr>
            <a:r>
              <a:rPr sz="1350">
                <a:solidFill>
                  <a:srgbClr val="1B7A3D"/>
                </a:solidFill>
              </a:rPr>
              <a:t>✓ PEEL完整 + 让步 + 本地例子</a:t>
            </a:r>
          </a:p>
          <a:p>
            <a:pPr>
              <a:spcBef>
                <a:spcPts val="700"/>
              </a:spcBef>
            </a:pPr>
            <a:r>
              <a:rPr sz="1350">
                <a:solidFill>
                  <a:srgbClr val="1B7A3D"/>
                </a:solidFill>
              </a:rPr>
              <a:t>✓ 词汇：anticipate/mediated/authentic/counter-trend</a:t>
            </a:r>
          </a:p>
          <a:p>
            <a:pPr>
              <a:spcBef>
                <a:spcPts val="700"/>
              </a:spcBef>
            </a:pPr>
            <a:r>
              <a:rPr sz="1350">
                <a:solidFill>
                  <a:srgbClr val="1B7A3D"/>
                </a:solidFill>
              </a:rPr>
              <a:t>✓ 5种不同连接词：I'd argue/That said/What I find/I suspect/AND</a:t>
            </a:r>
          </a:p>
          <a:p>
            <a:pPr>
              <a:spcBef>
                <a:spcPts val="700"/>
              </a:spcBef>
            </a:pPr>
            <a:r>
              <a:rPr sz="1350">
                <a:solidFill>
                  <a:srgbClr val="1B7A3D"/>
                </a:solidFill>
              </a:rPr>
              <a:t>✓ Shenzhen本地素材 + 思辨平衡——展示高级思维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临场发挥：紧张 vs 镇定</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考场紧张的表现</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考场镇定的表现</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"Um...um...I think...um...it's...um...very good."</a:t>
            </a:r>
          </a:p>
          <a:p>
            <a:pPr>
              <a:spcBef>
                <a:spcPts val="700"/>
              </a:spcBef>
            </a:pPr>
            <a:r>
              <a:rPr sz="1350">
                <a:solidFill>
                  <a:srgbClr val="C02A2A"/>
                </a:solidFill>
              </a:rPr>
              <a:t>✗ 沉默超过5秒</a:t>
            </a:r>
          </a:p>
          <a:p>
            <a:pPr>
              <a:spcBef>
                <a:spcPts val="700"/>
              </a:spcBef>
            </a:pPr>
            <a:r>
              <a:rPr sz="1350">
                <a:solidFill>
                  <a:srgbClr val="C02A2A"/>
                </a:solidFill>
              </a:rPr>
              <a:t>✗ 自我打断："I mean, no wait, I mean..."</a:t>
            </a:r>
          </a:p>
          <a:p>
            <a:pPr>
              <a:spcBef>
                <a:spcPts val="700"/>
              </a:spcBef>
            </a:pPr>
            <a:r>
              <a:rPr sz="1350">
                <a:solidFill>
                  <a:srgbClr val="C02A2A"/>
                </a:solidFill>
              </a:rPr>
              <a:t>✗ 每句话末尾上扬↗（紧张回归中式语调）</a:t>
            </a:r>
          </a:p>
          <a:p>
            <a:pPr>
              <a:spcBef>
                <a:spcPts val="700"/>
              </a:spcBef>
            </a:pPr>
            <a:r>
              <a:rPr sz="1350">
                <a:solidFill>
                  <a:srgbClr val="C02A2A"/>
                </a:solidFill>
              </a:rPr>
              <a:t>✗ 答案太短（&lt;20秒）然后等考官追问</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"Well, the way I see it..." [开口] → 内容跟上</a:t>
            </a:r>
          </a:p>
          <a:p>
            <a:pPr>
              <a:spcBef>
                <a:spcPts val="700"/>
              </a:spcBef>
            </a:pPr>
            <a:r>
              <a:rPr sz="1350">
                <a:solidFill>
                  <a:srgbClr val="1B7A3D"/>
                </a:solidFill>
              </a:rPr>
              <a:t>✓ 最多停顿2-3秒，立刻用填充语接续</a:t>
            </a:r>
          </a:p>
          <a:p>
            <a:pPr>
              <a:spcBef>
                <a:spcPts val="700"/>
              </a:spcBef>
            </a:pPr>
            <a:r>
              <a:rPr sz="1350">
                <a:solidFill>
                  <a:srgbClr val="1B7A3D"/>
                </a:solidFill>
              </a:rPr>
              <a:t>✓ 偶有自我纠正："...I mean, what I'm trying to say is..."（流畅）</a:t>
            </a:r>
          </a:p>
          <a:p>
            <a:pPr>
              <a:spcBef>
                <a:spcPts val="700"/>
              </a:spcBef>
            </a:pPr>
            <a:r>
              <a:rPr sz="1350">
                <a:solidFill>
                  <a:srgbClr val="1B7A3D"/>
                </a:solidFill>
              </a:rPr>
              <a:t>✓ 句末降调↘（语调稳定，不受紧张影响）</a:t>
            </a:r>
          </a:p>
          <a:p>
            <a:pPr>
              <a:spcBef>
                <a:spcPts val="700"/>
              </a:spcBef>
            </a:pPr>
            <a:r>
              <a:rPr sz="1350">
                <a:solidFill>
                  <a:srgbClr val="1B7A3D"/>
                </a:solidFill>
              </a:rPr>
              <a:t>✓ 答案长度45秒+（Part 3），内容有逻辑</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考后复盘系统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考完当天</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趁记忆新鲜，写下所有问题——话题/你的答案/感觉困难的点</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考后第1-3天</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找出下次可以改进的地方：词汇用得不够好的地方 / 卡壳的话题 / 发音失误</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结果公布后</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分析4个维度的分数差异：哪个维度拉低了分数？下次针对性加强</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重考准备</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如果分数不理想：不要全面重来，找出1-2个最弱维度，针对性提升4周再考</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L01-L10回顾：关键里程碑</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L01-L02（考试框架+Part 1）</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掌握四维评分标准，Part 1用DRE框架，30-45秒，细节+地方特色</a:t>
            </a:r>
          </a:p>
        </p:txBody>
      </p:sp>
      <p:sp>
        <p:nvSpPr>
          <p:cNvPr id="13" name="Rounded Rectangle 12"/>
          <p:cNvSpPr/>
          <p:nvPr/>
        </p:nvSpPr>
        <p:spPr>
          <a:xfrm>
            <a:off x="548640" y="2231135"/>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A33607"/>
                </a:solidFill>
                <a:latin typeface="Calibri"/>
              </a:rPr>
              <a:t>L03-L05（Part 2+3）</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Part 2用1分钟关键词准备，Part 3用PEEL/PEELA框架，4大题型识别</a:t>
            </a:r>
          </a:p>
        </p:txBody>
      </p:sp>
      <p:sp>
        <p:nvSpPr>
          <p:cNvPr id="18" name="Rounded Rectangle 17"/>
          <p:cNvSpPr/>
          <p:nvPr/>
        </p:nvSpPr>
        <p:spPr>
          <a:xfrm>
            <a:off x="548640" y="3182111"/>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A33607"/>
                </a:solidFill>
                <a:latin typeface="Calibri"/>
              </a:rPr>
              <a:t>L06-L07（词汇+流利度）</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话题词汇替换系统，5大话题词库，7种连接词，填充语代替um/uh</a:t>
            </a:r>
          </a:p>
        </p:txBody>
      </p:sp>
      <p:sp>
        <p:nvSpPr>
          <p:cNvPr id="23" name="Rounded Rectangle 22"/>
          <p:cNvSpPr/>
          <p:nvPr/>
        </p:nvSpPr>
        <p:spPr>
          <a:xfrm>
            <a:off x="548640" y="4133087"/>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A33607"/>
                </a:solidFill>
                <a:latin typeface="Calibri"/>
              </a:rPr>
              <a:t>L08-L09（语法+发音）</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复合句3类，时态一致，th/v/w发音，句末降调，Shadowing训练</a:t>
            </a:r>
          </a:p>
        </p:txBody>
      </p:sp>
      <p:sp>
        <p:nvSpPr>
          <p:cNvPr id="28" name="Rounded Rectangle 27"/>
          <p:cNvSpPr/>
          <p:nvPr/>
        </p:nvSpPr>
        <p:spPr>
          <a:xfrm>
            <a:off x="548640" y="5084063"/>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A33607"/>
                </a:solidFill>
                <a:latin typeface="Calibri"/>
              </a:rPr>
              <a:t>L10（模考冲刺）</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全真模考+自评，考场流程熟悉，临场策略，考后复盘系统</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vs Band 7：4维对比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Band 6水平（需要提升）</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Band 7水平（目标）</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FC：经常用um/uh，连接词只有and/but/so</a:t>
            </a:r>
          </a:p>
          <a:p>
            <a:pPr>
              <a:spcBef>
                <a:spcPts val="700"/>
              </a:spcBef>
            </a:pPr>
            <a:r>
              <a:rPr sz="1350">
                <a:solidFill>
                  <a:srgbClr val="C02A2A"/>
                </a:solidFill>
              </a:rPr>
              <a:t>✗ LR：good/bad/very重复出现，无话题专有词汇</a:t>
            </a:r>
          </a:p>
          <a:p>
            <a:pPr>
              <a:spcBef>
                <a:spcPts val="700"/>
              </a:spcBef>
            </a:pPr>
            <a:r>
              <a:rPr sz="1350">
                <a:solidFill>
                  <a:srgbClr val="C02A2A"/>
                </a:solidFill>
              </a:rPr>
              <a:t>✗ GRA：全是简单句，偶尔有从句但有错误</a:t>
            </a:r>
          </a:p>
          <a:p>
            <a:pPr>
              <a:spcBef>
                <a:spcPts val="700"/>
              </a:spcBef>
            </a:pPr>
            <a:r>
              <a:rPr sz="1350">
                <a:solidFill>
                  <a:srgbClr val="C02A2A"/>
                </a:solidFill>
              </a:rPr>
              <a:t>✗ PR：th发成/s/，每句末上扬，重音不准</a:t>
            </a:r>
          </a:p>
          <a:p>
            <a:pPr>
              <a:spcBef>
                <a:spcPts val="700"/>
              </a:spcBef>
            </a:pPr>
            <a:r>
              <a:rPr sz="1350">
                <a:solidFill>
                  <a:srgbClr val="C02A2A"/>
                </a:solidFill>
              </a:rPr>
              <a:t>✗ 总体：可以理解，但缺乏深度和多样性</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FC：Well/I suppose/That said等自然填充，5种连接词/答案</a:t>
            </a:r>
          </a:p>
          <a:p>
            <a:pPr>
              <a:spcBef>
                <a:spcPts val="700"/>
              </a:spcBef>
            </a:pPr>
            <a:r>
              <a:rPr sz="1350">
                <a:solidFill>
                  <a:srgbClr val="1B7A3D"/>
                </a:solidFill>
              </a:rPr>
              <a:t>✓ LR：significant/undeniably/genuinely，话题词汇人均3+</a:t>
            </a:r>
          </a:p>
          <a:p>
            <a:pPr>
              <a:spcBef>
                <a:spcPts val="700"/>
              </a:spcBef>
            </a:pPr>
            <a:r>
              <a:rPr sz="1350">
                <a:solidFill>
                  <a:srgbClr val="1B7A3D"/>
                </a:solidFill>
              </a:rPr>
              <a:t>✓ GRA：定语从句+分词短语+名词从句，时态一致</a:t>
            </a:r>
          </a:p>
          <a:p>
            <a:pPr>
              <a:spcBef>
                <a:spcPts val="700"/>
              </a:spcBef>
            </a:pPr>
            <a:r>
              <a:rPr sz="1350">
                <a:solidFill>
                  <a:srgbClr val="1B7A3D"/>
                </a:solidFill>
              </a:rPr>
              <a:t>✓ PR：th基本正确，句末稳定降调，重音自然</a:t>
            </a:r>
          </a:p>
          <a:p>
            <a:pPr>
              <a:spcBef>
                <a:spcPts val="700"/>
              </a:spcBef>
            </a:pPr>
            <a:r>
              <a:rPr sz="1350">
                <a:solidFill>
                  <a:srgbClr val="1B7A3D"/>
                </a:solidFill>
              </a:rPr>
              <a:t>✓ 总体：流畅、深度、多样——考官听起来轻松</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L10终极示范：4维完美平衡的答案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题目："What do you think is the most important quality for a good leader?"
四维综合展示</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[FC开场] the most essential quality is what I'd call [LR精准] "adaptive empathy" — the capacity to genuinely [LR加强词] understand different perspectives while simultaneously [GRA连接词] maintaining the decisiveness that leadership demands. What I find most compelling [GRA名词从句/LR词汇] about this quality is that it's paradoxical: true empathy, far from undermining [LR搭配] authority, actually enhances it — because people are far more willing to follow [GRA比较结构] someone who genuinely [LR] understands their concerns. That said [FC让步], I do acknowledge that [FC连接词] this quality is genuinely rare — which is perhaps [PR/LR] why truly exceptional [LR] leaders are so uncommon [LR]. In Shenzhen's tech ecosystem [本地素材], I've observed that the leaders who inspire the most loyalty [GRA定语从句] are precisely those who combine vision with human sensitivity.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FC：I'd argue/What I find/That said/I do acknowledge——4种填充/连接</a:t>
            </a:r>
          </a:p>
          <a:p>
            <a:pPr>
              <a:spcBef>
                <a:spcPts val="700"/>
              </a:spcBef>
            </a:pPr>
            <a:r>
              <a:rPr sz="1200">
                <a:solidFill>
                  <a:srgbClr val="1E293B"/>
                </a:solidFill>
              </a:rPr>
              <a:t>▸ LR：adaptive empathy/genuinely/paradoxical/undermining/exceptional——5个7分词汇</a:t>
            </a:r>
          </a:p>
          <a:p>
            <a:pPr>
              <a:spcBef>
                <a:spcPts val="700"/>
              </a:spcBef>
            </a:pPr>
            <a:r>
              <a:rPr sz="1200">
                <a:solidFill>
                  <a:srgbClr val="1E293B"/>
                </a:solidFill>
              </a:rPr>
              <a:t>▸ GRA：名词从句/比较结构/定语从句/让步状语——4种句型</a:t>
            </a:r>
          </a:p>
          <a:p>
            <a:pPr>
              <a:spcBef>
                <a:spcPts val="700"/>
              </a:spcBef>
            </a:pPr>
            <a:r>
              <a:rPr sz="1200">
                <a:solidFill>
                  <a:srgbClr val="1E293B"/>
                </a:solidFill>
              </a:rPr>
              <a:t>▸ PR（说出时）：empathy/simultaneously/genuinely/exceptional——注意重音</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考前心态：焦虑 vs 准备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考前焦虑的表现</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正确考前心态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"我英语太差了，肯定不行"——自我否定</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"我已经系统训练了L01-L10——我有准备"——事实陈述</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考前最后5分钟准备清单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进入考场前，在等候区快速过一遍</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"Part 1 开场词：Well, to be honest... / I'd say..."——在心里说一遍</a:t>
            </a:r>
          </a:p>
          <a:p>
            <a:pPr>
              <a:spcBef>
                <a:spcPts val="1100"/>
              </a:spcBef>
            </a:pPr>
            <a:r>
              <a:rPr sz="1500">
                <a:solidFill>
                  <a:srgbClr val="1E293B"/>
                </a:solidFill>
              </a:rPr>
              <a:t>▢ "Part 2 开场：The [topic] that springs to mind is..."——在心里说一遍</a:t>
            </a:r>
          </a:p>
          <a:p>
            <a:pPr>
              <a:spcBef>
                <a:spcPts val="1100"/>
              </a:spcBef>
            </a:pPr>
            <a:r>
              <a:rPr sz="1500">
                <a:solidFill>
                  <a:srgbClr val="1E293B"/>
                </a:solidFill>
              </a:rPr>
              <a:t>▢ "Part 3 开场：I'd argue that... / The way I see it..."——在心里说一遍</a:t>
            </a:r>
          </a:p>
          <a:p>
            <a:pPr>
              <a:spcBef>
                <a:spcPts val="1100"/>
              </a:spcBef>
            </a:pPr>
            <a:r>
              <a:rPr sz="1500">
                <a:solidFill>
                  <a:srgbClr val="1E293B"/>
                </a:solidFill>
              </a:rPr>
              <a:t>▢ "5个话题词汇：教育/科技/环境/社会/文化各想2个词"——确认词汇激活</a:t>
            </a:r>
          </a:p>
          <a:p>
            <a:pPr>
              <a:spcBef>
                <a:spcPts val="1100"/>
              </a:spcBef>
            </a:pPr>
            <a:r>
              <a:rPr sz="1500">
                <a:solidFill>
                  <a:srgbClr val="1E293B"/>
                </a:solidFill>
              </a:rPr>
              <a:t>▢ "深呼吸：吸4秒/屏4秒/呼4秒"——激活镇定状态，准备发挥最佳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模考自评：4维评分表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FC流利度 + LR词汇</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FC目标</a:t>
            </a:r>
          </a:p>
          <a:p>
            <a:pPr>
              <a:spcBef>
                <a:spcPts val="100"/>
              </a:spcBef>
            </a:pPr>
            <a:r>
              <a:rPr sz="1350">
                <a:solidFill>
                  <a:srgbClr val="556075"/>
                </a:solidFill>
              </a:rPr>
              <a:t>   无3秒+停顿 / 连接词5+种 / 填充语自然不重复</a:t>
            </a:r>
          </a:p>
          <a:p>
            <a:pPr>
              <a:spcBef>
                <a:spcPts val="700"/>
              </a:spcBef>
            </a:pPr>
            <a:r>
              <a:rPr sz="1650" b="1">
                <a:solidFill>
                  <a:srgbClr val="A33607"/>
                </a:solidFill>
              </a:rPr>
              <a:t>• FC检查</a:t>
            </a:r>
          </a:p>
          <a:p>
            <a:pPr>
              <a:spcBef>
                <a:spcPts val="100"/>
              </a:spcBef>
            </a:pPr>
            <a:r>
              <a:rPr sz="1350">
                <a:solidFill>
                  <a:srgbClr val="556075"/>
                </a:solidFill>
              </a:rPr>
              <a:t>   回放录音：数um次数 / 数连接词种类</a:t>
            </a:r>
          </a:p>
          <a:p>
            <a:pPr>
              <a:spcBef>
                <a:spcPts val="700"/>
              </a:spcBef>
            </a:pPr>
            <a:r>
              <a:rPr sz="1650" b="1">
                <a:solidFill>
                  <a:srgbClr val="A33607"/>
                </a:solidFill>
              </a:rPr>
              <a:t>• LR目标</a:t>
            </a:r>
          </a:p>
          <a:p>
            <a:pPr>
              <a:spcBef>
                <a:spcPts val="100"/>
              </a:spcBef>
            </a:pPr>
            <a:r>
              <a:rPr sz="1350">
                <a:solidFill>
                  <a:srgbClr val="556075"/>
                </a:solidFill>
              </a:rPr>
              <a:t>   每答案3+个7分词汇 / 无very+形容词</a:t>
            </a:r>
          </a:p>
          <a:p>
            <a:pPr>
              <a:spcBef>
                <a:spcPts val="700"/>
              </a:spcBef>
            </a:pPr>
            <a:r>
              <a:rPr sz="1650" b="1">
                <a:solidFill>
                  <a:srgbClr val="A33607"/>
                </a:solidFill>
              </a:rPr>
              <a:t>• LR检查</a:t>
            </a:r>
          </a:p>
          <a:p>
            <a:pPr>
              <a:spcBef>
                <a:spcPts val="100"/>
              </a:spcBef>
            </a:pPr>
            <a:r>
              <a:rPr sz="1350">
                <a:solidFill>
                  <a:srgbClr val="556075"/>
                </a:solidFill>
              </a:rPr>
              <a:t>   回放录音：找出用了几个高级词汇</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GRA语法 + PR发音</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GRA目标</a:t>
            </a:r>
          </a:p>
          <a:p>
            <a:pPr>
              <a:spcBef>
                <a:spcPts val="100"/>
              </a:spcBef>
            </a:pPr>
            <a:r>
              <a:rPr sz="1350">
                <a:solidFill>
                  <a:srgbClr val="556075"/>
                </a:solidFill>
              </a:rPr>
              <a:t>   Part 2含3+种句型 / 时态一致</a:t>
            </a:r>
          </a:p>
          <a:p>
            <a:pPr>
              <a:spcBef>
                <a:spcPts val="700"/>
              </a:spcBef>
            </a:pPr>
            <a:r>
              <a:rPr sz="1650" b="1">
                <a:solidFill>
                  <a:srgbClr val="A33607"/>
                </a:solidFill>
              </a:rPr>
              <a:t>• GRA检查</a:t>
            </a:r>
          </a:p>
          <a:p>
            <a:pPr>
              <a:spcBef>
                <a:spcPts val="100"/>
              </a:spcBef>
            </a:pPr>
            <a:r>
              <a:rPr sz="1350">
                <a:solidFill>
                  <a:srgbClr val="556075"/>
                </a:solidFill>
              </a:rPr>
              <a:t>   回放录音：标注所有句型，数多样性</a:t>
            </a:r>
          </a:p>
          <a:p>
            <a:pPr>
              <a:spcBef>
                <a:spcPts val="700"/>
              </a:spcBef>
            </a:pPr>
            <a:r>
              <a:rPr sz="1650" b="1">
                <a:solidFill>
                  <a:srgbClr val="A33607"/>
                </a:solidFill>
              </a:rPr>
              <a:t>• PR目标</a:t>
            </a:r>
          </a:p>
          <a:p>
            <a:pPr>
              <a:spcBef>
                <a:spcPts val="100"/>
              </a:spcBef>
            </a:pPr>
            <a:r>
              <a:rPr sz="1350">
                <a:solidFill>
                  <a:srgbClr val="556075"/>
                </a:solidFill>
              </a:rPr>
              <a:t>   th/v/w基本正确 / 句末降调习惯</a:t>
            </a:r>
          </a:p>
          <a:p>
            <a:pPr>
              <a:spcBef>
                <a:spcPts val="700"/>
              </a:spcBef>
            </a:pPr>
            <a:r>
              <a:rPr sz="1650" b="1">
                <a:solidFill>
                  <a:srgbClr val="A33607"/>
                </a:solidFill>
              </a:rPr>
              <a:t>• PR检查</a:t>
            </a:r>
          </a:p>
          <a:p>
            <a:pPr>
              <a:spcBef>
                <a:spcPts val="100"/>
              </a:spcBef>
            </a:pPr>
            <a:r>
              <a:rPr sz="1350">
                <a:solidFill>
                  <a:srgbClr val="556075"/>
                </a:solidFill>
              </a:rPr>
              <a:t>   回放录音：专门听句末语调 / th/v/w发音</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L10考场急救词汇速查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听不清题目</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Sorry, could you repeat that? / Could you rephrase the question?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卡壳时</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Well, let me approach this from a different angle... / That's actually...</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自我纠正</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I mean... / What I'm trying to say is... / Or rather...</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争取时间</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That's quite a thought-provoking question. I suppose...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Part 2开场</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The [topic] that springs to mind is... / I'd like to talk about...</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Part 3开场</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I'd argue that... / The way I see it... / My view, for what it's worth...</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Part 3让步</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That said, I do acknowledge... / Having said that...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