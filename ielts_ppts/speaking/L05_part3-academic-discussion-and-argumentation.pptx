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8C1D"/>
                </a:solidFill>
                <a:latin typeface="Calibri"/>
              </a:rPr>
              <a:t>L05</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8C1D"/>
                </a:solidFill>
                <a:latin typeface="Calibri"/>
              </a:rPr>
              <a:t>IELTS Speaking 口语</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Part 3
学术讨论与论点</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Part 3: Academic Discussion &amp; Argumentation</a:t>
            </a:r>
          </a:p>
        </p:txBody>
      </p:sp>
      <p:sp>
        <p:nvSpPr>
          <p:cNvPr id="10" name="Rounded Rectangle 9"/>
          <p:cNvSpPr/>
          <p:nvPr/>
        </p:nvSpPr>
        <p:spPr>
          <a:xfrm>
            <a:off x="777240" y="5669280"/>
            <a:ext cx="3840480" cy="54864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5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ounded Rectangle 6"/>
          <p:cNvSpPr/>
          <p:nvPr/>
        </p:nvSpPr>
        <p:spPr>
          <a:xfrm>
            <a:off x="54864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Part 3结构与评分</a:t>
            </a:r>
          </a:p>
        </p:txBody>
      </p:sp>
      <p:sp>
        <p:nvSpPr>
          <p:cNvPr id="10" name="Rounded Rectangle 9"/>
          <p:cNvSpPr/>
          <p:nvPr/>
        </p:nvSpPr>
        <p:spPr>
          <a:xfrm>
            <a:off x="54864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PEEL论点框架</a:t>
            </a:r>
          </a:p>
        </p:txBody>
      </p:sp>
      <p:sp>
        <p:nvSpPr>
          <p:cNvPr id="13" name="Rounded Rectangle 12"/>
          <p:cNvSpPr/>
          <p:nvPr/>
        </p:nvSpPr>
        <p:spPr>
          <a:xfrm>
            <a:off x="54864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观点类题型</a:t>
            </a:r>
          </a:p>
        </p:txBody>
      </p:sp>
      <p:sp>
        <p:nvSpPr>
          <p:cNvPr id="16" name="Rounded Rectangle 15"/>
          <p:cNvSpPr/>
          <p:nvPr/>
        </p:nvSpPr>
        <p:spPr>
          <a:xfrm>
            <a:off x="548640" y="3849624"/>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比较与原因类题型</a:t>
            </a:r>
          </a:p>
        </p:txBody>
      </p:sp>
      <p:sp>
        <p:nvSpPr>
          <p:cNvPr id="19" name="Rounded Rectangle 18"/>
          <p:cNvSpPr/>
          <p:nvPr/>
        </p:nvSpPr>
        <p:spPr>
          <a:xfrm>
            <a:off x="640080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学术讨论词汇</a:t>
            </a:r>
          </a:p>
        </p:txBody>
      </p:sp>
      <p:sp>
        <p:nvSpPr>
          <p:cNvPr id="22" name="Rounded Rectangle 21"/>
          <p:cNvSpPr/>
          <p:nvPr/>
        </p:nvSpPr>
        <p:spPr>
          <a:xfrm>
            <a:off x="640080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论点构建方法</a:t>
            </a:r>
          </a:p>
        </p:txBody>
      </p:sp>
      <p:sp>
        <p:nvSpPr>
          <p:cNvPr id="25" name="Rounded Rectangle 24"/>
          <p:cNvSpPr/>
          <p:nvPr/>
        </p:nvSpPr>
        <p:spPr>
          <a:xfrm>
            <a:off x="640080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L04回顾：Part 2叙述核心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经历类</a:t>
            </a:r>
          </a:p>
          <a:p>
            <a:pPr>
              <a:spcBef>
                <a:spcPts val="100"/>
              </a:spcBef>
            </a:pPr>
            <a:r>
              <a:rPr sz="1550">
                <a:solidFill>
                  <a:srgbClr val="556075"/>
                </a:solidFill>
              </a:rPr>
              <a:t>   STAR框架：背景→困难→行动→结果+反思</a:t>
            </a:r>
          </a:p>
          <a:p>
            <a:pPr>
              <a:spcBef>
                <a:spcPts val="1000"/>
              </a:spcBef>
            </a:pPr>
            <a:r>
              <a:rPr sz="1850" b="1">
                <a:solidFill>
                  <a:srgbClr val="A33607"/>
                </a:solidFill>
              </a:rPr>
              <a:t>• 物品类</a:t>
            </a:r>
          </a:p>
          <a:p>
            <a:pPr>
              <a:spcBef>
                <a:spcPts val="100"/>
              </a:spcBef>
            </a:pPr>
            <a:r>
              <a:rPr sz="1550">
                <a:solidFill>
                  <a:srgbClr val="556075"/>
                </a:solidFill>
              </a:rPr>
              <a:t>   功能维度+情感意义双层描述</a:t>
            </a:r>
          </a:p>
          <a:p>
            <a:pPr>
              <a:spcBef>
                <a:spcPts val="1000"/>
              </a:spcBef>
            </a:pPr>
            <a:r>
              <a:rPr sz="1850" b="1">
                <a:solidFill>
                  <a:srgbClr val="A33607"/>
                </a:solidFill>
              </a:rPr>
              <a:t>• 活动类</a:t>
            </a:r>
          </a:p>
          <a:p>
            <a:pPr>
              <a:spcBef>
                <a:spcPts val="100"/>
              </a:spcBef>
            </a:pPr>
            <a:r>
              <a:rPr sz="1550">
                <a:solidFill>
                  <a:srgbClr val="556075"/>
                </a:solidFill>
              </a:rPr>
              <a:t>   过程词汇+高峰时刻+两层Why</a:t>
            </a:r>
          </a:p>
          <a:p>
            <a:pPr>
              <a:spcBef>
                <a:spcPts val="1000"/>
              </a:spcBef>
            </a:pPr>
            <a:r>
              <a:rPr sz="1850" b="1">
                <a:solidFill>
                  <a:srgbClr val="A33607"/>
                </a:solidFill>
              </a:rPr>
              <a:t>• 万能素材</a:t>
            </a:r>
          </a:p>
          <a:p>
            <a:pPr>
              <a:spcBef>
                <a:spcPts val="100"/>
              </a:spcBef>
            </a:pPr>
            <a:r>
              <a:rPr sz="1550">
                <a:solidFill>
                  <a:srgbClr val="556075"/>
                </a:solidFill>
              </a:rPr>
              <a:t>   10个素材覆盖90%题目，考前熟练准备</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深圳学生注意：本节课：Part 3学术讨论——如何用PEEL框架构建有深度的论点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F28C1D"/>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理解Part 3的性质和与Part 1/2的评分差异</a:t>
            </a:r>
          </a:p>
          <a:p>
            <a:pPr>
              <a:spcBef>
                <a:spcPts val="1400"/>
              </a:spcBef>
            </a:pPr>
            <a:r>
              <a:rPr sz="1800">
                <a:solidFill>
                  <a:srgbClr val="1E293B"/>
                </a:solidFill>
              </a:rPr>
              <a:t>✦  掌握PEEL论点框架，每题能构建45-60秒的有深度答案</a:t>
            </a:r>
          </a:p>
          <a:p>
            <a:pPr>
              <a:spcBef>
                <a:spcPts val="1400"/>
              </a:spcBef>
            </a:pPr>
            <a:r>
              <a:rPr sz="1800">
                <a:solidFill>
                  <a:srgbClr val="1E293B"/>
                </a:solidFill>
              </a:rPr>
              <a:t>✦  能回答观点类、原因类、比较类三大题型</a:t>
            </a:r>
          </a:p>
          <a:p>
            <a:pPr>
              <a:spcBef>
                <a:spcPts val="1400"/>
              </a:spcBef>
            </a:pPr>
            <a:r>
              <a:rPr sz="1800">
                <a:solidFill>
                  <a:srgbClr val="1E293B"/>
                </a:solidFill>
              </a:rPr>
              <a:t>✦  建立5大核心话题（教育/科技/环境/社会/文化）的答题素材库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Part 3的三大失分陷阱</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答案太短：只说一句观点就停——Part 3每题需要45-60秒，短答案直接拖累CC</a:t>
            </a:r>
          </a:p>
          <a:p>
            <a:pPr>
              <a:spcBef>
                <a:spcPts val="800"/>
              </a:spcBef>
            </a:pPr>
            <a:r>
              <a:rPr sz="1400">
                <a:solidFill>
                  <a:srgbClr val="C02A2A"/>
                </a:solidFill>
              </a:rPr>
              <a:t>✗ 答案没深度：只说"I think it's important because it's good"——观点、理由、例子都没有</a:t>
            </a:r>
          </a:p>
          <a:p>
            <a:pPr>
              <a:spcBef>
                <a:spcPts val="800"/>
              </a:spcBef>
            </a:pPr>
            <a:r>
              <a:rPr sz="1400">
                <a:solidFill>
                  <a:srgbClr val="C02A2A"/>
                </a:solidFill>
              </a:rPr>
              <a:t>✗ 只说一方面：Part 3问题往往复杂，只给一个简单立场，没有对比/让步——LR和GRA都损失</a:t>
            </a:r>
          </a:p>
        </p:txBody>
      </p:sp>
      <p:sp>
        <p:nvSpPr>
          <p:cNvPr id="8" name="Rectangle 7"/>
          <p:cNvSpPr/>
          <p:nvPr/>
        </p:nvSpPr>
        <p:spPr>
          <a:xfrm>
            <a:off x="6108192" y="1097280"/>
            <a:ext cx="36576" cy="5212080"/>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PEEL框架：每题有结构——Point→Explain→Example→Link back，自然达到45-60秒</a:t>
            </a:r>
          </a:p>
          <a:p>
            <a:pPr>
              <a:spcBef>
                <a:spcPts val="800"/>
              </a:spcBef>
            </a:pPr>
            <a:r>
              <a:rPr sz="1400">
                <a:solidFill>
                  <a:srgbClr val="1B7A3D"/>
                </a:solidFill>
              </a:rPr>
              <a:t>✓ 双层论点：先说主要观点+理由，再加让步/对比："That said, there are those who argue..."</a:t>
            </a:r>
          </a:p>
          <a:p>
            <a:pPr>
              <a:spcBef>
                <a:spcPts val="800"/>
              </a:spcBef>
            </a:pPr>
            <a:r>
              <a:rPr sz="1400">
                <a:solidFill>
                  <a:srgbClr val="1B7A3D"/>
                </a:solidFill>
              </a:rPr>
              <a:t>✓ 话题素材库：每个话题准备2个观点+2个例子，考场不用临时想内容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3结构与评分要点</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3 Structure &amp; Scoring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3的性质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与Part 1/2的根本区别</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话题层次</a:t>
            </a:r>
          </a:p>
          <a:p>
            <a:pPr>
              <a:spcBef>
                <a:spcPts val="100"/>
              </a:spcBef>
            </a:pPr>
            <a:r>
              <a:rPr sz="1500">
                <a:solidFill>
                  <a:srgbClr val="556075"/>
                </a:solidFill>
              </a:rPr>
              <a:t>   Part 3话题比Part 2更抽象：从个人经历→社会现象→哲学问题</a:t>
            </a:r>
          </a:p>
          <a:p>
            <a:pPr>
              <a:spcBef>
                <a:spcPts val="900"/>
              </a:spcBef>
            </a:pPr>
            <a:r>
              <a:rPr sz="1800" b="1">
                <a:solidFill>
                  <a:srgbClr val="A33607"/>
                </a:solidFill>
              </a:rPr>
              <a:t>• 互动方式</a:t>
            </a:r>
          </a:p>
          <a:p>
            <a:pPr>
              <a:spcBef>
                <a:spcPts val="100"/>
              </a:spcBef>
            </a:pPr>
            <a:r>
              <a:rPr sz="1500">
                <a:solidFill>
                  <a:srgbClr val="556075"/>
                </a:solidFill>
              </a:rPr>
              <a:t>   不是问答而是讨论：考官可能追问/反驳/要求举例</a:t>
            </a:r>
          </a:p>
          <a:p>
            <a:pPr>
              <a:spcBef>
                <a:spcPts val="900"/>
              </a:spcBef>
            </a:pPr>
            <a:r>
              <a:rPr sz="1800" b="1">
                <a:solidFill>
                  <a:srgbClr val="A33607"/>
                </a:solidFill>
              </a:rPr>
              <a:t>• 答案长度</a:t>
            </a:r>
          </a:p>
          <a:p>
            <a:pPr>
              <a:spcBef>
                <a:spcPts val="100"/>
              </a:spcBef>
            </a:pPr>
            <a:r>
              <a:rPr sz="1500">
                <a:solidFill>
                  <a:srgbClr val="556075"/>
                </a:solidFill>
              </a:rPr>
              <a:t>   每题45-60秒，比Part 1长约50%——需要更多内容</a:t>
            </a:r>
          </a:p>
          <a:p>
            <a:pPr>
              <a:spcBef>
                <a:spcPts val="900"/>
              </a:spcBef>
            </a:pPr>
            <a:r>
              <a:rPr sz="1800" b="1">
                <a:solidFill>
                  <a:srgbClr val="A33607"/>
                </a:solidFill>
              </a:rPr>
              <a:t>• 评分重点</a:t>
            </a:r>
          </a:p>
          <a:p>
            <a:pPr>
              <a:spcBef>
                <a:spcPts val="100"/>
              </a:spcBef>
            </a:pPr>
            <a:r>
              <a:rPr sz="1500">
                <a:solidFill>
                  <a:srgbClr val="556075"/>
                </a:solidFill>
              </a:rPr>
              <a:t>   LR和GRA的权重更高：词汇范围和语法多样性在Part 3最突出</a:t>
            </a:r>
          </a:p>
          <a:p>
            <a:pPr>
              <a:spcBef>
                <a:spcPts val="900"/>
              </a:spcBef>
            </a:pPr>
            <a:r>
              <a:rPr sz="1800" b="1">
                <a:solidFill>
                  <a:srgbClr val="A33607"/>
                </a:solidFill>
              </a:rPr>
              <a:t>• 深圳学生问题</a:t>
            </a:r>
          </a:p>
          <a:p>
            <a:pPr>
              <a:spcBef>
                <a:spcPts val="100"/>
              </a:spcBef>
            </a:pPr>
            <a:r>
              <a:rPr sz="1500">
                <a:solidFill>
                  <a:srgbClr val="556075"/>
                </a:solidFill>
              </a:rPr>
              <a:t>   Part 3问题超出了个人经历范围，容易"不知道说什么"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3四大题型分类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覆盖约80%的Part 3题目</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观点类</a:t>
            </a:r>
          </a:p>
          <a:p>
            <a:pPr>
              <a:spcBef>
                <a:spcPts val="100"/>
              </a:spcBef>
            </a:pPr>
            <a:r>
              <a:rPr sz="1500">
                <a:solidFill>
                  <a:srgbClr val="556075"/>
                </a:solidFill>
              </a:rPr>
              <a:t>   Do you think...? / Is it a good idea to...? / Should...?——表达立场+论证</a:t>
            </a:r>
          </a:p>
          <a:p>
            <a:pPr>
              <a:spcBef>
                <a:spcPts val="900"/>
              </a:spcBef>
            </a:pPr>
            <a:r>
              <a:rPr sz="1800" b="1">
                <a:solidFill>
                  <a:srgbClr val="A33607"/>
                </a:solidFill>
              </a:rPr>
              <a:t>• 原因类</a:t>
            </a:r>
          </a:p>
          <a:p>
            <a:pPr>
              <a:spcBef>
                <a:spcPts val="100"/>
              </a:spcBef>
            </a:pPr>
            <a:r>
              <a:rPr sz="1500">
                <a:solidFill>
                  <a:srgbClr val="556075"/>
                </a:solidFill>
              </a:rPr>
              <a:t>   Why do...? / What are the reasons for...?——分析原因，给2-3个</a:t>
            </a:r>
          </a:p>
          <a:p>
            <a:pPr>
              <a:spcBef>
                <a:spcPts val="900"/>
              </a:spcBef>
            </a:pPr>
            <a:r>
              <a:rPr sz="1800" b="1">
                <a:solidFill>
                  <a:srgbClr val="A33607"/>
                </a:solidFill>
              </a:rPr>
              <a:t>• 比较类</a:t>
            </a:r>
          </a:p>
          <a:p>
            <a:pPr>
              <a:spcBef>
                <a:spcPts val="100"/>
              </a:spcBef>
            </a:pPr>
            <a:r>
              <a:rPr sz="1500">
                <a:solidFill>
                  <a:srgbClr val="556075"/>
                </a:solidFill>
              </a:rPr>
              <a:t>   How has X changed? / What's the difference between X and Y?——对比分析</a:t>
            </a:r>
          </a:p>
          <a:p>
            <a:pPr>
              <a:spcBef>
                <a:spcPts val="900"/>
              </a:spcBef>
            </a:pPr>
            <a:r>
              <a:rPr sz="1800" b="1">
                <a:solidFill>
                  <a:srgbClr val="A33607"/>
                </a:solidFill>
              </a:rPr>
              <a:t>• 预测类</a:t>
            </a:r>
          </a:p>
          <a:p>
            <a:pPr>
              <a:spcBef>
                <a:spcPts val="100"/>
              </a:spcBef>
            </a:pPr>
            <a:r>
              <a:rPr sz="1500">
                <a:solidFill>
                  <a:srgbClr val="556075"/>
                </a:solidFill>
              </a:rPr>
              <a:t>   What do you think will happen to...? / How might X affect Y?——未来推断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Part 3与Part 1的答题差异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Part 1答案</a:t>
            </a:r>
          </a:p>
          <a:p>
            <a:pPr>
              <a:spcBef>
                <a:spcPts val="100"/>
              </a:spcBef>
            </a:pPr>
            <a:r>
              <a:rPr sz="1550">
                <a:solidFill>
                  <a:srgbClr val="556075"/>
                </a:solidFill>
              </a:rPr>
              <a:t>   30-45秒，DRE框架，个人经历+感受</a:t>
            </a:r>
          </a:p>
          <a:p>
            <a:pPr>
              <a:spcBef>
                <a:spcPts val="1000"/>
              </a:spcBef>
            </a:pPr>
            <a:r>
              <a:rPr sz="1850" b="1">
                <a:solidFill>
                  <a:srgbClr val="A33607"/>
                </a:solidFill>
              </a:rPr>
              <a:t>• Part 3答案</a:t>
            </a:r>
          </a:p>
          <a:p>
            <a:pPr>
              <a:spcBef>
                <a:spcPts val="100"/>
              </a:spcBef>
            </a:pPr>
            <a:r>
              <a:rPr sz="1550">
                <a:solidFill>
                  <a:srgbClr val="556075"/>
                </a:solidFill>
              </a:rPr>
              <a:t>   45-60秒，PEEL框架，社会观点+论证+例子</a:t>
            </a:r>
          </a:p>
          <a:p>
            <a:pPr>
              <a:spcBef>
                <a:spcPts val="1000"/>
              </a:spcBef>
            </a:pPr>
            <a:r>
              <a:rPr sz="1850" b="1">
                <a:solidFill>
                  <a:srgbClr val="A33607"/>
                </a:solidFill>
              </a:rPr>
              <a:t>• 词汇差异</a:t>
            </a:r>
          </a:p>
          <a:p>
            <a:pPr>
              <a:spcBef>
                <a:spcPts val="100"/>
              </a:spcBef>
            </a:pPr>
            <a:r>
              <a:rPr sz="1550">
                <a:solidFill>
                  <a:srgbClr val="556075"/>
                </a:solidFill>
              </a:rPr>
              <a:t>   Part 1：个人词汇（I enjoy/I find it relaxing）</a:t>
            </a:r>
          </a:p>
          <a:p>
            <a:pPr>
              <a:spcBef>
                <a:spcPts val="1000"/>
              </a:spcBef>
            </a:pPr>
            <a:r>
              <a:rPr sz="1850" b="1">
                <a:solidFill>
                  <a:srgbClr val="A33607"/>
                </a:solidFill>
              </a:rPr>
              <a:t>• 词汇差异2</a:t>
            </a:r>
          </a:p>
          <a:p>
            <a:pPr>
              <a:spcBef>
                <a:spcPts val="100"/>
              </a:spcBef>
            </a:pPr>
            <a:r>
              <a:rPr sz="1550">
                <a:solidFill>
                  <a:srgbClr val="556075"/>
                </a:solidFill>
              </a:rPr>
              <a:t>   Part 3：学术词汇（it is widely acknowledged/there is a growing tendency）</a:t>
            </a:r>
          </a:p>
          <a:p>
            <a:pPr>
              <a:spcBef>
                <a:spcPts val="1000"/>
              </a:spcBef>
            </a:pPr>
            <a:r>
              <a:rPr sz="1850" b="1">
                <a:solidFill>
                  <a:srgbClr val="A33607"/>
                </a:solidFill>
              </a:rPr>
              <a:t>• GRA差异</a:t>
            </a:r>
          </a:p>
          <a:p>
            <a:pPr>
              <a:spcBef>
                <a:spcPts val="100"/>
              </a:spcBef>
            </a:pPr>
            <a:r>
              <a:rPr sz="1550">
                <a:solidFill>
                  <a:srgbClr val="556075"/>
                </a:solidFill>
              </a:rPr>
              <a:t>   Part 3需要更多条件句（If X were to...）/虚拟语气/被动语态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争取思考时间的合法手段</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方法1</a:t>
            </a:r>
          </a:p>
          <a:p>
            <a:pPr>
              <a:spcBef>
                <a:spcPts val="100"/>
              </a:spcBef>
            </a:pPr>
            <a:r>
              <a:rPr sz="1550">
                <a:solidFill>
                  <a:srgbClr val="556075"/>
                </a:solidFill>
              </a:rPr>
              <a:t>   Well, that's a thought-provoking question. I'd say...（2-3秒思考）</a:t>
            </a:r>
          </a:p>
          <a:p>
            <a:pPr>
              <a:spcBef>
                <a:spcPts val="1000"/>
              </a:spcBef>
            </a:pPr>
            <a:r>
              <a:rPr sz="1850" b="1">
                <a:solidFill>
                  <a:srgbClr val="A33607"/>
                </a:solidFill>
              </a:rPr>
              <a:t>• 方法2</a:t>
            </a:r>
          </a:p>
          <a:p>
            <a:pPr>
              <a:spcBef>
                <a:spcPts val="100"/>
              </a:spcBef>
            </a:pPr>
            <a:r>
              <a:rPr sz="1550">
                <a:solidFill>
                  <a:srgbClr val="556075"/>
                </a:solidFill>
              </a:rPr>
              <a:t>   It's a complex issue, but if I had to choose a side, I'd say...</a:t>
            </a:r>
          </a:p>
          <a:p>
            <a:pPr>
              <a:spcBef>
                <a:spcPts val="1000"/>
              </a:spcBef>
            </a:pPr>
            <a:r>
              <a:rPr sz="1850" b="1">
                <a:solidFill>
                  <a:srgbClr val="A33607"/>
                </a:solidFill>
              </a:rPr>
              <a:t>• 方法3</a:t>
            </a:r>
          </a:p>
          <a:p>
            <a:pPr>
              <a:spcBef>
                <a:spcPts val="100"/>
              </a:spcBef>
            </a:pPr>
            <a:r>
              <a:rPr sz="1550">
                <a:solidFill>
                  <a:srgbClr val="556075"/>
                </a:solidFill>
              </a:rPr>
              <a:t>   I'm not entirely sure, but my instinct would be to say...</a:t>
            </a:r>
          </a:p>
          <a:p>
            <a:pPr>
              <a:spcBef>
                <a:spcPts val="1000"/>
              </a:spcBef>
            </a:pPr>
            <a:r>
              <a:rPr sz="1850" b="1">
                <a:solidFill>
                  <a:srgbClr val="A33607"/>
                </a:solidFill>
              </a:rPr>
              <a:t>• 方法4</a:t>
            </a:r>
          </a:p>
          <a:p>
            <a:pPr>
              <a:spcBef>
                <a:spcPts val="100"/>
              </a:spcBef>
            </a:pPr>
            <a:r>
              <a:rPr sz="1550">
                <a:solidFill>
                  <a:srgbClr val="556075"/>
                </a:solidFill>
              </a:rPr>
              <a:t>   That depends on how you look at it — from [角度1]... but from [角度2]...</a:t>
            </a:r>
          </a:p>
          <a:p>
            <a:pPr>
              <a:spcBef>
                <a:spcPts val="1000"/>
              </a:spcBef>
            </a:pPr>
            <a:r>
              <a:rPr sz="1850" b="1">
                <a:solidFill>
                  <a:srgbClr val="A33607"/>
                </a:solidFill>
              </a:rPr>
              <a:t>• 禁忌</a:t>
            </a:r>
          </a:p>
          <a:p>
            <a:pPr>
              <a:spcBef>
                <a:spcPts val="100"/>
              </a:spcBef>
            </a:pPr>
            <a:r>
              <a:rPr sz="1550">
                <a:solidFill>
                  <a:srgbClr val="556075"/>
                </a:solidFill>
              </a:rPr>
              <a:t>   不要重复问题："You asked about whether...that is a very good question."——太刻意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3难度体验：比较Part 1和Part 3版本</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Part 1版本："Do you like watching movies?"
Part 3版本："Do you think cinema will eventually be replaced by streaming platforms?"
试着分别回答两个版本，计时记录：Part 1你说了几秒？Part 3你说了几秒？词汇有什么不同？</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Part 1答案通常30-45秒，词汇以个人经验词为主
Part 3答案难以超过30秒（如果没有准备）——这是Part 3失分的典型原因
PEEL框架帮助你把Part 3答案稳定在45-60秒</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把Part 3理解成"小型辩论"而非"问答"——需要论证，不是描述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3高频话题预测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以下是雅思Part 3最常考的5大话题群，今天选一个开始建立素材库：
① 教育（education/school/learning/knowledge）
② 科技（technology/internet/social media/AI）
③ 环境（climate change/sustainability/pollution）
④ 社会（family/community/government/equality）
⑤ 文化（arts/tradition/globalisation/identity）</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深圳考生优势：科技话题有真实行业经验；教育话题有升学经历；环境话题有城市发展对比
这些真实经验是Part 3得分的核心素材</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备考策略：每个话题准备2个论点+2个例子=10分钟可以完成的准备任务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PEEL论点框架</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PEEL Argumentation Framework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PEEL四个元素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构建有深度论点的标准框架</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P：Point（观点）</a:t>
            </a:r>
          </a:p>
          <a:p>
            <a:pPr>
              <a:spcBef>
                <a:spcPts val="100"/>
              </a:spcBef>
            </a:pPr>
            <a:r>
              <a:rPr sz="1500">
                <a:solidFill>
                  <a:srgbClr val="556075"/>
                </a:solidFill>
              </a:rPr>
              <a:t>   直接说出你的立场/观点：I believe... / It's my view that... / I'd argue that...</a:t>
            </a:r>
          </a:p>
          <a:p>
            <a:pPr>
              <a:spcBef>
                <a:spcPts val="900"/>
              </a:spcBef>
            </a:pPr>
            <a:r>
              <a:rPr sz="1800" b="1">
                <a:solidFill>
                  <a:srgbClr val="A33607"/>
                </a:solidFill>
              </a:rPr>
              <a:t>• E：Explain（解释）</a:t>
            </a:r>
          </a:p>
          <a:p>
            <a:pPr>
              <a:spcBef>
                <a:spcPts val="100"/>
              </a:spcBef>
            </a:pPr>
            <a:r>
              <a:rPr sz="1500">
                <a:solidFill>
                  <a:srgbClr val="556075"/>
                </a:solidFill>
              </a:rPr>
              <a:t>   解释为什么：This is because... / The reason is that... / Largely due to...</a:t>
            </a:r>
          </a:p>
          <a:p>
            <a:pPr>
              <a:spcBef>
                <a:spcPts val="900"/>
              </a:spcBef>
            </a:pPr>
            <a:r>
              <a:rPr sz="1800" b="1">
                <a:solidFill>
                  <a:srgbClr val="A33607"/>
                </a:solidFill>
              </a:rPr>
              <a:t>• E：Example（例子）</a:t>
            </a:r>
          </a:p>
          <a:p>
            <a:pPr>
              <a:spcBef>
                <a:spcPts val="100"/>
              </a:spcBef>
            </a:pPr>
            <a:r>
              <a:rPr sz="1500">
                <a:solidFill>
                  <a:srgbClr val="556075"/>
                </a:solidFill>
              </a:rPr>
              <a:t>   给一个具体例子：For instance... / Take [X] for example... / A case in point is...</a:t>
            </a:r>
          </a:p>
          <a:p>
            <a:pPr>
              <a:spcBef>
                <a:spcPts val="900"/>
              </a:spcBef>
            </a:pPr>
            <a:r>
              <a:rPr sz="1800" b="1">
                <a:solidFill>
                  <a:srgbClr val="A33607"/>
                </a:solidFill>
              </a:rPr>
              <a:t>• L：Link back（总结）</a:t>
            </a:r>
          </a:p>
          <a:p>
            <a:pPr>
              <a:spcBef>
                <a:spcPts val="100"/>
              </a:spcBef>
            </a:pPr>
            <a:r>
              <a:rPr sz="1500">
                <a:solidFill>
                  <a:srgbClr val="556075"/>
                </a:solidFill>
              </a:rPr>
              <a:t>   回到主题：This is why... / Hence... / All of this suggests that...</a:t>
            </a:r>
          </a:p>
          <a:p>
            <a:pPr>
              <a:spcBef>
                <a:spcPts val="900"/>
              </a:spcBef>
            </a:pPr>
            <a:r>
              <a:rPr sz="1800" b="1">
                <a:solidFill>
                  <a:srgbClr val="A33607"/>
                </a:solidFill>
              </a:rPr>
              <a:t>• 时间分配</a:t>
            </a:r>
          </a:p>
          <a:p>
            <a:pPr>
              <a:spcBef>
                <a:spcPts val="100"/>
              </a:spcBef>
            </a:pPr>
            <a:r>
              <a:rPr sz="1500">
                <a:solidFill>
                  <a:srgbClr val="556075"/>
                </a:solidFill>
              </a:rPr>
              <a:t>   P 10秒 / E 15秒 / E 15秒 / L 10秒 = 50秒，正好Part 3目标</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PEEL的高级变体：PEELA</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加让步的平衡论点</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P</a:t>
            </a:r>
          </a:p>
          <a:p>
            <a:pPr>
              <a:spcBef>
                <a:spcPts val="100"/>
              </a:spcBef>
            </a:pPr>
            <a:r>
              <a:rPr sz="1500">
                <a:solidFill>
                  <a:srgbClr val="556075"/>
                </a:solidFill>
              </a:rPr>
              <a:t>   第一个立场/观点</a:t>
            </a:r>
          </a:p>
          <a:p>
            <a:pPr>
              <a:spcBef>
                <a:spcPts val="900"/>
              </a:spcBef>
            </a:pPr>
            <a:r>
              <a:rPr sz="1800" b="1">
                <a:solidFill>
                  <a:srgbClr val="A33607"/>
                </a:solidFill>
              </a:rPr>
              <a:t>• E</a:t>
            </a:r>
          </a:p>
          <a:p>
            <a:pPr>
              <a:spcBef>
                <a:spcPts val="100"/>
              </a:spcBef>
            </a:pPr>
            <a:r>
              <a:rPr sz="1500">
                <a:solidFill>
                  <a:srgbClr val="556075"/>
                </a:solidFill>
              </a:rPr>
              <a:t>   解释第一个观点的理由</a:t>
            </a:r>
          </a:p>
          <a:p>
            <a:pPr>
              <a:spcBef>
                <a:spcPts val="900"/>
              </a:spcBef>
            </a:pPr>
            <a:r>
              <a:rPr sz="1800" b="1">
                <a:solidFill>
                  <a:srgbClr val="A33607"/>
                </a:solidFill>
              </a:rPr>
              <a:t>• E</a:t>
            </a:r>
          </a:p>
          <a:p>
            <a:pPr>
              <a:spcBef>
                <a:spcPts val="100"/>
              </a:spcBef>
            </a:pPr>
            <a:r>
              <a:rPr sz="1500">
                <a:solidFill>
                  <a:srgbClr val="556075"/>
                </a:solidFill>
              </a:rPr>
              <a:t>   举第一个观点的例子</a:t>
            </a:r>
          </a:p>
          <a:p>
            <a:pPr>
              <a:spcBef>
                <a:spcPts val="900"/>
              </a:spcBef>
            </a:pPr>
            <a:r>
              <a:rPr sz="1800" b="1">
                <a:solidFill>
                  <a:srgbClr val="A33607"/>
                </a:solidFill>
              </a:rPr>
              <a:t>• L</a:t>
            </a:r>
          </a:p>
          <a:p>
            <a:pPr>
              <a:spcBef>
                <a:spcPts val="100"/>
              </a:spcBef>
            </a:pPr>
            <a:r>
              <a:rPr sz="1500">
                <a:solidFill>
                  <a:srgbClr val="556075"/>
                </a:solidFill>
              </a:rPr>
              <a:t>   小结</a:t>
            </a:r>
          </a:p>
          <a:p>
            <a:pPr>
              <a:spcBef>
                <a:spcPts val="900"/>
              </a:spcBef>
            </a:pPr>
            <a:r>
              <a:rPr sz="1800" b="1">
                <a:solidFill>
                  <a:srgbClr val="A33607"/>
                </a:solidFill>
              </a:rPr>
              <a:t>• A：Alternative/Acknowledgement</a:t>
            </a:r>
          </a:p>
          <a:p>
            <a:pPr>
              <a:spcBef>
                <a:spcPts val="100"/>
              </a:spcBef>
            </a:pPr>
            <a:r>
              <a:rPr sz="1500">
                <a:solidFill>
                  <a:srgbClr val="556075"/>
                </a:solidFill>
              </a:rPr>
              <a:t>   That said, / However, / Having said that...——然后承认另一方观点</a:t>
            </a:r>
          </a:p>
          <a:p>
            <a:pPr>
              <a:spcBef>
                <a:spcPts val="900"/>
              </a:spcBef>
            </a:pPr>
            <a:r>
              <a:rPr sz="1800" b="1">
                <a:solidFill>
                  <a:srgbClr val="A33607"/>
                </a:solidFill>
              </a:rPr>
              <a:t>• 作用</a:t>
            </a:r>
          </a:p>
          <a:p>
            <a:pPr>
              <a:spcBef>
                <a:spcPts val="100"/>
              </a:spcBef>
            </a:pPr>
            <a:r>
              <a:rPr sz="1500">
                <a:solidFill>
                  <a:srgbClr val="556075"/>
                </a:solidFill>
              </a:rPr>
              <a:t>   展示思辨能力，避免答案太单一——LR和GRA都受益于这种结构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PEEL框架实例展开</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题目</a:t>
            </a:r>
          </a:p>
          <a:p>
            <a:pPr>
              <a:spcBef>
                <a:spcPts val="100"/>
              </a:spcBef>
            </a:pPr>
            <a:r>
              <a:rPr sz="1550">
                <a:solidFill>
                  <a:srgbClr val="556075"/>
                </a:solidFill>
              </a:rPr>
              <a:t>   Do you think social media has a positive or negative impact on society?</a:t>
            </a:r>
          </a:p>
          <a:p>
            <a:pPr>
              <a:spcBef>
                <a:spcPts val="1000"/>
              </a:spcBef>
            </a:pPr>
            <a:r>
              <a:rPr sz="1850" b="1">
                <a:solidFill>
                  <a:srgbClr val="A33607"/>
                </a:solidFill>
              </a:rPr>
              <a:t>• P</a:t>
            </a:r>
          </a:p>
          <a:p>
            <a:pPr>
              <a:spcBef>
                <a:spcPts val="100"/>
              </a:spcBef>
            </a:pPr>
            <a:r>
              <a:rPr sz="1550">
                <a:solidFill>
                  <a:srgbClr val="556075"/>
                </a:solidFill>
              </a:rPr>
              <a:t>   I'd argue that the impact is predominantly negative, particularly for younger generations.</a:t>
            </a:r>
          </a:p>
          <a:p>
            <a:pPr>
              <a:spcBef>
                <a:spcPts val="1000"/>
              </a:spcBef>
            </a:pPr>
            <a:r>
              <a:rPr sz="1850" b="1">
                <a:solidFill>
                  <a:srgbClr val="A33607"/>
                </a:solidFill>
              </a:rPr>
              <a:t>• E</a:t>
            </a:r>
          </a:p>
          <a:p>
            <a:pPr>
              <a:spcBef>
                <a:spcPts val="100"/>
              </a:spcBef>
            </a:pPr>
            <a:r>
              <a:rPr sz="1550">
                <a:solidFill>
                  <a:srgbClr val="556075"/>
                </a:solidFill>
              </a:rPr>
              <a:t>   This is because platforms like Instagram and TikTok are specifically designed to maximise engagement, which often creates unrealistic standards and increases anxiety.</a:t>
            </a:r>
          </a:p>
          <a:p>
            <a:pPr>
              <a:spcBef>
                <a:spcPts val="1000"/>
              </a:spcBef>
            </a:pPr>
            <a:r>
              <a:rPr sz="1850" b="1">
                <a:solidFill>
                  <a:srgbClr val="A33607"/>
                </a:solidFill>
              </a:rPr>
              <a:t>• E</a:t>
            </a:r>
          </a:p>
          <a:p>
            <a:pPr>
              <a:spcBef>
                <a:spcPts val="100"/>
              </a:spcBef>
            </a:pPr>
            <a:r>
              <a:rPr sz="1550">
                <a:solidFill>
                  <a:srgbClr val="556075"/>
                </a:solidFill>
              </a:rPr>
              <a:t>   For instance, research has shown that teen depression rates have risen significantly in countries with high social media usage, correlating with the widespread adoption of these platforms.</a:t>
            </a:r>
          </a:p>
          <a:p>
            <a:pPr>
              <a:spcBef>
                <a:spcPts val="1000"/>
              </a:spcBef>
            </a:pPr>
            <a:r>
              <a:rPr sz="1850" b="1">
                <a:solidFill>
                  <a:srgbClr val="A33607"/>
                </a:solidFill>
              </a:rPr>
              <a:t>• L</a:t>
            </a:r>
          </a:p>
          <a:p>
            <a:pPr>
              <a:spcBef>
                <a:spcPts val="100"/>
              </a:spcBef>
            </a:pPr>
            <a:r>
              <a:rPr sz="1550">
                <a:solidFill>
                  <a:srgbClr val="556075"/>
                </a:solidFill>
              </a:rPr>
              <a:t>   This is why I believe greater regulation of social media algorithms is necessary.</a:t>
            </a:r>
          </a:p>
          <a:p>
            <a:pPr>
              <a:spcBef>
                <a:spcPts val="1000"/>
              </a:spcBef>
            </a:pPr>
            <a:r>
              <a:rPr sz="1850" b="1">
                <a:solidFill>
                  <a:srgbClr val="A33607"/>
                </a:solidFill>
              </a:rPr>
              <a:t>• A + counterpoint</a:t>
            </a:r>
          </a:p>
          <a:p>
            <a:pPr>
              <a:spcBef>
                <a:spcPts val="100"/>
              </a:spcBef>
            </a:pPr>
            <a:r>
              <a:rPr sz="1550">
                <a:solidFill>
                  <a:srgbClr val="556075"/>
                </a:solidFill>
              </a:rPr>
              <a:t>   That said, I do acknowledge that social media has democratised access to information and allowed marginalised voices to be heard — those are genuinely significant benefits.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PEEL核心词汇</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P（立场词）</a:t>
            </a:r>
          </a:p>
          <a:p>
            <a:pPr>
              <a:spcBef>
                <a:spcPts val="100"/>
              </a:spcBef>
            </a:pPr>
            <a:r>
              <a:rPr sz="1550">
                <a:solidFill>
                  <a:srgbClr val="556075"/>
                </a:solidFill>
              </a:rPr>
              <a:t>   I'd argue that / It's my view that / I'm of the opinion that / I firmly believe</a:t>
            </a:r>
          </a:p>
          <a:p>
            <a:pPr>
              <a:spcBef>
                <a:spcPts val="1000"/>
              </a:spcBef>
            </a:pPr>
            <a:r>
              <a:rPr sz="1850" b="1">
                <a:solidFill>
                  <a:srgbClr val="A33607"/>
                </a:solidFill>
              </a:rPr>
              <a:t>• E（解释词）</a:t>
            </a:r>
          </a:p>
          <a:p>
            <a:pPr>
              <a:spcBef>
                <a:spcPts val="100"/>
              </a:spcBef>
            </a:pPr>
            <a:r>
              <a:rPr sz="1550">
                <a:solidFill>
                  <a:srgbClr val="556075"/>
                </a:solidFill>
              </a:rPr>
              <a:t>   This is largely because / A key reason is / One contributing factor is / It stems from</a:t>
            </a:r>
          </a:p>
          <a:p>
            <a:pPr>
              <a:spcBef>
                <a:spcPts val="1000"/>
              </a:spcBef>
            </a:pPr>
            <a:r>
              <a:rPr sz="1850" b="1">
                <a:solidFill>
                  <a:srgbClr val="A33607"/>
                </a:solidFill>
              </a:rPr>
              <a:t>• E（例子词）</a:t>
            </a:r>
          </a:p>
          <a:p>
            <a:pPr>
              <a:spcBef>
                <a:spcPts val="100"/>
              </a:spcBef>
            </a:pPr>
            <a:r>
              <a:rPr sz="1550">
                <a:solidFill>
                  <a:srgbClr val="556075"/>
                </a:solidFill>
              </a:rPr>
              <a:t>   Take [X] for instance / A case in point is / Research suggests that / Consider the fact that</a:t>
            </a:r>
          </a:p>
          <a:p>
            <a:pPr>
              <a:spcBef>
                <a:spcPts val="1000"/>
              </a:spcBef>
            </a:pPr>
            <a:r>
              <a:rPr sz="1850" b="1">
                <a:solidFill>
                  <a:srgbClr val="A33607"/>
                </a:solidFill>
              </a:rPr>
              <a:t>• L（总结词）</a:t>
            </a:r>
          </a:p>
          <a:p>
            <a:pPr>
              <a:spcBef>
                <a:spcPts val="100"/>
              </a:spcBef>
            </a:pPr>
            <a:r>
              <a:rPr sz="1550">
                <a:solidFill>
                  <a:srgbClr val="556075"/>
                </a:solidFill>
              </a:rPr>
              <a:t>   Hence / This is why / All of this suggests / Given these points / It follows that</a:t>
            </a:r>
          </a:p>
          <a:p>
            <a:pPr>
              <a:spcBef>
                <a:spcPts val="1000"/>
              </a:spcBef>
            </a:pPr>
            <a:r>
              <a:rPr sz="1850" b="1">
                <a:solidFill>
                  <a:srgbClr val="A33607"/>
                </a:solidFill>
              </a:rPr>
              <a:t>• A（让步词）</a:t>
            </a:r>
          </a:p>
          <a:p>
            <a:pPr>
              <a:spcBef>
                <a:spcPts val="100"/>
              </a:spcBef>
            </a:pPr>
            <a:r>
              <a:rPr sz="1550">
                <a:solidFill>
                  <a:srgbClr val="556075"/>
                </a:solidFill>
              </a:rPr>
              <a:t>   That said / Having said that / I do acknowledge / It's worth noting that / On the other hand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PEEL练习：45秒构建论点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以下Part 3题目，用PEEL框架回答，计时45秒：
"Why do you think some people prefer to live in cities rather than in the countryside?"
P（5秒）：说出主要原因/立场
E（15秒）：解释原因
E（10秒）：举一个例子
L（5秒）：总结</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P: I think it largely comes down to economic opportunity and lifestyle choice.
E: Cities offer access to higher-paying jobs, better infrastructure, and a wider social network — factors that are particularly compelling for young professionals.
E: Shenzhen is a perfect example: its rapid growth has attracted millions who saw opportunities that simply didn't exist in their hometowns.
L: This is why urbanisation continues globally, even as the cost of city living rises.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检查：P是否有明确立场？E是否有解释词（largely/particularly/simply）？E是否有具体例子？L是否回到主题？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PEELA进阶练习：平衡论点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以下题目用PEELA框架回答，目标60秒：
"Do you think children today have too much homework?"
先构建主要论点（PEEL），再加一个让步（A）：
Having said that... / That said... / I do acknowledge that...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PEEL部分（约45秒）：I'd argue yes, in many cases. The sheer volume of homework assigned means children have little time for creative play or rest, which are equally vital for development. In Shenzhen, it's common to see primary school children studying until midnight — that's simply not sustainable.
A部分（约15秒）：That said, I do acknowledge that some degree of homework builds discipline and reinforces classroom learning — the issue is balance rather than elimination.</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PEELA答案的LR分会更高——because you're using more vocabulary to discuss contrasting views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观点类与原因类题型</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Opinion &amp; Reason Question Types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观点类题型攻略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Do you think/Is it a good idea/Should</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立场先行</a:t>
            </a:r>
          </a:p>
          <a:p>
            <a:pPr>
              <a:spcBef>
                <a:spcPts val="100"/>
              </a:spcBef>
            </a:pPr>
            <a:r>
              <a:rPr sz="1500">
                <a:solidFill>
                  <a:srgbClr val="556075"/>
                </a:solidFill>
              </a:rPr>
              <a:t>   Do you think X is better than Y?——先说立场，不要说"It depends"然后停下来</a:t>
            </a:r>
          </a:p>
          <a:p>
            <a:pPr>
              <a:spcBef>
                <a:spcPts val="900"/>
              </a:spcBef>
            </a:pPr>
            <a:r>
              <a:rPr sz="1800" b="1">
                <a:solidFill>
                  <a:srgbClr val="A33607"/>
                </a:solidFill>
              </a:rPr>
              <a:t>• 两面都谈</a:t>
            </a:r>
          </a:p>
          <a:p>
            <a:pPr>
              <a:spcBef>
                <a:spcPts val="100"/>
              </a:spcBef>
            </a:pPr>
            <a:r>
              <a:rPr sz="1500">
                <a:solidFill>
                  <a:srgbClr val="556075"/>
                </a:solidFill>
              </a:rPr>
              <a:t>   Good idea to say "I think X, though I can see that Y also has merit"——展示思辨</a:t>
            </a:r>
          </a:p>
          <a:p>
            <a:pPr>
              <a:spcBef>
                <a:spcPts val="900"/>
              </a:spcBef>
            </a:pPr>
            <a:r>
              <a:rPr sz="1800" b="1">
                <a:solidFill>
                  <a:srgbClr val="A33607"/>
                </a:solidFill>
              </a:rPr>
              <a:t>• 词汇信号</a:t>
            </a:r>
          </a:p>
          <a:p>
            <a:pPr>
              <a:spcBef>
                <a:spcPts val="100"/>
              </a:spcBef>
            </a:pPr>
            <a:r>
              <a:rPr sz="1500">
                <a:solidFill>
                  <a:srgbClr val="556075"/>
                </a:solidFill>
              </a:rPr>
              <a:t>   I'd argue / In my view / From my perspective / I'm inclined to think</a:t>
            </a:r>
          </a:p>
          <a:p>
            <a:pPr>
              <a:spcBef>
                <a:spcPts val="900"/>
              </a:spcBef>
            </a:pPr>
            <a:r>
              <a:rPr sz="1800" b="1">
                <a:solidFill>
                  <a:srgbClr val="A33607"/>
                </a:solidFill>
              </a:rPr>
              <a:t>• 证据类型</a:t>
            </a:r>
          </a:p>
          <a:p>
            <a:pPr>
              <a:spcBef>
                <a:spcPts val="100"/>
              </a:spcBef>
            </a:pPr>
            <a:r>
              <a:rPr sz="1500">
                <a:solidFill>
                  <a:srgbClr val="556075"/>
                </a:solidFill>
              </a:rPr>
              <a:t>   Research shows / Studies suggest / In countries like X / Take X as an example</a:t>
            </a:r>
          </a:p>
          <a:p>
            <a:pPr>
              <a:spcBef>
                <a:spcPts val="900"/>
              </a:spcBef>
            </a:pPr>
            <a:r>
              <a:rPr sz="1800" b="1">
                <a:solidFill>
                  <a:srgbClr val="A33607"/>
                </a:solidFill>
              </a:rPr>
              <a:t>• 深圳学生问题</a:t>
            </a:r>
          </a:p>
          <a:p>
            <a:pPr>
              <a:spcBef>
                <a:spcPts val="100"/>
              </a:spcBef>
            </a:pPr>
            <a:r>
              <a:rPr sz="1500">
                <a:solidFill>
                  <a:srgbClr val="556075"/>
                </a:solidFill>
              </a:rPr>
              <a:t>   容易只说立场不给论证——"I think it's good. Yes, it's very beneficial."缺E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原因类题型攻略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Why do/What are the reasons for</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给2-3个原因</a:t>
            </a:r>
          </a:p>
          <a:p>
            <a:pPr>
              <a:spcBef>
                <a:spcPts val="100"/>
              </a:spcBef>
            </a:pPr>
            <a:r>
              <a:rPr sz="1500">
                <a:solidFill>
                  <a:srgbClr val="556075"/>
                </a:solidFill>
              </a:rPr>
              <a:t>   不能只给1个原因——Part 3原因类题型期待至少2个</a:t>
            </a:r>
          </a:p>
          <a:p>
            <a:pPr>
              <a:spcBef>
                <a:spcPts val="900"/>
              </a:spcBef>
            </a:pPr>
            <a:r>
              <a:rPr sz="1800" b="1">
                <a:solidFill>
                  <a:srgbClr val="A33607"/>
                </a:solidFill>
              </a:rPr>
              <a:t>• 层次感</a:t>
            </a:r>
          </a:p>
          <a:p>
            <a:pPr>
              <a:spcBef>
                <a:spcPts val="100"/>
              </a:spcBef>
            </a:pPr>
            <a:r>
              <a:rPr sz="1500">
                <a:solidFill>
                  <a:srgbClr val="556075"/>
                </a:solidFill>
              </a:rPr>
              <a:t>   First.../In addition.../Perhaps most importantly...——层次词让CC分更高</a:t>
            </a:r>
          </a:p>
          <a:p>
            <a:pPr>
              <a:spcBef>
                <a:spcPts val="900"/>
              </a:spcBef>
            </a:pPr>
            <a:r>
              <a:rPr sz="1800" b="1">
                <a:solidFill>
                  <a:srgbClr val="A33607"/>
                </a:solidFill>
              </a:rPr>
              <a:t>• 原因连接词</a:t>
            </a:r>
          </a:p>
          <a:p>
            <a:pPr>
              <a:spcBef>
                <a:spcPts val="100"/>
              </a:spcBef>
            </a:pPr>
            <a:r>
              <a:rPr sz="1500">
                <a:solidFill>
                  <a:srgbClr val="556075"/>
                </a:solidFill>
              </a:rPr>
              <a:t>   On top of that / Furthermore / Another key factor is / Beyond that</a:t>
            </a:r>
          </a:p>
          <a:p>
            <a:pPr>
              <a:spcBef>
                <a:spcPts val="900"/>
              </a:spcBef>
            </a:pPr>
            <a:r>
              <a:rPr sz="1800" b="1">
                <a:solidFill>
                  <a:srgbClr val="A33607"/>
                </a:solidFill>
              </a:rPr>
              <a:t>• 深度要求</a:t>
            </a:r>
          </a:p>
          <a:p>
            <a:pPr>
              <a:spcBef>
                <a:spcPts val="100"/>
              </a:spcBef>
            </a:pPr>
            <a:r>
              <a:rPr sz="1500">
                <a:solidFill>
                  <a:srgbClr val="556075"/>
                </a:solidFill>
              </a:rPr>
              <a:t>   每个原因都要解释，不只列举——"Firstly X. Secondly Y."不够，要解释X是什么</a:t>
            </a:r>
          </a:p>
          <a:p>
            <a:pPr>
              <a:spcBef>
                <a:spcPts val="900"/>
              </a:spcBef>
            </a:pPr>
            <a:r>
              <a:rPr sz="1800" b="1">
                <a:solidFill>
                  <a:srgbClr val="A33607"/>
                </a:solidFill>
              </a:rPr>
              <a:t>• 例子要求</a:t>
            </a:r>
          </a:p>
          <a:p>
            <a:pPr>
              <a:spcBef>
                <a:spcPts val="100"/>
              </a:spcBef>
            </a:pPr>
            <a:r>
              <a:rPr sz="1500">
                <a:solidFill>
                  <a:srgbClr val="556075"/>
                </a:solidFill>
              </a:rPr>
              <a:t>   至少有一个原因配上具体例子——数据/国家名/城市名/</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观点类vs原因类答题策略差异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观点类核心</a:t>
            </a:r>
          </a:p>
          <a:p>
            <a:pPr>
              <a:spcBef>
                <a:spcPts val="100"/>
              </a:spcBef>
            </a:pPr>
            <a:r>
              <a:rPr sz="1550">
                <a:solidFill>
                  <a:srgbClr val="556075"/>
                </a:solidFill>
              </a:rPr>
              <a:t>   先给立场（I'd argue），再给理由，最后给例子，可以有让步</a:t>
            </a:r>
          </a:p>
          <a:p>
            <a:pPr>
              <a:spcBef>
                <a:spcPts val="1000"/>
              </a:spcBef>
            </a:pPr>
            <a:r>
              <a:rPr sz="1850" b="1">
                <a:solidFill>
                  <a:srgbClr val="A33607"/>
                </a:solidFill>
              </a:rPr>
              <a:t>• 原因类核心</a:t>
            </a:r>
          </a:p>
          <a:p>
            <a:pPr>
              <a:spcBef>
                <a:spcPts val="100"/>
              </a:spcBef>
            </a:pPr>
            <a:r>
              <a:rPr sz="1550">
                <a:solidFill>
                  <a:srgbClr val="556075"/>
                </a:solidFill>
              </a:rPr>
              <a:t>   给2-3个有层次的原因，每个原因要有解释，至少1个要有例子</a:t>
            </a:r>
          </a:p>
          <a:p>
            <a:pPr>
              <a:spcBef>
                <a:spcPts val="1000"/>
              </a:spcBef>
            </a:pPr>
            <a:r>
              <a:rPr sz="1850" b="1">
                <a:solidFill>
                  <a:srgbClr val="A33607"/>
                </a:solidFill>
              </a:rPr>
              <a:t>• 共同点</a:t>
            </a:r>
          </a:p>
          <a:p>
            <a:pPr>
              <a:spcBef>
                <a:spcPts val="100"/>
              </a:spcBef>
            </a:pPr>
            <a:r>
              <a:rPr sz="1550">
                <a:solidFill>
                  <a:srgbClr val="556075"/>
                </a:solidFill>
              </a:rPr>
              <a:t>   两类都需要学术词汇，都需要45-60秒，都需要比Part 1更复杂的GRA</a:t>
            </a:r>
          </a:p>
          <a:p>
            <a:pPr>
              <a:spcBef>
                <a:spcPts val="1000"/>
              </a:spcBef>
            </a:pPr>
            <a:r>
              <a:rPr sz="1850" b="1">
                <a:solidFill>
                  <a:srgbClr val="A33607"/>
                </a:solidFill>
              </a:rPr>
              <a:t>• 观点类错误</a:t>
            </a:r>
          </a:p>
          <a:p>
            <a:pPr>
              <a:spcBef>
                <a:spcPts val="100"/>
              </a:spcBef>
            </a:pPr>
            <a:r>
              <a:rPr sz="1550">
                <a:solidFill>
                  <a:srgbClr val="556075"/>
                </a:solidFill>
              </a:rPr>
              <a:t>   只说I think it's good，没有P→E→E→L的完整论证结构</a:t>
            </a:r>
          </a:p>
          <a:p>
            <a:pPr>
              <a:spcBef>
                <a:spcPts val="1000"/>
              </a:spcBef>
            </a:pPr>
            <a:r>
              <a:rPr sz="1850" b="1">
                <a:solidFill>
                  <a:srgbClr val="A33607"/>
                </a:solidFill>
              </a:rPr>
              <a:t>• 原因类错误</a:t>
            </a:r>
          </a:p>
          <a:p>
            <a:pPr>
              <a:spcBef>
                <a:spcPts val="100"/>
              </a:spcBef>
            </a:pPr>
            <a:r>
              <a:rPr sz="1550">
                <a:solidFill>
                  <a:srgbClr val="556075"/>
                </a:solidFill>
              </a:rPr>
              <a:t>   只列举原因名称，不解释：First, money. Second, career. Third, lifestyle.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学术词汇运用技巧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观点词升级</a:t>
            </a:r>
          </a:p>
          <a:p>
            <a:pPr>
              <a:spcBef>
                <a:spcPts val="100"/>
              </a:spcBef>
            </a:pPr>
            <a:r>
              <a:rPr sz="1550">
                <a:solidFill>
                  <a:srgbClr val="556075"/>
                </a:solidFill>
              </a:rPr>
              <a:t>   I think→I'd argue / I believe→It's my contention that / good→beneficial</a:t>
            </a:r>
          </a:p>
          <a:p>
            <a:pPr>
              <a:spcBef>
                <a:spcPts val="1000"/>
              </a:spcBef>
            </a:pPr>
            <a:r>
              <a:rPr sz="1850" b="1">
                <a:solidFill>
                  <a:srgbClr val="A33607"/>
                </a:solidFill>
              </a:rPr>
              <a:t>• 原因词升级</a:t>
            </a:r>
          </a:p>
          <a:p>
            <a:pPr>
              <a:spcBef>
                <a:spcPts val="100"/>
              </a:spcBef>
            </a:pPr>
            <a:r>
              <a:rPr sz="1550">
                <a:solidFill>
                  <a:srgbClr val="556075"/>
                </a:solidFill>
              </a:rPr>
              <a:t>   because→largely due to / the reason is→a key contributing factor is</a:t>
            </a:r>
          </a:p>
          <a:p>
            <a:pPr>
              <a:spcBef>
                <a:spcPts val="1000"/>
              </a:spcBef>
            </a:pPr>
            <a:r>
              <a:rPr sz="1850" b="1">
                <a:solidFill>
                  <a:srgbClr val="A33607"/>
                </a:solidFill>
              </a:rPr>
              <a:t>• 例子词升级</a:t>
            </a:r>
          </a:p>
          <a:p>
            <a:pPr>
              <a:spcBef>
                <a:spcPts val="100"/>
              </a:spcBef>
            </a:pPr>
            <a:r>
              <a:rPr sz="1550">
                <a:solidFill>
                  <a:srgbClr val="556075"/>
                </a:solidFill>
              </a:rPr>
              <a:t>   for example→take X as a case in point / like→consider the fact that</a:t>
            </a:r>
          </a:p>
          <a:p>
            <a:pPr>
              <a:spcBef>
                <a:spcPts val="1000"/>
              </a:spcBef>
            </a:pPr>
            <a:r>
              <a:rPr sz="1850" b="1">
                <a:solidFill>
                  <a:srgbClr val="A33607"/>
                </a:solidFill>
              </a:rPr>
              <a:t>• 让步词升级</a:t>
            </a:r>
          </a:p>
          <a:p>
            <a:pPr>
              <a:spcBef>
                <a:spcPts val="100"/>
              </a:spcBef>
            </a:pPr>
            <a:r>
              <a:rPr sz="1550">
                <a:solidFill>
                  <a:srgbClr val="556075"/>
                </a:solidFill>
              </a:rPr>
              <a:t>   but→that said / although→having said that / however→I do acknowledge</a:t>
            </a:r>
          </a:p>
          <a:p>
            <a:pPr>
              <a:spcBef>
                <a:spcPts val="1000"/>
              </a:spcBef>
            </a:pPr>
            <a:r>
              <a:rPr sz="1850" b="1">
                <a:solidFill>
                  <a:srgbClr val="A33607"/>
                </a:solidFill>
              </a:rPr>
              <a:t>• 深圳学生建议</a:t>
            </a:r>
          </a:p>
          <a:p>
            <a:pPr>
              <a:spcBef>
                <a:spcPts val="100"/>
              </a:spcBef>
            </a:pPr>
            <a:r>
              <a:rPr sz="1550">
                <a:solidFill>
                  <a:srgbClr val="556075"/>
                </a:solidFill>
              </a:rPr>
              <a:t>   每道Part 3题准备2个"不同于常规"的词汇——这让LR得分明显提升</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观点类答题示范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"Do you think it's better for children to grow up in a city or in the countryside?"
PEELA框架回答</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say both have genuine merits, though if pressed, I'd lean towards cities — particularly in China's current context. Urban environments offer significantly better educational resources, medical care, and exposure to diverse perspectives, all of which are formative during childhood. In Shenzhen specifically, access to international schools and tech-forward learning environments gives children extraordinary opportunities. That said, I do think there's something important that rural upbringings offer — a connection to nature and a slower pace of life that can instil resilience and creativity. The ideal, perhaps, is a balance — some urban advantage with regular exposure to natural environments.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立场词：if pressed I'd lean towards——比I think more sophisticated
证据：Shenzhen specifically——真实的本地例子增加可信度
让步：That said / The ideal perhaps is——展示平衡思考</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原因类答题示范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"Why do you think so many young people in China move to large cities?"
PEEL+层次框架</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There are several interlocking reasons, I think. The most significant is economic — larger cities offer dramatically higher salaries and more diverse career opportunities that are simply unavailable in smaller towns. Beyond that, there's the social dimension: cities provide a wider social network, and for many young people, the anonymity and freedom of city life is genuinely appealing after growing up in tightly-knit communities. Perhaps most importantly, there's the ambition factor — cities like Shenzhen and Shanghai have cultivated a culture of innovation that attracts the ambitious and driven. The sense that "anything is possible" here is very real to young graduates.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原因层次：most significant / beyond that / perhaps most importantly——三层递进
分析深度：不只说"better jobs"，解释了"dramatically higher/social dimension/ambition factor"
GRA：that从句×3/which从句/comparative结构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比较类与预测类题型</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Comparison &amp; Prediction Question Types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比较类题型攻略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How has X changed / What is the difference between X and 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明确两个比较点</a:t>
            </a:r>
          </a:p>
          <a:p>
            <a:pPr>
              <a:spcBef>
                <a:spcPts val="100"/>
              </a:spcBef>
            </a:pPr>
            <a:r>
              <a:rPr sz="1500">
                <a:solidFill>
                  <a:srgbClr val="556075"/>
                </a:solidFill>
              </a:rPr>
              <a:t>   说清楚在哪个方面比较：In terms of X.../When it comes to Y...</a:t>
            </a:r>
          </a:p>
          <a:p>
            <a:pPr>
              <a:spcBef>
                <a:spcPts val="900"/>
              </a:spcBef>
            </a:pPr>
            <a:r>
              <a:rPr sz="1800" b="1">
                <a:solidFill>
                  <a:srgbClr val="A33607"/>
                </a:solidFill>
              </a:rPr>
              <a:t>• 对比词汇</a:t>
            </a:r>
          </a:p>
          <a:p>
            <a:pPr>
              <a:spcBef>
                <a:spcPts val="100"/>
              </a:spcBef>
            </a:pPr>
            <a:r>
              <a:rPr sz="1500">
                <a:solidFill>
                  <a:srgbClr val="556075"/>
                </a:solidFill>
              </a:rPr>
              <a:t>   whereas/while/in contrast/compared to/unlike/on the other hand</a:t>
            </a:r>
          </a:p>
          <a:p>
            <a:pPr>
              <a:spcBef>
                <a:spcPts val="900"/>
              </a:spcBef>
            </a:pPr>
            <a:r>
              <a:rPr sz="1800" b="1">
                <a:solidFill>
                  <a:srgbClr val="A33607"/>
                </a:solidFill>
              </a:rPr>
              <a:t>• 变化描述词汇</a:t>
            </a:r>
          </a:p>
          <a:p>
            <a:pPr>
              <a:spcBef>
                <a:spcPts val="100"/>
              </a:spcBef>
            </a:pPr>
            <a:r>
              <a:rPr sz="1500">
                <a:solidFill>
                  <a:srgbClr val="556075"/>
                </a:solidFill>
              </a:rPr>
              <a:t>   has significantly increased/has dramatically shifted/has gradually evolved/is increasingly</a:t>
            </a:r>
          </a:p>
          <a:p>
            <a:pPr>
              <a:spcBef>
                <a:spcPts val="900"/>
              </a:spcBef>
            </a:pPr>
            <a:r>
              <a:rPr sz="1800" b="1">
                <a:solidFill>
                  <a:srgbClr val="A33607"/>
                </a:solidFill>
              </a:rPr>
              <a:t>• 时态准确</a:t>
            </a:r>
          </a:p>
          <a:p>
            <a:pPr>
              <a:spcBef>
                <a:spcPts val="100"/>
              </a:spcBef>
            </a:pPr>
            <a:r>
              <a:rPr sz="1500">
                <a:solidFill>
                  <a:srgbClr val="556075"/>
                </a:solidFill>
              </a:rPr>
              <a:t>   过去→现在变化：过去用简单过去时+现在用现在完成时/一般现在时</a:t>
            </a:r>
          </a:p>
          <a:p>
            <a:pPr>
              <a:spcBef>
                <a:spcPts val="900"/>
              </a:spcBef>
            </a:pPr>
            <a:r>
              <a:rPr sz="1800" b="1">
                <a:solidFill>
                  <a:srgbClr val="A33607"/>
                </a:solidFill>
              </a:rPr>
              <a:t>• 深圳学生问题</a:t>
            </a:r>
          </a:p>
          <a:p>
            <a:pPr>
              <a:spcBef>
                <a:spcPts val="100"/>
              </a:spcBef>
            </a:pPr>
            <a:r>
              <a:rPr sz="1500">
                <a:solidFill>
                  <a:srgbClr val="556075"/>
                </a:solidFill>
              </a:rPr>
              <a:t>   只说现在的情况，忘了说"过去不同"——比较题要有两个时间点或两个对象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预测类题型攻略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What do you think will happen to / How might X affect 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未来时态准确</a:t>
            </a:r>
          </a:p>
          <a:p>
            <a:pPr>
              <a:spcBef>
                <a:spcPts val="100"/>
              </a:spcBef>
            </a:pPr>
            <a:r>
              <a:rPr sz="1500">
                <a:solidFill>
                  <a:srgbClr val="556075"/>
                </a:solidFill>
              </a:rPr>
              <a:t>   will/might/could/is likely to/may well——不要用would（是虚拟语气）</a:t>
            </a:r>
          </a:p>
          <a:p>
            <a:pPr>
              <a:spcBef>
                <a:spcPts val="900"/>
              </a:spcBef>
            </a:pPr>
            <a:r>
              <a:rPr sz="1800" b="1">
                <a:solidFill>
                  <a:srgbClr val="A33607"/>
                </a:solidFill>
              </a:rPr>
              <a:t>• 条件预测</a:t>
            </a:r>
          </a:p>
          <a:p>
            <a:pPr>
              <a:spcBef>
                <a:spcPts val="100"/>
              </a:spcBef>
            </a:pPr>
            <a:r>
              <a:rPr sz="1500">
                <a:solidFill>
                  <a:srgbClr val="556075"/>
                </a:solidFill>
              </a:rPr>
              <a:t>   If X continues, then Y will likely... / Provided that...</a:t>
            </a:r>
          </a:p>
          <a:p>
            <a:pPr>
              <a:spcBef>
                <a:spcPts val="900"/>
              </a:spcBef>
            </a:pPr>
            <a:r>
              <a:rPr sz="1800" b="1">
                <a:solidFill>
                  <a:srgbClr val="A33607"/>
                </a:solidFill>
              </a:rPr>
              <a:t>• 正负两面</a:t>
            </a:r>
          </a:p>
          <a:p>
            <a:pPr>
              <a:spcBef>
                <a:spcPts val="100"/>
              </a:spcBef>
            </a:pPr>
            <a:r>
              <a:rPr sz="1500">
                <a:solidFill>
                  <a:srgbClr val="556075"/>
                </a:solidFill>
              </a:rPr>
              <a:t>   give positive AND negative prediction for balance</a:t>
            </a:r>
          </a:p>
          <a:p>
            <a:pPr>
              <a:spcBef>
                <a:spcPts val="900"/>
              </a:spcBef>
            </a:pPr>
            <a:r>
              <a:rPr sz="1800" b="1">
                <a:solidFill>
                  <a:srgbClr val="A33607"/>
                </a:solidFill>
              </a:rPr>
              <a:t>• 不确定表达</a:t>
            </a:r>
          </a:p>
          <a:p>
            <a:pPr>
              <a:spcBef>
                <a:spcPts val="100"/>
              </a:spcBef>
            </a:pPr>
            <a:r>
              <a:rPr sz="1500">
                <a:solidFill>
                  <a:srgbClr val="556075"/>
                </a:solidFill>
              </a:rPr>
              <a:t>   It's hard to say with certainty, but I suspect... / I would venture to guess...</a:t>
            </a:r>
          </a:p>
          <a:p>
            <a:pPr>
              <a:spcBef>
                <a:spcPts val="900"/>
              </a:spcBef>
            </a:pPr>
            <a:r>
              <a:rPr sz="1800" b="1">
                <a:solidFill>
                  <a:srgbClr val="A33607"/>
                </a:solidFill>
              </a:rPr>
              <a:t>• 证据支持</a:t>
            </a:r>
          </a:p>
          <a:p>
            <a:pPr>
              <a:spcBef>
                <a:spcPts val="100"/>
              </a:spcBef>
            </a:pPr>
            <a:r>
              <a:rPr sz="1500">
                <a:solidFill>
                  <a:srgbClr val="556075"/>
                </a:solidFill>
              </a:rPr>
              <a:t>   Current trends suggest... / Based on what we see in [X]...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比较类题型答题要点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对比结构：用whereas/while清晰对比两个时间点或两个对象，不要只描述现在</a:t>
            </a:r>
          </a:p>
          <a:p>
            <a:pPr>
              <a:spcBef>
                <a:spcPts val="1000"/>
              </a:spcBef>
            </a:pPr>
            <a:r>
              <a:rPr sz="1650">
                <a:solidFill>
                  <a:srgbClr val="1E293B"/>
                </a:solidFill>
              </a:rPr>
              <a:t>• 时态准确：过去用一般过去时，现在用现在完成时或一般现在时</a:t>
            </a:r>
          </a:p>
          <a:p>
            <a:pPr>
              <a:spcBef>
                <a:spcPts val="1000"/>
              </a:spcBef>
            </a:pPr>
            <a:r>
              <a:rPr sz="1650">
                <a:solidFill>
                  <a:srgbClr val="1E293B"/>
                </a:solidFill>
              </a:rPr>
              <a:t>• 对比词升级：not just "different"→"starkly contrasted / markedly different"</a:t>
            </a:r>
          </a:p>
          <a:p>
            <a:pPr>
              <a:spcBef>
                <a:spcPts val="1000"/>
              </a:spcBef>
            </a:pPr>
            <a:r>
              <a:rPr sz="1650">
                <a:solidFill>
                  <a:srgbClr val="1E293B"/>
                </a:solidFill>
              </a:rPr>
              <a:t>• 本地化例子：Shenzhen具体例子最有说服力——WeChat/tech sector/urbanisation</a:t>
            </a:r>
          </a:p>
          <a:p>
            <a:pPr>
              <a:spcBef>
                <a:spcPts val="1000"/>
              </a:spcBef>
            </a:pPr>
            <a:r>
              <a:rPr sz="1650">
                <a:solidFill>
                  <a:srgbClr val="1E293B"/>
                </a:solidFill>
              </a:rPr>
              <a:t>• 收尾：All of this suggests... / This is why the comparison between X and Y is instructive.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预测类题型答题要点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不确定性表达：用may/might/could/is likely to而非will——预测不等于事实</a:t>
            </a:r>
          </a:p>
          <a:p>
            <a:pPr>
              <a:spcBef>
                <a:spcPts val="1000"/>
              </a:spcBef>
            </a:pPr>
            <a:r>
              <a:rPr sz="1650">
                <a:solidFill>
                  <a:srgbClr val="1E293B"/>
                </a:solidFill>
              </a:rPr>
              <a:t>• 条件结构：If X continues... / Provided that... / Assuming current trends persist...</a:t>
            </a:r>
          </a:p>
          <a:p>
            <a:pPr>
              <a:spcBef>
                <a:spcPts val="1000"/>
              </a:spcBef>
            </a:pPr>
            <a:r>
              <a:rPr sz="1650">
                <a:solidFill>
                  <a:srgbClr val="1E293B"/>
                </a:solidFill>
              </a:rPr>
              <a:t>• 平衡预测：正面+负面预测都要给——避免单一答案影响LR评分</a:t>
            </a:r>
          </a:p>
          <a:p>
            <a:pPr>
              <a:spcBef>
                <a:spcPts val="1000"/>
              </a:spcBef>
            </a:pPr>
            <a:r>
              <a:rPr sz="1650">
                <a:solidFill>
                  <a:srgbClr val="1E293B"/>
                </a:solidFill>
              </a:rPr>
              <a:t>• 证据支持：Current data suggests / Based on what we see in [具体例子]...</a:t>
            </a:r>
          </a:p>
          <a:p>
            <a:pPr>
              <a:spcBef>
                <a:spcPts val="1000"/>
              </a:spcBef>
            </a:pPr>
            <a:r>
              <a:rPr sz="1650">
                <a:solidFill>
                  <a:srgbClr val="1E293B"/>
                </a:solidFill>
              </a:rPr>
              <a:t>• Part 3综合练习：从教育/科技/环境/社会/文化5个话题各选一个，计时60秒用PEEL框架作答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比较类答题示范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"How has the way people communicate changed in recent years?"
PEEL+比较结构</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Communication has been fundamentally transformed over the past decade, primarily due to the rise of mobile technology. Whereas people once relied on face-to-face meetings and phone calls for meaningful conversation, we now conduct vast portions of our relationships through messaging apps and social media. This shift has made communication more instantaneous and accessible — I can connect with colleagues in different countries in seconds — but it has also made it more fragmented and superficial. Deep conversations are increasingly rare, replaced by brief exchanges of text or emoji. In China specifically, WeChat has essentially replaced almost every other form of communication, which says something profound about how technology reshapes our social habits.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比较结构：whereas...once.../we now——清晰对比过去和现在
词汇：fundamentally transformed/instantaneous/fragmented/superficial——替换changed/quick/short
本地例子：WeChat——深圳学生的真实素材</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预测类答题示范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"What impact do you think artificial intelligence will have on employment?"
PEEL+预测结构</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 think the impact will be substantial, though perhaps not in the way that's most commonly feared. AI is unlikely to simply "eliminate" jobs — rather, it will transform them. Many routine tasks will be automated, which will displace workers in certain sectors, but this will simultaneously create demand for new roles that require human creativity, empathy, and judgment. We're already seeing this in Shenzhen's tech sector — companies are increasingly hiring for "AI collaboration" roles that didn't exist five years ago. The challenge, I think, is the transition period — the speed of automation may outpace society's ability to retrain workers, which could create significant short-term inequality.</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预测词汇：is unlikely to/will simultaneously create/may outpace——三种不同确定性
平衡：不只说"AI is bad"，也说了新机会——展示思辨
本地例子：Shenzhen's tech sector——深圳学生真实素材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3 学术词汇表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3 Academic Vocabulary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论点与观点词汇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I'd argue that</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我认为（比I think更有力，表示论证立场）</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it is widely acknowledged</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普遍认为（客观表达，适合Part 3）</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there is a growing tendency</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有越来越多的趋势（描述社会现象）</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significant implications</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重要影响（it has significant implications for...）</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It stands to reason that</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合理推断（学术讨论中表达逻辑结论）</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one could argue that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有人可以认为（引入另一方观点）</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the evidence suggests</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证据表明（学术风格的证据引用）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比较与对比词汇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whereas</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然而/相比之下（whereas in the past...now...）</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in contrast</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相比之下（in contrast to...）</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has dramatically shifted</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发生了戏剧性的转变</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increasingly</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越来越（is increasingly...）</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far more/less</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远比...多/少（far more accessible / far less common）</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a stark contrast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鲜明对比（there's a stark contrast between X and Y）</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compared to</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与...相比（compared to a decade ago...）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让步与平衡词汇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that said</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话虽如此（引出让步或转折）</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having said that</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尽管如此（正式的让步连接词）</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I do acknowledge that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我承认（展示思辨：I do acknowledge the merits of...）</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it's worth noting that</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值得注意的是（引出补充观点）</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on the other hand</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另一方面（对比观点）</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to a certain extent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在某种程度上（平衡立场）</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the reality is more nuanced</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现实更复杂（展示深度思考）</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Part 3 四大题型快速框架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ectangle 6"/>
          <p:cNvSpPr/>
          <p:nvPr/>
        </p:nvSpPr>
        <p:spPr>
          <a:xfrm>
            <a:off x="548640" y="1188720"/>
            <a:ext cx="5486400" cy="4572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观点类（Do you think...）</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A33607"/>
                </a:solidFill>
              </a:rPr>
              <a:t>• 开头</a:t>
            </a:r>
          </a:p>
          <a:p>
            <a:pPr>
              <a:spcBef>
                <a:spcPts val="100"/>
              </a:spcBef>
            </a:pPr>
            <a:r>
              <a:rPr sz="1350">
                <a:solidFill>
                  <a:srgbClr val="556075"/>
                </a:solidFill>
              </a:rPr>
              <a:t>   I'd argue that... / I'm inclined to think...</a:t>
            </a:r>
          </a:p>
          <a:p>
            <a:pPr>
              <a:spcBef>
                <a:spcPts val="700"/>
              </a:spcBef>
            </a:pPr>
            <a:r>
              <a:rPr sz="1650" b="1">
                <a:solidFill>
                  <a:srgbClr val="A33607"/>
                </a:solidFill>
              </a:rPr>
              <a:t>• 论证</a:t>
            </a:r>
          </a:p>
          <a:p>
            <a:pPr>
              <a:spcBef>
                <a:spcPts val="100"/>
              </a:spcBef>
            </a:pPr>
            <a:r>
              <a:rPr sz="1350">
                <a:solidFill>
                  <a:srgbClr val="556075"/>
                </a:solidFill>
              </a:rPr>
              <a:t>   This is largely because...</a:t>
            </a:r>
          </a:p>
          <a:p>
            <a:pPr>
              <a:spcBef>
                <a:spcPts val="700"/>
              </a:spcBef>
            </a:pPr>
            <a:r>
              <a:rPr sz="1650" b="1">
                <a:solidFill>
                  <a:srgbClr val="A33607"/>
                </a:solidFill>
              </a:rPr>
              <a:t>• 例子</a:t>
            </a:r>
          </a:p>
          <a:p>
            <a:pPr>
              <a:spcBef>
                <a:spcPts val="100"/>
              </a:spcBef>
            </a:pPr>
            <a:r>
              <a:rPr sz="1350">
                <a:solidFill>
                  <a:srgbClr val="556075"/>
                </a:solidFill>
              </a:rPr>
              <a:t>   Take [X] for instance...</a:t>
            </a:r>
          </a:p>
          <a:p>
            <a:pPr>
              <a:spcBef>
                <a:spcPts val="700"/>
              </a:spcBef>
            </a:pPr>
            <a:r>
              <a:rPr sz="1650" b="1">
                <a:solidFill>
                  <a:srgbClr val="A33607"/>
                </a:solidFill>
              </a:rPr>
              <a:t>• 让步</a:t>
            </a:r>
          </a:p>
          <a:p>
            <a:pPr>
              <a:spcBef>
                <a:spcPts val="100"/>
              </a:spcBef>
            </a:pPr>
            <a:r>
              <a:rPr sz="1350">
                <a:solidFill>
                  <a:srgbClr val="556075"/>
                </a:solidFill>
              </a:rPr>
              <a:t>   That said, I do acknowledge...</a:t>
            </a:r>
          </a:p>
        </p:txBody>
      </p:sp>
      <p:sp>
        <p:nvSpPr>
          <p:cNvPr id="10" name="Rectangle 9"/>
          <p:cNvSpPr/>
          <p:nvPr/>
        </p:nvSpPr>
        <p:spPr>
          <a:xfrm>
            <a:off x="6355079" y="1188720"/>
            <a:ext cx="5486400" cy="4572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原因/比较/预测类</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A33607"/>
                </a:solidFill>
              </a:rPr>
              <a:t>• 原因开头</a:t>
            </a:r>
          </a:p>
          <a:p>
            <a:pPr>
              <a:spcBef>
                <a:spcPts val="100"/>
              </a:spcBef>
            </a:pPr>
            <a:r>
              <a:rPr sz="1350">
                <a:solidFill>
                  <a:srgbClr val="556075"/>
                </a:solidFill>
              </a:rPr>
              <a:t>   There are several reasons. First... In addition...</a:t>
            </a:r>
          </a:p>
          <a:p>
            <a:pPr>
              <a:spcBef>
                <a:spcPts val="700"/>
              </a:spcBef>
            </a:pPr>
            <a:r>
              <a:rPr sz="1650" b="1">
                <a:solidFill>
                  <a:srgbClr val="A33607"/>
                </a:solidFill>
              </a:rPr>
              <a:t>• 比较开头</a:t>
            </a:r>
          </a:p>
          <a:p>
            <a:pPr>
              <a:spcBef>
                <a:spcPts val="100"/>
              </a:spcBef>
            </a:pPr>
            <a:r>
              <a:rPr sz="1350">
                <a:solidFill>
                  <a:srgbClr val="556075"/>
                </a:solidFill>
              </a:rPr>
              <a:t>   X has significantly changed compared to... Whereas once...</a:t>
            </a:r>
          </a:p>
          <a:p>
            <a:pPr>
              <a:spcBef>
                <a:spcPts val="700"/>
              </a:spcBef>
            </a:pPr>
            <a:r>
              <a:rPr sz="1650" b="1">
                <a:solidFill>
                  <a:srgbClr val="A33607"/>
                </a:solidFill>
              </a:rPr>
              <a:t>• 预测开头</a:t>
            </a:r>
          </a:p>
          <a:p>
            <a:pPr>
              <a:spcBef>
                <a:spcPts val="100"/>
              </a:spcBef>
            </a:pPr>
            <a:r>
              <a:rPr sz="1350">
                <a:solidFill>
                  <a:srgbClr val="556075"/>
                </a:solidFill>
              </a:rPr>
              <a:t>   I think it's likely that... / AI will probably...</a:t>
            </a:r>
          </a:p>
          <a:p>
            <a:pPr>
              <a:spcBef>
                <a:spcPts val="700"/>
              </a:spcBef>
            </a:pPr>
            <a:r>
              <a:rPr sz="1650" b="1">
                <a:solidFill>
                  <a:srgbClr val="A33607"/>
                </a:solidFill>
              </a:rPr>
              <a:t>• 收尾</a:t>
            </a:r>
          </a:p>
          <a:p>
            <a:pPr>
              <a:spcBef>
                <a:spcPts val="100"/>
              </a:spcBef>
            </a:pPr>
            <a:r>
              <a:rPr sz="1350">
                <a:solidFill>
                  <a:srgbClr val="556075"/>
                </a:solidFill>
              </a:rPr>
              <a:t>   This is why... / All things considered...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3 论点构建系统</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3 Argumentation System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1-3：论点准备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话题素材库（备考时）</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5个话题各准备2个论点+2个例子——考前建立，考场直接用</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问题分类</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听到Part 3问题，立刻判断：观点类/原因类/比较类/预测类——选择对应框架</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争取思考时间</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That's an interesting question. I suppose...——合法争取2-3秒思考</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4-6：论点执行</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P先行</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第一句话说立场——不能开头就"it depends"然后停止，要说"it depends, but..."</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E用学术词汇</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解释部分用Part 3词汇：largely/primarily/tend to/is likely to</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E用具体例子</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例子越具体越好：国家名/城市名/数据/真实事件</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7-8：让步与收尾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A让步升级</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加That said/Having said that——然后说另一方的合理性，展示思辨深度</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TextBox 14"/>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L收尾要有力</a:t>
            </a:r>
          </a:p>
        </p:txBody>
      </p:sp>
      <p:sp>
        <p:nvSpPr>
          <p:cNvPr id="16" name="TextBox 15"/>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不是简单重复，是升华：This is why society needs to... / All of this suggests...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3完整Band 7示范：教育话题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students learn more effectively in groups or individually?"</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say it genuinely depends on the type of learning involved, though I'm inclined to favour group learning for complex conceptual understanding. When students explain ideas to each other, they consolidate their own knowledge in ways that solitary study rarely achieves. Research in educational psychology suggests that peer teaching is one of the most effective learning strategies available. In Shenzhen's competitive school environment, I've seen students form study groups that outperform those who study alone, particularly for subjects like maths and science. That said, I do think individual study is irreplaceable for deep reading and reflection — there are some forms of understanding that require uninterrupted concentration and can't happen in a group setting.</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PEELA结构：立场→解释→研究证据→本地例子→让步</a:t>
            </a:r>
          </a:p>
          <a:p>
            <a:pPr>
              <a:spcBef>
                <a:spcPts val="700"/>
              </a:spcBef>
            </a:pPr>
            <a:r>
              <a:rPr sz="1200">
                <a:solidFill>
                  <a:srgbClr val="1E293B"/>
                </a:solidFill>
              </a:rPr>
              <a:t>▸ 学术词汇：consolidate/solitary/peer teaching/irreplaceable/uninterrupted concentration</a:t>
            </a:r>
          </a:p>
          <a:p>
            <a:pPr>
              <a:spcBef>
                <a:spcPts val="700"/>
              </a:spcBef>
            </a:pPr>
            <a:r>
              <a:rPr sz="1200">
                <a:solidFill>
                  <a:srgbClr val="1E293B"/>
                </a:solidFill>
              </a:rPr>
              <a:t>▸ GRA：that从句×2/which从句/conditional can't happen——语法多样</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3完整Band 7示范：科技话题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technology is making people less social?"</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That's a nuanced question, and I think the honest answer is: it's doing both simultaneously. On one hand, technology has undeniably made certain types of social interaction more frequent — I'm in constant contact with friends and family through WeChat in a way that wouldn't have been possible before smartphones. On the other hand, there's growing evidence that the depth of social connections is declining. When you're physically with someone but both staring at your phones, that's technically social but functionally isolated. I think the key distinction is between the quantity and the quality of social interaction — technology has massively increased the former while potentially diminishing the latter. The solution isn't to reject technology but to be more intentional about how we use it.</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对比结构：On one hand...On the other hand——CC连贯性的高分技巧</a:t>
            </a:r>
          </a:p>
          <a:p>
            <a:pPr>
              <a:spcBef>
                <a:spcPts val="700"/>
              </a:spcBef>
            </a:pPr>
            <a:r>
              <a:rPr sz="1200">
                <a:solidFill>
                  <a:srgbClr val="1E293B"/>
                </a:solidFill>
              </a:rPr>
              <a:t>▸ 词汇：undeniably/functionally isolated/intentional/diminishing——学术词汇</a:t>
            </a:r>
          </a:p>
          <a:p>
            <a:pPr>
              <a:spcBef>
                <a:spcPts val="700"/>
              </a:spcBef>
            </a:pPr>
            <a:r>
              <a:rPr sz="1200">
                <a:solidFill>
                  <a:srgbClr val="1E293B"/>
                </a:solidFill>
              </a:rPr>
              <a:t>▸ 结论升级：不只说结论，说了解决方向——展示深度思考</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3答案：浅层 vs 深度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浅层答案（6分）</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深度答案（7分+）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 think technology is bad because people use their phones too much."</a:t>
            </a:r>
          </a:p>
          <a:p>
            <a:pPr>
              <a:spcBef>
                <a:spcPts val="700"/>
              </a:spcBef>
            </a:pPr>
            <a:r>
              <a:rPr sz="1350">
                <a:solidFill>
                  <a:srgbClr val="C02A2A"/>
                </a:solidFill>
              </a:rPr>
              <a:t>✗ 只说立场，没有PEEL</a:t>
            </a:r>
          </a:p>
          <a:p>
            <a:pPr>
              <a:spcBef>
                <a:spcPts val="700"/>
              </a:spcBef>
            </a:pPr>
            <a:r>
              <a:rPr sz="1350">
                <a:solidFill>
                  <a:srgbClr val="C02A2A"/>
                </a:solidFill>
              </a:rPr>
              <a:t>✗ 没有解释为什么，没有例子</a:t>
            </a:r>
          </a:p>
          <a:p>
            <a:pPr>
              <a:spcBef>
                <a:spcPts val="700"/>
              </a:spcBef>
            </a:pPr>
            <a:r>
              <a:rPr sz="1350">
                <a:solidFill>
                  <a:srgbClr val="C02A2A"/>
                </a:solidFill>
              </a:rPr>
              <a:t>✗ 词汇：bad / too much——最简单的词</a:t>
            </a:r>
          </a:p>
          <a:p>
            <a:pPr>
              <a:spcBef>
                <a:spcPts val="700"/>
              </a:spcBef>
            </a:pPr>
            <a:r>
              <a:rPr sz="1350">
                <a:solidFill>
                  <a:srgbClr val="C02A2A"/>
                </a:solidFill>
              </a:rPr>
              <a:t>✗ 约15秒就说完了</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"I'd argue the impact is predominantly negative, though..."</a:t>
            </a:r>
          </a:p>
          <a:p>
            <a:pPr>
              <a:spcBef>
                <a:spcPts val="700"/>
              </a:spcBef>
            </a:pPr>
            <a:r>
              <a:rPr sz="1350">
                <a:solidFill>
                  <a:srgbClr val="1B7A3D"/>
                </a:solidFill>
              </a:rPr>
              <a:t>✓ PEEL结构：立场→解释→例子→让步</a:t>
            </a:r>
          </a:p>
          <a:p>
            <a:pPr>
              <a:spcBef>
                <a:spcPts val="700"/>
              </a:spcBef>
            </a:pPr>
            <a:r>
              <a:rPr sz="1350">
                <a:solidFill>
                  <a:srgbClr val="1B7A3D"/>
                </a:solidFill>
              </a:rPr>
              <a:t>✓ 有因果解释，有具体例子（WeChat/Shenzhen）</a:t>
            </a:r>
          </a:p>
          <a:p>
            <a:pPr>
              <a:spcBef>
                <a:spcPts val="700"/>
              </a:spcBef>
            </a:pPr>
            <a:r>
              <a:rPr sz="1350">
                <a:solidFill>
                  <a:srgbClr val="1B7A3D"/>
                </a:solidFill>
              </a:rPr>
              <a:t>✓ 词汇：predominantly/diminishing/intentional</a:t>
            </a:r>
          </a:p>
          <a:p>
            <a:pPr>
              <a:spcBef>
                <a:spcPts val="700"/>
              </a:spcBef>
            </a:pPr>
            <a:r>
              <a:rPr sz="1350">
                <a:solidFill>
                  <a:srgbClr val="1B7A3D"/>
                </a:solidFill>
              </a:rPr>
              <a:t>✓ 约55秒，内容充实</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 答题错误 vs 正确开场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错误开场（降低CC分）</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正确开场（提升CC分）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"It depends."（然后停顿）</a:t>
            </a:r>
          </a:p>
          <a:p>
            <a:pPr>
              <a:spcBef>
                <a:spcPts val="700"/>
              </a:spcBef>
            </a:pPr>
            <a:r>
              <a:rPr sz="1350">
                <a:solidFill>
                  <a:srgbClr val="C02A2A"/>
                </a:solidFill>
              </a:rPr>
              <a:t>✗ "That's a very good question."（然后停顿）</a:t>
            </a:r>
          </a:p>
          <a:p>
            <a:pPr>
              <a:spcBef>
                <a:spcPts val="700"/>
              </a:spcBef>
            </a:pPr>
            <a:r>
              <a:rPr sz="1350">
                <a:solidFill>
                  <a:srgbClr val="C02A2A"/>
                </a:solidFill>
              </a:rPr>
              <a:t>✗ "Um... I think... um... it's complicated."</a:t>
            </a:r>
          </a:p>
          <a:p>
            <a:pPr>
              <a:spcBef>
                <a:spcPts val="700"/>
              </a:spcBef>
            </a:pPr>
            <a:r>
              <a:rPr sz="1350">
                <a:solidFill>
                  <a:srgbClr val="C02A2A"/>
                </a:solidFill>
              </a:rPr>
              <a:t>✗ "In my country, people think..."（背诵感）</a:t>
            </a:r>
          </a:p>
          <a:p>
            <a:pPr>
              <a:spcBef>
                <a:spcPts val="700"/>
              </a:spcBef>
            </a:pPr>
            <a:r>
              <a:rPr sz="1350">
                <a:solidFill>
                  <a:srgbClr val="C02A2A"/>
                </a:solidFill>
              </a:rPr>
              <a:t>✗ 说完一句就停，等考官追问</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"It depends, but I'd lean towards..."（加上立场）</a:t>
            </a:r>
          </a:p>
          <a:p>
            <a:pPr>
              <a:spcBef>
                <a:spcPts val="700"/>
              </a:spcBef>
            </a:pPr>
            <a:r>
              <a:rPr sz="1350">
                <a:solidFill>
                  <a:srgbClr val="1B7A3D"/>
                </a:solidFill>
              </a:rPr>
              <a:t>✓ "That's a thought-provoking point. I'd say..."（继续说）</a:t>
            </a:r>
          </a:p>
          <a:p>
            <a:pPr>
              <a:spcBef>
                <a:spcPts val="700"/>
              </a:spcBef>
            </a:pPr>
            <a:r>
              <a:rPr sz="1350">
                <a:solidFill>
                  <a:srgbClr val="1B7A3D"/>
                </a:solidFill>
              </a:rPr>
              <a:t>✓ "Well, the way I see it..."（流畅填充语）</a:t>
            </a:r>
          </a:p>
          <a:p>
            <a:pPr>
              <a:spcBef>
                <a:spcPts val="700"/>
              </a:spcBef>
            </a:pPr>
            <a:r>
              <a:rPr sz="1350">
                <a:solidFill>
                  <a:srgbClr val="1B7A3D"/>
                </a:solidFill>
              </a:rPr>
              <a:t>✓ "From my experience in Shenzhen..."（真实背景）</a:t>
            </a:r>
          </a:p>
          <a:p>
            <a:pPr>
              <a:spcBef>
                <a:spcPts val="700"/>
              </a:spcBef>
            </a:pPr>
            <a:r>
              <a:rPr sz="1350">
                <a:solidFill>
                  <a:srgbClr val="1B7A3D"/>
                </a:solidFill>
              </a:rPr>
              <a:t>✓ 说完立场后立刻开始解释（不停顿）</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课堂练习：Part 3 实战训练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Classroom Drills: Part 3 Practice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练习1：PEEL框架速写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以下题目，先写PEEL框架（关键词），再口头回答</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"Do you think universities should be free for all students?"——写P/E/E/L各2个词，然后说60秒</a:t>
            </a:r>
          </a:p>
          <a:p>
            <a:pPr>
              <a:spcBef>
                <a:spcPts val="1100"/>
              </a:spcBef>
            </a:pPr>
            <a:r>
              <a:rPr sz="1500">
                <a:solidFill>
                  <a:srgbClr val="1E293B"/>
                </a:solidFill>
              </a:rPr>
              <a:t>▢ "Why do some people prefer to work from home?"——写3个原因的关键词，然后说60秒</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练习2：学术词汇替换</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把以下Part 3答案中的简单词换成学术词汇</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"I think this is good because many people do it now."（全句替换）</a:t>
            </a:r>
          </a:p>
          <a:p>
            <a:pPr>
              <a:spcBef>
                <a:spcPts val="1100"/>
              </a:spcBef>
            </a:pPr>
            <a:r>
              <a:rPr sz="1500">
                <a:solidFill>
                  <a:srgbClr val="1E293B"/>
                </a:solidFill>
              </a:rPr>
              <a:t>▢ "The reason is that people like technology."（全句替换）</a:t>
            </a:r>
          </a:p>
          <a:p>
            <a:pPr>
              <a:spcBef>
                <a:spcPts val="1100"/>
              </a:spcBef>
            </a:pPr>
            <a:r>
              <a:rPr sz="1500">
                <a:solidFill>
                  <a:srgbClr val="1E293B"/>
                </a:solidFill>
              </a:rPr>
              <a:t>▢ "This is bad for society. Many countries have this problem."（全句替换）</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练习3：让步训练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以下论点，加上一个That said/Having said that的让步句</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"I believe social media is harmful to teenagers's mental health."→ 加让步</a:t>
            </a:r>
          </a:p>
          <a:p>
            <a:pPr>
              <a:spcBef>
                <a:spcPts val="1100"/>
              </a:spcBef>
            </a:pPr>
            <a:r>
              <a:rPr sz="1500">
                <a:solidFill>
                  <a:srgbClr val="1E293B"/>
                </a:solidFill>
              </a:rPr>
              <a:t>▢ "I think city life is better than rural life."→ 加让步</a:t>
            </a:r>
          </a:p>
          <a:p>
            <a:pPr>
              <a:spcBef>
                <a:spcPts val="1100"/>
              </a:spcBef>
            </a:pPr>
            <a:r>
              <a:rPr sz="1500">
                <a:solidFill>
                  <a:srgbClr val="1E293B"/>
                </a:solidFill>
              </a:rPr>
              <a:t>▢ "Governments should prioritise economic growth over environmental protection."→ 加让步</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练习4：60秒计时Part 3</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计时回答以下题目，每题60秒，用PEEL或PEELA框架</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"Do you think parents or schools are more responsible for children's education?"</a:t>
            </a:r>
          </a:p>
          <a:p>
            <a:pPr>
              <a:spcBef>
                <a:spcPts val="1100"/>
              </a:spcBef>
            </a:pPr>
            <a:r>
              <a:rPr sz="1500">
                <a:solidFill>
                  <a:srgbClr val="1E293B"/>
                </a:solidFill>
              </a:rPr>
              <a:t>▢ "How has the role of women in your country changed over the last few decades?"</a:t>
            </a:r>
          </a:p>
          <a:p>
            <a:pPr>
              <a:spcBef>
                <a:spcPts val="1100"/>
              </a:spcBef>
            </a:pPr>
            <a:r>
              <a:rPr sz="1500">
                <a:solidFill>
                  <a:srgbClr val="1E293B"/>
                </a:solidFill>
              </a:rPr>
              <a:t>▢ "What are the advantages and disadvantages of living in a big city?"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练习5：话题素材库建立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选一个话题，30分钟内建立完整素材库</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"科技话题"：写2个论点+2个例子+5个学术词汇（用于AI/social media/automation问题）</a:t>
            </a:r>
          </a:p>
          <a:p>
            <a:pPr>
              <a:spcBef>
                <a:spcPts val="1100"/>
              </a:spcBef>
            </a:pPr>
            <a:r>
              <a:rPr sz="1500">
                <a:solidFill>
                  <a:srgbClr val="1E293B"/>
                </a:solidFill>
              </a:rPr>
              <a:t>▢ "教育话题"：写2个论点+2个例子+5个学术词汇（用于school/learning/exam问题）</a:t>
            </a:r>
          </a:p>
          <a:p>
            <a:pPr>
              <a:spcBef>
                <a:spcPts val="1100"/>
              </a:spcBef>
            </a:pPr>
            <a:r>
              <a:rPr sz="1500">
                <a:solidFill>
                  <a:srgbClr val="1E293B"/>
                </a:solidFill>
              </a:rPr>
              <a:t>▢ 然后用建立的素材库回答老师给出的相关Part 3题目</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3 常见误区</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3 Common Pitfalls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Part 3的三大误区</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误区1：只说立场不给论证——"I think social media is bad. That's my opinion."——只有P没有EEL</a:t>
            </a:r>
          </a:p>
          <a:p>
            <a:pPr>
              <a:spcBef>
                <a:spcPts val="800"/>
              </a:spcBef>
            </a:pPr>
            <a:r>
              <a:rPr sz="1400">
                <a:solidFill>
                  <a:srgbClr val="C02A2A"/>
                </a:solidFill>
              </a:rPr>
              <a:t>✗ 误区2：没有让步只有单一立场——GRA和LR都需要展示对比/复杂性，单一立场限制了得分</a:t>
            </a:r>
          </a:p>
          <a:p>
            <a:pPr>
              <a:spcBef>
                <a:spcPts val="800"/>
              </a:spcBef>
            </a:pPr>
            <a:r>
              <a:rPr sz="1400">
                <a:solidFill>
                  <a:srgbClr val="C02A2A"/>
                </a:solidFill>
              </a:rPr>
              <a:t>✗ 误区3：用Part 1词汇回答Part 3——good/nice/like/very bad在Part 3出现会直接影响LR分</a:t>
            </a:r>
          </a:p>
        </p:txBody>
      </p:sp>
      <p:sp>
        <p:nvSpPr>
          <p:cNvPr id="8" name="Rectangle 7"/>
          <p:cNvSpPr/>
          <p:nvPr/>
        </p:nvSpPr>
        <p:spPr>
          <a:xfrm>
            <a:off x="6108192" y="1097280"/>
            <a:ext cx="36576" cy="5212080"/>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PEEL口诀：每题必须有P（立场）+E（解释）+E（例子）+L（总结）</a:t>
            </a:r>
          </a:p>
          <a:p>
            <a:pPr>
              <a:spcBef>
                <a:spcPts val="800"/>
              </a:spcBef>
            </a:pPr>
            <a:r>
              <a:rPr sz="1400">
                <a:solidFill>
                  <a:srgbClr val="1B7A3D"/>
                </a:solidFill>
              </a:rPr>
              <a:t>✓ 每题必须有让步（That said）：即使立场很明确，加一句让步会让答案从6分变7分</a:t>
            </a:r>
          </a:p>
          <a:p>
            <a:pPr>
              <a:spcBef>
                <a:spcPts val="800"/>
              </a:spcBef>
            </a:pPr>
            <a:r>
              <a:rPr sz="1400">
                <a:solidFill>
                  <a:srgbClr val="1B7A3D"/>
                </a:solidFill>
              </a:rPr>
              <a:t>✓ Part 3词汇清单：每个话题准备5个专属学术词——这些词会让LR分明显提升</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5大话题素材库快速建立指南</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教育话题</a:t>
            </a:r>
          </a:p>
          <a:p>
            <a:pPr>
              <a:spcBef>
                <a:spcPts val="100"/>
              </a:spcBef>
            </a:pPr>
            <a:r>
              <a:rPr sz="1550">
                <a:solidFill>
                  <a:srgbClr val="556075"/>
                </a:solidFill>
              </a:rPr>
              <a:t>   论点：academic pressure / creativity vs rote learning
例子：Finland's education system / China's gaokao system
词汇：curriculum/pedagogy/critical thinking/peer learning</a:t>
            </a:r>
          </a:p>
          <a:p>
            <a:pPr>
              <a:spcBef>
                <a:spcPts val="1000"/>
              </a:spcBef>
            </a:pPr>
            <a:r>
              <a:rPr sz="1850" b="1">
                <a:solidFill>
                  <a:srgbClr val="A33607"/>
                </a:solidFill>
              </a:rPr>
              <a:t>• 科技话题</a:t>
            </a:r>
          </a:p>
          <a:p>
            <a:pPr>
              <a:spcBef>
                <a:spcPts val="100"/>
              </a:spcBef>
            </a:pPr>
            <a:r>
              <a:rPr sz="1550">
                <a:solidFill>
                  <a:srgbClr val="556075"/>
                </a:solidFill>
              </a:rPr>
              <a:t>   论点：AI replacing jobs / social media and mental health
例子：Shenzhen tech industry / WeChat ecosystem
词汇：automation/algorithm/digital literacy/cybersecurity</a:t>
            </a:r>
          </a:p>
          <a:p>
            <a:pPr>
              <a:spcBef>
                <a:spcPts val="1000"/>
              </a:spcBef>
            </a:pPr>
            <a:r>
              <a:rPr sz="1850" b="1">
                <a:solidFill>
                  <a:srgbClr val="A33607"/>
                </a:solidFill>
              </a:rPr>
              <a:t>• 环境话题</a:t>
            </a:r>
          </a:p>
          <a:p>
            <a:pPr>
              <a:spcBef>
                <a:spcPts val="100"/>
              </a:spcBef>
            </a:pPr>
            <a:r>
              <a:rPr sz="1550">
                <a:solidFill>
                  <a:srgbClr val="556075"/>
                </a:solidFill>
              </a:rPr>
              <a:t>   论点：individual vs government responsibility
例子：Shenzhen's green building push / carbon neutrality targets
词汇：sustainability/carbon footprint/renewable/biodiversity</a:t>
            </a:r>
          </a:p>
          <a:p>
            <a:pPr>
              <a:spcBef>
                <a:spcPts val="1000"/>
              </a:spcBef>
            </a:pPr>
            <a:r>
              <a:rPr sz="1850" b="1">
                <a:solidFill>
                  <a:srgbClr val="A33607"/>
                </a:solidFill>
              </a:rPr>
              <a:t>• 社会话题</a:t>
            </a:r>
          </a:p>
          <a:p>
            <a:pPr>
              <a:spcBef>
                <a:spcPts val="100"/>
              </a:spcBef>
            </a:pPr>
            <a:r>
              <a:rPr sz="1550">
                <a:solidFill>
                  <a:srgbClr val="556075"/>
                </a:solidFill>
              </a:rPr>
              <a:t>   论点：urbanisation / gender equality / wealth gap
例子：Shenzhen's migrant workers / dual-income families
词汇：inequality/marginalised/social mobility/demographic</a:t>
            </a:r>
          </a:p>
          <a:p>
            <a:pPr>
              <a:spcBef>
                <a:spcPts val="1000"/>
              </a:spcBef>
            </a:pPr>
            <a:r>
              <a:rPr sz="1850" b="1">
                <a:solidFill>
                  <a:srgbClr val="A33607"/>
                </a:solidFill>
              </a:rPr>
              <a:t>• 文化话题</a:t>
            </a:r>
          </a:p>
          <a:p>
            <a:pPr>
              <a:spcBef>
                <a:spcPts val="100"/>
              </a:spcBef>
            </a:pPr>
            <a:r>
              <a:rPr sz="1550">
                <a:solidFill>
                  <a:srgbClr val="556075"/>
                </a:solidFill>
              </a:rPr>
              <a:t>   论点：globalisation vs local culture / tradition vs modernity
例子：Shenzhen's urban villages / Cantonese culture preservation
词汇：cultural identity/assimilation/heritage/diversity</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深圳学生注意：考场策略：当Part 3问题出现时，立刻归类到这5个话题中的一个——然后调用素材库</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Part 3答案质量自检清单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时间检查</a:t>
            </a:r>
          </a:p>
          <a:p>
            <a:pPr>
              <a:spcBef>
                <a:spcPts val="100"/>
              </a:spcBef>
            </a:pPr>
            <a:r>
              <a:rPr sz="1550">
                <a:solidFill>
                  <a:srgbClr val="556075"/>
                </a:solidFill>
              </a:rPr>
              <a:t>   是否说了至少45秒？如果没有，用PEEL检查缺少了哪个环节</a:t>
            </a:r>
          </a:p>
          <a:p>
            <a:pPr>
              <a:spcBef>
                <a:spcPts val="1000"/>
              </a:spcBef>
            </a:pPr>
            <a:r>
              <a:rPr sz="1850" b="1">
                <a:solidFill>
                  <a:srgbClr val="A33607"/>
                </a:solidFill>
              </a:rPr>
              <a:t>• 立场检查</a:t>
            </a:r>
          </a:p>
          <a:p>
            <a:pPr>
              <a:spcBef>
                <a:spcPts val="100"/>
              </a:spcBef>
            </a:pPr>
            <a:r>
              <a:rPr sz="1550">
                <a:solidFill>
                  <a:srgbClr val="556075"/>
                </a:solidFill>
              </a:rPr>
              <a:t>   是否有明确的立场（I'd argue/I'm inclined to）？</a:t>
            </a:r>
          </a:p>
          <a:p>
            <a:pPr>
              <a:spcBef>
                <a:spcPts val="1000"/>
              </a:spcBef>
            </a:pPr>
            <a:r>
              <a:rPr sz="1850" b="1">
                <a:solidFill>
                  <a:srgbClr val="A33607"/>
                </a:solidFill>
              </a:rPr>
              <a:t>• 词汇检查</a:t>
            </a:r>
          </a:p>
          <a:p>
            <a:pPr>
              <a:spcBef>
                <a:spcPts val="100"/>
              </a:spcBef>
            </a:pPr>
            <a:r>
              <a:rPr sz="1550">
                <a:solidFill>
                  <a:srgbClr val="556075"/>
                </a:solidFill>
              </a:rPr>
              <a:t>   是否用了话题相关的学术词汇？有没有bad/good/very等简单词？</a:t>
            </a:r>
          </a:p>
          <a:p>
            <a:pPr>
              <a:spcBef>
                <a:spcPts val="1000"/>
              </a:spcBef>
            </a:pPr>
            <a:r>
              <a:rPr sz="1850" b="1">
                <a:solidFill>
                  <a:srgbClr val="A33607"/>
                </a:solidFill>
              </a:rPr>
              <a:t>• 例子检查</a:t>
            </a:r>
          </a:p>
          <a:p>
            <a:pPr>
              <a:spcBef>
                <a:spcPts val="100"/>
              </a:spcBef>
            </a:pPr>
            <a:r>
              <a:rPr sz="1550">
                <a:solidFill>
                  <a:srgbClr val="556075"/>
                </a:solidFill>
              </a:rPr>
              <a:t>   是否有具体例子（国家/数据/真实事件）？</a:t>
            </a:r>
          </a:p>
          <a:p>
            <a:pPr>
              <a:spcBef>
                <a:spcPts val="1000"/>
              </a:spcBef>
            </a:pPr>
            <a:r>
              <a:rPr sz="1850" b="1">
                <a:solidFill>
                  <a:srgbClr val="A33607"/>
                </a:solidFill>
              </a:rPr>
              <a:t>• 让步检查</a:t>
            </a:r>
          </a:p>
          <a:p>
            <a:pPr>
              <a:spcBef>
                <a:spcPts val="100"/>
              </a:spcBef>
            </a:pPr>
            <a:r>
              <a:rPr sz="1550">
                <a:solidFill>
                  <a:srgbClr val="556075"/>
                </a:solidFill>
              </a:rPr>
              <a:t>   是否有That said/Having said that这样的让步句？</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深圳学生注意：5项全是Yes = 7分以上的答案；3-4项Yes = 良好；少于3项 = 重用PEEL框架重答</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 即时救援工具</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没有素材时</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从个人经历推断：Based on my own experience in Shenzhen, I'd say...</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忘了例子时</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用假设例子：Imagine a scenario where... / Consider the case of someone who...</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立场不确定时</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两面都说：I can see merit in both sides, though I'd lean towards...</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时间不够时</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直接跳到L总结：In short, this is why I believe that...</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被追问时</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重申并深化：Building on what I said earlier, I think the key point is...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 高频学术词速查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社会现象</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there is a growing tendency / it is increasingly common / a significant shift</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原因分析</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largely due to / a key contributing factor is / this stems from</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对比比较</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whereas / in contrast / compared to / has significantly changed</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预测推断</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is likely to / might well / it's plausible that / current trends suggest</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平衡让步</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that said / I do acknowledge / it's worth noting / to a certain extent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L05课后自检清单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建立5个话题的素材库：各2个论点+2个例子+5个词汇（可用表格形式）</a:t>
            </a:r>
          </a:p>
          <a:p>
            <a:pPr>
              <a:spcBef>
                <a:spcPts val="1200"/>
              </a:spcBef>
            </a:pPr>
            <a:r>
              <a:rPr sz="1600">
                <a:solidFill>
                  <a:srgbClr val="1E293B"/>
                </a:solidFill>
              </a:rPr>
              <a:t>☐ 练习PEEL框架：录音回答5道Part 3题目，每题目标45-60秒</a:t>
            </a:r>
          </a:p>
          <a:p>
            <a:pPr>
              <a:spcBef>
                <a:spcPts val="1200"/>
              </a:spcBef>
            </a:pPr>
            <a:r>
              <a:rPr sz="1600">
                <a:solidFill>
                  <a:srgbClr val="1E293B"/>
                </a:solidFill>
              </a:rPr>
              <a:t>☐ 让步训练：在每个答案中加入That said/Having said that——检查是否自然</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L05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8C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Part 3性质：比Part 1更抽象，需要论证不是描述，每题45-60秒</a:t>
            </a:r>
          </a:p>
          <a:p>
            <a:pPr>
              <a:spcBef>
                <a:spcPts val="1100"/>
              </a:spcBef>
            </a:pPr>
            <a:r>
              <a:rPr sz="1550">
                <a:solidFill>
                  <a:srgbClr val="FFFFFF"/>
                </a:solidFill>
              </a:rPr>
              <a:t>✓  PEEL框架：Point→Explain→Example→Link back，加A让步=PEELA</a:t>
            </a:r>
          </a:p>
          <a:p>
            <a:pPr>
              <a:spcBef>
                <a:spcPts val="1100"/>
              </a:spcBef>
            </a:pPr>
            <a:r>
              <a:rPr sz="1550">
                <a:solidFill>
                  <a:srgbClr val="FFFFFF"/>
                </a:solidFill>
              </a:rPr>
              <a:t>✓  四大题型：观点类/原因类/比较类/预测类——各有对应开场词</a:t>
            </a:r>
          </a:p>
          <a:p>
            <a:pPr>
              <a:spcBef>
                <a:spcPts val="1100"/>
              </a:spcBef>
            </a:pPr>
            <a:r>
              <a:rPr sz="1550">
                <a:solidFill>
                  <a:srgbClr val="FFFFFF"/>
                </a:solidFill>
              </a:rPr>
              <a:t>✓  学术词汇：I'd argue / there is a growing tendency / whereas / that said</a:t>
            </a:r>
          </a:p>
          <a:p>
            <a:pPr>
              <a:spcBef>
                <a:spcPts val="1100"/>
              </a:spcBef>
            </a:pPr>
            <a:r>
              <a:rPr sz="1550">
                <a:solidFill>
                  <a:srgbClr val="FFFFFF"/>
                </a:solidFill>
              </a:rPr>
              <a:t>✓  5大话题素材库：教育/科技/环境/社会/文化——考前建立，考场直接用</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L05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8C1D"/>
                </a:solidFill>
                <a:latin typeface="Calibri"/>
              </a:rPr>
              <a:t>⏱ 建议用时：约90分钟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建立5个话题素材库（每个话题2论点+2例子+5词汇）——这是本课最重要的作业</a:t>
            </a:r>
          </a:p>
          <a:p>
            <a:pPr>
              <a:spcBef>
                <a:spcPts val="1300"/>
              </a:spcBef>
            </a:pPr>
            <a:r>
              <a:rPr sz="1550" b="1">
                <a:solidFill>
                  <a:srgbClr val="1E293B"/>
                </a:solidFill>
              </a:rPr>
              <a:t>作业 2　录音练习8道Part 3题目（每个话题1-2道），每题评估是否满足5项清单</a:t>
            </a:r>
          </a:p>
          <a:p>
            <a:pPr>
              <a:spcBef>
                <a:spcPts val="1300"/>
              </a:spcBef>
            </a:pPr>
            <a:r>
              <a:rPr sz="1550" b="1">
                <a:solidFill>
                  <a:srgbClr val="1E293B"/>
                </a:solidFill>
              </a:rPr>
              <a:t>作业 3　学术词汇强化：把本课15个学术词汇写在卡片上，每天看3遍</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8C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L06 · 词汇范围：从6分到7.5分的词汇升级</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话题词汇替换系统：把good/bad/nice换成有力的话题词</a:t>
            </a:r>
          </a:p>
          <a:p>
            <a:pPr>
              <a:spcBef>
                <a:spcPts val="1000"/>
              </a:spcBef>
            </a:pPr>
            <a:r>
              <a:rPr sz="1600">
                <a:solidFill>
                  <a:srgbClr val="CFDCF2"/>
                </a:solidFill>
              </a:rPr>
              <a:t>→ 搭配词与习语：地道表达让LR分跳跃提升</a:t>
            </a:r>
          </a:p>
          <a:p>
            <a:pPr>
              <a:spcBef>
                <a:spcPts val="1000"/>
              </a:spcBef>
            </a:pPr>
            <a:r>
              <a:rPr sz="1600">
                <a:solidFill>
                  <a:srgbClr val="CFDCF2"/>
                </a:solidFill>
              </a:rPr>
              <a:t>→ 词汇激活训练：从被动词汇到主动产出的训练方法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