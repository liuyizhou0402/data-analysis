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L03</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Part 2 独白
人物与地点</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Part 2: Person &amp; Place Cue Cards</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3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Part 2结构与评分</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1分钟准备技巧</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人物类卡片攻略</a:t>
            </a:r>
          </a:p>
        </p:txBody>
      </p:sp>
      <p:sp>
        <p:nvSpPr>
          <p:cNvPr id="16" name="Rounded Rectangle 15"/>
          <p:cNvSpPr/>
          <p:nvPr/>
        </p:nvSpPr>
        <p:spPr>
          <a:xfrm>
            <a:off x="54864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地点类卡片攻略</a:t>
            </a:r>
          </a:p>
        </p:txBody>
      </p:sp>
      <p:sp>
        <p:nvSpPr>
          <p:cNvPr id="19" name="Rounded Rectangle 18"/>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时间管理词汇</a:t>
            </a:r>
          </a:p>
        </p:txBody>
      </p:sp>
      <p:sp>
        <p:nvSpPr>
          <p:cNvPr id="22" name="Rounded Rectangle 21"/>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2分钟发言流程</a:t>
            </a:r>
          </a:p>
        </p:txBody>
      </p:sp>
      <p:sp>
        <p:nvSpPr>
          <p:cNvPr id="25" name="Rounded Rectangle 24"/>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L02回顾：DRE框架核心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D</a:t>
            </a:r>
          </a:p>
          <a:p>
            <a:pPr>
              <a:spcBef>
                <a:spcPts val="100"/>
              </a:spcBef>
            </a:pPr>
            <a:r>
              <a:rPr sz="1550">
                <a:solidFill>
                  <a:srgbClr val="556075"/>
                </a:solidFill>
              </a:rPr>
              <a:t>   直接回答问题，1句话，不铺垫</a:t>
            </a:r>
          </a:p>
          <a:p>
            <a:pPr>
              <a:spcBef>
                <a:spcPts val="1000"/>
              </a:spcBef>
            </a:pPr>
            <a:r>
              <a:rPr sz="1850" b="1">
                <a:solidFill>
                  <a:srgbClr val="A33607"/>
                </a:solidFill>
              </a:rPr>
              <a:t>• R</a:t>
            </a:r>
          </a:p>
          <a:p>
            <a:pPr>
              <a:spcBef>
                <a:spcPts val="100"/>
              </a:spcBef>
            </a:pPr>
            <a:r>
              <a:rPr sz="1550">
                <a:solidFill>
                  <a:srgbClr val="556075"/>
                </a:solidFill>
              </a:rPr>
              <a:t>   理由1-2个，用话题词汇展示LR</a:t>
            </a:r>
          </a:p>
          <a:p>
            <a:pPr>
              <a:spcBef>
                <a:spcPts val="1000"/>
              </a:spcBef>
            </a:pPr>
            <a:r>
              <a:rPr sz="1850" b="1">
                <a:solidFill>
                  <a:srgbClr val="A33607"/>
                </a:solidFill>
              </a:rPr>
              <a:t>• E</a:t>
            </a:r>
          </a:p>
          <a:p>
            <a:pPr>
              <a:spcBef>
                <a:spcPts val="100"/>
              </a:spcBef>
            </a:pPr>
            <a:r>
              <a:rPr sz="1550">
                <a:solidFill>
                  <a:srgbClr val="556075"/>
                </a:solidFill>
              </a:rPr>
              <a:t>   具体例子：时间+地点+人物+感受</a:t>
            </a:r>
          </a:p>
          <a:p>
            <a:pPr>
              <a:spcBef>
                <a:spcPts val="1000"/>
              </a:spcBef>
            </a:pPr>
            <a:r>
              <a:rPr sz="1850" b="1">
                <a:solidFill>
                  <a:srgbClr val="A33607"/>
                </a:solidFill>
              </a:rPr>
              <a:t>• 收尾</a:t>
            </a:r>
          </a:p>
          <a:p>
            <a:pPr>
              <a:spcBef>
                <a:spcPts val="100"/>
              </a:spcBef>
            </a:pPr>
            <a:r>
              <a:rPr sz="1550">
                <a:solidFill>
                  <a:srgbClr val="556075"/>
                </a:solidFill>
              </a:rPr>
              <a:t>   Overall/All in all，显示逻辑完整</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深圳学生注意：本节课：Part 2独白结构+时间管理，目标说满2分钟，覆盖所有提示点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F28C1D"/>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掌握Part 2 Cue Card的结构和1分钟准备策略</a:t>
            </a:r>
          </a:p>
          <a:p>
            <a:pPr>
              <a:spcBef>
                <a:spcPts val="1400"/>
              </a:spcBef>
            </a:pPr>
            <a:r>
              <a:rPr sz="1800">
                <a:solidFill>
                  <a:srgbClr val="1E293B"/>
                </a:solidFill>
              </a:rPr>
              <a:t>✦  能完整覆盖人物类卡片的4个提示点，发言时间达到1分45秒以上</a:t>
            </a:r>
          </a:p>
          <a:p>
            <a:pPr>
              <a:spcBef>
                <a:spcPts val="1400"/>
              </a:spcBef>
            </a:pPr>
            <a:r>
              <a:rPr sz="1800">
                <a:solidFill>
                  <a:srgbClr val="1E293B"/>
                </a:solidFill>
              </a:rPr>
              <a:t>✦  能用感官细节（视觉/听觉/情感）扩展地点类卡片答案</a:t>
            </a:r>
          </a:p>
          <a:p>
            <a:pPr>
              <a:spcBef>
                <a:spcPts val="1400"/>
              </a:spcBef>
            </a:pPr>
            <a:r>
              <a:rPr sz="1800">
                <a:solidFill>
                  <a:srgbClr val="1E293B"/>
                </a:solidFill>
              </a:rPr>
              <a:t>✦  掌握5种时间扩展技巧，避免"说完了不知道说什么"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Part 2的三大失分陷阱</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说太短：1分钟说完就停，还有1分钟时间不知道说什么——CC分因内容不足被扣</a:t>
            </a:r>
          </a:p>
          <a:p>
            <a:pPr>
              <a:spcBef>
                <a:spcPts val="800"/>
              </a:spcBef>
            </a:pPr>
            <a:r>
              <a:rPr sz="1400">
                <a:solidFill>
                  <a:srgbClr val="C02A2A"/>
                </a:solidFill>
              </a:rPr>
              <a:t>✗ 提示点没覆盖：只聊自己感兴趣的部分，卡片上其他问题没答——考官会注意到</a:t>
            </a:r>
          </a:p>
          <a:p>
            <a:pPr>
              <a:spcBef>
                <a:spcPts val="800"/>
              </a:spcBef>
            </a:pPr>
            <a:r>
              <a:rPr sz="1400">
                <a:solidFill>
                  <a:srgbClr val="C02A2A"/>
                </a:solidFill>
              </a:rPr>
              <a:t>✗ 说得太乱：想到什么说什么，没有逻辑，考官很难跟上——CC连贯性分被扣</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时间管理：每个提示点分配约25-30秒，4个点说完正好约2分钟</a:t>
            </a:r>
          </a:p>
          <a:p>
            <a:pPr>
              <a:spcBef>
                <a:spcPts val="800"/>
              </a:spcBef>
            </a:pPr>
            <a:r>
              <a:rPr sz="1400">
                <a:solidFill>
                  <a:srgbClr val="1B7A3D"/>
                </a:solidFill>
              </a:rPr>
              <a:t>✓ 全覆盖策略：备考时把卡片4个提示点都写成关键词，确保每点至少说2句</a:t>
            </a:r>
          </a:p>
          <a:p>
            <a:pPr>
              <a:spcBef>
                <a:spcPts val="800"/>
              </a:spcBef>
            </a:pPr>
            <a:r>
              <a:rPr sz="1400">
                <a:solidFill>
                  <a:srgbClr val="1B7A3D"/>
                </a:solidFill>
              </a:rPr>
              <a:t>✓ 逻辑框架：Introduction→提示点1→2→3→4→总结感受，有始有终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2结构与1分钟准备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2 Structure &amp; 1-Minute Preparation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Cue Card的结构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卡片上有什么，考官期待什么</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卡片内容</a:t>
            </a:r>
          </a:p>
          <a:p>
            <a:pPr>
              <a:spcBef>
                <a:spcPts val="100"/>
              </a:spcBef>
            </a:pPr>
            <a:r>
              <a:rPr sz="1500">
                <a:solidFill>
                  <a:srgbClr val="556075"/>
                </a:solidFill>
              </a:rPr>
              <a:t>   通常：描述一个[主题]，解释Who/What/Where/When + Why you liked it</a:t>
            </a:r>
          </a:p>
          <a:p>
            <a:pPr>
              <a:spcBef>
                <a:spcPts val="900"/>
              </a:spcBef>
            </a:pPr>
            <a:r>
              <a:rPr sz="1800" b="1">
                <a:solidFill>
                  <a:srgbClr val="A33607"/>
                </a:solidFill>
              </a:rPr>
              <a:t>• 4个提示点</a:t>
            </a:r>
          </a:p>
          <a:p>
            <a:pPr>
              <a:spcBef>
                <a:spcPts val="100"/>
              </a:spcBef>
            </a:pPr>
            <a:r>
              <a:rPr sz="1500">
                <a:solidFill>
                  <a:srgbClr val="556075"/>
                </a:solidFill>
              </a:rPr>
              <a:t>   每个提示点约4-6个词，是发言内容的骨架</a:t>
            </a:r>
          </a:p>
          <a:p>
            <a:pPr>
              <a:spcBef>
                <a:spcPts val="900"/>
              </a:spcBef>
            </a:pPr>
            <a:r>
              <a:rPr sz="1800" b="1">
                <a:solidFill>
                  <a:srgbClr val="A33607"/>
                </a:solidFill>
              </a:rPr>
              <a:t>• 考官期待</a:t>
            </a:r>
          </a:p>
          <a:p>
            <a:pPr>
              <a:spcBef>
                <a:spcPts val="100"/>
              </a:spcBef>
            </a:pPr>
            <a:r>
              <a:rPr sz="1500">
                <a:solidFill>
                  <a:srgbClr val="556075"/>
                </a:solidFill>
              </a:rPr>
              <a:t>   覆盖所有4个提示点，约2分钟发言，逻辑清晰</a:t>
            </a:r>
          </a:p>
          <a:p>
            <a:pPr>
              <a:spcBef>
                <a:spcPts val="900"/>
              </a:spcBef>
            </a:pPr>
            <a:r>
              <a:rPr sz="1800" b="1">
                <a:solidFill>
                  <a:srgbClr val="A33607"/>
                </a:solidFill>
              </a:rPr>
              <a:t>• 允许的弹性</a:t>
            </a:r>
          </a:p>
          <a:p>
            <a:pPr>
              <a:spcBef>
                <a:spcPts val="100"/>
              </a:spcBef>
            </a:pPr>
            <a:r>
              <a:rPr sz="1500">
                <a:solidFill>
                  <a:srgbClr val="556075"/>
                </a:solidFill>
              </a:rPr>
              <a:t>   4个点不必平均分配时间，但每点至少2句</a:t>
            </a:r>
          </a:p>
          <a:p>
            <a:pPr>
              <a:spcBef>
                <a:spcPts val="900"/>
              </a:spcBef>
            </a:pPr>
            <a:r>
              <a:rPr sz="1800" b="1">
                <a:solidFill>
                  <a:srgbClr val="A33607"/>
                </a:solidFill>
              </a:rPr>
              <a:t>• 追问问题</a:t>
            </a:r>
          </a:p>
          <a:p>
            <a:pPr>
              <a:spcBef>
                <a:spcPts val="100"/>
              </a:spcBef>
            </a:pPr>
            <a:r>
              <a:rPr sz="1500">
                <a:solidFill>
                  <a:srgbClr val="556075"/>
                </a:solidFill>
              </a:rPr>
              <a:t>   考官发言结束后可能问1-2个问题，简短回答即可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1分钟准备：关键词笔记法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只写关键词，不写完整句</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做什么</a:t>
            </a:r>
          </a:p>
          <a:p>
            <a:pPr>
              <a:spcBef>
                <a:spcPts val="100"/>
              </a:spcBef>
            </a:pPr>
            <a:r>
              <a:rPr sz="1500">
                <a:solidFill>
                  <a:srgbClr val="556075"/>
                </a:solidFill>
              </a:rPr>
              <a:t>   在纸上写6-8个关键词，不是句子——句子来不及写，会浪费时间</a:t>
            </a:r>
          </a:p>
          <a:p>
            <a:pPr>
              <a:spcBef>
                <a:spcPts val="900"/>
              </a:spcBef>
            </a:pPr>
            <a:r>
              <a:rPr sz="1800" b="1">
                <a:solidFill>
                  <a:srgbClr val="A33607"/>
                </a:solidFill>
              </a:rPr>
              <a:t>• 提示点1</a:t>
            </a:r>
          </a:p>
          <a:p>
            <a:pPr>
              <a:spcBef>
                <a:spcPts val="100"/>
              </a:spcBef>
            </a:pPr>
            <a:r>
              <a:rPr sz="1500">
                <a:solidFill>
                  <a:srgbClr val="556075"/>
                </a:solidFill>
              </a:rPr>
              <a:t>   写2个词：who? → [名字]+[关系/职业]</a:t>
            </a:r>
          </a:p>
          <a:p>
            <a:pPr>
              <a:spcBef>
                <a:spcPts val="900"/>
              </a:spcBef>
            </a:pPr>
            <a:r>
              <a:rPr sz="1800" b="1">
                <a:solidFill>
                  <a:srgbClr val="A33607"/>
                </a:solidFill>
              </a:rPr>
              <a:t>• 提示点2</a:t>
            </a:r>
          </a:p>
          <a:p>
            <a:pPr>
              <a:spcBef>
                <a:spcPts val="100"/>
              </a:spcBef>
            </a:pPr>
            <a:r>
              <a:rPr sz="1500">
                <a:solidFill>
                  <a:srgbClr val="556075"/>
                </a:solidFill>
              </a:rPr>
              <a:t>   写2个词：when/where? → [时间]+[地点]</a:t>
            </a:r>
          </a:p>
          <a:p>
            <a:pPr>
              <a:spcBef>
                <a:spcPts val="900"/>
              </a:spcBef>
            </a:pPr>
            <a:r>
              <a:rPr sz="1800" b="1">
                <a:solidFill>
                  <a:srgbClr val="A33607"/>
                </a:solidFill>
              </a:rPr>
              <a:t>• 提示点3</a:t>
            </a:r>
          </a:p>
          <a:p>
            <a:pPr>
              <a:spcBef>
                <a:spcPts val="100"/>
              </a:spcBef>
            </a:pPr>
            <a:r>
              <a:rPr sz="1500">
                <a:solidFill>
                  <a:srgbClr val="556075"/>
                </a:solidFill>
              </a:rPr>
              <a:t>   写2个词：what did? → [动词]+[细节]</a:t>
            </a:r>
          </a:p>
          <a:p>
            <a:pPr>
              <a:spcBef>
                <a:spcPts val="900"/>
              </a:spcBef>
            </a:pPr>
            <a:r>
              <a:rPr sz="1800" b="1">
                <a:solidFill>
                  <a:srgbClr val="A33607"/>
                </a:solidFill>
              </a:rPr>
              <a:t>• 提示点4</a:t>
            </a:r>
          </a:p>
          <a:p>
            <a:pPr>
              <a:spcBef>
                <a:spcPts val="100"/>
              </a:spcBef>
            </a:pPr>
            <a:r>
              <a:rPr sz="1500">
                <a:solidFill>
                  <a:srgbClr val="556075"/>
                </a:solidFill>
              </a:rPr>
              <a:t>   写2个词：why? → [理由词]+[感受词]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1分钟准备实操示范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650">
                <a:solidFill>
                  <a:srgbClr val="1E293B"/>
                </a:solidFill>
              </a:rPr>
              <a:t>• 练</a:t>
            </a:r>
          </a:p>
          <a:p>
            <a:pPr>
              <a:spcBef>
                <a:spcPts val="1000"/>
              </a:spcBef>
            </a:pPr>
            <a:r>
              <a:rPr sz="1650">
                <a:solidFill>
                  <a:srgbClr val="1E293B"/>
                </a:solidFill>
              </a:rPr>
              <a:t>• 习</a:t>
            </a:r>
          </a:p>
          <a:p>
            <a:pPr>
              <a:spcBef>
                <a:spcPts val="1000"/>
              </a:spcBef>
            </a:pPr>
            <a:r>
              <a:rPr sz="1650">
                <a:solidFill>
                  <a:srgbClr val="1E293B"/>
                </a:solidFill>
              </a:rPr>
              <a:t>• C</a:t>
            </a:r>
          </a:p>
          <a:p>
            <a:pPr>
              <a:spcBef>
                <a:spcPts val="1000"/>
              </a:spcBef>
            </a:pPr>
            <a:r>
              <a:rPr sz="1650">
                <a:solidFill>
                  <a:srgbClr val="1E293B"/>
                </a:solidFill>
              </a:rPr>
              <a:t>• u</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C</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D</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c</a:t>
            </a:r>
          </a:p>
          <a:p>
            <a:pPr>
              <a:spcBef>
                <a:spcPts val="1000"/>
              </a:spcBef>
            </a:pPr>
            <a:r>
              <a:rPr sz="1650">
                <a:solidFill>
                  <a:srgbClr val="1E293B"/>
                </a:solidFill>
              </a:rPr>
              <a:t>• r</a:t>
            </a:r>
          </a:p>
          <a:p>
            <a:pPr>
              <a:spcBef>
                <a:spcPts val="1000"/>
              </a:spcBef>
            </a:pPr>
            <a:r>
              <a:rPr sz="1650">
                <a:solidFill>
                  <a:srgbClr val="1E293B"/>
                </a:solidFill>
              </a:rPr>
              <a:t>• i</a:t>
            </a:r>
          </a:p>
          <a:p>
            <a:pPr>
              <a:spcBef>
                <a:spcPts val="1000"/>
              </a:spcBef>
            </a:pPr>
            <a:r>
              <a:rPr sz="1650">
                <a:solidFill>
                  <a:srgbClr val="1E293B"/>
                </a:solidFill>
              </a:rPr>
              <a:t>• b</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f</a:t>
            </a:r>
          </a:p>
          <a:p>
            <a:pPr>
              <a:spcBef>
                <a:spcPts val="1000"/>
              </a:spcBef>
            </a:pPr>
            <a:r>
              <a:rPr sz="1650">
                <a:solidFill>
                  <a:srgbClr val="1E293B"/>
                </a:solidFill>
              </a:rPr>
              <a:t>• l</a:t>
            </a:r>
          </a:p>
          <a:p>
            <a:pPr>
              <a:spcBef>
                <a:spcPts val="1000"/>
              </a:spcBef>
            </a:pPr>
            <a:r>
              <a:rPr sz="1650">
                <a:solidFill>
                  <a:srgbClr val="1E293B"/>
                </a:solidFill>
              </a:rPr>
              <a:t>• u</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c</a:t>
            </a:r>
          </a:p>
          <a:p>
            <a:pPr>
              <a:spcBef>
                <a:spcPts val="1000"/>
              </a:spcBef>
            </a:pPr>
            <a:r>
              <a:rPr sz="1650">
                <a:solidFill>
                  <a:srgbClr val="1E293B"/>
                </a:solidFill>
              </a:rPr>
              <a:t>• e</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y</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a:t>
            </a:r>
          </a:p>
          <a:p>
            <a:pPr>
              <a:spcBef>
                <a:spcPts val="1000"/>
              </a:spcBef>
            </a:pPr>
            <a:r>
              <a:rPr sz="1650">
                <a:solidFill>
                  <a:srgbClr val="1E293B"/>
                </a:solidFill>
              </a:rPr>
              <a:t>• g</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a</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d</a:t>
            </a:r>
          </a:p>
          <a:p>
            <a:pPr>
              <a:spcBef>
                <a:spcPts val="1000"/>
              </a:spcBef>
            </a:pPr>
            <a:r>
              <a:rPr sz="1650">
                <a:solidFill>
                  <a:srgbClr val="1E293B"/>
                </a:solidFill>
              </a:rPr>
              <a:t>• e</a:t>
            </a:r>
          </a:p>
          <a:p>
            <a:pPr>
              <a:spcBef>
                <a:spcPts val="1000"/>
              </a:spcBef>
            </a:pPr>
            <a:r>
              <a:rPr sz="1650">
                <a:solidFill>
                  <a:srgbClr val="1E293B"/>
                </a:solidFill>
              </a:rPr>
              <a:t>• a</a:t>
            </a:r>
          </a:p>
          <a:p>
            <a:pPr>
              <a:spcBef>
                <a:spcPts val="1000"/>
              </a:spcBef>
            </a:pPr>
            <a:r>
              <a:rPr sz="1650">
                <a:solidFill>
                  <a:srgbClr val="1E293B"/>
                </a:solidFill>
              </a:rPr>
              <a:t>• l</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Y</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a:t>
            </a:r>
          </a:p>
          <a:p>
            <a:pPr>
              <a:spcBef>
                <a:spcPts val="1000"/>
              </a:spcBef>
            </a:pPr>
            <a:r>
              <a:rPr sz="1650">
                <a:solidFill>
                  <a:srgbClr val="1E293B"/>
                </a:solidFill>
              </a:rPr>
              <a:t>• s</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l</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s</a:t>
            </a:r>
          </a:p>
          <a:p>
            <a:pPr>
              <a:spcBef>
                <a:spcPts val="1000"/>
              </a:spcBef>
            </a:pPr>
            <a:r>
              <a:rPr sz="1650">
                <a:solidFill>
                  <a:srgbClr val="1E293B"/>
                </a:solidFill>
              </a:rPr>
              <a:t>• a</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w</a:t>
            </a:r>
          </a:p>
          <a:p>
            <a:pPr>
              <a:spcBef>
                <a:spcPts val="1000"/>
              </a:spcBef>
            </a:pPr>
            <a:r>
              <a:rPr sz="1650">
                <a:solidFill>
                  <a:srgbClr val="1E293B"/>
                </a:solidFill>
              </a:rPr>
              <a:t>•  </a:t>
            </a:r>
          </a:p>
          <a:p>
            <a:pPr>
              <a:spcBef>
                <a:spcPts val="1000"/>
              </a:spcBef>
            </a:pPr>
            <a:r>
              <a:rPr sz="1650">
                <a:solidFill>
                  <a:srgbClr val="1E293B"/>
                </a:solidFill>
              </a:rPr>
              <a:t>• y</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a:t>
            </a:r>
          </a:p>
          <a:p>
            <a:pPr>
              <a:spcBef>
                <a:spcPts val="1000"/>
              </a:spcBef>
            </a:pPr>
            <a:r>
              <a:rPr sz="1650">
                <a:solidFill>
                  <a:srgbClr val="1E293B"/>
                </a:solidFill>
              </a:rPr>
              <a:t>• k</a:t>
            </a:r>
          </a:p>
          <a:p>
            <a:pPr>
              <a:spcBef>
                <a:spcPts val="1000"/>
              </a:spcBef>
            </a:pPr>
            <a:r>
              <a:rPr sz="1650">
                <a:solidFill>
                  <a:srgbClr val="1E293B"/>
                </a:solidFill>
              </a:rPr>
              <a:t>• n</a:t>
            </a:r>
          </a:p>
          <a:p>
            <a:pPr>
              <a:spcBef>
                <a:spcPts val="1000"/>
              </a:spcBef>
            </a:pPr>
            <a:r>
              <a:rPr sz="1650">
                <a:solidFill>
                  <a:srgbClr val="1E293B"/>
                </a:solidFill>
              </a:rPr>
              <a:t>• o</a:t>
            </a:r>
          </a:p>
          <a:p>
            <a:pPr>
              <a:spcBef>
                <a:spcPts val="1000"/>
              </a:spcBef>
            </a:pPr>
            <a:r>
              <a:rPr sz="1650">
                <a:solidFill>
                  <a:srgbClr val="1E293B"/>
                </a:solidFill>
              </a:rPr>
              <a:t>• w</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d</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e</a:t>
            </a:r>
          </a:p>
          <a:p>
            <a:pPr>
              <a:spcBef>
                <a:spcPts val="1000"/>
              </a:spcBef>
            </a:pPr>
            <a:r>
              <a:rPr sz="1650">
                <a:solidFill>
                  <a:srgbClr val="1E293B"/>
                </a:solidFill>
              </a:rPr>
              <a:t>• x</a:t>
            </a:r>
          </a:p>
          <a:p>
            <a:pPr>
              <a:spcBef>
                <a:spcPts val="1000"/>
              </a:spcBef>
            </a:pPr>
            <a:r>
              <a:rPr sz="1650">
                <a:solidFill>
                  <a:srgbClr val="1E293B"/>
                </a:solidFill>
              </a:rPr>
              <a:t>• p</a:t>
            </a:r>
          </a:p>
          <a:p>
            <a:pPr>
              <a:spcBef>
                <a:spcPts val="1000"/>
              </a:spcBef>
            </a:pPr>
            <a:r>
              <a:rPr sz="1650">
                <a:solidFill>
                  <a:srgbClr val="1E293B"/>
                </a:solidFill>
              </a:rPr>
              <a:t>• l</a:t>
            </a:r>
          </a:p>
          <a:p>
            <a:pPr>
              <a:spcBef>
                <a:spcPts val="1000"/>
              </a:spcBef>
            </a:pPr>
            <a:r>
              <a:rPr sz="1650">
                <a:solidFill>
                  <a:srgbClr val="1E293B"/>
                </a:solidFill>
              </a:rPr>
              <a:t>• a</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f</a:t>
            </a:r>
          </a:p>
          <a:p>
            <a:pPr>
              <a:spcBef>
                <a:spcPts val="1000"/>
              </a:spcBef>
            </a:pPr>
            <a:r>
              <a:rPr sz="1650">
                <a:solidFill>
                  <a:srgbClr val="1E293B"/>
                </a:solidFill>
              </a:rPr>
              <a:t>• l</a:t>
            </a:r>
          </a:p>
          <a:p>
            <a:pPr>
              <a:spcBef>
                <a:spcPts val="1000"/>
              </a:spcBef>
            </a:pPr>
            <a:r>
              <a:rPr sz="1650">
                <a:solidFill>
                  <a:srgbClr val="1E293B"/>
                </a:solidFill>
              </a:rPr>
              <a:t>• u</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c</a:t>
            </a:r>
          </a:p>
          <a:p>
            <a:pPr>
              <a:spcBef>
                <a:spcPts val="1000"/>
              </a:spcBef>
            </a:pPr>
            <a:r>
              <a:rPr sz="1650">
                <a:solidFill>
                  <a:srgbClr val="1E293B"/>
                </a:solidFill>
              </a:rPr>
              <a:t>• e</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y</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a:t>
            </a:r>
          </a:p>
          <a:p>
            <a:pPr>
              <a:spcBef>
                <a:spcPts val="1000"/>
              </a:spcBef>
            </a:pPr>
            <a:r>
              <a:rPr sz="1650">
                <a:solidFill>
                  <a:srgbClr val="1E293B"/>
                </a:solidFill>
              </a:rPr>
              <a:t>• s</a:t>
            </a:r>
          </a:p>
          <a:p>
            <a:pPr>
              <a:spcBef>
                <a:spcPts val="1000"/>
              </a:spcBef>
            </a:pPr>
            <a:r>
              <a:rPr sz="1650">
                <a:solidFill>
                  <a:srgbClr val="1E293B"/>
                </a:solidFill>
              </a:rPr>
              <a:t>• o</a:t>
            </a:r>
          </a:p>
          <a:p>
            <a:pPr>
              <a:spcBef>
                <a:spcPts val="1000"/>
              </a:spcBef>
            </a:pPr>
            <a:r>
              <a:rPr sz="1650">
                <a:solidFill>
                  <a:srgbClr val="1E293B"/>
                </a:solidFill>
              </a:rPr>
              <a:t>•  </a:t>
            </a:r>
          </a:p>
          <a:p>
            <a:pPr>
              <a:spcBef>
                <a:spcPts val="1000"/>
              </a:spcBef>
            </a:pPr>
            <a:r>
              <a:rPr sz="1650">
                <a:solidFill>
                  <a:srgbClr val="1E293B"/>
                </a:solidFill>
              </a:rPr>
              <a:t>• m</a:t>
            </a:r>
          </a:p>
          <a:p>
            <a:pPr>
              <a:spcBef>
                <a:spcPts val="1000"/>
              </a:spcBef>
            </a:pPr>
            <a:r>
              <a:rPr sz="1650">
                <a:solidFill>
                  <a:srgbClr val="1E293B"/>
                </a:solidFill>
              </a:rPr>
              <a:t>• u</a:t>
            </a:r>
          </a:p>
          <a:p>
            <a:pPr>
              <a:spcBef>
                <a:spcPts val="1000"/>
              </a:spcBef>
            </a:pPr>
            <a:r>
              <a:rPr sz="1650">
                <a:solidFill>
                  <a:srgbClr val="1E293B"/>
                </a:solidFill>
              </a:rPr>
              <a:t>• c</a:t>
            </a:r>
          </a:p>
          <a:p>
            <a:pPr>
              <a:spcBef>
                <a:spcPts val="1000"/>
              </a:spcBef>
            </a:pPr>
            <a:r>
              <a:rPr sz="1650">
                <a:solidFill>
                  <a:srgbClr val="1E293B"/>
                </a:solidFill>
              </a:rPr>
              <a:t>• h</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现</a:t>
            </a:r>
          </a:p>
          <a:p>
            <a:pPr>
              <a:spcBef>
                <a:spcPts val="1000"/>
              </a:spcBef>
            </a:pPr>
            <a:r>
              <a:rPr sz="1650">
                <a:solidFill>
                  <a:srgbClr val="1E293B"/>
                </a:solidFill>
              </a:rPr>
              <a:t>• 在</a:t>
            </a:r>
          </a:p>
          <a:p>
            <a:pPr>
              <a:spcBef>
                <a:spcPts val="1000"/>
              </a:spcBef>
            </a:pPr>
            <a:r>
              <a:rPr sz="1650">
                <a:solidFill>
                  <a:srgbClr val="1E293B"/>
                </a:solidFill>
              </a:rPr>
              <a:t>• 用</a:t>
            </a:r>
          </a:p>
          <a:p>
            <a:pPr>
              <a:spcBef>
                <a:spcPts val="1000"/>
              </a:spcBef>
            </a:pPr>
            <a:r>
              <a:rPr sz="1650">
                <a:solidFill>
                  <a:srgbClr val="1E293B"/>
                </a:solidFill>
              </a:rPr>
              <a:t>• 1</a:t>
            </a:r>
          </a:p>
          <a:p>
            <a:pPr>
              <a:spcBef>
                <a:spcPts val="1000"/>
              </a:spcBef>
            </a:pPr>
            <a:r>
              <a:rPr sz="1650">
                <a:solidFill>
                  <a:srgbClr val="1E293B"/>
                </a:solidFill>
              </a:rPr>
              <a:t>• 分</a:t>
            </a:r>
          </a:p>
          <a:p>
            <a:pPr>
              <a:spcBef>
                <a:spcPts val="1000"/>
              </a:spcBef>
            </a:pPr>
            <a:r>
              <a:rPr sz="1650">
                <a:solidFill>
                  <a:srgbClr val="1E293B"/>
                </a:solidFill>
              </a:rPr>
              <a:t>• 钟</a:t>
            </a:r>
          </a:p>
          <a:p>
            <a:pPr>
              <a:spcBef>
                <a:spcPts val="1000"/>
              </a:spcBef>
            </a:pPr>
            <a:r>
              <a:rPr sz="1650">
                <a:solidFill>
                  <a:srgbClr val="1E293B"/>
                </a:solidFill>
              </a:rPr>
              <a:t>• ，</a:t>
            </a:r>
          </a:p>
          <a:p>
            <a:pPr>
              <a:spcBef>
                <a:spcPts val="1000"/>
              </a:spcBef>
            </a:pPr>
            <a:r>
              <a:rPr sz="1650">
                <a:solidFill>
                  <a:srgbClr val="1E293B"/>
                </a:solidFill>
              </a:rPr>
              <a:t>• 写</a:t>
            </a:r>
          </a:p>
          <a:p>
            <a:pPr>
              <a:spcBef>
                <a:spcPts val="1000"/>
              </a:spcBef>
            </a:pPr>
            <a:r>
              <a:rPr sz="1650">
                <a:solidFill>
                  <a:srgbClr val="1E293B"/>
                </a:solidFill>
              </a:rPr>
              <a:t>• 6</a:t>
            </a:r>
          </a:p>
          <a:p>
            <a:pPr>
              <a:spcBef>
                <a:spcPts val="1000"/>
              </a:spcBef>
            </a:pPr>
            <a:r>
              <a:rPr sz="1650">
                <a:solidFill>
                  <a:srgbClr val="1E293B"/>
                </a:solidFill>
              </a:rPr>
              <a:t>• -</a:t>
            </a:r>
          </a:p>
          <a:p>
            <a:pPr>
              <a:spcBef>
                <a:spcPts val="1000"/>
              </a:spcBef>
            </a:pPr>
            <a:r>
              <a:rPr sz="1650">
                <a:solidFill>
                  <a:srgbClr val="1E293B"/>
                </a:solidFill>
              </a:rPr>
              <a:t>• 8</a:t>
            </a:r>
          </a:p>
          <a:p>
            <a:pPr>
              <a:spcBef>
                <a:spcPts val="1000"/>
              </a:spcBef>
            </a:pPr>
            <a:r>
              <a:rPr sz="1650">
                <a:solidFill>
                  <a:srgbClr val="1E293B"/>
                </a:solidFill>
              </a:rPr>
              <a:t>• 个</a:t>
            </a:r>
          </a:p>
          <a:p>
            <a:pPr>
              <a:spcBef>
                <a:spcPts val="1000"/>
              </a:spcBef>
            </a:pPr>
            <a:r>
              <a:rPr sz="1650">
                <a:solidFill>
                  <a:srgbClr val="1E293B"/>
                </a:solidFill>
              </a:rPr>
              <a:t>• 关</a:t>
            </a:r>
          </a:p>
          <a:p>
            <a:pPr>
              <a:spcBef>
                <a:spcPts val="1000"/>
              </a:spcBef>
            </a:pPr>
            <a:r>
              <a:rPr sz="1650">
                <a:solidFill>
                  <a:srgbClr val="1E293B"/>
                </a:solidFill>
              </a:rPr>
              <a:t>• 键</a:t>
            </a:r>
          </a:p>
          <a:p>
            <a:pPr>
              <a:spcBef>
                <a:spcPts val="1000"/>
              </a:spcBef>
            </a:pPr>
            <a:r>
              <a:rPr sz="1650">
                <a:solidFill>
                  <a:srgbClr val="1E293B"/>
                </a:solidFill>
              </a:rPr>
              <a:t>• 词</a:t>
            </a:r>
          </a:p>
          <a:p>
            <a:pPr>
              <a:spcBef>
                <a:spcPts val="1000"/>
              </a:spcBef>
            </a:pPr>
            <a:r>
              <a:rPr sz="1650">
                <a:solidFill>
                  <a:srgbClr val="1E293B"/>
                </a:solidFill>
              </a:rPr>
              <a:t>• 笔</a:t>
            </a:r>
          </a:p>
          <a:p>
            <a:pPr>
              <a:spcBef>
                <a:spcPts val="1000"/>
              </a:spcBef>
            </a:pPr>
            <a:r>
              <a:rPr sz="1650">
                <a:solidFill>
                  <a:srgbClr val="1E293B"/>
                </a:solidFill>
              </a:rPr>
              <a:t>• 记</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深圳学生注意：参考笔记：
- [name] Ms Chen / high school teacher
- chemistry class / 10 years ago
- inspired curiosity, patient, explained complex things simply
- sparked interest in science / still grateful
关键词笔记而非句子——考场时间宝贵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2分钟时间分配建议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Introduction（15-20秒）</a:t>
            </a:r>
          </a:p>
          <a:p>
            <a:pPr>
              <a:spcBef>
                <a:spcPts val="100"/>
              </a:spcBef>
            </a:pPr>
            <a:r>
              <a:rPr sz="1550">
                <a:solidFill>
                  <a:srgbClr val="556075"/>
                </a:solidFill>
              </a:rPr>
              <a:t>   开场介绍：I'd like to talk about my [relationship] who/which...</a:t>
            </a:r>
          </a:p>
          <a:p>
            <a:pPr>
              <a:spcBef>
                <a:spcPts val="1000"/>
              </a:spcBef>
            </a:pPr>
            <a:r>
              <a:rPr sz="1850" b="1">
                <a:solidFill>
                  <a:srgbClr val="A33607"/>
                </a:solidFill>
              </a:rPr>
              <a:t>• 提示点1（25-30秒）</a:t>
            </a:r>
          </a:p>
          <a:p>
            <a:pPr>
              <a:spcBef>
                <a:spcPts val="100"/>
              </a:spcBef>
            </a:pPr>
            <a:r>
              <a:rPr sz="1550">
                <a:solidFill>
                  <a:srgbClr val="556075"/>
                </a:solidFill>
              </a:rPr>
              <a:t>   Who/What：详细介绍主题，用2-3句</a:t>
            </a:r>
          </a:p>
          <a:p>
            <a:pPr>
              <a:spcBef>
                <a:spcPts val="1000"/>
              </a:spcBef>
            </a:pPr>
            <a:r>
              <a:rPr sz="1850" b="1">
                <a:solidFill>
                  <a:srgbClr val="A33607"/>
                </a:solidFill>
              </a:rPr>
              <a:t>• 提示点2（25-30秒）</a:t>
            </a:r>
          </a:p>
          <a:p>
            <a:pPr>
              <a:spcBef>
                <a:spcPts val="100"/>
              </a:spcBef>
            </a:pPr>
            <a:r>
              <a:rPr sz="1550">
                <a:solidFill>
                  <a:srgbClr val="556075"/>
                </a:solidFill>
              </a:rPr>
              <a:t>   When/Where：背景/情境，用2-3句</a:t>
            </a:r>
          </a:p>
          <a:p>
            <a:pPr>
              <a:spcBef>
                <a:spcPts val="1000"/>
              </a:spcBef>
            </a:pPr>
            <a:r>
              <a:rPr sz="1850" b="1">
                <a:solidFill>
                  <a:srgbClr val="A33607"/>
                </a:solidFill>
              </a:rPr>
              <a:t>• 提示点3（25-30秒）</a:t>
            </a:r>
          </a:p>
          <a:p>
            <a:pPr>
              <a:spcBef>
                <a:spcPts val="100"/>
              </a:spcBef>
            </a:pPr>
            <a:r>
              <a:rPr sz="1550">
                <a:solidFill>
                  <a:srgbClr val="556075"/>
                </a:solidFill>
              </a:rPr>
              <a:t>   What happened/did：具体行为/事件，用2-3句</a:t>
            </a:r>
          </a:p>
          <a:p>
            <a:pPr>
              <a:spcBef>
                <a:spcPts val="1000"/>
              </a:spcBef>
            </a:pPr>
            <a:r>
              <a:rPr sz="1850" b="1">
                <a:solidFill>
                  <a:srgbClr val="A33607"/>
                </a:solidFill>
              </a:rPr>
              <a:t>• Why（25-30秒）</a:t>
            </a:r>
          </a:p>
          <a:p>
            <a:pPr>
              <a:spcBef>
                <a:spcPts val="100"/>
              </a:spcBef>
            </a:pPr>
            <a:r>
              <a:rPr sz="1550">
                <a:solidFill>
                  <a:srgbClr val="556075"/>
                </a:solidFill>
              </a:rPr>
              <a:t>   影响/感受：这是得分最高的部分，要有深度</a:t>
            </a:r>
          </a:p>
          <a:p>
            <a:pPr>
              <a:spcBef>
                <a:spcPts val="1000"/>
              </a:spcBef>
            </a:pPr>
            <a:r>
              <a:rPr sz="1850" b="1">
                <a:solidFill>
                  <a:srgbClr val="A33607"/>
                </a:solidFill>
              </a:rPr>
              <a:t>• 总结（10秒）</a:t>
            </a:r>
          </a:p>
          <a:p>
            <a:pPr>
              <a:spcBef>
                <a:spcPts val="100"/>
              </a:spcBef>
            </a:pPr>
            <a:r>
              <a:rPr sz="1550">
                <a:solidFill>
                  <a:srgbClr val="556075"/>
                </a:solidFill>
              </a:rPr>
              <a:t>   That's why this person/place has been so significant to 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时间管理练习：手表法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用以下题目练习时间分配：
"Describe a place you have visited that you particularly liked."
请计时，按以下节点说话：
① 0-15秒：Introduction
② 15-45秒：Where/When（提示点1+2）
③ 45-75秒：What you did（提示点3）
④ 75-105秒：Why you liked it（提示点4）
⑤ 105-120秒：总结感受</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大多数学生在第90秒前就说完了所有内容——因为例子太笼统
解决方法：每个点加"感官细节"（看到什么/听到什么/感受到什么）+情感反应</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感官细节是延长答案的最自然方式：The beach was stunning→The water was this remarkable shade of turquoise, and the sound of the waves was incredibly calming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Introduction句式库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练习以下Introduction句式，选一个用在下面练习：
① "I'd like to talk about [who/place/thing], who/which [一句话介绍]."
② "The [person/place/thing] that immediately comes to mind is [名称/关系]."
③ "Without hesitation, I'd describe [person/place/thing], because [理由]."
立刻用其中一个句式开始回答，感受哪个最自然</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句式①最安全，适合所有情况；句式②听起来更流利；句式③加了理由开头，但要准备好后面的内容</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考场建议：考官说"Begin now."之后立刻开口——不要停顿超过1秒</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人物类卡片攻略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Person Cue Card Strategy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人物类卡片的四个提示点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Who/How you know/What they do/Why they influenced you</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Who is this person</a:t>
            </a:r>
          </a:p>
          <a:p>
            <a:pPr>
              <a:spcBef>
                <a:spcPts val="100"/>
              </a:spcBef>
            </a:pPr>
            <a:r>
              <a:rPr sz="1500">
                <a:solidFill>
                  <a:srgbClr val="556075"/>
                </a:solidFill>
              </a:rPr>
              <a:t>   名字（可以虚构）+关系（teacher/colleague/family member/celebrity）</a:t>
            </a:r>
          </a:p>
          <a:p>
            <a:pPr>
              <a:spcBef>
                <a:spcPts val="900"/>
              </a:spcBef>
            </a:pPr>
            <a:r>
              <a:rPr sz="1800" b="1">
                <a:solidFill>
                  <a:srgbClr val="A33607"/>
                </a:solidFill>
              </a:rPr>
              <a:t>• How do you know</a:t>
            </a:r>
          </a:p>
          <a:p>
            <a:pPr>
              <a:spcBef>
                <a:spcPts val="100"/>
              </a:spcBef>
            </a:pPr>
            <a:r>
              <a:rPr sz="1500">
                <a:solidFill>
                  <a:srgbClr val="556075"/>
                </a:solidFill>
              </a:rPr>
              <a:t>   认识方式+时间+背景（childhood/work/school/online）</a:t>
            </a:r>
          </a:p>
          <a:p>
            <a:pPr>
              <a:spcBef>
                <a:spcPts val="900"/>
              </a:spcBef>
            </a:pPr>
            <a:r>
              <a:rPr sz="1800" b="1">
                <a:solidFill>
                  <a:srgbClr val="A33607"/>
                </a:solidFill>
              </a:rPr>
              <a:t>• What has this person done</a:t>
            </a:r>
          </a:p>
          <a:p>
            <a:pPr>
              <a:spcBef>
                <a:spcPts val="100"/>
              </a:spcBef>
            </a:pPr>
            <a:r>
              <a:rPr sz="1500">
                <a:solidFill>
                  <a:srgbClr val="556075"/>
                </a:solidFill>
              </a:rPr>
              <a:t>   具体行为/成就/特质——这是核心内容，要用动词</a:t>
            </a:r>
          </a:p>
          <a:p>
            <a:pPr>
              <a:spcBef>
                <a:spcPts val="900"/>
              </a:spcBef>
            </a:pPr>
            <a:r>
              <a:rPr sz="1800" b="1">
                <a:solidFill>
                  <a:srgbClr val="A33607"/>
                </a:solidFill>
              </a:rPr>
              <a:t>• Why they influenced you</a:t>
            </a:r>
          </a:p>
          <a:p>
            <a:pPr>
              <a:spcBef>
                <a:spcPts val="100"/>
              </a:spcBef>
            </a:pPr>
            <a:r>
              <a:rPr sz="1500">
                <a:solidFill>
                  <a:srgbClr val="556075"/>
                </a:solidFill>
              </a:rPr>
              <a:t>   影响的深度：改变了你的想法/行为/价值观——最重要的部分</a:t>
            </a:r>
          </a:p>
          <a:p>
            <a:pPr>
              <a:spcBef>
                <a:spcPts val="900"/>
              </a:spcBef>
            </a:pPr>
            <a:r>
              <a:rPr sz="1800" b="1">
                <a:solidFill>
                  <a:srgbClr val="A33607"/>
                </a:solidFill>
              </a:rPr>
              <a:t>• 常见人物题型</a:t>
            </a:r>
          </a:p>
          <a:p>
            <a:pPr>
              <a:spcBef>
                <a:spcPts val="100"/>
              </a:spcBef>
            </a:pPr>
            <a:r>
              <a:rPr sz="1500">
                <a:solidFill>
                  <a:srgbClr val="556075"/>
                </a:solidFill>
              </a:rPr>
              <a:t>   老师/家人/朋友/名人/同事/邻居——各有不同的素材库</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人物描述的词汇维度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从多个角度描述人物</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外表特征</a:t>
            </a:r>
          </a:p>
          <a:p>
            <a:pPr>
              <a:spcBef>
                <a:spcPts val="100"/>
              </a:spcBef>
            </a:pPr>
            <a:r>
              <a:rPr sz="1500">
                <a:solidFill>
                  <a:srgbClr val="556075"/>
                </a:solidFill>
              </a:rPr>
              <a:t>   tall/slim/well-dressed/distinguishing feature...（Part 2偶尔涉及）</a:t>
            </a:r>
          </a:p>
          <a:p>
            <a:pPr>
              <a:spcBef>
                <a:spcPts val="900"/>
              </a:spcBef>
            </a:pPr>
            <a:r>
              <a:rPr sz="1800" b="1">
                <a:solidFill>
                  <a:srgbClr val="A33607"/>
                </a:solidFill>
              </a:rPr>
              <a:t>• 性格特质</a:t>
            </a:r>
          </a:p>
          <a:p>
            <a:pPr>
              <a:spcBef>
                <a:spcPts val="100"/>
              </a:spcBef>
            </a:pPr>
            <a:r>
              <a:rPr sz="1500">
                <a:solidFill>
                  <a:srgbClr val="556075"/>
                </a:solidFill>
              </a:rPr>
              <a:t>   patient/inspiring/meticulous/compassionate/determined/charismatic</a:t>
            </a:r>
          </a:p>
          <a:p>
            <a:pPr>
              <a:spcBef>
                <a:spcPts val="900"/>
              </a:spcBef>
            </a:pPr>
            <a:r>
              <a:rPr sz="1800" b="1">
                <a:solidFill>
                  <a:srgbClr val="A33607"/>
                </a:solidFill>
              </a:rPr>
              <a:t>• 专业能力</a:t>
            </a:r>
          </a:p>
          <a:p>
            <a:pPr>
              <a:spcBef>
                <a:spcPts val="100"/>
              </a:spcBef>
            </a:pPr>
            <a:r>
              <a:rPr sz="1500">
                <a:solidFill>
                  <a:srgbClr val="556075"/>
                </a:solidFill>
              </a:rPr>
              <a:t>   knowledgeable/skilled/expert in/well-versed in/accomplished</a:t>
            </a:r>
          </a:p>
          <a:p>
            <a:pPr>
              <a:spcBef>
                <a:spcPts val="900"/>
              </a:spcBef>
            </a:pPr>
            <a:r>
              <a:rPr sz="1800" b="1">
                <a:solidFill>
                  <a:srgbClr val="A33607"/>
                </a:solidFill>
              </a:rPr>
              <a:t>• 对你的影响</a:t>
            </a:r>
          </a:p>
          <a:p>
            <a:pPr>
              <a:spcBef>
                <a:spcPts val="100"/>
              </a:spcBef>
            </a:pPr>
            <a:r>
              <a:rPr sz="1500">
                <a:solidFill>
                  <a:srgbClr val="556075"/>
                </a:solidFill>
              </a:rPr>
              <a:t>   inspired me to/motivated me/changed my perspective/instilled in me</a:t>
            </a:r>
          </a:p>
          <a:p>
            <a:pPr>
              <a:spcBef>
                <a:spcPts val="900"/>
              </a:spcBef>
            </a:pPr>
            <a:r>
              <a:rPr sz="1800" b="1">
                <a:solidFill>
                  <a:srgbClr val="A33607"/>
                </a:solidFill>
              </a:rPr>
              <a:t>• 关系描述</a:t>
            </a:r>
          </a:p>
          <a:p>
            <a:pPr>
              <a:spcBef>
                <a:spcPts val="100"/>
              </a:spcBef>
            </a:pPr>
            <a:r>
              <a:rPr sz="1500">
                <a:solidFill>
                  <a:srgbClr val="556075"/>
                </a:solidFill>
              </a:rPr>
              <a:t>   mentor/role model/confidant/lifelong friend/source of inspiration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人物题完整答案框架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Introduction</a:t>
            </a:r>
          </a:p>
          <a:p>
            <a:pPr>
              <a:spcBef>
                <a:spcPts val="100"/>
              </a:spcBef>
            </a:pPr>
            <a:r>
              <a:rPr sz="1550">
                <a:solidFill>
                  <a:srgbClr val="556075"/>
                </a:solidFill>
              </a:rPr>
              <a:t>   I'd like to talk about my [关系], [名字/称呼], who I've known for [时间].</a:t>
            </a:r>
          </a:p>
          <a:p>
            <a:pPr>
              <a:spcBef>
                <a:spcPts val="1000"/>
              </a:spcBef>
            </a:pPr>
            <a:r>
              <a:rPr sz="1850" b="1">
                <a:solidFill>
                  <a:srgbClr val="A33607"/>
                </a:solidFill>
              </a:rPr>
              <a:t>• 提示点1：Who</a:t>
            </a:r>
          </a:p>
          <a:p>
            <a:pPr>
              <a:spcBef>
                <a:spcPts val="100"/>
              </a:spcBef>
            </a:pPr>
            <a:r>
              <a:rPr sz="1550">
                <a:solidFill>
                  <a:srgbClr val="556075"/>
                </a:solidFill>
              </a:rPr>
              <a:t>   Describe the person in 2-3 sentences: 外表+职业+最显著特质</a:t>
            </a:r>
          </a:p>
          <a:p>
            <a:pPr>
              <a:spcBef>
                <a:spcPts val="1000"/>
              </a:spcBef>
            </a:pPr>
            <a:r>
              <a:rPr sz="1850" b="1">
                <a:solidFill>
                  <a:srgbClr val="A33607"/>
                </a:solidFill>
              </a:rPr>
              <a:t>• 提示点2：How you know</a:t>
            </a:r>
          </a:p>
          <a:p>
            <a:pPr>
              <a:spcBef>
                <a:spcPts val="100"/>
              </a:spcBef>
            </a:pPr>
            <a:r>
              <a:rPr sz="1550">
                <a:solidFill>
                  <a:srgbClr val="556075"/>
                </a:solidFill>
              </a:rPr>
              <a:t>   The context of meeting them: when/where/what you were doing</a:t>
            </a:r>
          </a:p>
          <a:p>
            <a:pPr>
              <a:spcBef>
                <a:spcPts val="1000"/>
              </a:spcBef>
            </a:pPr>
            <a:r>
              <a:rPr sz="1850" b="1">
                <a:solidFill>
                  <a:srgbClr val="A33607"/>
                </a:solidFill>
              </a:rPr>
              <a:t>• 提示点3：What they did</a:t>
            </a:r>
          </a:p>
          <a:p>
            <a:pPr>
              <a:spcBef>
                <a:spcPts val="100"/>
              </a:spcBef>
            </a:pPr>
            <a:r>
              <a:rPr sz="1550">
                <a:solidFill>
                  <a:srgbClr val="556075"/>
                </a:solidFill>
              </a:rPr>
              <a:t>   一个具体的事件或行为：场景+行为+你的反应</a:t>
            </a:r>
          </a:p>
          <a:p>
            <a:pPr>
              <a:spcBef>
                <a:spcPts val="1000"/>
              </a:spcBef>
            </a:pPr>
            <a:r>
              <a:rPr sz="1850" b="1">
                <a:solidFill>
                  <a:srgbClr val="A33607"/>
                </a:solidFill>
              </a:rPr>
              <a:t>• 提示点4：Why influenced</a:t>
            </a:r>
          </a:p>
          <a:p>
            <a:pPr>
              <a:spcBef>
                <a:spcPts val="100"/>
              </a:spcBef>
            </a:pPr>
            <a:r>
              <a:rPr sz="1550">
                <a:solidFill>
                  <a:srgbClr val="556075"/>
                </a:solidFill>
              </a:rPr>
              <a:t>   This is the most important part: how they changed your mindset/behavior/values</a:t>
            </a:r>
          </a:p>
          <a:p>
            <a:pPr>
              <a:spcBef>
                <a:spcPts val="1000"/>
              </a:spcBef>
            </a:pPr>
            <a:r>
              <a:rPr sz="1850" b="1">
                <a:solidFill>
                  <a:srgbClr val="A33607"/>
                </a:solidFill>
              </a:rPr>
              <a:t>• 总结</a:t>
            </a:r>
          </a:p>
          <a:p>
            <a:pPr>
              <a:spcBef>
                <a:spcPts val="100"/>
              </a:spcBef>
            </a:pPr>
            <a:r>
              <a:rPr sz="1550">
                <a:solidFill>
                  <a:srgbClr val="556075"/>
                </a:solidFill>
              </a:rPr>
              <a:t>   ...and that's why [person] remains such an important figure in my life.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人物题得分词汇精选</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影响力词汇</a:t>
            </a:r>
          </a:p>
          <a:p>
            <a:pPr>
              <a:spcBef>
                <a:spcPts val="100"/>
              </a:spcBef>
            </a:pPr>
            <a:r>
              <a:rPr sz="1550">
                <a:solidFill>
                  <a:srgbClr val="556075"/>
                </a:solidFill>
              </a:rPr>
              <a:t>   inspire/motivate/shape/instill/transform/cultivate/mentor</a:t>
            </a:r>
          </a:p>
          <a:p>
            <a:pPr>
              <a:spcBef>
                <a:spcPts val="1000"/>
              </a:spcBef>
            </a:pPr>
            <a:r>
              <a:rPr sz="1850" b="1">
                <a:solidFill>
                  <a:srgbClr val="A33607"/>
                </a:solidFill>
              </a:rPr>
              <a:t>• 性格词汇</a:t>
            </a:r>
          </a:p>
          <a:p>
            <a:pPr>
              <a:spcBef>
                <a:spcPts val="100"/>
              </a:spcBef>
            </a:pPr>
            <a:r>
              <a:rPr sz="1550">
                <a:solidFill>
                  <a:srgbClr val="556075"/>
                </a:solidFill>
              </a:rPr>
              <a:t>   meticulous/compassionate/dedicated/perceptive/innovative/resilient</a:t>
            </a:r>
          </a:p>
          <a:p>
            <a:pPr>
              <a:spcBef>
                <a:spcPts val="1000"/>
              </a:spcBef>
            </a:pPr>
            <a:r>
              <a:rPr sz="1850" b="1">
                <a:solidFill>
                  <a:srgbClr val="A33607"/>
                </a:solidFill>
              </a:rPr>
              <a:t>• 关系词汇</a:t>
            </a:r>
          </a:p>
          <a:p>
            <a:pPr>
              <a:spcBef>
                <a:spcPts val="100"/>
              </a:spcBef>
            </a:pPr>
            <a:r>
              <a:rPr sz="1550">
                <a:solidFill>
                  <a:srgbClr val="556075"/>
                </a:solidFill>
              </a:rPr>
              <a:t>   role model/mentor/confidant/pillar of support/source of inspiration</a:t>
            </a:r>
          </a:p>
          <a:p>
            <a:pPr>
              <a:spcBef>
                <a:spcPts val="1000"/>
              </a:spcBef>
            </a:pPr>
            <a:r>
              <a:rPr sz="1850" b="1">
                <a:solidFill>
                  <a:srgbClr val="A33607"/>
                </a:solidFill>
              </a:rPr>
              <a:t>• 影响结果词汇</a:t>
            </a:r>
          </a:p>
          <a:p>
            <a:pPr>
              <a:spcBef>
                <a:spcPts val="100"/>
              </a:spcBef>
            </a:pPr>
            <a:r>
              <a:rPr sz="1550">
                <a:solidFill>
                  <a:srgbClr val="556075"/>
                </a:solidFill>
              </a:rPr>
              <a:t>   broaden my perspective/change my outlook/develop a passion for/be forever grateful</a:t>
            </a:r>
          </a:p>
          <a:p>
            <a:pPr>
              <a:spcBef>
                <a:spcPts val="1000"/>
              </a:spcBef>
            </a:pPr>
            <a:r>
              <a:rPr sz="1850" b="1">
                <a:solidFill>
                  <a:srgbClr val="A33607"/>
                </a:solidFill>
              </a:rPr>
              <a:t>• 时间词汇</a:t>
            </a:r>
          </a:p>
          <a:p>
            <a:pPr>
              <a:spcBef>
                <a:spcPts val="100"/>
              </a:spcBef>
            </a:pPr>
            <a:r>
              <a:rPr sz="1550">
                <a:solidFill>
                  <a:srgbClr val="556075"/>
                </a:solidFill>
              </a:rPr>
              <a:t>   formative years/turning point/pivotal moment/ever since then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人物题Band 7示范答案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Cue Card: "Describe a teacher who influenced you."
1分钟准备后开始</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like to talk about my high school chemistry teacher, who I'll call Ms Chen. She was a remarkably passionate educator — always bringing in real-world examples to explain abstract concepts. What I remember most vividly is one class when she used a banana to explain enzyme activity. It sounds trivial, but that moment fundamentally shifted how I thought about science. Thanks to her, I ended up choosing biochemistry as my university major, which has defined my career trajectory. I genuinely believe that without her influence, I'd have taken a completely different path.</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pivotal词汇：passionate/fundamentally shifted/defined my career trajectory
具体细节：banana example——让答案memorable而非泛泛
GRA：when从句/that引导结果/without假设——三种不同句式</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人物题扩展技巧：我的故事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以下5个问题可以扩展任何人物题：
① 第一次见到他/她是什么情景？（场景描述10秒）
② 他/她做了一件具体的事？（事件叙述15秒）
③ 你当时的反应/感受是什么？（情感描述10秒）
④ 这如何改变了你？（影响叙述15秒）
⑤ 你现在还记得/联系/感激他/她吗？（当前状态10秒）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5个问题=60秒额外内容——人物题从30秒扩展到90秒的方法</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每个问题用2-3句回答，不要超过3句，保持流畅不絮叨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地点类卡片攻略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Place Cue Card Strategy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地点类卡片的四个提示点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Where/When/What you did/Why you liked it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Where is this place</a:t>
            </a:r>
          </a:p>
          <a:p>
            <a:pPr>
              <a:spcBef>
                <a:spcPts val="100"/>
              </a:spcBef>
            </a:pPr>
            <a:r>
              <a:rPr sz="1500">
                <a:solidFill>
                  <a:srgbClr val="556075"/>
                </a:solidFill>
              </a:rPr>
              <a:t>   地点名称+位置+简单描述（城市/国家/自然还是城市景点）</a:t>
            </a:r>
          </a:p>
          <a:p>
            <a:pPr>
              <a:spcBef>
                <a:spcPts val="900"/>
              </a:spcBef>
            </a:pPr>
            <a:r>
              <a:rPr sz="1800" b="1">
                <a:solidFill>
                  <a:srgbClr val="A33607"/>
                </a:solidFill>
              </a:rPr>
              <a:t>• When did you go</a:t>
            </a:r>
          </a:p>
          <a:p>
            <a:pPr>
              <a:spcBef>
                <a:spcPts val="100"/>
              </a:spcBef>
            </a:pPr>
            <a:r>
              <a:rPr sz="1500">
                <a:solidFill>
                  <a:srgbClr val="556075"/>
                </a:solidFill>
              </a:rPr>
              <a:t>   时间+与谁去+背景（旅游/工作/偶然发现）</a:t>
            </a:r>
          </a:p>
          <a:p>
            <a:pPr>
              <a:spcBef>
                <a:spcPts val="900"/>
              </a:spcBef>
            </a:pPr>
            <a:r>
              <a:rPr sz="1800" b="1">
                <a:solidFill>
                  <a:srgbClr val="A33607"/>
                </a:solidFill>
              </a:rPr>
              <a:t>• What you did there</a:t>
            </a:r>
          </a:p>
          <a:p>
            <a:pPr>
              <a:spcBef>
                <a:spcPts val="100"/>
              </a:spcBef>
            </a:pPr>
            <a:r>
              <a:rPr sz="1500">
                <a:solidFill>
                  <a:srgbClr val="556075"/>
                </a:solidFill>
              </a:rPr>
              <a:t>   活动+细节——动词是关键（explore/wander/observe/discover）</a:t>
            </a:r>
          </a:p>
          <a:p>
            <a:pPr>
              <a:spcBef>
                <a:spcPts val="900"/>
              </a:spcBef>
            </a:pPr>
            <a:r>
              <a:rPr sz="1800" b="1">
                <a:solidFill>
                  <a:srgbClr val="A33607"/>
                </a:solidFill>
              </a:rPr>
              <a:t>• Why you liked it</a:t>
            </a:r>
          </a:p>
          <a:p>
            <a:pPr>
              <a:spcBef>
                <a:spcPts val="100"/>
              </a:spcBef>
            </a:pPr>
            <a:r>
              <a:rPr sz="1500">
                <a:solidFill>
                  <a:srgbClr val="556075"/>
                </a:solidFill>
              </a:rPr>
              <a:t>   感受+理由——感官细节+情感反应是这部分的核心</a:t>
            </a:r>
          </a:p>
          <a:p>
            <a:pPr>
              <a:spcBef>
                <a:spcPts val="900"/>
              </a:spcBef>
            </a:pPr>
            <a:r>
              <a:rPr sz="1800" b="1">
                <a:solidFill>
                  <a:srgbClr val="A33607"/>
                </a:solidFill>
              </a:rPr>
              <a:t>• 常见地点题型</a:t>
            </a:r>
          </a:p>
          <a:p>
            <a:pPr>
              <a:spcBef>
                <a:spcPts val="100"/>
              </a:spcBef>
            </a:pPr>
            <a:r>
              <a:rPr sz="1500">
                <a:solidFill>
                  <a:srgbClr val="556075"/>
                </a:solidFill>
              </a:rPr>
              <a:t>   城市/景点/餐厅/公园/海边/博物馆/故乡/深圳特定地点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感官细节：让地点描述生动的秘诀</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从五感角度描述</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视觉</a:t>
            </a:r>
          </a:p>
          <a:p>
            <a:pPr>
              <a:spcBef>
                <a:spcPts val="100"/>
              </a:spcBef>
            </a:pPr>
            <a:r>
              <a:rPr sz="1500">
                <a:solidFill>
                  <a:srgbClr val="556075"/>
                </a:solidFill>
              </a:rPr>
              <a:t>   The view was breathtaking / I was struck by the contrast between X and Y</a:t>
            </a:r>
          </a:p>
          <a:p>
            <a:pPr>
              <a:spcBef>
                <a:spcPts val="900"/>
              </a:spcBef>
            </a:pPr>
            <a:r>
              <a:rPr sz="1800" b="1">
                <a:solidFill>
                  <a:srgbClr val="A33607"/>
                </a:solidFill>
              </a:rPr>
              <a:t>• 听觉</a:t>
            </a:r>
          </a:p>
          <a:p>
            <a:pPr>
              <a:spcBef>
                <a:spcPts val="100"/>
              </a:spcBef>
            </a:pPr>
            <a:r>
              <a:rPr sz="1500">
                <a:solidFill>
                  <a:srgbClr val="556075"/>
                </a:solidFill>
              </a:rPr>
              <a:t>   the sound of / it was surprisingly quiet / the ambient noise of the market</a:t>
            </a:r>
          </a:p>
          <a:p>
            <a:pPr>
              <a:spcBef>
                <a:spcPts val="900"/>
              </a:spcBef>
            </a:pPr>
            <a:r>
              <a:rPr sz="1800" b="1">
                <a:solidFill>
                  <a:srgbClr val="A33607"/>
                </a:solidFill>
              </a:rPr>
              <a:t>• 嗅觉/味觉</a:t>
            </a:r>
          </a:p>
          <a:p>
            <a:pPr>
              <a:spcBef>
                <a:spcPts val="100"/>
              </a:spcBef>
            </a:pPr>
            <a:r>
              <a:rPr sz="1500">
                <a:solidFill>
                  <a:srgbClr val="556075"/>
                </a:solidFill>
              </a:rPr>
              <a:t>   the smell of / the aroma of / the food was unlike anything I'd tried</a:t>
            </a:r>
          </a:p>
          <a:p>
            <a:pPr>
              <a:spcBef>
                <a:spcPts val="900"/>
              </a:spcBef>
            </a:pPr>
            <a:r>
              <a:rPr sz="1800" b="1">
                <a:solidFill>
                  <a:srgbClr val="A33607"/>
                </a:solidFill>
              </a:rPr>
              <a:t>• 触觉/体感</a:t>
            </a:r>
          </a:p>
          <a:p>
            <a:pPr>
              <a:spcBef>
                <a:spcPts val="100"/>
              </a:spcBef>
            </a:pPr>
            <a:r>
              <a:rPr sz="1500">
                <a:solidFill>
                  <a:srgbClr val="556075"/>
                </a:solidFill>
              </a:rPr>
              <a:t>   the cool breeze / the heat of / there was something in the air that...</a:t>
            </a:r>
          </a:p>
          <a:p>
            <a:pPr>
              <a:spcBef>
                <a:spcPts val="900"/>
              </a:spcBef>
            </a:pPr>
            <a:r>
              <a:rPr sz="1800" b="1">
                <a:solidFill>
                  <a:srgbClr val="A33607"/>
                </a:solidFill>
              </a:rPr>
              <a:t>• 情感感受</a:t>
            </a:r>
          </a:p>
          <a:p>
            <a:pPr>
              <a:spcBef>
                <a:spcPts val="100"/>
              </a:spcBef>
            </a:pPr>
            <a:r>
              <a:rPr sz="1500">
                <a:solidFill>
                  <a:srgbClr val="556075"/>
                </a:solidFill>
              </a:rPr>
              <a:t>   I felt an overwhelming sense of / I was immediately drawn to / it evoked...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地点题完整答案框架</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Introduction</a:t>
            </a:r>
          </a:p>
          <a:p>
            <a:pPr>
              <a:spcBef>
                <a:spcPts val="100"/>
              </a:spcBef>
            </a:pPr>
            <a:r>
              <a:rPr sz="1550">
                <a:solidFill>
                  <a:srgbClr val="556075"/>
                </a:solidFill>
              </a:rPr>
              <a:t>   The place that comes to mind immediately is [地点名称], which I visited [时间].</a:t>
            </a:r>
          </a:p>
          <a:p>
            <a:pPr>
              <a:spcBef>
                <a:spcPts val="1000"/>
              </a:spcBef>
            </a:pPr>
            <a:r>
              <a:rPr sz="1850" b="1">
                <a:solidFill>
                  <a:srgbClr val="A33607"/>
                </a:solidFill>
              </a:rPr>
              <a:t>• 提示点1：Where</a:t>
            </a:r>
          </a:p>
          <a:p>
            <a:pPr>
              <a:spcBef>
                <a:spcPts val="100"/>
              </a:spcBef>
            </a:pPr>
            <a:r>
              <a:rPr sz="1550">
                <a:solidFill>
                  <a:srgbClr val="556075"/>
                </a:solidFill>
              </a:rPr>
              <a:t>   Describe the location: country/city + what kind of place it is</a:t>
            </a:r>
          </a:p>
          <a:p>
            <a:pPr>
              <a:spcBef>
                <a:spcPts val="1000"/>
              </a:spcBef>
            </a:pPr>
            <a:r>
              <a:rPr sz="1850" b="1">
                <a:solidFill>
                  <a:srgbClr val="A33607"/>
                </a:solidFill>
              </a:rPr>
              <a:t>• 提示点2：When</a:t>
            </a:r>
          </a:p>
          <a:p>
            <a:pPr>
              <a:spcBef>
                <a:spcPts val="100"/>
              </a:spcBef>
            </a:pPr>
            <a:r>
              <a:rPr sz="1550">
                <a:solidFill>
                  <a:srgbClr val="556075"/>
                </a:solidFill>
              </a:rPr>
              <a:t>   When you went, who with, how long you stayed</a:t>
            </a:r>
          </a:p>
          <a:p>
            <a:pPr>
              <a:spcBef>
                <a:spcPts val="1000"/>
              </a:spcBef>
            </a:pPr>
            <a:r>
              <a:rPr sz="1850" b="1">
                <a:solidFill>
                  <a:srgbClr val="A33607"/>
                </a:solidFill>
              </a:rPr>
              <a:t>• 提示点3：What</a:t>
            </a:r>
          </a:p>
          <a:p>
            <a:pPr>
              <a:spcBef>
                <a:spcPts val="100"/>
              </a:spcBef>
            </a:pPr>
            <a:r>
              <a:rPr sz="1550">
                <a:solidFill>
                  <a:srgbClr val="556075"/>
                </a:solidFill>
              </a:rPr>
              <a:t>   What you did there: 至少2个具体活动+1个感官细节</a:t>
            </a:r>
          </a:p>
          <a:p>
            <a:pPr>
              <a:spcBef>
                <a:spcPts val="1000"/>
              </a:spcBef>
            </a:pPr>
            <a:r>
              <a:rPr sz="1850" b="1">
                <a:solidFill>
                  <a:srgbClr val="A33607"/>
                </a:solidFill>
              </a:rPr>
              <a:t>• 提示点4：Why</a:t>
            </a:r>
          </a:p>
          <a:p>
            <a:pPr>
              <a:spcBef>
                <a:spcPts val="100"/>
              </a:spcBef>
            </a:pPr>
            <a:r>
              <a:rPr sz="1550">
                <a:solidFill>
                  <a:srgbClr val="556075"/>
                </a:solidFill>
              </a:rPr>
              <a:t>   感官细节+情感反应：This was special because.../ What struck me was...</a:t>
            </a:r>
          </a:p>
          <a:p>
            <a:pPr>
              <a:spcBef>
                <a:spcPts val="1000"/>
              </a:spcBef>
            </a:pPr>
            <a:r>
              <a:rPr sz="1850" b="1">
                <a:solidFill>
                  <a:srgbClr val="A33607"/>
                </a:solidFill>
              </a:rPr>
              <a:t>• 总结</a:t>
            </a:r>
          </a:p>
          <a:p>
            <a:pPr>
              <a:spcBef>
                <a:spcPts val="100"/>
              </a:spcBef>
            </a:pPr>
            <a:r>
              <a:rPr sz="1550">
                <a:solidFill>
                  <a:srgbClr val="556075"/>
                </a:solidFill>
              </a:rPr>
              <a:t>   ...and that's why [地点] holds such a special place in my memory.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深圳地点素材库</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Shenzhen Bay Park</a:t>
            </a:r>
          </a:p>
          <a:p>
            <a:pPr>
              <a:spcBef>
                <a:spcPts val="100"/>
              </a:spcBef>
            </a:pPr>
            <a:r>
              <a:rPr sz="1550">
                <a:solidFill>
                  <a:srgbClr val="556075"/>
                </a:solidFill>
              </a:rPr>
              <a:t>   coastal greenway / sunset / cycling / joggers / city skyline backdrop</a:t>
            </a:r>
          </a:p>
          <a:p>
            <a:pPr>
              <a:spcBef>
                <a:spcPts val="1000"/>
              </a:spcBef>
            </a:pPr>
            <a:r>
              <a:rPr sz="1850" b="1">
                <a:solidFill>
                  <a:srgbClr val="A33607"/>
                </a:solidFill>
              </a:rPr>
              <a:t>• OCT-LOFT</a:t>
            </a:r>
          </a:p>
          <a:p>
            <a:pPr>
              <a:spcBef>
                <a:spcPts val="100"/>
              </a:spcBef>
            </a:pPr>
            <a:r>
              <a:rPr sz="1550">
                <a:solidFill>
                  <a:srgbClr val="556075"/>
                </a:solidFill>
              </a:rPr>
              <a:t>   creative district / art galleries / indie cafes / street art / architecture</a:t>
            </a:r>
          </a:p>
          <a:p>
            <a:pPr>
              <a:spcBef>
                <a:spcPts val="1000"/>
              </a:spcBef>
            </a:pPr>
            <a:r>
              <a:rPr sz="1850" b="1">
                <a:solidFill>
                  <a:srgbClr val="A33607"/>
                </a:solidFill>
              </a:rPr>
              <a:t>• Wutong Mountain</a:t>
            </a:r>
          </a:p>
          <a:p>
            <a:pPr>
              <a:spcBef>
                <a:spcPts val="100"/>
              </a:spcBef>
            </a:pPr>
            <a:r>
              <a:rPr sz="1550">
                <a:solidFill>
                  <a:srgbClr val="556075"/>
                </a:solidFill>
              </a:rPr>
              <a:t>   hiking / panoramic views / city vs nature contrast / physical challenge</a:t>
            </a:r>
          </a:p>
          <a:p>
            <a:pPr>
              <a:spcBef>
                <a:spcPts val="1000"/>
              </a:spcBef>
            </a:pPr>
            <a:r>
              <a:rPr sz="1850" b="1">
                <a:solidFill>
                  <a:srgbClr val="A33607"/>
                </a:solidFill>
              </a:rPr>
              <a:t>• Dameisha Beach</a:t>
            </a:r>
          </a:p>
          <a:p>
            <a:pPr>
              <a:spcBef>
                <a:spcPts val="100"/>
              </a:spcBef>
            </a:pPr>
            <a:r>
              <a:rPr sz="1550">
                <a:solidFill>
                  <a:srgbClr val="556075"/>
                </a:solidFill>
              </a:rPr>
              <a:t>   beach / seafood / family trips / golden sand / crowded but lively</a:t>
            </a:r>
          </a:p>
          <a:p>
            <a:pPr>
              <a:spcBef>
                <a:spcPts val="1000"/>
              </a:spcBef>
            </a:pPr>
            <a:r>
              <a:rPr sz="1850" b="1">
                <a:solidFill>
                  <a:srgbClr val="A33607"/>
                </a:solidFill>
              </a:rPr>
              <a:t>• Shekou Sea World</a:t>
            </a:r>
          </a:p>
          <a:p>
            <a:pPr>
              <a:spcBef>
                <a:spcPts val="100"/>
              </a:spcBef>
            </a:pPr>
            <a:r>
              <a:rPr sz="1550">
                <a:solidFill>
                  <a:srgbClr val="556075"/>
                </a:solidFill>
              </a:rPr>
              <a:t>   waterfront / multicultural / expat community / historical plaza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地点题Band 7示范答案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Cue Card: "Describe a place in your country you would recommend visiting."
1分钟准备后开始</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 place I'd immediately recommend is Shenzhen Bay Park, a stunning coastal greenway that runs along the city's southern edge. I go there fairly regularly, often early on weekend mornings before the crowds arrive. What I love about it is the remarkable contrast you get — on one side, the shimmering Shenzhen skyline; on the other, the calm waters of Deep Bay stretching towards Hong Kong. Last month, I cycled the entire length of the path at sunset, and the combination of the warm light and sea breeze made it feel almost surreal. I think anyone visiting Shenzhen should experience it because it perfectly captures the city's dual character — ultramodern yet somehow serene.</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感官细节：shimmering/calm waters/warm light/sea breeze——4个感官词
词汇：stunning/remarkable contrast/dual character/ultramodern/serene
对比描述：on one side...on the other——GRA结构多样</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地点题扩展：感官清单练习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用以下感官清单扩展你的地点描述：
以"一个你去过的令你印象深刻的地方"为题，
为每个感官写1-2句话：
① 我看到了什么？（视觉，2句）
② 我听到了什么？（听觉，2句）
③ 我感受到了什么？（体感/情感，2句）
④ 我注意到了什么特别的事？（细节，2句）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8句话=约90秒额外内容——地点题从30秒扩展到2分钟的方法
所有8句都是真实描述，不需要虚构，比泛泛评价分数高很多</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考场技巧：如果1分钟准备时间用完了但没想好，从"视觉"开始说——视觉描述最直觉，最容易开口</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时间管理：说满2分钟的技巧</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Time Management: Filling 2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5种内容扩展技巧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让答案自然地延长到2分钟</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对比法</a:t>
            </a:r>
          </a:p>
          <a:p>
            <a:pPr>
              <a:spcBef>
                <a:spcPts val="100"/>
              </a:spcBef>
            </a:pPr>
            <a:r>
              <a:rPr sz="1500">
                <a:solidFill>
                  <a:srgbClr val="556075"/>
                </a:solidFill>
              </a:rPr>
              <a:t>   X was different from what I expected. I thought it would be... but actually it was...</a:t>
            </a:r>
          </a:p>
          <a:p>
            <a:pPr>
              <a:spcBef>
                <a:spcPts val="900"/>
              </a:spcBef>
            </a:pPr>
            <a:r>
              <a:rPr sz="1800" b="1">
                <a:solidFill>
                  <a:srgbClr val="A33607"/>
                </a:solidFill>
              </a:rPr>
              <a:t>• 情感深挖</a:t>
            </a:r>
          </a:p>
          <a:p>
            <a:pPr>
              <a:spcBef>
                <a:spcPts val="100"/>
              </a:spcBef>
            </a:pPr>
            <a:r>
              <a:rPr sz="1500">
                <a:solidFill>
                  <a:srgbClr val="556075"/>
                </a:solidFill>
              </a:rPr>
              <a:t>   It was more than just [表面描述]—it made me feel [情感]+[原因]</a:t>
            </a:r>
          </a:p>
          <a:p>
            <a:pPr>
              <a:spcBef>
                <a:spcPts val="900"/>
              </a:spcBef>
            </a:pPr>
            <a:r>
              <a:rPr sz="1800" b="1">
                <a:solidFill>
                  <a:srgbClr val="A33607"/>
                </a:solidFill>
              </a:rPr>
              <a:t>• 背景补充</a:t>
            </a:r>
          </a:p>
          <a:p>
            <a:pPr>
              <a:spcBef>
                <a:spcPts val="100"/>
              </a:spcBef>
            </a:pPr>
            <a:r>
              <a:rPr sz="1500">
                <a:solidFill>
                  <a:srgbClr val="556075"/>
                </a:solidFill>
              </a:rPr>
              <a:t>   To give you a bit of context, [说明为什么去/认识这个人的背景]</a:t>
            </a:r>
          </a:p>
          <a:p>
            <a:pPr>
              <a:spcBef>
                <a:spcPts val="900"/>
              </a:spcBef>
            </a:pPr>
            <a:r>
              <a:rPr sz="1800" b="1">
                <a:solidFill>
                  <a:srgbClr val="A33607"/>
                </a:solidFill>
              </a:rPr>
              <a:t>• 反思总结</a:t>
            </a:r>
          </a:p>
          <a:p>
            <a:pPr>
              <a:spcBef>
                <a:spcPts val="100"/>
              </a:spcBef>
            </a:pPr>
            <a:r>
              <a:rPr sz="1500">
                <a:solidFill>
                  <a:srgbClr val="556075"/>
                </a:solidFill>
              </a:rPr>
              <a:t>   Looking back, I realize that [深层影响或意义]</a:t>
            </a:r>
          </a:p>
          <a:p>
            <a:pPr>
              <a:spcBef>
                <a:spcPts val="900"/>
              </a:spcBef>
            </a:pPr>
            <a:r>
              <a:rPr sz="1800" b="1">
                <a:solidFill>
                  <a:srgbClr val="A33607"/>
                </a:solidFill>
              </a:rPr>
              <a:t>• 现在联系</a:t>
            </a:r>
          </a:p>
          <a:p>
            <a:pPr>
              <a:spcBef>
                <a:spcPts val="100"/>
              </a:spcBef>
            </a:pPr>
            <a:r>
              <a:rPr sz="1500">
                <a:solidFill>
                  <a:srgbClr val="556075"/>
                </a:solidFill>
              </a:rPr>
              <a:t>   Even now, I still [与过去经历的联系]——showed lasting impact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内容扩展的触发问题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说完提示点后，继续说的方法</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Contrast</a:t>
            </a:r>
          </a:p>
          <a:p>
            <a:pPr>
              <a:spcBef>
                <a:spcPts val="100"/>
              </a:spcBef>
            </a:pPr>
            <a:r>
              <a:rPr sz="1500">
                <a:solidFill>
                  <a:srgbClr val="556075"/>
                </a:solidFill>
              </a:rPr>
              <a:t>   I actually didn't expect it to be like that — I had imagined...</a:t>
            </a:r>
          </a:p>
          <a:p>
            <a:pPr>
              <a:spcBef>
                <a:spcPts val="900"/>
              </a:spcBef>
            </a:pPr>
            <a:r>
              <a:rPr sz="1800" b="1">
                <a:solidFill>
                  <a:srgbClr val="A33607"/>
                </a:solidFill>
              </a:rPr>
              <a:t>• Feeling</a:t>
            </a:r>
          </a:p>
          <a:p>
            <a:pPr>
              <a:spcBef>
                <a:spcPts val="100"/>
              </a:spcBef>
            </a:pPr>
            <a:r>
              <a:rPr sz="1500">
                <a:solidFill>
                  <a:srgbClr val="556075"/>
                </a:solidFill>
              </a:rPr>
              <a:t>   What really struck me was... / I was surprised to find that...</a:t>
            </a:r>
          </a:p>
          <a:p>
            <a:pPr>
              <a:spcBef>
                <a:spcPts val="900"/>
              </a:spcBef>
            </a:pPr>
            <a:r>
              <a:rPr sz="1800" b="1">
                <a:solidFill>
                  <a:srgbClr val="A33607"/>
                </a:solidFill>
              </a:rPr>
              <a:t>• Context</a:t>
            </a:r>
          </a:p>
          <a:p>
            <a:pPr>
              <a:spcBef>
                <a:spcPts val="100"/>
              </a:spcBef>
            </a:pPr>
            <a:r>
              <a:rPr sz="1500">
                <a:solidFill>
                  <a:srgbClr val="556075"/>
                </a:solidFill>
              </a:rPr>
              <a:t>   To give you some background... / The reason I was there was...</a:t>
            </a:r>
          </a:p>
          <a:p>
            <a:pPr>
              <a:spcBef>
                <a:spcPts val="900"/>
              </a:spcBef>
            </a:pPr>
            <a:r>
              <a:rPr sz="1800" b="1">
                <a:solidFill>
                  <a:srgbClr val="A33607"/>
                </a:solidFill>
              </a:rPr>
              <a:t>• Impact</a:t>
            </a:r>
          </a:p>
          <a:p>
            <a:pPr>
              <a:spcBef>
                <a:spcPts val="100"/>
              </a:spcBef>
            </a:pPr>
            <a:r>
              <a:rPr sz="1500">
                <a:solidFill>
                  <a:srgbClr val="556075"/>
                </a:solidFill>
              </a:rPr>
              <a:t>   Since then, I've... / That experience really changed my perspective on...</a:t>
            </a:r>
          </a:p>
          <a:p>
            <a:pPr>
              <a:spcBef>
                <a:spcPts val="900"/>
              </a:spcBef>
            </a:pPr>
            <a:r>
              <a:rPr sz="1800" b="1">
                <a:solidFill>
                  <a:srgbClr val="A33607"/>
                </a:solidFill>
              </a:rPr>
              <a:t>• Connection</a:t>
            </a:r>
          </a:p>
          <a:p>
            <a:pPr>
              <a:spcBef>
                <a:spcPts val="100"/>
              </a:spcBef>
            </a:pPr>
            <a:r>
              <a:rPr sz="1500">
                <a:solidFill>
                  <a:srgbClr val="556075"/>
                </a:solidFill>
              </a:rPr>
              <a:t>   It reminds me of... / It's similar to... / Which made me think about...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2分钟填充技巧实操</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技巧1：时态切换</a:t>
            </a:r>
          </a:p>
          <a:p>
            <a:pPr>
              <a:spcBef>
                <a:spcPts val="100"/>
              </a:spcBef>
            </a:pPr>
            <a:r>
              <a:rPr sz="1550">
                <a:solidFill>
                  <a:srgbClr val="556075"/>
                </a:solidFill>
              </a:rPr>
              <a:t>   先用过去时描述经历，再用现在完成时说影响：I went...I've never forgotten</a:t>
            </a:r>
          </a:p>
          <a:p>
            <a:pPr>
              <a:spcBef>
                <a:spcPts val="1000"/>
              </a:spcBef>
            </a:pPr>
            <a:r>
              <a:rPr sz="1850" b="1">
                <a:solidFill>
                  <a:srgbClr val="A33607"/>
                </a:solidFill>
              </a:rPr>
              <a:t>• 技巧2：加旁白</a:t>
            </a:r>
          </a:p>
          <a:p>
            <a:pPr>
              <a:spcBef>
                <a:spcPts val="100"/>
              </a:spcBef>
            </a:pPr>
            <a:r>
              <a:rPr sz="1550">
                <a:solidFill>
                  <a:srgbClr val="556075"/>
                </a:solidFill>
              </a:rPr>
              <a:t>   描述时加上你当时的想法：At the time, I remember thinking...</a:t>
            </a:r>
          </a:p>
          <a:p>
            <a:pPr>
              <a:spcBef>
                <a:spcPts val="1000"/>
              </a:spcBef>
            </a:pPr>
            <a:r>
              <a:rPr sz="1850" b="1">
                <a:solidFill>
                  <a:srgbClr val="A33607"/>
                </a:solidFill>
              </a:rPr>
              <a:t>• 技巧3：加背景</a:t>
            </a:r>
          </a:p>
          <a:p>
            <a:pPr>
              <a:spcBef>
                <a:spcPts val="100"/>
              </a:spcBef>
            </a:pPr>
            <a:r>
              <a:rPr sz="1550">
                <a:solidFill>
                  <a:srgbClr val="556075"/>
                </a:solidFill>
              </a:rPr>
              <a:t>   说明你为什么在那里：We were there for my sister's birthday, actually</a:t>
            </a:r>
          </a:p>
          <a:p>
            <a:pPr>
              <a:spcBef>
                <a:spcPts val="1000"/>
              </a:spcBef>
            </a:pPr>
            <a:r>
              <a:rPr sz="1850" b="1">
                <a:solidFill>
                  <a:srgbClr val="A33607"/>
                </a:solidFill>
              </a:rPr>
              <a:t>• 技巧4：加对比</a:t>
            </a:r>
          </a:p>
          <a:p>
            <a:pPr>
              <a:spcBef>
                <a:spcPts val="100"/>
              </a:spcBef>
            </a:pPr>
            <a:r>
              <a:rPr sz="1550">
                <a:solidFill>
                  <a:srgbClr val="556075"/>
                </a:solidFill>
              </a:rPr>
              <a:t>   That was quite different from [另一个类似经历]</a:t>
            </a:r>
          </a:p>
          <a:p>
            <a:pPr>
              <a:spcBef>
                <a:spcPts val="1000"/>
              </a:spcBef>
            </a:pPr>
            <a:r>
              <a:rPr sz="1850" b="1">
                <a:solidFill>
                  <a:srgbClr val="A33607"/>
                </a:solidFill>
              </a:rPr>
              <a:t>• 技巧5：加未来</a:t>
            </a:r>
          </a:p>
          <a:p>
            <a:pPr>
              <a:spcBef>
                <a:spcPts val="100"/>
              </a:spcBef>
            </a:pPr>
            <a:r>
              <a:rPr sz="1550">
                <a:solidFill>
                  <a:srgbClr val="556075"/>
                </a:solidFill>
              </a:rPr>
              <a:t>   In fact, I'm planning to go back / I'd love to revisit someday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时间感知训练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A33607"/>
                </a:solidFill>
              </a:rPr>
              <a:t>• 练习方法</a:t>
            </a:r>
          </a:p>
          <a:p>
            <a:pPr>
              <a:spcBef>
                <a:spcPts val="100"/>
              </a:spcBef>
            </a:pPr>
            <a:r>
              <a:rPr sz="1550">
                <a:solidFill>
                  <a:srgbClr val="556075"/>
                </a:solidFill>
              </a:rPr>
              <a:t>   用手机计时2分钟，尝试说同一个话题——2分钟比你想象的长</a:t>
            </a:r>
          </a:p>
          <a:p>
            <a:pPr>
              <a:spcBef>
                <a:spcPts val="1000"/>
              </a:spcBef>
            </a:pPr>
            <a:r>
              <a:rPr sz="1850" b="1">
                <a:solidFill>
                  <a:srgbClr val="A33607"/>
                </a:solidFill>
              </a:rPr>
              <a:t>• 常见症状</a:t>
            </a:r>
          </a:p>
          <a:p>
            <a:pPr>
              <a:spcBef>
                <a:spcPts val="100"/>
              </a:spcBef>
            </a:pPr>
            <a:r>
              <a:rPr sz="1550">
                <a:solidFill>
                  <a:srgbClr val="556075"/>
                </a:solidFill>
              </a:rPr>
              <a:t>   60秒时说完所有内容，停顿，不知道说什么</a:t>
            </a:r>
          </a:p>
          <a:p>
            <a:pPr>
              <a:spcBef>
                <a:spcPts val="1000"/>
              </a:spcBef>
            </a:pPr>
            <a:r>
              <a:rPr sz="1850" b="1">
                <a:solidFill>
                  <a:srgbClr val="A33607"/>
                </a:solidFill>
              </a:rPr>
              <a:t>• 解决方案</a:t>
            </a:r>
          </a:p>
          <a:p>
            <a:pPr>
              <a:spcBef>
                <a:spcPts val="100"/>
              </a:spcBef>
            </a:pPr>
            <a:r>
              <a:rPr sz="1550">
                <a:solidFill>
                  <a:srgbClr val="556075"/>
                </a:solidFill>
              </a:rPr>
              <a:t>   用触发问题继续：And what struck me most was... / Looking back now...</a:t>
            </a:r>
          </a:p>
          <a:p>
            <a:pPr>
              <a:spcBef>
                <a:spcPts val="1000"/>
              </a:spcBef>
            </a:pPr>
            <a:r>
              <a:rPr sz="1850" b="1">
                <a:solidFill>
                  <a:srgbClr val="A33607"/>
                </a:solidFill>
              </a:rPr>
              <a:t>• 高级技巧</a:t>
            </a:r>
          </a:p>
          <a:p>
            <a:pPr>
              <a:spcBef>
                <a:spcPts val="100"/>
              </a:spcBef>
            </a:pPr>
            <a:r>
              <a:rPr sz="1550">
                <a:solidFill>
                  <a:srgbClr val="556075"/>
                </a:solidFill>
              </a:rPr>
              <a:t>   如果真的说完了：重新强调"最重要的原因"——不是重复而是深化</a:t>
            </a:r>
          </a:p>
          <a:p>
            <a:pPr>
              <a:spcBef>
                <a:spcPts val="1000"/>
              </a:spcBef>
            </a:pPr>
            <a:r>
              <a:rPr sz="1850" b="1">
                <a:solidFill>
                  <a:srgbClr val="A33607"/>
                </a:solidFill>
              </a:rPr>
              <a:t>• 最终目标</a:t>
            </a:r>
          </a:p>
          <a:p>
            <a:pPr>
              <a:spcBef>
                <a:spcPts val="100"/>
              </a:spcBef>
            </a:pPr>
            <a:r>
              <a:rPr sz="1550">
                <a:solidFill>
                  <a:srgbClr val="556075"/>
                </a:solidFill>
              </a:rPr>
              <a:t>   1分45秒-2分钟自然结束，不需要强迫延长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2分钟发言时间管理练习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计时2分钟，回答：
"Describe a memorable journey or trip you have taken."
每30秒提醒：
0-30s：Introduction + 地点/时间/同行者
30-60s：途中发生了什么（具体事件）
60-90s：最印象深刻的细节（感官描述）
90-120s：这次旅行对你的影响/感受</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大多数学生在60-75秒说完所有内容——用感官细节和情感反应填满90-120秒
"The moment that really stands out in my memory is when..."——这句话可以在任何时候"重启"叙事</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90-120秒是最难的阶段——提前准备好2-3个"深化句式"：
"What made it truly special was..."
"Looking back, I realize that..."
"It's the kind of experience that..."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2整体发言结构确认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用以下清单在练习后自我检查：
① 介绍清楚了主题吗？（Introduction）
② 覆盖了所有4个提示点吗？（Content coverage）
③ 每个提示点至少说了2句吗？（Depth）
④ 有没有具体例子/感官细节？（Specificity）
⑤ 说了至少1分45秒吗？（Time management）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5项都是Yes = 目标分数
3-4项是Yes = 良好，关注未达标的项
2项以下是Yes = 需要重做，重点练习时间管理</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Part 2最常见问题：③和⑤——每个点只说1句就跳到下一个点，导致时间不够</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 核心词汇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2 Core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人物描述词汇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inspiring</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鼓舞人心的（an inspiring figure in my life）</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compassionate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富有同情心的（she was incredibly compassionate）</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dedicated</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投入/敬业的（he was dedicated to his students）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perceptive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有洞察力的（she was remarkably perceptive）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resilient</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坚韧的（his resilience in the face of challenges）</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mentor</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导师/引路人（she became my mentor in many ways）</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instill</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灌输/培养（he instilled a love of learning in me）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地点描述词汇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breathtaking</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令人叹为观止的（a breathtaking view）</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serene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宁静的（the atmosphere was incredibly serene）</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vibrant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充满活力的（a vibrant atmosphere）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unspoilt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未被破坏的（unspoilt natural landscape）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picturesque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如画的（a picturesque coastal town）</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bustling</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热闹的（a bustling street market）</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immerse in</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沉浸在（I was completely immersed in the local culture）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时间扩展关键词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Looking back</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回想起来（Looking back, I realize that...）</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At the time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当时（At the time, I remember thinking...）</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What struck me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令我印象深刻的是（What struck me most was...）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To this day</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直到今天（To this day, I still think about...）</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formative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影响人成长的（a formative experience / formative years）</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pivotal</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关键的（a pivotal moment / pivotal figure）</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I'd never forgotten</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我从未忘记（I've never forgotten the moment when...）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2 人物vs地点题型对比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人物类提示点（典型）</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Who</a:t>
            </a:r>
          </a:p>
          <a:p>
            <a:pPr>
              <a:spcBef>
                <a:spcPts val="100"/>
              </a:spcBef>
            </a:pPr>
            <a:r>
              <a:rPr sz="1350">
                <a:solidFill>
                  <a:srgbClr val="556075"/>
                </a:solidFill>
              </a:rPr>
              <a:t>   名字+关系+简短特征</a:t>
            </a:r>
          </a:p>
          <a:p>
            <a:pPr>
              <a:spcBef>
                <a:spcPts val="700"/>
              </a:spcBef>
            </a:pPr>
            <a:r>
              <a:rPr sz="1650" b="1">
                <a:solidFill>
                  <a:srgbClr val="A33607"/>
                </a:solidFill>
              </a:rPr>
              <a:t>• How do you know</a:t>
            </a:r>
          </a:p>
          <a:p>
            <a:pPr>
              <a:spcBef>
                <a:spcPts val="100"/>
              </a:spcBef>
            </a:pPr>
            <a:r>
              <a:rPr sz="1350">
                <a:solidFill>
                  <a:srgbClr val="556075"/>
                </a:solidFill>
              </a:rPr>
              <a:t>   认识的时间/背景/情境</a:t>
            </a:r>
          </a:p>
          <a:p>
            <a:pPr>
              <a:spcBef>
                <a:spcPts val="700"/>
              </a:spcBef>
            </a:pPr>
            <a:r>
              <a:rPr sz="1650" b="1">
                <a:solidFill>
                  <a:srgbClr val="A33607"/>
                </a:solidFill>
              </a:rPr>
              <a:t>• What have they done</a:t>
            </a:r>
          </a:p>
          <a:p>
            <a:pPr>
              <a:spcBef>
                <a:spcPts val="100"/>
              </a:spcBef>
            </a:pPr>
            <a:r>
              <a:rPr sz="1350">
                <a:solidFill>
                  <a:srgbClr val="556075"/>
                </a:solidFill>
              </a:rPr>
              <a:t>   最重要的行为/事件/成就</a:t>
            </a:r>
          </a:p>
          <a:p>
            <a:pPr>
              <a:spcBef>
                <a:spcPts val="700"/>
              </a:spcBef>
            </a:pPr>
            <a:r>
              <a:rPr sz="1650" b="1">
                <a:solidFill>
                  <a:srgbClr val="A33607"/>
                </a:solidFill>
              </a:rPr>
              <a:t>• Why they influenced you</a:t>
            </a:r>
          </a:p>
          <a:p>
            <a:pPr>
              <a:spcBef>
                <a:spcPts val="100"/>
              </a:spcBef>
            </a:pPr>
            <a:r>
              <a:rPr sz="1350">
                <a:solidFill>
                  <a:srgbClr val="556075"/>
                </a:solidFill>
              </a:rPr>
              <a:t>   影响深度：改变了什么</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地点类提示点（典型）</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Where</a:t>
            </a:r>
          </a:p>
          <a:p>
            <a:pPr>
              <a:spcBef>
                <a:spcPts val="100"/>
              </a:spcBef>
            </a:pPr>
            <a:r>
              <a:rPr sz="1350">
                <a:solidFill>
                  <a:srgbClr val="556075"/>
                </a:solidFill>
              </a:rPr>
              <a:t>   地点名称+位置+类型</a:t>
            </a:r>
          </a:p>
          <a:p>
            <a:pPr>
              <a:spcBef>
                <a:spcPts val="700"/>
              </a:spcBef>
            </a:pPr>
            <a:r>
              <a:rPr sz="1650" b="1">
                <a:solidFill>
                  <a:srgbClr val="A33607"/>
                </a:solidFill>
              </a:rPr>
              <a:t>• When and who with</a:t>
            </a:r>
          </a:p>
          <a:p>
            <a:pPr>
              <a:spcBef>
                <a:spcPts val="100"/>
              </a:spcBef>
            </a:pPr>
            <a:r>
              <a:rPr sz="1350">
                <a:solidFill>
                  <a:srgbClr val="556075"/>
                </a:solidFill>
              </a:rPr>
              <a:t>   时间+同行者+背景</a:t>
            </a:r>
          </a:p>
          <a:p>
            <a:pPr>
              <a:spcBef>
                <a:spcPts val="700"/>
              </a:spcBef>
            </a:pPr>
            <a:r>
              <a:rPr sz="1650" b="1">
                <a:solidFill>
                  <a:srgbClr val="A33607"/>
                </a:solidFill>
              </a:rPr>
              <a:t>• What you did</a:t>
            </a:r>
          </a:p>
          <a:p>
            <a:pPr>
              <a:spcBef>
                <a:spcPts val="100"/>
              </a:spcBef>
            </a:pPr>
            <a:r>
              <a:rPr sz="1350">
                <a:solidFill>
                  <a:srgbClr val="556075"/>
                </a:solidFill>
              </a:rPr>
              <a:t>   活动+细节+感官体验</a:t>
            </a:r>
          </a:p>
          <a:p>
            <a:pPr>
              <a:spcBef>
                <a:spcPts val="700"/>
              </a:spcBef>
            </a:pPr>
            <a:r>
              <a:rPr sz="1650" b="1">
                <a:solidFill>
                  <a:srgbClr val="A33607"/>
                </a:solidFill>
              </a:rPr>
              <a:t>• Why you liked it</a:t>
            </a:r>
          </a:p>
          <a:p>
            <a:pPr>
              <a:spcBef>
                <a:spcPts val="100"/>
              </a:spcBef>
            </a:pPr>
            <a:r>
              <a:rPr sz="1350">
                <a:solidFill>
                  <a:srgbClr val="556075"/>
                </a:solidFill>
              </a:rPr>
              <a:t>   情感反应+理由+持续影响</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 发言流程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2 Speaking Process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1分钟准备阶段（关键词笔记法）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读卡（10秒）</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快速读完整个卡片，理解主题是人物/地点/物品/经历</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写关键词（40秒）</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每个提示点写2个词，总共6-8个词——不写完整句</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选素材（10秒）</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确认用哪个真实经历——如果有多个选项，选细节最多的那个</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2分钟发言阶段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Introduction（15秒）</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立刻开口：I'd like to talk about [主题]，不要停顿超过1秒</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覆盖4个提示点（100秒）</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每个点约25秒，顺序按卡片上的顺序</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总结感受（15秒）</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That's why...remains such a...to me，有始有终</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发言中的实时调整</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说完一个点太快</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用对比/情感/背景补充：And what was particularly special was...</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词穷时</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继续用已知词替代：It was quite...in a way that's hard to describe, but...</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跑题时</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Actually, what I really wanted to say about [提示点] 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完整Band 7人物题示范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person you know who is good at cooking."
完整2分钟示范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person who immediately comes to mind is my grandmother, who lives back in Guangzhou. She's in her seventies now but she still spends hours every day in the kitchen, and the way she approaches cooking is almost artistic. I grew up spending summers with her, and watching her cook was a genuine education. I remember once she spent an entire morning just preparing the broth for Cantonese wonton soup — she'd simmer it for hours with dried shrimp and ginger, and the aroma would fill the entire apartment. That attention to detail is something she's always had. What really strikes me is how she never uses recipes — it's all instinct and memory. She'd say food is about feeling, not formulas. I've tried to recreate some of her dishes but they never quite taste the same. I think what I admire most is her patience — cooking for her is never a chore, it's a form of expression. That's probably why her food always tastes so much better than anything I could make.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感官细节：the aroma would fill the entire apartment——让评委能感受到</a:t>
            </a:r>
          </a:p>
          <a:p>
            <a:pPr>
              <a:spcBef>
                <a:spcPts val="700"/>
              </a:spcBef>
            </a:pPr>
            <a:r>
              <a:rPr sz="1200">
                <a:solidFill>
                  <a:srgbClr val="1E293B"/>
                </a:solidFill>
              </a:rPr>
              <a:t>▸ 具体行为：spent an entire morning just preparing the broth——具体不笼统</a:t>
            </a:r>
          </a:p>
          <a:p>
            <a:pPr>
              <a:spcBef>
                <a:spcPts val="700"/>
              </a:spcBef>
            </a:pPr>
            <a:r>
              <a:rPr sz="1200">
                <a:solidFill>
                  <a:srgbClr val="1E293B"/>
                </a:solidFill>
              </a:rPr>
              <a:t>▸ 深层影响：patience/form of expression——展示了深度反思能力</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完整Band 7地点题示范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place where you can relax."
完整2分钟示范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place that comes to mind is Shenzhen Bay Park, a long coastal greenway that stretches along the southern edge of the city. I discovered it by accident a few years ago when I was cycling with a colleague, and I've been going back regularly ever since. What I love about it is the remarkable contrast it offers. On one side, you have this gleaming modern skyline; on the other, the calm expanse of Deep Bay, with egrets wading through the shallows. In the early morning, before the crowds arrive, there's this wonderful sense of stillness that's rare to find in such a dense city. Last Sunday, I went there just as the sun was rising, and the light reflected off the water created these extraordinary golden ripples. I stayed for nearly an hour just watching the birds. I think what makes it genuinely relaxing is that it reminds you that nature still exists within the urban landscape — and that's something Shenzhen does surprisingly well. I'd recommend it to anyone who finds city life overwhelming.</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开头句式：The place that comes to mind——直接引入</a:t>
            </a:r>
          </a:p>
          <a:p>
            <a:pPr>
              <a:spcBef>
                <a:spcPts val="700"/>
              </a:spcBef>
            </a:pPr>
            <a:r>
              <a:rPr sz="1200">
                <a:solidFill>
                  <a:srgbClr val="1E293B"/>
                </a:solidFill>
              </a:rPr>
              <a:t>▸ 对比描述：On one side...on the other——CC连贯性高分技巧</a:t>
            </a:r>
          </a:p>
          <a:p>
            <a:pPr>
              <a:spcBef>
                <a:spcPts val="700"/>
              </a:spcBef>
            </a:pPr>
            <a:r>
              <a:rPr sz="1200">
                <a:solidFill>
                  <a:srgbClr val="1E293B"/>
                </a:solidFill>
              </a:rPr>
              <a:t>▸ 收尾：genuinely relaxing + recommendation——有逻辑有总结</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2答案：说完就停 vs 说满2分钟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说完就停（约60秒）</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说满2分钟</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只覆盖2-3个提示点</a:t>
            </a:r>
          </a:p>
          <a:p>
            <a:pPr>
              <a:spcBef>
                <a:spcPts val="700"/>
              </a:spcBef>
            </a:pPr>
            <a:r>
              <a:rPr sz="1350">
                <a:solidFill>
                  <a:srgbClr val="C02A2A"/>
                </a:solidFill>
              </a:rPr>
              <a:t>✗ 每个点只说1句</a:t>
            </a:r>
          </a:p>
          <a:p>
            <a:pPr>
              <a:spcBef>
                <a:spcPts val="700"/>
              </a:spcBef>
            </a:pPr>
            <a:r>
              <a:rPr sz="1350">
                <a:solidFill>
                  <a:srgbClr val="C02A2A"/>
                </a:solidFill>
              </a:rPr>
              <a:t>✗ 没有具体例子，只有笼统描述</a:t>
            </a:r>
          </a:p>
          <a:p>
            <a:pPr>
              <a:spcBef>
                <a:spcPts val="700"/>
              </a:spcBef>
            </a:pPr>
            <a:r>
              <a:rPr sz="1350">
                <a:solidFill>
                  <a:srgbClr val="C02A2A"/>
                </a:solidFill>
              </a:rPr>
              <a:t>✗ 60秒说完，等待考官（尴尬停顿）</a:t>
            </a:r>
          </a:p>
          <a:p>
            <a:pPr>
              <a:spcBef>
                <a:spcPts val="700"/>
              </a:spcBef>
            </a:pPr>
            <a:r>
              <a:rPr sz="1350">
                <a:solidFill>
                  <a:srgbClr val="C02A2A"/>
                </a:solidFill>
              </a:rPr>
              <a:t>✗ CC因内容不足被扣</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覆盖全部4个提示点</a:t>
            </a:r>
          </a:p>
          <a:p>
            <a:pPr>
              <a:spcBef>
                <a:spcPts val="700"/>
              </a:spcBef>
            </a:pPr>
            <a:r>
              <a:rPr sz="1350">
                <a:solidFill>
                  <a:srgbClr val="1B7A3D"/>
                </a:solidFill>
              </a:rPr>
              <a:t>✓ 每个点2-3句，包含具体细节</a:t>
            </a:r>
          </a:p>
          <a:p>
            <a:pPr>
              <a:spcBef>
                <a:spcPts val="700"/>
              </a:spcBef>
            </a:pPr>
            <a:r>
              <a:rPr sz="1350">
                <a:solidFill>
                  <a:srgbClr val="1B7A3D"/>
                </a:solidFill>
              </a:rPr>
              <a:t>✓ 有感官描述/情感反应</a:t>
            </a:r>
          </a:p>
          <a:p>
            <a:pPr>
              <a:spcBef>
                <a:spcPts val="700"/>
              </a:spcBef>
            </a:pPr>
            <a:r>
              <a:rPr sz="1350">
                <a:solidFill>
                  <a:srgbClr val="1B7A3D"/>
                </a:solidFill>
              </a:rPr>
              <a:t>✓ 用对比/背景/反思扩展内容</a:t>
            </a:r>
          </a:p>
          <a:p>
            <a:pPr>
              <a:spcBef>
                <a:spcPts val="700"/>
              </a:spcBef>
            </a:pPr>
            <a:r>
              <a:rPr sz="1350">
                <a:solidFill>
                  <a:srgbClr val="1B7A3D"/>
                </a:solidFill>
              </a:rPr>
              <a:t>✓ CC因流畅+连贯获得高分</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地点描述：笼统 vs 生动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笼统描述（6分）</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生动描述（7分+）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"The beach was very beautiful."</a:t>
            </a:r>
          </a:p>
          <a:p>
            <a:pPr>
              <a:spcBef>
                <a:spcPts val="700"/>
              </a:spcBef>
            </a:pPr>
            <a:r>
              <a:rPr sz="1350">
                <a:solidFill>
                  <a:srgbClr val="C02A2A"/>
                </a:solidFill>
              </a:rPr>
              <a:t>✗ "There were many things to see."</a:t>
            </a:r>
          </a:p>
          <a:p>
            <a:pPr>
              <a:spcBef>
                <a:spcPts val="700"/>
              </a:spcBef>
            </a:pPr>
            <a:r>
              <a:rPr sz="1350">
                <a:solidFill>
                  <a:srgbClr val="C02A2A"/>
                </a:solidFill>
              </a:rPr>
              <a:t>✗ "I liked it because it was relaxing."</a:t>
            </a:r>
          </a:p>
          <a:p>
            <a:pPr>
              <a:spcBef>
                <a:spcPts val="700"/>
              </a:spcBef>
            </a:pPr>
            <a:r>
              <a:rPr sz="1350">
                <a:solidFill>
                  <a:srgbClr val="C02A2A"/>
                </a:solidFill>
              </a:rPr>
              <a:t>✗ "The food was very delicious."</a:t>
            </a:r>
          </a:p>
          <a:p>
            <a:pPr>
              <a:spcBef>
                <a:spcPts val="700"/>
              </a:spcBef>
            </a:pPr>
            <a:r>
              <a:rPr sz="1350">
                <a:solidFill>
                  <a:srgbClr val="C02A2A"/>
                </a:solidFill>
              </a:rPr>
              <a:t>✗ "It was a good experience."</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"The water was this remarkable shade of turquoise."</a:t>
            </a:r>
          </a:p>
          <a:p>
            <a:pPr>
              <a:spcBef>
                <a:spcPts val="700"/>
              </a:spcBef>
            </a:pPr>
            <a:r>
              <a:rPr sz="1350">
                <a:solidFill>
                  <a:srgbClr val="1B7A3D"/>
                </a:solidFill>
              </a:rPr>
              <a:t>✓ "Egrets waded through the shallows at dawn."</a:t>
            </a:r>
          </a:p>
          <a:p>
            <a:pPr>
              <a:spcBef>
                <a:spcPts val="700"/>
              </a:spcBef>
            </a:pPr>
            <a:r>
              <a:rPr sz="1350">
                <a:solidFill>
                  <a:srgbClr val="1B7A3D"/>
                </a:solidFill>
              </a:rPr>
              <a:t>✓ "The sense of stillness was rare in such a dense city."</a:t>
            </a:r>
          </a:p>
          <a:p>
            <a:pPr>
              <a:spcBef>
                <a:spcPts val="700"/>
              </a:spcBef>
            </a:pPr>
            <a:r>
              <a:rPr sz="1350">
                <a:solidFill>
                  <a:srgbClr val="1B7A3D"/>
                </a:solidFill>
              </a:rPr>
              <a:t>✓ "The broth had a depth of flavour I'd never experienced before."</a:t>
            </a:r>
          </a:p>
          <a:p>
            <a:pPr>
              <a:spcBef>
                <a:spcPts val="700"/>
              </a:spcBef>
            </a:pPr>
            <a:r>
              <a:rPr sz="1350">
                <a:solidFill>
                  <a:srgbClr val="1B7A3D"/>
                </a:solidFill>
              </a:rPr>
              <a:t>✓ "The contrast between [X] and [Y] was genuinely striking."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课堂练习：Part 2 时间管理</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Classroom Drills: Part 2 Practice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练习1：1分钟关键词笔记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拿到Cue Card，练习1分钟内完成关键词笔记（不写完整句）</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"Describe a famous person you admire."——1分钟内写6-8个词</a:t>
            </a:r>
          </a:p>
          <a:p>
            <a:pPr>
              <a:spcBef>
                <a:spcPts val="1100"/>
              </a:spcBef>
            </a:pPr>
            <a:r>
              <a:rPr sz="1500">
                <a:solidFill>
                  <a:srgbClr val="1E293B"/>
                </a:solidFill>
              </a:rPr>
              <a:t>▢ "Describe a historical place you have visited."——1分钟内写6-8个词</a:t>
            </a:r>
          </a:p>
          <a:p>
            <a:pPr>
              <a:spcBef>
                <a:spcPts val="1100"/>
              </a:spcBef>
            </a:pPr>
            <a:r>
              <a:rPr sz="1500">
                <a:solidFill>
                  <a:srgbClr val="1E293B"/>
                </a:solidFill>
              </a:rPr>
              <a:t>▢ "Describe an object that is important to you."——1分钟内写6-8个词</a:t>
            </a:r>
          </a:p>
          <a:p>
            <a:pPr>
              <a:spcBef>
                <a:spcPts val="1100"/>
              </a:spcBef>
            </a:pPr>
            <a:r>
              <a:rPr sz="1500">
                <a:solidFill>
                  <a:srgbClr val="1E293B"/>
                </a:solidFill>
              </a:rPr>
              <a:t>▢ 检查：是否每个提示点都有对应的词？是否选了细节最多的素材？</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练习2：感官细节扩展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用5个感官维度扩展以下笼统描述</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park was beautiful."→ 视觉+听觉+情感各1句</a:t>
            </a:r>
          </a:p>
          <a:p>
            <a:pPr>
              <a:spcBef>
                <a:spcPts val="1100"/>
              </a:spcBef>
            </a:pPr>
            <a:r>
              <a:rPr sz="1500">
                <a:solidFill>
                  <a:srgbClr val="1E293B"/>
                </a:solidFill>
              </a:rPr>
              <a:t>▢ "The food was delicious."→ 味觉+嗅觉+情感各1句</a:t>
            </a:r>
          </a:p>
          <a:p>
            <a:pPr>
              <a:spcBef>
                <a:spcPts val="1100"/>
              </a:spcBef>
            </a:pPr>
            <a:r>
              <a:rPr sz="1500">
                <a:solidFill>
                  <a:srgbClr val="1E293B"/>
                </a:solidFill>
              </a:rPr>
              <a:t>▢ "The city was amazing."→ 视觉+体感+情感各1句</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练习3：时间填充技巧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在60秒说完内容后，用以下触发句继续说30秒</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"What struck me most was..."（情感深挖）</a:t>
            </a:r>
          </a:p>
          <a:p>
            <a:pPr>
              <a:spcBef>
                <a:spcPts val="1100"/>
              </a:spcBef>
            </a:pPr>
            <a:r>
              <a:rPr sz="1500">
                <a:solidFill>
                  <a:srgbClr val="1E293B"/>
                </a:solidFill>
              </a:rPr>
              <a:t>▢ "Looking back, I realize that..."（反思总结）</a:t>
            </a:r>
          </a:p>
          <a:p>
            <a:pPr>
              <a:spcBef>
                <a:spcPts val="1100"/>
              </a:spcBef>
            </a:pPr>
            <a:r>
              <a:rPr sz="1500">
                <a:solidFill>
                  <a:srgbClr val="1E293B"/>
                </a:solidFill>
              </a:rPr>
              <a:t>▢ "To this day, I still..."（现在联系）</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练习4：完整2分钟计时练习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以下题目，计时2分钟，覆盖所有提示点</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"Describe a teacher who has influenced you greatly."（人物题）</a:t>
            </a:r>
          </a:p>
          <a:p>
            <a:pPr>
              <a:spcBef>
                <a:spcPts val="1100"/>
              </a:spcBef>
            </a:pPr>
            <a:r>
              <a:rPr sz="1500">
                <a:solidFill>
                  <a:srgbClr val="1E293B"/>
                </a:solidFill>
              </a:rPr>
              <a:t>▢ "Describe a place outside your country you would like to visit."（地点题）</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练习5：互相计时与评分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两人一组：一人计时并评分，另一人回答Part 2卡片</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"Describe a piece of technology you use every day."</a:t>
            </a:r>
          </a:p>
          <a:p>
            <a:pPr>
              <a:spcBef>
                <a:spcPts val="1100"/>
              </a:spcBef>
            </a:pPr>
            <a:r>
              <a:rPr sz="1500">
                <a:solidFill>
                  <a:srgbClr val="1E293B"/>
                </a:solidFill>
              </a:rPr>
              <a:t>▢ 评分CC：是否说满了接近2分钟？提示点是否都覆盖了？</a:t>
            </a:r>
          </a:p>
          <a:p>
            <a:pPr>
              <a:spcBef>
                <a:spcPts val="1100"/>
              </a:spcBef>
            </a:pPr>
            <a:r>
              <a:rPr sz="1500">
                <a:solidFill>
                  <a:srgbClr val="1E293B"/>
                </a:solidFill>
              </a:rPr>
              <a:t>▢ 评分LR：有没有用到话题词汇（breathtaking/inspiring/formative等）？</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Part 2 常见误区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Part 2 Common Pitfalls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Part 2的三大误区</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误区1：准备时写完整句子——1分钟时间不够写完整句，浪费在写字上而非思考素材</a:t>
            </a:r>
          </a:p>
          <a:p>
            <a:pPr>
              <a:spcBef>
                <a:spcPts val="800"/>
              </a:spcBef>
            </a:pPr>
            <a:r>
              <a:rPr sz="1400">
                <a:solidFill>
                  <a:srgbClr val="C02A2A"/>
                </a:solidFill>
              </a:rPr>
              <a:t>✗ 误区2：按卡片顺序死板发言——不灵活，如果第1个提示点没话说就卡住了</a:t>
            </a:r>
          </a:p>
          <a:p>
            <a:pPr>
              <a:spcBef>
                <a:spcPts val="800"/>
              </a:spcBef>
            </a:pPr>
            <a:r>
              <a:rPr sz="1400">
                <a:solidFill>
                  <a:srgbClr val="C02A2A"/>
                </a:solidFill>
              </a:rPr>
              <a:t>✗ 误区3：不说"为什么"——只描述发生了什么，不说对你的影响/感受——最重要的部分被省略了</a:t>
            </a:r>
          </a:p>
        </p:txBody>
      </p:sp>
      <p:sp>
        <p:nvSpPr>
          <p:cNvPr id="8" name="Rectangle 7"/>
          <p:cNvSpPr/>
          <p:nvPr/>
        </p:nvSpPr>
        <p:spPr>
          <a:xfrm>
            <a:off x="6108192" y="1097280"/>
            <a:ext cx="36576" cy="5212080"/>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只写关键词（2个词/提示点）——考场计时紧，关键词足以提醒你内容</a:t>
            </a:r>
          </a:p>
          <a:p>
            <a:pPr>
              <a:spcBef>
                <a:spcPts val="800"/>
              </a:spcBef>
            </a:pPr>
            <a:r>
              <a:rPr sz="1400">
                <a:solidFill>
                  <a:srgbClr val="1B7A3D"/>
                </a:solidFill>
              </a:rPr>
              <a:t>✓ 灵活顺序：可以从最熟悉的提示点开始说，但最终必须覆盖所有点</a:t>
            </a:r>
          </a:p>
          <a:p>
            <a:pPr>
              <a:spcBef>
                <a:spcPts val="800"/>
              </a:spcBef>
            </a:pPr>
            <a:r>
              <a:rPr sz="1400">
                <a:solidFill>
                  <a:srgbClr val="1B7A3D"/>
                </a:solidFill>
              </a:rPr>
              <a:t>✓ "为什么"是高分关键：至少20-30秒说Why这个问题，要有深度反思</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Part 2的1分钟准备黄金策略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读卡（10秒）</a:t>
            </a:r>
          </a:p>
          <a:p>
            <a:pPr>
              <a:spcBef>
                <a:spcPts val="100"/>
              </a:spcBef>
            </a:pPr>
            <a:r>
              <a:rPr sz="1550">
                <a:solidFill>
                  <a:srgbClr val="556075"/>
                </a:solidFill>
              </a:rPr>
              <a:t>   快速读卡，确认题型（人物/地点/物品/经历）</a:t>
            </a:r>
          </a:p>
          <a:p>
            <a:pPr>
              <a:spcBef>
                <a:spcPts val="1000"/>
              </a:spcBef>
            </a:pPr>
            <a:r>
              <a:rPr sz="1850" b="1">
                <a:solidFill>
                  <a:srgbClr val="A33607"/>
                </a:solidFill>
              </a:rPr>
              <a:t>• 选素材（10秒）</a:t>
            </a:r>
          </a:p>
          <a:p>
            <a:pPr>
              <a:spcBef>
                <a:spcPts val="100"/>
              </a:spcBef>
            </a:pPr>
            <a:r>
              <a:rPr sz="1550">
                <a:solidFill>
                  <a:srgbClr val="556075"/>
                </a:solidFill>
              </a:rPr>
              <a:t>   选细节最多的真实经历（不要虚构，真实的更自然）</a:t>
            </a:r>
          </a:p>
          <a:p>
            <a:pPr>
              <a:spcBef>
                <a:spcPts val="1000"/>
              </a:spcBef>
            </a:pPr>
            <a:r>
              <a:rPr sz="1850" b="1">
                <a:solidFill>
                  <a:srgbClr val="A33607"/>
                </a:solidFill>
              </a:rPr>
              <a:t>• 写关键词（30秒）</a:t>
            </a:r>
          </a:p>
          <a:p>
            <a:pPr>
              <a:spcBef>
                <a:spcPts val="100"/>
              </a:spcBef>
            </a:pPr>
            <a:r>
              <a:rPr sz="1550">
                <a:solidFill>
                  <a:srgbClr val="556075"/>
                </a:solidFill>
              </a:rPr>
              <a:t>   每提示点2个词，共6-8个词，不写完整句</a:t>
            </a:r>
          </a:p>
          <a:p>
            <a:pPr>
              <a:spcBef>
                <a:spcPts val="1000"/>
              </a:spcBef>
            </a:pPr>
            <a:r>
              <a:rPr sz="1850" b="1">
                <a:solidFill>
                  <a:srgbClr val="A33607"/>
                </a:solidFill>
              </a:rPr>
              <a:t>• 准备开头句（10秒）</a:t>
            </a:r>
          </a:p>
          <a:p>
            <a:pPr>
              <a:spcBef>
                <a:spcPts val="100"/>
              </a:spcBef>
            </a:pPr>
            <a:r>
              <a:rPr sz="1550">
                <a:solidFill>
                  <a:srgbClr val="556075"/>
                </a:solidFill>
              </a:rPr>
              <a:t>   在脑海中准备Introduction sentence——考官说begin后立刻说</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深圳学生注意：关键词笔记是Part 2准备的核心——很多学生浪费1分钟在写完整句，结果发言时读纸，CC分降</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如何选择素材：真实vs虚构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A33607"/>
                </a:solidFill>
              </a:rPr>
              <a:t>• 真实素材的优势</a:t>
            </a:r>
          </a:p>
          <a:p>
            <a:pPr>
              <a:spcBef>
                <a:spcPts val="100"/>
              </a:spcBef>
            </a:pPr>
            <a:r>
              <a:rPr sz="1550">
                <a:solidFill>
                  <a:srgbClr val="556075"/>
                </a:solidFill>
              </a:rPr>
              <a:t>   细节自然（不需要编造），情感真实，考官感受得到</a:t>
            </a:r>
          </a:p>
          <a:p>
            <a:pPr>
              <a:spcBef>
                <a:spcPts val="1000"/>
              </a:spcBef>
            </a:pPr>
            <a:r>
              <a:rPr sz="1850" b="1">
                <a:solidFill>
                  <a:srgbClr val="A33607"/>
                </a:solidFill>
              </a:rPr>
              <a:t>• 虚构的风险</a:t>
            </a:r>
          </a:p>
          <a:p>
            <a:pPr>
              <a:spcBef>
                <a:spcPts val="100"/>
              </a:spcBef>
            </a:pPr>
            <a:r>
              <a:rPr sz="1550">
                <a:solidFill>
                  <a:srgbClr val="556075"/>
                </a:solidFill>
              </a:rPr>
              <a:t>   容易前后矛盾；情感描述不自然；考官追问时答不上来</a:t>
            </a:r>
          </a:p>
          <a:p>
            <a:pPr>
              <a:spcBef>
                <a:spcPts val="1000"/>
              </a:spcBef>
            </a:pPr>
            <a:r>
              <a:rPr sz="1850" b="1">
                <a:solidFill>
                  <a:srgbClr val="A33607"/>
                </a:solidFill>
              </a:rPr>
              <a:t>• 素材不够怎么办</a:t>
            </a:r>
          </a:p>
          <a:p>
            <a:pPr>
              <a:spcBef>
                <a:spcPts val="100"/>
              </a:spcBef>
            </a:pPr>
            <a:r>
              <a:rPr sz="1550">
                <a:solidFill>
                  <a:srgbClr val="556075"/>
                </a:solidFill>
              </a:rPr>
              <a:t>   用真实的部分+细节补充：真实的地点+虚构的感受描述</a:t>
            </a:r>
          </a:p>
          <a:p>
            <a:pPr>
              <a:spcBef>
                <a:spcPts val="1000"/>
              </a:spcBef>
            </a:pPr>
            <a:r>
              <a:rPr sz="1850" b="1">
                <a:solidFill>
                  <a:srgbClr val="A33607"/>
                </a:solidFill>
              </a:rPr>
              <a:t>• 深圳学生优势</a:t>
            </a:r>
          </a:p>
          <a:p>
            <a:pPr>
              <a:spcBef>
                <a:spcPts val="100"/>
              </a:spcBef>
            </a:pPr>
            <a:r>
              <a:rPr sz="1550">
                <a:solidFill>
                  <a:srgbClr val="556075"/>
                </a:solidFill>
              </a:rPr>
              <a:t>   科技/教育/都市生活有真实素材——用Shenzhen具体地点/人名</a:t>
            </a:r>
          </a:p>
          <a:p>
            <a:pPr>
              <a:spcBef>
                <a:spcPts val="1000"/>
              </a:spcBef>
            </a:pPr>
            <a:r>
              <a:rPr sz="1850" b="1">
                <a:solidFill>
                  <a:srgbClr val="A33607"/>
                </a:solidFill>
              </a:rPr>
              <a:t>• 准备10个素材</a:t>
            </a:r>
          </a:p>
          <a:p>
            <a:pPr>
              <a:spcBef>
                <a:spcPts val="100"/>
              </a:spcBef>
            </a:pPr>
            <a:r>
              <a:rPr sz="1550">
                <a:solidFill>
                  <a:srgbClr val="556075"/>
                </a:solidFill>
              </a:rPr>
              <a:t>   覆盖：老师/家人/朋友/景点/城市/旅行/物品/经历/媒体/未来计划</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深圳学生注意：备考策略：提前准备10个"万能素材"，能灵活套用到不同题目</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 时间危机应对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说得太快（60秒就说完）</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立刻用感官细节扩展：And the thing that really struck me was how [感官词]...</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提示点没话说</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跳过细节，说感受：I'm not sure why exactly, but I felt a real sense of...</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词穷</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简化表达+继续：It was quite... in a way that's hard to put into words, but...</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完全没想法</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从最熟悉的提示点开始，其他点用感官细节填充</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说多了</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用总结句收尾：Overall, that's why I remember this [person/place] so vividly.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2 高分表达速查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人物开头</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The person that immediately comes to mind is...who I'd describe as...</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地点开头</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The place I'd most like to talk about is...which is located...</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感官升级</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The air was filled with... / The light caught... / The sound of...</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影响深化</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It fundamentally changed how I... / I've never quite looked at X the same way since...</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时间扩展</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Looking back... / To this day... / At the time, I remember thinking...</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准备5个人物类和5个地点类素材（关键词笔记形式），备考Part 2</a:t>
            </a:r>
          </a:p>
          <a:p>
            <a:pPr>
              <a:spcBef>
                <a:spcPts val="1200"/>
              </a:spcBef>
            </a:pPr>
            <a:r>
              <a:rPr sz="1600">
                <a:solidFill>
                  <a:srgbClr val="1E293B"/>
                </a:solidFill>
              </a:rPr>
              <a:t>☐ 练习1分钟关键词笔记法：用5道真题，各练习1次，计时1分钟</a:t>
            </a:r>
          </a:p>
          <a:p>
            <a:pPr>
              <a:spcBef>
                <a:spcPts val="1200"/>
              </a:spcBef>
            </a:pPr>
            <a:r>
              <a:rPr sz="1600">
                <a:solidFill>
                  <a:srgbClr val="1E293B"/>
                </a:solidFill>
              </a:rPr>
              <a:t>☐ 录音回答一道人物题和一道地点题，检查是否说满1分45秒以上</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L03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Part 2结构：Introduction→提示点1-4→总结感受，共约2分钟</a:t>
            </a:r>
          </a:p>
          <a:p>
            <a:pPr>
              <a:spcBef>
                <a:spcPts val="1100"/>
              </a:spcBef>
            </a:pPr>
            <a:r>
              <a:rPr sz="1550">
                <a:solidFill>
                  <a:srgbClr val="FFFFFF"/>
                </a:solidFill>
              </a:rPr>
              <a:t>✓  1分钟准备：只写关键词（6-8个词），不写完整句</a:t>
            </a:r>
          </a:p>
          <a:p>
            <a:pPr>
              <a:spcBef>
                <a:spcPts val="1100"/>
              </a:spcBef>
            </a:pPr>
            <a:r>
              <a:rPr sz="1550">
                <a:solidFill>
                  <a:srgbClr val="FFFFFF"/>
                </a:solidFill>
              </a:rPr>
              <a:t>✓  人物题：性格词汇+影响词汇；地点题：感官细节+情感反应</a:t>
            </a:r>
          </a:p>
          <a:p>
            <a:pPr>
              <a:spcBef>
                <a:spcPts val="1100"/>
              </a:spcBef>
            </a:pPr>
            <a:r>
              <a:rPr sz="1550">
                <a:solidFill>
                  <a:srgbClr val="FFFFFF"/>
                </a:solidFill>
              </a:rPr>
              <a:t>✓  时间管理：每提示点约25秒；用对比/情感/反思扩展内容</a:t>
            </a:r>
          </a:p>
          <a:p>
            <a:pPr>
              <a:spcBef>
                <a:spcPts val="1100"/>
              </a:spcBef>
            </a:pPr>
            <a:r>
              <a:rPr sz="1550">
                <a:solidFill>
                  <a:srgbClr val="FFFFFF"/>
                </a:solidFill>
              </a:rPr>
              <a:t>✓  核心技巧：说满1分45秒以上，覆盖所有4个提示点</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建议用时：约75分钟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准备10个万能素材（5人物+5地点），每个素材写关键词笔记</a:t>
            </a:r>
          </a:p>
          <a:p>
            <a:pPr>
              <a:spcBef>
                <a:spcPts val="1300"/>
              </a:spcBef>
            </a:pPr>
            <a:r>
              <a:rPr sz="1550" b="1">
                <a:solidFill>
                  <a:srgbClr val="1E293B"/>
                </a:solidFill>
              </a:rPr>
              <a:t>作业 2　练习5道Part 2题目（计时），录音评估：是否说满1分45秒？</a:t>
            </a:r>
          </a:p>
          <a:p>
            <a:pPr>
              <a:spcBef>
                <a:spcPts val="1300"/>
              </a:spcBef>
            </a:pPr>
            <a:r>
              <a:rPr sz="1550" b="1">
                <a:solidFill>
                  <a:srgbClr val="1E293B"/>
                </a:solidFill>
              </a:rPr>
              <a:t>作业 3　扩展词汇：背诵本课10个人物词+10个地点词，并在练习中使用</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L04 · Part 2 独白：经历与物品类卡片</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经历类卡片：故事叙述技巧——时间线+戏剧性+情感弧</a:t>
            </a:r>
          </a:p>
          <a:p>
            <a:pPr>
              <a:spcBef>
                <a:spcPts val="1000"/>
              </a:spcBef>
            </a:pPr>
            <a:r>
              <a:rPr sz="1600">
                <a:solidFill>
                  <a:srgbClr val="CFDCF2"/>
                </a:solidFill>
              </a:rPr>
              <a:t>→ 物品类卡片：描述功能+情感意义，避免只说外观</a:t>
            </a:r>
          </a:p>
          <a:p>
            <a:pPr>
              <a:spcBef>
                <a:spcPts val="1000"/>
              </a:spcBef>
            </a:pPr>
            <a:r>
              <a:rPr sz="1600">
                <a:solidFill>
                  <a:srgbClr val="CFDCF2"/>
                </a:solidFill>
              </a:rPr>
              <a:t>→ 活动类卡片：过程描述+具体细节+Why you liked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