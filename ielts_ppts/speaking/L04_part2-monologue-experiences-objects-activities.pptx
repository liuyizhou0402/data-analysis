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F28C1D"/>
                </a:solidFill>
                <a:latin typeface="Calibri"/>
              </a:rPr>
              <a:t>L04</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F28C1D"/>
                </a:solidFill>
                <a:latin typeface="Calibri"/>
              </a:rPr>
              <a:t>IELTS Speaking 口语</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Part 2 独白
经历、物品与活动</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Part 2: Experience, Object &amp; Activity</a:t>
            </a:r>
          </a:p>
        </p:txBody>
      </p:sp>
      <p:sp>
        <p:nvSpPr>
          <p:cNvPr id="10" name="Rounded Rectangle 9"/>
          <p:cNvSpPr/>
          <p:nvPr/>
        </p:nvSpPr>
        <p:spPr>
          <a:xfrm>
            <a:off x="777240" y="5669280"/>
            <a:ext cx="3840480" cy="54864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4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Rounded Rectangle 6"/>
          <p:cNvSpPr/>
          <p:nvPr/>
        </p:nvSpPr>
        <p:spPr>
          <a:xfrm>
            <a:off x="548640" y="1325880"/>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经历类卡片攻略</a:t>
            </a:r>
          </a:p>
        </p:txBody>
      </p:sp>
      <p:sp>
        <p:nvSpPr>
          <p:cNvPr id="10" name="Rounded Rectangle 9"/>
          <p:cNvSpPr/>
          <p:nvPr/>
        </p:nvSpPr>
        <p:spPr>
          <a:xfrm>
            <a:off x="548640" y="2167128"/>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物品类卡片攻略</a:t>
            </a:r>
          </a:p>
        </p:txBody>
      </p:sp>
      <p:sp>
        <p:nvSpPr>
          <p:cNvPr id="13" name="Rounded Rectangle 12"/>
          <p:cNvSpPr/>
          <p:nvPr/>
        </p:nvSpPr>
        <p:spPr>
          <a:xfrm>
            <a:off x="548640" y="3008376"/>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活动类卡片攻略</a:t>
            </a:r>
          </a:p>
        </p:txBody>
      </p:sp>
      <p:sp>
        <p:nvSpPr>
          <p:cNvPr id="16" name="Rounded Rectangle 15"/>
          <p:cNvSpPr/>
          <p:nvPr/>
        </p:nvSpPr>
        <p:spPr>
          <a:xfrm>
            <a:off x="548640" y="3849624"/>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895344"/>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1280160" y="3867911"/>
            <a:ext cx="4937760" cy="731520"/>
          </a:xfrm>
          <a:prstGeom prst="rect">
            <a:avLst/>
          </a:prstGeom>
          <a:noFill/>
        </p:spPr>
        <p:txBody>
          <a:bodyPr wrap="square" anchor="ctr">
            <a:spAutoFit/>
          </a:bodyPr>
          <a:lstStyle/>
          <a:p>
            <a:pPr algn="l"/>
            <a:r>
              <a:rPr sz="1450" b="1" i="0">
                <a:solidFill>
                  <a:srgbClr val="1E293B"/>
                </a:solidFill>
                <a:latin typeface="Calibri"/>
              </a:rPr>
              <a:t>故事叙述技巧</a:t>
            </a:r>
          </a:p>
        </p:txBody>
      </p:sp>
      <p:sp>
        <p:nvSpPr>
          <p:cNvPr id="19" name="Rounded Rectangle 18"/>
          <p:cNvSpPr/>
          <p:nvPr/>
        </p:nvSpPr>
        <p:spPr>
          <a:xfrm>
            <a:off x="6400800" y="1325880"/>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叙述词汇表</a:t>
            </a:r>
          </a:p>
        </p:txBody>
      </p:sp>
      <p:sp>
        <p:nvSpPr>
          <p:cNvPr id="22" name="Rounded Rectangle 21"/>
          <p:cNvSpPr/>
          <p:nvPr/>
        </p:nvSpPr>
        <p:spPr>
          <a:xfrm>
            <a:off x="6400800" y="2167128"/>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故事框架</a:t>
            </a:r>
          </a:p>
        </p:txBody>
      </p:sp>
      <p:sp>
        <p:nvSpPr>
          <p:cNvPr id="25" name="Rounded Rectangle 24"/>
          <p:cNvSpPr/>
          <p:nvPr/>
        </p:nvSpPr>
        <p:spPr>
          <a:xfrm>
            <a:off x="6400800" y="3008376"/>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7</a:t>
            </a:r>
          </a:p>
        </p:txBody>
      </p:sp>
      <p:sp>
        <p:nvSpPr>
          <p:cNvPr id="27" name="TextBox 26"/>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课堂练习</a:t>
            </a:r>
          </a:p>
        </p:txBody>
      </p:sp>
      <p:sp>
        <p:nvSpPr>
          <p:cNvPr id="28" name="Rounded Rectangle 27"/>
          <p:cNvSpPr/>
          <p:nvPr/>
        </p:nvSpPr>
        <p:spPr>
          <a:xfrm>
            <a:off x="6400800" y="3849624"/>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3895344"/>
            <a:ext cx="566928" cy="457200"/>
          </a:xfrm>
          <a:prstGeom prst="rect">
            <a:avLst/>
          </a:prstGeom>
          <a:noFill/>
        </p:spPr>
        <p:txBody>
          <a:bodyPr wrap="square" anchor="t">
            <a:spAutoFit/>
          </a:bodyPr>
          <a:lstStyle/>
          <a:p>
            <a:pPr algn="ctr"/>
            <a:r>
              <a:rPr sz="2000" b="1" i="0">
                <a:solidFill>
                  <a:srgbClr val="FFFFFF"/>
                </a:solidFill>
                <a:latin typeface="Calibri"/>
              </a:rPr>
              <a:t>8</a:t>
            </a:r>
          </a:p>
        </p:txBody>
      </p:sp>
      <p:sp>
        <p:nvSpPr>
          <p:cNvPr id="30" name="TextBox 29"/>
          <p:cNvSpPr txBox="1"/>
          <p:nvPr/>
        </p:nvSpPr>
        <p:spPr>
          <a:xfrm>
            <a:off x="7132320" y="3867911"/>
            <a:ext cx="4937760" cy="731520"/>
          </a:xfrm>
          <a:prstGeom prst="rect">
            <a:avLst/>
          </a:prstGeom>
          <a:noFill/>
        </p:spPr>
        <p:txBody>
          <a:bodyPr wrap="square" anchor="ctr">
            <a:spAutoFit/>
          </a:bodyPr>
          <a:lstStyle/>
          <a:p>
            <a:pPr algn="l"/>
            <a:r>
              <a:rPr sz="1450" b="1" i="0">
                <a:solidFill>
                  <a:srgbClr val="1E293B"/>
                </a:solidFill>
                <a:latin typeface="Calibri"/>
              </a:rPr>
              <a:t>小结作业</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L03回顾：Part 2核心策略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850" b="1">
                <a:solidFill>
                  <a:srgbClr val="A33607"/>
                </a:solidFill>
              </a:rPr>
              <a:t>• 1分钟准备</a:t>
            </a:r>
          </a:p>
          <a:p>
            <a:pPr>
              <a:spcBef>
                <a:spcPts val="100"/>
              </a:spcBef>
            </a:pPr>
            <a:r>
              <a:rPr sz="1550">
                <a:solidFill>
                  <a:srgbClr val="556075"/>
                </a:solidFill>
              </a:rPr>
              <a:t>   只写关键词（6-8个），不写完整句</a:t>
            </a:r>
          </a:p>
          <a:p>
            <a:pPr>
              <a:spcBef>
                <a:spcPts val="1000"/>
              </a:spcBef>
            </a:pPr>
            <a:r>
              <a:rPr sz="1850" b="1">
                <a:solidFill>
                  <a:srgbClr val="A33607"/>
                </a:solidFill>
              </a:rPr>
              <a:t>• 时间管理</a:t>
            </a:r>
          </a:p>
          <a:p>
            <a:pPr>
              <a:spcBef>
                <a:spcPts val="100"/>
              </a:spcBef>
            </a:pPr>
            <a:r>
              <a:rPr sz="1550">
                <a:solidFill>
                  <a:srgbClr val="556075"/>
                </a:solidFill>
              </a:rPr>
              <a:t>   每提示点约25秒，共约2分钟</a:t>
            </a:r>
          </a:p>
          <a:p>
            <a:pPr>
              <a:spcBef>
                <a:spcPts val="1000"/>
              </a:spcBef>
            </a:pPr>
            <a:r>
              <a:rPr sz="1850" b="1">
                <a:solidFill>
                  <a:srgbClr val="A33607"/>
                </a:solidFill>
              </a:rPr>
              <a:t>• 感官细节</a:t>
            </a:r>
          </a:p>
          <a:p>
            <a:pPr>
              <a:spcBef>
                <a:spcPts val="100"/>
              </a:spcBef>
            </a:pPr>
            <a:r>
              <a:rPr sz="1550">
                <a:solidFill>
                  <a:srgbClr val="556075"/>
                </a:solidFill>
              </a:rPr>
              <a:t>   视觉/听觉/情感——让描述生动，自然延长时间</a:t>
            </a:r>
          </a:p>
          <a:p>
            <a:pPr>
              <a:spcBef>
                <a:spcPts val="1000"/>
              </a:spcBef>
            </a:pPr>
            <a:r>
              <a:rPr sz="1850" b="1">
                <a:solidFill>
                  <a:srgbClr val="A33607"/>
                </a:solidFill>
              </a:rPr>
              <a:t>• 时间扩展</a:t>
            </a:r>
          </a:p>
          <a:p>
            <a:pPr>
              <a:spcBef>
                <a:spcPts val="100"/>
              </a:spcBef>
            </a:pPr>
            <a:r>
              <a:rPr sz="1550">
                <a:solidFill>
                  <a:srgbClr val="556075"/>
                </a:solidFill>
              </a:rPr>
              <a:t>   Looking back / At the time / To this day——深化影响</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深圳学生注意：本节课：经历/物品/活动三类卡片攻略，核心是故事叙述技巧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学习目标  Learning Objectives</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548640" y="1188720"/>
            <a:ext cx="10972800" cy="457200"/>
          </a:xfrm>
          <a:prstGeom prst="rect">
            <a:avLst/>
          </a:prstGeom>
          <a:noFill/>
        </p:spPr>
        <p:txBody>
          <a:bodyPr wrap="square" anchor="t">
            <a:spAutoFit/>
          </a:bodyPr>
          <a:lstStyle/>
          <a:p>
            <a:pPr algn="l"/>
            <a:r>
              <a:rPr sz="1600" b="1" i="0">
                <a:solidFill>
                  <a:srgbClr val="F28C1D"/>
                </a:solidFill>
                <a:latin typeface="Calibri"/>
              </a:rPr>
              <a:t>完成本课后，你将能够：</a:t>
            </a:r>
          </a:p>
        </p:txBody>
      </p:sp>
      <p:sp>
        <p:nvSpPr>
          <p:cNvPr id="8" name="TextBox 7"/>
          <p:cNvSpPr txBox="1"/>
          <p:nvPr/>
        </p:nvSpPr>
        <p:spPr>
          <a:xfrm>
            <a:off x="640080" y="1828800"/>
            <a:ext cx="10972800" cy="4572000"/>
          </a:xfrm>
          <a:prstGeom prst="rect">
            <a:avLst/>
          </a:prstGeom>
          <a:noFill/>
        </p:spPr>
        <p:txBody>
          <a:bodyPr wrap="square">
            <a:spAutoFit/>
          </a:bodyPr>
          <a:lstStyle/>
          <a:p>
            <a:r>
              <a:rPr sz="1800">
                <a:solidFill>
                  <a:srgbClr val="1E293B"/>
                </a:solidFill>
              </a:rPr>
              <a:t>✦  掌握经历类卡片的故事叙述框架（STAR法则变体）</a:t>
            </a:r>
          </a:p>
          <a:p>
            <a:pPr>
              <a:spcBef>
                <a:spcPts val="1400"/>
              </a:spcBef>
            </a:pPr>
            <a:r>
              <a:rPr sz="1800">
                <a:solidFill>
                  <a:srgbClr val="1E293B"/>
                </a:solidFill>
              </a:rPr>
              <a:t>✦  能用功能+情感双维度描述物品类卡片</a:t>
            </a:r>
          </a:p>
          <a:p>
            <a:pPr>
              <a:spcBef>
                <a:spcPts val="1400"/>
              </a:spcBef>
            </a:pPr>
            <a:r>
              <a:rPr sz="1800">
                <a:solidFill>
                  <a:srgbClr val="1E293B"/>
                </a:solidFill>
              </a:rPr>
              <a:t>✦  能用过程描述+高峰时刻的方法回答活动类卡片</a:t>
            </a:r>
          </a:p>
          <a:p>
            <a:pPr>
              <a:spcBef>
                <a:spcPts val="1400"/>
              </a:spcBef>
            </a:pPr>
            <a:r>
              <a:rPr sz="1800">
                <a:solidFill>
                  <a:srgbClr val="1E293B"/>
                </a:solidFill>
              </a:rPr>
              <a:t>✦  建立叙述过去经历时的时态准确性</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7A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000" b="1" i="0">
                <a:solidFill>
                  <a:srgbClr val="FFFFFF"/>
                </a:solidFill>
                <a:latin typeface="Calibri"/>
              </a:rPr>
              <a:t>🎯 深圳学生高频痛点 · Part 2经历/物品/活动类的三大失分</a:t>
            </a:r>
          </a:p>
        </p:txBody>
      </p:sp>
      <p:sp>
        <p:nvSpPr>
          <p:cNvPr id="6" name="TextBox 5"/>
          <p:cNvSpPr txBox="1"/>
          <p:nvPr/>
        </p:nvSpPr>
        <p:spPr>
          <a:xfrm>
            <a:off x="548640" y="1143000"/>
            <a:ext cx="5486400" cy="411480"/>
          </a:xfrm>
          <a:prstGeom prst="rect">
            <a:avLst/>
          </a:prstGeom>
          <a:noFill/>
        </p:spPr>
        <p:txBody>
          <a:bodyPr wrap="square" anchor="t">
            <a:spAutoFit/>
          </a:bodyPr>
          <a:lstStyle/>
          <a:p>
            <a:pPr algn="l"/>
            <a:r>
              <a:rPr sz="1500" b="1" i="0">
                <a:solidFill>
                  <a:srgbClr val="C02A2A"/>
                </a:solidFill>
                <a:latin typeface="Calibri"/>
              </a:rPr>
              <a:t>❌ 常见误区</a:t>
            </a:r>
          </a:p>
        </p:txBody>
      </p:sp>
      <p:sp>
        <p:nvSpPr>
          <p:cNvPr id="7" name="TextBox 6"/>
          <p:cNvSpPr txBox="1"/>
          <p:nvPr/>
        </p:nvSpPr>
        <p:spPr>
          <a:xfrm>
            <a:off x="548640" y="1645920"/>
            <a:ext cx="5486400" cy="4572000"/>
          </a:xfrm>
          <a:prstGeom prst="rect">
            <a:avLst/>
          </a:prstGeom>
          <a:noFill/>
        </p:spPr>
        <p:txBody>
          <a:bodyPr wrap="square">
            <a:spAutoFit/>
          </a:bodyPr>
          <a:lstStyle/>
          <a:p>
            <a:r>
              <a:rPr sz="1400">
                <a:solidFill>
                  <a:srgbClr val="C02A2A"/>
                </a:solidFill>
              </a:rPr>
              <a:t>✗ 经历类：只说发生了什么，不说感受——等于给考官读流水账，没有情感弧，LR和GRA都没展示机会</a:t>
            </a:r>
          </a:p>
          <a:p>
            <a:pPr>
              <a:spcBef>
                <a:spcPts val="800"/>
              </a:spcBef>
            </a:pPr>
            <a:r>
              <a:rPr sz="1400">
                <a:solidFill>
                  <a:srgbClr val="C02A2A"/>
                </a:solidFill>
              </a:rPr>
              <a:t>✗ 物品类：只说外观和价格——雅思不是购物节目，考官要听的是这件物品对你的意义</a:t>
            </a:r>
          </a:p>
          <a:p>
            <a:pPr>
              <a:spcBef>
                <a:spcPts val="800"/>
              </a:spcBef>
            </a:pPr>
            <a:r>
              <a:rPr sz="1400">
                <a:solidFill>
                  <a:srgbClr val="C02A2A"/>
                </a:solidFill>
              </a:rPr>
              <a:t>✗ 活动类：过程描述太泛——"We played football and had fun"每个动词都是最基础的词</a:t>
            </a:r>
          </a:p>
        </p:txBody>
      </p:sp>
      <p:sp>
        <p:nvSpPr>
          <p:cNvPr id="8" name="Rectangle 7"/>
          <p:cNvSpPr/>
          <p:nvPr/>
        </p:nvSpPr>
        <p:spPr>
          <a:xfrm>
            <a:off x="6108192" y="1097280"/>
            <a:ext cx="36576" cy="5212080"/>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143000"/>
            <a:ext cx="5486400" cy="411480"/>
          </a:xfrm>
          <a:prstGeom prst="rect">
            <a:avLst/>
          </a:prstGeom>
          <a:noFill/>
        </p:spPr>
        <p:txBody>
          <a:bodyPr wrap="square" anchor="t">
            <a:spAutoFit/>
          </a:bodyPr>
          <a:lstStyle/>
          <a:p>
            <a:pPr algn="l"/>
            <a:r>
              <a:rPr sz="1500" b="1" i="0">
                <a:solidFill>
                  <a:srgbClr val="1B7A3D"/>
                </a:solidFill>
                <a:latin typeface="Calibri"/>
              </a:rPr>
              <a:t>✅ 正确做法</a:t>
            </a:r>
          </a:p>
        </p:txBody>
      </p:sp>
      <p:sp>
        <p:nvSpPr>
          <p:cNvPr id="10" name="TextBox 9"/>
          <p:cNvSpPr txBox="1"/>
          <p:nvPr/>
        </p:nvSpPr>
        <p:spPr>
          <a:xfrm>
            <a:off x="6309360" y="1645920"/>
            <a:ext cx="5394960" cy="4572000"/>
          </a:xfrm>
          <a:prstGeom prst="rect">
            <a:avLst/>
          </a:prstGeom>
          <a:noFill/>
        </p:spPr>
        <p:txBody>
          <a:bodyPr wrap="square">
            <a:spAutoFit/>
          </a:bodyPr>
          <a:lstStyle/>
          <a:p>
            <a:r>
              <a:rPr sz="1400">
                <a:solidFill>
                  <a:srgbClr val="1B7A3D"/>
                </a:solidFill>
              </a:rPr>
              <a:t>✓ 经历类：用"戏剧性瞬间"——找出最有趣/最难忘的一个时刻，用感官细节放大这个时刻</a:t>
            </a:r>
          </a:p>
          <a:p>
            <a:pPr>
              <a:spcBef>
                <a:spcPts val="800"/>
              </a:spcBef>
            </a:pPr>
            <a:r>
              <a:rPr sz="1400">
                <a:solidFill>
                  <a:srgbClr val="1B7A3D"/>
                </a:solidFill>
              </a:rPr>
              <a:t>✓ 物品类：功能+情感意义——说它做什么，更要说它对你意味着什么</a:t>
            </a:r>
          </a:p>
          <a:p>
            <a:pPr>
              <a:spcBef>
                <a:spcPts val="800"/>
              </a:spcBef>
            </a:pPr>
            <a:r>
              <a:rPr sz="1400">
                <a:solidFill>
                  <a:srgbClr val="1B7A3D"/>
                </a:solidFill>
              </a:rPr>
              <a:t>✓ 活动类：用过程词汇——start/prepare/gradually/eventually/ultimately，展示动词多样性</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经历类卡片：故事叙述框架</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Experience Cue Card: Storytelling Framework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经历类卡片的常见题型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Describe an experience/time when...</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类型1</a:t>
            </a:r>
          </a:p>
          <a:p>
            <a:pPr>
              <a:spcBef>
                <a:spcPts val="100"/>
              </a:spcBef>
            </a:pPr>
            <a:r>
              <a:rPr sz="1500">
                <a:solidFill>
                  <a:srgbClr val="556075"/>
                </a:solidFill>
              </a:rPr>
              <a:t>   Describe a time when you had to make an important decision.</a:t>
            </a:r>
          </a:p>
          <a:p>
            <a:pPr>
              <a:spcBef>
                <a:spcPts val="900"/>
              </a:spcBef>
            </a:pPr>
            <a:r>
              <a:rPr sz="1800" b="1">
                <a:solidFill>
                  <a:srgbClr val="A33607"/>
                </a:solidFill>
              </a:rPr>
              <a:t>• 类型2</a:t>
            </a:r>
          </a:p>
          <a:p>
            <a:pPr>
              <a:spcBef>
                <a:spcPts val="100"/>
              </a:spcBef>
            </a:pPr>
            <a:r>
              <a:rPr sz="1500">
                <a:solidFill>
                  <a:srgbClr val="556075"/>
                </a:solidFill>
              </a:rPr>
              <a:t>   Describe an occasion when you helped someone.</a:t>
            </a:r>
          </a:p>
          <a:p>
            <a:pPr>
              <a:spcBef>
                <a:spcPts val="900"/>
              </a:spcBef>
            </a:pPr>
            <a:r>
              <a:rPr sz="1800" b="1">
                <a:solidFill>
                  <a:srgbClr val="A33607"/>
                </a:solidFill>
              </a:rPr>
              <a:t>• 类型3</a:t>
            </a:r>
          </a:p>
          <a:p>
            <a:pPr>
              <a:spcBef>
                <a:spcPts val="100"/>
              </a:spcBef>
            </a:pPr>
            <a:r>
              <a:rPr sz="1500">
                <a:solidFill>
                  <a:srgbClr val="556075"/>
                </a:solidFill>
              </a:rPr>
              <a:t>   Describe a challenge you overcame.</a:t>
            </a:r>
          </a:p>
          <a:p>
            <a:pPr>
              <a:spcBef>
                <a:spcPts val="900"/>
              </a:spcBef>
            </a:pPr>
            <a:r>
              <a:rPr sz="1800" b="1">
                <a:solidFill>
                  <a:srgbClr val="A33607"/>
                </a:solidFill>
              </a:rPr>
              <a:t>• 类型4</a:t>
            </a:r>
          </a:p>
          <a:p>
            <a:pPr>
              <a:spcBef>
                <a:spcPts val="100"/>
              </a:spcBef>
            </a:pPr>
            <a:r>
              <a:rPr sz="1500">
                <a:solidFill>
                  <a:srgbClr val="556075"/>
                </a:solidFill>
              </a:rPr>
              <a:t>   Describe a memorable event from your childhood.</a:t>
            </a:r>
          </a:p>
          <a:p>
            <a:pPr>
              <a:spcBef>
                <a:spcPts val="900"/>
              </a:spcBef>
            </a:pPr>
            <a:r>
              <a:rPr sz="1800" b="1">
                <a:solidFill>
                  <a:srgbClr val="A33607"/>
                </a:solidFill>
              </a:rPr>
              <a:t>• 提示点结构</a:t>
            </a:r>
          </a:p>
          <a:p>
            <a:pPr>
              <a:spcBef>
                <a:spcPts val="100"/>
              </a:spcBef>
            </a:pPr>
            <a:r>
              <a:rPr sz="1500">
                <a:solidFill>
                  <a:srgbClr val="556075"/>
                </a:solidFill>
              </a:rPr>
              <a:t>   通常：When it happened / Who was involved / What happened / How you felt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STAR故事框架</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Situation→Task→Action→Result</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S：Situation（背景）</a:t>
            </a:r>
          </a:p>
          <a:p>
            <a:pPr>
              <a:spcBef>
                <a:spcPts val="100"/>
              </a:spcBef>
            </a:pPr>
            <a:r>
              <a:rPr sz="1500">
                <a:solidFill>
                  <a:srgbClr val="556075"/>
                </a:solidFill>
              </a:rPr>
              <a:t>   设置时间/地点/人物：At the time, I was...It was...</a:t>
            </a:r>
          </a:p>
          <a:p>
            <a:pPr>
              <a:spcBef>
                <a:spcPts val="900"/>
              </a:spcBef>
            </a:pPr>
            <a:r>
              <a:rPr sz="1800" b="1">
                <a:solidFill>
                  <a:srgbClr val="A33607"/>
                </a:solidFill>
              </a:rPr>
              <a:t>• T：Task/Challenge（任务/挑战）</a:t>
            </a:r>
          </a:p>
          <a:p>
            <a:pPr>
              <a:spcBef>
                <a:spcPts val="100"/>
              </a:spcBef>
            </a:pPr>
            <a:r>
              <a:rPr sz="1500">
                <a:solidFill>
                  <a:srgbClr val="556075"/>
                </a:solidFill>
              </a:rPr>
              <a:t>   说明面临的情况：I was faced with...I had to...</a:t>
            </a:r>
          </a:p>
          <a:p>
            <a:pPr>
              <a:spcBef>
                <a:spcPts val="900"/>
              </a:spcBef>
            </a:pPr>
            <a:r>
              <a:rPr sz="1800" b="1">
                <a:solidFill>
                  <a:srgbClr val="A33607"/>
                </a:solidFill>
              </a:rPr>
              <a:t>• A：Action（行动）</a:t>
            </a:r>
          </a:p>
          <a:p>
            <a:pPr>
              <a:spcBef>
                <a:spcPts val="100"/>
              </a:spcBef>
            </a:pPr>
            <a:r>
              <a:rPr sz="1500">
                <a:solidFill>
                  <a:srgbClr val="556075"/>
                </a:solidFill>
              </a:rPr>
              <a:t>   描述你做了什么：I decided to.../What I did was.../I managed to...</a:t>
            </a:r>
          </a:p>
          <a:p>
            <a:pPr>
              <a:spcBef>
                <a:spcPts val="900"/>
              </a:spcBef>
            </a:pPr>
            <a:r>
              <a:rPr sz="1800" b="1">
                <a:solidFill>
                  <a:srgbClr val="A33607"/>
                </a:solidFill>
              </a:rPr>
              <a:t>• R：Result + Feeling</a:t>
            </a:r>
          </a:p>
          <a:p>
            <a:pPr>
              <a:spcBef>
                <a:spcPts val="100"/>
              </a:spcBef>
            </a:pPr>
            <a:r>
              <a:rPr sz="1500">
                <a:solidFill>
                  <a:srgbClr val="556075"/>
                </a:solidFill>
              </a:rPr>
              <a:t>   结果和感受：In the end.../Looking back.../It taught 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STAR框架实例展开</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题目</a:t>
            </a:r>
          </a:p>
          <a:p>
            <a:pPr>
              <a:spcBef>
                <a:spcPts val="100"/>
              </a:spcBef>
            </a:pPr>
            <a:r>
              <a:rPr sz="1550">
                <a:solidFill>
                  <a:srgbClr val="556075"/>
                </a:solidFill>
              </a:rPr>
              <a:t>   Describe a time when you had to make a difficult decision.</a:t>
            </a:r>
          </a:p>
          <a:p>
            <a:pPr>
              <a:spcBef>
                <a:spcPts val="1000"/>
              </a:spcBef>
            </a:pPr>
            <a:r>
              <a:rPr sz="1850" b="1">
                <a:solidFill>
                  <a:srgbClr val="A33607"/>
                </a:solidFill>
              </a:rPr>
              <a:t>• S（背景）</a:t>
            </a:r>
          </a:p>
          <a:p>
            <a:pPr>
              <a:spcBef>
                <a:spcPts val="100"/>
              </a:spcBef>
            </a:pPr>
            <a:r>
              <a:rPr sz="1550">
                <a:solidFill>
                  <a:srgbClr val="556075"/>
                </a:solidFill>
              </a:rPr>
              <a:t>   It was during my final year at university. I'd been offered a job at a Shenzhen tech startup, but also a place on a master's programme.</a:t>
            </a:r>
          </a:p>
          <a:p>
            <a:pPr>
              <a:spcBef>
                <a:spcPts val="1000"/>
              </a:spcBef>
            </a:pPr>
            <a:r>
              <a:rPr sz="1850" b="1">
                <a:solidFill>
                  <a:srgbClr val="A33607"/>
                </a:solidFill>
              </a:rPr>
              <a:t>• T（困难）</a:t>
            </a:r>
          </a:p>
          <a:p>
            <a:pPr>
              <a:spcBef>
                <a:spcPts val="100"/>
              </a:spcBef>
            </a:pPr>
            <a:r>
              <a:rPr sz="1550">
                <a:solidFill>
                  <a:srgbClr val="556075"/>
                </a:solidFill>
              </a:rPr>
              <a:t>   The deadline was the same week, and I had to choose without knowing how either would turn out.</a:t>
            </a:r>
          </a:p>
          <a:p>
            <a:pPr>
              <a:spcBef>
                <a:spcPts val="1000"/>
              </a:spcBef>
            </a:pPr>
            <a:r>
              <a:rPr sz="1850" b="1">
                <a:solidFill>
                  <a:srgbClr val="A33607"/>
                </a:solidFill>
              </a:rPr>
              <a:t>• A（行动）</a:t>
            </a:r>
          </a:p>
          <a:p>
            <a:pPr>
              <a:spcBef>
                <a:spcPts val="100"/>
              </a:spcBef>
            </a:pPr>
            <a:r>
              <a:rPr sz="1550">
                <a:solidFill>
                  <a:srgbClr val="556075"/>
                </a:solidFill>
              </a:rPr>
              <a:t>   I spent three days making a pros and cons list, talking to mentors, and ultimately trusted my gut feeling.</a:t>
            </a:r>
          </a:p>
          <a:p>
            <a:pPr>
              <a:spcBef>
                <a:spcPts val="1000"/>
              </a:spcBef>
            </a:pPr>
            <a:r>
              <a:rPr sz="1850" b="1">
                <a:solidFill>
                  <a:srgbClr val="A33607"/>
                </a:solidFill>
              </a:rPr>
              <a:t>• R（结果+感受）</a:t>
            </a:r>
          </a:p>
          <a:p>
            <a:pPr>
              <a:spcBef>
                <a:spcPts val="100"/>
              </a:spcBef>
            </a:pPr>
            <a:r>
              <a:rPr sz="1550">
                <a:solidFill>
                  <a:srgbClr val="556075"/>
                </a:solidFill>
              </a:rPr>
              <a:t>   I chose the job, and it was the right call — I learned more in that first year than I could have in any classroom.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经历类扩展技巧</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高峰时刻</a:t>
            </a:r>
          </a:p>
          <a:p>
            <a:pPr>
              <a:spcBef>
                <a:spcPts val="100"/>
              </a:spcBef>
            </a:pPr>
            <a:r>
              <a:rPr sz="1550">
                <a:solidFill>
                  <a:srgbClr val="556075"/>
                </a:solidFill>
              </a:rPr>
              <a:t>   找出整个经历中最戏剧性/最难忘的一个瞬间，放大它：The moment that really stands out is...</a:t>
            </a:r>
          </a:p>
          <a:p>
            <a:pPr>
              <a:spcBef>
                <a:spcPts val="1000"/>
              </a:spcBef>
            </a:pPr>
            <a:r>
              <a:rPr sz="1850" b="1">
                <a:solidFill>
                  <a:srgbClr val="A33607"/>
                </a:solidFill>
              </a:rPr>
              <a:t>• 情感深度</a:t>
            </a:r>
          </a:p>
          <a:p>
            <a:pPr>
              <a:spcBef>
                <a:spcPts val="100"/>
              </a:spcBef>
            </a:pPr>
            <a:r>
              <a:rPr sz="1550">
                <a:solidFill>
                  <a:srgbClr val="556075"/>
                </a:solidFill>
              </a:rPr>
              <a:t>   不只说发生什么，说你的内心状态：I was torn / I felt a wave of anxiety / relief washed over me</a:t>
            </a:r>
          </a:p>
          <a:p>
            <a:pPr>
              <a:spcBef>
                <a:spcPts val="1000"/>
              </a:spcBef>
            </a:pPr>
            <a:r>
              <a:rPr sz="1850" b="1">
                <a:solidFill>
                  <a:srgbClr val="A33607"/>
                </a:solidFill>
              </a:rPr>
              <a:t>• 反转元素</a:t>
            </a:r>
          </a:p>
          <a:p>
            <a:pPr>
              <a:spcBef>
                <a:spcPts val="100"/>
              </a:spcBef>
            </a:pPr>
            <a:r>
              <a:rPr sz="1550">
                <a:solidFill>
                  <a:srgbClr val="556075"/>
                </a:solidFill>
              </a:rPr>
              <a:t>   If there was a surprise or turning point: What surprised me was... / Unexpectedly...</a:t>
            </a:r>
          </a:p>
          <a:p>
            <a:pPr>
              <a:spcBef>
                <a:spcPts val="1000"/>
              </a:spcBef>
            </a:pPr>
            <a:r>
              <a:rPr sz="1850" b="1">
                <a:solidFill>
                  <a:srgbClr val="A33607"/>
                </a:solidFill>
              </a:rPr>
              <a:t>• 时态切换</a:t>
            </a:r>
          </a:p>
          <a:p>
            <a:pPr>
              <a:spcBef>
                <a:spcPts val="100"/>
              </a:spcBef>
            </a:pPr>
            <a:r>
              <a:rPr sz="1550">
                <a:solidFill>
                  <a:srgbClr val="556075"/>
                </a:solidFill>
              </a:rPr>
              <a:t>   过去时叙述事件+现在完成时说影响：I chose→I've never regretted</a:t>
            </a:r>
          </a:p>
          <a:p>
            <a:pPr>
              <a:spcBef>
                <a:spcPts val="1000"/>
              </a:spcBef>
            </a:pPr>
            <a:r>
              <a:rPr sz="1850" b="1">
                <a:solidFill>
                  <a:srgbClr val="A33607"/>
                </a:solidFill>
              </a:rPr>
              <a:t>• 个人成长</a:t>
            </a:r>
          </a:p>
          <a:p>
            <a:pPr>
              <a:spcBef>
                <a:spcPts val="100"/>
              </a:spcBef>
            </a:pPr>
            <a:r>
              <a:rPr sz="1550">
                <a:solidFill>
                  <a:srgbClr val="556075"/>
                </a:solidFill>
              </a:rPr>
              <a:t>   最后一定提到从这个经历中学到了什么：It taught me that...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经历类Band 7示范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"Describe a time when you had to be very patient."
1分钟准备，然后2分钟发言</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I'd like to talk about a time about two years ago when I had to deal with a really frustrating situation at work. I'd been working on a major product proposal for three months, and the day before the presentation, I discovered a critical error in the data. I had to stay up all night rechecking everything, which was genuinely exhausting. What required the most patience was not panicking — I had to stay methodical and focused even when I felt like giving up. In the end, I fixed the issue and the presentation went ahead. The approval we got was one of the most satisfying moments of my career. Looking back, I think that experience fundamentally improved my resilience.</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STAR结构清晰：背景（两年前）→困难（发现错误）→行动（通宵修改）→结果（获批）
情感词汇：frustrating/exhausting/methodical/resilience——替换difficult/tired/careful
GRA：which从句/even when让步/that结果从句</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经历类时态管理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以下经历描述有时态错误，找出并改正：
"Last year, I go to my first job interview and I am really nervous. The interviewer ask me questions that I don't prepare for. But I think fast and give good answers. Now I am working for that company."
找出6个时态错误并改正为正确的过去时/现在时</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go→went / am→was / ask→asked / don't→didn't / think→thought / give→gave
现在时正确："Now I am working for that company."（现在进行时，描述现在状态）</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时态规则：过去经历用过去时；说"到现在"的影响用现在完成时（I've learned/I've never forgotten）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物品类卡片攻略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Object Cue Card Strategy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物品类卡片的常见题型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Describe an object that is important to you</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类型1</a:t>
            </a:r>
          </a:p>
          <a:p>
            <a:pPr>
              <a:spcBef>
                <a:spcPts val="100"/>
              </a:spcBef>
            </a:pPr>
            <a:r>
              <a:rPr sz="1500">
                <a:solidFill>
                  <a:srgbClr val="556075"/>
                </a:solidFill>
              </a:rPr>
              <a:t>   Describe something you own that you are proud of.</a:t>
            </a:r>
          </a:p>
          <a:p>
            <a:pPr>
              <a:spcBef>
                <a:spcPts val="900"/>
              </a:spcBef>
            </a:pPr>
            <a:r>
              <a:rPr sz="1800" b="1">
                <a:solidFill>
                  <a:srgbClr val="A33607"/>
                </a:solidFill>
              </a:rPr>
              <a:t>• 类型2</a:t>
            </a:r>
          </a:p>
          <a:p>
            <a:pPr>
              <a:spcBef>
                <a:spcPts val="100"/>
              </a:spcBef>
            </a:pPr>
            <a:r>
              <a:rPr sz="1500">
                <a:solidFill>
                  <a:srgbClr val="556075"/>
                </a:solidFill>
              </a:rPr>
              <a:t>   Describe a gift you received that was important to you.</a:t>
            </a:r>
          </a:p>
          <a:p>
            <a:pPr>
              <a:spcBef>
                <a:spcPts val="900"/>
              </a:spcBef>
            </a:pPr>
            <a:r>
              <a:rPr sz="1800" b="1">
                <a:solidFill>
                  <a:srgbClr val="A33607"/>
                </a:solidFill>
              </a:rPr>
              <a:t>• 类型3</a:t>
            </a:r>
          </a:p>
          <a:p>
            <a:pPr>
              <a:spcBef>
                <a:spcPts val="100"/>
              </a:spcBef>
            </a:pPr>
            <a:r>
              <a:rPr sz="1500">
                <a:solidFill>
                  <a:srgbClr val="556075"/>
                </a:solidFill>
              </a:rPr>
              <a:t>   Describe a piece of technology you use regularly.</a:t>
            </a:r>
          </a:p>
          <a:p>
            <a:pPr>
              <a:spcBef>
                <a:spcPts val="900"/>
              </a:spcBef>
            </a:pPr>
            <a:r>
              <a:rPr sz="1800" b="1">
                <a:solidFill>
                  <a:srgbClr val="A33607"/>
                </a:solidFill>
              </a:rPr>
              <a:t>• 类型4</a:t>
            </a:r>
          </a:p>
          <a:p>
            <a:pPr>
              <a:spcBef>
                <a:spcPts val="100"/>
              </a:spcBef>
            </a:pPr>
            <a:r>
              <a:rPr sz="1500">
                <a:solidFill>
                  <a:srgbClr val="556075"/>
                </a:solidFill>
              </a:rPr>
              <a:t>   Describe something you have kept for a long time.</a:t>
            </a:r>
          </a:p>
          <a:p>
            <a:pPr>
              <a:spcBef>
                <a:spcPts val="900"/>
              </a:spcBef>
            </a:pPr>
            <a:r>
              <a:rPr sz="1800" b="1">
                <a:solidFill>
                  <a:srgbClr val="A33607"/>
                </a:solidFill>
              </a:rPr>
              <a:t>• 提示点结构</a:t>
            </a:r>
          </a:p>
          <a:p>
            <a:pPr>
              <a:spcBef>
                <a:spcPts val="100"/>
              </a:spcBef>
            </a:pPr>
            <a:r>
              <a:rPr sz="1500">
                <a:solidFill>
                  <a:srgbClr val="556075"/>
                </a:solidFill>
              </a:rPr>
              <a:t>   What it is / How you got it / What you use it for / Why it's important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物品描述的两个维度</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功能维度+情感维度</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功能维度</a:t>
            </a:r>
          </a:p>
          <a:p>
            <a:pPr>
              <a:spcBef>
                <a:spcPts val="100"/>
              </a:spcBef>
            </a:pPr>
            <a:r>
              <a:rPr sz="1500">
                <a:solidFill>
                  <a:srgbClr val="556075"/>
                </a:solidFill>
              </a:rPr>
              <a:t>   做什么用（描述功能/特征）：It's designed to... / It allows me to... / I use it for...</a:t>
            </a:r>
          </a:p>
          <a:p>
            <a:pPr>
              <a:spcBef>
                <a:spcPts val="900"/>
              </a:spcBef>
            </a:pPr>
            <a:r>
              <a:rPr sz="1800" b="1">
                <a:solidFill>
                  <a:srgbClr val="A33607"/>
                </a:solidFill>
              </a:rPr>
              <a:t>• 情感维度</a:t>
            </a:r>
          </a:p>
          <a:p>
            <a:pPr>
              <a:spcBef>
                <a:spcPts val="100"/>
              </a:spcBef>
            </a:pPr>
            <a:r>
              <a:rPr sz="1500">
                <a:solidFill>
                  <a:srgbClr val="556075"/>
                </a:solidFill>
              </a:rPr>
              <a:t>   对你的意义：It reminds me of... / It's a symbol of... / Without it...</a:t>
            </a:r>
          </a:p>
          <a:p>
            <a:pPr>
              <a:spcBef>
                <a:spcPts val="900"/>
              </a:spcBef>
            </a:pPr>
            <a:r>
              <a:rPr sz="1800" b="1">
                <a:solidFill>
                  <a:srgbClr val="A33607"/>
                </a:solidFill>
              </a:rPr>
              <a:t>• 颜色/外观</a:t>
            </a:r>
          </a:p>
          <a:p>
            <a:pPr>
              <a:spcBef>
                <a:spcPts val="100"/>
              </a:spcBef>
            </a:pPr>
            <a:r>
              <a:rPr sz="1500">
                <a:solidFill>
                  <a:srgbClr val="556075"/>
                </a:solidFill>
              </a:rPr>
              <a:t>   可提但不要花太多时间：It's a [形容词][名词]，不必详细</a:t>
            </a:r>
          </a:p>
          <a:p>
            <a:pPr>
              <a:spcBef>
                <a:spcPts val="900"/>
              </a:spcBef>
            </a:pPr>
            <a:r>
              <a:rPr sz="1800" b="1">
                <a:solidFill>
                  <a:srgbClr val="A33607"/>
                </a:solidFill>
              </a:rPr>
              <a:t>• 历史/来源</a:t>
            </a:r>
          </a:p>
          <a:p>
            <a:pPr>
              <a:spcBef>
                <a:spcPts val="100"/>
              </a:spcBef>
            </a:pPr>
            <a:r>
              <a:rPr sz="1500">
                <a:solidFill>
                  <a:srgbClr val="556075"/>
                </a:solidFill>
              </a:rPr>
              <a:t>   How you got it往往最有情感价值——是谁给的？什么场合？</a:t>
            </a:r>
          </a:p>
          <a:p>
            <a:pPr>
              <a:spcBef>
                <a:spcPts val="900"/>
              </a:spcBef>
            </a:pPr>
            <a:r>
              <a:rPr sz="1800" b="1">
                <a:solidFill>
                  <a:srgbClr val="A33607"/>
                </a:solidFill>
              </a:rPr>
              <a:t>• 现在状态</a:t>
            </a:r>
          </a:p>
          <a:p>
            <a:pPr>
              <a:spcBef>
                <a:spcPts val="100"/>
              </a:spcBef>
            </a:pPr>
            <a:r>
              <a:rPr sz="1500">
                <a:solidFill>
                  <a:srgbClr val="556075"/>
                </a:solidFill>
              </a:rPr>
              <a:t>   Do you still use it? / What condition is it in?——连接过去和现在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物品题完整答题示例</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题目</a:t>
            </a:r>
          </a:p>
          <a:p>
            <a:pPr>
              <a:spcBef>
                <a:spcPts val="100"/>
              </a:spcBef>
            </a:pPr>
            <a:r>
              <a:rPr sz="1550">
                <a:solidFill>
                  <a:srgbClr val="556075"/>
                </a:solidFill>
              </a:rPr>
              <a:t>   Describe a possession that is important to you.</a:t>
            </a:r>
          </a:p>
          <a:p>
            <a:pPr>
              <a:spcBef>
                <a:spcPts val="1000"/>
              </a:spcBef>
            </a:pPr>
            <a:r>
              <a:rPr sz="1850" b="1">
                <a:solidFill>
                  <a:srgbClr val="A33607"/>
                </a:solidFill>
              </a:rPr>
              <a:t>• What/How</a:t>
            </a:r>
          </a:p>
          <a:p>
            <a:pPr>
              <a:spcBef>
                <a:spcPts val="100"/>
              </a:spcBef>
            </a:pPr>
            <a:r>
              <a:rPr sz="1550">
                <a:solidFill>
                  <a:srgbClr val="556075"/>
                </a:solidFill>
              </a:rPr>
              <a:t>   The object I'd like to talk about is a fountain pen that my grandfather gave me when I graduated from high school.</a:t>
            </a:r>
          </a:p>
          <a:p>
            <a:pPr>
              <a:spcBef>
                <a:spcPts val="1000"/>
              </a:spcBef>
            </a:pPr>
            <a:r>
              <a:rPr sz="1850" b="1">
                <a:solidFill>
                  <a:srgbClr val="A33607"/>
                </a:solidFill>
              </a:rPr>
              <a:t>• What it looks like</a:t>
            </a:r>
          </a:p>
          <a:p>
            <a:pPr>
              <a:spcBef>
                <a:spcPts val="100"/>
              </a:spcBef>
            </a:pPr>
            <a:r>
              <a:rPr sz="1550">
                <a:solidFill>
                  <a:srgbClr val="556075"/>
                </a:solidFill>
              </a:rPr>
              <a:t>   It's an elegant, dark blue pen with gold detailing — not flashy, but beautifully made.</a:t>
            </a:r>
          </a:p>
          <a:p>
            <a:pPr>
              <a:spcBef>
                <a:spcPts val="1000"/>
              </a:spcBef>
            </a:pPr>
            <a:r>
              <a:rPr sz="1850" b="1">
                <a:solidFill>
                  <a:srgbClr val="A33607"/>
                </a:solidFill>
              </a:rPr>
              <a:t>• What I use it for</a:t>
            </a:r>
          </a:p>
          <a:p>
            <a:pPr>
              <a:spcBef>
                <a:spcPts val="100"/>
              </a:spcBef>
            </a:pPr>
            <a:r>
              <a:rPr sz="1550">
                <a:solidFill>
                  <a:srgbClr val="556075"/>
                </a:solidFill>
              </a:rPr>
              <a:t>   I use it for signing important documents and for journaling when I want to reflect properly.</a:t>
            </a:r>
          </a:p>
          <a:p>
            <a:pPr>
              <a:spcBef>
                <a:spcPts val="1000"/>
              </a:spcBef>
            </a:pPr>
            <a:r>
              <a:rPr sz="1850" b="1">
                <a:solidFill>
                  <a:srgbClr val="A33607"/>
                </a:solidFill>
              </a:rPr>
              <a:t>• Why important</a:t>
            </a:r>
          </a:p>
          <a:p>
            <a:pPr>
              <a:spcBef>
                <a:spcPts val="100"/>
              </a:spcBef>
            </a:pPr>
            <a:r>
              <a:rPr sz="1550">
                <a:solidFill>
                  <a:srgbClr val="556075"/>
                </a:solidFill>
              </a:rPr>
              <a:t>   But more than its function, it's a tangible connection to my grandfather, who passed away two years ago. Every time I write with it, I think of him.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物品题情感升级词汇</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纪念意义</a:t>
            </a:r>
          </a:p>
          <a:p>
            <a:pPr>
              <a:spcBef>
                <a:spcPts val="100"/>
              </a:spcBef>
            </a:pPr>
            <a:r>
              <a:rPr sz="1550">
                <a:solidFill>
                  <a:srgbClr val="556075"/>
                </a:solidFill>
              </a:rPr>
              <a:t>   It's a reminder of... / It holds a great deal of sentimental value</a:t>
            </a:r>
          </a:p>
          <a:p>
            <a:pPr>
              <a:spcBef>
                <a:spcPts val="1000"/>
              </a:spcBef>
            </a:pPr>
            <a:r>
              <a:rPr sz="1850" b="1">
                <a:solidFill>
                  <a:srgbClr val="A33607"/>
                </a:solidFill>
              </a:rPr>
              <a:t>• 象征意义</a:t>
            </a:r>
          </a:p>
          <a:p>
            <a:pPr>
              <a:spcBef>
                <a:spcPts val="100"/>
              </a:spcBef>
            </a:pPr>
            <a:r>
              <a:rPr sz="1550">
                <a:solidFill>
                  <a:srgbClr val="556075"/>
                </a:solidFill>
              </a:rPr>
              <a:t>   It symbolises... / It represents a turning point in my life</a:t>
            </a:r>
          </a:p>
          <a:p>
            <a:pPr>
              <a:spcBef>
                <a:spcPts val="1000"/>
              </a:spcBef>
            </a:pPr>
            <a:r>
              <a:rPr sz="1850" b="1">
                <a:solidFill>
                  <a:srgbClr val="A33607"/>
                </a:solidFill>
              </a:rPr>
              <a:t>• 实用价值</a:t>
            </a:r>
          </a:p>
          <a:p>
            <a:pPr>
              <a:spcBef>
                <a:spcPts val="100"/>
              </a:spcBef>
            </a:pPr>
            <a:r>
              <a:rPr sz="1550">
                <a:solidFill>
                  <a:srgbClr val="556075"/>
                </a:solidFill>
              </a:rPr>
              <a:t>   It's indispensable / I rely on it heavily / I couldn't imagine my life without it</a:t>
            </a:r>
          </a:p>
          <a:p>
            <a:pPr>
              <a:spcBef>
                <a:spcPts val="1000"/>
              </a:spcBef>
            </a:pPr>
            <a:r>
              <a:rPr sz="1850" b="1">
                <a:solidFill>
                  <a:srgbClr val="A33607"/>
                </a:solidFill>
              </a:rPr>
              <a:t>• 历史感</a:t>
            </a:r>
          </a:p>
          <a:p>
            <a:pPr>
              <a:spcBef>
                <a:spcPts val="100"/>
              </a:spcBef>
            </a:pPr>
            <a:r>
              <a:rPr sz="1550">
                <a:solidFill>
                  <a:srgbClr val="556075"/>
                </a:solidFill>
              </a:rPr>
              <a:t>   I've had it for [时间] / It's been with me through...</a:t>
            </a:r>
          </a:p>
          <a:p>
            <a:pPr>
              <a:spcBef>
                <a:spcPts val="1000"/>
              </a:spcBef>
            </a:pPr>
            <a:r>
              <a:rPr sz="1850" b="1">
                <a:solidFill>
                  <a:srgbClr val="A33607"/>
                </a:solidFill>
              </a:rPr>
              <a:t>• 关联感</a:t>
            </a:r>
          </a:p>
          <a:p>
            <a:pPr>
              <a:spcBef>
                <a:spcPts val="100"/>
              </a:spcBef>
            </a:pPr>
            <a:r>
              <a:rPr sz="1550">
                <a:solidFill>
                  <a:srgbClr val="556075"/>
                </a:solidFill>
              </a:rPr>
              <a:t>   Every time I [use it], I'm reminded of...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物品题Band 7示范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"Describe a piece of technology you own that is important to you."
1分钟准备，2分钟发言</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I'd like to talk about my noise-cancelling headphones, which might seem like a mundane choice but are genuinely one of my most-used possessions. I bought them about a year ago after realising that the commute to work was significantly affecting my mental wellbeing — Shenzhen's metro can be incredibly noisy and overwhelming. They're over-ear headphones with exceptional sound quality, but what I value most isn't actually the music — it's the silence they create. The moment I put them on, I can transition into a focused state almost immediately, which is invaluable during a forty-minute commute. I use them for podcasts, audiobooks, and occasionally just for the noise cancellation alone. They've fundamentally changed how I experience my working day — I arrive at the office feeling calm rather than drained.</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功能维度：sound quality/noise cancellation/focused state——三个具体功能点
情感维度：affecting my mental wellbeing/feeling calm rather than drained——情感影响
词汇：mundane/invaluable/transition/fundamentally——展示LR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物品题：功能→情感升级练习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以下物品描述只说了功能，加上情感维度：
"My bicycle. I use it to commute to work every day. It saves me money on transport. It's blue and has 21 gears."
任务：在这个基础上加3句情感/意义描述，让答案从"购物清单"变成"有意义的物品描述"</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示例升级：
"Beyond just being practical transport, it's become my way of decompressing after work. Cycling home through Shenzhen Bay gives me a kind of mental reset that nothing else provides. It also represents my commitment to a healthier lifestyle — a decision I made two years ago and haven't looked back from."</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每件物品都可以找到情感/象征意义——备考时为你的10个素材各准备一个情感维度</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活动类卡片攻略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Activity Cue Card Strategy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活动类卡片的常见题型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Describe an activity you enjoy/do regularly</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类型1</a:t>
            </a:r>
          </a:p>
          <a:p>
            <a:pPr>
              <a:spcBef>
                <a:spcPts val="100"/>
              </a:spcBef>
            </a:pPr>
            <a:r>
              <a:rPr sz="1500">
                <a:solidFill>
                  <a:srgbClr val="556075"/>
                </a:solidFill>
              </a:rPr>
              <a:t>   Describe a sport or physical activity you enjoy.</a:t>
            </a:r>
          </a:p>
          <a:p>
            <a:pPr>
              <a:spcBef>
                <a:spcPts val="900"/>
              </a:spcBef>
            </a:pPr>
            <a:r>
              <a:rPr sz="1800" b="1">
                <a:solidFill>
                  <a:srgbClr val="A33607"/>
                </a:solidFill>
              </a:rPr>
              <a:t>• 类型2</a:t>
            </a:r>
          </a:p>
          <a:p>
            <a:pPr>
              <a:spcBef>
                <a:spcPts val="100"/>
              </a:spcBef>
            </a:pPr>
            <a:r>
              <a:rPr sz="1500">
                <a:solidFill>
                  <a:srgbClr val="556075"/>
                </a:solidFill>
              </a:rPr>
              <a:t>   Describe an activity you do to relax.</a:t>
            </a:r>
          </a:p>
          <a:p>
            <a:pPr>
              <a:spcBef>
                <a:spcPts val="900"/>
              </a:spcBef>
            </a:pPr>
            <a:r>
              <a:rPr sz="1800" b="1">
                <a:solidFill>
                  <a:srgbClr val="A33607"/>
                </a:solidFill>
              </a:rPr>
              <a:t>• 类型3</a:t>
            </a:r>
          </a:p>
          <a:p>
            <a:pPr>
              <a:spcBef>
                <a:spcPts val="100"/>
              </a:spcBef>
            </a:pPr>
            <a:r>
              <a:rPr sz="1500">
                <a:solidFill>
                  <a:srgbClr val="556075"/>
                </a:solidFill>
              </a:rPr>
              <a:t>   Describe something you like to do with friends.</a:t>
            </a:r>
          </a:p>
          <a:p>
            <a:pPr>
              <a:spcBef>
                <a:spcPts val="900"/>
              </a:spcBef>
            </a:pPr>
            <a:r>
              <a:rPr sz="1800" b="1">
                <a:solidFill>
                  <a:srgbClr val="A33607"/>
                </a:solidFill>
              </a:rPr>
              <a:t>• 类型4</a:t>
            </a:r>
          </a:p>
          <a:p>
            <a:pPr>
              <a:spcBef>
                <a:spcPts val="100"/>
              </a:spcBef>
            </a:pPr>
            <a:r>
              <a:rPr sz="1500">
                <a:solidFill>
                  <a:srgbClr val="556075"/>
                </a:solidFill>
              </a:rPr>
              <a:t>   Describe a skill you would like to learn.</a:t>
            </a:r>
          </a:p>
          <a:p>
            <a:pPr>
              <a:spcBef>
                <a:spcPts val="900"/>
              </a:spcBef>
            </a:pPr>
            <a:r>
              <a:rPr sz="1800" b="1">
                <a:solidFill>
                  <a:srgbClr val="A33607"/>
                </a:solidFill>
              </a:rPr>
              <a:t>• 提示点结构</a:t>
            </a:r>
          </a:p>
          <a:p>
            <a:pPr>
              <a:spcBef>
                <a:spcPts val="100"/>
              </a:spcBef>
            </a:pPr>
            <a:r>
              <a:rPr sz="1500">
                <a:solidFill>
                  <a:srgbClr val="556075"/>
                </a:solidFill>
              </a:rPr>
              <a:t>   What it is / When you do it / Who you do it with / Why you enjoy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活动描述的动词进阶</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把基础动词换成话题动词</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基础→进阶</a:t>
            </a:r>
          </a:p>
          <a:p>
            <a:pPr>
              <a:spcBef>
                <a:spcPts val="100"/>
              </a:spcBef>
            </a:pPr>
            <a:r>
              <a:rPr sz="1500">
                <a:solidFill>
                  <a:srgbClr val="556075"/>
                </a:solidFill>
              </a:rPr>
              <a:t>   play→engage in / like→be passionate about / do→pursue / enjoy→find therapeutic</a:t>
            </a:r>
          </a:p>
          <a:p>
            <a:pPr>
              <a:spcBef>
                <a:spcPts val="900"/>
              </a:spcBef>
            </a:pPr>
            <a:r>
              <a:rPr sz="1800" b="1">
                <a:solidFill>
                  <a:srgbClr val="A33607"/>
                </a:solidFill>
              </a:rPr>
              <a:t>• 开始动词</a:t>
            </a:r>
          </a:p>
          <a:p>
            <a:pPr>
              <a:spcBef>
                <a:spcPts val="100"/>
              </a:spcBef>
            </a:pPr>
            <a:r>
              <a:rPr sz="1500">
                <a:solidFill>
                  <a:srgbClr val="556075"/>
                </a:solidFill>
              </a:rPr>
              <a:t>   take up / get into / discover / stumble upon / develop a passion for</a:t>
            </a:r>
          </a:p>
          <a:p>
            <a:pPr>
              <a:spcBef>
                <a:spcPts val="900"/>
              </a:spcBef>
            </a:pPr>
            <a:r>
              <a:rPr sz="1800" b="1">
                <a:solidFill>
                  <a:srgbClr val="A33607"/>
                </a:solidFill>
              </a:rPr>
              <a:t>• 过程动词</a:t>
            </a:r>
          </a:p>
          <a:p>
            <a:pPr>
              <a:spcBef>
                <a:spcPts val="100"/>
              </a:spcBef>
            </a:pPr>
            <a:r>
              <a:rPr sz="1500">
                <a:solidFill>
                  <a:srgbClr val="556075"/>
                </a:solidFill>
              </a:rPr>
              <a:t>   immerse oneself in / dedicate time to / participate in / get absorbed in</a:t>
            </a:r>
          </a:p>
          <a:p>
            <a:pPr>
              <a:spcBef>
                <a:spcPts val="900"/>
              </a:spcBef>
            </a:pPr>
            <a:r>
              <a:rPr sz="1800" b="1">
                <a:solidFill>
                  <a:srgbClr val="A33607"/>
                </a:solidFill>
              </a:rPr>
              <a:t>• 结果动词</a:t>
            </a:r>
          </a:p>
          <a:p>
            <a:pPr>
              <a:spcBef>
                <a:spcPts val="100"/>
              </a:spcBef>
            </a:pPr>
            <a:r>
              <a:rPr sz="1500">
                <a:solidFill>
                  <a:srgbClr val="556075"/>
                </a:solidFill>
              </a:rPr>
              <a:t>   benefit from / derive pleasure from / gain from / come away from feeling...</a:t>
            </a:r>
          </a:p>
          <a:p>
            <a:pPr>
              <a:spcBef>
                <a:spcPts val="900"/>
              </a:spcBef>
            </a:pPr>
            <a:r>
              <a:rPr sz="1800" b="1">
                <a:solidFill>
                  <a:srgbClr val="A33607"/>
                </a:solidFill>
              </a:rPr>
              <a:t>• 深圳活动素材</a:t>
            </a:r>
          </a:p>
          <a:p>
            <a:pPr>
              <a:spcBef>
                <a:spcPts val="100"/>
              </a:spcBef>
            </a:pPr>
            <a:r>
              <a:rPr sz="1500">
                <a:solidFill>
                  <a:srgbClr val="556075"/>
                </a:solidFill>
              </a:rPr>
              <a:t>   cycling the greenway / hiking Wutong / badminton / photography / cooking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活动题答题框架</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What</a:t>
            </a:r>
          </a:p>
          <a:p>
            <a:pPr>
              <a:spcBef>
                <a:spcPts val="100"/>
              </a:spcBef>
            </a:pPr>
            <a:r>
              <a:rPr sz="1550">
                <a:solidFill>
                  <a:srgbClr val="556075"/>
                </a:solidFill>
              </a:rPr>
              <a:t>   定义这个活动+你与它的关系：I've been [doing X] for [time], and it's become a core part of my routine.</a:t>
            </a:r>
          </a:p>
          <a:p>
            <a:pPr>
              <a:spcBef>
                <a:spcPts val="1000"/>
              </a:spcBef>
            </a:pPr>
            <a:r>
              <a:rPr sz="1850" b="1">
                <a:solidFill>
                  <a:srgbClr val="A33607"/>
                </a:solidFill>
              </a:rPr>
              <a:t>• When</a:t>
            </a:r>
          </a:p>
          <a:p>
            <a:pPr>
              <a:spcBef>
                <a:spcPts val="100"/>
              </a:spcBef>
            </a:pPr>
            <a:r>
              <a:rPr sz="1550">
                <a:solidFill>
                  <a:srgbClr val="556075"/>
                </a:solidFill>
              </a:rPr>
              <a:t>   时间/频率+情境：I usually do it [when/how often]，usually [alone/with whom]</a:t>
            </a:r>
          </a:p>
          <a:p>
            <a:pPr>
              <a:spcBef>
                <a:spcPts val="1000"/>
              </a:spcBef>
            </a:pPr>
            <a:r>
              <a:rPr sz="1850" b="1">
                <a:solidFill>
                  <a:srgbClr val="A33607"/>
                </a:solidFill>
              </a:rPr>
              <a:t>• Process</a:t>
            </a:r>
          </a:p>
          <a:p>
            <a:pPr>
              <a:spcBef>
                <a:spcPts val="100"/>
              </a:spcBef>
            </a:pPr>
            <a:r>
              <a:rPr sz="1550">
                <a:solidFill>
                  <a:srgbClr val="556075"/>
                </a:solidFill>
              </a:rPr>
              <a:t>   描述过程中的一个具体时刻——这是展示词汇最好的机会</a:t>
            </a:r>
          </a:p>
          <a:p>
            <a:pPr>
              <a:spcBef>
                <a:spcPts val="1000"/>
              </a:spcBef>
            </a:pPr>
            <a:r>
              <a:rPr sz="1850" b="1">
                <a:solidFill>
                  <a:srgbClr val="A33607"/>
                </a:solidFill>
              </a:rPr>
              <a:t>• Why</a:t>
            </a:r>
          </a:p>
          <a:p>
            <a:pPr>
              <a:spcBef>
                <a:spcPts val="100"/>
              </a:spcBef>
            </a:pPr>
            <a:r>
              <a:rPr sz="1550">
                <a:solidFill>
                  <a:srgbClr val="556075"/>
                </a:solidFill>
              </a:rPr>
              <a:t>   两层理由：直接理由（what it does for you）+深层理由（what it means to you）</a:t>
            </a:r>
          </a:p>
          <a:p>
            <a:pPr>
              <a:spcBef>
                <a:spcPts val="1000"/>
              </a:spcBef>
            </a:pPr>
            <a:r>
              <a:rPr sz="1850" b="1">
                <a:solidFill>
                  <a:srgbClr val="A33607"/>
                </a:solidFill>
              </a:rPr>
              <a:t>• 收尾</a:t>
            </a:r>
          </a:p>
          <a:p>
            <a:pPr>
              <a:spcBef>
                <a:spcPts val="100"/>
              </a:spcBef>
            </a:pPr>
            <a:r>
              <a:rPr sz="1550">
                <a:solidFill>
                  <a:srgbClr val="556075"/>
                </a:solidFill>
              </a:rPr>
              <a:t>   I can't imagine my routine without it / It's become almost a form of meditation for me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活动题高分语言特征</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固定搭配</a:t>
            </a:r>
          </a:p>
          <a:p>
            <a:pPr>
              <a:spcBef>
                <a:spcPts val="100"/>
              </a:spcBef>
            </a:pPr>
            <a:r>
              <a:rPr sz="1550">
                <a:solidFill>
                  <a:srgbClr val="556075"/>
                </a:solidFill>
              </a:rPr>
              <a:t>   a form of meditation / a way to decompress / a healthy outlet for stress</a:t>
            </a:r>
          </a:p>
          <a:p>
            <a:pPr>
              <a:spcBef>
                <a:spcPts val="1000"/>
              </a:spcBef>
            </a:pPr>
            <a:r>
              <a:rPr sz="1850" b="1">
                <a:solidFill>
                  <a:srgbClr val="A33607"/>
                </a:solidFill>
              </a:rPr>
              <a:t>• 过程词汇</a:t>
            </a:r>
          </a:p>
          <a:p>
            <a:pPr>
              <a:spcBef>
                <a:spcPts val="100"/>
              </a:spcBef>
            </a:pPr>
            <a:r>
              <a:rPr sz="1550">
                <a:solidFill>
                  <a:srgbClr val="556075"/>
                </a:solidFill>
              </a:rPr>
              <a:t>   I start by... / Gradually... / After about [time]... / By the end...</a:t>
            </a:r>
          </a:p>
          <a:p>
            <a:pPr>
              <a:spcBef>
                <a:spcPts val="1000"/>
              </a:spcBef>
            </a:pPr>
            <a:r>
              <a:rPr sz="1850" b="1">
                <a:solidFill>
                  <a:srgbClr val="A33607"/>
                </a:solidFill>
              </a:rPr>
              <a:t>• 感受词汇</a:t>
            </a:r>
          </a:p>
          <a:p>
            <a:pPr>
              <a:spcBef>
                <a:spcPts val="100"/>
              </a:spcBef>
            </a:pPr>
            <a:r>
              <a:rPr sz="1550">
                <a:solidFill>
                  <a:srgbClr val="556075"/>
                </a:solidFill>
              </a:rPr>
              <a:t>   invigorating/refreshing/absorbing/therapeutic/grounding/rewarding</a:t>
            </a:r>
          </a:p>
          <a:p>
            <a:pPr>
              <a:spcBef>
                <a:spcPts val="1000"/>
              </a:spcBef>
            </a:pPr>
            <a:r>
              <a:rPr sz="1850" b="1">
                <a:solidFill>
                  <a:srgbClr val="A33607"/>
                </a:solidFill>
              </a:rPr>
              <a:t>• 对比</a:t>
            </a:r>
          </a:p>
          <a:p>
            <a:pPr>
              <a:spcBef>
                <a:spcPts val="100"/>
              </a:spcBef>
            </a:pPr>
            <a:r>
              <a:rPr sz="1550">
                <a:solidFill>
                  <a:srgbClr val="556075"/>
                </a:solidFill>
              </a:rPr>
              <a:t>   It's different from other activities because... / Unlike [X], this one...</a:t>
            </a:r>
          </a:p>
          <a:p>
            <a:pPr>
              <a:spcBef>
                <a:spcPts val="1000"/>
              </a:spcBef>
            </a:pPr>
            <a:r>
              <a:rPr sz="1850" b="1">
                <a:solidFill>
                  <a:srgbClr val="A33607"/>
                </a:solidFill>
              </a:rPr>
              <a:t>• 数量词</a:t>
            </a:r>
          </a:p>
          <a:p>
            <a:pPr>
              <a:spcBef>
                <a:spcPts val="100"/>
              </a:spcBef>
            </a:pPr>
            <a:r>
              <a:rPr sz="1550">
                <a:solidFill>
                  <a:srgbClr val="556075"/>
                </a:solidFill>
              </a:rPr>
              <a:t>   I try to go at least twice a week / I spend about an hour each time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活动题Band 7示范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"Describe an activity you do to relax."
1分钟准备，2分钟发言</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I'd like to talk about cycling, which I've been doing seriously for about two years now. I typically go out early on Saturday and Sunday mornings, usually before seven, to avoid the heat and the crowds. My usual route takes me along Shenzhen Bay's coastal greenway — it's a genuinely beautiful stretch of path with views of the bay on one side and the city skyline on the other. What I particularly love is the rhythm of it. After about twenty minutes, I stop thinking about work entirely and just focus on the road, the breathing, the sound of the wheels. It becomes almost meditative. I come away from it feeling genuinely refreshed rather than just less tired. I think what makes it different from other forms of exercise is that it takes you somewhere — there's a sense of progress and exploration that a treadmill can't replicate.</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过程描述：early on Saturday → usually before seven → after about twenty minutes——时间线清晰
感受词汇：meditative/genuinely refreshed/sense of progress/exploration
GRA：which从句/that从句/a treadmill can't replicate（比较）</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活动题：过程描述练习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选一个你喜欢的活动，按以下时间线描述过程（每步1-2句）：
① 开始前：I usually start by... / Before I begin, I always...
② 进行中：After about [时间], I... / Gradually, I start to...
③ 高峰时刻：The best part is when... / The moment I love most is...
④ 结束后：By the end, I... / I come away feeling...</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4个时间节点=约60-70秒——加上Why（30秒）和Introduction（15秒）=约1分45秒
这个框架适合所有活动类题目</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关键：第③步"高峰时刻"是LR得分最高的地方——用最生动的词汇描述这个时刻</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故事叙述进阶：情感弧与戏剧性</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Advanced Storytelling: Emotional Arc &amp; Drama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情感弧：让故事有起伏</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好的故事有Beginning→Complication→Resolution</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Beginning（开始）</a:t>
            </a:r>
          </a:p>
          <a:p>
            <a:pPr>
              <a:spcBef>
                <a:spcPts val="100"/>
              </a:spcBef>
            </a:pPr>
            <a:r>
              <a:rPr sz="1500">
                <a:solidFill>
                  <a:srgbClr val="556075"/>
                </a:solidFill>
              </a:rPr>
              <a:t>   设置背景，轻松或平静状态：It started as a perfectly ordinary...</a:t>
            </a:r>
          </a:p>
          <a:p>
            <a:pPr>
              <a:spcBef>
                <a:spcPts val="900"/>
              </a:spcBef>
            </a:pPr>
            <a:r>
              <a:rPr sz="1800" b="1">
                <a:solidFill>
                  <a:srgbClr val="A33607"/>
                </a:solidFill>
              </a:rPr>
              <a:t>• Complication（转折）</a:t>
            </a:r>
          </a:p>
          <a:p>
            <a:pPr>
              <a:spcBef>
                <a:spcPts val="100"/>
              </a:spcBef>
            </a:pPr>
            <a:r>
              <a:rPr sz="1500">
                <a:solidFill>
                  <a:srgbClr val="556075"/>
                </a:solidFill>
              </a:rPr>
              <a:t>   出现问题/挑战/意外：But then... / Unexpectedly... / That's when...</a:t>
            </a:r>
          </a:p>
          <a:p>
            <a:pPr>
              <a:spcBef>
                <a:spcPts val="900"/>
              </a:spcBef>
            </a:pPr>
            <a:r>
              <a:rPr sz="1800" b="1">
                <a:solidFill>
                  <a:srgbClr val="A33607"/>
                </a:solidFill>
              </a:rPr>
              <a:t>• Climax（高潮）</a:t>
            </a:r>
          </a:p>
          <a:p>
            <a:pPr>
              <a:spcBef>
                <a:spcPts val="100"/>
              </a:spcBef>
            </a:pPr>
            <a:r>
              <a:rPr sz="1500">
                <a:solidFill>
                  <a:srgbClr val="556075"/>
                </a:solidFill>
              </a:rPr>
              <a:t>   最紧张/最有趣的时刻：The moment that really stands out...</a:t>
            </a:r>
          </a:p>
          <a:p>
            <a:pPr>
              <a:spcBef>
                <a:spcPts val="900"/>
              </a:spcBef>
            </a:pPr>
            <a:r>
              <a:rPr sz="1800" b="1">
                <a:solidFill>
                  <a:srgbClr val="A33607"/>
                </a:solidFill>
              </a:rPr>
              <a:t>• Resolution（解决）</a:t>
            </a:r>
          </a:p>
          <a:p>
            <a:pPr>
              <a:spcBef>
                <a:spcPts val="100"/>
              </a:spcBef>
            </a:pPr>
            <a:r>
              <a:rPr sz="1500">
                <a:solidFill>
                  <a:srgbClr val="556075"/>
                </a:solidFill>
              </a:rPr>
              <a:t>   事情如何解决：In the end... / Eventually...</a:t>
            </a:r>
          </a:p>
          <a:p>
            <a:pPr>
              <a:spcBef>
                <a:spcPts val="900"/>
              </a:spcBef>
            </a:pPr>
            <a:r>
              <a:rPr sz="1800" b="1">
                <a:solidFill>
                  <a:srgbClr val="A33607"/>
                </a:solidFill>
              </a:rPr>
              <a:t>• Reflection（反思）</a:t>
            </a:r>
          </a:p>
          <a:p>
            <a:pPr>
              <a:spcBef>
                <a:spcPts val="100"/>
              </a:spcBef>
            </a:pPr>
            <a:r>
              <a:rPr sz="1500">
                <a:solidFill>
                  <a:srgbClr val="556075"/>
                </a:solidFill>
              </a:rPr>
              <a:t>   现在回头看这件事：Looking back... / What I learned was...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戏剧性语言：让平凡事变有趣</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用生动的动词和形容词</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紧张感</a:t>
            </a:r>
          </a:p>
          <a:p>
            <a:pPr>
              <a:spcBef>
                <a:spcPts val="100"/>
              </a:spcBef>
            </a:pPr>
            <a:r>
              <a:rPr sz="1500">
                <a:solidFill>
                  <a:srgbClr val="556075"/>
                </a:solidFill>
              </a:rPr>
              <a:t>   I was on the edge of my seat / My heart was racing / I was absolutely dreading...</a:t>
            </a:r>
          </a:p>
          <a:p>
            <a:pPr>
              <a:spcBef>
                <a:spcPts val="900"/>
              </a:spcBef>
            </a:pPr>
            <a:r>
              <a:rPr sz="1800" b="1">
                <a:solidFill>
                  <a:srgbClr val="A33607"/>
                </a:solidFill>
              </a:rPr>
              <a:t>• 意外感</a:t>
            </a:r>
          </a:p>
          <a:p>
            <a:pPr>
              <a:spcBef>
                <a:spcPts val="100"/>
              </a:spcBef>
            </a:pPr>
            <a:r>
              <a:rPr sz="1500">
                <a:solidFill>
                  <a:srgbClr val="556075"/>
                </a:solidFill>
              </a:rPr>
              <a:t>   To my complete surprise / Out of nowhere / I hadn't anticipated that...</a:t>
            </a:r>
          </a:p>
          <a:p>
            <a:pPr>
              <a:spcBef>
                <a:spcPts val="900"/>
              </a:spcBef>
            </a:pPr>
            <a:r>
              <a:rPr sz="1800" b="1">
                <a:solidFill>
                  <a:srgbClr val="A33607"/>
                </a:solidFill>
              </a:rPr>
              <a:t>• 释然感</a:t>
            </a:r>
          </a:p>
          <a:p>
            <a:pPr>
              <a:spcBef>
                <a:spcPts val="100"/>
              </a:spcBef>
            </a:pPr>
            <a:r>
              <a:rPr sz="1500">
                <a:solidFill>
                  <a:srgbClr val="556075"/>
                </a:solidFill>
              </a:rPr>
              <a:t>   A wave of relief washed over me / I could finally breathe again</a:t>
            </a:r>
          </a:p>
          <a:p>
            <a:pPr>
              <a:spcBef>
                <a:spcPts val="900"/>
              </a:spcBef>
            </a:pPr>
            <a:r>
              <a:rPr sz="1800" b="1">
                <a:solidFill>
                  <a:srgbClr val="A33607"/>
                </a:solidFill>
              </a:rPr>
              <a:t>• 成就感</a:t>
            </a:r>
          </a:p>
          <a:p>
            <a:pPr>
              <a:spcBef>
                <a:spcPts val="100"/>
              </a:spcBef>
            </a:pPr>
            <a:r>
              <a:rPr sz="1500">
                <a:solidFill>
                  <a:srgbClr val="556075"/>
                </a:solidFill>
              </a:rPr>
              <a:t>   I felt an overwhelming sense of pride / It was one of the most satisfying moments</a:t>
            </a:r>
          </a:p>
          <a:p>
            <a:pPr>
              <a:spcBef>
                <a:spcPts val="900"/>
              </a:spcBef>
            </a:pPr>
            <a:r>
              <a:rPr sz="1800" b="1">
                <a:solidFill>
                  <a:srgbClr val="A33607"/>
                </a:solidFill>
              </a:rPr>
              <a:t>• 遗憾感</a:t>
            </a:r>
          </a:p>
          <a:p>
            <a:pPr>
              <a:spcBef>
                <a:spcPts val="100"/>
              </a:spcBef>
            </a:pPr>
            <a:r>
              <a:rPr sz="1500">
                <a:solidFill>
                  <a:srgbClr val="556075"/>
                </a:solidFill>
              </a:rPr>
              <a:t>   I still wonder what might have happened if... / Looking back, I wish I'd...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情感弧的三个层次</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表层层次</a:t>
            </a:r>
          </a:p>
          <a:p>
            <a:pPr>
              <a:spcBef>
                <a:spcPts val="100"/>
              </a:spcBef>
            </a:pPr>
            <a:r>
              <a:rPr sz="1550">
                <a:solidFill>
                  <a:srgbClr val="556075"/>
                </a:solidFill>
              </a:rPr>
              <a:t>   描述发生了什么——事件流水账，没有情感深度（6分水平）</a:t>
            </a:r>
          </a:p>
          <a:p>
            <a:pPr>
              <a:spcBef>
                <a:spcPts val="1000"/>
              </a:spcBef>
            </a:pPr>
            <a:r>
              <a:rPr sz="1850" b="1">
                <a:solidFill>
                  <a:srgbClr val="A33607"/>
                </a:solidFill>
              </a:rPr>
              <a:t>• 中层层次</a:t>
            </a:r>
          </a:p>
          <a:p>
            <a:pPr>
              <a:spcBef>
                <a:spcPts val="100"/>
              </a:spcBef>
            </a:pPr>
            <a:r>
              <a:rPr sz="1550">
                <a:solidFill>
                  <a:srgbClr val="556075"/>
                </a:solidFill>
              </a:rPr>
              <a:t>   描述发生了什么+当时的感受——有情感但缺乏反思（6.5分水平）</a:t>
            </a:r>
          </a:p>
          <a:p>
            <a:pPr>
              <a:spcBef>
                <a:spcPts val="1000"/>
              </a:spcBef>
            </a:pPr>
            <a:r>
              <a:rPr sz="1850" b="1">
                <a:solidFill>
                  <a:srgbClr val="A33607"/>
                </a:solidFill>
              </a:rPr>
              <a:t>• 深层层次</a:t>
            </a:r>
          </a:p>
          <a:p>
            <a:pPr>
              <a:spcBef>
                <a:spcPts val="100"/>
              </a:spcBef>
            </a:pPr>
            <a:r>
              <a:rPr sz="1550">
                <a:solidFill>
                  <a:srgbClr val="556075"/>
                </a:solidFill>
              </a:rPr>
              <a:t>   发生什么+感受+这对你意味着什么——有反思有成长（7分+水平）</a:t>
            </a:r>
          </a:p>
          <a:p>
            <a:pPr>
              <a:spcBef>
                <a:spcPts val="1000"/>
              </a:spcBef>
            </a:pPr>
            <a:r>
              <a:rPr sz="1850" b="1">
                <a:solidFill>
                  <a:srgbClr val="A33607"/>
                </a:solidFill>
              </a:rPr>
              <a:t>• 实现方法</a:t>
            </a:r>
          </a:p>
          <a:p>
            <a:pPr>
              <a:spcBef>
                <a:spcPts val="100"/>
              </a:spcBef>
            </a:pPr>
            <a:r>
              <a:rPr sz="1550">
                <a:solidFill>
                  <a:srgbClr val="556075"/>
                </a:solidFill>
              </a:rPr>
              <a:t>   每个故事问三次"为什么"：为什么有这种感受？为什么这件事重要？为什么它改变了你？</a:t>
            </a:r>
          </a:p>
          <a:p>
            <a:pPr>
              <a:spcBef>
                <a:spcPts val="1000"/>
              </a:spcBef>
            </a:pPr>
            <a:r>
              <a:rPr sz="1850" b="1">
                <a:solidFill>
                  <a:srgbClr val="A33607"/>
                </a:solidFill>
              </a:rPr>
              <a:t>• 深圳学生误区</a:t>
            </a:r>
          </a:p>
          <a:p>
            <a:pPr>
              <a:spcBef>
                <a:spcPts val="100"/>
              </a:spcBef>
            </a:pPr>
            <a:r>
              <a:rPr sz="1550">
                <a:solidFill>
                  <a:srgbClr val="556075"/>
                </a:solidFill>
              </a:rPr>
              <a:t>   只讲事件，不分析意义——故事叙述能力不是天生的，是可以练习的</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戏剧性语言：高分词汇与平凡词汇对比</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平凡→生动</a:t>
            </a:r>
          </a:p>
          <a:p>
            <a:pPr>
              <a:spcBef>
                <a:spcPts val="100"/>
              </a:spcBef>
            </a:pPr>
            <a:r>
              <a:rPr sz="1550">
                <a:solidFill>
                  <a:srgbClr val="556075"/>
                </a:solidFill>
              </a:rPr>
              <a:t>   nervous→I was dreading it / surprised→To my complete surprise</a:t>
            </a:r>
          </a:p>
          <a:p>
            <a:pPr>
              <a:spcBef>
                <a:spcPts val="1000"/>
              </a:spcBef>
            </a:pPr>
            <a:r>
              <a:rPr sz="1850" b="1">
                <a:solidFill>
                  <a:srgbClr val="A33607"/>
                </a:solidFill>
              </a:rPr>
              <a:t>• 平凡→生动2</a:t>
            </a:r>
          </a:p>
          <a:p>
            <a:pPr>
              <a:spcBef>
                <a:spcPts val="100"/>
              </a:spcBef>
            </a:pPr>
            <a:r>
              <a:rPr sz="1550">
                <a:solidFill>
                  <a:srgbClr val="556075"/>
                </a:solidFill>
              </a:rPr>
              <a:t>   happy→a wave of relief / sad→I felt utterly deflated</a:t>
            </a:r>
          </a:p>
          <a:p>
            <a:pPr>
              <a:spcBef>
                <a:spcPts val="1000"/>
              </a:spcBef>
            </a:pPr>
            <a:r>
              <a:rPr sz="1850" b="1">
                <a:solidFill>
                  <a:srgbClr val="A33607"/>
                </a:solidFill>
              </a:rPr>
              <a:t>• 平凡→生动3</a:t>
            </a:r>
          </a:p>
          <a:p>
            <a:pPr>
              <a:spcBef>
                <a:spcPts val="100"/>
              </a:spcBef>
            </a:pPr>
            <a:r>
              <a:rPr sz="1550">
                <a:solidFill>
                  <a:srgbClr val="556075"/>
                </a:solidFill>
              </a:rPr>
              <a:t>   difficult→genuinely challenging / interesting→surprisingly captivating</a:t>
            </a:r>
          </a:p>
          <a:p>
            <a:pPr>
              <a:spcBef>
                <a:spcPts val="1000"/>
              </a:spcBef>
            </a:pPr>
            <a:r>
              <a:rPr sz="1850" b="1">
                <a:solidFill>
                  <a:srgbClr val="A33607"/>
                </a:solidFill>
              </a:rPr>
              <a:t>• 动词升级</a:t>
            </a:r>
          </a:p>
          <a:p>
            <a:pPr>
              <a:spcBef>
                <a:spcPts val="100"/>
              </a:spcBef>
            </a:pPr>
            <a:r>
              <a:rPr sz="1550">
                <a:solidFill>
                  <a:srgbClr val="556075"/>
                </a:solidFill>
              </a:rPr>
              <a:t>   say→articulate/reflect on / think→realise/recognise / do→tackle/navigate</a:t>
            </a:r>
          </a:p>
          <a:p>
            <a:pPr>
              <a:spcBef>
                <a:spcPts val="1000"/>
              </a:spcBef>
            </a:pPr>
            <a:r>
              <a:rPr sz="1850" b="1">
                <a:solidFill>
                  <a:srgbClr val="A33607"/>
                </a:solidFill>
              </a:rPr>
              <a:t>• 句式升级</a:t>
            </a:r>
          </a:p>
          <a:p>
            <a:pPr>
              <a:spcBef>
                <a:spcPts val="100"/>
              </a:spcBef>
            </a:pPr>
            <a:r>
              <a:rPr sz="1550">
                <a:solidFill>
                  <a:srgbClr val="556075"/>
                </a:solidFill>
              </a:rPr>
              <a:t>   简单句→It was only when...that I realised... / Despite...I managed to...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情感弧练习：普通故事变精彩</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以下是一个普通叙述，用情感弧框架改写：
"I once had a job interview. I was nervous. I answered the questions. I got the job."
任务：用情感弧（B-C-Climax-R-Reflection）把这4句话扩展到约8句话（45秒）</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B: It was about three years ago, just before I graduated. I'd applied to a company I genuinely admired, barely expecting a response.
C: When the interview email arrived, I was simultaneously thrilled and terrified — I hadn't interviewed in a professional setting before.
Climax: There was one question that completely threw me: "What's your biggest weakness?"
R: Somehow I managed to give an honest answer about overthinking and how I'd been addressing it. That seemed to resonate.
Reflection: I got the offer a week later. Looking back, it taught me that authenticity in interviews often works better than rehearsed answers.</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对比：4句平淡vs8句有情感弧——后者明显更吸引人，同时展示了更多词汇和语法</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故事叙述的时间词使用</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以下时间词按故事阶段归类，用于增强叙事流畅度：
开始：It was around... / At the time... / Back then...
发展：As time went on... / Eventually... / At some point...
高潮：The moment that really stands out... / What I'll never forget is...
结果：In the end... / As it turned out... / Ultimately...
反思：Looking back... / In hindsight... / To this day...</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这些时间词同时充当CC的连接词功能——既推进故事又保持连贯性
考场建议：每段故事至少用5个不同的时间词</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时间词是CC分的隐性加分项——考官会感受到叙述的流畅性，但不一定明确指出</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叙述类核心词汇</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Narrative Core Vocabulary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经历叙述动词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encounter</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遭遇/碰到（I encountered an unexpected problem）</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overcome</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克服（I eventually overcame my fear of public speaking）</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realise</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意识到（I suddenly realised that...）</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reflect on</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反思（Looking back, I've often reflected on...）</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persevere</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坚持（I persevered despite the setbacks）</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transform</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转变（That experience transformed my outlook completely）</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instil</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培养/灌输（It instilled a sense of resilience in me）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物品与活动词汇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cherish</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珍视（I cherish this more than any other possession）</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sentimental value</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情感价值（it holds enormous sentimental value）</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indispensable</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不可或缺的（it's become indispensable to my daily life）</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therapeutic</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有治愈效果的（I find it genuinely therapeutic）</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invigorating</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令人振奋的（the exercise is incredibly invigorating）</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absorbing</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令人全神贯注的（I find it completely absorbing）</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derive pleasure from</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从...中获得乐趣（I derive real pleasure from...）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情感弧词汇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thrilled</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兴奋/激动（I was absolutely thrilled when...）</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dread</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害怕/恐惧（I was dreading the moment when...）</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on edge</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紧张不安（I was on edge for the entire...）</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relief</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释然（a wave of relief washed over me）</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proud</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自豪（I felt an overwhelming sense of pride）</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in hindsight</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事后来看（In hindsight, I should have...）</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formative</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影响深远的（it was a truly formative experience）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三类卡片快速对比</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Rectangle 6"/>
          <p:cNvSpPr/>
          <p:nvPr/>
        </p:nvSpPr>
        <p:spPr>
          <a:xfrm>
            <a:off x="548640" y="1188720"/>
            <a:ext cx="5486400" cy="4572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经历类（Experience）</a:t>
            </a:r>
          </a:p>
        </p:txBody>
      </p:sp>
      <p:sp>
        <p:nvSpPr>
          <p:cNvPr id="9" name="TextBox 8"/>
          <p:cNvSpPr txBox="1"/>
          <p:nvPr/>
        </p:nvSpPr>
        <p:spPr>
          <a:xfrm>
            <a:off x="640080" y="1783080"/>
            <a:ext cx="5349240" cy="4480560"/>
          </a:xfrm>
          <a:prstGeom prst="rect">
            <a:avLst/>
          </a:prstGeom>
          <a:noFill/>
        </p:spPr>
        <p:txBody>
          <a:bodyPr wrap="square">
            <a:spAutoFit/>
          </a:bodyPr>
          <a:lstStyle/>
          <a:p>
            <a:r>
              <a:rPr sz="1650" b="1">
                <a:solidFill>
                  <a:srgbClr val="A33607"/>
                </a:solidFill>
              </a:rPr>
              <a:t>• 框架</a:t>
            </a:r>
          </a:p>
          <a:p>
            <a:pPr>
              <a:spcBef>
                <a:spcPts val="100"/>
              </a:spcBef>
            </a:pPr>
            <a:r>
              <a:rPr sz="1350">
                <a:solidFill>
                  <a:srgbClr val="556075"/>
                </a:solidFill>
              </a:rPr>
              <a:t>   STAR：背景→困难→行动→结果+反思</a:t>
            </a:r>
          </a:p>
          <a:p>
            <a:pPr>
              <a:spcBef>
                <a:spcPts val="700"/>
              </a:spcBef>
            </a:pPr>
            <a:r>
              <a:rPr sz="1650" b="1">
                <a:solidFill>
                  <a:srgbClr val="A33607"/>
                </a:solidFill>
              </a:rPr>
              <a:t>• 核心</a:t>
            </a:r>
          </a:p>
          <a:p>
            <a:pPr>
              <a:spcBef>
                <a:spcPts val="100"/>
              </a:spcBef>
            </a:pPr>
            <a:r>
              <a:rPr sz="1350">
                <a:solidFill>
                  <a:srgbClr val="556075"/>
                </a:solidFill>
              </a:rPr>
              <a:t>   故事情感弧，有戏剧性时刻</a:t>
            </a:r>
          </a:p>
          <a:p>
            <a:pPr>
              <a:spcBef>
                <a:spcPts val="700"/>
              </a:spcBef>
            </a:pPr>
            <a:r>
              <a:rPr sz="1650" b="1">
                <a:solidFill>
                  <a:srgbClr val="A33607"/>
                </a:solidFill>
              </a:rPr>
              <a:t>• 词汇</a:t>
            </a:r>
          </a:p>
          <a:p>
            <a:pPr>
              <a:spcBef>
                <a:spcPts val="100"/>
              </a:spcBef>
            </a:pPr>
            <a:r>
              <a:rPr sz="1350">
                <a:solidFill>
                  <a:srgbClr val="556075"/>
                </a:solidFill>
              </a:rPr>
              <a:t>   overcome/persevere/transform/formative</a:t>
            </a:r>
          </a:p>
          <a:p>
            <a:pPr>
              <a:spcBef>
                <a:spcPts val="700"/>
              </a:spcBef>
            </a:pPr>
            <a:r>
              <a:rPr sz="1650" b="1">
                <a:solidFill>
                  <a:srgbClr val="A33607"/>
                </a:solidFill>
              </a:rPr>
              <a:t>• 时态</a:t>
            </a:r>
          </a:p>
          <a:p>
            <a:pPr>
              <a:spcBef>
                <a:spcPts val="100"/>
              </a:spcBef>
            </a:pPr>
            <a:r>
              <a:rPr sz="1350">
                <a:solidFill>
                  <a:srgbClr val="556075"/>
                </a:solidFill>
              </a:rPr>
              <a:t>   过去时叙事+现在完成时说影响</a:t>
            </a:r>
          </a:p>
        </p:txBody>
      </p:sp>
      <p:sp>
        <p:nvSpPr>
          <p:cNvPr id="10" name="Rectangle 9"/>
          <p:cNvSpPr/>
          <p:nvPr/>
        </p:nvSpPr>
        <p:spPr>
          <a:xfrm>
            <a:off x="6355079" y="1188720"/>
            <a:ext cx="5486400" cy="4572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物品类（Object）+ 活动类（Activity）</a:t>
            </a:r>
          </a:p>
        </p:txBody>
      </p:sp>
      <p:sp>
        <p:nvSpPr>
          <p:cNvPr id="12" name="TextBox 11"/>
          <p:cNvSpPr txBox="1"/>
          <p:nvPr/>
        </p:nvSpPr>
        <p:spPr>
          <a:xfrm>
            <a:off x="6446519" y="1783080"/>
            <a:ext cx="5349240" cy="4480560"/>
          </a:xfrm>
          <a:prstGeom prst="rect">
            <a:avLst/>
          </a:prstGeom>
          <a:noFill/>
        </p:spPr>
        <p:txBody>
          <a:bodyPr wrap="square">
            <a:spAutoFit/>
          </a:bodyPr>
          <a:lstStyle/>
          <a:p>
            <a:r>
              <a:rPr sz="1650" b="1">
                <a:solidFill>
                  <a:srgbClr val="A33607"/>
                </a:solidFill>
              </a:rPr>
              <a:t>• 物品框架</a:t>
            </a:r>
          </a:p>
          <a:p>
            <a:pPr>
              <a:spcBef>
                <a:spcPts val="100"/>
              </a:spcBef>
            </a:pPr>
            <a:r>
              <a:rPr sz="1350">
                <a:solidFill>
                  <a:srgbClr val="556075"/>
                </a:solidFill>
              </a:rPr>
              <a:t>   功能维度+情感维度，双层描述</a:t>
            </a:r>
          </a:p>
          <a:p>
            <a:pPr>
              <a:spcBef>
                <a:spcPts val="700"/>
              </a:spcBef>
            </a:pPr>
            <a:r>
              <a:rPr sz="1650" b="1">
                <a:solidFill>
                  <a:srgbClr val="A33607"/>
                </a:solidFill>
              </a:rPr>
              <a:t>• 物品核心</a:t>
            </a:r>
          </a:p>
          <a:p>
            <a:pPr>
              <a:spcBef>
                <a:spcPts val="100"/>
              </a:spcBef>
            </a:pPr>
            <a:r>
              <a:rPr sz="1350">
                <a:solidFill>
                  <a:srgbClr val="556075"/>
                </a:solidFill>
              </a:rPr>
              <a:t>   情感意义&gt;外观描述</a:t>
            </a:r>
          </a:p>
          <a:p>
            <a:pPr>
              <a:spcBef>
                <a:spcPts val="700"/>
              </a:spcBef>
            </a:pPr>
            <a:r>
              <a:rPr sz="1650" b="1">
                <a:solidFill>
                  <a:srgbClr val="A33607"/>
                </a:solidFill>
              </a:rPr>
              <a:t>• 活动框架</a:t>
            </a:r>
          </a:p>
          <a:p>
            <a:pPr>
              <a:spcBef>
                <a:spcPts val="100"/>
              </a:spcBef>
            </a:pPr>
            <a:r>
              <a:rPr sz="1350">
                <a:solidFill>
                  <a:srgbClr val="556075"/>
                </a:solidFill>
              </a:rPr>
              <a:t>   过程描述（before/during/after）</a:t>
            </a:r>
          </a:p>
          <a:p>
            <a:pPr>
              <a:spcBef>
                <a:spcPts val="700"/>
              </a:spcBef>
            </a:pPr>
            <a:r>
              <a:rPr sz="1650" b="1">
                <a:solidFill>
                  <a:srgbClr val="A33607"/>
                </a:solidFill>
              </a:rPr>
              <a:t>• 活动核心</a:t>
            </a:r>
          </a:p>
          <a:p>
            <a:pPr>
              <a:spcBef>
                <a:spcPts val="100"/>
              </a:spcBef>
            </a:pPr>
            <a:r>
              <a:rPr sz="1350">
                <a:solidFill>
                  <a:srgbClr val="556075"/>
                </a:solidFill>
              </a:rPr>
              <a:t>   高峰时刻+两层Why（直接+深层）</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06</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Part 2 故事叙述系统</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Part 2 Storytelling System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Step 1-3：故事选材</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8016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A33607"/>
                </a:solidFill>
                <a:latin typeface="Calibri"/>
              </a:rPr>
              <a:t>选细节丰富的经历</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素材要有：明确时间+具体人物+情感起伏+清晰结果</a:t>
            </a:r>
          </a:p>
        </p:txBody>
      </p:sp>
      <p:sp>
        <p:nvSpPr>
          <p:cNvPr id="13" name="Rounded Rectangle 12"/>
          <p:cNvSpPr/>
          <p:nvPr/>
        </p:nvSpPr>
        <p:spPr>
          <a:xfrm>
            <a:off x="548640" y="233172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A33607"/>
                </a:solidFill>
                <a:latin typeface="Calibri"/>
              </a:rPr>
              <a:t>避免虚构</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用真实素材——真实的情感描述考官感受得到，虚构的容易前后矛盾</a:t>
            </a:r>
          </a:p>
        </p:txBody>
      </p:sp>
      <p:sp>
        <p:nvSpPr>
          <p:cNvPr id="18" name="Rounded Rectangle 17"/>
          <p:cNvSpPr/>
          <p:nvPr/>
        </p:nvSpPr>
        <p:spPr>
          <a:xfrm>
            <a:off x="548640" y="3383279"/>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TextBox 19"/>
          <p:cNvSpPr txBox="1"/>
          <p:nvPr/>
        </p:nvSpPr>
        <p:spPr>
          <a:xfrm>
            <a:off x="1417320" y="3383279"/>
            <a:ext cx="10058400" cy="411480"/>
          </a:xfrm>
          <a:prstGeom prst="rect">
            <a:avLst/>
          </a:prstGeom>
          <a:noFill/>
        </p:spPr>
        <p:txBody>
          <a:bodyPr wrap="square" anchor="t">
            <a:spAutoFit/>
          </a:bodyPr>
          <a:lstStyle/>
          <a:p>
            <a:pPr algn="l"/>
            <a:r>
              <a:rPr sz="1600" b="1" i="0">
                <a:solidFill>
                  <a:srgbClr val="A33607"/>
                </a:solidFill>
                <a:latin typeface="Calibri"/>
              </a:rPr>
              <a:t>备用素材</a:t>
            </a:r>
          </a:p>
        </p:txBody>
      </p:sp>
      <p:sp>
        <p:nvSpPr>
          <p:cNvPr id="21" name="TextBox 20"/>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每类题型（经历/物品/活动）准备3个备用故事，考场随机应对</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Step 4-6：叙述执行</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8016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A33607"/>
                </a:solidFill>
                <a:latin typeface="Calibri"/>
              </a:rPr>
              <a:t>Introduction定基调</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第一句话：时间+背景+主题，奠定故事调性</a:t>
            </a:r>
          </a:p>
        </p:txBody>
      </p:sp>
      <p:sp>
        <p:nvSpPr>
          <p:cNvPr id="13" name="Rounded Rectangle 12"/>
          <p:cNvSpPr/>
          <p:nvPr/>
        </p:nvSpPr>
        <p:spPr>
          <a:xfrm>
            <a:off x="548640" y="233172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A33607"/>
                </a:solidFill>
                <a:latin typeface="Calibri"/>
              </a:rPr>
              <a:t>高峰时刻放大</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用最多的词描述最有趣的瞬间——这是LR展示机会</a:t>
            </a:r>
          </a:p>
        </p:txBody>
      </p:sp>
      <p:sp>
        <p:nvSpPr>
          <p:cNvPr id="18" name="Rounded Rectangle 17"/>
          <p:cNvSpPr/>
          <p:nvPr/>
        </p:nvSpPr>
        <p:spPr>
          <a:xfrm>
            <a:off x="548640" y="3383279"/>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TextBox 19"/>
          <p:cNvSpPr txBox="1"/>
          <p:nvPr/>
        </p:nvSpPr>
        <p:spPr>
          <a:xfrm>
            <a:off x="1417320" y="3383279"/>
            <a:ext cx="10058400" cy="411480"/>
          </a:xfrm>
          <a:prstGeom prst="rect">
            <a:avLst/>
          </a:prstGeom>
          <a:noFill/>
        </p:spPr>
        <p:txBody>
          <a:bodyPr wrap="square" anchor="t">
            <a:spAutoFit/>
          </a:bodyPr>
          <a:lstStyle/>
          <a:p>
            <a:pPr algn="l"/>
            <a:r>
              <a:rPr sz="1600" b="1" i="0">
                <a:solidFill>
                  <a:srgbClr val="A33607"/>
                </a:solidFill>
                <a:latin typeface="Calibri"/>
              </a:rPr>
              <a:t>感受必须有</a:t>
            </a:r>
          </a:p>
        </p:txBody>
      </p:sp>
      <p:sp>
        <p:nvSpPr>
          <p:cNvPr id="21" name="TextBox 20"/>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每段故事必须有至少2句情感描述——不能只描述事实</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Step 7-8：收尾与反思</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8016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A33607"/>
                </a:solidFill>
                <a:latin typeface="Calibri"/>
              </a:rPr>
              <a:t>Reflection必须有</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Looking back/In hindsight——这部分展示深度思考能力，影响GRA分</a:t>
            </a:r>
          </a:p>
        </p:txBody>
      </p:sp>
      <p:sp>
        <p:nvSpPr>
          <p:cNvPr id="13" name="Rounded Rectangle 12"/>
          <p:cNvSpPr/>
          <p:nvPr/>
        </p:nvSpPr>
        <p:spPr>
          <a:xfrm>
            <a:off x="548640" y="233172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TextBox 14"/>
          <p:cNvSpPr txBox="1"/>
          <p:nvPr/>
        </p:nvSpPr>
        <p:spPr>
          <a:xfrm>
            <a:off x="1417320" y="2331720"/>
            <a:ext cx="10058400" cy="411480"/>
          </a:xfrm>
          <a:prstGeom prst="rect">
            <a:avLst/>
          </a:prstGeom>
          <a:noFill/>
        </p:spPr>
        <p:txBody>
          <a:bodyPr wrap="square" anchor="t">
            <a:spAutoFit/>
          </a:bodyPr>
          <a:lstStyle/>
          <a:p>
            <a:pPr algn="l"/>
            <a:r>
              <a:rPr sz="1600" b="1" i="0">
                <a:solidFill>
                  <a:srgbClr val="A33607"/>
                </a:solidFill>
                <a:latin typeface="Calibri"/>
              </a:rPr>
              <a:t>收尾要干净</a:t>
            </a:r>
          </a:p>
        </p:txBody>
      </p:sp>
      <p:sp>
        <p:nvSpPr>
          <p:cNvPr id="16" name="TextBox 15"/>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一句完整的总结句，不要话说一半就停：That's why this experience/object/activity...has been so significant to me.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物品题Band 7示范：礼物类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题目："Describe a gift you received that was important to you."</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The gift that comes to mind is a wristwatch my father gave me when I started university. It's not an expensive brand, but it's beautifully simple — a silver-faced watch with a leather strap that I've replaced three times now. My father gave it to me the morning I left for Shenzhen, and he said something I've never forgotten: "Time is the only resource you can't earn back." I wear it every day, and every time I check the time, I'm reminded of that moment. Over the years, it's survived job interviews, late-night study sessions, and my first board meeting. More than a timekeeping device, it's a kind of anchor — a physical reminder of the values he tried to instil in me.</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情感维度：anchor / physical reminder / values——三层情感意义</a:t>
            </a:r>
          </a:p>
          <a:p>
            <a:pPr>
              <a:spcBef>
                <a:spcPts val="700"/>
              </a:spcBef>
            </a:pPr>
            <a:r>
              <a:rPr sz="1200">
                <a:solidFill>
                  <a:srgbClr val="1E293B"/>
                </a:solidFill>
              </a:rPr>
              <a:t>▸ 具体细节：leather strap replaced three times / survived job interviews——让物品有历史感</a:t>
            </a:r>
          </a:p>
          <a:p>
            <a:pPr>
              <a:spcBef>
                <a:spcPts val="700"/>
              </a:spcBef>
            </a:pPr>
            <a:r>
              <a:rPr sz="1200">
                <a:solidFill>
                  <a:srgbClr val="1E293B"/>
                </a:solidFill>
              </a:rPr>
              <a:t>▸ 直接引语：what he said——让故事更生动，同时展示记忆中的对话</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活动题Band 7示范：爱好类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题目："Describe an activity that helps you stay healthy."</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I'd like to talk about early morning hiking, which I started about eighteen months ago largely by accident — a colleague convinced me to join a weekend hike up Wutong Mountain, and I was hooked immediately. I try to go at least twice a month, usually setting off around six in the morning to catch the cooler temperatures. The physical challenge is genuinely demanding — it takes about two hours to reach the summit — but the effort feels worthwhile the moment you get to the top and see the city laid out below you. There's something almost transcendent about being in nature while the city wakes up beneath you. Beyond the physical benefits, I've found that hiking gives me clarity of thought in a way that gym workouts never quite manage. I come away from it with a kind of mental spaciousness that lasts the entire day.</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过程词汇：started→try to go→setting off→takes about two hours→reach the summit</a:t>
            </a:r>
          </a:p>
          <a:p>
            <a:pPr>
              <a:spcBef>
                <a:spcPts val="700"/>
              </a:spcBef>
            </a:pPr>
            <a:r>
              <a:rPr sz="1200">
                <a:solidFill>
                  <a:srgbClr val="1E293B"/>
                </a:solidFill>
              </a:rPr>
              <a:t>▸ GRA：the moment you从句/laid out形容词短语/while时间从句</a:t>
            </a:r>
          </a:p>
          <a:p>
            <a:pPr>
              <a:spcBef>
                <a:spcPts val="700"/>
              </a:spcBef>
            </a:pPr>
            <a:r>
              <a:rPr sz="1200">
                <a:solidFill>
                  <a:srgbClr val="1E293B"/>
                </a:solidFill>
              </a:rPr>
              <a:t>▸ 情感词汇：transcendent/clarity of thought/mental spaciousness——高分表达</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故事叙述：流水账 vs 情感弧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流水账（6分）</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情感弧（7分+）</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"I had a difficult exam. I studied hard. I passed."</a:t>
            </a:r>
          </a:p>
          <a:p>
            <a:pPr>
              <a:spcBef>
                <a:spcPts val="700"/>
              </a:spcBef>
            </a:pPr>
            <a:r>
              <a:rPr sz="1350">
                <a:solidFill>
                  <a:srgbClr val="C02A2A"/>
                </a:solidFill>
              </a:rPr>
              <a:t>✗ 没有情感，没有细节，没有反思</a:t>
            </a:r>
          </a:p>
          <a:p>
            <a:pPr>
              <a:spcBef>
                <a:spcPts val="700"/>
              </a:spcBef>
            </a:pPr>
            <a:r>
              <a:rPr sz="1350">
                <a:solidFill>
                  <a:srgbClr val="C02A2A"/>
                </a:solidFill>
              </a:rPr>
              <a:t>✗ 只有事实，没有故事</a:t>
            </a:r>
          </a:p>
          <a:p>
            <a:pPr>
              <a:spcBef>
                <a:spcPts val="700"/>
              </a:spcBef>
            </a:pPr>
            <a:r>
              <a:rPr sz="1350">
                <a:solidFill>
                  <a:srgbClr val="C02A2A"/>
                </a:solidFill>
              </a:rPr>
              <a:t>✗ 词汇重复（studied/hard/pass）</a:t>
            </a:r>
          </a:p>
          <a:p>
            <a:pPr>
              <a:spcBef>
                <a:spcPts val="700"/>
              </a:spcBef>
            </a:pPr>
            <a:r>
              <a:rPr sz="1350">
                <a:solidFill>
                  <a:srgbClr val="C02A2A"/>
                </a:solidFill>
              </a:rPr>
              <a:t>✗ 考官感觉枯燥，记不住</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"It was the most stressful week of my academic life..."</a:t>
            </a:r>
          </a:p>
          <a:p>
            <a:pPr>
              <a:spcBef>
                <a:spcPts val="700"/>
              </a:spcBef>
            </a:pPr>
            <a:r>
              <a:rPr sz="1350">
                <a:solidFill>
                  <a:srgbClr val="1B7A3D"/>
                </a:solidFill>
              </a:rPr>
              <a:t>✓ 有背景、有挣扎、有高潮、有反思</a:t>
            </a:r>
          </a:p>
          <a:p>
            <a:pPr>
              <a:spcBef>
                <a:spcPts val="700"/>
              </a:spcBef>
            </a:pPr>
            <a:r>
              <a:rPr sz="1350">
                <a:solidFill>
                  <a:srgbClr val="1B7A3D"/>
                </a:solidFill>
              </a:rPr>
              <a:t>✓ 感官细节让考官"看到"故事</a:t>
            </a:r>
          </a:p>
          <a:p>
            <a:pPr>
              <a:spcBef>
                <a:spcPts val="700"/>
              </a:spcBef>
            </a:pPr>
            <a:r>
              <a:rPr sz="1350">
                <a:solidFill>
                  <a:srgbClr val="1B7A3D"/>
                </a:solidFill>
              </a:rPr>
              <a:t>✓ 词汇丰富（exhausted/persevered/overwhelming relief）</a:t>
            </a:r>
          </a:p>
          <a:p>
            <a:pPr>
              <a:spcBef>
                <a:spcPts val="700"/>
              </a:spcBef>
            </a:pPr>
            <a:r>
              <a:rPr sz="1350">
                <a:solidFill>
                  <a:srgbClr val="1B7A3D"/>
                </a:solidFill>
              </a:rPr>
              <a:t>✓ 考官感觉有趣，能产生共鸣</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物品描述：外观清单 vs 情感意义</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外观清单（6分）</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情感意义（7分+）</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"It's a blue bag. It has pockets. I use it every day."</a:t>
            </a:r>
          </a:p>
          <a:p>
            <a:pPr>
              <a:spcBef>
                <a:spcPts val="700"/>
              </a:spcBef>
            </a:pPr>
            <a:r>
              <a:rPr sz="1350">
                <a:solidFill>
                  <a:srgbClr val="C02A2A"/>
                </a:solidFill>
              </a:rPr>
              <a:t>✗ 只说外观和用途，没有情感</a:t>
            </a:r>
          </a:p>
          <a:p>
            <a:pPr>
              <a:spcBef>
                <a:spcPts val="700"/>
              </a:spcBef>
            </a:pPr>
            <a:r>
              <a:rPr sz="1350">
                <a:solidFill>
                  <a:srgbClr val="C02A2A"/>
                </a:solidFill>
              </a:rPr>
              <a:t>✗ "It's very useful."——最浅层的评价</a:t>
            </a:r>
          </a:p>
          <a:p>
            <a:pPr>
              <a:spcBef>
                <a:spcPts val="700"/>
              </a:spcBef>
            </a:pPr>
            <a:r>
              <a:rPr sz="1350">
                <a:solidFill>
                  <a:srgbClr val="C02A2A"/>
                </a:solidFill>
              </a:rPr>
              <a:t>✗ 没有来源故事，没有情感联系</a:t>
            </a:r>
          </a:p>
          <a:p>
            <a:pPr>
              <a:spcBef>
                <a:spcPts val="700"/>
              </a:spcBef>
            </a:pPr>
            <a:r>
              <a:rPr sz="1350">
                <a:solidFill>
                  <a:srgbClr val="C02A2A"/>
                </a:solidFill>
              </a:rPr>
              <a:t>✗ LR词汇单调</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"It was a gift from my mother when I left for university..."</a:t>
            </a:r>
          </a:p>
          <a:p>
            <a:pPr>
              <a:spcBef>
                <a:spcPts val="700"/>
              </a:spcBef>
            </a:pPr>
            <a:r>
              <a:rPr sz="1350">
                <a:solidFill>
                  <a:srgbClr val="1B7A3D"/>
                </a:solidFill>
              </a:rPr>
              <a:t>✓ 功能+情感双维度</a:t>
            </a:r>
          </a:p>
          <a:p>
            <a:pPr>
              <a:spcBef>
                <a:spcPts val="700"/>
              </a:spcBef>
            </a:pPr>
            <a:r>
              <a:rPr sz="1350">
                <a:solidFill>
                  <a:srgbClr val="1B7A3D"/>
                </a:solidFill>
              </a:rPr>
              <a:t>✓ "it's become a kind of anchor"——情感比喻</a:t>
            </a:r>
          </a:p>
          <a:p>
            <a:pPr>
              <a:spcBef>
                <a:spcPts val="700"/>
              </a:spcBef>
            </a:pPr>
            <a:r>
              <a:rPr sz="1350">
                <a:solidFill>
                  <a:srgbClr val="1B7A3D"/>
                </a:solidFill>
              </a:rPr>
              <a:t>✓ 有具体来源和场景故事</a:t>
            </a:r>
          </a:p>
          <a:p>
            <a:pPr>
              <a:spcBef>
                <a:spcPts val="700"/>
              </a:spcBef>
            </a:pPr>
            <a:r>
              <a:rPr sz="1350">
                <a:solidFill>
                  <a:srgbClr val="1B7A3D"/>
                </a:solidFill>
              </a:rPr>
              <a:t>✓ LR丰富：cherish/sentimental/anchor/tangible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07</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课堂练习：Part 2 综合训练</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Classroom Drills: Part 2 Full Practice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练习1：STAR框架速写</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选一个经历，1分钟内用STAR框架写关键词笔记</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"Describe a time when something went wrong but you managed to fix it."</a:t>
            </a:r>
          </a:p>
          <a:p>
            <a:pPr>
              <a:spcBef>
                <a:spcPts val="1100"/>
              </a:spcBef>
            </a:pPr>
            <a:r>
              <a:rPr sz="1500">
                <a:solidFill>
                  <a:srgbClr val="1E293B"/>
                </a:solidFill>
              </a:rPr>
              <a:t>▢ S（背景）：2个词  T（困难）：2个词  A（行动）：2个词  R（结果+感受）：2个词</a:t>
            </a:r>
          </a:p>
          <a:p>
            <a:pPr>
              <a:spcBef>
                <a:spcPts val="1100"/>
              </a:spcBef>
            </a:pPr>
            <a:r>
              <a:rPr sz="1500">
                <a:solidFill>
                  <a:srgbClr val="1E293B"/>
                </a:solidFill>
              </a:rPr>
              <a:t>▢ 然后用这8个词，说完整的故事（计时60秒）</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练习2：物品情感升级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选一件你拥有的物品，完成功能+情感双维度描述</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"I use it for [功能]... But beyond that, it [情感意义]..."</a:t>
            </a:r>
          </a:p>
          <a:p>
            <a:pPr>
              <a:spcBef>
                <a:spcPts val="1100"/>
              </a:spcBef>
            </a:pPr>
            <a:r>
              <a:rPr sz="1500">
                <a:solidFill>
                  <a:srgbClr val="1E293B"/>
                </a:solidFill>
              </a:rPr>
              <a:t>▢ 情感词汇：cherish/sentimental/symbol/reminds me of/indispensable</a:t>
            </a:r>
          </a:p>
          <a:p>
            <a:pPr>
              <a:spcBef>
                <a:spcPts val="1100"/>
              </a:spcBef>
            </a:pPr>
            <a:r>
              <a:rPr sz="1500">
                <a:solidFill>
                  <a:srgbClr val="1E293B"/>
                </a:solidFill>
              </a:rPr>
              <a:t>▢ 说完后检查：情感描述是否超过了30秒？如果没有，继续扩展</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练习3：活动过程词汇替换</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以下活动描述，把划线词替换成更丰富的词汇</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"I like running. I start running and then run for an hour. It is good for me."</a:t>
            </a:r>
          </a:p>
          <a:p>
            <a:pPr>
              <a:spcBef>
                <a:spcPts val="1100"/>
              </a:spcBef>
            </a:pPr>
            <a:r>
              <a:rPr sz="1500">
                <a:solidFill>
                  <a:srgbClr val="1E293B"/>
                </a:solidFill>
              </a:rPr>
              <a:t>▢ 替换：like→be passionate about / start→begin by warming up / run→maintaining a steady pace / good→invigorating</a:t>
            </a:r>
          </a:p>
          <a:p>
            <a:pPr>
              <a:spcBef>
                <a:spcPts val="1100"/>
              </a:spcBef>
            </a:pPr>
            <a:r>
              <a:rPr sz="1500">
                <a:solidFill>
                  <a:srgbClr val="1E293B"/>
                </a:solidFill>
              </a:rPr>
              <a:t>▢ 说出改写后的完整句子</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练习4：情感弧扩展练习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把以下4个词语扩展为有情感弧的故事（计时90秒）</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"exam / nervous / passed / relieved"——扩展成完整的经历叙述</a:t>
            </a:r>
          </a:p>
          <a:p>
            <a:pPr>
              <a:spcBef>
                <a:spcPts val="1100"/>
              </a:spcBef>
            </a:pPr>
            <a:r>
              <a:rPr sz="1500">
                <a:solidFill>
                  <a:srgbClr val="1E293B"/>
                </a:solidFill>
              </a:rPr>
              <a:t>▢ "gift / grandfather / university / cherish"——扩展成有情感的物品故事</a:t>
            </a:r>
          </a:p>
          <a:p>
            <a:pPr>
              <a:spcBef>
                <a:spcPts val="1100"/>
              </a:spcBef>
            </a:pPr>
            <a:r>
              <a:rPr sz="1500">
                <a:solidFill>
                  <a:srgbClr val="1E293B"/>
                </a:solidFill>
              </a:rPr>
              <a:t>▢ 用以下句式触发情感弧：The moment that really stands out is... / Looking back...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练习5：完整Part 2计时练习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以下题目，1分钟准备+2分钟发言，录音评估</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"Describe something you do regularly that is good for your health."（活动题）</a:t>
            </a:r>
          </a:p>
          <a:p>
            <a:pPr>
              <a:spcBef>
                <a:spcPts val="1100"/>
              </a:spcBef>
            </a:pPr>
            <a:r>
              <a:rPr sz="1500">
                <a:solidFill>
                  <a:srgbClr val="1E293B"/>
                </a:solidFill>
              </a:rPr>
              <a:t>▢ "Describe an object that has sentimental value to you."（物品题）</a:t>
            </a:r>
          </a:p>
          <a:p>
            <a:pPr>
              <a:spcBef>
                <a:spcPts val="1100"/>
              </a:spcBef>
            </a:pPr>
            <a:r>
              <a:rPr sz="1500">
                <a:solidFill>
                  <a:srgbClr val="1E293B"/>
                </a:solidFill>
              </a:rPr>
              <a:t>▢ 评估清单：① 说满1分45秒+ ② 所有提示点覆盖 ③ 有具体细节 ④ 有情感描述 ⑤ 有反思句</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08</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Part 2 叙述误区</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Storytelling Pitfalls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7A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000" b="1" i="0">
                <a:solidFill>
                  <a:srgbClr val="FFFFFF"/>
                </a:solidFill>
                <a:latin typeface="Calibri"/>
              </a:rPr>
              <a:t>🎯 深圳学生高频痛点 · 叙述类题目的三大误区</a:t>
            </a:r>
          </a:p>
        </p:txBody>
      </p:sp>
      <p:sp>
        <p:nvSpPr>
          <p:cNvPr id="6" name="TextBox 5"/>
          <p:cNvSpPr txBox="1"/>
          <p:nvPr/>
        </p:nvSpPr>
        <p:spPr>
          <a:xfrm>
            <a:off x="548640" y="1143000"/>
            <a:ext cx="5486400" cy="411480"/>
          </a:xfrm>
          <a:prstGeom prst="rect">
            <a:avLst/>
          </a:prstGeom>
          <a:noFill/>
        </p:spPr>
        <p:txBody>
          <a:bodyPr wrap="square" anchor="t">
            <a:spAutoFit/>
          </a:bodyPr>
          <a:lstStyle/>
          <a:p>
            <a:pPr algn="l"/>
            <a:r>
              <a:rPr sz="1500" b="1" i="0">
                <a:solidFill>
                  <a:srgbClr val="C02A2A"/>
                </a:solidFill>
                <a:latin typeface="Calibri"/>
              </a:rPr>
              <a:t>❌ 常见误区</a:t>
            </a:r>
          </a:p>
        </p:txBody>
      </p:sp>
      <p:sp>
        <p:nvSpPr>
          <p:cNvPr id="7" name="TextBox 6"/>
          <p:cNvSpPr txBox="1"/>
          <p:nvPr/>
        </p:nvSpPr>
        <p:spPr>
          <a:xfrm>
            <a:off x="548640" y="1645920"/>
            <a:ext cx="5486400" cy="4572000"/>
          </a:xfrm>
          <a:prstGeom prst="rect">
            <a:avLst/>
          </a:prstGeom>
          <a:noFill/>
        </p:spPr>
        <p:txBody>
          <a:bodyPr wrap="square">
            <a:spAutoFit/>
          </a:bodyPr>
          <a:lstStyle/>
          <a:p>
            <a:r>
              <a:rPr sz="1400">
                <a:solidFill>
                  <a:srgbClr val="C02A2A"/>
                </a:solidFill>
              </a:rPr>
              <a:t>✗ 误区1：故事没有中心——说了很多事但没有一个核心时刻，考官听完不知道重点是什么</a:t>
            </a:r>
          </a:p>
          <a:p>
            <a:pPr>
              <a:spcBef>
                <a:spcPts val="800"/>
              </a:spcBef>
            </a:pPr>
            <a:r>
              <a:rPr sz="1400">
                <a:solidFill>
                  <a:srgbClr val="C02A2A"/>
                </a:solidFill>
              </a:rPr>
              <a:t>✗ 误区2：情感描述缺失——只有事实，没有感受——GRA和LR都损失了展示高分词汇的机会</a:t>
            </a:r>
          </a:p>
          <a:p>
            <a:pPr>
              <a:spcBef>
                <a:spcPts val="800"/>
              </a:spcBef>
            </a:pPr>
            <a:r>
              <a:rPr sz="1400">
                <a:solidFill>
                  <a:srgbClr val="C02A2A"/>
                </a:solidFill>
              </a:rPr>
              <a:t>✗ 误区3：反思句缺失——说完故事就停，没有"Looking back..."这样的总结——错过了CC连贯性分</a:t>
            </a:r>
          </a:p>
        </p:txBody>
      </p:sp>
      <p:sp>
        <p:nvSpPr>
          <p:cNvPr id="8" name="Rectangle 7"/>
          <p:cNvSpPr/>
          <p:nvPr/>
        </p:nvSpPr>
        <p:spPr>
          <a:xfrm>
            <a:off x="6108192" y="1097280"/>
            <a:ext cx="36576" cy="5212080"/>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143000"/>
            <a:ext cx="5486400" cy="411480"/>
          </a:xfrm>
          <a:prstGeom prst="rect">
            <a:avLst/>
          </a:prstGeom>
          <a:noFill/>
        </p:spPr>
        <p:txBody>
          <a:bodyPr wrap="square" anchor="t">
            <a:spAutoFit/>
          </a:bodyPr>
          <a:lstStyle/>
          <a:p>
            <a:pPr algn="l"/>
            <a:r>
              <a:rPr sz="1500" b="1" i="0">
                <a:solidFill>
                  <a:srgbClr val="1B7A3D"/>
                </a:solidFill>
                <a:latin typeface="Calibri"/>
              </a:rPr>
              <a:t>✅ 正确做法</a:t>
            </a:r>
          </a:p>
        </p:txBody>
      </p:sp>
      <p:sp>
        <p:nvSpPr>
          <p:cNvPr id="10" name="TextBox 9"/>
          <p:cNvSpPr txBox="1"/>
          <p:nvPr/>
        </p:nvSpPr>
        <p:spPr>
          <a:xfrm>
            <a:off x="6309360" y="1645920"/>
            <a:ext cx="5394960" cy="4572000"/>
          </a:xfrm>
          <a:prstGeom prst="rect">
            <a:avLst/>
          </a:prstGeom>
          <a:noFill/>
        </p:spPr>
        <p:txBody>
          <a:bodyPr wrap="square">
            <a:spAutoFit/>
          </a:bodyPr>
          <a:lstStyle/>
          <a:p>
            <a:r>
              <a:rPr sz="1400">
                <a:solidFill>
                  <a:srgbClr val="1B7A3D"/>
                </a:solidFill>
              </a:rPr>
              <a:t>✓ 每个故事找一个"高峰时刻"——整个叙述都服务于这个时刻的描述</a:t>
            </a:r>
          </a:p>
          <a:p>
            <a:pPr>
              <a:spcBef>
                <a:spcPts val="800"/>
              </a:spcBef>
            </a:pPr>
            <a:r>
              <a:rPr sz="1400">
                <a:solidFill>
                  <a:srgbClr val="1B7A3D"/>
                </a:solidFill>
              </a:rPr>
              <a:t>✓ 情感词清单随时可用：thrilled/dreading/on edge/relief/proud——背熟5个情感词</a:t>
            </a:r>
          </a:p>
          <a:p>
            <a:pPr>
              <a:spcBef>
                <a:spcPts val="800"/>
              </a:spcBef>
            </a:pPr>
            <a:r>
              <a:rPr sz="1400">
                <a:solidFill>
                  <a:srgbClr val="1B7A3D"/>
                </a:solidFill>
              </a:rPr>
              <a:t>✓ 收尾句模板：Looking back, I realize that... / That's why this experience has been so...</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Part 2备考清单：10个万能素材</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850" b="1">
                <a:solidFill>
                  <a:srgbClr val="A33607"/>
                </a:solidFill>
              </a:rPr>
              <a:t>• 经历类3个</a:t>
            </a:r>
          </a:p>
          <a:p>
            <a:pPr>
              <a:spcBef>
                <a:spcPts val="100"/>
              </a:spcBef>
            </a:pPr>
            <a:r>
              <a:rPr sz="1550">
                <a:solidFill>
                  <a:srgbClr val="556075"/>
                </a:solidFill>
              </a:rPr>
              <a:t>   一次克服困难的经历+一次做重要决定的经历+一次帮助他人的经历</a:t>
            </a:r>
          </a:p>
          <a:p>
            <a:pPr>
              <a:spcBef>
                <a:spcPts val="1000"/>
              </a:spcBef>
            </a:pPr>
            <a:r>
              <a:rPr sz="1850" b="1">
                <a:solidFill>
                  <a:srgbClr val="A33607"/>
                </a:solidFill>
              </a:rPr>
              <a:t>• 人物类2个</a:t>
            </a:r>
          </a:p>
          <a:p>
            <a:pPr>
              <a:spcBef>
                <a:spcPts val="100"/>
              </a:spcBef>
            </a:pPr>
            <a:r>
              <a:rPr sz="1550">
                <a:solidFill>
                  <a:srgbClr val="556075"/>
                </a:solidFill>
              </a:rPr>
              <a:t>   一个影响你最深的人（老师/家人）+一个你欣赏的人（名人/同事）</a:t>
            </a:r>
          </a:p>
          <a:p>
            <a:pPr>
              <a:spcBef>
                <a:spcPts val="1000"/>
              </a:spcBef>
            </a:pPr>
            <a:r>
              <a:rPr sz="1850" b="1">
                <a:solidFill>
                  <a:srgbClr val="A33607"/>
                </a:solidFill>
              </a:rPr>
              <a:t>• 地点类2个</a:t>
            </a:r>
          </a:p>
          <a:p>
            <a:pPr>
              <a:spcBef>
                <a:spcPts val="100"/>
              </a:spcBef>
            </a:pPr>
            <a:r>
              <a:rPr sz="1550">
                <a:solidFill>
                  <a:srgbClr val="556075"/>
                </a:solidFill>
              </a:rPr>
              <a:t>   一个你最喜欢的地方+一个你想去的地方</a:t>
            </a:r>
          </a:p>
          <a:p>
            <a:pPr>
              <a:spcBef>
                <a:spcPts val="1000"/>
              </a:spcBef>
            </a:pPr>
            <a:r>
              <a:rPr sz="1850" b="1">
                <a:solidFill>
                  <a:srgbClr val="A33607"/>
                </a:solidFill>
              </a:rPr>
              <a:t>• 物品类2个</a:t>
            </a:r>
          </a:p>
          <a:p>
            <a:pPr>
              <a:spcBef>
                <a:spcPts val="100"/>
              </a:spcBef>
            </a:pPr>
            <a:r>
              <a:rPr sz="1550">
                <a:solidFill>
                  <a:srgbClr val="556075"/>
                </a:solidFill>
              </a:rPr>
              <a:t>   一件有情感价值的物品+一件你每天使用的科技产品</a:t>
            </a:r>
          </a:p>
          <a:p>
            <a:pPr>
              <a:spcBef>
                <a:spcPts val="1000"/>
              </a:spcBef>
            </a:pPr>
            <a:r>
              <a:rPr sz="1850" b="1">
                <a:solidFill>
                  <a:srgbClr val="A33607"/>
                </a:solidFill>
              </a:rPr>
              <a:t>• 活动类1个</a:t>
            </a:r>
          </a:p>
          <a:p>
            <a:pPr>
              <a:spcBef>
                <a:spcPts val="100"/>
              </a:spcBef>
            </a:pPr>
            <a:r>
              <a:rPr sz="1550">
                <a:solidFill>
                  <a:srgbClr val="556075"/>
                </a:solidFill>
              </a:rPr>
              <a:t>   一个你用来放松或保持健康的活动</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深圳学生注意：10个素材覆盖约90%的Part 2题目——考前这10个素材必须熟练，能立刻开口</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故事素材深度准备模板</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850" b="1">
                <a:solidFill>
                  <a:srgbClr val="A33607"/>
                </a:solidFill>
              </a:rPr>
              <a:t>• 关键词笔记</a:t>
            </a:r>
          </a:p>
          <a:p>
            <a:pPr>
              <a:spcBef>
                <a:spcPts val="100"/>
              </a:spcBef>
            </a:pPr>
            <a:r>
              <a:rPr sz="1550">
                <a:solidFill>
                  <a:srgbClr val="556075"/>
                </a:solidFill>
              </a:rPr>
              <a:t>   每个素材准备6-8个关键词（包括2个情感词汇和1个感官细节词）</a:t>
            </a:r>
          </a:p>
          <a:p>
            <a:pPr>
              <a:spcBef>
                <a:spcPts val="1000"/>
              </a:spcBef>
            </a:pPr>
            <a:r>
              <a:rPr sz="1850" b="1">
                <a:solidFill>
                  <a:srgbClr val="A33607"/>
                </a:solidFill>
              </a:rPr>
              <a:t>• 高峰时刻</a:t>
            </a:r>
          </a:p>
          <a:p>
            <a:pPr>
              <a:spcBef>
                <a:spcPts val="100"/>
              </a:spcBef>
            </a:pPr>
            <a:r>
              <a:rPr sz="1550">
                <a:solidFill>
                  <a:srgbClr val="556075"/>
                </a:solidFill>
              </a:rPr>
              <a:t>   每个素材找出"最戏剧性的一个瞬间"，准备2-3句描述</a:t>
            </a:r>
          </a:p>
          <a:p>
            <a:pPr>
              <a:spcBef>
                <a:spcPts val="1000"/>
              </a:spcBef>
            </a:pPr>
            <a:r>
              <a:rPr sz="1850" b="1">
                <a:solidFill>
                  <a:srgbClr val="A33607"/>
                </a:solidFill>
              </a:rPr>
              <a:t>• 情感词</a:t>
            </a:r>
          </a:p>
          <a:p>
            <a:pPr>
              <a:spcBef>
                <a:spcPts val="100"/>
              </a:spcBef>
            </a:pPr>
            <a:r>
              <a:rPr sz="1550">
                <a:solidFill>
                  <a:srgbClr val="556075"/>
                </a:solidFill>
              </a:rPr>
              <a:t>   每个素材准备2个具体情感词（不是happy/sad——而是thrilled/overwhelmed）</a:t>
            </a:r>
          </a:p>
          <a:p>
            <a:pPr>
              <a:spcBef>
                <a:spcPts val="1000"/>
              </a:spcBef>
            </a:pPr>
            <a:r>
              <a:rPr sz="1850" b="1">
                <a:solidFill>
                  <a:srgbClr val="A33607"/>
                </a:solidFill>
              </a:rPr>
              <a:t>• 反思句</a:t>
            </a:r>
          </a:p>
          <a:p>
            <a:pPr>
              <a:spcBef>
                <a:spcPts val="100"/>
              </a:spcBef>
            </a:pPr>
            <a:r>
              <a:rPr sz="1550">
                <a:solidFill>
                  <a:srgbClr val="556075"/>
                </a:solidFill>
              </a:rPr>
              <a:t>   每个素材准备1句Looking back/In hindsight收尾句</a:t>
            </a:r>
          </a:p>
          <a:p>
            <a:pPr>
              <a:spcBef>
                <a:spcPts val="1000"/>
              </a:spcBef>
            </a:pPr>
            <a:r>
              <a:rPr sz="1850" b="1">
                <a:solidFill>
                  <a:srgbClr val="A33607"/>
                </a:solidFill>
              </a:rPr>
              <a:t>• 时间扩展</a:t>
            </a:r>
          </a:p>
          <a:p>
            <a:pPr>
              <a:spcBef>
                <a:spcPts val="100"/>
              </a:spcBef>
            </a:pPr>
            <a:r>
              <a:rPr sz="1550">
                <a:solidFill>
                  <a:srgbClr val="556075"/>
                </a:solidFill>
              </a:rPr>
              <a:t>   每个素材有备用内容：如果说完了可以加的"对比"或"现在联系"</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深圳学生注意：素材准备得越深，考场发言越自然——减少实时思考，让语言自动化</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2 紧急救援工具箱</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A33607"/>
                </a:solidFill>
                <a:latin typeface="Calibri"/>
              </a:rPr>
              <a:t>高峰时刻触发句</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The moment that really stands out in my memory is when...</a:t>
            </a:r>
          </a:p>
        </p:txBody>
      </p:sp>
      <p:sp>
        <p:nvSpPr>
          <p:cNvPr id="12" name="Rounded Rectangle 11"/>
          <p:cNvSpPr/>
          <p:nvPr/>
        </p:nvSpPr>
        <p:spPr>
          <a:xfrm>
            <a:off x="6355079"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A33607"/>
                </a:solidFill>
                <a:latin typeface="Calibri"/>
              </a:rPr>
              <a:t>情感深挖触发句</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What really struck me about the whole experience was...</a:t>
            </a:r>
          </a:p>
        </p:txBody>
      </p:sp>
      <p:sp>
        <p:nvSpPr>
          <p:cNvPr id="16" name="Rounded Rectangle 15"/>
          <p:cNvSpPr/>
          <p:nvPr/>
        </p:nvSpPr>
        <p:spPr>
          <a:xfrm>
            <a:off x="548640"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A33607"/>
                </a:solidFill>
                <a:latin typeface="Calibri"/>
              </a:rPr>
              <a:t>时间扩展触发句</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Looking back, I realize that... / To this day, I still...</a:t>
            </a:r>
          </a:p>
        </p:txBody>
      </p:sp>
      <p:sp>
        <p:nvSpPr>
          <p:cNvPr id="20" name="Rounded Rectangle 19"/>
          <p:cNvSpPr/>
          <p:nvPr/>
        </p:nvSpPr>
        <p:spPr>
          <a:xfrm>
            <a:off x="6355079"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A33607"/>
                </a:solidFill>
                <a:latin typeface="Calibri"/>
              </a:rPr>
              <a:t>物品情感触发句</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More than just [功能], it's become a kind of [情感比喻] for me.</a:t>
            </a:r>
          </a:p>
        </p:txBody>
      </p:sp>
      <p:sp>
        <p:nvSpPr>
          <p:cNvPr id="24" name="Rounded Rectangle 23"/>
          <p:cNvSpPr/>
          <p:nvPr/>
        </p:nvSpPr>
        <p:spPr>
          <a:xfrm>
            <a:off x="548640" y="449580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A33607"/>
                </a:solidFill>
                <a:latin typeface="Calibri"/>
              </a:rPr>
              <a:t>活动深化触发句</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What makes this different from other activities is that it [深层理由].</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故事叙述高分动词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A33607"/>
                </a:solidFill>
                <a:latin typeface="Calibri"/>
              </a:rPr>
              <a:t>遭遇/经历</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encounter/stumble upon/come across/find myself in</a:t>
            </a:r>
          </a:p>
        </p:txBody>
      </p:sp>
      <p:sp>
        <p:nvSpPr>
          <p:cNvPr id="12" name="Rounded Rectangle 11"/>
          <p:cNvSpPr/>
          <p:nvPr/>
        </p:nvSpPr>
        <p:spPr>
          <a:xfrm>
            <a:off x="6355079"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A33607"/>
                </a:solidFill>
                <a:latin typeface="Calibri"/>
              </a:rPr>
              <a:t>克服/解决</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overcome/tackle/navigate/work through/persevere</a:t>
            </a:r>
          </a:p>
        </p:txBody>
      </p:sp>
      <p:sp>
        <p:nvSpPr>
          <p:cNvPr id="16" name="Rounded Rectangle 15"/>
          <p:cNvSpPr/>
          <p:nvPr/>
        </p:nvSpPr>
        <p:spPr>
          <a:xfrm>
            <a:off x="548640"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A33607"/>
                </a:solidFill>
                <a:latin typeface="Calibri"/>
              </a:rPr>
              <a:t>感受/情绪</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dread/be thrilled/be overwhelmed/feel a wave of/be struck by</a:t>
            </a:r>
          </a:p>
        </p:txBody>
      </p:sp>
      <p:sp>
        <p:nvSpPr>
          <p:cNvPr id="20" name="Rounded Rectangle 19"/>
          <p:cNvSpPr/>
          <p:nvPr/>
        </p:nvSpPr>
        <p:spPr>
          <a:xfrm>
            <a:off x="6355079"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A33607"/>
                </a:solidFill>
                <a:latin typeface="Calibri"/>
              </a:rPr>
              <a:t>改变/影响</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transform/shape/broaden/cultivate/instil</a:t>
            </a:r>
          </a:p>
        </p:txBody>
      </p:sp>
      <p:sp>
        <p:nvSpPr>
          <p:cNvPr id="24" name="Rounded Rectangle 23"/>
          <p:cNvSpPr/>
          <p:nvPr/>
        </p:nvSpPr>
        <p:spPr>
          <a:xfrm>
            <a:off x="548640" y="449580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A33607"/>
                </a:solidFill>
                <a:latin typeface="Calibri"/>
              </a:rPr>
              <a:t>反思/回顾</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reflect on/look back on/realize in hindsight/be forever grateful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L04课后自检清单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完成10个万能素材的关键词笔记（3经历+2人物+2地点+2物品+1活动）</a:t>
            </a:r>
          </a:p>
          <a:p>
            <a:pPr>
              <a:spcBef>
                <a:spcPts val="1200"/>
              </a:spcBef>
            </a:pPr>
            <a:r>
              <a:rPr sz="1600">
                <a:solidFill>
                  <a:srgbClr val="1E293B"/>
                </a:solidFill>
              </a:rPr>
              <a:t>☐ 练习STAR框架：用2个经历类题目录音，检查是否有情感弧和反思句</a:t>
            </a:r>
          </a:p>
          <a:p>
            <a:pPr>
              <a:spcBef>
                <a:spcPts val="1200"/>
              </a:spcBef>
            </a:pPr>
            <a:r>
              <a:rPr sz="1600">
                <a:solidFill>
                  <a:srgbClr val="1E293B"/>
                </a:solidFill>
              </a:rPr>
              <a:t>☐ 物品类练习：描述一件物品，确保情感维度描述超过30秒</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L04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F28C1D"/>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经历类：STAR框架（背景→困难→行动→结果+反思），有情感弧有高峰时刻</a:t>
            </a:r>
          </a:p>
          <a:p>
            <a:pPr>
              <a:spcBef>
                <a:spcPts val="1100"/>
              </a:spcBef>
            </a:pPr>
            <a:r>
              <a:rPr sz="1550">
                <a:solidFill>
                  <a:srgbClr val="FFFFFF"/>
                </a:solidFill>
              </a:rPr>
              <a:t>✓  物品类：功能+情感双维度，情感意义&gt;外观描述</a:t>
            </a:r>
          </a:p>
          <a:p>
            <a:pPr>
              <a:spcBef>
                <a:spcPts val="1100"/>
              </a:spcBef>
            </a:pPr>
            <a:r>
              <a:rPr sz="1550">
                <a:solidFill>
                  <a:srgbClr val="FFFFFF"/>
                </a:solidFill>
              </a:rPr>
              <a:t>✓  活动类：过程词汇（before/during/after）+高峰时刻+两层Why</a:t>
            </a:r>
          </a:p>
          <a:p>
            <a:pPr>
              <a:spcBef>
                <a:spcPts val="1100"/>
              </a:spcBef>
            </a:pPr>
            <a:r>
              <a:rPr sz="1550">
                <a:solidFill>
                  <a:srgbClr val="FFFFFF"/>
                </a:solidFill>
              </a:rPr>
              <a:t>✓  情感弧：Beginning→Complication→Climax→Resolution→Reflection</a:t>
            </a:r>
          </a:p>
          <a:p>
            <a:pPr>
              <a:spcBef>
                <a:spcPts val="1100"/>
              </a:spcBef>
            </a:pPr>
            <a:r>
              <a:rPr sz="1550">
                <a:solidFill>
                  <a:srgbClr val="FFFFFF"/>
                </a:solidFill>
              </a:rPr>
              <a:t>✓  备考关键：10个万能素材+每个素材有高峰时刻+情感词+反思句</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L04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F28C1D"/>
                </a:solidFill>
                <a:latin typeface="Calibri"/>
              </a:rPr>
              <a:t>⏱ 建议用时：约90分钟</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完成10个素材的深度准备（关键词+高峰时刻+情感词+反思句）</a:t>
            </a:r>
          </a:p>
          <a:p>
            <a:pPr>
              <a:spcBef>
                <a:spcPts val="1300"/>
              </a:spcBef>
            </a:pPr>
            <a:r>
              <a:rPr sz="1550" b="1">
                <a:solidFill>
                  <a:srgbClr val="1E293B"/>
                </a:solidFill>
              </a:rPr>
              <a:t>作业 2　录音练习3道Part 2题目（各一类：经历/物品/活动），检查是否满足5项清单</a:t>
            </a:r>
          </a:p>
          <a:p>
            <a:pPr>
              <a:spcBef>
                <a:spcPts val="1300"/>
              </a:spcBef>
            </a:pPr>
            <a:r>
              <a:rPr sz="1550" b="1">
                <a:solidFill>
                  <a:srgbClr val="1E293B"/>
                </a:solidFill>
              </a:rPr>
              <a:t>作业 3　情感词汇：背诵10个情感词，并在本周练习中主动使用每一个</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F28C1D"/>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L05 · Part 3 学术讨论与论点构建</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Part 3的性质：为什么考官的问题越来越抽象，难度越来越高</a:t>
            </a:r>
          </a:p>
          <a:p>
            <a:pPr>
              <a:spcBef>
                <a:spcPts val="1000"/>
              </a:spcBef>
            </a:pPr>
            <a:r>
              <a:rPr sz="1600">
                <a:solidFill>
                  <a:srgbClr val="CFDCF2"/>
                </a:solidFill>
              </a:rPr>
              <a:t>→ PEEL论点构建框架：每题有深度的45-60秒回答</a:t>
            </a:r>
          </a:p>
          <a:p>
            <a:pPr>
              <a:spcBef>
                <a:spcPts val="1000"/>
              </a:spcBef>
            </a:pPr>
            <a:r>
              <a:rPr sz="1600">
                <a:solidFill>
                  <a:srgbClr val="CFDCF2"/>
                </a:solidFill>
              </a:rPr>
              <a:t>→ 高频Part 3话题：社会/教育/科技/环境——深圳学生的答题素材</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