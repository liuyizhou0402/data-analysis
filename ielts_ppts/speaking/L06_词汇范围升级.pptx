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F28C1D"/>
                </a:solidFill>
                <a:latin typeface="Calibri"/>
              </a:rPr>
              <a:t>L06</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F28C1D"/>
                </a:solidFill>
                <a:latin typeface="Calibri"/>
              </a:rPr>
              <a:t>IELTS Speaking 口语</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词汇范围
从6分到7.5分</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Lexical Resource: 6 to 7.5 Band Upgrade</a:t>
            </a:r>
          </a:p>
        </p:txBody>
      </p:sp>
      <p:sp>
        <p:nvSpPr>
          <p:cNvPr id="10" name="Rounded Rectangle 9"/>
          <p:cNvSpPr/>
          <p:nvPr/>
        </p:nvSpPr>
        <p:spPr>
          <a:xfrm>
            <a:off x="777240" y="5669280"/>
            <a:ext cx="3840480" cy="54864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6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Rounded Rectangle 6"/>
          <p:cNvSpPr/>
          <p:nvPr/>
        </p:nvSpPr>
        <p:spPr>
          <a:xfrm>
            <a:off x="548640" y="1325880"/>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LR评分标准：6分vs 7分词汇的本质区别</a:t>
            </a:r>
          </a:p>
        </p:txBody>
      </p:sp>
      <p:sp>
        <p:nvSpPr>
          <p:cNvPr id="10" name="Rounded Rectangle 9"/>
          <p:cNvSpPr/>
          <p:nvPr/>
        </p:nvSpPr>
        <p:spPr>
          <a:xfrm>
            <a:off x="548640" y="2167128"/>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话题词汇替换系统：5大话题升级词库</a:t>
            </a:r>
          </a:p>
        </p:txBody>
      </p:sp>
      <p:sp>
        <p:nvSpPr>
          <p:cNvPr id="13" name="Rounded Rectangle 12"/>
          <p:cNvSpPr/>
          <p:nvPr/>
        </p:nvSpPr>
        <p:spPr>
          <a:xfrm>
            <a:off x="548640" y="3008376"/>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搭配词与固定表达：地道表达让LR跳升</a:t>
            </a:r>
          </a:p>
        </p:txBody>
      </p:sp>
      <p:sp>
        <p:nvSpPr>
          <p:cNvPr id="16" name="Rounded Rectangle 15"/>
          <p:cNvSpPr/>
          <p:nvPr/>
        </p:nvSpPr>
        <p:spPr>
          <a:xfrm>
            <a:off x="6400800" y="1325880"/>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词汇激活训练：从被动到主动产出</a:t>
            </a:r>
          </a:p>
        </p:txBody>
      </p:sp>
      <p:sp>
        <p:nvSpPr>
          <p:cNvPr id="19" name="Rounded Rectangle 18"/>
          <p:cNvSpPr/>
          <p:nvPr/>
        </p:nvSpPr>
        <p:spPr>
          <a:xfrm>
            <a:off x="6400800" y="2167128"/>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高频词汇表 + 练习</a:t>
            </a:r>
          </a:p>
        </p:txBody>
      </p:sp>
      <p:sp>
        <p:nvSpPr>
          <p:cNvPr id="22" name="Rounded Rectangle 21"/>
          <p:cNvSpPr/>
          <p:nvPr/>
        </p:nvSpPr>
        <p:spPr>
          <a:xfrm>
            <a:off x="6400800" y="3008376"/>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综合输出：词汇升级版答案示范</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LR评分：6分vs 7分词汇的本质区别</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Lexical Resource: Band 6 vs Band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6词汇特征</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adequate vocabulary / some errors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词汇量</a:t>
            </a:r>
          </a:p>
          <a:p>
            <a:pPr>
              <a:spcBef>
                <a:spcPts val="100"/>
              </a:spcBef>
            </a:pPr>
            <a:r>
              <a:rPr sz="1500">
                <a:solidFill>
                  <a:srgbClr val="556075"/>
                </a:solidFill>
              </a:rPr>
              <a:t>   能表达主要意思，但选词单一：good/bad/nice/a lot of/very</a:t>
            </a:r>
          </a:p>
          <a:p>
            <a:pPr>
              <a:spcBef>
                <a:spcPts val="900"/>
              </a:spcBef>
            </a:pPr>
            <a:r>
              <a:rPr sz="1800" b="1">
                <a:solidFill>
                  <a:srgbClr val="A33607"/>
                </a:solidFill>
              </a:rPr>
              <a:t>• 范围受限</a:t>
            </a:r>
          </a:p>
          <a:p>
            <a:pPr>
              <a:spcBef>
                <a:spcPts val="100"/>
              </a:spcBef>
            </a:pPr>
            <a:r>
              <a:rPr sz="1500">
                <a:solidFill>
                  <a:srgbClr val="556075"/>
                </a:solidFill>
              </a:rPr>
              <a:t>   同一意思只用一两个词——不能paraphrase或用不同词汇表达</a:t>
            </a:r>
          </a:p>
          <a:p>
            <a:pPr>
              <a:spcBef>
                <a:spcPts val="900"/>
              </a:spcBef>
            </a:pPr>
            <a:r>
              <a:rPr sz="1800" b="1">
                <a:solidFill>
                  <a:srgbClr val="A33607"/>
                </a:solidFill>
              </a:rPr>
              <a:t>• 搭配错误</a:t>
            </a:r>
          </a:p>
          <a:p>
            <a:pPr>
              <a:spcBef>
                <a:spcPts val="100"/>
              </a:spcBef>
            </a:pPr>
            <a:r>
              <a:rPr sz="1500">
                <a:solidFill>
                  <a:srgbClr val="556075"/>
                </a:solidFill>
              </a:rPr>
              <a:t>   "make a travel / do a mistake"——错误搭配影响理解</a:t>
            </a:r>
          </a:p>
          <a:p>
            <a:pPr>
              <a:spcBef>
                <a:spcPts val="900"/>
              </a:spcBef>
            </a:pPr>
            <a:r>
              <a:rPr sz="1800" b="1">
                <a:solidFill>
                  <a:srgbClr val="A33607"/>
                </a:solidFill>
              </a:rPr>
              <a:t>• 深圳学生</a:t>
            </a:r>
          </a:p>
          <a:p>
            <a:pPr>
              <a:spcBef>
                <a:spcPts val="100"/>
              </a:spcBef>
            </a:pPr>
            <a:r>
              <a:rPr sz="1500">
                <a:solidFill>
                  <a:srgbClr val="556075"/>
                </a:solidFill>
              </a:rPr>
              <a:t>   熟悉的话题说得好，不熟悉的话题立刻词穷——词汇激活不足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7词汇特征</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flexible and precise / rare errors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资源丰富</a:t>
            </a:r>
          </a:p>
          <a:p>
            <a:pPr>
              <a:spcBef>
                <a:spcPts val="100"/>
              </a:spcBef>
            </a:pPr>
            <a:r>
              <a:rPr sz="1500">
                <a:solidFill>
                  <a:srgbClr val="556075"/>
                </a:solidFill>
              </a:rPr>
              <a:t>   同一概念有多种表达方式——不会重复同一个词3次</a:t>
            </a:r>
          </a:p>
          <a:p>
            <a:pPr>
              <a:spcBef>
                <a:spcPts val="900"/>
              </a:spcBef>
            </a:pPr>
            <a:r>
              <a:rPr sz="1800" b="1">
                <a:solidFill>
                  <a:srgbClr val="A33607"/>
                </a:solidFill>
              </a:rPr>
              <a:t>• 精准选词</a:t>
            </a:r>
          </a:p>
          <a:p>
            <a:pPr>
              <a:spcBef>
                <a:spcPts val="100"/>
              </a:spcBef>
            </a:pPr>
            <a:r>
              <a:rPr sz="1500">
                <a:solidFill>
                  <a:srgbClr val="556075"/>
                </a:solidFill>
              </a:rPr>
              <a:t>   significant/substantial/considerable而非very big</a:t>
            </a:r>
          </a:p>
          <a:p>
            <a:pPr>
              <a:spcBef>
                <a:spcPts val="900"/>
              </a:spcBef>
            </a:pPr>
            <a:r>
              <a:rPr sz="1800" b="1">
                <a:solidFill>
                  <a:srgbClr val="A33607"/>
                </a:solidFill>
              </a:rPr>
              <a:t>• 地道搭配</a:t>
            </a:r>
          </a:p>
          <a:p>
            <a:pPr>
              <a:spcBef>
                <a:spcPts val="100"/>
              </a:spcBef>
            </a:pPr>
            <a:r>
              <a:rPr sz="1500">
                <a:solidFill>
                  <a:srgbClr val="556075"/>
                </a:solidFill>
              </a:rPr>
              <a:t>   make progress/take measures/pay attention——正确搭配</a:t>
            </a:r>
          </a:p>
          <a:p>
            <a:pPr>
              <a:spcBef>
                <a:spcPts val="900"/>
              </a:spcBef>
            </a:pPr>
            <a:r>
              <a:rPr sz="1800" b="1">
                <a:solidFill>
                  <a:srgbClr val="A33607"/>
                </a:solidFill>
              </a:rPr>
              <a:t>• 话题词汇</a:t>
            </a:r>
          </a:p>
          <a:p>
            <a:pPr>
              <a:spcBef>
                <a:spcPts val="100"/>
              </a:spcBef>
            </a:pPr>
            <a:r>
              <a:rPr sz="1500">
                <a:solidFill>
                  <a:srgbClr val="556075"/>
                </a:solidFill>
              </a:rPr>
              <a:t>   每个话题有10+个话题专有词汇——遇到任何话题都能输出</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Band 6到7的核心跨越</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不是"学更多单词"——而是"激活已知单词"并学会替换</a:t>
            </a:r>
          </a:p>
          <a:p>
            <a:pPr>
              <a:spcBef>
                <a:spcPts val="1000"/>
              </a:spcBef>
            </a:pPr>
            <a:r>
              <a:rPr sz="1650">
                <a:solidFill>
                  <a:srgbClr val="1E293B"/>
                </a:solidFill>
              </a:rPr>
              <a:t>• 深圳学生的问题：词汇量够，但说话时只用最简单的词</a:t>
            </a:r>
          </a:p>
          <a:p>
            <a:pPr>
              <a:spcBef>
                <a:spcPts val="1000"/>
              </a:spcBef>
            </a:pPr>
            <a:r>
              <a:rPr sz="1650">
                <a:solidFill>
                  <a:srgbClr val="1E293B"/>
                </a:solidFill>
              </a:rPr>
              <a:t>• 解决方案：话题词汇替换卡 + 搭配记忆 + 每日输出训练</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词汇评分的3个维度</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词汇范围（Range）：话题词汇的广度和深度</a:t>
            </a:r>
          </a:p>
          <a:p>
            <a:pPr>
              <a:spcBef>
                <a:spcPts val="1000"/>
              </a:spcBef>
            </a:pPr>
            <a:r>
              <a:rPr sz="1650">
                <a:solidFill>
                  <a:srgbClr val="1E293B"/>
                </a:solidFill>
              </a:rPr>
              <a:t>• 词汇精准（Precision）：选词是否准确、搭配是否正确</a:t>
            </a:r>
          </a:p>
          <a:p>
            <a:pPr>
              <a:spcBef>
                <a:spcPts val="1000"/>
              </a:spcBef>
            </a:pPr>
            <a:r>
              <a:rPr sz="1650">
                <a:solidFill>
                  <a:srgbClr val="1E293B"/>
                </a:solidFill>
              </a:rPr>
              <a:t>• 词汇地道（Naturalness）：是否使用英语母语者的表达习惯</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6 vs 7答案对比示范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"What do you think about the education system in China?"
Band 6 vs Band 7 词汇对比</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Band 6: I think the education system is very good but also very bad in some ways. Students study very hard but there is too much pressure. The exams are very important.
Band 7: I think China's education system has genuine strengths, but it's also deeply flawed in certain respects. Students are undeniably hardworking, but the emphasis on high-stakes examinations creates enormous pressure that can stifle creativity and independent thinking.</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Band 6：very + 形容词（×4）/ good+bad / study hard / important
Band 7：genuine strengths / deeply flawed / undeniably / high-stakes / stifle creativity
替换示范：very important→high-stakes / very bad→deeply flawed / study hard→undeniably hardworking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LR评分官方描述对比</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IELTS官方评分表中LR维度对比</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Band 6: "uses an adequate range of vocabulary...meaning is generally clear"
Band 7: "uses vocabulary resource flexibly to discuss a variety of topics"
Band 8: "uses a wide vocabulary resource readily and flexibly"
关键词：flexibly（灵活）vs adequately（够用），这就是6→7的差距</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灵活（flexibly）= 同一话题有多种表达 + 词汇搭配正确 + 可以快速paraphrase
你现在练的不是背新单词，而是让已知词汇变得灵活可用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话题词汇替换系统：5大话题词库</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Topic Vocabulary Upgrade: 5 Key Themes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教育话题词库</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Education &amp; Learning</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6分词汇</a:t>
            </a:r>
          </a:p>
          <a:p>
            <a:pPr>
              <a:spcBef>
                <a:spcPts val="100"/>
              </a:spcBef>
            </a:pPr>
            <a:r>
              <a:rPr sz="1500">
                <a:solidFill>
                  <a:srgbClr val="556075"/>
                </a:solidFill>
              </a:rPr>
              <a:t>   study hard / good school / learn / important exam / get knowledge</a:t>
            </a:r>
          </a:p>
          <a:p>
            <a:pPr>
              <a:spcBef>
                <a:spcPts val="900"/>
              </a:spcBef>
            </a:pPr>
            <a:r>
              <a:rPr sz="1800" b="1">
                <a:solidFill>
                  <a:srgbClr val="A33607"/>
                </a:solidFill>
              </a:rPr>
              <a:t>• 7分替换</a:t>
            </a:r>
          </a:p>
          <a:p>
            <a:pPr>
              <a:spcBef>
                <a:spcPts val="100"/>
              </a:spcBef>
            </a:pPr>
            <a:r>
              <a:rPr sz="1500">
                <a:solidFill>
                  <a:srgbClr val="556075"/>
                </a:solidFill>
              </a:rPr>
              <a:t>   academic achievement / rigorous curriculum / foster critical thinking</a:t>
            </a:r>
          </a:p>
          <a:p>
            <a:pPr>
              <a:spcBef>
                <a:spcPts val="900"/>
              </a:spcBef>
            </a:pPr>
            <a:r>
              <a:rPr sz="1800" b="1">
                <a:solidFill>
                  <a:srgbClr val="A33607"/>
                </a:solidFill>
              </a:rPr>
              <a:t>• 8分词汇</a:t>
            </a:r>
          </a:p>
          <a:p>
            <a:pPr>
              <a:spcBef>
                <a:spcPts val="100"/>
              </a:spcBef>
            </a:pPr>
            <a:r>
              <a:rPr sz="1500">
                <a:solidFill>
                  <a:srgbClr val="556075"/>
                </a:solidFill>
              </a:rPr>
              <a:t>   pedagogical approach / cultivate intellectual curiosity / high-stakes assessment</a:t>
            </a:r>
          </a:p>
          <a:p>
            <a:pPr>
              <a:spcBef>
                <a:spcPts val="900"/>
              </a:spcBef>
            </a:pPr>
            <a:r>
              <a:rPr sz="1800" b="1">
                <a:solidFill>
                  <a:srgbClr val="A33607"/>
                </a:solidFill>
              </a:rPr>
              <a:t>• 深圳特色</a:t>
            </a:r>
          </a:p>
          <a:p>
            <a:pPr>
              <a:spcBef>
                <a:spcPts val="100"/>
              </a:spcBef>
            </a:pPr>
            <a:r>
              <a:rPr sz="1500">
                <a:solidFill>
                  <a:srgbClr val="556075"/>
                </a:solidFill>
              </a:rPr>
              <a:t>   international curriculum / Shenzhen's competitive school environment</a:t>
            </a:r>
          </a:p>
          <a:p>
            <a:pPr>
              <a:spcBef>
                <a:spcPts val="900"/>
              </a:spcBef>
            </a:pPr>
            <a:r>
              <a:rPr sz="1800" b="1">
                <a:solidFill>
                  <a:srgbClr val="A33607"/>
                </a:solidFill>
              </a:rPr>
              <a:t>• 关键搭配</a:t>
            </a:r>
          </a:p>
          <a:p>
            <a:pPr>
              <a:spcBef>
                <a:spcPts val="100"/>
              </a:spcBef>
            </a:pPr>
            <a:r>
              <a:rPr sz="1500">
                <a:solidFill>
                  <a:srgbClr val="556075"/>
                </a:solidFill>
              </a:rPr>
              <a:t>   receive quality education / pursue academic excellence / foster creativity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科技话题词库</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Technology &amp; Society</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6分词汇</a:t>
            </a:r>
          </a:p>
          <a:p>
            <a:pPr>
              <a:spcBef>
                <a:spcPts val="100"/>
              </a:spcBef>
            </a:pPr>
            <a:r>
              <a:rPr sz="1500">
                <a:solidFill>
                  <a:srgbClr val="556075"/>
                </a:solidFill>
              </a:rPr>
              <a:t>   use phone / internet / technology is good / social media</a:t>
            </a:r>
          </a:p>
          <a:p>
            <a:pPr>
              <a:spcBef>
                <a:spcPts val="900"/>
              </a:spcBef>
            </a:pPr>
            <a:r>
              <a:rPr sz="1800" b="1">
                <a:solidFill>
                  <a:srgbClr val="A33607"/>
                </a:solidFill>
              </a:rPr>
              <a:t>• 7分替换</a:t>
            </a:r>
          </a:p>
          <a:p>
            <a:pPr>
              <a:spcBef>
                <a:spcPts val="100"/>
              </a:spcBef>
            </a:pPr>
            <a:r>
              <a:rPr sz="1500">
                <a:solidFill>
                  <a:srgbClr val="556075"/>
                </a:solidFill>
              </a:rPr>
              <a:t>   leverage technology / digital connectivity / transform communication</a:t>
            </a:r>
          </a:p>
          <a:p>
            <a:pPr>
              <a:spcBef>
                <a:spcPts val="900"/>
              </a:spcBef>
            </a:pPr>
            <a:r>
              <a:rPr sz="1800" b="1">
                <a:solidFill>
                  <a:srgbClr val="A33607"/>
                </a:solidFill>
              </a:rPr>
              <a:t>• 8分词汇</a:t>
            </a:r>
          </a:p>
          <a:p>
            <a:pPr>
              <a:spcBef>
                <a:spcPts val="100"/>
              </a:spcBef>
            </a:pPr>
            <a:r>
              <a:rPr sz="1500">
                <a:solidFill>
                  <a:srgbClr val="556075"/>
                </a:solidFill>
              </a:rPr>
              <a:t>   technological proliferation / disrupt traditional industries / algorithmic influence</a:t>
            </a:r>
          </a:p>
          <a:p>
            <a:pPr>
              <a:spcBef>
                <a:spcPts val="900"/>
              </a:spcBef>
            </a:pPr>
            <a:r>
              <a:rPr sz="1800" b="1">
                <a:solidFill>
                  <a:srgbClr val="A33607"/>
                </a:solidFill>
              </a:rPr>
              <a:t>• 深圳特色</a:t>
            </a:r>
          </a:p>
          <a:p>
            <a:pPr>
              <a:spcBef>
                <a:spcPts val="100"/>
              </a:spcBef>
            </a:pPr>
            <a:r>
              <a:rPr sz="1500">
                <a:solidFill>
                  <a:srgbClr val="556075"/>
                </a:solidFill>
              </a:rPr>
              <a:t>   Shenzhen's tech ecosystem / innovation hub / tech-forward environment</a:t>
            </a:r>
          </a:p>
          <a:p>
            <a:pPr>
              <a:spcBef>
                <a:spcPts val="900"/>
              </a:spcBef>
            </a:pPr>
            <a:r>
              <a:rPr sz="1800" b="1">
                <a:solidFill>
                  <a:srgbClr val="A33607"/>
                </a:solidFill>
              </a:rPr>
              <a:t>• 关键搭配</a:t>
            </a:r>
          </a:p>
          <a:p>
            <a:pPr>
              <a:spcBef>
                <a:spcPts val="100"/>
              </a:spcBef>
            </a:pPr>
            <a:r>
              <a:rPr sz="1500">
                <a:solidFill>
                  <a:srgbClr val="556075"/>
                </a:solidFill>
              </a:rPr>
              <a:t>   embrace digital transformation / navigate the digital landscape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环境/社会/文化话题要点</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环境话题：environmental sustainability / carbon footprint / ecological impact / renewable energy</a:t>
            </a:r>
          </a:p>
          <a:p>
            <a:pPr>
              <a:spcBef>
                <a:spcPts val="1000"/>
              </a:spcBef>
            </a:pPr>
            <a:r>
              <a:rPr sz="1650">
                <a:solidFill>
                  <a:srgbClr val="1E293B"/>
                </a:solidFill>
              </a:rPr>
              <a:t>• 社会话题：social cohesion / inequality / quality of life / urban development / demographic shift</a:t>
            </a:r>
          </a:p>
          <a:p>
            <a:pPr>
              <a:spcBef>
                <a:spcPts val="1000"/>
              </a:spcBef>
            </a:pPr>
            <a:r>
              <a:rPr sz="1650">
                <a:solidFill>
                  <a:srgbClr val="1E293B"/>
                </a:solidFill>
              </a:rPr>
              <a:t>• 文化话题：cultural heritage / globalisation / cultural identity / traditional values / cross-cultural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词汇替换的3条原则</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精准性：替换词必须与原词意思完全匹配——significant可换substantial但不换great</a:t>
            </a:r>
          </a:p>
          <a:p>
            <a:pPr>
              <a:spcBef>
                <a:spcPts val="1000"/>
              </a:spcBef>
            </a:pPr>
            <a:r>
              <a:rPr sz="1650">
                <a:solidFill>
                  <a:srgbClr val="1E293B"/>
                </a:solidFill>
              </a:rPr>
              <a:t>• 搭配性：新词必须搭配正确——不能说"do a significant"——make a significant impact✓</a:t>
            </a:r>
          </a:p>
          <a:p>
            <a:pPr>
              <a:spcBef>
                <a:spcPts val="1000"/>
              </a:spcBef>
            </a:pPr>
            <a:r>
              <a:rPr sz="1650">
                <a:solidFill>
                  <a:srgbClr val="1E293B"/>
                </a:solidFill>
              </a:rPr>
              <a:t>• 自然性：替换后句子听起来自然——不要堆砌高级词汇影响流畅度</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教育话题升级答案示范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"Is it important for children to study a foreign language?"
词汇升级版答案</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Absolutely, I think foreign language acquisition is one of the most valuable investments in a child's development. Beyond the obvious practical benefits — improved career prospects and cross-cultural communication — learning a language fundamentally reshapes cognitive pathways. Research consistently shows that bilingual children demonstrate enhanced problem-solving abilities and greater mental flexibility. In Shenzhen specifically, English proficiency is increasingly non-negotiable for white-collar careers, which makes early language education particularly strategic.</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7分词汇：foreign language acquisition / cognitive pathways / bilingual / mental flexibility
搭配升级：make an investment→investment in development / learn well→demonstrate enhanced abilities
本地素材：Shenzhen / English proficiency / non-negotiable——让答案有说服力</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科技话题升级答案示范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"How has social media changed the way people communicate?"
词汇升级版答案</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Social media has fundamentally transformed interpersonal communication in ways that are simultaneously liberating and concerning. On the positive side, platforms like WeChat have democratised access to information and enabled instant connectivity across vast distances — something unimaginable two decades ago. However, there's growing evidence that the quality of our social interactions has declined. The proliferation of curated digital personas has, in many ways, replaced authentic human connection with performative self-presentation, which strikes me as a genuinely troubling development.</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8分词汇：fundamentally transformed / interpersonal / democratised / proliferation / curated / performative
搭配：democratise access / authentic connection / curated persona
结构：simultaneously...and / On the positive side / However——连贯性高分</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搭配词与固定表达：地道表达</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Collocations &amp; Natural Expressions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高频正确搭配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Common Collocations in IELTS Speaking</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make+名词</a:t>
            </a:r>
          </a:p>
          <a:p>
            <a:pPr>
              <a:spcBef>
                <a:spcPts val="100"/>
              </a:spcBef>
            </a:pPr>
            <a:r>
              <a:rPr sz="1500">
                <a:solidFill>
                  <a:srgbClr val="556075"/>
                </a:solidFill>
              </a:rPr>
              <a:t>   make progress / make an effort / make a difference / make a contribution</a:t>
            </a:r>
          </a:p>
          <a:p>
            <a:pPr>
              <a:spcBef>
                <a:spcPts val="900"/>
              </a:spcBef>
            </a:pPr>
            <a:r>
              <a:rPr sz="1800" b="1">
                <a:solidFill>
                  <a:srgbClr val="A33607"/>
                </a:solidFill>
              </a:rPr>
              <a:t>• take+名词</a:t>
            </a:r>
          </a:p>
          <a:p>
            <a:pPr>
              <a:spcBef>
                <a:spcPts val="100"/>
              </a:spcBef>
            </a:pPr>
            <a:r>
              <a:rPr sz="1500">
                <a:solidFill>
                  <a:srgbClr val="556075"/>
                </a:solidFill>
              </a:rPr>
              <a:t>   take measures / take responsibility / take advantage of / take into account</a:t>
            </a:r>
          </a:p>
          <a:p>
            <a:pPr>
              <a:spcBef>
                <a:spcPts val="900"/>
              </a:spcBef>
            </a:pPr>
            <a:r>
              <a:rPr sz="1800" b="1">
                <a:solidFill>
                  <a:srgbClr val="A33607"/>
                </a:solidFill>
              </a:rPr>
              <a:t>• have+名词</a:t>
            </a:r>
          </a:p>
          <a:p>
            <a:pPr>
              <a:spcBef>
                <a:spcPts val="100"/>
              </a:spcBef>
            </a:pPr>
            <a:r>
              <a:rPr sz="1500">
                <a:solidFill>
                  <a:srgbClr val="556075"/>
                </a:solidFill>
              </a:rPr>
              <a:t>   have an impact on / have access to / have the potential to / have concerns about</a:t>
            </a:r>
          </a:p>
          <a:p>
            <a:pPr>
              <a:spcBef>
                <a:spcPts val="900"/>
              </a:spcBef>
            </a:pPr>
            <a:r>
              <a:rPr sz="1800" b="1">
                <a:solidFill>
                  <a:srgbClr val="A33607"/>
                </a:solidFill>
              </a:rPr>
              <a:t>• play+名词</a:t>
            </a:r>
          </a:p>
          <a:p>
            <a:pPr>
              <a:spcBef>
                <a:spcPts val="100"/>
              </a:spcBef>
            </a:pPr>
            <a:r>
              <a:rPr sz="1500">
                <a:solidFill>
                  <a:srgbClr val="556075"/>
                </a:solidFill>
              </a:rPr>
              <a:t>   play a key role / play an important part / play a crucial function</a:t>
            </a:r>
          </a:p>
          <a:p>
            <a:pPr>
              <a:spcBef>
                <a:spcPts val="900"/>
              </a:spcBef>
            </a:pPr>
            <a:r>
              <a:rPr sz="1800" b="1">
                <a:solidFill>
                  <a:srgbClr val="A33607"/>
                </a:solidFill>
              </a:rPr>
              <a:t>• 深圳学生</a:t>
            </a:r>
          </a:p>
          <a:p>
            <a:pPr>
              <a:spcBef>
                <a:spcPts val="100"/>
              </a:spcBef>
            </a:pPr>
            <a:r>
              <a:rPr sz="1500">
                <a:solidFill>
                  <a:srgbClr val="556075"/>
                </a:solidFill>
              </a:rPr>
              <a:t>   常犯：do a mistake / make a travel / do effort——都是错误搭配</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地道习语与固定表达</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Idiomatic &amp; Fixed Expressions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高分开场</a:t>
            </a:r>
          </a:p>
          <a:p>
            <a:pPr>
              <a:spcBef>
                <a:spcPts val="100"/>
              </a:spcBef>
            </a:pPr>
            <a:r>
              <a:rPr sz="1500">
                <a:solidFill>
                  <a:srgbClr val="556075"/>
                </a:solidFill>
              </a:rPr>
              <a:t>   To be honest with you / The way I see it / Speaking from personal experience</a:t>
            </a:r>
          </a:p>
          <a:p>
            <a:pPr>
              <a:spcBef>
                <a:spcPts val="900"/>
              </a:spcBef>
            </a:pPr>
            <a:r>
              <a:rPr sz="1800" b="1">
                <a:solidFill>
                  <a:srgbClr val="A33607"/>
                </a:solidFill>
              </a:rPr>
              <a:t>• 转折连接</a:t>
            </a:r>
          </a:p>
          <a:p>
            <a:pPr>
              <a:spcBef>
                <a:spcPts val="100"/>
              </a:spcBef>
            </a:pPr>
            <a:r>
              <a:rPr sz="1500">
                <a:solidFill>
                  <a:srgbClr val="556075"/>
                </a:solidFill>
              </a:rPr>
              <a:t>   That said / Having said that / I do acknowledge that / on the flip side</a:t>
            </a:r>
          </a:p>
          <a:p>
            <a:pPr>
              <a:spcBef>
                <a:spcPts val="900"/>
              </a:spcBef>
            </a:pPr>
            <a:r>
              <a:rPr sz="1800" b="1">
                <a:solidFill>
                  <a:srgbClr val="A33607"/>
                </a:solidFill>
              </a:rPr>
              <a:t>• 强调表达</a:t>
            </a:r>
          </a:p>
          <a:p>
            <a:pPr>
              <a:spcBef>
                <a:spcPts val="100"/>
              </a:spcBef>
            </a:pPr>
            <a:r>
              <a:rPr sz="1500">
                <a:solidFill>
                  <a:srgbClr val="556075"/>
                </a:solidFill>
              </a:rPr>
              <a:t>   What strikes me most is / I'd go as far as saying / It's worth noting that</a:t>
            </a:r>
          </a:p>
          <a:p>
            <a:pPr>
              <a:spcBef>
                <a:spcPts val="900"/>
              </a:spcBef>
            </a:pPr>
            <a:r>
              <a:rPr sz="1800" b="1">
                <a:solidFill>
                  <a:srgbClr val="A33607"/>
                </a:solidFill>
              </a:rPr>
              <a:t>• 举例说明</a:t>
            </a:r>
          </a:p>
          <a:p>
            <a:pPr>
              <a:spcBef>
                <a:spcPts val="100"/>
              </a:spcBef>
            </a:pPr>
            <a:r>
              <a:rPr sz="1500">
                <a:solidFill>
                  <a:srgbClr val="556075"/>
                </a:solidFill>
              </a:rPr>
              <a:t>   Take [X] as a case in point / A prime example of this would be</a:t>
            </a:r>
          </a:p>
          <a:p>
            <a:pPr>
              <a:spcBef>
                <a:spcPts val="900"/>
              </a:spcBef>
            </a:pPr>
            <a:r>
              <a:rPr sz="1800" b="1">
                <a:solidFill>
                  <a:srgbClr val="A33607"/>
                </a:solidFill>
              </a:rPr>
              <a:t>• 收尾总结</a:t>
            </a:r>
          </a:p>
          <a:p>
            <a:pPr>
              <a:spcBef>
                <a:spcPts val="100"/>
              </a:spcBef>
            </a:pPr>
            <a:r>
              <a:rPr sz="1500">
                <a:solidFill>
                  <a:srgbClr val="556075"/>
                </a:solidFill>
              </a:rPr>
              <a:t>   All things considered / When all is said and done / In the final analysis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搭配错误的常见类型</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动词搭配错：do a mistake→make a mistake / make a travel→go on a trip</a:t>
            </a:r>
          </a:p>
          <a:p>
            <a:pPr>
              <a:spcBef>
                <a:spcPts val="1000"/>
              </a:spcBef>
            </a:pPr>
            <a:r>
              <a:rPr sz="1650">
                <a:solidFill>
                  <a:srgbClr val="1E293B"/>
                </a:solidFill>
              </a:rPr>
              <a:t>• 介词搭配错：interested on→interested in / benefit to→benefit from</a:t>
            </a:r>
          </a:p>
          <a:p>
            <a:pPr>
              <a:spcBef>
                <a:spcPts val="1000"/>
              </a:spcBef>
            </a:pPr>
            <a:r>
              <a:rPr sz="1650">
                <a:solidFill>
                  <a:srgbClr val="1E293B"/>
                </a:solidFill>
              </a:rPr>
              <a:t>• 形容词搭配错：deeply friend→close friend / strong confidence→firm confidence</a:t>
            </a:r>
          </a:p>
          <a:p>
            <a:pPr>
              <a:spcBef>
                <a:spcPts val="1000"/>
              </a:spcBef>
            </a:pPr>
            <a:r>
              <a:rPr sz="1650">
                <a:solidFill>
                  <a:srgbClr val="1E293B"/>
                </a:solidFill>
              </a:rPr>
              <a:t>• 名词搭配错：natural environment→natural/built environment不能乱换</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地道表达记忆技巧</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整体记忆：记"make progress"而非记make+progress分开</a:t>
            </a:r>
          </a:p>
          <a:p>
            <a:pPr>
              <a:spcBef>
                <a:spcPts val="1000"/>
              </a:spcBef>
            </a:pPr>
            <a:r>
              <a:rPr sz="1650">
                <a:solidFill>
                  <a:srgbClr val="1E293B"/>
                </a:solidFill>
              </a:rPr>
              <a:t>• 语境记忆：在例句中记忆——"I've made significant progress in my English"</a:t>
            </a:r>
          </a:p>
          <a:p>
            <a:pPr>
              <a:spcBef>
                <a:spcPts val="1000"/>
              </a:spcBef>
            </a:pPr>
            <a:r>
              <a:rPr sz="1650">
                <a:solidFill>
                  <a:srgbClr val="1E293B"/>
                </a:solidFill>
              </a:rPr>
              <a:t>• 对比记忆：make a mistake vs do a mistake（后者错）——记错误帮助记正确</a:t>
            </a:r>
          </a:p>
          <a:p>
            <a:pPr>
              <a:spcBef>
                <a:spcPts val="1000"/>
              </a:spcBef>
            </a:pPr>
            <a:r>
              <a:rPr sz="1650">
                <a:solidFill>
                  <a:srgbClr val="1E293B"/>
                </a:solidFill>
              </a:rPr>
              <a:t>• 输出检验：每天用3个新搭配造句，不用就会忘</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搭配升级答案示范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"What do young people in China do in their spare time?"
搭配词应用示范</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Young people in China — particularly in cities like Shenzhen — tend to spend their leisure time in quite diverse ways. Many take advantage of the rich entertainment infrastructure that urban environments offer: gaming, streaming services, and social media platforms occupy a significant portion of their free time. However, there's also a growing tendency for young people to pursue personal development activities — learning new skills, attending fitness classes, or investing in side projects. What strikes me most is how entrepreneurially minded Shenzhen's youth are — many use their spare time to develop startup ideas or freelance skills.</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搭配：take advantage of / occupy a significant portion / growing tendency / invest in
习语：what strikes me most is——高分短语
本地素材：Shenzhen / entrepreneurially minded——地道且有说服力</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Fixed Expressions实战示范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"Do you think it is better to live in a city or in the countryside?"
地道表达应用</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Speaking from personal experience, I'd say cities have a clear edge for people in their twenties and thirties — the professional opportunities and cultural richness are simply unparalleled. That said, I do acknowledge the genuine appeal of rural life: a slower pace, closer community ties, and a connection to the natural world that's increasingly rare in hyper-urban environments like Shenzhen. On the flip side, cities offer something that's harder to quantify — a sense of possibility and momentum that's genuinely energising.</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地道开场：Speaking from personal experience
转折：That said / On the flip side——两种不同转折词
习语：have a clear edge / closer community ties / a sense of possibility——避免直接翻译</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词汇激活训练：从被动到主动</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Vocabulary Activation: Passive to Active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词汇激活的核心概念</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Passive vs Active Vocabulary</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被动词汇</a:t>
            </a:r>
          </a:p>
          <a:p>
            <a:pPr>
              <a:spcBef>
                <a:spcPts val="100"/>
              </a:spcBef>
            </a:pPr>
            <a:r>
              <a:rPr sz="1500">
                <a:solidFill>
                  <a:srgbClr val="556075"/>
                </a:solidFill>
              </a:rPr>
              <a:t>   看到或听到能理解，但说话时不会主动用——大多数学过的词</a:t>
            </a:r>
          </a:p>
          <a:p>
            <a:pPr>
              <a:spcBef>
                <a:spcPts val="900"/>
              </a:spcBef>
            </a:pPr>
            <a:r>
              <a:rPr sz="1800" b="1">
                <a:solidFill>
                  <a:srgbClr val="A33607"/>
                </a:solidFill>
              </a:rPr>
              <a:t>• 主动词汇</a:t>
            </a:r>
          </a:p>
          <a:p>
            <a:pPr>
              <a:spcBef>
                <a:spcPts val="100"/>
              </a:spcBef>
            </a:pPr>
            <a:r>
              <a:rPr sz="1500">
                <a:solidFill>
                  <a:srgbClr val="556075"/>
                </a:solidFill>
              </a:rPr>
              <a:t>   说话或写作时能自然输出——真正"掌握"的词汇量</a:t>
            </a:r>
          </a:p>
          <a:p>
            <a:pPr>
              <a:spcBef>
                <a:spcPts val="900"/>
              </a:spcBef>
            </a:pPr>
            <a:r>
              <a:rPr sz="1800" b="1">
                <a:solidFill>
                  <a:srgbClr val="A33607"/>
                </a:solidFill>
              </a:rPr>
              <a:t>• 深圳学生现状</a:t>
            </a:r>
          </a:p>
          <a:p>
            <a:pPr>
              <a:spcBef>
                <a:spcPts val="100"/>
              </a:spcBef>
            </a:pPr>
            <a:r>
              <a:rPr sz="1500">
                <a:solidFill>
                  <a:srgbClr val="556075"/>
                </a:solidFill>
              </a:rPr>
              <a:t>   被动词汇量大（CET-4/6/考研词汇），主动词汇量小（口语输出时只用最简单的词）</a:t>
            </a:r>
          </a:p>
          <a:p>
            <a:pPr>
              <a:spcBef>
                <a:spcPts val="900"/>
              </a:spcBef>
            </a:pPr>
            <a:r>
              <a:rPr sz="1800" b="1">
                <a:solidFill>
                  <a:srgbClr val="A33607"/>
                </a:solidFill>
              </a:rPr>
              <a:t>• 解决方案</a:t>
            </a:r>
          </a:p>
          <a:p>
            <a:pPr>
              <a:spcBef>
                <a:spcPts val="100"/>
              </a:spcBef>
            </a:pPr>
            <a:r>
              <a:rPr sz="1500">
                <a:solidFill>
                  <a:srgbClr val="556075"/>
                </a:solidFill>
              </a:rPr>
              <a:t>   通过大量有意识的输出训练，把被动词汇"激活"为主动词汇</a:t>
            </a:r>
          </a:p>
          <a:p>
            <a:pPr>
              <a:spcBef>
                <a:spcPts val="900"/>
              </a:spcBef>
            </a:pPr>
            <a:r>
              <a:rPr sz="1800" b="1">
                <a:solidFill>
                  <a:srgbClr val="A33607"/>
                </a:solidFill>
              </a:rPr>
              <a:t>• 时间线</a:t>
            </a:r>
          </a:p>
          <a:p>
            <a:pPr>
              <a:spcBef>
                <a:spcPts val="100"/>
              </a:spcBef>
            </a:pPr>
            <a:r>
              <a:rPr sz="1500">
                <a:solidFill>
                  <a:srgbClr val="556075"/>
                </a:solidFill>
              </a:rPr>
              <a:t>   每个词汇需要被有意识地用7-12次才能激活为主动词汇</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词汇激活训练方法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Activation Training Techniques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替换练习</a:t>
            </a:r>
          </a:p>
          <a:p>
            <a:pPr>
              <a:spcBef>
                <a:spcPts val="100"/>
              </a:spcBef>
            </a:pPr>
            <a:r>
              <a:rPr sz="1500">
                <a:solidFill>
                  <a:srgbClr val="556075"/>
                </a:solidFill>
              </a:rPr>
              <a:t>   录音说一个话题，然后回放，把所有普通词替换成更高级的词——再录一次</a:t>
            </a:r>
          </a:p>
          <a:p>
            <a:pPr>
              <a:spcBef>
                <a:spcPts val="900"/>
              </a:spcBef>
            </a:pPr>
            <a:r>
              <a:rPr sz="1800" b="1">
                <a:solidFill>
                  <a:srgbClr val="A33607"/>
                </a:solidFill>
              </a:rPr>
              <a:t>• 词汇卡片法</a:t>
            </a:r>
          </a:p>
          <a:p>
            <a:pPr>
              <a:spcBef>
                <a:spcPts val="100"/>
              </a:spcBef>
            </a:pPr>
            <a:r>
              <a:rPr sz="1500">
                <a:solidFill>
                  <a:srgbClr val="556075"/>
                </a:solidFill>
              </a:rPr>
              <a:t>   每张卡片写1个词：正面是英文+中文，背面是例句和搭配——每天过50张</a:t>
            </a:r>
          </a:p>
          <a:p>
            <a:pPr>
              <a:spcBef>
                <a:spcPts val="900"/>
              </a:spcBef>
            </a:pPr>
            <a:r>
              <a:rPr sz="1800" b="1">
                <a:solidFill>
                  <a:srgbClr val="A33607"/>
                </a:solidFill>
              </a:rPr>
              <a:t>• 强迫输出法</a:t>
            </a:r>
          </a:p>
          <a:p>
            <a:pPr>
              <a:spcBef>
                <a:spcPts val="100"/>
              </a:spcBef>
            </a:pPr>
            <a:r>
              <a:rPr sz="1500">
                <a:solidFill>
                  <a:srgbClr val="556075"/>
                </a:solidFill>
              </a:rPr>
              <a:t>   每天强迫自己在说话时用3-5个新词——即使感觉别扭也要用</a:t>
            </a:r>
          </a:p>
          <a:p>
            <a:pPr>
              <a:spcBef>
                <a:spcPts val="900"/>
              </a:spcBef>
            </a:pPr>
            <a:r>
              <a:rPr sz="1800" b="1">
                <a:solidFill>
                  <a:srgbClr val="A33607"/>
                </a:solidFill>
              </a:rPr>
              <a:t>• 话题预热</a:t>
            </a:r>
          </a:p>
          <a:p>
            <a:pPr>
              <a:spcBef>
                <a:spcPts val="100"/>
              </a:spcBef>
            </a:pPr>
            <a:r>
              <a:rPr sz="1500">
                <a:solidFill>
                  <a:srgbClr val="556075"/>
                </a:solidFill>
              </a:rPr>
              <a:t>   考试前5分钟在脑子里过一遍本场可能涉及的话题词汇</a:t>
            </a:r>
          </a:p>
          <a:p>
            <a:pPr>
              <a:spcBef>
                <a:spcPts val="900"/>
              </a:spcBef>
            </a:pPr>
            <a:r>
              <a:rPr sz="1800" b="1">
                <a:solidFill>
                  <a:srgbClr val="A33607"/>
                </a:solidFill>
              </a:rPr>
              <a:t>• 深圳建议</a:t>
            </a:r>
          </a:p>
          <a:p>
            <a:pPr>
              <a:spcBef>
                <a:spcPts val="100"/>
              </a:spcBef>
            </a:pPr>
            <a:r>
              <a:rPr sz="1500">
                <a:solidFill>
                  <a:srgbClr val="556075"/>
                </a:solidFill>
              </a:rPr>
              <a:t>   通勤时在心里"说"英语——把你看到的事物用英文描述，强迫词汇激活</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词汇激活的优先级</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优先激活：搭配词（make progress/take measures）——因为用错搭配扣分</a:t>
            </a:r>
          </a:p>
          <a:p>
            <a:pPr>
              <a:spcBef>
                <a:spcPts val="1000"/>
              </a:spcBef>
            </a:pPr>
            <a:r>
              <a:rPr sz="1650">
                <a:solidFill>
                  <a:srgbClr val="1E293B"/>
                </a:solidFill>
              </a:rPr>
              <a:t>• 其次激活：话题替换词（significant/substantial/considerable）——提高LR分</a:t>
            </a:r>
          </a:p>
          <a:p>
            <a:pPr>
              <a:spcBef>
                <a:spcPts val="1000"/>
              </a:spcBef>
            </a:pPr>
            <a:r>
              <a:rPr sz="1650">
                <a:solidFill>
                  <a:srgbClr val="1E293B"/>
                </a:solidFill>
              </a:rPr>
              <a:t>• 最后激活：高级词汇（proliferation/stifle/cultivate）——锦上添花</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30天词汇激活计划</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Week 1：教育+科技话题词汇（各15个），每天造句5个</a:t>
            </a:r>
          </a:p>
          <a:p>
            <a:pPr>
              <a:spcBef>
                <a:spcPts val="1000"/>
              </a:spcBef>
            </a:pPr>
            <a:r>
              <a:rPr sz="1650">
                <a:solidFill>
                  <a:srgbClr val="1E293B"/>
                </a:solidFill>
              </a:rPr>
              <a:t>• Week 2：环境+社会话题词汇（各15个），每天录音2分钟</a:t>
            </a:r>
          </a:p>
          <a:p>
            <a:pPr>
              <a:spcBef>
                <a:spcPts val="1000"/>
              </a:spcBef>
            </a:pPr>
            <a:r>
              <a:rPr sz="1650">
                <a:solidFill>
                  <a:srgbClr val="1E293B"/>
                </a:solidFill>
              </a:rPr>
              <a:t>• Week 3：文化话题词汇（15个）+搭配词（20个），每天替换练习</a:t>
            </a:r>
          </a:p>
          <a:p>
            <a:pPr>
              <a:spcBef>
                <a:spcPts val="1000"/>
              </a:spcBef>
            </a:pPr>
            <a:r>
              <a:rPr sz="1650">
                <a:solidFill>
                  <a:srgbClr val="1E293B"/>
                </a:solidFill>
              </a:rPr>
              <a:t>• Week 4：综合输出，模拟Part 1/2/3，检查词汇激活程度</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词汇激活练习示范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"Describe a city you have visited that you particularly liked."
词汇激活前vs后</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激活前（Band 6）：Shenzhen is a very big city and it has a lot of modern buildings. People there are very busy and work very hard. There are many good restaurants and shopping malls. I like it very much because it is very exciting.
激活后（Band 7）：Shenzhen is an extraordinarily dynamic metropolis — one of China's most rapidly developed cities. The skyline is genuinely impressive, with striking modern architecture that reflects the city's ambition. The pace of life is intense, with a culture of innovation and entrepreneurship that's palpably energising.</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激活示范：very big→extraordinarily dynamic / modern buildings→striking modern architecture
new词：metropolis/skyline/palpably/entrepreneurship
练习方法：先说激活前版本，再说激活后版本，重复3次直到自然</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词汇激活日常训练方案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每日15分钟词汇激活训练计划</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早上5分钟：背诵今日5个词汇卡片（英文+中文+例句）
通勤10分钟：在脑子里用今日词汇描述看到的场景
晚上10分钟：录音练习——说一段话，强迫用今日5个词汇
每周一次：回放录音，检查词汇多样性是否提升</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关键：每天坚持15分钟 &gt; 每周一次长时间练习——词汇激活靠频率不靠强度
30天后：主动词汇量提升50%，LR分数通常可提升0.5分</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话题词汇总表</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Topic Vocabulary Reference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教育话题核心词汇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academic achievement</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学术成就（academic achievement requires...）</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rigorous curriculum</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严格的课程（a rigorous curriculum develops critical skills）</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foster critical thinking</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培养批判性思维（education should foster...）</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high-stakes examination</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高利害考试（the pressure of high-stakes exams）</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pedagogical approach</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教学方法（a more student-centred pedagogical approach）</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cultivate curiosity</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培养好奇心（effective teachers cultivate intellectual curiosity）</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bilingual proficiency</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双语能力（bilingual proficiency is a significant advantage）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科技话题核心词汇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digital transformation</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数字化转型（embrace digital transformation）</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technological proliferation</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技术扩散（the rapid proliferation of smartphones）</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disrupt traditional industries</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颠覆传统行业（AI is disrupting...）</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leverage technology</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利用技术（companies leverage technology to...）</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digital connectivity</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数字连接性（digital connectivity has transformed...）</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curated digital persona</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精心塑造的数字人设（posting curated content）</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algorithmic influence</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算法影响（under the influence of recommendation algorithms）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社会/环境/文化词汇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social cohesion</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社会凝聚力（technology can undermine social cohesion）</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environmental sustainability</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环境可持续性（prioritise environmental sustainability）</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carbon footprint</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碳足迹（reduce one's carbon footprint）</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cultural heritage</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文化遗产（preserve cultural heritage）</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globalisation</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全球化（the impact of globalisation on culture）</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demographic shift</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人口结构变化（China's demographic shift）</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urban development</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城市发展（Shenzhen's rapid urban development）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万能高分词汇（任何话题适用）</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undeniably</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不可否认地（undeniably, X has an impact on...）</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significantly</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显著地（has significantly transformed...）</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genuinely</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真正地（I genuinely believe / genuinely complex issue）</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arguably</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可以说（arguably the most important factor...）</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strikingly</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引人注目地（what's strikingly different is...）</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fundamentally</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根本地（has fundamentally changed the way...）</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increasingly</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越来越（is increasingly common / becoming increasingly...）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词汇升级速成技巧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A33607"/>
                </a:solidFill>
                <a:latin typeface="Calibri"/>
              </a:rPr>
              <a:t>替换very</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very→undeniably/genuinely/remarkably/considerably/substantially</a:t>
            </a:r>
          </a:p>
        </p:txBody>
      </p:sp>
      <p:sp>
        <p:nvSpPr>
          <p:cNvPr id="12" name="Rounded Rectangle 11"/>
          <p:cNvSpPr/>
          <p:nvPr/>
        </p:nvSpPr>
        <p:spPr>
          <a:xfrm>
            <a:off x="6355079"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A33607"/>
                </a:solidFill>
                <a:latin typeface="Calibri"/>
              </a:rPr>
              <a:t>替换good/bad</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good→beneficial/valuable/significant / bad→detrimental/concerning/problematic</a:t>
            </a:r>
          </a:p>
        </p:txBody>
      </p:sp>
      <p:sp>
        <p:nvSpPr>
          <p:cNvPr id="16" name="Rounded Rectangle 15"/>
          <p:cNvSpPr/>
          <p:nvPr/>
        </p:nvSpPr>
        <p:spPr>
          <a:xfrm>
            <a:off x="548640"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A33607"/>
                </a:solidFill>
                <a:latin typeface="Calibri"/>
              </a:rPr>
              <a:t>替换a lot of</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a lot of→a significant number of / considerable / substantial / an abundance of</a:t>
            </a:r>
          </a:p>
        </p:txBody>
      </p:sp>
      <p:sp>
        <p:nvSpPr>
          <p:cNvPr id="20" name="Rounded Rectangle 19"/>
          <p:cNvSpPr/>
          <p:nvPr/>
        </p:nvSpPr>
        <p:spPr>
          <a:xfrm>
            <a:off x="6355079"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A33607"/>
                </a:solidFill>
                <a:latin typeface="Calibri"/>
              </a:rPr>
              <a:t>替换important</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important→crucial/pivotal/vital/significant/essential/paramount</a:t>
            </a:r>
          </a:p>
        </p:txBody>
      </p:sp>
      <p:sp>
        <p:nvSpPr>
          <p:cNvPr id="24" name="Rounded Rectangle 23"/>
          <p:cNvSpPr/>
          <p:nvPr/>
        </p:nvSpPr>
        <p:spPr>
          <a:xfrm>
            <a:off x="548640" y="449580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A33607"/>
                </a:solidFill>
                <a:latin typeface="Calibri"/>
              </a:rPr>
              <a:t>搭配记忆</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记"make significant progress"而不是分开记——整体记忆更高效</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L06课后自检清单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建立个人话题词汇卡：5个话题各10个词，完成替换练习</a:t>
            </a:r>
          </a:p>
          <a:p>
            <a:pPr>
              <a:spcBef>
                <a:spcPts val="1200"/>
              </a:spcBef>
            </a:pPr>
            <a:r>
              <a:rPr sz="1600">
                <a:solidFill>
                  <a:srgbClr val="1E293B"/>
                </a:solidFill>
              </a:rPr>
              <a:t>☐ 搭配词练习：用make/take/have/play各造5个搭配例句</a:t>
            </a:r>
          </a:p>
          <a:p>
            <a:pPr>
              <a:spcBef>
                <a:spcPts val="1200"/>
              </a:spcBef>
            </a:pPr>
            <a:r>
              <a:rPr sz="1600">
                <a:solidFill>
                  <a:srgbClr val="1E293B"/>
                </a:solidFill>
              </a:rPr>
              <a:t>☐ 词汇激活训练：录音一段Part 1答案，回放后替换所有普通词，再录一次</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L06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F28C1D"/>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Band 6→7的核心：词汇灵活性——不是背新词，是激活已知词</a:t>
            </a:r>
          </a:p>
          <a:p>
            <a:pPr>
              <a:spcBef>
                <a:spcPts val="1100"/>
              </a:spcBef>
            </a:pPr>
            <a:r>
              <a:rPr sz="1550">
                <a:solidFill>
                  <a:srgbClr val="FFFFFF"/>
                </a:solidFill>
              </a:rPr>
              <a:t>✓  5大话题词库：教育/科技/环境/社会/文化各10+个专有词汇</a:t>
            </a:r>
          </a:p>
          <a:p>
            <a:pPr>
              <a:spcBef>
                <a:spcPts val="1100"/>
              </a:spcBef>
            </a:pPr>
            <a:r>
              <a:rPr sz="1550">
                <a:solidFill>
                  <a:srgbClr val="FFFFFF"/>
                </a:solidFill>
              </a:rPr>
              <a:t>✓  搭配记忆：make/take/have/play+名词——正确搭配影响LR和GRA两个维度</a:t>
            </a:r>
          </a:p>
          <a:p>
            <a:pPr>
              <a:spcBef>
                <a:spcPts val="1100"/>
              </a:spcBef>
            </a:pPr>
            <a:r>
              <a:rPr sz="1550">
                <a:solidFill>
                  <a:srgbClr val="FFFFFF"/>
                </a:solidFill>
              </a:rPr>
              <a:t>✓  词汇激活：每天15分钟，强迫输出新词，30天提升LR 0.5分</a:t>
            </a:r>
          </a:p>
          <a:p>
            <a:pPr>
              <a:spcBef>
                <a:spcPts val="1100"/>
              </a:spcBef>
            </a:pPr>
            <a:r>
              <a:rPr sz="1550">
                <a:solidFill>
                  <a:srgbClr val="FFFFFF"/>
                </a:solidFill>
              </a:rPr>
              <a:t>✓  万能替换：very→undeniably / good→beneficial / important→crucial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L06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F28C1D"/>
                </a:solidFill>
                <a:latin typeface="Calibri"/>
              </a:rPr>
              <a:t>⏱ 建议用时：约60分钟</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建立话题词汇卡：5个话题各制作10张词汇卡片（含例句）</a:t>
            </a:r>
          </a:p>
          <a:p>
            <a:pPr>
              <a:spcBef>
                <a:spcPts val="1300"/>
              </a:spcBef>
            </a:pPr>
            <a:r>
              <a:rPr sz="1550" b="1">
                <a:solidFill>
                  <a:srgbClr val="1E293B"/>
                </a:solidFill>
              </a:rPr>
              <a:t>作业 2　搭配练习：每天用10个搭配造句，并大声说出来</a:t>
            </a:r>
          </a:p>
          <a:p>
            <a:pPr>
              <a:spcBef>
                <a:spcPts val="1300"/>
              </a:spcBef>
            </a:pPr>
            <a:r>
              <a:rPr sz="1550" b="1">
                <a:solidFill>
                  <a:srgbClr val="1E293B"/>
                </a:solidFill>
              </a:rPr>
              <a:t>作业 3　词汇激活训练：每晚录音15分钟，强迫使用今日新词</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F28C1D"/>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L07 · 流利度与连贯性：让答案流畅不卡壳</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填充语与思考词：合法争取时间而不显得停顿</a:t>
            </a:r>
          </a:p>
          <a:p>
            <a:pPr>
              <a:spcBef>
                <a:spcPts val="1000"/>
              </a:spcBef>
            </a:pPr>
            <a:r>
              <a:rPr sz="1600">
                <a:solidFill>
                  <a:srgbClr val="CFDCF2"/>
                </a:solidFill>
              </a:rPr>
              <a:t>→ 连接词系统：CC评分的关键——让逻辑清晰</a:t>
            </a:r>
          </a:p>
          <a:p>
            <a:pPr>
              <a:spcBef>
                <a:spcPts val="1000"/>
              </a:spcBef>
            </a:pPr>
            <a:r>
              <a:rPr sz="1600">
                <a:solidFill>
                  <a:srgbClr val="CFDCF2"/>
                </a:solidFill>
              </a:rPr>
              <a:t>→ 语速控制：适当慢速比快速更好——清晰比速度重要</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06</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词汇升级综合输出</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Vocabulary Upgrade: Comprehensive Output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环境与文化话题词汇深化</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Environment &amp; Culture Vocabulary in Depth</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环境话题词汇体系</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Environmental Vocabulary System</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问题描述</a:t>
            </a:r>
          </a:p>
          <a:p>
            <a:pPr>
              <a:spcBef>
                <a:spcPts val="100"/>
              </a:spcBef>
            </a:pPr>
            <a:r>
              <a:rPr sz="1500">
                <a:solidFill>
                  <a:srgbClr val="556075"/>
                </a:solidFill>
              </a:rPr>
              <a:t>   environmental degradation / ecological imbalance / carbon emissions / pollution</a:t>
            </a:r>
          </a:p>
          <a:p>
            <a:pPr>
              <a:spcBef>
                <a:spcPts val="900"/>
              </a:spcBef>
            </a:pPr>
            <a:r>
              <a:rPr sz="1800" b="1">
                <a:solidFill>
                  <a:srgbClr val="A33607"/>
                </a:solidFill>
              </a:rPr>
              <a:t>• 解决方案</a:t>
            </a:r>
          </a:p>
          <a:p>
            <a:pPr>
              <a:spcBef>
                <a:spcPts val="100"/>
              </a:spcBef>
            </a:pPr>
            <a:r>
              <a:rPr sz="1500">
                <a:solidFill>
                  <a:srgbClr val="556075"/>
                </a:solidFill>
              </a:rPr>
              <a:t>   renewable energy / sustainable practices / carbon neutrality / conservation</a:t>
            </a:r>
          </a:p>
          <a:p>
            <a:pPr>
              <a:spcBef>
                <a:spcPts val="900"/>
              </a:spcBef>
            </a:pPr>
            <a:r>
              <a:rPr sz="1800" b="1">
                <a:solidFill>
                  <a:srgbClr val="A33607"/>
                </a:solidFill>
              </a:rPr>
              <a:t>• 政策层面</a:t>
            </a:r>
          </a:p>
          <a:p>
            <a:pPr>
              <a:spcBef>
                <a:spcPts val="100"/>
              </a:spcBef>
            </a:pPr>
            <a:r>
              <a:rPr sz="1500">
                <a:solidFill>
                  <a:srgbClr val="556075"/>
                </a:solidFill>
              </a:rPr>
              <a:t>   legislative measures / regulatory framework / international cooperation</a:t>
            </a:r>
          </a:p>
          <a:p>
            <a:pPr>
              <a:spcBef>
                <a:spcPts val="900"/>
              </a:spcBef>
            </a:pPr>
            <a:r>
              <a:rPr sz="1800" b="1">
                <a:solidFill>
                  <a:srgbClr val="A33607"/>
                </a:solidFill>
              </a:rPr>
              <a:t>• 个人层面</a:t>
            </a:r>
          </a:p>
          <a:p>
            <a:pPr>
              <a:spcBef>
                <a:spcPts val="100"/>
              </a:spcBef>
            </a:pPr>
            <a:r>
              <a:rPr sz="1500">
                <a:solidFill>
                  <a:srgbClr val="556075"/>
                </a:solidFill>
              </a:rPr>
              <a:t>   eco-conscious choices / reduce carbon footprint / sustainable lifestyle</a:t>
            </a:r>
          </a:p>
          <a:p>
            <a:pPr>
              <a:spcBef>
                <a:spcPts val="900"/>
              </a:spcBef>
            </a:pPr>
            <a:r>
              <a:rPr sz="1800" b="1">
                <a:solidFill>
                  <a:srgbClr val="A33607"/>
                </a:solidFill>
              </a:rPr>
              <a:t>• 深圳特色</a:t>
            </a:r>
          </a:p>
          <a:p>
            <a:pPr>
              <a:spcBef>
                <a:spcPts val="100"/>
              </a:spcBef>
            </a:pPr>
            <a:r>
              <a:rPr sz="1500">
                <a:solidFill>
                  <a:srgbClr val="556075"/>
                </a:solidFill>
              </a:rPr>
              <a:t>   Shenzhen's green building initiatives / low-carbon transport / Bay Area ecology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文化话题词汇体系</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Cultural Vocabulary System</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全球化</a:t>
            </a:r>
          </a:p>
          <a:p>
            <a:pPr>
              <a:spcBef>
                <a:spcPts val="100"/>
              </a:spcBef>
            </a:pPr>
            <a:r>
              <a:rPr sz="1500">
                <a:solidFill>
                  <a:srgbClr val="556075"/>
                </a:solidFill>
              </a:rPr>
              <a:t>   globalisation / cultural homogenisation / cross-cultural exchange / westernisation</a:t>
            </a:r>
          </a:p>
          <a:p>
            <a:pPr>
              <a:spcBef>
                <a:spcPts val="900"/>
              </a:spcBef>
            </a:pPr>
            <a:r>
              <a:rPr sz="1800" b="1">
                <a:solidFill>
                  <a:srgbClr val="A33607"/>
                </a:solidFill>
              </a:rPr>
              <a:t>• 文化保护</a:t>
            </a:r>
          </a:p>
          <a:p>
            <a:pPr>
              <a:spcBef>
                <a:spcPts val="100"/>
              </a:spcBef>
            </a:pPr>
            <a:r>
              <a:rPr sz="1500">
                <a:solidFill>
                  <a:srgbClr val="556075"/>
                </a:solidFill>
              </a:rPr>
              <a:t>   cultural heritage / intangible culture / traditional customs / preservation</a:t>
            </a:r>
          </a:p>
          <a:p>
            <a:pPr>
              <a:spcBef>
                <a:spcPts val="900"/>
              </a:spcBef>
            </a:pPr>
            <a:r>
              <a:rPr sz="1800" b="1">
                <a:solidFill>
                  <a:srgbClr val="A33607"/>
                </a:solidFill>
              </a:rPr>
              <a:t>• 身份认同</a:t>
            </a:r>
          </a:p>
          <a:p>
            <a:pPr>
              <a:spcBef>
                <a:spcPts val="100"/>
              </a:spcBef>
            </a:pPr>
            <a:r>
              <a:rPr sz="1500">
                <a:solidFill>
                  <a:srgbClr val="556075"/>
                </a:solidFill>
              </a:rPr>
              <a:t>   cultural identity / sense of belonging / cultural roots / multicultural</a:t>
            </a:r>
          </a:p>
          <a:p>
            <a:pPr>
              <a:spcBef>
                <a:spcPts val="900"/>
              </a:spcBef>
            </a:pPr>
            <a:r>
              <a:rPr sz="1800" b="1">
                <a:solidFill>
                  <a:srgbClr val="A33607"/>
                </a:solidFill>
              </a:rPr>
              <a:t>• 变迁</a:t>
            </a:r>
          </a:p>
          <a:p>
            <a:pPr>
              <a:spcBef>
                <a:spcPts val="100"/>
              </a:spcBef>
            </a:pPr>
            <a:r>
              <a:rPr sz="1500">
                <a:solidFill>
                  <a:srgbClr val="556075"/>
                </a:solidFill>
              </a:rPr>
              <a:t>   cultural shift / social evolution / generational gap / modernisation</a:t>
            </a:r>
          </a:p>
          <a:p>
            <a:pPr>
              <a:spcBef>
                <a:spcPts val="900"/>
              </a:spcBef>
            </a:pPr>
            <a:r>
              <a:rPr sz="1800" b="1">
                <a:solidFill>
                  <a:srgbClr val="A33607"/>
                </a:solidFill>
              </a:rPr>
              <a:t>• 深圳特色</a:t>
            </a:r>
          </a:p>
          <a:p>
            <a:pPr>
              <a:spcBef>
                <a:spcPts val="100"/>
              </a:spcBef>
            </a:pPr>
            <a:r>
              <a:rPr sz="1500">
                <a:solidFill>
                  <a:srgbClr val="556075"/>
                </a:solidFill>
              </a:rPr>
              <a:t>   Shenzhen's multicultural population / migrant culture / innovation culture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话题词汇使用密度建议</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每个Part 3答案：至少3个话题专有词汇（不算万能词）</a:t>
            </a:r>
          </a:p>
          <a:p>
            <a:pPr>
              <a:spcBef>
                <a:spcPts val="1000"/>
              </a:spcBef>
            </a:pPr>
            <a:r>
              <a:rPr sz="1650">
                <a:solidFill>
                  <a:srgbClr val="1E293B"/>
                </a:solidFill>
              </a:rPr>
              <a:t>• 教育类：academic / curriculum / pedagogy / cognitive / bilingual</a:t>
            </a:r>
          </a:p>
          <a:p>
            <a:pPr>
              <a:spcBef>
                <a:spcPts val="1000"/>
              </a:spcBef>
            </a:pPr>
            <a:r>
              <a:rPr sz="1650">
                <a:solidFill>
                  <a:srgbClr val="1E293B"/>
                </a:solidFill>
              </a:rPr>
              <a:t>• 科技类：digital / algorithmic / disrupt / proliferation / connectivity</a:t>
            </a:r>
          </a:p>
          <a:p>
            <a:pPr>
              <a:spcBef>
                <a:spcPts val="1000"/>
              </a:spcBef>
            </a:pPr>
            <a:r>
              <a:rPr sz="1650">
                <a:solidFill>
                  <a:srgbClr val="1E293B"/>
                </a:solidFill>
              </a:rPr>
              <a:t>• 环境类：sustainability / carbon / ecological / renewable / conservation</a:t>
            </a:r>
          </a:p>
          <a:p>
            <a:pPr>
              <a:spcBef>
                <a:spcPts val="1000"/>
              </a:spcBef>
            </a:pPr>
            <a:r>
              <a:rPr sz="1650">
                <a:solidFill>
                  <a:srgbClr val="1E293B"/>
                </a:solidFill>
              </a:rPr>
              <a:t>• 文化类：heritage / identity / globalisation / homogenisation / multicultural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词汇多样性训练：替换练习</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以下词汇各有3种不同替换：</a:t>
            </a:r>
          </a:p>
          <a:p>
            <a:pPr>
              <a:spcBef>
                <a:spcPts val="1000"/>
              </a:spcBef>
            </a:pPr>
            <a:r>
              <a:rPr sz="1650">
                <a:solidFill>
                  <a:srgbClr val="1E293B"/>
                </a:solidFill>
              </a:rPr>
              <a:t>• good→beneficial / advantageous / valuable / worthwhile / constructive</a:t>
            </a:r>
          </a:p>
          <a:p>
            <a:pPr>
              <a:spcBef>
                <a:spcPts val="1000"/>
              </a:spcBef>
            </a:pPr>
            <a:r>
              <a:rPr sz="1650">
                <a:solidFill>
                  <a:srgbClr val="1E293B"/>
                </a:solidFill>
              </a:rPr>
              <a:t>• bad→detrimental / harmful / problematic / concerning / counterproductive</a:t>
            </a:r>
          </a:p>
          <a:p>
            <a:pPr>
              <a:spcBef>
                <a:spcPts val="1000"/>
              </a:spcBef>
            </a:pPr>
            <a:r>
              <a:rPr sz="1650">
                <a:solidFill>
                  <a:srgbClr val="1E293B"/>
                </a:solidFill>
              </a:rPr>
              <a:t>• change→transform / reshape / alter / shift / evolve / modify</a:t>
            </a:r>
          </a:p>
          <a:p>
            <a:pPr>
              <a:spcBef>
                <a:spcPts val="1000"/>
              </a:spcBef>
            </a:pPr>
            <a:r>
              <a:rPr sz="1650">
                <a:solidFill>
                  <a:srgbClr val="1E293B"/>
                </a:solidFill>
              </a:rPr>
              <a:t>• important→crucial / vital / pivotal / essential / significant / paramount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环境话题词汇示范答案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"Do you think individuals can make a real difference to environmental problems?"
话题词汇密集应用</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I'd argue that individual action is meaningful but insufficient on its own. The reality is that major environmental degradation — carbon emissions, deforestation, ocean pollution — stems primarily from industrial and governmental decisions that individuals cannot directly control. That said, I do think eco-conscious choices at the personal level are important for two reasons: first, they create a cultural shift in what's considered acceptable, and second, when aggregated across millions of people, they do reduce collective carbon footprints. In Shenzhen, I've noticed a real generational shift — younger residents are far more likely to prioritise sustainability than older generations, which suggests this cultural evolution is real, even if slow.</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话题词汇：environmental degradation / carbon emissions / deforestation / eco-conscious / carbon footprint / cultural shift / sustainability
万能词：meaningful / insufficient / primarily / aggregated / collective
搭配：stems from / prioritise sustainability / generational shift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文化话题词汇示范答案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"Is globalisation a threat to cultural diversity?"
话题词汇系统应用</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It's a nuanced picture, I think. On one hand, globalisation has undeniably accelerated cultural homogenisation — Western brands, entertainment, and lifestyle norms are now pervasive in even traditionally distinct cultures. This does represent a genuine threat to cultural heritage and local traditions. On the other hand, globalisation has also created unprecedented opportunities for cross-cultural exchange — minority cultures now have global platforms that didn't exist a generation ago. In Shenzhen, I think we see this tension clearly: it's a deeply modern, international city, yet Cantonese food culture and Hakka traditions still thrive alongside global brands. Cultural identity, it seems, is more resilient than critics fear.</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文化词汇：cultural homogenisation / cultural heritage / cross-cultural exchange / cultural identity / multicultural
结构：On one hand...On the other hand——对比结构
本地素材：Cantonese / Hakka traditions / Shenzhen——地方化</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7+词汇示范：教育话题完整答案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84048"/>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题目："Do you think academic pressure on young people in China is too high?"</a:t>
            </a:r>
          </a:p>
        </p:txBody>
      </p:sp>
      <p:sp>
        <p:nvSpPr>
          <p:cNvPr id="10" name="Rounded Rectangle 9"/>
          <p:cNvSpPr/>
          <p:nvPr/>
        </p:nvSpPr>
        <p:spPr>
          <a:xfrm>
            <a:off x="548640" y="1783080"/>
            <a:ext cx="7040880" cy="41605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I'd argue it's genuinely excessive in many cases, though I recognise there are structural reasons for it. The sheer intensity of China's gaokao system creates a high-stakes environment where academic achievement is perceived as the primary determinant of life outcomes — which, to be fair, it largely is. This inevitably generates enormous psychological pressure, particularly for students in competitive urban environments like Shenzhen. That said, I do think there's growing awareness of the mental health implications, and we're seeing policy shifts — the "double reduction" policy is one attempt to ease academic burden. Whether it succeeds is, I think, a genuinely open question.</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8C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词汇：high-stakes / primary determinant / inevitably / psychological pressure / implications</a:t>
            </a:r>
          </a:p>
          <a:p>
            <a:pPr>
              <a:spcBef>
                <a:spcPts val="700"/>
              </a:spcBef>
            </a:pPr>
            <a:r>
              <a:rPr sz="1200">
                <a:solidFill>
                  <a:srgbClr val="1E293B"/>
                </a:solidFill>
              </a:rPr>
              <a:t>▸ 搭配：generates pressure / policy shifts / ease academic burden</a:t>
            </a:r>
          </a:p>
          <a:p>
            <a:pPr>
              <a:spcBef>
                <a:spcPts val="700"/>
              </a:spcBef>
            </a:pPr>
            <a:r>
              <a:rPr sz="1200">
                <a:solidFill>
                  <a:srgbClr val="1E293B"/>
                </a:solidFill>
              </a:rPr>
              <a:t>▸ 结构：though / to be fair / That said / Whether it succeeds is——让步层次丰富</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7+词汇示范：科技话题完整答案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84048"/>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题目："Do you think social media has made people more or less connected?"</a:t>
            </a:r>
          </a:p>
        </p:txBody>
      </p:sp>
      <p:sp>
        <p:nvSpPr>
          <p:cNvPr id="10" name="Rounded Rectangle 9"/>
          <p:cNvSpPr/>
          <p:nvPr/>
        </p:nvSpPr>
        <p:spPr>
          <a:xfrm>
            <a:off x="548640" y="1783080"/>
            <a:ext cx="7040880" cy="41605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I'd say it's done both simultaneously, though in different dimensions. Social media has undeniably expanded the quantitative scale of human connectivity — I can maintain relationships with hundreds of people across the globe with minimal effort, which is genuinely unprecedented. However, the qualitative depth of those connections is another matter entirely. There's compelling evidence that constant digital interaction can actually erode the capacity for deep, sustained attention in face-to-face relationships. What concerns me most is what I'd call the "proximity paradox" — people sitting in the same room, each absorbed in their own digital world. Shenzhen's tech-forward culture makes this tension particularly visible.</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8C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词汇：quantitative scale / unprecedented / qualitative depth / erode / sustained attention</a:t>
            </a:r>
          </a:p>
          <a:p>
            <a:pPr>
              <a:spcBef>
                <a:spcPts val="700"/>
              </a:spcBef>
            </a:pPr>
            <a:r>
              <a:rPr sz="1200">
                <a:solidFill>
                  <a:srgbClr val="1E293B"/>
                </a:solidFill>
              </a:rPr>
              <a:t>▸ 创新表达："proximity paradox"——自创概念词，展示高级思维</a:t>
            </a:r>
          </a:p>
          <a:p>
            <a:pPr>
              <a:spcBef>
                <a:spcPts val="700"/>
              </a:spcBef>
            </a:pPr>
            <a:r>
              <a:rPr sz="1200">
                <a:solidFill>
                  <a:srgbClr val="1E293B"/>
                </a:solidFill>
              </a:rPr>
              <a:t>▸ 结构：though in different dimensions / However...is another matter entirely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Band 6 vs Band 7 词汇密度对比</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Band 6（词汇单调）</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Band 7（词汇精准）</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"I think education is very important."</a:t>
            </a:r>
          </a:p>
          <a:p>
            <a:pPr>
              <a:spcBef>
                <a:spcPts val="700"/>
              </a:spcBef>
            </a:pPr>
            <a:r>
              <a:rPr sz="1350">
                <a:solidFill>
                  <a:srgbClr val="C02A2A"/>
                </a:solidFill>
              </a:rPr>
              <a:t>✗ "Technology is good for society."</a:t>
            </a:r>
          </a:p>
          <a:p>
            <a:pPr>
              <a:spcBef>
                <a:spcPts val="700"/>
              </a:spcBef>
            </a:pPr>
            <a:r>
              <a:rPr sz="1350">
                <a:solidFill>
                  <a:srgbClr val="C02A2A"/>
                </a:solidFill>
              </a:rPr>
              <a:t>✗ "People are very busy in big cities."</a:t>
            </a:r>
          </a:p>
          <a:p>
            <a:pPr>
              <a:spcBef>
                <a:spcPts val="700"/>
              </a:spcBef>
            </a:pPr>
            <a:r>
              <a:rPr sz="1350">
                <a:solidFill>
                  <a:srgbClr val="C02A2A"/>
                </a:solidFill>
              </a:rPr>
              <a:t>✗ "The environment is very bad now."</a:t>
            </a:r>
          </a:p>
          <a:p>
            <a:pPr>
              <a:spcBef>
                <a:spcPts val="700"/>
              </a:spcBef>
            </a:pPr>
            <a:r>
              <a:rPr sz="1350">
                <a:solidFill>
                  <a:srgbClr val="C02A2A"/>
                </a:solidFill>
              </a:rPr>
              <a:t>✗ 共同问题：very+形容词×4 / 无话题专有词 / 无搭配升级</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"Education is arguably the most pivotal investment in a society's future."</a:t>
            </a:r>
          </a:p>
          <a:p>
            <a:pPr>
              <a:spcBef>
                <a:spcPts val="700"/>
              </a:spcBef>
            </a:pPr>
            <a:r>
              <a:rPr sz="1350">
                <a:solidFill>
                  <a:srgbClr val="1B7A3D"/>
                </a:solidFill>
              </a:rPr>
              <a:t>✓ "Technology has fundamentally transformed social dynamics."</a:t>
            </a:r>
          </a:p>
          <a:p>
            <a:pPr>
              <a:spcBef>
                <a:spcPts val="700"/>
              </a:spcBef>
            </a:pPr>
            <a:r>
              <a:rPr sz="1350">
                <a:solidFill>
                  <a:srgbClr val="1B7A3D"/>
                </a:solidFill>
              </a:rPr>
              <a:t>✓ "Urban residents face unprecedented time pressure."</a:t>
            </a:r>
          </a:p>
          <a:p>
            <a:pPr>
              <a:spcBef>
                <a:spcPts val="700"/>
              </a:spcBef>
            </a:pPr>
            <a:r>
              <a:rPr sz="1350">
                <a:solidFill>
                  <a:srgbClr val="1B7A3D"/>
                </a:solidFill>
              </a:rPr>
              <a:t>✓ "Environmental degradation has reached a critical juncture."</a:t>
            </a:r>
          </a:p>
          <a:p>
            <a:pPr>
              <a:spcBef>
                <a:spcPts val="700"/>
              </a:spcBef>
            </a:pPr>
            <a:r>
              <a:rPr sz="1350">
                <a:solidFill>
                  <a:srgbClr val="1B7A3D"/>
                </a:solidFill>
              </a:rPr>
              <a:t>✓ 升级：话题词汇+精准搭配+副词选择——4句话分别提升1-1.5分</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话题词汇 vs 万能词汇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话题专有词汇（Topic-Specific）</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万能词汇（Universal Vocabulary）</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"academic achievement/curriculum/pedagogical"（教育）</a:t>
            </a:r>
          </a:p>
          <a:p>
            <a:pPr>
              <a:spcBef>
                <a:spcPts val="700"/>
              </a:spcBef>
            </a:pPr>
            <a:r>
              <a:rPr sz="1350">
                <a:solidFill>
                  <a:srgbClr val="C02A2A"/>
                </a:solidFill>
              </a:rPr>
              <a:t>✗ "proliferation/algorithmic/connectivity"（科技）</a:t>
            </a:r>
          </a:p>
          <a:p>
            <a:pPr>
              <a:spcBef>
                <a:spcPts val="700"/>
              </a:spcBef>
            </a:pPr>
            <a:r>
              <a:rPr sz="1350">
                <a:solidFill>
                  <a:srgbClr val="C02A2A"/>
                </a:solidFill>
              </a:rPr>
              <a:t>✗ "carbon footprint/renewable/ecological"（环境）</a:t>
            </a:r>
          </a:p>
          <a:p>
            <a:pPr>
              <a:spcBef>
                <a:spcPts val="700"/>
              </a:spcBef>
            </a:pPr>
            <a:r>
              <a:rPr sz="1350">
                <a:solidFill>
                  <a:srgbClr val="C02A2A"/>
                </a:solidFill>
              </a:rPr>
              <a:t>✗ "cultural heritage/homogenisation/identity"（文化）</a:t>
            </a:r>
          </a:p>
          <a:p>
            <a:pPr>
              <a:spcBef>
                <a:spcPts val="700"/>
              </a:spcBef>
            </a:pPr>
            <a:r>
              <a:rPr sz="1350">
                <a:solidFill>
                  <a:srgbClr val="C02A2A"/>
                </a:solidFill>
              </a:rPr>
              <a:t>✗ 特点：只在特定话题使用，展示话题专业度</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"significant/substantial/considerable"（替换very+形容词）</a:t>
            </a:r>
          </a:p>
          <a:p>
            <a:pPr>
              <a:spcBef>
                <a:spcPts val="700"/>
              </a:spcBef>
            </a:pPr>
            <a:r>
              <a:rPr sz="1350">
                <a:solidFill>
                  <a:srgbClr val="1B7A3D"/>
                </a:solidFill>
              </a:rPr>
              <a:t>✓ "fundamentally/genuinely/undeniably"（替换very+副词）</a:t>
            </a:r>
          </a:p>
          <a:p>
            <a:pPr>
              <a:spcBef>
                <a:spcPts val="700"/>
              </a:spcBef>
            </a:pPr>
            <a:r>
              <a:rPr sz="1350">
                <a:solidFill>
                  <a:srgbClr val="1B7A3D"/>
                </a:solidFill>
              </a:rPr>
              <a:t>✓ "implications/dynamics/trajectory"（高级名词）</a:t>
            </a:r>
          </a:p>
          <a:p>
            <a:pPr>
              <a:spcBef>
                <a:spcPts val="700"/>
              </a:spcBef>
            </a:pPr>
            <a:r>
              <a:rPr sz="1350">
                <a:solidFill>
                  <a:srgbClr val="1B7A3D"/>
                </a:solidFill>
              </a:rPr>
              <a:t>✓ "stems from/gives rise to/leads to"（因果搭配）</a:t>
            </a:r>
          </a:p>
          <a:p>
            <a:pPr>
              <a:spcBef>
                <a:spcPts val="700"/>
              </a:spcBef>
            </a:pPr>
            <a:r>
              <a:rPr sz="1350">
                <a:solidFill>
                  <a:srgbClr val="1B7A3D"/>
                </a:solidFill>
              </a:rPr>
              <a:t>✓ 特点：任何话题都适用，是LR底层基础</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词汇升级30天冲刺计划</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8016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A33607"/>
                </a:solidFill>
                <a:latin typeface="Calibri"/>
              </a:rPr>
              <a:t>Week 1：万能词汇激活</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每天15分钟：背5个万能词汇+造3个例句。目标：30个万能词汇进入主动词汇</a:t>
            </a:r>
          </a:p>
        </p:txBody>
      </p:sp>
      <p:sp>
        <p:nvSpPr>
          <p:cNvPr id="13" name="Rounded Rectangle 12"/>
          <p:cNvSpPr/>
          <p:nvPr/>
        </p:nvSpPr>
        <p:spPr>
          <a:xfrm>
            <a:off x="548640" y="233172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A33607"/>
                </a:solidFill>
                <a:latin typeface="Calibri"/>
              </a:rPr>
              <a:t>Week 2：话题词库建立</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每天15分钟：建立1个话题词库（10个词+搭配+例句）。目标：5个话题词库完成</a:t>
            </a:r>
          </a:p>
        </p:txBody>
      </p:sp>
      <p:sp>
        <p:nvSpPr>
          <p:cNvPr id="18" name="Rounded Rectangle 17"/>
          <p:cNvSpPr/>
          <p:nvPr/>
        </p:nvSpPr>
        <p:spPr>
          <a:xfrm>
            <a:off x="548640" y="3383279"/>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404164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383279"/>
            <a:ext cx="10058400" cy="411480"/>
          </a:xfrm>
          <a:prstGeom prst="rect">
            <a:avLst/>
          </a:prstGeom>
          <a:noFill/>
        </p:spPr>
        <p:txBody>
          <a:bodyPr wrap="square" anchor="t">
            <a:spAutoFit/>
          </a:bodyPr>
          <a:lstStyle/>
          <a:p>
            <a:pPr algn="l"/>
            <a:r>
              <a:rPr sz="1600" b="1" i="0">
                <a:solidFill>
                  <a:srgbClr val="A33607"/>
                </a:solidFill>
                <a:latin typeface="Calibri"/>
              </a:rPr>
              <a:t>Week 3：搭配词强化</a:t>
            </a:r>
          </a:p>
        </p:txBody>
      </p:sp>
      <p:sp>
        <p:nvSpPr>
          <p:cNvPr id="22" name="TextBox 21"/>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每天15分钟：专项练习make/take/have/play搭配，造句录音。目标：20个正确搭配</a:t>
            </a:r>
          </a:p>
        </p:txBody>
      </p:sp>
      <p:sp>
        <p:nvSpPr>
          <p:cNvPr id="23" name="Rounded Rectangle 22"/>
          <p:cNvSpPr/>
          <p:nvPr/>
        </p:nvSpPr>
        <p:spPr>
          <a:xfrm>
            <a:off x="548640" y="443484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48970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TextBox 24"/>
          <p:cNvSpPr txBox="1"/>
          <p:nvPr/>
        </p:nvSpPr>
        <p:spPr>
          <a:xfrm>
            <a:off x="1417320" y="4434840"/>
            <a:ext cx="10058400" cy="411480"/>
          </a:xfrm>
          <a:prstGeom prst="rect">
            <a:avLst/>
          </a:prstGeom>
          <a:noFill/>
        </p:spPr>
        <p:txBody>
          <a:bodyPr wrap="square" anchor="t">
            <a:spAutoFit/>
          </a:bodyPr>
          <a:lstStyle/>
          <a:p>
            <a:pPr algn="l"/>
            <a:r>
              <a:rPr sz="1600" b="1" i="0">
                <a:solidFill>
                  <a:srgbClr val="A33607"/>
                </a:solidFill>
                <a:latin typeface="Calibri"/>
              </a:rPr>
              <a:t>Week 4：输出检验</a:t>
            </a:r>
          </a:p>
        </p:txBody>
      </p:sp>
      <p:sp>
        <p:nvSpPr>
          <p:cNvPr id="26" name="TextBox 25"/>
          <p:cNvSpPr txBox="1"/>
          <p:nvPr/>
        </p:nvSpPr>
        <p:spPr>
          <a:xfrm>
            <a:off x="1417320" y="4800600"/>
            <a:ext cx="10058400" cy="685799"/>
          </a:xfrm>
          <a:prstGeom prst="rect">
            <a:avLst/>
          </a:prstGeom>
          <a:noFill/>
        </p:spPr>
        <p:txBody>
          <a:bodyPr wrap="square" anchor="t">
            <a:spAutoFit/>
          </a:bodyPr>
          <a:lstStyle/>
          <a:p>
            <a:pPr algn="l"/>
            <a:r>
              <a:rPr sz="1350" b="0" i="0">
                <a:solidFill>
                  <a:srgbClr val="556075"/>
                </a:solidFill>
                <a:latin typeface="Calibri"/>
              </a:rPr>
              <a:t>每天15分钟：录音Part 3答案，检查词汇密度（高级词≥3个/答案）。目标：LR稳定7分</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词汇升级课堂练习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88720"/>
            <a:ext cx="11064240" cy="640080"/>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以下普通词汇，2分钟内写出3种高级替换</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"very good"→ ①___ ②___ ③___</a:t>
            </a:r>
          </a:p>
          <a:p>
            <a:pPr>
              <a:spcBef>
                <a:spcPts val="1100"/>
              </a:spcBef>
            </a:pPr>
            <a:r>
              <a:rPr sz="1500">
                <a:solidFill>
                  <a:srgbClr val="1E293B"/>
                </a:solidFill>
              </a:rPr>
              <a:t>▢ "a lot of"→ ①___ ②___ ③___</a:t>
            </a:r>
          </a:p>
          <a:p>
            <a:pPr>
              <a:spcBef>
                <a:spcPts val="1100"/>
              </a:spcBef>
            </a:pPr>
            <a:r>
              <a:rPr sz="1500">
                <a:solidFill>
                  <a:srgbClr val="1E293B"/>
                </a:solidFill>
              </a:rPr>
              <a:t>▢ "because"→ ①___ ②___ ③___</a:t>
            </a:r>
          </a:p>
          <a:p>
            <a:pPr>
              <a:spcBef>
                <a:spcPts val="1100"/>
              </a:spcBef>
            </a:pPr>
            <a:r>
              <a:rPr sz="1500">
                <a:solidFill>
                  <a:srgbClr val="1E293B"/>
                </a:solidFill>
              </a:rPr>
              <a:t>▢ "change"→ ①___ ②___ ③___</a:t>
            </a:r>
          </a:p>
          <a:p>
            <a:pPr>
              <a:spcBef>
                <a:spcPts val="1100"/>
              </a:spcBef>
            </a:pPr>
            <a:r>
              <a:rPr sz="1500">
                <a:solidFill>
                  <a:srgbClr val="1E293B"/>
                </a:solidFill>
              </a:rPr>
              <a:t>▢ 参考答案：beneficial/valuable/constructive / substantial/considerable/extensive / largely due to/this stems from/as a consequence of / transform/reshape/evolve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词汇提升的三个阶段</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8016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A33607"/>
                </a:solidFill>
                <a:latin typeface="Calibri"/>
              </a:rPr>
              <a:t>阶段1：识别（第1-2周）</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遇到新词时，先查搭配和例句，不只记中文意思——掌握用法比记词义更重要</a:t>
            </a:r>
          </a:p>
        </p:txBody>
      </p:sp>
      <p:sp>
        <p:nvSpPr>
          <p:cNvPr id="13" name="Rounded Rectangle 12"/>
          <p:cNvSpPr/>
          <p:nvPr/>
        </p:nvSpPr>
        <p:spPr>
          <a:xfrm>
            <a:off x="548640" y="233172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A33607"/>
                </a:solidFill>
                <a:latin typeface="Calibri"/>
              </a:rPr>
              <a:t>阶段2：模仿（第3-4周）</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在练习中强迫使用新词——即使感觉不自然也要用，熟悉度从使用中来</a:t>
            </a:r>
          </a:p>
        </p:txBody>
      </p:sp>
      <p:sp>
        <p:nvSpPr>
          <p:cNvPr id="18" name="Rounded Rectangle 17"/>
          <p:cNvSpPr/>
          <p:nvPr/>
        </p:nvSpPr>
        <p:spPr>
          <a:xfrm>
            <a:off x="548640" y="3383279"/>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TextBox 19"/>
          <p:cNvSpPr txBox="1"/>
          <p:nvPr/>
        </p:nvSpPr>
        <p:spPr>
          <a:xfrm>
            <a:off x="1417320" y="3383279"/>
            <a:ext cx="10058400" cy="411480"/>
          </a:xfrm>
          <a:prstGeom prst="rect">
            <a:avLst/>
          </a:prstGeom>
          <a:noFill/>
        </p:spPr>
        <p:txBody>
          <a:bodyPr wrap="square" anchor="t">
            <a:spAutoFit/>
          </a:bodyPr>
          <a:lstStyle/>
          <a:p>
            <a:pPr algn="l"/>
            <a:r>
              <a:rPr sz="1600" b="1" i="0">
                <a:solidFill>
                  <a:srgbClr val="A33607"/>
                </a:solidFill>
                <a:latin typeface="Calibri"/>
              </a:rPr>
              <a:t>阶段3：内化（第5-8周）</a:t>
            </a:r>
          </a:p>
        </p:txBody>
      </p:sp>
      <p:sp>
        <p:nvSpPr>
          <p:cNvPr id="21" name="TextBox 20"/>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新词在答案中不再"感觉有意识"——出现得自然，说明已经内化为主动词汇</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词汇测试：6分水平 vs 7分水平</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6分水平词汇测试</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7分水平词汇测试</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"Education is very important for society."</a:t>
            </a:r>
          </a:p>
          <a:p>
            <a:pPr>
              <a:spcBef>
                <a:spcPts val="700"/>
              </a:spcBef>
            </a:pPr>
            <a:r>
              <a:rPr sz="1350">
                <a:solidFill>
                  <a:srgbClr val="C02A2A"/>
                </a:solidFill>
              </a:rPr>
              <a:t>✗ "Technology has changed our life a lot."</a:t>
            </a:r>
          </a:p>
          <a:p>
            <a:pPr>
              <a:spcBef>
                <a:spcPts val="700"/>
              </a:spcBef>
            </a:pPr>
            <a:r>
              <a:rPr sz="1350">
                <a:solidFill>
                  <a:srgbClr val="C02A2A"/>
                </a:solidFill>
              </a:rPr>
              <a:t>✗ "The environment problem is getting worse."</a:t>
            </a:r>
          </a:p>
          <a:p>
            <a:pPr>
              <a:spcBef>
                <a:spcPts val="700"/>
              </a:spcBef>
            </a:pPr>
            <a:r>
              <a:rPr sz="1350">
                <a:solidFill>
                  <a:srgbClr val="C02A2A"/>
                </a:solidFill>
              </a:rPr>
              <a:t>✗ "People in cities are very busy and stressed."</a:t>
            </a:r>
          </a:p>
          <a:p>
            <a:pPr>
              <a:spcBef>
                <a:spcPts val="700"/>
              </a:spcBef>
            </a:pPr>
            <a:r>
              <a:rPr sz="1350">
                <a:solidFill>
                  <a:srgbClr val="C02A2A"/>
                </a:solidFill>
              </a:rPr>
              <a:t>✗ 测试结果：全部使用Band 5词汇——very×2/a lot/get worse</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"Education is arguably the most transformative investment in social progress."</a:t>
            </a:r>
          </a:p>
          <a:p>
            <a:pPr>
              <a:spcBef>
                <a:spcPts val="700"/>
              </a:spcBef>
            </a:pPr>
            <a:r>
              <a:rPr sz="1350">
                <a:solidFill>
                  <a:srgbClr val="1B7A3D"/>
                </a:solidFill>
              </a:rPr>
              <a:t>✓ "Technology has fundamentally reshaped interpersonal dynamics."</a:t>
            </a:r>
          </a:p>
          <a:p>
            <a:pPr>
              <a:spcBef>
                <a:spcPts val="700"/>
              </a:spcBef>
            </a:pPr>
            <a:r>
              <a:rPr sz="1350">
                <a:solidFill>
                  <a:srgbClr val="1B7A3D"/>
                </a:solidFill>
              </a:rPr>
              <a:t>✓ "Environmental degradation has reached a critical juncture."</a:t>
            </a:r>
          </a:p>
          <a:p>
            <a:pPr>
              <a:spcBef>
                <a:spcPts val="700"/>
              </a:spcBef>
            </a:pPr>
            <a:r>
              <a:rPr sz="1350">
                <a:solidFill>
                  <a:srgbClr val="1B7A3D"/>
                </a:solidFill>
              </a:rPr>
              <a:t>✓ "Urban residents face unprecedented levels of occupational stress."</a:t>
            </a:r>
          </a:p>
          <a:p>
            <a:pPr>
              <a:spcBef>
                <a:spcPts val="700"/>
              </a:spcBef>
            </a:pPr>
            <a:r>
              <a:rPr sz="1350">
                <a:solidFill>
                  <a:srgbClr val="1B7A3D"/>
                </a:solidFill>
              </a:rPr>
              <a:t>✓ 测试结果：每句话包含1-2个7分词汇——替换效果显著</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词汇系统综合示范：社会话题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84048"/>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题目："Do you think the gap between rich and poor is getting wider?"
综合词汇应用</a:t>
            </a:r>
          </a:p>
        </p:txBody>
      </p:sp>
      <p:sp>
        <p:nvSpPr>
          <p:cNvPr id="10" name="Rounded Rectangle 9"/>
          <p:cNvSpPr/>
          <p:nvPr/>
        </p:nvSpPr>
        <p:spPr>
          <a:xfrm>
            <a:off x="548640" y="1783080"/>
            <a:ext cx="7040880" cy="41605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I'd argue the evidence does suggest widening inequality, though the picture is more nuanced than a simple yes. The most significant driver is technological change: automation has disproportionately displaced lower-skilled workers while simultaneously creating immense wealth for those with the skills to leverage new technologies. This dynamic is particularly visible in cities like Shenzhen, where the tech sector has generated extraordinary prosperity alongside a large migrant workforce whose economic gains have been considerably more modest. That said, China's sustained poverty alleviation efforts — which have lifted hundreds of millions out of absolute poverty — complicate any simplistic narrative about inequality.</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8C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7分词汇：nuanced/disproportionately/simultaneously/immense/leverage/prosperity/alleviation</a:t>
            </a:r>
          </a:p>
          <a:p>
            <a:pPr>
              <a:spcBef>
                <a:spcPts val="700"/>
              </a:spcBef>
            </a:pPr>
            <a:r>
              <a:rPr sz="1200">
                <a:solidFill>
                  <a:srgbClr val="1E293B"/>
                </a:solidFill>
              </a:rPr>
              <a:t>▸ 搭配：widening inequality / displaced workers / generate prosperity / complicate narratives</a:t>
            </a:r>
          </a:p>
          <a:p>
            <a:pPr>
              <a:spcBef>
                <a:spcPts val="700"/>
              </a:spcBef>
            </a:pPr>
            <a:r>
              <a:rPr sz="1200">
                <a:solidFill>
                  <a:srgbClr val="1E293B"/>
                </a:solidFill>
              </a:rPr>
              <a:t>▸ 结构：I'd argue / the picture is more nuanced / That said——三层深度</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词汇实战最终检测：考场级别答案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84048"/>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题目："What are the advantages and disadvantages of living in a big city?"
综合词汇应用——检测LR准备度</a:t>
            </a:r>
          </a:p>
        </p:txBody>
      </p:sp>
      <p:sp>
        <p:nvSpPr>
          <p:cNvPr id="10" name="Rounded Rectangle 9"/>
          <p:cNvSpPr/>
          <p:nvPr/>
        </p:nvSpPr>
        <p:spPr>
          <a:xfrm>
            <a:off x="548640" y="1783080"/>
            <a:ext cx="7040880" cy="41605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The advantages of urban living are, I think, fairly substantial. Cities like Shenzhen offer unparalleled access to economic opportunities, cultural diversity, and professional networks that smaller cities simply cannot replicate. The infrastructure — transport, healthcare, education — is invariably superior. That said, the disadvantages are equally real. The cost of living in major Chinese cities has become genuinely prohibitive for many, particularly for young people trying to enter the property market. What's more, the pace of urban life can be relentlessly demanding — there's an intensity to Shenzhen's culture that is simultaneously energising and exhausting. I'd say the decision ultimately depends on your life stage and priorities.</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8C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词汇：unparalleled / cultural diversity / invariably / prohibitive / relentlessly / simultaneously</a:t>
            </a:r>
          </a:p>
          <a:p>
            <a:pPr>
              <a:spcBef>
                <a:spcPts val="700"/>
              </a:spcBef>
            </a:pPr>
            <a:r>
              <a:rPr sz="1200">
                <a:solidFill>
                  <a:srgbClr val="1E293B"/>
                </a:solidFill>
              </a:rPr>
              <a:t>▸ 搭配：cannot replicate / enter the property market / depends on your life stage</a:t>
            </a:r>
          </a:p>
          <a:p>
            <a:pPr>
              <a:spcBef>
                <a:spcPts val="700"/>
              </a:spcBef>
            </a:pPr>
            <a:r>
              <a:rPr sz="1200">
                <a:solidFill>
                  <a:srgbClr val="1E293B"/>
                </a:solidFill>
              </a:rPr>
              <a:t>▸ 总结：这段答案中有6个7+分词汇，搭配全部正确——这就是LR 7分的水平</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LR 7分：不同话题的词汇对比</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Rectangle 6"/>
          <p:cNvSpPr/>
          <p:nvPr/>
        </p:nvSpPr>
        <p:spPr>
          <a:xfrm>
            <a:off x="548640" y="1188720"/>
            <a:ext cx="5486400" cy="4572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教育/科技话题（7分词汇）</a:t>
            </a:r>
          </a:p>
        </p:txBody>
      </p:sp>
      <p:sp>
        <p:nvSpPr>
          <p:cNvPr id="9" name="TextBox 8"/>
          <p:cNvSpPr txBox="1"/>
          <p:nvPr/>
        </p:nvSpPr>
        <p:spPr>
          <a:xfrm>
            <a:off x="640080" y="1783080"/>
            <a:ext cx="5349240" cy="4480560"/>
          </a:xfrm>
          <a:prstGeom prst="rect">
            <a:avLst/>
          </a:prstGeom>
          <a:noFill/>
        </p:spPr>
        <p:txBody>
          <a:bodyPr wrap="square">
            <a:spAutoFit/>
          </a:bodyPr>
          <a:lstStyle/>
          <a:p>
            <a:r>
              <a:rPr sz="1650" b="1">
                <a:solidFill>
                  <a:srgbClr val="A33607"/>
                </a:solidFill>
              </a:rPr>
              <a:t>• 教育</a:t>
            </a:r>
          </a:p>
          <a:p>
            <a:pPr>
              <a:spcBef>
                <a:spcPts val="100"/>
              </a:spcBef>
            </a:pPr>
            <a:r>
              <a:rPr sz="1350">
                <a:solidFill>
                  <a:srgbClr val="556075"/>
                </a:solidFill>
              </a:rPr>
              <a:t>   academic rigour / cultivate thinking / pedagogical / bilingual</a:t>
            </a:r>
          </a:p>
          <a:p>
            <a:pPr>
              <a:spcBef>
                <a:spcPts val="700"/>
              </a:spcBef>
            </a:pPr>
            <a:r>
              <a:rPr sz="1650" b="1">
                <a:solidFill>
                  <a:srgbClr val="A33607"/>
                </a:solidFill>
              </a:rPr>
              <a:t>• 科技</a:t>
            </a:r>
          </a:p>
          <a:p>
            <a:pPr>
              <a:spcBef>
                <a:spcPts val="100"/>
              </a:spcBef>
            </a:pPr>
            <a:r>
              <a:rPr sz="1350">
                <a:solidFill>
                  <a:srgbClr val="556075"/>
                </a:solidFill>
              </a:rPr>
              <a:t>   proliferation / disrupt / democratise / leverage</a:t>
            </a:r>
          </a:p>
          <a:p>
            <a:pPr>
              <a:spcBef>
                <a:spcPts val="700"/>
              </a:spcBef>
            </a:pPr>
            <a:r>
              <a:rPr sz="1650" b="1">
                <a:solidFill>
                  <a:srgbClr val="A33607"/>
                </a:solidFill>
              </a:rPr>
              <a:t>• 万能</a:t>
            </a:r>
          </a:p>
          <a:p>
            <a:pPr>
              <a:spcBef>
                <a:spcPts val="100"/>
              </a:spcBef>
            </a:pPr>
            <a:r>
              <a:rPr sz="1350">
                <a:solidFill>
                  <a:srgbClr val="556075"/>
                </a:solidFill>
              </a:rPr>
              <a:t>   undeniably / fundamentally / genuinely / significantly</a:t>
            </a:r>
          </a:p>
          <a:p>
            <a:pPr>
              <a:spcBef>
                <a:spcPts val="700"/>
              </a:spcBef>
            </a:pPr>
            <a:r>
              <a:rPr sz="1650" b="1">
                <a:solidFill>
                  <a:srgbClr val="A33607"/>
                </a:solidFill>
              </a:rPr>
              <a:t>• 搭配</a:t>
            </a:r>
          </a:p>
          <a:p>
            <a:pPr>
              <a:spcBef>
                <a:spcPts val="100"/>
              </a:spcBef>
            </a:pPr>
            <a:r>
              <a:rPr sz="1350">
                <a:solidFill>
                  <a:srgbClr val="556075"/>
                </a:solidFill>
              </a:rPr>
              <a:t>   foster creativity / generate prosperity / reshape dynamics</a:t>
            </a:r>
          </a:p>
        </p:txBody>
      </p:sp>
      <p:sp>
        <p:nvSpPr>
          <p:cNvPr id="10" name="Rectangle 9"/>
          <p:cNvSpPr/>
          <p:nvPr/>
        </p:nvSpPr>
        <p:spPr>
          <a:xfrm>
            <a:off x="6355079" y="1188720"/>
            <a:ext cx="5486400" cy="45720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环境/社会/文化话题（7分词汇）</a:t>
            </a:r>
          </a:p>
        </p:txBody>
      </p:sp>
      <p:sp>
        <p:nvSpPr>
          <p:cNvPr id="12" name="TextBox 11"/>
          <p:cNvSpPr txBox="1"/>
          <p:nvPr/>
        </p:nvSpPr>
        <p:spPr>
          <a:xfrm>
            <a:off x="6446519" y="1783080"/>
            <a:ext cx="5349240" cy="4480560"/>
          </a:xfrm>
          <a:prstGeom prst="rect">
            <a:avLst/>
          </a:prstGeom>
          <a:noFill/>
        </p:spPr>
        <p:txBody>
          <a:bodyPr wrap="square">
            <a:spAutoFit/>
          </a:bodyPr>
          <a:lstStyle/>
          <a:p>
            <a:r>
              <a:rPr sz="1650" b="1">
                <a:solidFill>
                  <a:srgbClr val="A33607"/>
                </a:solidFill>
              </a:rPr>
              <a:t>• 环境</a:t>
            </a:r>
          </a:p>
          <a:p>
            <a:pPr>
              <a:spcBef>
                <a:spcPts val="100"/>
              </a:spcBef>
            </a:pPr>
            <a:r>
              <a:rPr sz="1350">
                <a:solidFill>
                  <a:srgbClr val="556075"/>
                </a:solidFill>
              </a:rPr>
              <a:t>   ecological / carbon footprint / sustainability / degradation</a:t>
            </a:r>
          </a:p>
          <a:p>
            <a:pPr>
              <a:spcBef>
                <a:spcPts val="700"/>
              </a:spcBef>
            </a:pPr>
            <a:r>
              <a:rPr sz="1650" b="1">
                <a:solidFill>
                  <a:srgbClr val="A33607"/>
                </a:solidFill>
              </a:rPr>
              <a:t>• 社会</a:t>
            </a:r>
          </a:p>
          <a:p>
            <a:pPr>
              <a:spcBef>
                <a:spcPts val="100"/>
              </a:spcBef>
            </a:pPr>
            <a:r>
              <a:rPr sz="1350">
                <a:solidFill>
                  <a:srgbClr val="556075"/>
                </a:solidFill>
              </a:rPr>
              <a:t>   social cohesion / disparity / demographic / inequality</a:t>
            </a:r>
          </a:p>
          <a:p>
            <a:pPr>
              <a:spcBef>
                <a:spcPts val="700"/>
              </a:spcBef>
            </a:pPr>
            <a:r>
              <a:rPr sz="1650" b="1">
                <a:solidFill>
                  <a:srgbClr val="A33607"/>
                </a:solidFill>
              </a:rPr>
              <a:t>• 文化</a:t>
            </a:r>
          </a:p>
          <a:p>
            <a:pPr>
              <a:spcBef>
                <a:spcPts val="100"/>
              </a:spcBef>
            </a:pPr>
            <a:r>
              <a:rPr sz="1350">
                <a:solidFill>
                  <a:srgbClr val="556075"/>
                </a:solidFill>
              </a:rPr>
              <a:t>   heritage / homogenisation / multicultural / identity</a:t>
            </a:r>
          </a:p>
          <a:p>
            <a:pPr>
              <a:spcBef>
                <a:spcPts val="700"/>
              </a:spcBef>
            </a:pPr>
            <a:r>
              <a:rPr sz="1650" b="1">
                <a:solidFill>
                  <a:srgbClr val="A33607"/>
                </a:solidFill>
              </a:rPr>
              <a:t>• 万能</a:t>
            </a:r>
          </a:p>
          <a:p>
            <a:pPr>
              <a:spcBef>
                <a:spcPts val="100"/>
              </a:spcBef>
            </a:pPr>
            <a:r>
              <a:rPr sz="1350">
                <a:solidFill>
                  <a:srgbClr val="556075"/>
                </a:solidFill>
              </a:rPr>
              <a:t>   arguably / increasingly / substantially / pivotal</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LR高频失分词汇纠正</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wrong: very important</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 crucial / vital / pivotal / significant / paramount</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wrong: a lot of people</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 a considerable number / many / a substantial proportion</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wrong: I think</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 I'd argue / I'm inclined to believe / It's my contention that</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wrong: it is good</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 it is beneficial / advantageous / constructive / worthwhile</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wrong: change</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 transform / reshape / alter / evolve / shift</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wrong: very bad</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 detrimental / harmful / problematic / concerning / counterproductive</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wrong: get better</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 improve / enhance / develop / advance / progress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