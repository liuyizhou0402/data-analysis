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L08</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语法准确性
复合句与时态</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Grammatical Range &amp; Accuracy: Complex Structures</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8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GRA评分标准：6分vs 7分语法的差距</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复合句系统：从句使用</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时态准确：Part 2最容易错</a:t>
            </a:r>
          </a:p>
        </p:txBody>
      </p:sp>
      <p:sp>
        <p:nvSpPr>
          <p:cNvPr id="16" name="Rounded Rectangle 15"/>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语法多样性：句型变换</a:t>
            </a:r>
          </a:p>
        </p:txBody>
      </p:sp>
      <p:sp>
        <p:nvSpPr>
          <p:cNvPr id="19" name="Rounded Rectangle 18"/>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语法词汇表 + 错误清单</a:t>
            </a:r>
          </a:p>
        </p:txBody>
      </p:sp>
      <p:sp>
        <p:nvSpPr>
          <p:cNvPr id="22" name="Rounded Rectangle 21"/>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综合示范：语法升级答案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GRA评分：6分vs 7分的差距</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Grammatical Range &amp; Accuracy: Band 6 vs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 GRA特征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Mix of simple and complex structures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句型</a:t>
            </a:r>
          </a:p>
          <a:p>
            <a:pPr>
              <a:spcBef>
                <a:spcPts val="100"/>
              </a:spcBef>
            </a:pPr>
            <a:r>
              <a:rPr sz="1500">
                <a:solidFill>
                  <a:srgbClr val="556075"/>
                </a:solidFill>
              </a:rPr>
              <a:t>   主要使用简单句，偶尔使用复合句，但从句结构不复杂</a:t>
            </a:r>
          </a:p>
          <a:p>
            <a:pPr>
              <a:spcBef>
                <a:spcPts val="900"/>
              </a:spcBef>
            </a:pPr>
            <a:r>
              <a:rPr sz="1800" b="1">
                <a:solidFill>
                  <a:srgbClr val="A33607"/>
                </a:solidFill>
              </a:rPr>
              <a:t>• 准确性</a:t>
            </a:r>
          </a:p>
          <a:p>
            <a:pPr>
              <a:spcBef>
                <a:spcPts val="100"/>
              </a:spcBef>
            </a:pPr>
            <a:r>
              <a:rPr sz="1500">
                <a:solidFill>
                  <a:srgbClr val="556075"/>
                </a:solidFill>
              </a:rPr>
              <a:t>   基本语法正确，但有些错误在复杂结构中出现</a:t>
            </a:r>
          </a:p>
          <a:p>
            <a:pPr>
              <a:spcBef>
                <a:spcPts val="900"/>
              </a:spcBef>
            </a:pPr>
            <a:r>
              <a:rPr sz="1800" b="1">
                <a:solidFill>
                  <a:srgbClr val="A33607"/>
                </a:solidFill>
              </a:rPr>
              <a:t>• 多样性</a:t>
            </a:r>
          </a:p>
          <a:p>
            <a:pPr>
              <a:spcBef>
                <a:spcPts val="100"/>
              </a:spcBef>
            </a:pPr>
            <a:r>
              <a:rPr sz="1500">
                <a:solidFill>
                  <a:srgbClr val="556075"/>
                </a:solidFill>
              </a:rPr>
              <a:t>   句型重复，每句话结构相似，缺乏变化</a:t>
            </a:r>
          </a:p>
          <a:p>
            <a:pPr>
              <a:spcBef>
                <a:spcPts val="900"/>
              </a:spcBef>
            </a:pPr>
            <a:r>
              <a:rPr sz="1800" b="1">
                <a:solidFill>
                  <a:srgbClr val="A33607"/>
                </a:solidFill>
              </a:rPr>
              <a:t>• 深圳学生</a:t>
            </a:r>
          </a:p>
          <a:p>
            <a:pPr>
              <a:spcBef>
                <a:spcPts val="100"/>
              </a:spcBef>
            </a:pPr>
            <a:r>
              <a:rPr sz="1500">
                <a:solidFill>
                  <a:srgbClr val="556075"/>
                </a:solidFill>
              </a:rPr>
              <a:t>   每句话都是"I think + 简单句"——GRA多样性不足</a:t>
            </a:r>
          </a:p>
          <a:p>
            <a:pPr>
              <a:spcBef>
                <a:spcPts val="900"/>
              </a:spcBef>
            </a:pPr>
            <a:r>
              <a:rPr sz="1800" b="1">
                <a:solidFill>
                  <a:srgbClr val="A33607"/>
                </a:solidFill>
              </a:rPr>
              <a:t>• 常见错误</a:t>
            </a:r>
          </a:p>
          <a:p>
            <a:pPr>
              <a:spcBef>
                <a:spcPts val="100"/>
              </a:spcBef>
            </a:pPr>
            <a:r>
              <a:rPr sz="1500">
                <a:solidFill>
                  <a:srgbClr val="556075"/>
                </a:solidFill>
              </a:rPr>
              <a:t>   时态混用/定语从句错误/条件句使用不当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GRA特征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A variety of complex structures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句型</a:t>
            </a:r>
          </a:p>
          <a:p>
            <a:pPr>
              <a:spcBef>
                <a:spcPts val="100"/>
              </a:spcBef>
            </a:pPr>
            <a:r>
              <a:rPr sz="1500">
                <a:solidFill>
                  <a:srgbClr val="556075"/>
                </a:solidFill>
              </a:rPr>
              <a:t>   频繁使用多种复杂句型：定语从句/状语从句/名词从句</a:t>
            </a:r>
          </a:p>
          <a:p>
            <a:pPr>
              <a:spcBef>
                <a:spcPts val="900"/>
              </a:spcBef>
            </a:pPr>
            <a:r>
              <a:rPr sz="1800" b="1">
                <a:solidFill>
                  <a:srgbClr val="A33607"/>
                </a:solidFill>
              </a:rPr>
              <a:t>• 准确性</a:t>
            </a:r>
          </a:p>
          <a:p>
            <a:pPr>
              <a:spcBef>
                <a:spcPts val="100"/>
              </a:spcBef>
            </a:pPr>
            <a:r>
              <a:rPr sz="1500">
                <a:solidFill>
                  <a:srgbClr val="556075"/>
                </a:solidFill>
              </a:rPr>
              <a:t>   大多数语法正确，偶有小错误但不影响理解</a:t>
            </a:r>
          </a:p>
          <a:p>
            <a:pPr>
              <a:spcBef>
                <a:spcPts val="900"/>
              </a:spcBef>
            </a:pPr>
            <a:r>
              <a:rPr sz="1800" b="1">
                <a:solidFill>
                  <a:srgbClr val="A33607"/>
                </a:solidFill>
              </a:rPr>
              <a:t>• 多样性</a:t>
            </a:r>
          </a:p>
          <a:p>
            <a:pPr>
              <a:spcBef>
                <a:spcPts val="100"/>
              </a:spcBef>
            </a:pPr>
            <a:r>
              <a:rPr sz="1500">
                <a:solidFill>
                  <a:srgbClr val="556075"/>
                </a:solidFill>
              </a:rPr>
              <a:t>   句型多样：简单句/复合句/复杂句交替使用</a:t>
            </a:r>
          </a:p>
          <a:p>
            <a:pPr>
              <a:spcBef>
                <a:spcPts val="900"/>
              </a:spcBef>
            </a:pPr>
            <a:r>
              <a:rPr sz="1800" b="1">
                <a:solidFill>
                  <a:srgbClr val="A33607"/>
                </a:solidFill>
              </a:rPr>
              <a:t>• 目标</a:t>
            </a:r>
          </a:p>
          <a:p>
            <a:pPr>
              <a:spcBef>
                <a:spcPts val="100"/>
              </a:spcBef>
            </a:pPr>
            <a:r>
              <a:rPr sz="1500">
                <a:solidFill>
                  <a:srgbClr val="556075"/>
                </a:solidFill>
              </a:rPr>
              <a:t>   每3-4句话中有1个复杂从句结构</a:t>
            </a:r>
          </a:p>
          <a:p>
            <a:pPr>
              <a:spcBef>
                <a:spcPts val="900"/>
              </a:spcBef>
            </a:pPr>
            <a:r>
              <a:rPr sz="1800" b="1">
                <a:solidFill>
                  <a:srgbClr val="A33607"/>
                </a:solidFill>
              </a:rPr>
              <a:t>• 关键</a:t>
            </a:r>
          </a:p>
          <a:p>
            <a:pPr>
              <a:spcBef>
                <a:spcPts val="100"/>
              </a:spcBef>
            </a:pPr>
            <a:r>
              <a:rPr sz="1500">
                <a:solidFill>
                  <a:srgbClr val="556075"/>
                </a:solidFill>
              </a:rPr>
              <a:t>   不是要零错误，而是要展示复杂语法的控制能力</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GRA评分的核心逻辑</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考官在听：你是否能驾驭复杂句型——不只是"would you say it correctly"</a:t>
            </a:r>
          </a:p>
          <a:p>
            <a:pPr>
              <a:spcBef>
                <a:spcPts val="1000"/>
              </a:spcBef>
            </a:pPr>
            <a:r>
              <a:rPr sz="1650">
                <a:solidFill>
                  <a:srgbClr val="1E293B"/>
                </a:solidFill>
              </a:rPr>
              <a:t>• 多样性&gt;准确性：用复杂句且有小错误 &gt; 只用简单句且完全正确</a:t>
            </a:r>
          </a:p>
          <a:p>
            <a:pPr>
              <a:spcBef>
                <a:spcPts val="1000"/>
              </a:spcBef>
            </a:pPr>
            <a:r>
              <a:rPr sz="1650">
                <a:solidFill>
                  <a:srgbClr val="1E293B"/>
                </a:solidFill>
              </a:rPr>
              <a:t>• 风险策略：尝试复杂句型，小错误考官会忽略</a:t>
            </a:r>
          </a:p>
          <a:p>
            <a:pPr>
              <a:spcBef>
                <a:spcPts val="1000"/>
              </a:spcBef>
            </a:pPr>
            <a:r>
              <a:rPr sz="1650">
                <a:solidFill>
                  <a:srgbClr val="1E293B"/>
                </a:solidFill>
              </a:rPr>
              <a:t>• 实际目标：每个Part 2答案中包含3+种不同句型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深圳学生的典型GRA问题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问题1：每句话都是"I think + SVO"——单调，Band 6典型</a:t>
            </a:r>
          </a:p>
          <a:p>
            <a:pPr>
              <a:spcBef>
                <a:spcPts val="1000"/>
              </a:spcBef>
            </a:pPr>
            <a:r>
              <a:rPr sz="1650">
                <a:solidFill>
                  <a:srgbClr val="1E293B"/>
                </a:solidFill>
              </a:rPr>
              <a:t>• 问题2：时态混用——Part 2描述过去经历时混用过去时和现在时</a:t>
            </a:r>
          </a:p>
          <a:p>
            <a:pPr>
              <a:spcBef>
                <a:spcPts val="1000"/>
              </a:spcBef>
            </a:pPr>
            <a:r>
              <a:rPr sz="1650">
                <a:solidFill>
                  <a:srgbClr val="1E293B"/>
                </a:solidFill>
              </a:rPr>
              <a:t>• 问题3：定语从句错误——"the city which I went there"（多余there）</a:t>
            </a:r>
          </a:p>
          <a:p>
            <a:pPr>
              <a:spcBef>
                <a:spcPts val="1000"/>
              </a:spcBef>
            </a:pPr>
            <a:r>
              <a:rPr sz="1650">
                <a:solidFill>
                  <a:srgbClr val="1E293B"/>
                </a:solidFill>
              </a:rPr>
              <a:t>• 问题4：条件句误用——"If I would have money, I will..."（双重错误）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GRA评分对比示范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"What are the advantages of learning English?"
Band 6 vs 7 GRA对比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Band 6（句型单一）: Learning English is very important. It can help you get a better job. Many companies need English. Also, English can help you understand other cultures. I think it is very useful.
Band 7（句型多样）: The advantages of learning English are, I think, quite far-reaching. Not only does it dramatically expand career opportunities — many of the most competitive jobs in China now require English proficiency — but it also provides a window into an entirely different way of thinking about the world. What strikes me most is how learning a language reshapes the way you perceive things.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Band 6：5个简单句，每句结构相同
Band 7：倒装（Not only does it...but），定语从句（the most competitive jobs + that从句），强调句（What strikes me most is）
多样性：3种不同句型在一段话中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7语法自测标准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检查你的答案是否包含以下语法结构</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必须包含（各1次）：
□ 定语从句（which/that/who/where）
□ 状语从句（because/although/while/when/if）
□ 名词从句（what/that+clause）
加分项：
□ 倒装结构（Not only...but / So+adj...that）
□ 强调句（It is...that / What...is）
□ 分词短语（Having done X, I... / X done, Y...）</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GRA评分说明：考官不是只看错误，更看你是否敢用复杂结构
建议：每个Part 2答案准备时，有意识地加入至少2种复杂句型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复合句系统：从句使用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Complex Sentence Systems: Clause Usage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定语从句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Relative Clauses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which（事物）</a:t>
            </a:r>
          </a:p>
          <a:p>
            <a:pPr>
              <a:spcBef>
                <a:spcPts val="100"/>
              </a:spcBef>
            </a:pPr>
            <a:r>
              <a:rPr sz="1500">
                <a:solidFill>
                  <a:srgbClr val="556075"/>
                </a:solidFill>
              </a:rPr>
              <a:t>   The technology, which has transformed communication, is essential today.</a:t>
            </a:r>
          </a:p>
          <a:p>
            <a:pPr>
              <a:spcBef>
                <a:spcPts val="900"/>
              </a:spcBef>
            </a:pPr>
            <a:r>
              <a:rPr sz="1800" b="1">
                <a:solidFill>
                  <a:srgbClr val="A33607"/>
                </a:solidFill>
              </a:rPr>
              <a:t>• who（人物）</a:t>
            </a:r>
          </a:p>
          <a:p>
            <a:pPr>
              <a:spcBef>
                <a:spcPts val="100"/>
              </a:spcBef>
            </a:pPr>
            <a:r>
              <a:rPr sz="1500">
                <a:solidFill>
                  <a:srgbClr val="556075"/>
                </a:solidFill>
              </a:rPr>
              <a:t>   People who grew up in cities tend to be more adaptable.</a:t>
            </a:r>
          </a:p>
          <a:p>
            <a:pPr>
              <a:spcBef>
                <a:spcPts val="900"/>
              </a:spcBef>
            </a:pPr>
            <a:r>
              <a:rPr sz="1800" b="1">
                <a:solidFill>
                  <a:srgbClr val="A33607"/>
                </a:solidFill>
              </a:rPr>
              <a:t>• where（地点）</a:t>
            </a:r>
          </a:p>
          <a:p>
            <a:pPr>
              <a:spcBef>
                <a:spcPts val="100"/>
              </a:spcBef>
            </a:pPr>
            <a:r>
              <a:rPr sz="1500">
                <a:solidFill>
                  <a:srgbClr val="556075"/>
                </a:solidFill>
              </a:rPr>
              <a:t>   Shenzhen, where I've lived for years, is an extraordinary city.</a:t>
            </a:r>
          </a:p>
          <a:p>
            <a:pPr>
              <a:spcBef>
                <a:spcPts val="900"/>
              </a:spcBef>
            </a:pPr>
            <a:r>
              <a:rPr sz="1800" b="1">
                <a:solidFill>
                  <a:srgbClr val="A33607"/>
                </a:solidFill>
              </a:rPr>
              <a:t>• that（限定性）</a:t>
            </a:r>
          </a:p>
          <a:p>
            <a:pPr>
              <a:spcBef>
                <a:spcPts val="100"/>
              </a:spcBef>
            </a:pPr>
            <a:r>
              <a:rPr sz="1500">
                <a:solidFill>
                  <a:srgbClr val="556075"/>
                </a:solidFill>
              </a:rPr>
              <a:t>   The skills that employers value most include creativity and critical thinking.</a:t>
            </a:r>
          </a:p>
          <a:p>
            <a:pPr>
              <a:spcBef>
                <a:spcPts val="900"/>
              </a:spcBef>
            </a:pPr>
            <a:r>
              <a:rPr sz="1800" b="1">
                <a:solidFill>
                  <a:srgbClr val="A33607"/>
                </a:solidFill>
              </a:rPr>
              <a:t>• 常见错误</a:t>
            </a:r>
          </a:p>
          <a:p>
            <a:pPr>
              <a:spcBef>
                <a:spcPts val="100"/>
              </a:spcBef>
            </a:pPr>
            <a:r>
              <a:rPr sz="1500">
                <a:solidFill>
                  <a:srgbClr val="556075"/>
                </a:solidFill>
              </a:rPr>
              <a:t>   ❌ the city which I went there → ✓ the city where I went / the city that I visited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状语从句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Adverbial Clauses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原因</a:t>
            </a:r>
          </a:p>
          <a:p>
            <a:pPr>
              <a:spcBef>
                <a:spcPts val="100"/>
              </a:spcBef>
            </a:pPr>
            <a:r>
              <a:rPr sz="1500">
                <a:solidFill>
                  <a:srgbClr val="556075"/>
                </a:solidFill>
              </a:rPr>
              <a:t>   because/since/given that: Given that Shenzhen is a tech hub, English is essential.</a:t>
            </a:r>
          </a:p>
          <a:p>
            <a:pPr>
              <a:spcBef>
                <a:spcPts val="900"/>
              </a:spcBef>
            </a:pPr>
            <a:r>
              <a:rPr sz="1800" b="1">
                <a:solidFill>
                  <a:srgbClr val="A33607"/>
                </a:solidFill>
              </a:rPr>
              <a:t>• 让步</a:t>
            </a:r>
          </a:p>
          <a:p>
            <a:pPr>
              <a:spcBef>
                <a:spcPts val="100"/>
              </a:spcBef>
            </a:pPr>
            <a:r>
              <a:rPr sz="1500">
                <a:solidFill>
                  <a:srgbClr val="556075"/>
                </a:solidFill>
              </a:rPr>
              <a:t>   although/while/even though: Although the pace is intense, most residents thrive.</a:t>
            </a:r>
          </a:p>
          <a:p>
            <a:pPr>
              <a:spcBef>
                <a:spcPts val="900"/>
              </a:spcBef>
            </a:pPr>
            <a:r>
              <a:rPr sz="1800" b="1">
                <a:solidFill>
                  <a:srgbClr val="A33607"/>
                </a:solidFill>
              </a:rPr>
              <a:t>• 时间</a:t>
            </a:r>
          </a:p>
          <a:p>
            <a:pPr>
              <a:spcBef>
                <a:spcPts val="100"/>
              </a:spcBef>
            </a:pPr>
            <a:r>
              <a:rPr sz="1500">
                <a:solidFill>
                  <a:srgbClr val="556075"/>
                </a:solidFill>
              </a:rPr>
              <a:t>   when/after/once/as soon as: Once you learn the system, speaking becomes easier.</a:t>
            </a:r>
          </a:p>
          <a:p>
            <a:pPr>
              <a:spcBef>
                <a:spcPts val="900"/>
              </a:spcBef>
            </a:pPr>
            <a:r>
              <a:rPr sz="1800" b="1">
                <a:solidFill>
                  <a:srgbClr val="A33607"/>
                </a:solidFill>
              </a:rPr>
              <a:t>• 条件</a:t>
            </a:r>
          </a:p>
          <a:p>
            <a:pPr>
              <a:spcBef>
                <a:spcPts val="100"/>
              </a:spcBef>
            </a:pPr>
            <a:r>
              <a:rPr sz="1500">
                <a:solidFill>
                  <a:srgbClr val="556075"/>
                </a:solidFill>
              </a:rPr>
              <a:t>   if/provided that/assuming: Provided that you practise daily, improvement is inevitable.</a:t>
            </a:r>
          </a:p>
          <a:p>
            <a:pPr>
              <a:spcBef>
                <a:spcPts val="900"/>
              </a:spcBef>
            </a:pPr>
            <a:r>
              <a:rPr sz="1800" b="1">
                <a:solidFill>
                  <a:srgbClr val="A33607"/>
                </a:solidFill>
              </a:rPr>
              <a:t>• 结果</a:t>
            </a:r>
          </a:p>
          <a:p>
            <a:pPr>
              <a:spcBef>
                <a:spcPts val="100"/>
              </a:spcBef>
            </a:pPr>
            <a:r>
              <a:rPr sz="1500">
                <a:solidFill>
                  <a:srgbClr val="556075"/>
                </a:solidFill>
              </a:rPr>
              <a:t>   so...that: The competition is so intense that students spend hours preparing.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名词从句与其他复杂结构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名词从句（what）：What I find most challenging is maintaining fluency under pressure.</a:t>
            </a:r>
          </a:p>
          <a:p>
            <a:pPr>
              <a:spcBef>
                <a:spcPts val="1000"/>
              </a:spcBef>
            </a:pPr>
            <a:r>
              <a:rPr sz="1650">
                <a:solidFill>
                  <a:srgbClr val="1E293B"/>
                </a:solidFill>
              </a:rPr>
              <a:t>• 名词从句（that）：I believe that consistent practice is more valuable than talent.</a:t>
            </a:r>
          </a:p>
          <a:p>
            <a:pPr>
              <a:spcBef>
                <a:spcPts val="1000"/>
              </a:spcBef>
            </a:pPr>
            <a:r>
              <a:rPr sz="1650">
                <a:solidFill>
                  <a:srgbClr val="1E293B"/>
                </a:solidFill>
              </a:rPr>
              <a:t>• 强调句：It is the quality of practice, not the quantity, that determines progress.</a:t>
            </a:r>
          </a:p>
          <a:p>
            <a:pPr>
              <a:spcBef>
                <a:spcPts val="1000"/>
              </a:spcBef>
            </a:pPr>
            <a:r>
              <a:rPr sz="1650">
                <a:solidFill>
                  <a:srgbClr val="1E293B"/>
                </a:solidFill>
              </a:rPr>
              <a:t>• 倒装：Not only does English open career doors, but it also expands one's worldview.</a:t>
            </a:r>
          </a:p>
          <a:p>
            <a:pPr>
              <a:spcBef>
                <a:spcPts val="1000"/>
              </a:spcBef>
            </a:pPr>
            <a:r>
              <a:rPr sz="1650">
                <a:solidFill>
                  <a:srgbClr val="1E293B"/>
                </a:solidFill>
              </a:rPr>
              <a:t>• 分词短语：Having studied IELTS for three months, I can see significant improvement.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从句使用密度建议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Part 1答案（30-45秒）：至少1个从句结构</a:t>
            </a:r>
          </a:p>
          <a:p>
            <a:pPr>
              <a:spcBef>
                <a:spcPts val="1000"/>
              </a:spcBef>
            </a:pPr>
            <a:r>
              <a:rPr sz="1650">
                <a:solidFill>
                  <a:srgbClr val="1E293B"/>
                </a:solidFill>
              </a:rPr>
              <a:t>• Part 2答案（2分钟）：至少3-4个不同从句结构</a:t>
            </a:r>
          </a:p>
          <a:p>
            <a:pPr>
              <a:spcBef>
                <a:spcPts val="1000"/>
              </a:spcBef>
            </a:pPr>
            <a:r>
              <a:rPr sz="1650">
                <a:solidFill>
                  <a:srgbClr val="1E293B"/>
                </a:solidFill>
              </a:rPr>
              <a:t>• Part 3答案（45-60秒）：至少2个从句结构</a:t>
            </a:r>
          </a:p>
          <a:p>
            <a:pPr>
              <a:spcBef>
                <a:spcPts val="1000"/>
              </a:spcBef>
            </a:pPr>
            <a:r>
              <a:rPr sz="1650">
                <a:solidFill>
                  <a:srgbClr val="1E293B"/>
                </a:solidFill>
              </a:rPr>
              <a:t>• 练习方法：说完一段话，检查：有没有that/which/who/because/although？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复合句综合示范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person who has influenced you greatly."
复合句密集应用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The person who has had the most profound influence on my thinking is my secondary school English teacher — someone who demonstrated, through her own example, that language learning is not merely an academic exercise but a genuine window into human experience. What I found most remarkable about her teaching style was the way she connected every grammar point to real-world usage. She would often say something that has stayed with me: "The goal isn't to speak perfectly — it's to communicate meaningfully." Given that I'm now preparing for IELTS, that perspective feels particularly relevant.</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定语从句：who has had / who demonstrated / that has stayed with me
名词从句：What I found most remarkable / something that
状语从句：Given that I'm now preparing
其他：not merely...but——对比结构
共5个不同从句结构，GRA多样性强</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从句替换练习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将以下简单句改写为含从句的复杂句
原句：I live in Shenzhen. It is a big city. I like it. It has many opportunities.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升级版（含从句）：
I live in Shenzhen, which is one of China's most dynamic cities — a place where ambitious people from across the country converge in search of opportunity. What I particularly appreciate about living here is the sense that anything is achievable if you're willing to work for it.
（原4个简单句→1段含3个从句的复合句）</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练习方法：取你自己最近说的一段Part 1答案，把每个简单句都尝试改成复合句
重要：复合句不是越长越好——清晰、正确、多样才是目标</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时态准确：Part 2最容易出错</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Tense Accuracy: Critical for Part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2时态规则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Tense Rules for Part 2 Cue Card</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描述过去经历（最常见）</a:t>
            </a:r>
          </a:p>
          <a:p>
            <a:pPr>
              <a:spcBef>
                <a:spcPts val="100"/>
              </a:spcBef>
            </a:pPr>
            <a:r>
              <a:rPr sz="1500">
                <a:solidFill>
                  <a:srgbClr val="556075"/>
                </a:solidFill>
              </a:rPr>
              <a:t>   全程过去时——was/were/had/went/saw/felt/remembered</a:t>
            </a:r>
          </a:p>
          <a:p>
            <a:pPr>
              <a:spcBef>
                <a:spcPts val="900"/>
              </a:spcBef>
            </a:pPr>
            <a:r>
              <a:rPr sz="1800" b="1">
                <a:solidFill>
                  <a:srgbClr val="A33607"/>
                </a:solidFill>
              </a:rPr>
              <a:t>• 描述原因/感受</a:t>
            </a:r>
          </a:p>
          <a:p>
            <a:pPr>
              <a:spcBef>
                <a:spcPts val="100"/>
              </a:spcBef>
            </a:pPr>
            <a:r>
              <a:rPr sz="1500">
                <a:solidFill>
                  <a:srgbClr val="556075"/>
                </a:solidFill>
              </a:rPr>
              <a:t>   用过去时——it was because... / I felt... / it seemed...</a:t>
            </a:r>
          </a:p>
          <a:p>
            <a:pPr>
              <a:spcBef>
                <a:spcPts val="900"/>
              </a:spcBef>
            </a:pPr>
            <a:r>
              <a:rPr sz="1800" b="1">
                <a:solidFill>
                  <a:srgbClr val="A33607"/>
                </a:solidFill>
              </a:rPr>
              <a:t>• 引入背景</a:t>
            </a:r>
          </a:p>
          <a:p>
            <a:pPr>
              <a:spcBef>
                <a:spcPts val="100"/>
              </a:spcBef>
            </a:pPr>
            <a:r>
              <a:rPr sz="1500">
                <a:solidFill>
                  <a:srgbClr val="556075"/>
                </a:solidFill>
              </a:rPr>
              <a:t>   过去完成时——I had always wanted... / Before that, I had...</a:t>
            </a:r>
          </a:p>
          <a:p>
            <a:pPr>
              <a:spcBef>
                <a:spcPts val="900"/>
              </a:spcBef>
            </a:pPr>
            <a:r>
              <a:rPr sz="1800" b="1">
                <a:solidFill>
                  <a:srgbClr val="A33607"/>
                </a:solidFill>
              </a:rPr>
              <a:t>• 评论/反思</a:t>
            </a:r>
          </a:p>
          <a:p>
            <a:pPr>
              <a:spcBef>
                <a:spcPts val="100"/>
              </a:spcBef>
            </a:pPr>
            <a:r>
              <a:rPr sz="1500">
                <a:solidFill>
                  <a:srgbClr val="556075"/>
                </a:solidFill>
              </a:rPr>
              <a:t>   可以用现在时——Looking back, I think... / This experience taught me...</a:t>
            </a:r>
          </a:p>
          <a:p>
            <a:pPr>
              <a:spcBef>
                <a:spcPts val="900"/>
              </a:spcBef>
            </a:pPr>
            <a:r>
              <a:rPr sz="1800" b="1">
                <a:solidFill>
                  <a:srgbClr val="A33607"/>
                </a:solidFill>
              </a:rPr>
              <a:t>• 常见错误</a:t>
            </a:r>
          </a:p>
          <a:p>
            <a:pPr>
              <a:spcBef>
                <a:spcPts val="100"/>
              </a:spcBef>
            </a:pPr>
            <a:r>
              <a:rPr sz="1500">
                <a:solidFill>
                  <a:srgbClr val="556075"/>
                </a:solidFill>
              </a:rPr>
              <a:t>   混用过去时和现在时：I went there and I see a beautiful view（错）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其他Part时态要点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Tense Rules for Part 1 &amp; 3</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Part 1（当下习惯）</a:t>
            </a:r>
          </a:p>
          <a:p>
            <a:pPr>
              <a:spcBef>
                <a:spcPts val="100"/>
              </a:spcBef>
            </a:pPr>
            <a:r>
              <a:rPr sz="1500">
                <a:solidFill>
                  <a:srgbClr val="556075"/>
                </a:solidFill>
              </a:rPr>
              <a:t>   一般现在时/现在进行时：I usually... / I tend to... / I'm currently...</a:t>
            </a:r>
          </a:p>
          <a:p>
            <a:pPr>
              <a:spcBef>
                <a:spcPts val="900"/>
              </a:spcBef>
            </a:pPr>
            <a:r>
              <a:rPr sz="1800" b="1">
                <a:solidFill>
                  <a:srgbClr val="A33607"/>
                </a:solidFill>
              </a:rPr>
              <a:t>• Part 1（过去经历）</a:t>
            </a:r>
          </a:p>
          <a:p>
            <a:pPr>
              <a:spcBef>
                <a:spcPts val="100"/>
              </a:spcBef>
            </a:pPr>
            <a:r>
              <a:rPr sz="1500">
                <a:solidFill>
                  <a:srgbClr val="556075"/>
                </a:solidFill>
              </a:rPr>
              <a:t>   如果谈到过去：I used to... / When I was younger, I would...</a:t>
            </a:r>
          </a:p>
          <a:p>
            <a:pPr>
              <a:spcBef>
                <a:spcPts val="900"/>
              </a:spcBef>
            </a:pPr>
            <a:r>
              <a:rPr sz="1800" b="1">
                <a:solidFill>
                  <a:srgbClr val="A33607"/>
                </a:solidFill>
              </a:rPr>
              <a:t>• Part 3（观点）</a:t>
            </a:r>
          </a:p>
          <a:p>
            <a:pPr>
              <a:spcBef>
                <a:spcPts val="100"/>
              </a:spcBef>
            </a:pPr>
            <a:r>
              <a:rPr sz="1500">
                <a:solidFill>
                  <a:srgbClr val="556075"/>
                </a:solidFill>
              </a:rPr>
              <a:t>   现在时+情态动词：I think... / This may lead to... / It's likely that...</a:t>
            </a:r>
          </a:p>
          <a:p>
            <a:pPr>
              <a:spcBef>
                <a:spcPts val="900"/>
              </a:spcBef>
            </a:pPr>
            <a:r>
              <a:rPr sz="1800" b="1">
                <a:solidFill>
                  <a:srgbClr val="A33607"/>
                </a:solidFill>
              </a:rPr>
              <a:t>• Part 3（趋势）</a:t>
            </a:r>
          </a:p>
          <a:p>
            <a:pPr>
              <a:spcBef>
                <a:spcPts val="100"/>
              </a:spcBef>
            </a:pPr>
            <a:r>
              <a:rPr sz="1500">
                <a:solidFill>
                  <a:srgbClr val="556075"/>
                </a:solidFill>
              </a:rPr>
              <a:t>   现在完成时：In recent years, people have become... / there has been...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时态错误的常见类型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混用型：I went to Beijing. The city is very beautiful.（is→was）</a:t>
            </a:r>
          </a:p>
          <a:p>
            <a:pPr>
              <a:spcBef>
                <a:spcPts val="1000"/>
              </a:spcBef>
            </a:pPr>
            <a:r>
              <a:rPr sz="1650">
                <a:solidFill>
                  <a:srgbClr val="1E293B"/>
                </a:solidFill>
              </a:rPr>
              <a:t>• 过度现在型：Part 2全程用现在时描述过去——最常见错误</a:t>
            </a:r>
          </a:p>
          <a:p>
            <a:pPr>
              <a:spcBef>
                <a:spcPts val="1000"/>
              </a:spcBef>
            </a:pPr>
            <a:r>
              <a:rPr sz="1650">
                <a:solidFill>
                  <a:srgbClr val="1E293B"/>
                </a:solidFill>
              </a:rPr>
              <a:t>• 情态动词混用：If I will have time...（will删去）/ I would go if I would have...（后者改had）</a:t>
            </a:r>
          </a:p>
          <a:p>
            <a:pPr>
              <a:spcBef>
                <a:spcPts val="1000"/>
              </a:spcBef>
            </a:pPr>
            <a:r>
              <a:rPr sz="1650">
                <a:solidFill>
                  <a:srgbClr val="1E293B"/>
                </a:solidFill>
              </a:rPr>
              <a:t>• 完成时误用：I have went there（went→gone）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时态准确练习方法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录音一段Part 2答案，回放时专门听时态——有没有混用？</a:t>
            </a:r>
          </a:p>
          <a:p>
            <a:pPr>
              <a:spcBef>
                <a:spcPts val="1000"/>
              </a:spcBef>
            </a:pPr>
            <a:r>
              <a:rPr sz="1650">
                <a:solidFill>
                  <a:srgbClr val="1E293B"/>
                </a:solidFill>
              </a:rPr>
              <a:t>• 准备Part 2时，先确认：这是"过去事件"还是"现在状态"？</a:t>
            </a:r>
          </a:p>
          <a:p>
            <a:pPr>
              <a:spcBef>
                <a:spcPts val="1000"/>
              </a:spcBef>
            </a:pPr>
            <a:r>
              <a:rPr sz="1650">
                <a:solidFill>
                  <a:srgbClr val="1E293B"/>
                </a:solidFill>
              </a:rPr>
              <a:t>• 建立时态检查习惯：说完一句话，心里确认时态是否一致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2时态示范（过去事件）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memorable journey you have taken."
时态精准版答案</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like to talk about a trip I took to Guilin about three years ago. It was my first time travelling independently, which made the experience particularly memorable. I had planned the trip meticulously for weeks — I'd researched the best routes, booked accommodation along the Li River, and even learnt a few phrases of Guangxi dialect. When I actually arrived and saw the landscape for the first time, it was genuinely breathtaking. The karst mountains rose dramatically from the misty river, and I remember thinking that no photograph had done the scenery justice. What struck me most was how the experience changed my relationship with travel — I became much more comfortable with uncertainty after that.</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过去时贯穿：took / was / had planned / arrived / saw / was / rose / remember / became
过去完成时：had planned / I'd researched / had booked / had learnt——表示更早的过去
现在时收尾：What struck me most was...——评价性反思
时态切换自然：全程过去时→最后一句升华到现在意义</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1 vs Part 3时态对比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"Do you like travelling?" vs "What impact does tourism have on local cultures?"
Part 1（现在）vs Part 3（分析）时态对比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Part 1（现在时/习惯）：Yes, I'd say I'm genuinely passionate about travelling. I try to take at least one significant trip every year, and I've found that it consistently broadens my perspective in ways that staying home simply can't replicate.
Part 3（现在时+情态/完成时）：Tourism has had a profoundly mixed impact on local cultures. While it has undeniably raised living standards in many regions, it has also accelerated cultural homogenisation. What concerns me most is the way that some traditional practices are being commodified — reduced to tourist-friendly performances rather than living traditions.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Part 1：try / I've found / can't——现在习惯+现在完成时
Part 3：has had / has raised / has accelerated / are being commodified——分析型完成时+被动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语法多样性：句型变换</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Grammatical Range: Sentence Type Variety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7种核心句型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7 Key Sentence Structures for Band 7+</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倒装强调</a:t>
            </a:r>
          </a:p>
          <a:p>
            <a:pPr>
              <a:spcBef>
                <a:spcPts val="100"/>
              </a:spcBef>
            </a:pPr>
            <a:r>
              <a:rPr sz="1500">
                <a:solidFill>
                  <a:srgbClr val="556075"/>
                </a:solidFill>
              </a:rPr>
              <a:t>   Not only did I improve my English, but I also gained confidence.</a:t>
            </a:r>
          </a:p>
          <a:p>
            <a:pPr>
              <a:spcBef>
                <a:spcPts val="900"/>
              </a:spcBef>
            </a:pPr>
            <a:r>
              <a:rPr sz="1800" b="1">
                <a:solidFill>
                  <a:srgbClr val="A33607"/>
                </a:solidFill>
              </a:rPr>
              <a:t>• 强调句</a:t>
            </a:r>
          </a:p>
          <a:p>
            <a:pPr>
              <a:spcBef>
                <a:spcPts val="100"/>
              </a:spcBef>
            </a:pPr>
            <a:r>
              <a:rPr sz="1500">
                <a:solidFill>
                  <a:srgbClr val="556075"/>
                </a:solidFill>
              </a:rPr>
              <a:t>   It was the feedback from my teacher that motivated me most.</a:t>
            </a:r>
          </a:p>
          <a:p>
            <a:pPr>
              <a:spcBef>
                <a:spcPts val="900"/>
              </a:spcBef>
            </a:pPr>
            <a:r>
              <a:rPr sz="1800" b="1">
                <a:solidFill>
                  <a:srgbClr val="A33607"/>
                </a:solidFill>
              </a:rPr>
              <a:t>• 主语从句</a:t>
            </a:r>
          </a:p>
          <a:p>
            <a:pPr>
              <a:spcBef>
                <a:spcPts val="100"/>
              </a:spcBef>
            </a:pPr>
            <a:r>
              <a:rPr sz="1500">
                <a:solidFill>
                  <a:srgbClr val="556075"/>
                </a:solidFill>
              </a:rPr>
              <a:t>   What surprised me most was the pace of improvement.</a:t>
            </a:r>
          </a:p>
          <a:p>
            <a:pPr>
              <a:spcBef>
                <a:spcPts val="900"/>
              </a:spcBef>
            </a:pPr>
            <a:r>
              <a:rPr sz="1800" b="1">
                <a:solidFill>
                  <a:srgbClr val="A33607"/>
                </a:solidFill>
              </a:rPr>
              <a:t>• 分词短语</a:t>
            </a:r>
          </a:p>
          <a:p>
            <a:pPr>
              <a:spcBef>
                <a:spcPts val="100"/>
              </a:spcBef>
            </a:pPr>
            <a:r>
              <a:rPr sz="1500">
                <a:solidFill>
                  <a:srgbClr val="556075"/>
                </a:solidFill>
              </a:rPr>
              <a:t>   Having lived in Shenzhen for ten years, I understand the pressure well.</a:t>
            </a:r>
          </a:p>
          <a:p>
            <a:pPr>
              <a:spcBef>
                <a:spcPts val="900"/>
              </a:spcBef>
            </a:pPr>
            <a:r>
              <a:rPr sz="1800" b="1">
                <a:solidFill>
                  <a:srgbClr val="A33607"/>
                </a:solidFill>
              </a:rPr>
              <a:t>• 虚拟语气</a:t>
            </a:r>
          </a:p>
          <a:p>
            <a:pPr>
              <a:spcBef>
                <a:spcPts val="100"/>
              </a:spcBef>
            </a:pPr>
            <a:r>
              <a:rPr sz="1500">
                <a:solidFill>
                  <a:srgbClr val="556075"/>
                </a:solidFill>
              </a:rPr>
              <a:t>   If I had started earlier, I would have achieved much more.</a:t>
            </a:r>
          </a:p>
          <a:p>
            <a:pPr>
              <a:spcBef>
                <a:spcPts val="900"/>
              </a:spcBef>
            </a:pPr>
            <a:r>
              <a:rPr sz="1800" b="1">
                <a:solidFill>
                  <a:srgbClr val="A33607"/>
                </a:solidFill>
              </a:rPr>
              <a:t>• 被动结构</a:t>
            </a:r>
          </a:p>
          <a:p>
            <a:pPr>
              <a:spcBef>
                <a:spcPts val="100"/>
              </a:spcBef>
            </a:pPr>
            <a:r>
              <a:rPr sz="1500">
                <a:solidFill>
                  <a:srgbClr val="556075"/>
                </a:solidFill>
              </a:rPr>
              <a:t>   English is widely regarded as the language of international business.</a:t>
            </a:r>
          </a:p>
          <a:p>
            <a:pPr>
              <a:spcBef>
                <a:spcPts val="900"/>
              </a:spcBef>
            </a:pPr>
            <a:r>
              <a:rPr sz="1800" b="1">
                <a:solidFill>
                  <a:srgbClr val="A33607"/>
                </a:solidFill>
              </a:rPr>
              <a:t>• 比较结构</a:t>
            </a:r>
          </a:p>
          <a:p>
            <a:pPr>
              <a:spcBef>
                <a:spcPts val="100"/>
              </a:spcBef>
            </a:pPr>
            <a:r>
              <a:rPr sz="1500">
                <a:solidFill>
                  <a:srgbClr val="556075"/>
                </a:solidFill>
              </a:rPr>
              <a:t>   The more you practise, the more natural it becomes.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句型变换的实战技巧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Practical Sentence Variation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主动→被动</a:t>
            </a:r>
          </a:p>
          <a:p>
            <a:pPr>
              <a:spcBef>
                <a:spcPts val="100"/>
              </a:spcBef>
            </a:pPr>
            <a:r>
              <a:rPr sz="1500">
                <a:solidFill>
                  <a:srgbClr val="556075"/>
                </a:solidFill>
              </a:rPr>
              <a:t>   I see a shift→A shift can be observed / People value X→X is widely valued</a:t>
            </a:r>
          </a:p>
          <a:p>
            <a:pPr>
              <a:spcBef>
                <a:spcPts val="900"/>
              </a:spcBef>
            </a:pPr>
            <a:r>
              <a:rPr sz="1800" b="1">
                <a:solidFill>
                  <a:srgbClr val="A33607"/>
                </a:solidFill>
              </a:rPr>
              <a:t>• 简单→分词</a:t>
            </a:r>
          </a:p>
          <a:p>
            <a:pPr>
              <a:spcBef>
                <a:spcPts val="100"/>
              </a:spcBef>
            </a:pPr>
            <a:r>
              <a:rPr sz="1500">
                <a:solidFill>
                  <a:srgbClr val="556075"/>
                </a:solidFill>
              </a:rPr>
              <a:t>   After I arrived, I noticed→Having arrived, I noticed</a:t>
            </a:r>
          </a:p>
          <a:p>
            <a:pPr>
              <a:spcBef>
                <a:spcPts val="900"/>
              </a:spcBef>
            </a:pPr>
            <a:r>
              <a:rPr sz="1800" b="1">
                <a:solidFill>
                  <a:srgbClr val="A33607"/>
                </a:solidFill>
              </a:rPr>
              <a:t>• 平铺→倒装</a:t>
            </a:r>
          </a:p>
          <a:p>
            <a:pPr>
              <a:spcBef>
                <a:spcPts val="100"/>
              </a:spcBef>
            </a:pPr>
            <a:r>
              <a:rPr sz="1500">
                <a:solidFill>
                  <a:srgbClr val="556075"/>
                </a:solidFill>
              </a:rPr>
              <a:t>   This not only helps but also...→Not only does this help, but it also...</a:t>
            </a:r>
          </a:p>
          <a:p>
            <a:pPr>
              <a:spcBef>
                <a:spcPts val="900"/>
              </a:spcBef>
            </a:pPr>
            <a:r>
              <a:rPr sz="1800" b="1">
                <a:solidFill>
                  <a:srgbClr val="A33607"/>
                </a:solidFill>
              </a:rPr>
              <a:t>• 陈述→强调</a:t>
            </a:r>
          </a:p>
          <a:p>
            <a:pPr>
              <a:spcBef>
                <a:spcPts val="100"/>
              </a:spcBef>
            </a:pPr>
            <a:r>
              <a:rPr sz="1500">
                <a:solidFill>
                  <a:srgbClr val="556075"/>
                </a:solidFill>
              </a:rPr>
              <a:t>   The timing matters most→It is the timing that matters most</a:t>
            </a:r>
          </a:p>
          <a:p>
            <a:pPr>
              <a:spcBef>
                <a:spcPts val="900"/>
              </a:spcBef>
            </a:pPr>
            <a:r>
              <a:rPr sz="1800" b="1">
                <a:solidFill>
                  <a:srgbClr val="A33607"/>
                </a:solidFill>
              </a:rPr>
              <a:t>• 深圳学生</a:t>
            </a:r>
          </a:p>
          <a:p>
            <a:pPr>
              <a:spcBef>
                <a:spcPts val="100"/>
              </a:spcBef>
            </a:pPr>
            <a:r>
              <a:rPr sz="1500">
                <a:solidFill>
                  <a:srgbClr val="556075"/>
                </a:solidFill>
              </a:rPr>
              <a:t>   尝试1种新句型/天，每天录音说3个新句型直到自然</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句型多样性检查清单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检查你的Part 2答案是否包含：</a:t>
            </a:r>
          </a:p>
          <a:p>
            <a:pPr>
              <a:spcBef>
                <a:spcPts val="1000"/>
              </a:spcBef>
            </a:pPr>
            <a:r>
              <a:rPr sz="1650">
                <a:solidFill>
                  <a:srgbClr val="1E293B"/>
                </a:solidFill>
              </a:rPr>
              <a:t>• ✓ 至少1个定语从句（who/which/that/where）</a:t>
            </a:r>
          </a:p>
          <a:p>
            <a:pPr>
              <a:spcBef>
                <a:spcPts val="1000"/>
              </a:spcBef>
            </a:pPr>
            <a:r>
              <a:rPr sz="1650">
                <a:solidFill>
                  <a:srgbClr val="1E293B"/>
                </a:solidFill>
              </a:rPr>
              <a:t>• ✓ 至少1个状语从句（because/although/when/given that）</a:t>
            </a:r>
          </a:p>
          <a:p>
            <a:pPr>
              <a:spcBef>
                <a:spcPts val="1000"/>
              </a:spcBef>
            </a:pPr>
            <a:r>
              <a:rPr sz="1650">
                <a:solidFill>
                  <a:srgbClr val="1E293B"/>
                </a:solidFill>
              </a:rPr>
              <a:t>• ✓ 至少1个名词从句或强调结构（what/it is...that）</a:t>
            </a:r>
          </a:p>
          <a:p>
            <a:pPr>
              <a:spcBef>
                <a:spcPts val="1000"/>
              </a:spcBef>
            </a:pPr>
            <a:r>
              <a:rPr sz="1650">
                <a:solidFill>
                  <a:srgbClr val="1E293B"/>
                </a:solidFill>
              </a:rPr>
              <a:t>• ✓ 至少1个高级结构（倒装/分词/虚拟）</a:t>
            </a:r>
          </a:p>
          <a:p>
            <a:pPr>
              <a:spcBef>
                <a:spcPts val="1000"/>
              </a:spcBef>
            </a:pPr>
            <a:r>
              <a:rPr sz="1650">
                <a:solidFill>
                  <a:srgbClr val="1E293B"/>
                </a:solidFill>
              </a:rPr>
              <a:t>• 如果缺少任何一项：在下次练习中特别加入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GRA得分与句型关系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Band 6：主要简单句，偶有复合句——句型单一</a:t>
            </a:r>
          </a:p>
          <a:p>
            <a:pPr>
              <a:spcBef>
                <a:spcPts val="1000"/>
              </a:spcBef>
            </a:pPr>
            <a:r>
              <a:rPr sz="1650">
                <a:solidFill>
                  <a:srgbClr val="1E293B"/>
                </a:solidFill>
              </a:rPr>
              <a:t>• Band 7：定期使用多种复杂句，偶有小错误——可接受</a:t>
            </a:r>
          </a:p>
          <a:p>
            <a:pPr>
              <a:spcBef>
                <a:spcPts val="1000"/>
              </a:spcBef>
            </a:pPr>
            <a:r>
              <a:rPr sz="1650">
                <a:solidFill>
                  <a:srgbClr val="1E293B"/>
                </a:solidFill>
              </a:rPr>
              <a:t>• Band 8：灵活使用各种复杂结构，几乎无错误——理想目标</a:t>
            </a:r>
          </a:p>
          <a:p>
            <a:pPr>
              <a:spcBef>
                <a:spcPts val="1000"/>
              </a:spcBef>
            </a:pPr>
            <a:r>
              <a:rPr sz="1650">
                <a:solidFill>
                  <a:srgbClr val="1E293B"/>
                </a:solidFill>
              </a:rPr>
              <a:t>• 重要提醒：有小错误的复杂句 &gt; 完全正确的简单句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句型多样性综合示范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"Should students be required to learn a second language in school?"
7种句型综合应用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argue — quite firmly, in fact — that second language education should be compulsory, and here's why. It is during childhood, as neuroscience has consistently shown, that language acquisition is most efficient — a window that closes, to a significant degree, in adulthood. Not only does early language learning expand future opportunities, but it also reshapes cognitive development in ways that prove beneficial across multiple disciplines. What many people underestimate is how profoundly learning a language changes one's relationship with one's mother tongue — having learned English formally, I find that I understand Chinese grammar far better than I did before. That said, I do acknowledge that quality of instruction matters enormously.</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倒装：Not only does...but it also
强调句：It is during childhood...that
名词从句：What many people underestimate is
状语从句：as neuroscience has shown / that closes...in adulthood
分词：having learned English formally
让步：That said, I do acknowledge
共6种不同句型——Band 8级别GRA多样性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语法自我纠错系统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建立个人语法错误档案
步骤：录音→回放→标注语法错误→分类（时态/从句/搭配）→找规律</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分类系统：
A类（时态）：混用过去/现在时——Part 2高频
B类（从句）：关系代词错误——which/who/where混用
C类（搭配）：make/do/have错误——搭配记忆
D类（情态）：条件句和情态动词错误——if+would混用
找出你的Top 2错误类型，针对性练习2周</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规律：每人只有2-3个核心语法弱点——找到它们比泛练更高效
建议：每周整理一次错误档案，追踪改进进度</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语法结构速查表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Grammar Structure Reference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复杂句型模板</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定语从句</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The X, which/who/that/where + clause, is...</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名词从句</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What I find most + adj is... / I believe that...</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状语从句</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Although/While/Given that + clause, ... / ...because/since...</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倒装</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Not only does X..., but Y also... / So + adj is X that...</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强调句</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It is/was + 强调成分 + that/who + 其余部分</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分词短语</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Having + V3, I... / V-ing..., I... / X done/built/found, Y...</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虚拟语气</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If I had + V3, I would have + V3 / If I were..., I would...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时态速查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Part 1：习惯/状态</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一般现在时：I usually.../I tend to.../I enjoy...</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Part 1：过去习惯</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I used to.../When I was younger, I would.../I've always...</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Part 2：过去经历</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过去时：I went/saw/felt/had/was...（全程一致）</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Part 2：更早的过去</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过去完成时：I had already.../I'd always wanted to...</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Part 2：现在反思</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现在时评价：Looking back.../This experience taught me...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Part 3：观点</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现在时+情态：I think.../This may lead to.../It's likely that...</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Part 3：趋势</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现在完成时：In recent years, people have become.../there has been...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GRA提分速效技巧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每天一个新句型</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每天学1个新句型（如分词短语），录音说3次，直到自然</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句型检查清单</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Part 2结束后问自己：用了几种不同的句型？少于3种？下次加入</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错误档案</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建立个人语法错误档案，每周整理，找Top 2弱点</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复杂&gt;完美</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有小错误的复杂句比完全正确的简单句得分更高——勇于尝试</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时态优先</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先确保Part 2时态一致，再追求句型多样</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建立个人语法错误档案：录音回放，标注错误，找出Top 2弱点</a:t>
            </a:r>
          </a:p>
          <a:p>
            <a:pPr>
              <a:spcBef>
                <a:spcPts val="1200"/>
              </a:spcBef>
            </a:pPr>
            <a:r>
              <a:rPr sz="1600">
                <a:solidFill>
                  <a:srgbClr val="1E293B"/>
                </a:solidFill>
              </a:rPr>
              <a:t>☐ 复合句练习：用7种句型各造1个句子，然后合并成一段有逻辑的答案</a:t>
            </a:r>
          </a:p>
          <a:p>
            <a:pPr>
              <a:spcBef>
                <a:spcPts val="1200"/>
              </a:spcBef>
            </a:pPr>
            <a:r>
              <a:rPr sz="1600">
                <a:solidFill>
                  <a:srgbClr val="1E293B"/>
                </a:solidFill>
              </a:rPr>
              <a:t>☐ Part 2时态练习：选3个Part 2题目，录音，检查时态是否全程一致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L08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GRA核心：多样性&gt;零错误——复杂句有小错也比简单句得分高</a:t>
            </a:r>
          </a:p>
          <a:p>
            <a:pPr>
              <a:spcBef>
                <a:spcPts val="1100"/>
              </a:spcBef>
            </a:pPr>
            <a:r>
              <a:rPr sz="1550">
                <a:solidFill>
                  <a:srgbClr val="FFFFFF"/>
                </a:solidFill>
              </a:rPr>
              <a:t>✓  3类必用从句：定语从句/状语从句/名词从句——Part 2各用1次</a:t>
            </a:r>
          </a:p>
          <a:p>
            <a:pPr>
              <a:spcBef>
                <a:spcPts val="1100"/>
              </a:spcBef>
            </a:pPr>
            <a:r>
              <a:rPr sz="1550">
                <a:solidFill>
                  <a:srgbClr val="FFFFFF"/>
                </a:solidFill>
              </a:rPr>
              <a:t>✓  高级句型：倒装/强调句/分词短语——每次练习加入1种</a:t>
            </a:r>
          </a:p>
          <a:p>
            <a:pPr>
              <a:spcBef>
                <a:spcPts val="1100"/>
              </a:spcBef>
            </a:pPr>
            <a:r>
              <a:rPr sz="1550">
                <a:solidFill>
                  <a:srgbClr val="FFFFFF"/>
                </a:solidFill>
              </a:rPr>
              <a:t>✓  Part 2时态：过去时贯穿，过去完成时引入背景，现在时收尾反思</a:t>
            </a:r>
          </a:p>
          <a:p>
            <a:pPr>
              <a:spcBef>
                <a:spcPts val="1100"/>
              </a:spcBef>
            </a:pPr>
            <a:r>
              <a:rPr sz="1550">
                <a:solidFill>
                  <a:srgbClr val="FFFFFF"/>
                </a:solidFill>
              </a:rPr>
              <a:t>✓  每天训练：1个新句型，说3次，录音检查——4周GRA提升显著</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建议用时：约75分钟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建立语法错误档案：录音3段Part 2，回放标注所有语法错误并分类</a:t>
            </a:r>
          </a:p>
          <a:p>
            <a:pPr>
              <a:spcBef>
                <a:spcPts val="1300"/>
              </a:spcBef>
            </a:pPr>
            <a:r>
              <a:rPr sz="1550" b="1">
                <a:solidFill>
                  <a:srgbClr val="1E293B"/>
                </a:solidFill>
              </a:rPr>
              <a:t>作业 2　句型练习：用7种核心句型各造1个口语例句，大声说出来并录音</a:t>
            </a:r>
          </a:p>
          <a:p>
            <a:pPr>
              <a:spcBef>
                <a:spcPts val="1300"/>
              </a:spcBef>
            </a:pPr>
            <a:r>
              <a:rPr sz="1550" b="1">
                <a:solidFill>
                  <a:srgbClr val="1E293B"/>
                </a:solidFill>
              </a:rPr>
              <a:t>作业 3　时态专项：选3个Part 2题，录音后专门检查时态一致性</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L09 · 发音与语调：让考官听得清楚</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发音清晰度：重音位置和元音准确</a:t>
            </a:r>
          </a:p>
          <a:p>
            <a:pPr>
              <a:spcBef>
                <a:spcPts val="1000"/>
              </a:spcBef>
            </a:pPr>
            <a:r>
              <a:rPr sz="1600">
                <a:solidFill>
                  <a:srgbClr val="CFDCF2"/>
                </a:solidFill>
              </a:rPr>
              <a:t>→ 语调系统：陈述/疑问/强调的语调规律</a:t>
            </a:r>
          </a:p>
          <a:p>
            <a:pPr>
              <a:spcBef>
                <a:spcPts val="1000"/>
              </a:spcBef>
            </a:pPr>
            <a:r>
              <a:rPr sz="1600">
                <a:solidFill>
                  <a:srgbClr val="CFDCF2"/>
                </a:solidFill>
              </a:rPr>
              <a:t>→ 深圳学生发音痛点：th/v/w/r发音，中式音调</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语法综合强化</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Grammar: Advanced Consolidation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高级句型综合应用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Advanced Grammar Structures: Integrated Application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倒装句综合练习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Inversion: Full Sentences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Not only...but</a:t>
            </a:r>
          </a:p>
          <a:p>
            <a:pPr>
              <a:spcBef>
                <a:spcPts val="100"/>
              </a:spcBef>
            </a:pPr>
            <a:r>
              <a:rPr sz="1500">
                <a:solidFill>
                  <a:srgbClr val="556075"/>
                </a:solidFill>
              </a:rPr>
              <a:t>   Not only does Shenzhen attract talent, but it also retains it through quality of life.</a:t>
            </a:r>
          </a:p>
          <a:p>
            <a:pPr>
              <a:spcBef>
                <a:spcPts val="900"/>
              </a:spcBef>
            </a:pPr>
            <a:r>
              <a:rPr sz="1800" b="1">
                <a:solidFill>
                  <a:srgbClr val="A33607"/>
                </a:solidFill>
              </a:rPr>
              <a:t>• Rarely/Seldom</a:t>
            </a:r>
          </a:p>
          <a:p>
            <a:pPr>
              <a:spcBef>
                <a:spcPts val="100"/>
              </a:spcBef>
            </a:pPr>
            <a:r>
              <a:rPr sz="1500">
                <a:solidFill>
                  <a:srgbClr val="556075"/>
                </a:solidFill>
              </a:rPr>
              <a:t>   Rarely have I seen such rapid urban transformation as in Shenzhen.</a:t>
            </a:r>
          </a:p>
          <a:p>
            <a:pPr>
              <a:spcBef>
                <a:spcPts val="900"/>
              </a:spcBef>
            </a:pPr>
            <a:r>
              <a:rPr sz="1800" b="1">
                <a:solidFill>
                  <a:srgbClr val="A33607"/>
                </a:solidFill>
              </a:rPr>
              <a:t>• So...that</a:t>
            </a:r>
          </a:p>
          <a:p>
            <a:pPr>
              <a:spcBef>
                <a:spcPts val="100"/>
              </a:spcBef>
            </a:pPr>
            <a:r>
              <a:rPr sz="1500">
                <a:solidFill>
                  <a:srgbClr val="556075"/>
                </a:solidFill>
              </a:rPr>
              <a:t>   The competition is so intense that students spend evenings and weekends studying.</a:t>
            </a:r>
          </a:p>
          <a:p>
            <a:pPr>
              <a:spcBef>
                <a:spcPts val="900"/>
              </a:spcBef>
            </a:pPr>
            <a:r>
              <a:rPr sz="1800" b="1">
                <a:solidFill>
                  <a:srgbClr val="A33607"/>
                </a:solidFill>
              </a:rPr>
              <a:t>• Only then</a:t>
            </a:r>
          </a:p>
          <a:p>
            <a:pPr>
              <a:spcBef>
                <a:spcPts val="100"/>
              </a:spcBef>
            </a:pPr>
            <a:r>
              <a:rPr sz="1500">
                <a:solidFill>
                  <a:srgbClr val="556075"/>
                </a:solidFill>
              </a:rPr>
              <a:t>   Only then did I realise how important language skills are for career progression.</a:t>
            </a:r>
          </a:p>
          <a:p>
            <a:pPr>
              <a:spcBef>
                <a:spcPts val="900"/>
              </a:spcBef>
            </a:pPr>
            <a:r>
              <a:rPr sz="1800" b="1">
                <a:solidFill>
                  <a:srgbClr val="A33607"/>
                </a:solidFill>
              </a:rPr>
              <a:t>• No sooner...than</a:t>
            </a:r>
          </a:p>
          <a:p>
            <a:pPr>
              <a:spcBef>
                <a:spcPts val="100"/>
              </a:spcBef>
            </a:pPr>
            <a:r>
              <a:rPr sz="1500">
                <a:solidFill>
                  <a:srgbClr val="556075"/>
                </a:solidFill>
              </a:rPr>
              <a:t>   No sooner had I started speaking than my confidence began to build.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强调句与名词从句高级形式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Cleft Sentences &amp; Advanced Noun Clauses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It is/was...that</a:t>
            </a:r>
          </a:p>
          <a:p>
            <a:pPr>
              <a:spcBef>
                <a:spcPts val="100"/>
              </a:spcBef>
            </a:pPr>
            <a:r>
              <a:rPr sz="1500">
                <a:solidFill>
                  <a:srgbClr val="556075"/>
                </a:solidFill>
              </a:rPr>
              <a:t>   It was the feedback from my teacher that motivated me to persevere.</a:t>
            </a:r>
          </a:p>
          <a:p>
            <a:pPr>
              <a:spcBef>
                <a:spcPts val="900"/>
              </a:spcBef>
            </a:pPr>
            <a:r>
              <a:rPr sz="1800" b="1">
                <a:solidFill>
                  <a:srgbClr val="A33607"/>
                </a:solidFill>
              </a:rPr>
              <a:t>• What...is</a:t>
            </a:r>
          </a:p>
          <a:p>
            <a:pPr>
              <a:spcBef>
                <a:spcPts val="100"/>
              </a:spcBef>
            </a:pPr>
            <a:r>
              <a:rPr sz="1500">
                <a:solidFill>
                  <a:srgbClr val="556075"/>
                </a:solidFill>
              </a:rPr>
              <a:t>   What particularly impresses me about Shenzhen is its willingness to reinvent itself.</a:t>
            </a:r>
          </a:p>
          <a:p>
            <a:pPr>
              <a:spcBef>
                <a:spcPts val="900"/>
              </a:spcBef>
            </a:pPr>
            <a:r>
              <a:rPr sz="1800" b="1">
                <a:solidFill>
                  <a:srgbClr val="A33607"/>
                </a:solidFill>
              </a:rPr>
              <a:t>• The fact that...</a:t>
            </a:r>
          </a:p>
          <a:p>
            <a:pPr>
              <a:spcBef>
                <a:spcPts val="100"/>
              </a:spcBef>
            </a:pPr>
            <a:r>
              <a:rPr sz="1500">
                <a:solidFill>
                  <a:srgbClr val="556075"/>
                </a:solidFill>
              </a:rPr>
              <a:t>   The fact that China has lifted millions out of poverty is remarkable.</a:t>
            </a:r>
          </a:p>
          <a:p>
            <a:pPr>
              <a:spcBef>
                <a:spcPts val="900"/>
              </a:spcBef>
            </a:pPr>
            <a:r>
              <a:rPr sz="1800" b="1">
                <a:solidFill>
                  <a:srgbClr val="A33607"/>
                </a:solidFill>
              </a:rPr>
              <a:t>• What I find/notice</a:t>
            </a:r>
          </a:p>
          <a:p>
            <a:pPr>
              <a:spcBef>
                <a:spcPts val="100"/>
              </a:spcBef>
            </a:pPr>
            <a:r>
              <a:rPr sz="1500">
                <a:solidFill>
                  <a:srgbClr val="556075"/>
                </a:solidFill>
              </a:rPr>
              <a:t>   What I find particularly challenging is maintaining consistency under pressure.</a:t>
            </a:r>
          </a:p>
          <a:p>
            <a:pPr>
              <a:spcBef>
                <a:spcPts val="900"/>
              </a:spcBef>
            </a:pPr>
            <a:r>
              <a:rPr sz="1800" b="1">
                <a:solidFill>
                  <a:srgbClr val="A33607"/>
                </a:solidFill>
              </a:rPr>
              <a:t>• The reason why</a:t>
            </a:r>
          </a:p>
          <a:p>
            <a:pPr>
              <a:spcBef>
                <a:spcPts val="100"/>
              </a:spcBef>
            </a:pPr>
            <a:r>
              <a:rPr sz="1500">
                <a:solidFill>
                  <a:srgbClr val="556075"/>
                </a:solidFill>
              </a:rPr>
              <a:t>   The reason why so many people choose Shenzhen is the economic opportunity.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分词短语高级运用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现在分词：Speaking from experience, I can say that practice matters most.</a:t>
            </a:r>
          </a:p>
          <a:p>
            <a:pPr>
              <a:spcBef>
                <a:spcPts val="1000"/>
              </a:spcBef>
            </a:pPr>
            <a:r>
              <a:rPr sz="1650">
                <a:solidFill>
                  <a:srgbClr val="1E293B"/>
                </a:solidFill>
              </a:rPr>
              <a:t>• 过去分词：Given the rapid pace of development, adaptation is essential.</a:t>
            </a:r>
          </a:p>
          <a:p>
            <a:pPr>
              <a:spcBef>
                <a:spcPts val="1000"/>
              </a:spcBef>
            </a:pPr>
            <a:r>
              <a:rPr sz="1650">
                <a:solidFill>
                  <a:srgbClr val="1E293B"/>
                </a:solidFill>
              </a:rPr>
              <a:t>• 完成分词：Having studied the topic thoroughly, I'm confident in my analysis.</a:t>
            </a:r>
          </a:p>
          <a:p>
            <a:pPr>
              <a:spcBef>
                <a:spcPts val="1000"/>
              </a:spcBef>
            </a:pPr>
            <a:r>
              <a:rPr sz="1650">
                <a:solidFill>
                  <a:srgbClr val="1E293B"/>
                </a:solidFill>
              </a:rPr>
              <a:t>• 独立主格：The exam finished, I felt an enormous sense of relief.</a:t>
            </a:r>
          </a:p>
          <a:p>
            <a:pPr>
              <a:spcBef>
                <a:spcPts val="1000"/>
              </a:spcBef>
            </a:pPr>
            <a:r>
              <a:rPr sz="1650">
                <a:solidFill>
                  <a:srgbClr val="1E293B"/>
                </a:solidFill>
              </a:rPr>
              <a:t>• 深圳学生：分词短语是Band 7+的标志性结构——考官听到就知道GRA有深度</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虚拟语气实战应用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If I had started learning earlier, I would have made faster progress.</a:t>
            </a:r>
          </a:p>
          <a:p>
            <a:pPr>
              <a:spcBef>
                <a:spcPts val="1000"/>
              </a:spcBef>
            </a:pPr>
            <a:r>
              <a:rPr sz="1650">
                <a:solidFill>
                  <a:srgbClr val="1E293B"/>
                </a:solidFill>
              </a:rPr>
              <a:t>• Were I to choose again, I'd prioritise spoken practice over grammar.</a:t>
            </a:r>
          </a:p>
          <a:p>
            <a:pPr>
              <a:spcBef>
                <a:spcPts val="1000"/>
              </a:spcBef>
            </a:pPr>
            <a:r>
              <a:rPr sz="1650">
                <a:solidFill>
                  <a:srgbClr val="1E293B"/>
                </a:solidFill>
              </a:rPr>
              <a:t>• If it weren't for the gaokao pressure, education could be more creative.</a:t>
            </a:r>
          </a:p>
          <a:p>
            <a:pPr>
              <a:spcBef>
                <a:spcPts val="1000"/>
              </a:spcBef>
            </a:pPr>
            <a:r>
              <a:rPr sz="1650">
                <a:solidFill>
                  <a:srgbClr val="1E293B"/>
                </a:solidFill>
              </a:rPr>
              <a:t>• I wish I had known earlier how important reading widely was.</a:t>
            </a:r>
          </a:p>
          <a:p>
            <a:pPr>
              <a:spcBef>
                <a:spcPts val="1000"/>
              </a:spcBef>
            </a:pPr>
            <a:r>
              <a:rPr sz="1650">
                <a:solidFill>
                  <a:srgbClr val="1E293B"/>
                </a:solidFill>
              </a:rPr>
              <a:t>• 使用场景：Part 2（回顾过去）和Part 3（反事实论证）最常用</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高级句型Part 2应用示范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challenge you overcame."
高级语法结构综合应用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The challenge that springs to mind is learning to speak publicly — something which, having grown up in a relatively quiet household, I found genuinely terrifying. Not only did I find the physical sensations of anxiety overwhelming, but I also struggled with the cognitive demand of organising thoughts while speaking simultaneously. What gradually changed things was a professor who, rather than asking me to simply practise more, encouraged me to reframe my relationship with nervous energy. It was this reframing — understanding anxiety as excitement misinterpreted — that proved to be the breakthrough. Had I not taken that advice, I suspect I would still be avoiding speaking opportunities today.</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分词短语：having grown up in a relatively quiet household
倒装：Not only did I find...but I also
强调句：It was this reframing...that proved to be
虚拟语气：Had I not taken that advice, I suspect I would still be
定语从句：which / who / that——三个不同关系代词</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语法错误诊断与修正练习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以下句子各有1个语法错误，找出并修正</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 "Not only I improved my English, but I also made friends." → 倒装错误
   ✓ Not only did I improve...
2. "The city which I went there has beautiful scenery." → 关系代词错误
   ✓ The city that/which I visited / The city where I went
3. "If I would have more time, I will practice more." → 条件句错误
   ✓ If I had more time, I would practice more
4. "I am living in Shenzhen since 2020." → 现在完成时错误
   ✓ I have been living in Shenzhen since 2020</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练习方法：录音一段答案，回放，专门找这4类错误——找到1个就是进步</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 Band 7示范：Part 3语法结构分析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universities should focus more on practical skills or theoretical knowledge?"
高密度复杂句型</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argue that the most effective approach integrates both, though not in equal proportion. What strikes me most about this debate is the false dichotomy it implies — as if theoretical rigour and practical application were necessarily in tension. In reality, the most valuable education occurs at their intersection: deep theoretical grounding that enables creative practical problem-solving. Not only does a solid theoretical foundation help students understand why things work, but it also equips them to adapt when practical circumstances change unexpectedly. That said, I do think Chinese universities, having historically emphasised theoretical achievement, now face real pressure to incorporate more applied learning — which, given Shenzhen's role as an innovation hub, seems particularly urgent.</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倒装：Not only does...but it also——展示GRA多样性</a:t>
            </a:r>
          </a:p>
          <a:p>
            <a:pPr>
              <a:spcBef>
                <a:spcPts val="700"/>
              </a:spcBef>
            </a:pPr>
            <a:r>
              <a:rPr sz="1200">
                <a:solidFill>
                  <a:srgbClr val="1E293B"/>
                </a:solidFill>
              </a:rPr>
              <a:t>▸ 分词：having historically emphasised——完成分词</a:t>
            </a:r>
          </a:p>
          <a:p>
            <a:pPr>
              <a:spcBef>
                <a:spcPts val="700"/>
              </a:spcBef>
            </a:pPr>
            <a:r>
              <a:rPr sz="1200">
                <a:solidFill>
                  <a:srgbClr val="1E293B"/>
                </a:solidFill>
              </a:rPr>
              <a:t>▸ 定语从句：which...seems particularly urgent——非限定性定语从句</a:t>
            </a:r>
          </a:p>
          <a:p>
            <a:pPr>
              <a:spcBef>
                <a:spcPts val="700"/>
              </a:spcBef>
            </a:pPr>
            <a:r>
              <a:rPr sz="1200">
                <a:solidFill>
                  <a:srgbClr val="1E293B"/>
                </a:solidFill>
              </a:rPr>
              <a:t>▸ 名词从句：What strikes me most about this debate is——强调句变体</a:t>
            </a:r>
          </a:p>
          <a:p>
            <a:pPr>
              <a:spcBef>
                <a:spcPts val="700"/>
              </a:spcBef>
            </a:pPr>
            <a:r>
              <a:rPr sz="1200">
                <a:solidFill>
                  <a:srgbClr val="1E293B"/>
                </a:solidFill>
              </a:rPr>
              <a:t>▸ 整体GRA：5种不同结构在60秒内——Band 8水平</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GRA时态综合示范：Part 2完整回答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题目："Describe a significant decision you made."
时态准确性重点示范</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like to talk about the decision I made to leave a stable job in finance to pursue a career in education. At the time, I had been working in the finance sector for three years and had gradually become aware that, while the salary was excellent, the work left me feeling intellectually unstimulated. The decision itself took about six months to make — I'd discussed it with my family, consulted mentors, and had even done some informal teaching to test my suitability. When I finally handed in my resignation, I remember feeling an unusual mixture of terror and exhilaration. Looking back, I realise it was the best decision I've ever made — not because it was immediately comfortable, but because it aligned who I am with what I do.</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过去完成时：I had been working / had gradually become / I'd discussed / had even done</a:t>
            </a:r>
          </a:p>
          <a:p>
            <a:pPr>
              <a:spcBef>
                <a:spcPts val="700"/>
              </a:spcBef>
            </a:pPr>
            <a:r>
              <a:rPr sz="1200">
                <a:solidFill>
                  <a:srgbClr val="1E293B"/>
                </a:solidFill>
              </a:rPr>
              <a:t>▸ 过去时（主线）：I made / took / handed in / remember / felt</a:t>
            </a:r>
          </a:p>
          <a:p>
            <a:pPr>
              <a:spcBef>
                <a:spcPts val="700"/>
              </a:spcBef>
            </a:pPr>
            <a:r>
              <a:rPr sz="1200">
                <a:solidFill>
                  <a:srgbClr val="1E293B"/>
                </a:solidFill>
              </a:rPr>
              <a:t>▸ 现在时（收尾）：I realise / it was / because it aligned——现在视角的反思</a:t>
            </a:r>
          </a:p>
          <a:p>
            <a:pPr>
              <a:spcBef>
                <a:spcPts val="700"/>
              </a:spcBef>
            </a:pPr>
            <a:r>
              <a:rPr sz="1200">
                <a:solidFill>
                  <a:srgbClr val="1E293B"/>
                </a:solidFill>
              </a:rPr>
              <a:t>▸ 时态逻辑：过去完成→过去→现在反思——三层时态自然切换</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GRA：简单句堆砌 vs 复杂句多样</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简单句堆砌（Band 5-6）</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复杂句多样（Band 7）</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like Shenzhen. It is a big city. It has many opportunities."</a:t>
            </a:r>
          </a:p>
          <a:p>
            <a:pPr>
              <a:spcBef>
                <a:spcPts val="700"/>
              </a:spcBef>
            </a:pPr>
            <a:r>
              <a:rPr sz="1350">
                <a:solidFill>
                  <a:srgbClr val="C02A2A"/>
                </a:solidFill>
              </a:rPr>
              <a:t>✗ "Education is important. It helps people find jobs. Jobs make people happy."</a:t>
            </a:r>
          </a:p>
          <a:p>
            <a:pPr>
              <a:spcBef>
                <a:spcPts val="700"/>
              </a:spcBef>
            </a:pPr>
            <a:r>
              <a:rPr sz="1350">
                <a:solidFill>
                  <a:srgbClr val="C02A2A"/>
                </a:solidFill>
              </a:rPr>
              <a:t>✗ "I studied English. It was difficult. But I practised. Now I am better."</a:t>
            </a:r>
          </a:p>
          <a:p>
            <a:pPr>
              <a:spcBef>
                <a:spcPts val="700"/>
              </a:spcBef>
            </a:pPr>
            <a:r>
              <a:rPr sz="1350">
                <a:solidFill>
                  <a:srgbClr val="C02A2A"/>
                </a:solidFill>
              </a:rPr>
              <a:t>✗ 特征：每句话都是主+谓+宾，无从句，无多样性</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"Shenzhen, which has grown from a fishing village to a tech hub, offers unparalleled opportunities."</a:t>
            </a:r>
          </a:p>
          <a:p>
            <a:pPr>
              <a:spcBef>
                <a:spcPts val="700"/>
              </a:spcBef>
            </a:pPr>
            <a:r>
              <a:rPr sz="1350">
                <a:solidFill>
                  <a:srgbClr val="1B7A3D"/>
                </a:solidFill>
              </a:rPr>
              <a:t>✓ "Education, I'd argue, is valuable not merely for its economic returns but for the intellectual freedom it provides."</a:t>
            </a:r>
          </a:p>
          <a:p>
            <a:pPr>
              <a:spcBef>
                <a:spcPts val="700"/>
              </a:spcBef>
            </a:pPr>
            <a:r>
              <a:rPr sz="1350">
                <a:solidFill>
                  <a:srgbClr val="1B7A3D"/>
                </a:solidFill>
              </a:rPr>
              <a:t>✓ "Having struggled with English initially, I now find myself drawn to the language's expressive precision."</a:t>
            </a:r>
          </a:p>
          <a:p>
            <a:pPr>
              <a:spcBef>
                <a:spcPts val="700"/>
              </a:spcBef>
            </a:pPr>
            <a:r>
              <a:rPr sz="1350">
                <a:solidFill>
                  <a:srgbClr val="1B7A3D"/>
                </a:solidFill>
              </a:rPr>
              <a:t>✓ 特征：定语从句/分词短语/让步结构——3句话3种不同GRA结构</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时态错误 vs 时态正确（Part 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时态混用（常见错误）</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时态一致（正确示范）</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went to Beijing last year. The city is very crowded."（过去→现在，时态跳跃）</a:t>
            </a:r>
          </a:p>
          <a:p>
            <a:pPr>
              <a:spcBef>
                <a:spcPts val="700"/>
              </a:spcBef>
            </a:pPr>
            <a:r>
              <a:rPr sz="1350">
                <a:solidFill>
                  <a:srgbClr val="C02A2A"/>
                </a:solidFill>
              </a:rPr>
              <a:t>✗ "I have visited 3 countries. I go to Japan in 2022."（完成时→过去时，错误）</a:t>
            </a:r>
          </a:p>
          <a:p>
            <a:pPr>
              <a:spcBef>
                <a:spcPts val="700"/>
              </a:spcBef>
            </a:pPr>
            <a:r>
              <a:rPr sz="1350">
                <a:solidFill>
                  <a:srgbClr val="C02A2A"/>
                </a:solidFill>
              </a:rPr>
              <a:t>✗ "If I will have more money, I will travel."（条件句错误）</a:t>
            </a:r>
          </a:p>
          <a:p>
            <a:pPr>
              <a:spcBef>
                <a:spcPts val="700"/>
              </a:spcBef>
            </a:pPr>
            <a:r>
              <a:rPr sz="1350">
                <a:solidFill>
                  <a:srgbClr val="C02A2A"/>
                </a:solidFill>
              </a:rPr>
              <a:t>✗ "I am living in Shenzhen since 2020."（时态选择错误）</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 went to Beijing last year. The city was incredibly crowded."（全过去时）</a:t>
            </a:r>
          </a:p>
          <a:p>
            <a:pPr>
              <a:spcBef>
                <a:spcPts val="700"/>
              </a:spcBef>
            </a:pPr>
            <a:r>
              <a:rPr sz="1350">
                <a:solidFill>
                  <a:srgbClr val="1B7A3D"/>
                </a:solidFill>
              </a:rPr>
              <a:t>✓ "I have visited 3 countries. The most memorable was Japan in 2022."（完成+过去）</a:t>
            </a:r>
          </a:p>
          <a:p>
            <a:pPr>
              <a:spcBef>
                <a:spcPts val="700"/>
              </a:spcBef>
            </a:pPr>
            <a:r>
              <a:rPr sz="1350">
                <a:solidFill>
                  <a:srgbClr val="1B7A3D"/>
                </a:solidFill>
              </a:rPr>
              <a:t>✓ "If I had more money, I would travel more."（虚拟语气）</a:t>
            </a:r>
          </a:p>
          <a:p>
            <a:pPr>
              <a:spcBef>
                <a:spcPts val="700"/>
              </a:spcBef>
            </a:pPr>
            <a:r>
              <a:rPr sz="1350">
                <a:solidFill>
                  <a:srgbClr val="1B7A3D"/>
                </a:solidFill>
              </a:rPr>
              <a:t>✓ "I have been living in Shenzhen since 2020."（现在完成进行时）</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语法提升4周计划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Week 1：从句精准化</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每天学1个从句类型（定语/状语/名词），造3个例句，录音检查关系代词</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Week 2：高级句型激活</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每天练1个高级结构（倒装/强调句/分词），说5遍直到自然，不照稿</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Week 3：时态专项</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每天选1个Part 2题，录音，专门检查时态——找到1个错误就是进步</a:t>
            </a:r>
          </a:p>
        </p:txBody>
      </p:sp>
      <p:sp>
        <p:nvSpPr>
          <p:cNvPr id="23" name="Rounded Rectangle 22"/>
          <p:cNvSpPr/>
          <p:nvPr/>
        </p:nvSpPr>
        <p:spPr>
          <a:xfrm>
            <a:off x="548640" y="443484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A33607"/>
                </a:solidFill>
                <a:latin typeface="Calibri"/>
              </a:rPr>
              <a:t>Week 4：综合输出</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每天录1个Part 3答案，检查5种GRA结构——能用5种就是Band 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语法结构快速转换练习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将简单句改为指定的复杂句型（口头练习）</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"X is good." → 倒装："Not only is X good, but it also..." → 说出完整句子</a:t>
            </a:r>
          </a:p>
          <a:p>
            <a:pPr>
              <a:spcBef>
                <a:spcPts val="1100"/>
              </a:spcBef>
            </a:pPr>
            <a:r>
              <a:rPr sz="1500">
                <a:solidFill>
                  <a:srgbClr val="1E293B"/>
                </a:solidFill>
              </a:rPr>
              <a:t>▢ "I think X." → 强调句："What I think is that X..."  → 说出完整句子</a:t>
            </a:r>
          </a:p>
          <a:p>
            <a:pPr>
              <a:spcBef>
                <a:spcPts val="1100"/>
              </a:spcBef>
            </a:pPr>
            <a:r>
              <a:rPr sz="1500">
                <a:solidFill>
                  <a:srgbClr val="1E293B"/>
                </a:solidFill>
              </a:rPr>
              <a:t>▢ "Because of X, Y." → 分词："Given X, Y..." 或 "Having experienced X, I..."</a:t>
            </a:r>
          </a:p>
          <a:p>
            <a:pPr>
              <a:spcBef>
                <a:spcPts val="1100"/>
              </a:spcBef>
            </a:pPr>
            <a:r>
              <a:rPr sz="1500">
                <a:solidFill>
                  <a:srgbClr val="1E293B"/>
                </a:solidFill>
              </a:rPr>
              <a:t>▢ "If I had money..." → 虚拟语气：说完整的虚拟条件句（注意情态动词）</a:t>
            </a:r>
          </a:p>
          <a:p>
            <a:pPr>
              <a:spcBef>
                <a:spcPts val="1100"/>
              </a:spcBef>
            </a:pPr>
            <a:r>
              <a:rPr sz="1500">
                <a:solidFill>
                  <a:srgbClr val="1E293B"/>
                </a:solidFill>
              </a:rPr>
              <a:t>▢ "X is important." → 名词从句："What matters most is..." → 说出完整句子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GRA提升4大核心行动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行动1：每天1句型</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每天只专注1个新句型，造3个口语例句，录音——深度优于广度</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行动2：Part 2时态清单</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考前默写时态规则：过去事件=全程过去时 / 背景=过去完成时 / 反思=现在时</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行动3：录音标注</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每周录1段Part 3，回放后标注句型——定语/状语/名词从句——统计多样性</a:t>
            </a:r>
          </a:p>
        </p:txBody>
      </p:sp>
      <p:sp>
        <p:nvSpPr>
          <p:cNvPr id="23" name="Rounded Rectangle 22"/>
          <p:cNvSpPr/>
          <p:nvPr/>
        </p:nvSpPr>
        <p:spPr>
          <a:xfrm>
            <a:off x="548640" y="443484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A33607"/>
                </a:solidFill>
                <a:latin typeface="Calibri"/>
              </a:rPr>
              <a:t>行动4：错误档案</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建立个人GRA错误档案，每次模考后更新——找出Top 2弱点针对练习</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2：时态混用 vs 时态一致</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时态混用（常见错误）</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时态一致（正确示范）</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went to the museum last year. It is very old and beautiful."</a:t>
            </a:r>
          </a:p>
          <a:p>
            <a:pPr>
              <a:spcBef>
                <a:spcPts val="700"/>
              </a:spcBef>
            </a:pPr>
            <a:r>
              <a:rPr sz="1350">
                <a:solidFill>
                  <a:srgbClr val="C02A2A"/>
                </a:solidFill>
              </a:rPr>
              <a:t>✗ "I have visit Japan in 2022."（have+过去式错误）</a:t>
            </a:r>
          </a:p>
          <a:p>
            <a:pPr>
              <a:spcBef>
                <a:spcPts val="700"/>
              </a:spcBef>
            </a:pPr>
            <a:r>
              <a:rPr sz="1350">
                <a:solidFill>
                  <a:srgbClr val="C02A2A"/>
                </a:solidFill>
              </a:rPr>
              <a:t>✗ "While I am walking, I see a beautiful view."（过去时→现在时）</a:t>
            </a:r>
          </a:p>
          <a:p>
            <a:pPr>
              <a:spcBef>
                <a:spcPts val="700"/>
              </a:spcBef>
            </a:pPr>
            <a:r>
              <a:rPr sz="1350">
                <a:solidFill>
                  <a:srgbClr val="C02A2A"/>
                </a:solidFill>
              </a:rPr>
              <a:t>✗ "I decide to study English seriously."（应为decided）</a:t>
            </a:r>
          </a:p>
          <a:p>
            <a:pPr>
              <a:spcBef>
                <a:spcPts val="700"/>
              </a:spcBef>
            </a:pPr>
            <a:r>
              <a:rPr sz="1350">
                <a:solidFill>
                  <a:srgbClr val="C02A2A"/>
                </a:solidFill>
              </a:rPr>
              <a:t>✗ 影响：时态不一致降低GRA分，也影响听者理解</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 went to the museum last year. It was magnificent — built in the 1930s."</a:t>
            </a:r>
          </a:p>
          <a:p>
            <a:pPr>
              <a:spcBef>
                <a:spcPts val="700"/>
              </a:spcBef>
            </a:pPr>
            <a:r>
              <a:rPr sz="1350">
                <a:solidFill>
                  <a:srgbClr val="1B7A3D"/>
                </a:solidFill>
              </a:rPr>
              <a:t>✓ "I visited Japan in 2022."（或 "I have been to Japan once, in 2022."）</a:t>
            </a:r>
          </a:p>
          <a:p>
            <a:pPr>
              <a:spcBef>
                <a:spcPts val="700"/>
              </a:spcBef>
            </a:pPr>
            <a:r>
              <a:rPr sz="1350">
                <a:solidFill>
                  <a:srgbClr val="1B7A3D"/>
                </a:solidFill>
              </a:rPr>
              <a:t>✓ "While I was walking, I noticed a stunning view."（过去进行+过去时）</a:t>
            </a:r>
          </a:p>
          <a:p>
            <a:pPr>
              <a:spcBef>
                <a:spcPts val="700"/>
              </a:spcBef>
            </a:pPr>
            <a:r>
              <a:rPr sz="1350">
                <a:solidFill>
                  <a:srgbClr val="1B7A3D"/>
                </a:solidFill>
              </a:rPr>
              <a:t>✓ "I decided to study English seriously."（过去时一致）</a:t>
            </a:r>
          </a:p>
          <a:p>
            <a:pPr>
              <a:spcBef>
                <a:spcPts val="700"/>
              </a:spcBef>
            </a:pPr>
            <a:r>
              <a:rPr sz="1350">
                <a:solidFill>
                  <a:srgbClr val="1B7A3D"/>
                </a:solidFill>
              </a:rPr>
              <a:t>✓ 效果：时态一致让叙事清晰，GRA稳定在7分</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GRA语法结构密度示范：Part 3高分范例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it is important for young people to take risks?"
复杂句型综合应用</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argue that taking calculated risks is not just important — it's essential for meaningful growth. What strikes me most about risk-aversion is that it tends to be self-reinforcing: people who avoid risk rarely develop the confidence that would allow them to take risks, creating a cycle that's genuinely difficult to break. Not only does calculated risk-taking build resilience, but it also generates the kind of real-world learning that no classroom can replicate. That said, I do think the type of risk matters enormously. Having observed Shenzhen's startup culture at close quarters, I'd say the most successful entrepreneurs aren't reckless — they're calculated: they take risks, but only after thorough preparation.</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倒装：Not only does...but it also——GRA多样性</a:t>
            </a:r>
          </a:p>
          <a:p>
            <a:pPr>
              <a:spcBef>
                <a:spcPts val="700"/>
              </a:spcBef>
            </a:pPr>
            <a:r>
              <a:rPr sz="1200">
                <a:solidFill>
                  <a:srgbClr val="1E293B"/>
                </a:solidFill>
              </a:rPr>
              <a:t>▸ 名词从句：What strikes me most about / the confidence that would allow / the kind of learning that</a:t>
            </a:r>
          </a:p>
          <a:p>
            <a:pPr>
              <a:spcBef>
                <a:spcPts val="700"/>
              </a:spcBef>
            </a:pPr>
            <a:r>
              <a:rPr sz="1200">
                <a:solidFill>
                  <a:srgbClr val="1E293B"/>
                </a:solidFill>
              </a:rPr>
              <a:t>▸ 分词：Having observed...at close quarters——完成分词</a:t>
            </a:r>
          </a:p>
          <a:p>
            <a:pPr>
              <a:spcBef>
                <a:spcPts val="700"/>
              </a:spcBef>
            </a:pPr>
            <a:r>
              <a:rPr sz="1200">
                <a:solidFill>
                  <a:srgbClr val="1E293B"/>
                </a:solidFill>
              </a:rPr>
              <a:t>▸ 定语从句：that would allow / that no classroom can replicate / who avoid risk</a:t>
            </a:r>
          </a:p>
          <a:p>
            <a:pPr>
              <a:spcBef>
                <a:spcPts val="700"/>
              </a:spcBef>
            </a:pPr>
            <a:r>
              <a:rPr sz="1200">
                <a:solidFill>
                  <a:srgbClr val="1E293B"/>
                </a:solidFill>
              </a:rPr>
              <a:t>▸ 共5种不同句型——Band 7+ GRA水平</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GRA自测：分析这段话的语法结构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题目：找出以下段落中的所有复杂句型
练习：读以下段落，标注所有复杂句型</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"What I find most challenging about learning English is not the grammar itself, but the gap between knowing a rule and being able to apply it spontaneously. Having studied English formally for over a decade, I'm well aware that I know the rules. The problem is that, when I'm speaking under pressure, those rules — which I can recite perfectly when relaxed — seem to dissolve. Not only is this frustrating, but it also suggests that formal study alone is insufficient."
答案：What I find（名词从句）/ Having studied（分词）/ when I'm speaking（状语从句）/ which I can recite（定语从句）/ Not only is this（倒装）= 5种</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练习价值：能识别句型才能有意识地使用句型</a:t>
            </a:r>
          </a:p>
          <a:p>
            <a:pPr>
              <a:spcBef>
                <a:spcPts val="700"/>
              </a:spcBef>
            </a:pPr>
            <a:r>
              <a:rPr sz="1200">
                <a:solidFill>
                  <a:srgbClr val="1E293B"/>
                </a:solidFill>
              </a:rPr>
              <a:t>▸ 分析自己的录音答案：找有几种不同句型？少于3种就要提升</a:t>
            </a:r>
          </a:p>
          <a:p>
            <a:pPr>
              <a:spcBef>
                <a:spcPts val="700"/>
              </a:spcBef>
            </a:pPr>
            <a:r>
              <a:rPr sz="1200">
                <a:solidFill>
                  <a:srgbClr val="1E293B"/>
                </a:solidFill>
              </a:rPr>
              <a:t>▸ 下一步：把这段话读出来，感受复杂句型在口语中的自然程度</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GRA句型：必用 vs 加分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必用句型（Band 7基础）</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定语从句</a:t>
            </a:r>
          </a:p>
          <a:p>
            <a:pPr>
              <a:spcBef>
                <a:spcPts val="100"/>
              </a:spcBef>
            </a:pPr>
            <a:r>
              <a:rPr sz="1350">
                <a:solidFill>
                  <a:srgbClr val="556075"/>
                </a:solidFill>
              </a:rPr>
              <a:t>   who/which/that/where，每个Part 2至少1个</a:t>
            </a:r>
          </a:p>
          <a:p>
            <a:pPr>
              <a:spcBef>
                <a:spcPts val="700"/>
              </a:spcBef>
            </a:pPr>
            <a:r>
              <a:rPr sz="1650" b="1">
                <a:solidFill>
                  <a:srgbClr val="A33607"/>
                </a:solidFill>
              </a:rPr>
              <a:t>• 状语从句</a:t>
            </a:r>
          </a:p>
          <a:p>
            <a:pPr>
              <a:spcBef>
                <a:spcPts val="100"/>
              </a:spcBef>
            </a:pPr>
            <a:r>
              <a:rPr sz="1350">
                <a:solidFill>
                  <a:srgbClr val="556075"/>
                </a:solidFill>
              </a:rPr>
              <a:t>   because/although/when/given that，每个答案至少1个</a:t>
            </a:r>
          </a:p>
          <a:p>
            <a:pPr>
              <a:spcBef>
                <a:spcPts val="700"/>
              </a:spcBef>
            </a:pPr>
            <a:r>
              <a:rPr sz="1650" b="1">
                <a:solidFill>
                  <a:srgbClr val="A33607"/>
                </a:solidFill>
              </a:rPr>
              <a:t>• 名词从句</a:t>
            </a:r>
          </a:p>
          <a:p>
            <a:pPr>
              <a:spcBef>
                <a:spcPts val="100"/>
              </a:spcBef>
            </a:pPr>
            <a:r>
              <a:rPr sz="1350">
                <a:solidFill>
                  <a:srgbClr val="556075"/>
                </a:solidFill>
              </a:rPr>
              <a:t>   what...is/I believe that，每个答案至少1个</a:t>
            </a:r>
          </a:p>
          <a:p>
            <a:pPr>
              <a:spcBef>
                <a:spcPts val="700"/>
              </a:spcBef>
            </a:pPr>
            <a:r>
              <a:rPr sz="1650" b="1">
                <a:solidFill>
                  <a:srgbClr val="A33607"/>
                </a:solidFill>
              </a:rPr>
              <a:t>• 目标</a:t>
            </a:r>
          </a:p>
          <a:p>
            <a:pPr>
              <a:spcBef>
                <a:spcPts val="100"/>
              </a:spcBef>
            </a:pPr>
            <a:r>
              <a:rPr sz="1350">
                <a:solidFill>
                  <a:srgbClr val="556075"/>
                </a:solidFill>
              </a:rPr>
              <a:t>   3种必用句型 = GRA Band 7基本达标</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加分句型（Band 7+）</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倒装</a:t>
            </a:r>
          </a:p>
          <a:p>
            <a:pPr>
              <a:spcBef>
                <a:spcPts val="100"/>
              </a:spcBef>
            </a:pPr>
            <a:r>
              <a:rPr sz="1350">
                <a:solidFill>
                  <a:srgbClr val="556075"/>
                </a:solidFill>
              </a:rPr>
              <a:t>   Not only does...but，Part 3论证最有力</a:t>
            </a:r>
          </a:p>
          <a:p>
            <a:pPr>
              <a:spcBef>
                <a:spcPts val="700"/>
              </a:spcBef>
            </a:pPr>
            <a:r>
              <a:rPr sz="1650" b="1">
                <a:solidFill>
                  <a:srgbClr val="A33607"/>
                </a:solidFill>
              </a:rPr>
              <a:t>• 强调句</a:t>
            </a:r>
          </a:p>
          <a:p>
            <a:pPr>
              <a:spcBef>
                <a:spcPts val="100"/>
              </a:spcBef>
            </a:pPr>
            <a:r>
              <a:rPr sz="1350">
                <a:solidFill>
                  <a:srgbClr val="556075"/>
                </a:solidFill>
              </a:rPr>
              <a:t>   It is...that，强调最重要的信息</a:t>
            </a:r>
          </a:p>
          <a:p>
            <a:pPr>
              <a:spcBef>
                <a:spcPts val="700"/>
              </a:spcBef>
            </a:pPr>
            <a:r>
              <a:rPr sz="1650" b="1">
                <a:solidFill>
                  <a:srgbClr val="A33607"/>
                </a:solidFill>
              </a:rPr>
              <a:t>• 分词短语</a:t>
            </a:r>
          </a:p>
          <a:p>
            <a:pPr>
              <a:spcBef>
                <a:spcPts val="100"/>
              </a:spcBef>
            </a:pPr>
            <a:r>
              <a:rPr sz="1350">
                <a:solidFill>
                  <a:srgbClr val="556075"/>
                </a:solidFill>
              </a:rPr>
              <a:t>   Having done.../Given...，Part 2背景介绍</a:t>
            </a:r>
          </a:p>
          <a:p>
            <a:pPr>
              <a:spcBef>
                <a:spcPts val="700"/>
              </a:spcBef>
            </a:pPr>
            <a:r>
              <a:rPr sz="1650" b="1">
                <a:solidFill>
                  <a:srgbClr val="A33607"/>
                </a:solidFill>
              </a:rPr>
              <a:t>• 虚拟语气</a:t>
            </a:r>
          </a:p>
          <a:p>
            <a:pPr>
              <a:spcBef>
                <a:spcPts val="100"/>
              </a:spcBef>
            </a:pPr>
            <a:r>
              <a:rPr sz="1350">
                <a:solidFill>
                  <a:srgbClr val="556075"/>
                </a:solidFill>
              </a:rPr>
              <a:t>   If I had.../Were I to...，反事实论证</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GRA高频句型模板速查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定语从句</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The [noun] that/which/who [clause] is...</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状语从句（让步）</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Although/While/Even though [clause], [main clause]</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状语从句（原因）</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Given that / Since / Because [clause], [main clause]</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名词从句</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What I find most [adj] is... / I'd argue that...</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倒装</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Not only does X..., but it also... / So [adj] is X that...</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强调句</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It is [focus] that [rest of sentence]</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分词短语</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Having [V3]..., [subject] [verb]... / Given [noun/adj clause]...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时态速查：何时用什么时态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Part 1（现在习惯）</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I usually... / I tend to... / I've always...</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Part 1（过去经历）</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I used to... / When I was...I would...</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Part 2（过去叙述主线）</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I went/saw/felt/had（简单过去时）</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Part 2（更早的过去）</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I had already.../I'd always wanted to...（过去完成时）</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Part 2（现在反思）</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Looking back, I realise... / This experience taught me...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Part 3（观点）</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I think... / This may/might/could lead to...</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Part 3（趋势/变化）</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There has been.../People have become...（现在完成时）</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GRA 7分快速检查清单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检查1：定语从句</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每个Part 2答案包含至少1个who/which/that/where</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检查2：状语从句</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包含至少1个because/although/when/given that</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检查3：名词从句</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包含至少1个What...is / I believe that</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检查4：时态</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Part 2全程过去时，没有混用现在时</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检查5：多样性</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3种以上不同句型 = GRA Band 7达标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