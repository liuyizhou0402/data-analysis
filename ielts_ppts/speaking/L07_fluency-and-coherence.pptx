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F28C1D"/>
                </a:solidFill>
                <a:latin typeface="Calibri"/>
              </a:rPr>
              <a:t>L07</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F28C1D"/>
                </a:solidFill>
                <a:latin typeface="Calibri"/>
              </a:rPr>
              <a:t>IELTS Speaking 口语</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流利度与连贯性
卡壳攻克</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Fluency &amp; Coherence: Breaking Through Hesitation</a:t>
            </a:r>
          </a:p>
        </p:txBody>
      </p:sp>
      <p:sp>
        <p:nvSpPr>
          <p:cNvPr id="10" name="Rounded Rectangle 9"/>
          <p:cNvSpPr/>
          <p:nvPr/>
        </p:nvSpPr>
        <p:spPr>
          <a:xfrm>
            <a:off x="777240" y="5669280"/>
            <a:ext cx="3840480" cy="54864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7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Rounded Rectangle 6"/>
          <p:cNvSpPr/>
          <p:nvPr/>
        </p:nvSpPr>
        <p:spPr>
          <a:xfrm>
            <a:off x="548640" y="1325880"/>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CC评分解读：流利度与连贯性的本质</a:t>
            </a:r>
          </a:p>
        </p:txBody>
      </p:sp>
      <p:sp>
        <p:nvSpPr>
          <p:cNvPr id="10" name="Rounded Rectangle 9"/>
          <p:cNvSpPr/>
          <p:nvPr/>
        </p:nvSpPr>
        <p:spPr>
          <a:xfrm>
            <a:off x="548640" y="2167128"/>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填充语系统：合法争取思考时间</a:t>
            </a:r>
          </a:p>
        </p:txBody>
      </p:sp>
      <p:sp>
        <p:nvSpPr>
          <p:cNvPr id="13" name="Rounded Rectangle 12"/>
          <p:cNvSpPr/>
          <p:nvPr/>
        </p:nvSpPr>
        <p:spPr>
          <a:xfrm>
            <a:off x="548640" y="3008376"/>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连接词系统：让逻辑清晰连贯</a:t>
            </a:r>
          </a:p>
        </p:txBody>
      </p:sp>
      <p:sp>
        <p:nvSpPr>
          <p:cNvPr id="16" name="Rounded Rectangle 15"/>
          <p:cNvSpPr/>
          <p:nvPr/>
        </p:nvSpPr>
        <p:spPr>
          <a:xfrm>
            <a:off x="6400800" y="1325880"/>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语速与节奏控制</a:t>
            </a:r>
          </a:p>
        </p:txBody>
      </p:sp>
      <p:sp>
        <p:nvSpPr>
          <p:cNvPr id="19" name="Rounded Rectangle 18"/>
          <p:cNvSpPr/>
          <p:nvPr/>
        </p:nvSpPr>
        <p:spPr>
          <a:xfrm>
            <a:off x="6400800" y="2167128"/>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词汇表 + 连接词速查</a:t>
            </a:r>
          </a:p>
        </p:txBody>
      </p:sp>
      <p:sp>
        <p:nvSpPr>
          <p:cNvPr id="22" name="Rounded Rectangle 21"/>
          <p:cNvSpPr/>
          <p:nvPr/>
        </p:nvSpPr>
        <p:spPr>
          <a:xfrm>
            <a:off x="6400800" y="3008376"/>
            <a:ext cx="566928" cy="566928"/>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综合示范：流利度升级版答案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CC评分：流利度与连贯性的本质</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Fluency &amp; Coherence: What Examiners Really Listen For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CC评分标准解读</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Fluency &amp; Coherence Criteria</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Band 6特征</a:t>
            </a:r>
          </a:p>
          <a:p>
            <a:pPr>
              <a:spcBef>
                <a:spcPts val="100"/>
              </a:spcBef>
            </a:pPr>
            <a:r>
              <a:rPr sz="1500">
                <a:solidFill>
                  <a:srgbClr val="556075"/>
                </a:solidFill>
              </a:rPr>
              <a:t>   只能通过重复和自我纠正来保持流利度，连接词使用有限</a:t>
            </a:r>
          </a:p>
          <a:p>
            <a:pPr>
              <a:spcBef>
                <a:spcPts val="900"/>
              </a:spcBef>
            </a:pPr>
            <a:r>
              <a:rPr sz="1800" b="1">
                <a:solidFill>
                  <a:srgbClr val="A33607"/>
                </a:solidFill>
              </a:rPr>
              <a:t>• Band 7特征</a:t>
            </a:r>
          </a:p>
          <a:p>
            <a:pPr>
              <a:spcBef>
                <a:spcPts val="100"/>
              </a:spcBef>
            </a:pPr>
            <a:r>
              <a:rPr sz="1500">
                <a:solidFill>
                  <a:srgbClr val="556075"/>
                </a:solidFill>
              </a:rPr>
              <a:t>   在速度和流利度上偶有犹豫，连接词使用灵活且恰当</a:t>
            </a:r>
          </a:p>
          <a:p>
            <a:pPr>
              <a:spcBef>
                <a:spcPts val="900"/>
              </a:spcBef>
            </a:pPr>
            <a:r>
              <a:rPr sz="1800" b="1">
                <a:solidFill>
                  <a:srgbClr val="A33607"/>
                </a:solidFill>
              </a:rPr>
              <a:t>• Band 8特征</a:t>
            </a:r>
          </a:p>
          <a:p>
            <a:pPr>
              <a:spcBef>
                <a:spcPts val="100"/>
              </a:spcBef>
            </a:pPr>
            <a:r>
              <a:rPr sz="1500">
                <a:solidFill>
                  <a:srgbClr val="556075"/>
                </a:solidFill>
              </a:rPr>
              <a:t>   流利度高，犹豫仅由内容思考引起，连接词使用精准自然</a:t>
            </a:r>
          </a:p>
          <a:p>
            <a:pPr>
              <a:spcBef>
                <a:spcPts val="900"/>
              </a:spcBef>
            </a:pPr>
            <a:r>
              <a:rPr sz="1800" b="1">
                <a:solidFill>
                  <a:srgbClr val="A33607"/>
                </a:solidFill>
              </a:rPr>
              <a:t>• 核心误解</a:t>
            </a:r>
          </a:p>
          <a:p>
            <a:pPr>
              <a:spcBef>
                <a:spcPts val="100"/>
              </a:spcBef>
            </a:pPr>
            <a:r>
              <a:rPr sz="1500">
                <a:solidFill>
                  <a:srgbClr val="556075"/>
                </a:solidFill>
              </a:rPr>
              <a:t>   流利≠说得快——说得清晰、逻辑连贯才是CC高分的关键</a:t>
            </a:r>
          </a:p>
          <a:p>
            <a:pPr>
              <a:spcBef>
                <a:spcPts val="900"/>
              </a:spcBef>
            </a:pPr>
            <a:r>
              <a:rPr sz="1800" b="1">
                <a:solidFill>
                  <a:srgbClr val="A33607"/>
                </a:solidFill>
              </a:rPr>
              <a:t>• 深圳学生</a:t>
            </a:r>
          </a:p>
          <a:p>
            <a:pPr>
              <a:spcBef>
                <a:spcPts val="100"/>
              </a:spcBef>
            </a:pPr>
            <a:r>
              <a:rPr sz="1500">
                <a:solidFill>
                  <a:srgbClr val="556075"/>
                </a:solidFill>
              </a:rPr>
              <a:t>   常见问题：说着说着卡壳、连接词只用and/but/so、逻辑跳跃</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卡壳的3种类型与解决方案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Types of Hesitation &amp; Solutions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词汇卡壳</a:t>
            </a:r>
          </a:p>
          <a:p>
            <a:pPr>
              <a:spcBef>
                <a:spcPts val="100"/>
              </a:spcBef>
            </a:pPr>
            <a:r>
              <a:rPr sz="1500">
                <a:solidFill>
                  <a:srgbClr val="556075"/>
                </a:solidFill>
              </a:rPr>
              <a:t>   想说一个词但想不起来——解决：用填充语+换一个词来表达同一意思</a:t>
            </a:r>
          </a:p>
          <a:p>
            <a:pPr>
              <a:spcBef>
                <a:spcPts val="900"/>
              </a:spcBef>
            </a:pPr>
            <a:r>
              <a:rPr sz="1800" b="1">
                <a:solidFill>
                  <a:srgbClr val="A33607"/>
                </a:solidFill>
              </a:rPr>
              <a:t>• 逻辑卡壳</a:t>
            </a:r>
          </a:p>
          <a:p>
            <a:pPr>
              <a:spcBef>
                <a:spcPts val="100"/>
              </a:spcBef>
            </a:pPr>
            <a:r>
              <a:rPr sz="1500">
                <a:solidFill>
                  <a:srgbClr val="556075"/>
                </a:solidFill>
              </a:rPr>
              <a:t>   不知道下一步说什么——解决：用连接词给自己留出思考时间</a:t>
            </a:r>
          </a:p>
          <a:p>
            <a:pPr>
              <a:spcBef>
                <a:spcPts val="900"/>
              </a:spcBef>
            </a:pPr>
            <a:r>
              <a:rPr sz="1800" b="1">
                <a:solidFill>
                  <a:srgbClr val="A33607"/>
                </a:solidFill>
              </a:rPr>
              <a:t>• 开场卡壳</a:t>
            </a:r>
          </a:p>
          <a:p>
            <a:pPr>
              <a:spcBef>
                <a:spcPts val="100"/>
              </a:spcBef>
            </a:pPr>
            <a:r>
              <a:rPr sz="1500">
                <a:solidFill>
                  <a:srgbClr val="556075"/>
                </a:solidFill>
              </a:rPr>
              <a:t>   问题刚问完不知如何开始——解决：用固定开场短语，争取2-3秒</a:t>
            </a:r>
          </a:p>
          <a:p>
            <a:pPr>
              <a:spcBef>
                <a:spcPts val="900"/>
              </a:spcBef>
            </a:pPr>
            <a:r>
              <a:rPr sz="1800" b="1">
                <a:solidFill>
                  <a:srgbClr val="A33607"/>
                </a:solidFill>
              </a:rPr>
              <a:t>• 深圳学生</a:t>
            </a:r>
          </a:p>
          <a:p>
            <a:pPr>
              <a:spcBef>
                <a:spcPts val="100"/>
              </a:spcBef>
            </a:pPr>
            <a:r>
              <a:rPr sz="1500">
                <a:solidFill>
                  <a:srgbClr val="556075"/>
                </a:solidFill>
              </a:rPr>
              <a:t>   大多数卡壳是因为在脑子里先想中文再翻译——训练直接用英文思维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CC评分的关键指标</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犹豫频率：Band 7允许"偶有犹豫"——不是"零犹豫"，但不能频繁</a:t>
            </a:r>
          </a:p>
          <a:p>
            <a:pPr>
              <a:spcBef>
                <a:spcPts val="1000"/>
              </a:spcBef>
            </a:pPr>
            <a:r>
              <a:rPr sz="1650">
                <a:solidFill>
                  <a:srgbClr val="1E293B"/>
                </a:solidFill>
              </a:rPr>
              <a:t>• 自我纠正：偶尔纠正没问题，但频繁纠正（um...I mean...no wait...）影响分</a:t>
            </a:r>
          </a:p>
          <a:p>
            <a:pPr>
              <a:spcBef>
                <a:spcPts val="1000"/>
              </a:spcBef>
            </a:pPr>
            <a:r>
              <a:rPr sz="1650">
                <a:solidFill>
                  <a:srgbClr val="1E293B"/>
                </a:solidFill>
              </a:rPr>
              <a:t>• 连接词多样性：Band 7要"灵活"使用连接词，不能只用and/but/so</a:t>
            </a:r>
          </a:p>
          <a:p>
            <a:pPr>
              <a:spcBef>
                <a:spcPts val="1000"/>
              </a:spcBef>
            </a:pPr>
            <a:r>
              <a:rPr sz="1650">
                <a:solidFill>
                  <a:srgbClr val="1E293B"/>
                </a:solidFill>
              </a:rPr>
              <a:t>• 回答完整性：答案要完整，不能说到一半就停——考官不会追问</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流利度评分的误区</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误区1：说得越快越好——错，清晰适速比快速更重要</a:t>
            </a:r>
          </a:p>
          <a:p>
            <a:pPr>
              <a:spcBef>
                <a:spcPts val="1000"/>
              </a:spcBef>
            </a:pPr>
            <a:r>
              <a:rPr sz="1650">
                <a:solidFill>
                  <a:srgbClr val="1E293B"/>
                </a:solidFill>
              </a:rPr>
              <a:t>• 误区2：填充语越少越好——错，自然的填充语（Well/I suppose）比沉默更好</a:t>
            </a:r>
          </a:p>
          <a:p>
            <a:pPr>
              <a:spcBef>
                <a:spcPts val="1000"/>
              </a:spcBef>
            </a:pPr>
            <a:r>
              <a:rPr sz="1650">
                <a:solidFill>
                  <a:srgbClr val="1E293B"/>
                </a:solidFill>
              </a:rPr>
              <a:t>• 误区3：连接词用越多越好——错，用词精准比堆砌重要</a:t>
            </a:r>
          </a:p>
          <a:p>
            <a:pPr>
              <a:spcBef>
                <a:spcPts val="1000"/>
              </a:spcBef>
            </a:pPr>
            <a:r>
              <a:rPr sz="1650">
                <a:solidFill>
                  <a:srgbClr val="1E293B"/>
                </a:solidFill>
              </a:rPr>
              <a:t>• 误区4：完全背诵答案才流利——错，背诵感会降低CC和LR分</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CC评分对比示范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"What kind of music do you like?"
Band 6 vs Band 7 对比</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Band 6: I like... um... pop music. And I also like... um... some classical music. I think... um... music is very good for me. Because... um... it can help me relax. And I think... um... Shenzhen has many... um... music events.
Band 7: Well, I suppose my taste is fairly eclectic — I gravitate towards pop and indie music for everyday listening, though I also have a deep appreciation for classical pieces when I need to concentrate. What I find particularly compelling about music is its capacity to shift one's mood almost instantaneously.</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Band 6问题：um×6次 / 只用And+Because+I think / 逻辑跳跃
Band 7技巧：Well, I suppose作开场 / 填充语自然 / eclectic/gravitate/compelling三个7分词汇
连接词：though / What I find particularly compelling about——引导从句</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流利度练习方法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"Tell me about a typical day in your life."
计时练习</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练习说法：先不计时，把内容想好；再计时60秒，确保不超时不卡壳；最后录音回放，数一数：用了几次um/uh？用了几种不同的连接词？最长的停顿是几秒？
目标：Band 7=60秒内，最多2-3次犹豫，连接词5种以上，无长于3秒的停顿</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评估标准：犹豫次数&lt;3次 / 连接词种类&gt;4种 / 最长停顿&lt;3秒 / 内容连贯有逻辑</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填充语系统：合法争取思考时间</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Filler Systems: Buying Thinking Time Naturally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开场填充语</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Question-Opening Fillers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思考型</a:t>
            </a:r>
          </a:p>
          <a:p>
            <a:pPr>
              <a:spcBef>
                <a:spcPts val="100"/>
              </a:spcBef>
            </a:pPr>
            <a:r>
              <a:rPr sz="1500">
                <a:solidFill>
                  <a:srgbClr val="556075"/>
                </a:solidFill>
              </a:rPr>
              <a:t>   Well... / Let me think... / That's an interesting question...</a:t>
            </a:r>
          </a:p>
          <a:p>
            <a:pPr>
              <a:spcBef>
                <a:spcPts val="900"/>
              </a:spcBef>
            </a:pPr>
            <a:r>
              <a:rPr sz="1800" b="1">
                <a:solidFill>
                  <a:srgbClr val="A33607"/>
                </a:solidFill>
              </a:rPr>
              <a:t>• 接续型</a:t>
            </a:r>
          </a:p>
          <a:p>
            <a:pPr>
              <a:spcBef>
                <a:spcPts val="100"/>
              </a:spcBef>
            </a:pPr>
            <a:r>
              <a:rPr sz="1500">
                <a:solidFill>
                  <a:srgbClr val="556075"/>
                </a:solidFill>
              </a:rPr>
              <a:t>   To be honest with you... / The way I see it... / Speaking from experience...</a:t>
            </a:r>
          </a:p>
          <a:p>
            <a:pPr>
              <a:spcBef>
                <a:spcPts val="900"/>
              </a:spcBef>
            </a:pPr>
            <a:r>
              <a:rPr sz="1800" b="1">
                <a:solidFill>
                  <a:srgbClr val="A33607"/>
                </a:solidFill>
              </a:rPr>
              <a:t>• 确认型</a:t>
            </a:r>
          </a:p>
          <a:p>
            <a:pPr>
              <a:spcBef>
                <a:spcPts val="100"/>
              </a:spcBef>
            </a:pPr>
            <a:r>
              <a:rPr sz="1500">
                <a:solidFill>
                  <a:srgbClr val="556075"/>
                </a:solidFill>
              </a:rPr>
              <a:t>   Do you mean [X]? / Are you asking about [X]?——当题目不清楚时</a:t>
            </a:r>
          </a:p>
          <a:p>
            <a:pPr>
              <a:spcBef>
                <a:spcPts val="900"/>
              </a:spcBef>
            </a:pPr>
            <a:r>
              <a:rPr sz="1800" b="1">
                <a:solidFill>
                  <a:srgbClr val="A33607"/>
                </a:solidFill>
              </a:rPr>
              <a:t>• 深度型</a:t>
            </a:r>
          </a:p>
          <a:p>
            <a:pPr>
              <a:spcBef>
                <a:spcPts val="100"/>
              </a:spcBef>
            </a:pPr>
            <a:r>
              <a:rPr sz="1500">
                <a:solidFill>
                  <a:srgbClr val="556075"/>
                </a:solidFill>
              </a:rPr>
              <a:t>   That's actually quite a complex question. I suppose... / It really depends on...</a:t>
            </a:r>
          </a:p>
          <a:p>
            <a:pPr>
              <a:spcBef>
                <a:spcPts val="900"/>
              </a:spcBef>
            </a:pPr>
            <a:r>
              <a:rPr sz="1800" b="1">
                <a:solidFill>
                  <a:srgbClr val="A33607"/>
                </a:solidFill>
              </a:rPr>
              <a:t>• 错误型</a:t>
            </a:r>
          </a:p>
          <a:p>
            <a:pPr>
              <a:spcBef>
                <a:spcPts val="100"/>
              </a:spcBef>
            </a:pPr>
            <a:r>
              <a:rPr sz="1500">
                <a:solidFill>
                  <a:srgbClr val="556075"/>
                </a:solidFill>
              </a:rPr>
              <a:t>   ❌ That's a very good question——过于正式，听起来像背诵，不自然</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中途填充语</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Mid-Answer Fillers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内容转换</a:t>
            </a:r>
          </a:p>
          <a:p>
            <a:pPr>
              <a:spcBef>
                <a:spcPts val="100"/>
              </a:spcBef>
            </a:pPr>
            <a:r>
              <a:rPr sz="1500">
                <a:solidFill>
                  <a:srgbClr val="556075"/>
                </a:solidFill>
              </a:rPr>
              <a:t>   And another thing I should mention is... / On top of that... / What's more...</a:t>
            </a:r>
          </a:p>
          <a:p>
            <a:pPr>
              <a:spcBef>
                <a:spcPts val="900"/>
              </a:spcBef>
            </a:pPr>
            <a:r>
              <a:rPr sz="1800" b="1">
                <a:solidFill>
                  <a:srgbClr val="A33607"/>
                </a:solidFill>
              </a:rPr>
              <a:t>• 补充细节</a:t>
            </a:r>
          </a:p>
          <a:p>
            <a:pPr>
              <a:spcBef>
                <a:spcPts val="100"/>
              </a:spcBef>
            </a:pPr>
            <a:r>
              <a:rPr sz="1500">
                <a:solidFill>
                  <a:srgbClr val="556075"/>
                </a:solidFill>
              </a:rPr>
              <a:t>   ...which, come to think of it, is really quite significant...</a:t>
            </a:r>
          </a:p>
          <a:p>
            <a:pPr>
              <a:spcBef>
                <a:spcPts val="900"/>
              </a:spcBef>
            </a:pPr>
            <a:r>
              <a:rPr sz="1800" b="1">
                <a:solidFill>
                  <a:srgbClr val="A33607"/>
                </a:solidFill>
              </a:rPr>
              <a:t>• 想词时</a:t>
            </a:r>
          </a:p>
          <a:p>
            <a:pPr>
              <a:spcBef>
                <a:spcPts val="100"/>
              </a:spcBef>
            </a:pPr>
            <a:r>
              <a:rPr sz="1500">
                <a:solidFill>
                  <a:srgbClr val="556075"/>
                </a:solidFill>
              </a:rPr>
              <a:t>   ...and what would you call it... / the word escapes me but essentially...</a:t>
            </a:r>
          </a:p>
          <a:p>
            <a:pPr>
              <a:spcBef>
                <a:spcPts val="900"/>
              </a:spcBef>
            </a:pPr>
            <a:r>
              <a:rPr sz="1800" b="1">
                <a:solidFill>
                  <a:srgbClr val="A33607"/>
                </a:solidFill>
              </a:rPr>
              <a:t>• 重新组织</a:t>
            </a:r>
          </a:p>
          <a:p>
            <a:pPr>
              <a:spcBef>
                <a:spcPts val="100"/>
              </a:spcBef>
            </a:pPr>
            <a:r>
              <a:rPr sz="1500">
                <a:solidFill>
                  <a:srgbClr val="556075"/>
                </a:solidFill>
              </a:rPr>
              <a:t>   Actually, let me rephrase that... / What I mean is... / In other words...</a:t>
            </a:r>
          </a:p>
          <a:p>
            <a:pPr>
              <a:spcBef>
                <a:spcPts val="900"/>
              </a:spcBef>
            </a:pPr>
            <a:r>
              <a:rPr sz="1800" b="1">
                <a:solidFill>
                  <a:srgbClr val="A33607"/>
                </a:solidFill>
              </a:rPr>
              <a:t>• 延伸展开</a:t>
            </a:r>
          </a:p>
          <a:p>
            <a:pPr>
              <a:spcBef>
                <a:spcPts val="100"/>
              </a:spcBef>
            </a:pPr>
            <a:r>
              <a:rPr sz="1500">
                <a:solidFill>
                  <a:srgbClr val="556075"/>
                </a:solidFill>
              </a:rPr>
              <a:t>   And I suppose what's interesting about this is... / What strikes me 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填充语使用原则</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自然而非刻意：填充语要听起来像真实思考过程，不是背诵的模板</a:t>
            </a:r>
          </a:p>
          <a:p>
            <a:pPr>
              <a:spcBef>
                <a:spcPts val="1000"/>
              </a:spcBef>
            </a:pPr>
            <a:r>
              <a:rPr sz="1650">
                <a:solidFill>
                  <a:srgbClr val="1E293B"/>
                </a:solidFill>
              </a:rPr>
              <a:t>• 频率控制：每30秒1-2个填充语是自然的，超过5个则显得太犹豫</a:t>
            </a:r>
          </a:p>
          <a:p>
            <a:pPr>
              <a:spcBef>
                <a:spcPts val="1000"/>
              </a:spcBef>
            </a:pPr>
            <a:r>
              <a:rPr sz="1650">
                <a:solidFill>
                  <a:srgbClr val="1E293B"/>
                </a:solidFill>
              </a:rPr>
              <a:t>• 多样性：不要重复同一个填充语——Well/I suppose/The way I see it轮流用</a:t>
            </a:r>
          </a:p>
          <a:p>
            <a:pPr>
              <a:spcBef>
                <a:spcPts val="1000"/>
              </a:spcBef>
            </a:pPr>
            <a:r>
              <a:rPr sz="1650">
                <a:solidFill>
                  <a:srgbClr val="1E293B"/>
                </a:solidFill>
              </a:rPr>
              <a:t>• 接上内容：填充语后必须有实质内容——"Well..." 后不能再停</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深圳学生常犯的填充语错误</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过度使用：um...uh...em... × 10次——每句话都有，影响流利度评分</a:t>
            </a:r>
          </a:p>
          <a:p>
            <a:pPr>
              <a:spcBef>
                <a:spcPts val="1000"/>
              </a:spcBef>
            </a:pPr>
            <a:r>
              <a:rPr sz="1650">
                <a:solidFill>
                  <a:srgbClr val="1E293B"/>
                </a:solidFill>
              </a:rPr>
              <a:t>• 中文式：...就是说...那个...——用中文填充语是严重问题</a:t>
            </a:r>
          </a:p>
          <a:p>
            <a:pPr>
              <a:spcBef>
                <a:spcPts val="1000"/>
              </a:spcBef>
            </a:pPr>
            <a:r>
              <a:rPr sz="1650">
                <a:solidFill>
                  <a:srgbClr val="1E293B"/>
                </a:solidFill>
              </a:rPr>
              <a:t>• 空洞填充："That's a very good question. I think..."——然后没有内容</a:t>
            </a:r>
          </a:p>
          <a:p>
            <a:pPr>
              <a:spcBef>
                <a:spcPts val="1000"/>
              </a:spcBef>
            </a:pPr>
            <a:r>
              <a:rPr sz="1650">
                <a:solidFill>
                  <a:srgbClr val="1E293B"/>
                </a:solidFill>
              </a:rPr>
              <a:t>• 无限重复：every sentence starts with "I think"——单调影响CC分</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填充语实战练习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"What do you think are the advantages and disadvantages of living alone?"
填充语应用示范</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Well, it's a topic I've given some thought to, actually. Speaking from my own perspective, I'd say the most significant advantage is the sense of freedom and autonomy — you set your own schedule, your own rules. And another thing I should mention is the peace and quiet, which, come to think of it, is genuinely invaluable when you need to focus on work or study. That said, the drawbacks are equally real: loneliness can become a serious issue, and there's no one to share the practical burdens of daily life with.</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开场：Well / Speaking from my own perspective——两种不同开场
中途：And another thing I should mention is / which, come to think of it——自然填充
转折：That said——高分让步连接词
总时长：约45秒——Part 1答案的理想长度</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30秒填充语练习题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"Do you prefer to spend time alone or with other people?"
练习目标：用3种不同填充语</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练习模板：[开场填充语]... [核心观点+理由]... [中途填充语]... [例子/细节]... [总结]...
参考：Honestly, I think I'm somewhere in between. The way I see it, both modes have their place. I definitely need my solitary time to recharge — come to think of it, I'm quite introverted in that sense. But I also draw enormous energy from genuine social connections.</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填充语：Honestly / The way I see it / come to think of it——三种不同
目标：30秒内用3个不同填充语，且内容连贯完整</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连接词系统：让逻辑清晰连贯</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Discourse Markers: Building Logical Flow</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逻辑连接词分类</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Types of Discourse Markers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添加信息</a:t>
            </a:r>
          </a:p>
          <a:p>
            <a:pPr>
              <a:spcBef>
                <a:spcPts val="100"/>
              </a:spcBef>
            </a:pPr>
            <a:r>
              <a:rPr sz="1500">
                <a:solidFill>
                  <a:srgbClr val="556075"/>
                </a:solidFill>
              </a:rPr>
              <a:t>   Furthermore / In addition / Moreover / What's more / On top of that</a:t>
            </a:r>
          </a:p>
          <a:p>
            <a:pPr>
              <a:spcBef>
                <a:spcPts val="900"/>
              </a:spcBef>
            </a:pPr>
            <a:r>
              <a:rPr sz="1800" b="1">
                <a:solidFill>
                  <a:srgbClr val="A33607"/>
                </a:solidFill>
              </a:rPr>
              <a:t>• 对比转折</a:t>
            </a:r>
          </a:p>
          <a:p>
            <a:pPr>
              <a:spcBef>
                <a:spcPts val="100"/>
              </a:spcBef>
            </a:pPr>
            <a:r>
              <a:rPr sz="1500">
                <a:solidFill>
                  <a:srgbClr val="556075"/>
                </a:solidFill>
              </a:rPr>
              <a:t>   However / That said / On the other hand / Having said that / In contrast</a:t>
            </a:r>
          </a:p>
          <a:p>
            <a:pPr>
              <a:spcBef>
                <a:spcPts val="900"/>
              </a:spcBef>
            </a:pPr>
            <a:r>
              <a:rPr sz="1800" b="1">
                <a:solidFill>
                  <a:srgbClr val="A33607"/>
                </a:solidFill>
              </a:rPr>
              <a:t>• 原因解释</a:t>
            </a:r>
          </a:p>
          <a:p>
            <a:pPr>
              <a:spcBef>
                <a:spcPts val="100"/>
              </a:spcBef>
            </a:pPr>
            <a:r>
              <a:rPr sz="1500">
                <a:solidFill>
                  <a:srgbClr val="556075"/>
                </a:solidFill>
              </a:rPr>
              <a:t>   This is largely because / The main reason is / This stems from / Due to</a:t>
            </a:r>
          </a:p>
          <a:p>
            <a:pPr>
              <a:spcBef>
                <a:spcPts val="900"/>
              </a:spcBef>
            </a:pPr>
            <a:r>
              <a:rPr sz="1800" b="1">
                <a:solidFill>
                  <a:srgbClr val="A33607"/>
                </a:solidFill>
              </a:rPr>
              <a:t>• 举例说明</a:t>
            </a:r>
          </a:p>
          <a:p>
            <a:pPr>
              <a:spcBef>
                <a:spcPts val="100"/>
              </a:spcBef>
            </a:pPr>
            <a:r>
              <a:rPr sz="1500">
                <a:solidFill>
                  <a:srgbClr val="556075"/>
                </a:solidFill>
              </a:rPr>
              <a:t>   Take [X] as an example / A prime example would be / Consider the case of</a:t>
            </a:r>
          </a:p>
          <a:p>
            <a:pPr>
              <a:spcBef>
                <a:spcPts val="900"/>
              </a:spcBef>
            </a:pPr>
            <a:r>
              <a:rPr sz="1800" b="1">
                <a:solidFill>
                  <a:srgbClr val="A33607"/>
                </a:solidFill>
              </a:rPr>
              <a:t>• 总结收尾</a:t>
            </a:r>
          </a:p>
          <a:p>
            <a:pPr>
              <a:spcBef>
                <a:spcPts val="100"/>
              </a:spcBef>
            </a:pPr>
            <a:r>
              <a:rPr sz="1500">
                <a:solidFill>
                  <a:srgbClr val="556075"/>
                </a:solidFill>
              </a:rPr>
              <a:t>   In short / All things considered / Ultimately / This is why / To sum up</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连接词层次化使用</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Sophisticated Marker Usage</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基础→高级</a:t>
            </a:r>
          </a:p>
          <a:p>
            <a:pPr>
              <a:spcBef>
                <a:spcPts val="100"/>
              </a:spcBef>
            </a:pPr>
            <a:r>
              <a:rPr sz="1500">
                <a:solidFill>
                  <a:srgbClr val="556075"/>
                </a:solidFill>
              </a:rPr>
              <a:t>   so→consequently/as a result / but→that said/having said that</a:t>
            </a:r>
          </a:p>
          <a:p>
            <a:pPr>
              <a:spcBef>
                <a:spcPts val="900"/>
              </a:spcBef>
            </a:pPr>
            <a:r>
              <a:rPr sz="1800" b="1">
                <a:solidFill>
                  <a:srgbClr val="A33607"/>
                </a:solidFill>
              </a:rPr>
              <a:t>• 添加→强调</a:t>
            </a:r>
          </a:p>
          <a:p>
            <a:pPr>
              <a:spcBef>
                <a:spcPts val="100"/>
              </a:spcBef>
            </a:pPr>
            <a:r>
              <a:rPr sz="1500">
                <a:solidFill>
                  <a:srgbClr val="556075"/>
                </a:solidFill>
              </a:rPr>
              <a:t>   also→what's more / furthermore→more importantly</a:t>
            </a:r>
          </a:p>
          <a:p>
            <a:pPr>
              <a:spcBef>
                <a:spcPts val="900"/>
              </a:spcBef>
            </a:pPr>
            <a:r>
              <a:rPr sz="1800" b="1">
                <a:solidFill>
                  <a:srgbClr val="A33607"/>
                </a:solidFill>
              </a:rPr>
              <a:t>• 举例→对比</a:t>
            </a:r>
          </a:p>
          <a:p>
            <a:pPr>
              <a:spcBef>
                <a:spcPts val="100"/>
              </a:spcBef>
            </a:pPr>
            <a:r>
              <a:rPr sz="1500">
                <a:solidFill>
                  <a:srgbClr val="556075"/>
                </a:solidFill>
              </a:rPr>
              <a:t>   for example→take X as a case in point / unlike X, Y...</a:t>
            </a:r>
          </a:p>
          <a:p>
            <a:pPr>
              <a:spcBef>
                <a:spcPts val="900"/>
              </a:spcBef>
            </a:pPr>
            <a:r>
              <a:rPr sz="1800" b="1">
                <a:solidFill>
                  <a:srgbClr val="A33607"/>
                </a:solidFill>
              </a:rPr>
              <a:t>• 原因→结果</a:t>
            </a:r>
          </a:p>
          <a:p>
            <a:pPr>
              <a:spcBef>
                <a:spcPts val="100"/>
              </a:spcBef>
            </a:pPr>
            <a:r>
              <a:rPr sz="1500">
                <a:solidFill>
                  <a:srgbClr val="556075"/>
                </a:solidFill>
              </a:rPr>
              <a:t>   because→this stems from / therefore→as a direct consequence</a:t>
            </a:r>
          </a:p>
          <a:p>
            <a:pPr>
              <a:spcBef>
                <a:spcPts val="900"/>
              </a:spcBef>
            </a:pPr>
            <a:r>
              <a:rPr sz="1800" b="1">
                <a:solidFill>
                  <a:srgbClr val="A33607"/>
                </a:solidFill>
              </a:rPr>
              <a:t>• 深圳学生</a:t>
            </a:r>
          </a:p>
          <a:p>
            <a:pPr>
              <a:spcBef>
                <a:spcPts val="100"/>
              </a:spcBef>
            </a:pPr>
            <a:r>
              <a:rPr sz="1500">
                <a:solidFill>
                  <a:srgbClr val="556075"/>
                </a:solidFill>
              </a:rPr>
              <a:t>   常用：and/but/so/because——多样性不足，影响CC分</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连接词的CC评分逻辑</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考官听的是：你是否能用连接词引导听者——让他/她预期下一个内容</a:t>
            </a:r>
          </a:p>
          <a:p>
            <a:pPr>
              <a:spcBef>
                <a:spcPts val="1000"/>
              </a:spcBef>
            </a:pPr>
            <a:r>
              <a:rPr sz="1650">
                <a:solidFill>
                  <a:srgbClr val="1E293B"/>
                </a:solidFill>
              </a:rPr>
              <a:t>• 连接词多样性：同一类型用3+个不同词——not just "but but but"</a:t>
            </a:r>
          </a:p>
          <a:p>
            <a:pPr>
              <a:spcBef>
                <a:spcPts val="1000"/>
              </a:spcBef>
            </a:pPr>
            <a:r>
              <a:rPr sz="1650">
                <a:solidFill>
                  <a:srgbClr val="1E293B"/>
                </a:solidFill>
              </a:rPr>
              <a:t>• 连接词精准性：moreover用于重要补充，not just any addition</a:t>
            </a:r>
          </a:p>
          <a:p>
            <a:pPr>
              <a:spcBef>
                <a:spcPts val="1000"/>
              </a:spcBef>
            </a:pPr>
            <a:r>
              <a:rPr sz="1650">
                <a:solidFill>
                  <a:srgbClr val="1E293B"/>
                </a:solidFill>
              </a:rPr>
              <a:t>• 位置灵活性：连接词可在句首/句中/句末——That said开头 vs ...however...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连接词使用密度</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理想密度：每2-3句话有1个连接词——太多显得刻意，太少显得跳跃</a:t>
            </a:r>
          </a:p>
          <a:p>
            <a:pPr>
              <a:spcBef>
                <a:spcPts val="1000"/>
              </a:spcBef>
            </a:pPr>
            <a:r>
              <a:rPr sz="1650">
                <a:solidFill>
                  <a:srgbClr val="1E293B"/>
                </a:solidFill>
              </a:rPr>
              <a:t>• 对比测试：听录音，闭眼，能跟上逻辑吗？不能则连接词不够</a:t>
            </a:r>
          </a:p>
          <a:p>
            <a:pPr>
              <a:spcBef>
                <a:spcPts val="1000"/>
              </a:spcBef>
            </a:pPr>
            <a:r>
              <a:rPr sz="1650">
                <a:solidFill>
                  <a:srgbClr val="1E293B"/>
                </a:solidFill>
              </a:rPr>
              <a:t>• Part 1：2-3个连接词/答案 / Part 2：5-8个连接词/答案 / Part 3：6-10个</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连接词应用示范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"Should governments do more to protect the environment?"
连接词逻辑示范</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I'd argue that governments have a crucial role to play, though the extent of intervention is genuinely debatable. The core reason is that environmental issues are inherently collective action problems — individual choices, however well-intentioned, are insufficient at scale. That said, government action alone is also limited. Take China's experience as a case in point: despite significant policy intervention, enforcement remains inconsistent at the local level. What's more, international co-operation is ultimately essential — no single country can address climate change in isolation. Consequently, I'd say the most effective approach combines strong governmental framework with individual accountability.</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连接词清单：though / The core reason is / That said / Take...as a case in point / What's more / Consequently
共6个连接词——Part 3答案理想密度
多样性：让步/原因/转折/举例/补充/结果——6种不同功能</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连接词替换练习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升级以下Band 6答案的连接词
"I think education is important. And it helps people get jobs. And it also helps society develop. But it is expensive. So not everyone can access it."</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升级参考：I'd argue that education is fundamentally important for two key reasons. First and foremost, it directly enhances career prospects — a well-educated workforce drives economic productivity. Moreover, education has broader societal benefits: it fosters critical thinking and civic participation, both of which are essential for a healthy democracy. That said, the issue of accessibility is genuinely concerning — quality education remains financially out of reach for many, which creates a self-perpetuating cycle of inequality.</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原文连接词：And×2 / But / So——4个且单调
升级后：For two key reasons / First and foremost / Moreover / That said——4种不同功能
练习：自己说一段Part 3答案，数有几种不同连接词</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语速与节奏控制</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Pace &amp; Rhythm Control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理想语速</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Optimal Speaking Pace for IELTS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适合语速</a:t>
            </a:r>
          </a:p>
          <a:p>
            <a:pPr>
              <a:spcBef>
                <a:spcPts val="100"/>
              </a:spcBef>
            </a:pPr>
            <a:r>
              <a:rPr sz="1500">
                <a:solidFill>
                  <a:srgbClr val="556075"/>
                </a:solidFill>
              </a:rPr>
              <a:t>   约120-140词/分钟——比自然英语略慢，比中式英语快</a:t>
            </a:r>
          </a:p>
          <a:p>
            <a:pPr>
              <a:spcBef>
                <a:spcPts val="900"/>
              </a:spcBef>
            </a:pPr>
            <a:r>
              <a:rPr sz="1800" b="1">
                <a:solidFill>
                  <a:srgbClr val="A33607"/>
                </a:solidFill>
              </a:rPr>
              <a:t>• 速度陷阱</a:t>
            </a:r>
          </a:p>
          <a:p>
            <a:pPr>
              <a:spcBef>
                <a:spcPts val="100"/>
              </a:spcBef>
            </a:pPr>
            <a:r>
              <a:rPr sz="1500">
                <a:solidFill>
                  <a:srgbClr val="556075"/>
                </a:solidFill>
              </a:rPr>
              <a:t>   太快：考官听不清，发音错误增加，显得紧张</a:t>
            </a:r>
          </a:p>
          <a:p>
            <a:pPr>
              <a:spcBef>
                <a:spcPts val="900"/>
              </a:spcBef>
            </a:pPr>
            <a:r>
              <a:rPr sz="1800" b="1">
                <a:solidFill>
                  <a:srgbClr val="A33607"/>
                </a:solidFill>
              </a:rPr>
              <a:t>• 另一个陷阱</a:t>
            </a:r>
          </a:p>
          <a:p>
            <a:pPr>
              <a:spcBef>
                <a:spcPts val="100"/>
              </a:spcBef>
            </a:pPr>
            <a:r>
              <a:rPr sz="1500">
                <a:solidFill>
                  <a:srgbClr val="556075"/>
                </a:solidFill>
              </a:rPr>
              <a:t>   太慢：像背诵，填充感强，显得词汇量有限</a:t>
            </a:r>
          </a:p>
          <a:p>
            <a:pPr>
              <a:spcBef>
                <a:spcPts val="900"/>
              </a:spcBef>
            </a:pPr>
            <a:r>
              <a:rPr sz="1800" b="1">
                <a:solidFill>
                  <a:srgbClr val="A33607"/>
                </a:solidFill>
              </a:rPr>
              <a:t>• 节奏感</a:t>
            </a:r>
          </a:p>
          <a:p>
            <a:pPr>
              <a:spcBef>
                <a:spcPts val="100"/>
              </a:spcBef>
            </a:pPr>
            <a:r>
              <a:rPr sz="1500">
                <a:solidFill>
                  <a:srgbClr val="556075"/>
                </a:solidFill>
              </a:rPr>
              <a:t>   重要词重读，次要词轻读——这是英语自然节奏</a:t>
            </a:r>
          </a:p>
          <a:p>
            <a:pPr>
              <a:spcBef>
                <a:spcPts val="900"/>
              </a:spcBef>
            </a:pPr>
            <a:r>
              <a:rPr sz="1800" b="1">
                <a:solidFill>
                  <a:srgbClr val="A33607"/>
                </a:solidFill>
              </a:rPr>
              <a:t>• 深圳学生</a:t>
            </a:r>
          </a:p>
          <a:p>
            <a:pPr>
              <a:spcBef>
                <a:spcPts val="100"/>
              </a:spcBef>
            </a:pPr>
            <a:r>
              <a:rPr sz="1500">
                <a:solidFill>
                  <a:srgbClr val="556075"/>
                </a:solidFill>
              </a:rPr>
              <a:t>   常见问题：开始说快，遇到难词时突然停很久——节奏不均匀</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节奏控制技巧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Rhythm &amp; Pacing Techniques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重音规律</a:t>
            </a:r>
          </a:p>
          <a:p>
            <a:pPr>
              <a:spcBef>
                <a:spcPts val="100"/>
              </a:spcBef>
            </a:pPr>
            <a:r>
              <a:rPr sz="1500">
                <a:solidFill>
                  <a:srgbClr val="556075"/>
                </a:solidFill>
              </a:rPr>
              <a:t>   英语是stress-timed语言——重要词拉长，功能词缩短</a:t>
            </a:r>
          </a:p>
          <a:p>
            <a:pPr>
              <a:spcBef>
                <a:spcPts val="900"/>
              </a:spcBef>
            </a:pPr>
            <a:r>
              <a:rPr sz="1800" b="1">
                <a:solidFill>
                  <a:srgbClr val="A33607"/>
                </a:solidFill>
              </a:rPr>
              <a:t>• 停顿使用</a:t>
            </a:r>
          </a:p>
          <a:p>
            <a:pPr>
              <a:spcBef>
                <a:spcPts val="100"/>
              </a:spcBef>
            </a:pPr>
            <a:r>
              <a:rPr sz="1500">
                <a:solidFill>
                  <a:srgbClr val="556075"/>
                </a:solidFill>
              </a:rPr>
              <a:t>   逗号处稍停0.5秒，句号处停1秒——停顿让答案更清晰</a:t>
            </a:r>
          </a:p>
          <a:p>
            <a:pPr>
              <a:spcBef>
                <a:spcPts val="900"/>
              </a:spcBef>
            </a:pPr>
            <a:r>
              <a:rPr sz="1800" b="1">
                <a:solidFill>
                  <a:srgbClr val="A33607"/>
                </a:solidFill>
              </a:rPr>
              <a:t>• 语调变化</a:t>
            </a:r>
          </a:p>
          <a:p>
            <a:pPr>
              <a:spcBef>
                <a:spcPts val="100"/>
              </a:spcBef>
            </a:pPr>
            <a:r>
              <a:rPr sz="1500">
                <a:solidFill>
                  <a:srgbClr val="556075"/>
                </a:solidFill>
              </a:rPr>
              <a:t>   陈述句末尾降调，问题用升调，举例时语调升起再降</a:t>
            </a:r>
          </a:p>
          <a:p>
            <a:pPr>
              <a:spcBef>
                <a:spcPts val="900"/>
              </a:spcBef>
            </a:pPr>
            <a:r>
              <a:rPr sz="1800" b="1">
                <a:solidFill>
                  <a:srgbClr val="A33607"/>
                </a:solidFill>
              </a:rPr>
              <a:t>• 连读技巧</a:t>
            </a:r>
          </a:p>
          <a:p>
            <a:pPr>
              <a:spcBef>
                <a:spcPts val="100"/>
              </a:spcBef>
            </a:pPr>
            <a:r>
              <a:rPr sz="1500">
                <a:solidFill>
                  <a:srgbClr val="556075"/>
                </a:solidFill>
              </a:rPr>
              <a:t>   in-a-city / what-is-it → 连读让语音更自然流畅</a:t>
            </a:r>
          </a:p>
          <a:p>
            <a:pPr>
              <a:spcBef>
                <a:spcPts val="900"/>
              </a:spcBef>
            </a:pPr>
            <a:r>
              <a:rPr sz="1800" b="1">
                <a:solidFill>
                  <a:srgbClr val="A33607"/>
                </a:solidFill>
              </a:rPr>
              <a:t>• 强调技巧</a:t>
            </a:r>
          </a:p>
          <a:p>
            <a:pPr>
              <a:spcBef>
                <a:spcPts val="100"/>
              </a:spcBef>
            </a:pPr>
            <a:r>
              <a:rPr sz="1500">
                <a:solidFill>
                  <a:srgbClr val="556075"/>
                </a:solidFill>
              </a:rPr>
              <a:t>   重要词稍微拉长并加重——"The MOST important thing is..."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语速自测方法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录音30秒，数词数：90-70词=理想 / &gt;100词=太快 / &lt;55词=太慢</a:t>
            </a:r>
          </a:p>
          <a:p>
            <a:pPr>
              <a:spcBef>
                <a:spcPts val="1000"/>
              </a:spcBef>
            </a:pPr>
            <a:r>
              <a:rPr sz="1650">
                <a:solidFill>
                  <a:srgbClr val="1E293B"/>
                </a:solidFill>
              </a:rPr>
              <a:t>• 重播录音，闭眼听：感觉像机器人？=需要节奏训练 / 感觉自然？=已达标</a:t>
            </a:r>
          </a:p>
          <a:p>
            <a:pPr>
              <a:spcBef>
                <a:spcPts val="1000"/>
              </a:spcBef>
            </a:pPr>
            <a:r>
              <a:rPr sz="1650">
                <a:solidFill>
                  <a:srgbClr val="1E293B"/>
                </a:solidFill>
              </a:rPr>
              <a:t>• Part 2特别注意：2分钟不间断，开始快、结束慢说明节奏不稳定</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深圳学生的节奏问题</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问题1：每句话结尾都上扬——中文语调习惯，影响发音分</a:t>
            </a:r>
          </a:p>
          <a:p>
            <a:pPr>
              <a:spcBef>
                <a:spcPts val="1000"/>
              </a:spcBef>
            </a:pPr>
            <a:r>
              <a:rPr sz="1650">
                <a:solidFill>
                  <a:srgbClr val="1E293B"/>
                </a:solidFill>
              </a:rPr>
              <a:t>• 问题2：遇到不确定词时突然停顿过长——提前准备填充语</a:t>
            </a:r>
          </a:p>
          <a:p>
            <a:pPr>
              <a:spcBef>
                <a:spcPts val="1000"/>
              </a:spcBef>
            </a:pPr>
            <a:r>
              <a:rPr sz="1650">
                <a:solidFill>
                  <a:srgbClr val="1E293B"/>
                </a:solidFill>
              </a:rPr>
              <a:t>• 问题3：整段答案语速一致，没有重音——像背书，不自然</a:t>
            </a:r>
          </a:p>
          <a:p>
            <a:pPr>
              <a:spcBef>
                <a:spcPts val="1000"/>
              </a:spcBef>
            </a:pPr>
            <a:r>
              <a:rPr sz="1650">
                <a:solidFill>
                  <a:srgbClr val="1E293B"/>
                </a:solidFill>
              </a:rPr>
              <a:t>• 解决：Shadowing练习——跟着英语母语者录音模仿语速和节奏</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节奏控制示范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"Describe a book that has had a significant impact on you."
节奏标注示范</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练习版本（带节奏标注）：
"The book that [停顿] SPRINGS to mind [停顿] is Sapiens [重读] by Yuval Noah Harari [稍停]. What struck me most [重读] was his ability [停顿] to take [连读] enormous historical sweeps [重读] and make them feel [停顿] personally relevant [升调]. I remember [停顿] reading it [连读] on the subway in Shenzhen [停顿] and genuinely [重读] feeling my worldview [停顿] shift [降调，结句]."
正常版本：The book that springs to mind is Sapiens by Yuval Noah Harari. What struck me most was his ability to take enormous historical sweeps and make them feel personally relevant.</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练习方法：先读标注版（慢速，注意停顿重音），再读正常版，再录音比较
关键：停顿不是弱点——有意义的停顿让回答更清晰更有力</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语速一致性练习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"Tell me about your favourite season."
90秒计时练习</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计时目标：Part 1答案30-45秒，Part 2答案约2分钟，Part 3答案45-60秒
自测清单：(1)语速均匀还是前快后慢？(2)重要词有没有重读？(3)有没有意义的停顿？(4)句末语调有没有下降？(5)整体感觉自然还是背诵？
达标标准：5项中4项达标即为Band 7节奏</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Band 7节奏特征：均匀 / 有重音变化 / 停顿自然 / 句末降调 / 不像背诵
每天练习：选1个话题，录音，用以上5点自评，持续2周</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流利度词汇速查表</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Fluency Vocabulary Reference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开场填充语（Part 1/2/3通用）</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Well, to be honest...</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老实说/说实话（开场，表达真实想法）</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The way I see it...</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在我看来（Part 3观点类）</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Speaking from experience...</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从我的经验来说（Part 1个人经历）</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That's an interesting question.</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这是个有趣的问题（需要思考时）</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It really depends on...</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这真的取决于...（开场+立即展开）</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I suppose what I'd say is...</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我想说的是...（思考型开场）</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Let me think about that for a moment...</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让我想想...（争取2秒）</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连接词速查：7大功能</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添加（最重要）</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furthermore / moreover / what's more / on top of that</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对比转折</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that said / having said that / on the other hand / in contrast</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原因</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this is largely because / this stems from / a key reason is</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举例</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take X as a case in point / consider the fact that / a prime example is</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强调</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what's particularly striking is / more importantly / above all</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让步</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I do acknowledge that / it's worth noting that / admittedly</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总结</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ultimately / consequently / all things considered / this is why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流利度快速提升技巧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3444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A33607"/>
                </a:solidFill>
                <a:latin typeface="Calibri"/>
              </a:rPr>
              <a:t>录音回放法</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每天录音15分钟，回放时数um/uh次数，目标：&lt;3次/分钟</a:t>
            </a:r>
          </a:p>
        </p:txBody>
      </p:sp>
      <p:sp>
        <p:nvSpPr>
          <p:cNvPr id="12" name="Rounded Rectangle 11"/>
          <p:cNvSpPr/>
          <p:nvPr/>
        </p:nvSpPr>
        <p:spPr>
          <a:xfrm>
            <a:off x="6355079" y="123444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A33607"/>
                </a:solidFill>
                <a:latin typeface="Calibri"/>
              </a:rPr>
              <a:t>填充语替换</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把um/uh替换成Well/I suppose/The way I see it——立刻更自然</a:t>
            </a:r>
          </a:p>
        </p:txBody>
      </p:sp>
      <p:sp>
        <p:nvSpPr>
          <p:cNvPr id="16" name="Rounded Rectangle 15"/>
          <p:cNvSpPr/>
          <p:nvPr/>
        </p:nvSpPr>
        <p:spPr>
          <a:xfrm>
            <a:off x="548640" y="286512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A33607"/>
                </a:solidFill>
                <a:latin typeface="Calibri"/>
              </a:rPr>
              <a:t>连接词多样化</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每次练习，强迫使用一个上周没用过的连接词</a:t>
            </a:r>
          </a:p>
        </p:txBody>
      </p:sp>
      <p:sp>
        <p:nvSpPr>
          <p:cNvPr id="20" name="Rounded Rectangle 19"/>
          <p:cNvSpPr/>
          <p:nvPr/>
        </p:nvSpPr>
        <p:spPr>
          <a:xfrm>
            <a:off x="6355079" y="286512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A33607"/>
                </a:solidFill>
                <a:latin typeface="Calibri"/>
              </a:rPr>
              <a:t>Shadowing法</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跟着BBC/NPR主播模仿语速节奏，每天10分钟</a:t>
            </a:r>
          </a:p>
        </p:txBody>
      </p:sp>
      <p:sp>
        <p:nvSpPr>
          <p:cNvPr id="24" name="Rounded Rectangle 23"/>
          <p:cNvSpPr/>
          <p:nvPr/>
        </p:nvSpPr>
        <p:spPr>
          <a:xfrm>
            <a:off x="548640" y="449580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A33607"/>
                </a:solidFill>
                <a:latin typeface="Calibri"/>
              </a:rPr>
              <a:t>回答完整</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每个答案说完整——即使内容简单，不中途停下来等考官</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L07课后自检清单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填充语替换练习：录音15分钟，回放，把每个um/uh换成自然填充语，再录一次</a:t>
            </a:r>
          </a:p>
          <a:p>
            <a:pPr>
              <a:spcBef>
                <a:spcPts val="1200"/>
              </a:spcBef>
            </a:pPr>
            <a:r>
              <a:rPr sz="1600">
                <a:solidFill>
                  <a:srgbClr val="1E293B"/>
                </a:solidFill>
              </a:rPr>
              <a:t>☐ 连接词多样化：用7种不同功能的连接词，各造一个例句，大声说出来</a:t>
            </a:r>
          </a:p>
          <a:p>
            <a:pPr>
              <a:spcBef>
                <a:spcPts val="1200"/>
              </a:spcBef>
            </a:pPr>
            <a:r>
              <a:rPr sz="1600">
                <a:solidFill>
                  <a:srgbClr val="1E293B"/>
                </a:solidFill>
              </a:rPr>
              <a:t>☐ 节奏训练：选择一段英语演讲，跟读10分钟，模仿语速和停顿</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L07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F28C1D"/>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CC评分核心：流利自然+逻辑清晰，不是说得快——清晰&gt;速度</a:t>
            </a:r>
          </a:p>
          <a:p>
            <a:pPr>
              <a:spcBef>
                <a:spcPts val="1100"/>
              </a:spcBef>
            </a:pPr>
            <a:r>
              <a:rPr sz="1550">
                <a:solidFill>
                  <a:srgbClr val="FFFFFF"/>
                </a:solidFill>
              </a:rPr>
              <a:t>✓  填充语系统：Well/Speaking from experience/The way I see it——替换um/uh</a:t>
            </a:r>
          </a:p>
          <a:p>
            <a:pPr>
              <a:spcBef>
                <a:spcPts val="1100"/>
              </a:spcBef>
            </a:pPr>
            <a:r>
              <a:rPr sz="1550">
                <a:solidFill>
                  <a:srgbClr val="FFFFFF"/>
                </a:solidFill>
              </a:rPr>
              <a:t>✓  连接词7大功能：添加/对比/原因/举例/强调/让步/总结——每次练习用多种</a:t>
            </a:r>
          </a:p>
          <a:p>
            <a:pPr>
              <a:spcBef>
                <a:spcPts val="1100"/>
              </a:spcBef>
            </a:pPr>
            <a:r>
              <a:rPr sz="1550">
                <a:solidFill>
                  <a:srgbClr val="FFFFFF"/>
                </a:solidFill>
              </a:rPr>
              <a:t>✓  语速目标：120-140词/分钟，重要词重读，句末降调，停顿自然</a:t>
            </a:r>
          </a:p>
          <a:p>
            <a:pPr>
              <a:spcBef>
                <a:spcPts val="1100"/>
              </a:spcBef>
            </a:pPr>
            <a:r>
              <a:rPr sz="1550">
                <a:solidFill>
                  <a:srgbClr val="FFFFFF"/>
                </a:solidFill>
              </a:rPr>
              <a:t>✓  训练方法：每天录音+回放自评——2周CC分提升0.5分</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L07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F28C1D"/>
                </a:solidFill>
                <a:latin typeface="Calibri"/>
              </a:rPr>
              <a:t>⏱ 建议用时：约60分钟</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填充语替换训练：录音10分钟Part 1/3答案，回放统计um次数，目标减少50%</a:t>
            </a:r>
          </a:p>
          <a:p>
            <a:pPr>
              <a:spcBef>
                <a:spcPts val="1300"/>
              </a:spcBef>
            </a:pPr>
            <a:r>
              <a:rPr sz="1550" b="1">
                <a:solidFill>
                  <a:srgbClr val="1E293B"/>
                </a:solidFill>
              </a:rPr>
              <a:t>作业 2　连接词日记：每天用7种不同连接词各造一句，积累成连接词手册</a:t>
            </a:r>
          </a:p>
          <a:p>
            <a:pPr>
              <a:spcBef>
                <a:spcPts val="1300"/>
              </a:spcBef>
            </a:pPr>
            <a:r>
              <a:rPr sz="1550" b="1">
                <a:solidFill>
                  <a:srgbClr val="1E293B"/>
                </a:solidFill>
              </a:rPr>
              <a:t>作业 3　Shadowing练习：跟读BBC英语节目10分钟，重点模仿节奏和停顿</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F28C1D"/>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L08 · 语法准确性：从Band 6到Band 7的语法升级</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Complex sentences：从句使用系统</a:t>
            </a:r>
          </a:p>
          <a:p>
            <a:pPr>
              <a:spcBef>
                <a:spcPts val="1000"/>
              </a:spcBef>
            </a:pPr>
            <a:r>
              <a:rPr sz="1600">
                <a:solidFill>
                  <a:srgbClr val="CFDCF2"/>
                </a:solidFill>
              </a:rPr>
              <a:t>→ 时态准确：过去/现在/将来/完成时——Part 2时态最容易出错</a:t>
            </a:r>
          </a:p>
          <a:p>
            <a:pPr>
              <a:spcBef>
                <a:spcPts val="1000"/>
              </a:spcBef>
            </a:pPr>
            <a:r>
              <a:rPr sz="1600">
                <a:solidFill>
                  <a:srgbClr val="CFDCF2"/>
                </a:solidFill>
              </a:rPr>
              <a:t>→ 语法多样性：不要每句话都用同一种句型</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06</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流利度综合强化</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Fluency: Advanced Training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8C1D"/>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连接词高级应用与答案结构化</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Advanced Discourse Markers &amp; Answer Structuring</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Part 3高分连接词组合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High-Score Discourse Marker Combinations for Part 3</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开场+立场</a:t>
            </a:r>
          </a:p>
          <a:p>
            <a:pPr>
              <a:spcBef>
                <a:spcPts val="100"/>
              </a:spcBef>
            </a:pPr>
            <a:r>
              <a:rPr sz="1500">
                <a:solidFill>
                  <a:srgbClr val="556075"/>
                </a:solidFill>
              </a:rPr>
              <a:t>   The way I see it / I'd argue that / My view, for what it's worth, is...</a:t>
            </a:r>
          </a:p>
          <a:p>
            <a:pPr>
              <a:spcBef>
                <a:spcPts val="900"/>
              </a:spcBef>
            </a:pPr>
            <a:r>
              <a:rPr sz="1800" b="1">
                <a:solidFill>
                  <a:srgbClr val="A33607"/>
                </a:solidFill>
              </a:rPr>
              <a:t>• 论证层次</a:t>
            </a:r>
          </a:p>
          <a:p>
            <a:pPr>
              <a:spcBef>
                <a:spcPts val="100"/>
              </a:spcBef>
            </a:pPr>
            <a:r>
              <a:rPr sz="1500">
                <a:solidFill>
                  <a:srgbClr val="556075"/>
                </a:solidFill>
              </a:rPr>
              <a:t>   First and foremost / Beyond that / What's more / Perhaps most importantly</a:t>
            </a:r>
          </a:p>
          <a:p>
            <a:pPr>
              <a:spcBef>
                <a:spcPts val="900"/>
              </a:spcBef>
            </a:pPr>
            <a:r>
              <a:rPr sz="1800" b="1">
                <a:solidFill>
                  <a:srgbClr val="A33607"/>
                </a:solidFill>
              </a:rPr>
              <a:t>• 举例引入</a:t>
            </a:r>
          </a:p>
          <a:p>
            <a:pPr>
              <a:spcBef>
                <a:spcPts val="100"/>
              </a:spcBef>
            </a:pPr>
            <a:r>
              <a:rPr sz="1500">
                <a:solidFill>
                  <a:srgbClr val="556075"/>
                </a:solidFill>
              </a:rPr>
              <a:t>   Take [X] as a case in point / A prime example of this would be / Consider...</a:t>
            </a:r>
          </a:p>
          <a:p>
            <a:pPr>
              <a:spcBef>
                <a:spcPts val="900"/>
              </a:spcBef>
            </a:pPr>
            <a:r>
              <a:rPr sz="1800" b="1">
                <a:solidFill>
                  <a:srgbClr val="A33607"/>
                </a:solidFill>
              </a:rPr>
              <a:t>• 让步升级</a:t>
            </a:r>
          </a:p>
          <a:p>
            <a:pPr>
              <a:spcBef>
                <a:spcPts val="100"/>
              </a:spcBef>
            </a:pPr>
            <a:r>
              <a:rPr sz="1500">
                <a:solidFill>
                  <a:srgbClr val="556075"/>
                </a:solidFill>
              </a:rPr>
              <a:t>   That said / I do acknowledge that / It's worth noting / Admittedly</a:t>
            </a:r>
          </a:p>
          <a:p>
            <a:pPr>
              <a:spcBef>
                <a:spcPts val="900"/>
              </a:spcBef>
            </a:pPr>
            <a:r>
              <a:rPr sz="1800" b="1">
                <a:solidFill>
                  <a:srgbClr val="A33607"/>
                </a:solidFill>
              </a:rPr>
              <a:t>• 收尾升级</a:t>
            </a:r>
          </a:p>
          <a:p>
            <a:pPr>
              <a:spcBef>
                <a:spcPts val="100"/>
              </a:spcBef>
            </a:pPr>
            <a:r>
              <a:rPr sz="1500">
                <a:solidFill>
                  <a:srgbClr val="556075"/>
                </a:solidFill>
              </a:rPr>
              <a:t>   Ultimately / All things considered / This is why / In the final analysis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答案结构化：7句话框架</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43000"/>
            <a:ext cx="11064240" cy="8686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A33607"/>
                </a:solidFill>
                <a:latin typeface="Calibri"/>
              </a:rPr>
              <a:t>7-Sentence Answer Structure for Part 3</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A33607"/>
                </a:solidFill>
              </a:rPr>
              <a:t>• 第1句：立场</a:t>
            </a:r>
          </a:p>
          <a:p>
            <a:pPr>
              <a:spcBef>
                <a:spcPts val="100"/>
              </a:spcBef>
            </a:pPr>
            <a:r>
              <a:rPr sz="1500">
                <a:solidFill>
                  <a:srgbClr val="556075"/>
                </a:solidFill>
              </a:rPr>
              <a:t>   I'd argue that... / The way I see it... / I'm inclined to believe...</a:t>
            </a:r>
          </a:p>
          <a:p>
            <a:pPr>
              <a:spcBef>
                <a:spcPts val="900"/>
              </a:spcBef>
            </a:pPr>
            <a:r>
              <a:rPr sz="1800" b="1">
                <a:solidFill>
                  <a:srgbClr val="A33607"/>
                </a:solidFill>
              </a:rPr>
              <a:t>• 第2句：首要原因</a:t>
            </a:r>
          </a:p>
          <a:p>
            <a:pPr>
              <a:spcBef>
                <a:spcPts val="100"/>
              </a:spcBef>
            </a:pPr>
            <a:r>
              <a:rPr sz="1500">
                <a:solidFill>
                  <a:srgbClr val="556075"/>
                </a:solidFill>
              </a:rPr>
              <a:t>   The main reason for this is... / This is largely because...</a:t>
            </a:r>
          </a:p>
          <a:p>
            <a:pPr>
              <a:spcBef>
                <a:spcPts val="900"/>
              </a:spcBef>
            </a:pPr>
            <a:r>
              <a:rPr sz="1800" b="1">
                <a:solidFill>
                  <a:srgbClr val="A33607"/>
                </a:solidFill>
              </a:rPr>
              <a:t>• 第3句：解释展开</a:t>
            </a:r>
          </a:p>
          <a:p>
            <a:pPr>
              <a:spcBef>
                <a:spcPts val="100"/>
              </a:spcBef>
            </a:pPr>
            <a:r>
              <a:rPr sz="1500">
                <a:solidFill>
                  <a:srgbClr val="556075"/>
                </a:solidFill>
              </a:rPr>
              <a:t>   What I mean is... / To elaborate... / More specifically...</a:t>
            </a:r>
          </a:p>
          <a:p>
            <a:pPr>
              <a:spcBef>
                <a:spcPts val="900"/>
              </a:spcBef>
            </a:pPr>
            <a:r>
              <a:rPr sz="1800" b="1">
                <a:solidFill>
                  <a:srgbClr val="A33607"/>
                </a:solidFill>
              </a:rPr>
              <a:t>• 第4句：举例</a:t>
            </a:r>
          </a:p>
          <a:p>
            <a:pPr>
              <a:spcBef>
                <a:spcPts val="100"/>
              </a:spcBef>
            </a:pPr>
            <a:r>
              <a:rPr sz="1500">
                <a:solidFill>
                  <a:srgbClr val="556075"/>
                </a:solidFill>
              </a:rPr>
              <a:t>   Take [Shenzhen/China] as an example... / Consider the fact that...</a:t>
            </a:r>
          </a:p>
          <a:p>
            <a:pPr>
              <a:spcBef>
                <a:spcPts val="900"/>
              </a:spcBef>
            </a:pPr>
            <a:r>
              <a:rPr sz="1800" b="1">
                <a:solidFill>
                  <a:srgbClr val="A33607"/>
                </a:solidFill>
              </a:rPr>
              <a:t>• 第5句：让步</a:t>
            </a:r>
          </a:p>
          <a:p>
            <a:pPr>
              <a:spcBef>
                <a:spcPts val="100"/>
              </a:spcBef>
            </a:pPr>
            <a:r>
              <a:rPr sz="1500">
                <a:solidFill>
                  <a:srgbClr val="556075"/>
                </a:solidFill>
              </a:rPr>
              <a:t>   That said, I do acknowledge... / Having said that...</a:t>
            </a:r>
          </a:p>
          <a:p>
            <a:pPr>
              <a:spcBef>
                <a:spcPts val="900"/>
              </a:spcBef>
            </a:pPr>
            <a:r>
              <a:rPr sz="1800" b="1">
                <a:solidFill>
                  <a:srgbClr val="A33607"/>
                </a:solidFill>
              </a:rPr>
              <a:t>• 第6句：深化</a:t>
            </a:r>
          </a:p>
          <a:p>
            <a:pPr>
              <a:spcBef>
                <a:spcPts val="100"/>
              </a:spcBef>
            </a:pPr>
            <a:r>
              <a:rPr sz="1500">
                <a:solidFill>
                  <a:srgbClr val="556075"/>
                </a:solidFill>
              </a:rPr>
              <a:t>   But I'd go as far as saying... / And what's particularly notable is...</a:t>
            </a:r>
          </a:p>
          <a:p>
            <a:pPr>
              <a:spcBef>
                <a:spcPts val="900"/>
              </a:spcBef>
            </a:pPr>
            <a:r>
              <a:rPr sz="1800" b="1">
                <a:solidFill>
                  <a:srgbClr val="A33607"/>
                </a:solidFill>
              </a:rPr>
              <a:t>• 第7句：收尾</a:t>
            </a:r>
          </a:p>
          <a:p>
            <a:pPr>
              <a:spcBef>
                <a:spcPts val="100"/>
              </a:spcBef>
            </a:pPr>
            <a:r>
              <a:rPr sz="1500">
                <a:solidFill>
                  <a:srgbClr val="556075"/>
                </a:solidFill>
              </a:rPr>
              <a:t>   This is why... / Ultimately... / All things considered...</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CC评分与答案长度的关系</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Part 1：30-45秒 = Band 7目标（太短=不完整，太长=回答过度）</a:t>
            </a:r>
          </a:p>
          <a:p>
            <a:pPr>
              <a:spcBef>
                <a:spcPts val="1000"/>
              </a:spcBef>
            </a:pPr>
            <a:r>
              <a:rPr sz="1650">
                <a:solidFill>
                  <a:srgbClr val="1E293B"/>
                </a:solidFill>
              </a:rPr>
              <a:t>• Part 2：1分45秒-2分钟 = Band 7目标（练习计时，感受节奏）</a:t>
            </a:r>
          </a:p>
          <a:p>
            <a:pPr>
              <a:spcBef>
                <a:spcPts val="1000"/>
              </a:spcBef>
            </a:pPr>
            <a:r>
              <a:rPr sz="1650">
                <a:solidFill>
                  <a:srgbClr val="1E293B"/>
                </a:solidFill>
              </a:rPr>
              <a:t>• Part 3：45-60秒 = Band 7目标（比Part 1更长，展示分析深度）</a:t>
            </a:r>
          </a:p>
          <a:p>
            <a:pPr>
              <a:spcBef>
                <a:spcPts val="1000"/>
              </a:spcBef>
            </a:pPr>
            <a:r>
              <a:rPr sz="1650">
                <a:solidFill>
                  <a:srgbClr val="1E293B"/>
                </a:solidFill>
              </a:rPr>
              <a:t>• 深圳学生问题：Part 3答案太短（20-30秒）——用7句话框架强制展开</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填充语与连接词的协同使用</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开场：填充语（Well...）+立场（I'd argue...）——2秒思考+立刻开始</a:t>
            </a:r>
          </a:p>
          <a:p>
            <a:pPr>
              <a:spcBef>
                <a:spcPts val="1000"/>
              </a:spcBef>
            </a:pPr>
            <a:r>
              <a:rPr sz="1650">
                <a:solidFill>
                  <a:srgbClr val="1E293B"/>
                </a:solidFill>
              </a:rPr>
              <a:t>• 中途：连接词（Furthermore）+ 填充语（...come to think of it...）+ 新内容</a:t>
            </a:r>
          </a:p>
          <a:p>
            <a:pPr>
              <a:spcBef>
                <a:spcPts val="1000"/>
              </a:spcBef>
            </a:pPr>
            <a:r>
              <a:rPr sz="1650">
                <a:solidFill>
                  <a:srgbClr val="1E293B"/>
                </a:solidFill>
              </a:rPr>
              <a:t>• 让步：连接词（That said）+ 内容（I do acknowledge that...）</a:t>
            </a:r>
          </a:p>
          <a:p>
            <a:pPr>
              <a:spcBef>
                <a:spcPts val="1000"/>
              </a:spcBef>
            </a:pPr>
            <a:r>
              <a:rPr sz="1650">
                <a:solidFill>
                  <a:srgbClr val="1E293B"/>
                </a:solidFill>
              </a:rPr>
              <a:t>• 结尾：总结词（Ultimately）+ 收尾（This is why...）——有力结束</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7句话框架示范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"Do you think competitive sports are good for children?"
7句话框架完整应用</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第1句（立场）：I'd argue that competitive sports are broadly beneficial for children, with some important caveats.
第2句（首要原因）：The primary reason is that they teach children how to handle both success and failure — arguably the most important life skill.
第3句（解释）：When a child loses a match, they're forced to develop resilience and perspective in a safe, low-stakes context.
第4句（举例）：In Shenzhen's schools, I've observed that children who participate in team sports tend to display stronger collaborative skills.
第5句（让步）：That said, I do think the intensity matters — hyper-competitive environments can undermine self-esteem if poorly managed.
第6句（深化）：What's particularly important is parental attitude: supportive rather than results-focused participation.
第7句（收尾）：Ultimately, the sport itself matters less than the values modelled around it.</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时长：约60秒（Band 7 Part 3理想长度）
连接词：with some caveats / The primary reason is / When... / That said / What's particularly important / Ultimately
词汇：resilience / collaborative / undermine / results-focused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连接词多样性快速检测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6576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录音30秒，回放检测连接词使用</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检测方法：
① 回放录音，每出现一个连接词就在纸上画一笔
② 画完后数一数：种类几种？（不同功能）
③ Band 6标准：3种以内 / Band 7标准：4-5种 / Band 8标准：6种以上
常见问题：只用and/but/so（2种）→ 需要补充：furthermore/that said/consequently/take X as an example</a:t>
            </a:r>
          </a:p>
        </p:txBody>
      </p:sp>
      <p:sp>
        <p:nvSpPr>
          <p:cNvPr id="14" name="Rectangle 13"/>
          <p:cNvSpPr/>
          <p:nvPr/>
        </p:nvSpPr>
        <p:spPr>
          <a:xfrm>
            <a:off x="548640" y="5669279"/>
            <a:ext cx="11064240" cy="36576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每周做一次连接词检测——2周内多样性通常从2-3种增加到5-6种</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流利度Band 7示范：Part 2完整回答</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84048"/>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题目："Describe a time when you helped someone solve a problem."
注意：填充语+连接词+节奏控制</a:t>
            </a:r>
          </a:p>
        </p:txBody>
      </p:sp>
      <p:sp>
        <p:nvSpPr>
          <p:cNvPr id="10" name="Rounded Rectangle 9"/>
          <p:cNvSpPr/>
          <p:nvPr/>
        </p:nvSpPr>
        <p:spPr>
          <a:xfrm>
            <a:off x="548640" y="1783080"/>
            <a:ext cx="7040880" cy="416052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The experience that springs to mind is from about two years ago, when a close colleague — someone who'd just transferred to our department — was struggling to adapt to the pace of work in Shenzhen's tech environment. What made the situation particularly challenging was that he came from a slower-paced city and found the expectation of immediate responses genuinely overwhelming. What I did was suggest a weekly check-in system — nothing formal, just a brief conversation at the end of each Friday. What struck me about the experience was how much a small structural change could shift someone's entire relationship to their work. He became noticeably more confident over the following months. Looking back, I realise that what he really needed wasn't advice — it was simply the sense that someone was paying attention.</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8C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FC：连贯，约1分50秒，no long pauses, natural fillers (What made...particularly / What struck me about...)</a:t>
            </a:r>
          </a:p>
          <a:p>
            <a:pPr>
              <a:spcBef>
                <a:spcPts val="700"/>
              </a:spcBef>
            </a:pPr>
            <a:r>
              <a:rPr sz="1200">
                <a:solidFill>
                  <a:srgbClr val="1E293B"/>
                </a:solidFill>
              </a:rPr>
              <a:t>▸ 连接词：What I did was / What struck me / Looking back, I realise——三种不同引导结构</a:t>
            </a:r>
          </a:p>
          <a:p>
            <a:pPr>
              <a:spcBef>
                <a:spcPts val="700"/>
              </a:spcBef>
            </a:pPr>
            <a:r>
              <a:rPr sz="1200">
                <a:solidFill>
                  <a:srgbClr val="1E293B"/>
                </a:solidFill>
              </a:rPr>
              <a:t>▸ LR：struggles to adapt / genuinely overwhelming / structural change / noticeably / paying attention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流利度Band 7示范：Part 3完整回答</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84048"/>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题目："Do you think young people today are more or less resilient than previous generations?"
7句话框架实战</a:t>
            </a:r>
          </a:p>
        </p:txBody>
      </p:sp>
      <p:sp>
        <p:nvSpPr>
          <p:cNvPr id="10" name="Rounded Rectangle 9"/>
          <p:cNvSpPr/>
          <p:nvPr/>
        </p:nvSpPr>
        <p:spPr>
          <a:xfrm>
            <a:off x="548640" y="1783080"/>
            <a:ext cx="7040880" cy="416052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I'd say the question is more complex than it might appear. On the surface, there's a popular narrative that younger generations are less resilient — more fragile, more easily offended, less capable of delayed gratification. That said, I do think this framing is fundamentally unfair. Today's young people face an entirely different set of stressors — digital comparison culture, economic uncertainty, climate anxiety — that previous generations simply didn't encounter. What I'd argue is that resilience is always contextual: people develop resilience in response to the specific challenges they face. Shenzhen's young professionals, for instance, demonstrate remarkable adaptability in an extraordinarily competitive environment. Ultimately, what matters isn't comparing across generations, but equipping each generation with the tools to handle their specific context.</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8C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7句话框架：立场→否定表面叙述→让步→原因→论证→本地例子→收尾</a:t>
            </a:r>
          </a:p>
          <a:p>
            <a:pPr>
              <a:spcBef>
                <a:spcPts val="700"/>
              </a:spcBef>
            </a:pPr>
            <a:r>
              <a:rPr sz="1200">
                <a:solidFill>
                  <a:srgbClr val="1E293B"/>
                </a:solidFill>
              </a:rPr>
              <a:t>▸ CC：On the surface / That said / What I'd argue is / for instance / Ultimately——5种连接词</a:t>
            </a:r>
          </a:p>
          <a:p>
            <a:pPr>
              <a:spcBef>
                <a:spcPts val="700"/>
              </a:spcBef>
            </a:pPr>
            <a:r>
              <a:rPr sz="1200">
                <a:solidFill>
                  <a:srgbClr val="1E293B"/>
                </a:solidFill>
              </a:rPr>
              <a:t>▸ LR：resilience / fragile / delayed gratification / stressors / contextual / adaptability</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填充语：自然 vs 刻意</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刻意/尴尬的填充语</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自然流畅的填充语</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"That's a very good question."（然后长时间停顿）</a:t>
            </a:r>
          </a:p>
          <a:p>
            <a:pPr>
              <a:spcBef>
                <a:spcPts val="700"/>
              </a:spcBef>
            </a:pPr>
            <a:r>
              <a:rPr sz="1350">
                <a:solidFill>
                  <a:srgbClr val="C02A2A"/>
                </a:solidFill>
              </a:rPr>
              <a:t>✗ "Um...uh...um..."（每句话开始）</a:t>
            </a:r>
          </a:p>
          <a:p>
            <a:pPr>
              <a:spcBef>
                <a:spcPts val="700"/>
              </a:spcBef>
            </a:pPr>
            <a:r>
              <a:rPr sz="1350">
                <a:solidFill>
                  <a:srgbClr val="C02A2A"/>
                </a:solidFill>
              </a:rPr>
              <a:t>✗ "I think...I think...I think..."（每句话重复）</a:t>
            </a:r>
          </a:p>
          <a:p>
            <a:pPr>
              <a:spcBef>
                <a:spcPts val="700"/>
              </a:spcBef>
            </a:pPr>
            <a:r>
              <a:rPr sz="1350">
                <a:solidFill>
                  <a:srgbClr val="C02A2A"/>
                </a:solidFill>
              </a:rPr>
              <a:t>✗ "How to say..."（半中文）</a:t>
            </a:r>
          </a:p>
          <a:p>
            <a:pPr>
              <a:spcBef>
                <a:spcPts val="700"/>
              </a:spcBef>
            </a:pPr>
            <a:r>
              <a:rPr sz="1350">
                <a:solidFill>
                  <a:srgbClr val="C02A2A"/>
                </a:solidFill>
              </a:rPr>
              <a:t>✗ 停顿3秒以上，沉默</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"Well, to be honest with you..."（思考型开场）</a:t>
            </a:r>
          </a:p>
          <a:p>
            <a:pPr>
              <a:spcBef>
                <a:spcPts val="700"/>
              </a:spcBef>
            </a:pPr>
            <a:r>
              <a:rPr sz="1350">
                <a:solidFill>
                  <a:srgbClr val="1B7A3D"/>
                </a:solidFill>
              </a:rPr>
              <a:t>✓ "The way I see it..."（观点引导）</a:t>
            </a:r>
          </a:p>
          <a:p>
            <a:pPr>
              <a:spcBef>
                <a:spcPts val="700"/>
              </a:spcBef>
            </a:pPr>
            <a:r>
              <a:rPr sz="1350">
                <a:solidFill>
                  <a:srgbClr val="1B7A3D"/>
                </a:solidFill>
              </a:rPr>
              <a:t>✓ "...come to think of it..."（中途自然插入）</a:t>
            </a:r>
          </a:p>
          <a:p>
            <a:pPr>
              <a:spcBef>
                <a:spcPts val="700"/>
              </a:spcBef>
            </a:pPr>
            <a:r>
              <a:rPr sz="1350">
                <a:solidFill>
                  <a:srgbClr val="1B7A3D"/>
                </a:solidFill>
              </a:rPr>
              <a:t>✓ "I suppose what I'm trying to say is..."（重新表达）</a:t>
            </a:r>
          </a:p>
          <a:p>
            <a:pPr>
              <a:spcBef>
                <a:spcPts val="700"/>
              </a:spcBef>
            </a:pPr>
            <a:r>
              <a:rPr sz="1350">
                <a:solidFill>
                  <a:srgbClr val="1B7A3D"/>
                </a:solidFill>
              </a:rPr>
              <a:t>✓ "That's actually quite a nuanced question..."（争取时间）</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连接词密度：Band 6 vs Band 7</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Band 6（连接词单调）</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Band 7（连接词多样）</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"I think X. And I also think Y. And Z is also important. But W is not good."</a:t>
            </a:r>
          </a:p>
          <a:p>
            <a:pPr>
              <a:spcBef>
                <a:spcPts val="700"/>
              </a:spcBef>
            </a:pPr>
            <a:r>
              <a:rPr sz="1350">
                <a:solidFill>
                  <a:srgbClr val="C02A2A"/>
                </a:solidFill>
              </a:rPr>
              <a:t>✗ 连接词：And×3 + But×1 = 2种</a:t>
            </a:r>
          </a:p>
          <a:p>
            <a:pPr>
              <a:spcBef>
                <a:spcPts val="700"/>
              </a:spcBef>
            </a:pPr>
            <a:r>
              <a:rPr sz="1350">
                <a:solidFill>
                  <a:srgbClr val="C02A2A"/>
                </a:solidFill>
              </a:rPr>
              <a:t>✗ 功能：只有添加和转折</a:t>
            </a:r>
          </a:p>
          <a:p>
            <a:pPr>
              <a:spcBef>
                <a:spcPts val="700"/>
              </a:spcBef>
            </a:pPr>
            <a:r>
              <a:rPr sz="1350">
                <a:solidFill>
                  <a:srgbClr val="C02A2A"/>
                </a:solidFill>
              </a:rPr>
              <a:t>✗ 多样性：不足，影响CC评分</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"I'd argue X. Furthermore, Y is significant. Take Z as an example. That said, W..."</a:t>
            </a:r>
          </a:p>
          <a:p>
            <a:pPr>
              <a:spcBef>
                <a:spcPts val="700"/>
              </a:spcBef>
            </a:pPr>
            <a:r>
              <a:rPr sz="1350">
                <a:solidFill>
                  <a:srgbClr val="1B7A3D"/>
                </a:solidFill>
              </a:rPr>
              <a:t>✓ 连接词：Furthermore / Take...as an example / That said = 3种功能</a:t>
            </a:r>
          </a:p>
          <a:p>
            <a:pPr>
              <a:spcBef>
                <a:spcPts val="700"/>
              </a:spcBef>
            </a:pPr>
            <a:r>
              <a:rPr sz="1350">
                <a:solidFill>
                  <a:srgbClr val="1B7A3D"/>
                </a:solidFill>
              </a:rPr>
              <a:t>✓ 功能：添加+举例+让步</a:t>
            </a:r>
          </a:p>
          <a:p>
            <a:pPr>
              <a:spcBef>
                <a:spcPts val="700"/>
              </a:spcBef>
            </a:pPr>
            <a:r>
              <a:rPr sz="1350">
                <a:solidFill>
                  <a:srgbClr val="1B7A3D"/>
                </a:solidFill>
              </a:rPr>
              <a:t>✓ 多样性：Band 7水平，CC分有保障</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2周流利度冲刺方案</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8016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A33607"/>
                </a:solidFill>
                <a:latin typeface="Calibri"/>
              </a:rPr>
              <a:t>第1-3天：填充语替换</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录音15分钟，统计um/uh次数，替换成Well/I suppose等，目标&lt;3次/分钟</a:t>
            </a:r>
          </a:p>
        </p:txBody>
      </p:sp>
      <p:sp>
        <p:nvSpPr>
          <p:cNvPr id="13" name="Rounded Rectangle 12"/>
          <p:cNvSpPr/>
          <p:nvPr/>
        </p:nvSpPr>
        <p:spPr>
          <a:xfrm>
            <a:off x="548640" y="233172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A33607"/>
                </a:solidFill>
                <a:latin typeface="Calibri"/>
              </a:rPr>
              <a:t>第4-7天：连接词多样化</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每天强迫使用7种不同功能的连接词，录音验证，不能重复</a:t>
            </a:r>
          </a:p>
        </p:txBody>
      </p:sp>
      <p:sp>
        <p:nvSpPr>
          <p:cNvPr id="18" name="Rounded Rectangle 17"/>
          <p:cNvSpPr/>
          <p:nvPr/>
        </p:nvSpPr>
        <p:spPr>
          <a:xfrm>
            <a:off x="548640" y="3383279"/>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4041648"/>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383279"/>
            <a:ext cx="10058400" cy="411480"/>
          </a:xfrm>
          <a:prstGeom prst="rect">
            <a:avLst/>
          </a:prstGeom>
          <a:noFill/>
        </p:spPr>
        <p:txBody>
          <a:bodyPr wrap="square" anchor="t">
            <a:spAutoFit/>
          </a:bodyPr>
          <a:lstStyle/>
          <a:p>
            <a:pPr algn="l"/>
            <a:r>
              <a:rPr sz="1600" b="1" i="0">
                <a:solidFill>
                  <a:srgbClr val="A33607"/>
                </a:solidFill>
                <a:latin typeface="Calibri"/>
              </a:rPr>
              <a:t>第8-10天：7句话框架</a:t>
            </a:r>
          </a:p>
        </p:txBody>
      </p:sp>
      <p:sp>
        <p:nvSpPr>
          <p:cNvPr id="22" name="TextBox 21"/>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选3个Part 3题，用7句话框架回答，计时45-60秒，录音自评</a:t>
            </a:r>
          </a:p>
        </p:txBody>
      </p:sp>
      <p:sp>
        <p:nvSpPr>
          <p:cNvPr id="23" name="Rounded Rectangle 22"/>
          <p:cNvSpPr/>
          <p:nvPr/>
        </p:nvSpPr>
        <p:spPr>
          <a:xfrm>
            <a:off x="548640" y="443484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489703"/>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TextBox 24"/>
          <p:cNvSpPr txBox="1"/>
          <p:nvPr/>
        </p:nvSpPr>
        <p:spPr>
          <a:xfrm>
            <a:off x="1417320" y="4434840"/>
            <a:ext cx="10058400" cy="411480"/>
          </a:xfrm>
          <a:prstGeom prst="rect">
            <a:avLst/>
          </a:prstGeom>
          <a:noFill/>
        </p:spPr>
        <p:txBody>
          <a:bodyPr wrap="square" anchor="t">
            <a:spAutoFit/>
          </a:bodyPr>
          <a:lstStyle/>
          <a:p>
            <a:pPr algn="l"/>
            <a:r>
              <a:rPr sz="1600" b="1" i="0">
                <a:solidFill>
                  <a:srgbClr val="A33607"/>
                </a:solidFill>
                <a:latin typeface="Calibri"/>
              </a:rPr>
              <a:t>第11-14天：综合输出</a:t>
            </a:r>
          </a:p>
        </p:txBody>
      </p:sp>
      <p:sp>
        <p:nvSpPr>
          <p:cNvPr id="26" name="TextBox 25"/>
          <p:cNvSpPr txBox="1"/>
          <p:nvPr/>
        </p:nvSpPr>
        <p:spPr>
          <a:xfrm>
            <a:off x="1417320" y="4800600"/>
            <a:ext cx="10058400" cy="685799"/>
          </a:xfrm>
          <a:prstGeom prst="rect">
            <a:avLst/>
          </a:prstGeom>
          <a:noFill/>
        </p:spPr>
        <p:txBody>
          <a:bodyPr wrap="square" anchor="t">
            <a:spAutoFit/>
          </a:bodyPr>
          <a:lstStyle/>
          <a:p>
            <a:pPr algn="l"/>
            <a:r>
              <a:rPr sz="1350" b="0" i="0">
                <a:solidFill>
                  <a:srgbClr val="556075"/>
                </a:solidFill>
                <a:latin typeface="Calibri"/>
              </a:rPr>
              <a:t>每天完整模拟Part 1+3，录音，检查FC 3项：填充语/连接词/节奏</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连接词快速填空练习</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188720"/>
            <a:ext cx="11064240" cy="640080"/>
          </a:xfrm>
          <a:prstGeom prst="round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用合适的连接词填空（不能用and/but/so）</a:t>
            </a:r>
          </a:p>
        </p:txBody>
      </p:sp>
      <p:sp>
        <p:nvSpPr>
          <p:cNvPr id="10" name="TextBox 9"/>
          <p:cNvSpPr txBox="1"/>
          <p:nvPr/>
        </p:nvSpPr>
        <p:spPr>
          <a:xfrm>
            <a:off x="640080" y="2057400"/>
            <a:ext cx="10972800" cy="4206240"/>
          </a:xfrm>
          <a:prstGeom prst="rect">
            <a:avLst/>
          </a:prstGeom>
          <a:noFill/>
        </p:spPr>
        <p:txBody>
          <a:bodyPr wrap="square">
            <a:spAutoFit/>
          </a:bodyPr>
          <a:lstStyle/>
          <a:p>
            <a:r>
              <a:rPr sz="1500">
                <a:solidFill>
                  <a:srgbClr val="1E293B"/>
                </a:solidFill>
              </a:rPr>
              <a:t>▢ "I enjoy teamwork. ___, individual focus is equally important."（让步）→答案：That said</a:t>
            </a:r>
          </a:p>
          <a:p>
            <a:pPr>
              <a:spcBef>
                <a:spcPts val="1100"/>
              </a:spcBef>
            </a:pPr>
            <a:r>
              <a:rPr sz="1500">
                <a:solidFill>
                  <a:srgbClr val="1E293B"/>
                </a:solidFill>
              </a:rPr>
              <a:t>▢ "Cities have better opportunities. ___, they also have higher costs."（添加）→答案：Furthermore</a:t>
            </a:r>
          </a:p>
          <a:p>
            <a:pPr>
              <a:spcBef>
                <a:spcPts val="1100"/>
              </a:spcBef>
            </a:pPr>
            <a:r>
              <a:rPr sz="1500">
                <a:solidFill>
                  <a:srgbClr val="1E293B"/>
                </a:solidFill>
              </a:rPr>
              <a:t>▢ "Tech skills matter. ___ Shenzhen's Huawei employees as an example."（举例）→答案：Take</a:t>
            </a:r>
          </a:p>
          <a:p>
            <a:pPr>
              <a:spcBef>
                <a:spcPts val="1100"/>
              </a:spcBef>
            </a:pPr>
            <a:r>
              <a:rPr sz="1500">
                <a:solidFill>
                  <a:srgbClr val="1E293B"/>
                </a:solidFill>
              </a:rPr>
              <a:t>▢ "Learning English is valuable. ___, motivation is key."（强调）→答案：What's more important is</a:t>
            </a:r>
          </a:p>
          <a:p>
            <a:pPr>
              <a:spcBef>
                <a:spcPts val="1100"/>
              </a:spcBef>
            </a:pPr>
            <a:r>
              <a:rPr sz="1500">
                <a:solidFill>
                  <a:srgbClr val="1E293B"/>
                </a:solidFill>
              </a:rPr>
              <a:t>▢ "I think X. ___, I believe the reality is more complex."（深化）→答案：Having said that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CC评分提升的4个关键行动</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8016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A33607"/>
                </a:solidFill>
                <a:latin typeface="Calibri"/>
              </a:rPr>
              <a:t>行动1：录音习惯</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每次说英语立刻录音——没有录音就没有FC自我评估，这是最重要的习惯</a:t>
            </a:r>
          </a:p>
        </p:txBody>
      </p:sp>
      <p:sp>
        <p:nvSpPr>
          <p:cNvPr id="13" name="Rounded Rectangle 12"/>
          <p:cNvSpPr/>
          <p:nvPr/>
        </p:nvSpPr>
        <p:spPr>
          <a:xfrm>
            <a:off x="548640" y="233172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A33607"/>
                </a:solidFill>
                <a:latin typeface="Calibri"/>
              </a:rPr>
              <a:t>行动2：填充语替换</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明确禁止自己说um/uh——用Well/I suppose强制替换，3天后自然</a:t>
            </a:r>
          </a:p>
        </p:txBody>
      </p:sp>
      <p:sp>
        <p:nvSpPr>
          <p:cNvPr id="18" name="Rounded Rectangle 17"/>
          <p:cNvSpPr/>
          <p:nvPr/>
        </p:nvSpPr>
        <p:spPr>
          <a:xfrm>
            <a:off x="548640" y="3383279"/>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4041648"/>
            <a:ext cx="45720" cy="393191"/>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383279"/>
            <a:ext cx="10058400" cy="411480"/>
          </a:xfrm>
          <a:prstGeom prst="rect">
            <a:avLst/>
          </a:prstGeom>
          <a:noFill/>
        </p:spPr>
        <p:txBody>
          <a:bodyPr wrap="square" anchor="t">
            <a:spAutoFit/>
          </a:bodyPr>
          <a:lstStyle/>
          <a:p>
            <a:pPr algn="l"/>
            <a:r>
              <a:rPr sz="1600" b="1" i="0">
                <a:solidFill>
                  <a:srgbClr val="A33607"/>
                </a:solidFill>
                <a:latin typeface="Calibri"/>
              </a:rPr>
              <a:t>行动3：连接词日记</a:t>
            </a:r>
          </a:p>
        </p:txBody>
      </p:sp>
      <p:sp>
        <p:nvSpPr>
          <p:cNvPr id="22" name="TextBox 21"/>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每天在笔记本写7种功能的连接词各1句——写出来比说出来更能内化</a:t>
            </a:r>
          </a:p>
        </p:txBody>
      </p:sp>
      <p:sp>
        <p:nvSpPr>
          <p:cNvPr id="23" name="Rounded Rectangle 22"/>
          <p:cNvSpPr/>
          <p:nvPr/>
        </p:nvSpPr>
        <p:spPr>
          <a:xfrm>
            <a:off x="548640" y="4434840"/>
            <a:ext cx="640080" cy="640080"/>
          </a:xfrm>
          <a:prstGeom prst="round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489703"/>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TextBox 24"/>
          <p:cNvSpPr txBox="1"/>
          <p:nvPr/>
        </p:nvSpPr>
        <p:spPr>
          <a:xfrm>
            <a:off x="1417320" y="4434840"/>
            <a:ext cx="10058400" cy="411480"/>
          </a:xfrm>
          <a:prstGeom prst="rect">
            <a:avLst/>
          </a:prstGeom>
          <a:noFill/>
        </p:spPr>
        <p:txBody>
          <a:bodyPr wrap="square" anchor="t">
            <a:spAutoFit/>
          </a:bodyPr>
          <a:lstStyle/>
          <a:p>
            <a:pPr algn="l"/>
            <a:r>
              <a:rPr sz="1600" b="1" i="0">
                <a:solidFill>
                  <a:srgbClr val="A33607"/>
                </a:solidFill>
                <a:latin typeface="Calibri"/>
              </a:rPr>
              <a:t>行动4：节奏录音</a:t>
            </a:r>
          </a:p>
        </p:txBody>
      </p:sp>
      <p:sp>
        <p:nvSpPr>
          <p:cNvPr id="26" name="TextBox 25"/>
          <p:cNvSpPr txBox="1"/>
          <p:nvPr/>
        </p:nvSpPr>
        <p:spPr>
          <a:xfrm>
            <a:off x="1417320" y="4800600"/>
            <a:ext cx="10058400" cy="685799"/>
          </a:xfrm>
          <a:prstGeom prst="rect">
            <a:avLst/>
          </a:prstGeom>
          <a:noFill/>
        </p:spPr>
        <p:txBody>
          <a:bodyPr wrap="square" anchor="t">
            <a:spAutoFit/>
          </a:bodyPr>
          <a:lstStyle/>
          <a:p>
            <a:pPr algn="l"/>
            <a:r>
              <a:rPr sz="1350" b="0" i="0">
                <a:solidFill>
                  <a:srgbClr val="556075"/>
                </a:solidFill>
                <a:latin typeface="Calibri"/>
              </a:rPr>
              <a:t>选BBC一段30秒录音，跟读5遍——重点模仿停顿和重音，不关注词义</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CC评分：自然填充 vs 中式停顿</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中式停顿（降低CC）</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自然填充（提升CC）</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"I...um...think...um...education is..."</a:t>
            </a:r>
          </a:p>
          <a:p>
            <a:pPr>
              <a:spcBef>
                <a:spcPts val="700"/>
              </a:spcBef>
            </a:pPr>
            <a:r>
              <a:rPr sz="1350">
                <a:solidFill>
                  <a:srgbClr val="C02A2A"/>
                </a:solidFill>
              </a:rPr>
              <a:t>✗ "How to say..."（用中文的停顿习惯）</a:t>
            </a:r>
          </a:p>
          <a:p>
            <a:pPr>
              <a:spcBef>
                <a:spcPts val="700"/>
              </a:spcBef>
            </a:pPr>
            <a:r>
              <a:rPr sz="1350">
                <a:solidFill>
                  <a:srgbClr val="C02A2A"/>
                </a:solidFill>
              </a:rPr>
              <a:t>✗ 沉默3-5秒</a:t>
            </a:r>
          </a:p>
          <a:p>
            <a:pPr>
              <a:spcBef>
                <a:spcPts val="700"/>
              </a:spcBef>
            </a:pPr>
            <a:r>
              <a:rPr sz="1350">
                <a:solidFill>
                  <a:srgbClr val="C02A2A"/>
                </a:solidFill>
              </a:rPr>
              <a:t>✗ 自我打断："No wait, I mean..."</a:t>
            </a:r>
          </a:p>
          <a:p>
            <a:pPr>
              <a:spcBef>
                <a:spcPts val="700"/>
              </a:spcBef>
            </a:pPr>
            <a:r>
              <a:rPr sz="1350">
                <a:solidFill>
                  <a:srgbClr val="C02A2A"/>
                </a:solidFill>
              </a:rPr>
              <a:t>✗ 每句话结构相同："I think X. I think Y. I think Z."</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"Well, the way I see it, education is..."</a:t>
            </a:r>
          </a:p>
          <a:p>
            <a:pPr>
              <a:spcBef>
                <a:spcPts val="700"/>
              </a:spcBef>
            </a:pPr>
            <a:r>
              <a:rPr sz="1350">
                <a:solidFill>
                  <a:srgbClr val="1B7A3D"/>
                </a:solidFill>
              </a:rPr>
              <a:t>✓ "Speaking from experience..." / "To be honest..."</a:t>
            </a:r>
          </a:p>
          <a:p>
            <a:pPr>
              <a:spcBef>
                <a:spcPts val="700"/>
              </a:spcBef>
            </a:pPr>
            <a:r>
              <a:rPr sz="1350">
                <a:solidFill>
                  <a:srgbClr val="1B7A3D"/>
                </a:solidFill>
              </a:rPr>
              <a:t>✓ 最多2秒，立刻用填充语接续</a:t>
            </a:r>
          </a:p>
          <a:p>
            <a:pPr>
              <a:spcBef>
                <a:spcPts val="700"/>
              </a:spcBef>
            </a:pPr>
            <a:r>
              <a:rPr sz="1350">
                <a:solidFill>
                  <a:srgbClr val="1B7A3D"/>
                </a:solidFill>
              </a:rPr>
              <a:t>✓ "...or rather, what I'm trying to say is..."（流畅纠正）</a:t>
            </a:r>
          </a:p>
          <a:p>
            <a:pPr>
              <a:spcBef>
                <a:spcPts val="700"/>
              </a:spcBef>
            </a:pPr>
            <a:r>
              <a:rPr sz="1350">
                <a:solidFill>
                  <a:srgbClr val="1B7A3D"/>
                </a:solidFill>
              </a:rPr>
              <a:t>✓ 连接词多样：furthermore/that said/what I find/ultimately</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CC Band 7示范：Part 1完整回答</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84048"/>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题目："Do you prefer to communicate face-to-face or through technology?"
连接词+填充语综合示范</a:t>
            </a:r>
          </a:p>
        </p:txBody>
      </p:sp>
      <p:sp>
        <p:nvSpPr>
          <p:cNvPr id="10" name="Rounded Rectangle 9"/>
          <p:cNvSpPr/>
          <p:nvPr/>
        </p:nvSpPr>
        <p:spPr>
          <a:xfrm>
            <a:off x="548640" y="1783080"/>
            <a:ext cx="7040880" cy="416052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Honestly, I think I'd say both have their place — though if I had to choose, I'd lean towards face-to-face. What I find most irreplaceable about in-person conversation is the subtle layer of non-verbal communication that digital tools simply can't replicate — the tone of voice, the facial expressions, the natural rhythm of pauses in a real conversation. That said, I do genuinely value the convenience that technology offers. In my daily life in Shenzhen, where colleagues are scattered across different floors and sometimes different cities, WeChat and video calls are practically indispensable. So I suppose my honest answer is: digital for efficiency, face-to-face for depth.</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8C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填充语：Honestly / I think I'd say / if I had to choose / I suppose</a:t>
            </a:r>
          </a:p>
          <a:p>
            <a:pPr>
              <a:spcBef>
                <a:spcPts val="700"/>
              </a:spcBef>
            </a:pPr>
            <a:r>
              <a:rPr sz="1200">
                <a:solidFill>
                  <a:srgbClr val="1E293B"/>
                </a:solidFill>
              </a:rPr>
              <a:t>▸ 连接词：though / What I find / That said / So / for efficiency...for depth</a:t>
            </a:r>
          </a:p>
          <a:p>
            <a:pPr>
              <a:spcBef>
                <a:spcPts val="700"/>
              </a:spcBef>
            </a:pPr>
            <a:r>
              <a:rPr sz="1200">
                <a:solidFill>
                  <a:srgbClr val="1E293B"/>
                </a:solidFill>
              </a:rPr>
              <a:t>▸ CC总评：流畅，约45秒，4种填充语，5种连接词——Band 7 Part 1标准</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CC节奏示范：Part 2开场（含语速节奏）</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84048"/>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题目："Describe a person you admire greatly."
语速+节奏+填充语综合示范</a:t>
            </a:r>
          </a:p>
        </p:txBody>
      </p:sp>
      <p:sp>
        <p:nvSpPr>
          <p:cNvPr id="10" name="Rounded Rectangle 9"/>
          <p:cNvSpPr/>
          <p:nvPr/>
        </p:nvSpPr>
        <p:spPr>
          <a:xfrm>
            <a:off x="548640" y="1783080"/>
            <a:ext cx="7040880" cy="416052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The person who [自然停顿0.5秒] springs to mind is my secondary school English teacher, Ms. Chen [停顿0.5秒] — someone who, [轻停] quite inadvertently [重读], shaped the course of my life. What made her remarkable [重读] wasn't just her teaching skill [停顿], but the way she somehow managed to make every student feel individually seen [重读和停顿]. I remember [停顿] one particular occasion [停顿] when she stayed after school for two hours [停顿] to help me prepare for a speech competition that [轻读] I had absolutely [重读] no confidence I could win. [停顿，然后提速] The fact that I'm now teaching myself is, [轻停] in no small way, [重读] her legacy.</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8C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语速示范：（）中是节奏说明——停顿/重读/轻读</a:t>
            </a:r>
          </a:p>
          <a:p>
            <a:pPr>
              <a:spcBef>
                <a:spcPts val="700"/>
              </a:spcBef>
            </a:pPr>
            <a:r>
              <a:rPr sz="1200">
                <a:solidFill>
                  <a:srgbClr val="1E293B"/>
                </a:solidFill>
              </a:rPr>
              <a:t>▸ FC技巧：停顿是有意义的，不是卡壳——让考官"听"到信息焦点</a:t>
            </a:r>
          </a:p>
          <a:p>
            <a:pPr>
              <a:spcBef>
                <a:spcPts val="700"/>
              </a:spcBef>
            </a:pPr>
            <a:r>
              <a:rPr sz="1200">
                <a:solidFill>
                  <a:srgbClr val="1E293B"/>
                </a:solidFill>
              </a:rPr>
              <a:t>▸ 开场：The person who springs to mind is——自然，不是"I want to talk about"</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CC升级：Part 3连贯性示范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188720"/>
            <a:ext cx="11064240" cy="384048"/>
          </a:xfrm>
          <a:prstGeom prst="rect">
            <a:avLst/>
          </a:prstGeom>
          <a:solidFill>
            <a:srgbClr val="5C1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题目："Do you think social media is more harmful than beneficial?"
7句话框架+连贯性示范</a:t>
            </a:r>
          </a:p>
        </p:txBody>
      </p:sp>
      <p:sp>
        <p:nvSpPr>
          <p:cNvPr id="10" name="Rounded Rectangle 9"/>
          <p:cNvSpPr/>
          <p:nvPr/>
        </p:nvSpPr>
        <p:spPr>
          <a:xfrm>
            <a:off x="548640" y="1783080"/>
            <a:ext cx="7040880" cy="416052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I'd say [停顿] the answer depends heavily on how and why people use it. [停顿] The most significant harm, I think, [轻停] is the way social media encourages comparison — people curate idealised versions of their lives, and audiences, often unconsciously, benchmark themselves against those curated versions. [停顿，换气] That said, I do think the benefits are real too. [停顿] Consider the fact that marginalised communities now have global platforms that simply didn't exist a generation ago — that's a genuinely meaningful democratisation of voice. [停顿] What strikes me most, though, is that the harm is not inherent in the technology but in the design choices that platforms make — prioritising engagement over wellbeing.</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8C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7句话框架：立场→首要问题→解释→让步→举例→深化→结构性批评</a:t>
            </a:r>
          </a:p>
          <a:p>
            <a:pPr>
              <a:spcBef>
                <a:spcPts val="700"/>
              </a:spcBef>
            </a:pPr>
            <a:r>
              <a:rPr sz="1200">
                <a:solidFill>
                  <a:srgbClr val="1E293B"/>
                </a:solidFill>
              </a:rPr>
              <a:t>▸ 停顿节奏：重要信息前停顿，增加清晰度——不是卡壳，是刻意节奏</a:t>
            </a:r>
          </a:p>
          <a:p>
            <a:pPr>
              <a:spcBef>
                <a:spcPts val="700"/>
              </a:spcBef>
            </a:pPr>
            <a:r>
              <a:rPr sz="1200">
                <a:solidFill>
                  <a:srgbClr val="1E293B"/>
                </a:solidFill>
              </a:rPr>
              <a:t>▸ 连接词：That said / Consider the fact that / What strikes me most / though——4种功能</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CC评分：节奏+连接词双维度</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7" name="Rectangle 6"/>
          <p:cNvSpPr/>
          <p:nvPr/>
        </p:nvSpPr>
        <p:spPr>
          <a:xfrm>
            <a:off x="548640" y="1188720"/>
            <a:ext cx="5486400" cy="4572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节奏控制要点</a:t>
            </a:r>
          </a:p>
        </p:txBody>
      </p:sp>
      <p:sp>
        <p:nvSpPr>
          <p:cNvPr id="9" name="TextBox 8"/>
          <p:cNvSpPr txBox="1"/>
          <p:nvPr/>
        </p:nvSpPr>
        <p:spPr>
          <a:xfrm>
            <a:off x="640080" y="1783080"/>
            <a:ext cx="5349240" cy="4480560"/>
          </a:xfrm>
          <a:prstGeom prst="rect">
            <a:avLst/>
          </a:prstGeom>
          <a:noFill/>
        </p:spPr>
        <p:txBody>
          <a:bodyPr wrap="square">
            <a:spAutoFit/>
          </a:bodyPr>
          <a:lstStyle/>
          <a:p>
            <a:r>
              <a:rPr sz="1650" b="1">
                <a:solidFill>
                  <a:srgbClr val="A33607"/>
                </a:solidFill>
              </a:rPr>
              <a:t>• 语速</a:t>
            </a:r>
          </a:p>
          <a:p>
            <a:pPr>
              <a:spcBef>
                <a:spcPts val="100"/>
              </a:spcBef>
            </a:pPr>
            <a:r>
              <a:rPr sz="1350">
                <a:solidFill>
                  <a:srgbClr val="556075"/>
                </a:solidFill>
              </a:rPr>
              <a:t>   120-140词/分钟——过快则不清晰，过慢则背诵感</a:t>
            </a:r>
          </a:p>
          <a:p>
            <a:pPr>
              <a:spcBef>
                <a:spcPts val="700"/>
              </a:spcBef>
            </a:pPr>
            <a:r>
              <a:rPr sz="1650" b="1">
                <a:solidFill>
                  <a:srgbClr val="A33607"/>
                </a:solidFill>
              </a:rPr>
              <a:t>• 停顿</a:t>
            </a:r>
          </a:p>
          <a:p>
            <a:pPr>
              <a:spcBef>
                <a:spcPts val="100"/>
              </a:spcBef>
            </a:pPr>
            <a:r>
              <a:rPr sz="1350">
                <a:solidFill>
                  <a:srgbClr val="556075"/>
                </a:solidFill>
              </a:rPr>
              <a:t>   逗号处0.5秒，句号处1秒——有意义的停顿增加清晰度</a:t>
            </a:r>
          </a:p>
          <a:p>
            <a:pPr>
              <a:spcBef>
                <a:spcPts val="700"/>
              </a:spcBef>
            </a:pPr>
            <a:r>
              <a:rPr sz="1650" b="1">
                <a:solidFill>
                  <a:srgbClr val="A33607"/>
                </a:solidFill>
              </a:rPr>
              <a:t>• 重音</a:t>
            </a:r>
          </a:p>
          <a:p>
            <a:pPr>
              <a:spcBef>
                <a:spcPts val="100"/>
              </a:spcBef>
            </a:pPr>
            <a:r>
              <a:rPr sz="1350">
                <a:solidFill>
                  <a:srgbClr val="556075"/>
                </a:solidFill>
              </a:rPr>
              <a:t>   内容词重读（名词/动词/形容词/副词），功能词轻读</a:t>
            </a:r>
          </a:p>
          <a:p>
            <a:pPr>
              <a:spcBef>
                <a:spcPts val="700"/>
              </a:spcBef>
            </a:pPr>
            <a:r>
              <a:rPr sz="1650" b="1">
                <a:solidFill>
                  <a:srgbClr val="A33607"/>
                </a:solidFill>
              </a:rPr>
              <a:t>• 变化</a:t>
            </a:r>
          </a:p>
          <a:p>
            <a:pPr>
              <a:spcBef>
                <a:spcPts val="100"/>
              </a:spcBef>
            </a:pPr>
            <a:r>
              <a:rPr sz="1350">
                <a:solidFill>
                  <a:srgbClr val="556075"/>
                </a:solidFill>
              </a:rPr>
              <a:t>   语调有起伏——不能单调平稳，强调词拉长</a:t>
            </a:r>
          </a:p>
        </p:txBody>
      </p:sp>
      <p:sp>
        <p:nvSpPr>
          <p:cNvPr id="10" name="Rectangle 9"/>
          <p:cNvSpPr/>
          <p:nvPr/>
        </p:nvSpPr>
        <p:spPr>
          <a:xfrm>
            <a:off x="6355079" y="1188720"/>
            <a:ext cx="5486400" cy="45720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连接词7大功能</a:t>
            </a:r>
          </a:p>
        </p:txBody>
      </p:sp>
      <p:sp>
        <p:nvSpPr>
          <p:cNvPr id="12" name="TextBox 11"/>
          <p:cNvSpPr txBox="1"/>
          <p:nvPr/>
        </p:nvSpPr>
        <p:spPr>
          <a:xfrm>
            <a:off x="6446519" y="1783080"/>
            <a:ext cx="5349240" cy="4480560"/>
          </a:xfrm>
          <a:prstGeom prst="rect">
            <a:avLst/>
          </a:prstGeom>
          <a:noFill/>
        </p:spPr>
        <p:txBody>
          <a:bodyPr wrap="square">
            <a:spAutoFit/>
          </a:bodyPr>
          <a:lstStyle/>
          <a:p>
            <a:r>
              <a:rPr sz="1650" b="1">
                <a:solidFill>
                  <a:srgbClr val="A33607"/>
                </a:solidFill>
              </a:rPr>
              <a:t>• 添加</a:t>
            </a:r>
          </a:p>
          <a:p>
            <a:pPr>
              <a:spcBef>
                <a:spcPts val="100"/>
              </a:spcBef>
            </a:pPr>
            <a:r>
              <a:rPr sz="1350">
                <a:solidFill>
                  <a:srgbClr val="556075"/>
                </a:solidFill>
              </a:rPr>
              <a:t>   Furthermore / Moreover / What's more</a:t>
            </a:r>
          </a:p>
          <a:p>
            <a:pPr>
              <a:spcBef>
                <a:spcPts val="700"/>
              </a:spcBef>
            </a:pPr>
            <a:r>
              <a:rPr sz="1650" b="1">
                <a:solidFill>
                  <a:srgbClr val="A33607"/>
                </a:solidFill>
              </a:rPr>
              <a:t>• 对比</a:t>
            </a:r>
          </a:p>
          <a:p>
            <a:pPr>
              <a:spcBef>
                <a:spcPts val="100"/>
              </a:spcBef>
            </a:pPr>
            <a:r>
              <a:rPr sz="1350">
                <a:solidFill>
                  <a:srgbClr val="556075"/>
                </a:solidFill>
              </a:rPr>
              <a:t>   That said / Having said that / On the other hand</a:t>
            </a:r>
          </a:p>
          <a:p>
            <a:pPr>
              <a:spcBef>
                <a:spcPts val="700"/>
              </a:spcBef>
            </a:pPr>
            <a:r>
              <a:rPr sz="1650" b="1">
                <a:solidFill>
                  <a:srgbClr val="A33607"/>
                </a:solidFill>
              </a:rPr>
              <a:t>• 原因</a:t>
            </a:r>
          </a:p>
          <a:p>
            <a:pPr>
              <a:spcBef>
                <a:spcPts val="100"/>
              </a:spcBef>
            </a:pPr>
            <a:r>
              <a:rPr sz="1350">
                <a:solidFill>
                  <a:srgbClr val="556075"/>
                </a:solidFill>
              </a:rPr>
              <a:t>   This is largely because / The main reason is</a:t>
            </a:r>
          </a:p>
          <a:p>
            <a:pPr>
              <a:spcBef>
                <a:spcPts val="700"/>
              </a:spcBef>
            </a:pPr>
            <a:r>
              <a:rPr sz="1650" b="1">
                <a:solidFill>
                  <a:srgbClr val="A33607"/>
                </a:solidFill>
              </a:rPr>
              <a:t>• 举例</a:t>
            </a:r>
          </a:p>
          <a:p>
            <a:pPr>
              <a:spcBef>
                <a:spcPts val="100"/>
              </a:spcBef>
            </a:pPr>
            <a:r>
              <a:rPr sz="1350">
                <a:solidFill>
                  <a:srgbClr val="556075"/>
                </a:solidFill>
              </a:rPr>
              <a:t>   Take X as a case in point / Consider...</a:t>
            </a:r>
          </a:p>
          <a:p>
            <a:pPr>
              <a:spcBef>
                <a:spcPts val="700"/>
              </a:spcBef>
            </a:pPr>
            <a:r>
              <a:rPr sz="1650" b="1">
                <a:solidFill>
                  <a:srgbClr val="A33607"/>
                </a:solidFill>
              </a:rPr>
              <a:t>• 强调</a:t>
            </a:r>
          </a:p>
          <a:p>
            <a:pPr>
              <a:spcBef>
                <a:spcPts val="100"/>
              </a:spcBef>
            </a:pPr>
            <a:r>
              <a:rPr sz="1350">
                <a:solidFill>
                  <a:srgbClr val="556075"/>
                </a:solidFill>
              </a:rPr>
              <a:t>   What strikes me most / More importantly</a:t>
            </a:r>
          </a:p>
          <a:p>
            <a:pPr>
              <a:spcBef>
                <a:spcPts val="700"/>
              </a:spcBef>
            </a:pPr>
            <a:r>
              <a:rPr sz="1650" b="1">
                <a:solidFill>
                  <a:srgbClr val="A33607"/>
                </a:solidFill>
              </a:rPr>
              <a:t>• 让步</a:t>
            </a:r>
          </a:p>
          <a:p>
            <a:pPr>
              <a:spcBef>
                <a:spcPts val="100"/>
              </a:spcBef>
            </a:pPr>
            <a:r>
              <a:rPr sz="1350">
                <a:solidFill>
                  <a:srgbClr val="556075"/>
                </a:solidFill>
              </a:rPr>
              <a:t>   I do acknowledge / It's worth noting</a:t>
            </a:r>
          </a:p>
          <a:p>
            <a:pPr>
              <a:spcBef>
                <a:spcPts val="700"/>
              </a:spcBef>
            </a:pPr>
            <a:r>
              <a:rPr sz="1650" b="1">
                <a:solidFill>
                  <a:srgbClr val="A33607"/>
                </a:solidFill>
              </a:rPr>
              <a:t>• 总结</a:t>
            </a:r>
          </a:p>
          <a:p>
            <a:pPr>
              <a:spcBef>
                <a:spcPts val="100"/>
              </a:spcBef>
            </a:pPr>
            <a:r>
              <a:rPr sz="1350">
                <a:solidFill>
                  <a:srgbClr val="556075"/>
                </a:solidFill>
              </a:rPr>
              <a:t>   Ultimately / All things considered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连接词分功能完整表</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ectangle 7"/>
          <p:cNvSpPr/>
          <p:nvPr/>
        </p:nvSpPr>
        <p:spPr>
          <a:xfrm>
            <a:off x="548640" y="1234440"/>
            <a:ext cx="493776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A33607"/>
                </a:solidFill>
                <a:latin typeface="Calibri"/>
              </a:rPr>
              <a:t>添加信息</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furthermore / moreover / what's more / on top of that / in addition</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A33607"/>
                </a:solidFill>
                <a:latin typeface="Calibri"/>
              </a:rPr>
              <a:t>对比转折</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that said / having said that / on the other hand / in contrast</a:t>
            </a:r>
          </a:p>
        </p:txBody>
      </p:sp>
      <p:sp>
        <p:nvSpPr>
          <p:cNvPr id="20" name="Rectangle 19"/>
          <p:cNvSpPr/>
          <p:nvPr/>
        </p:nvSpPr>
        <p:spPr>
          <a:xfrm>
            <a:off x="548640" y="2935224"/>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A33607"/>
                </a:solidFill>
                <a:latin typeface="Calibri"/>
              </a:rPr>
              <a:t>原因解释</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this is largely because / this stems from / a key reason is</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A33607"/>
                </a:solidFill>
                <a:latin typeface="Calibri"/>
              </a:rPr>
              <a:t>举例说明</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take X as a case in point / consider / a prime example is</a:t>
            </a:r>
          </a:p>
        </p:txBody>
      </p:sp>
      <p:sp>
        <p:nvSpPr>
          <p:cNvPr id="28" name="Rectangle 27"/>
          <p:cNvSpPr/>
          <p:nvPr/>
        </p:nvSpPr>
        <p:spPr>
          <a:xfrm>
            <a:off x="548640" y="4069080"/>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A33607"/>
                </a:solidFill>
                <a:latin typeface="Calibri"/>
              </a:rPr>
              <a:t>结果</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consequently / as a result / therefore / as a direct consequence</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A33607"/>
                </a:solidFill>
                <a:latin typeface="Calibri"/>
              </a:rPr>
              <a:t>让步</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I do acknowledge / it's worth noting / admittedly / to be fair</a:t>
            </a:r>
          </a:p>
        </p:txBody>
      </p:sp>
      <p:sp>
        <p:nvSpPr>
          <p:cNvPr id="36" name="Rectangle 35"/>
          <p:cNvSpPr/>
          <p:nvPr/>
        </p:nvSpPr>
        <p:spPr>
          <a:xfrm>
            <a:off x="548640" y="5202936"/>
            <a:ext cx="493776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5202936"/>
            <a:ext cx="6126480" cy="566928"/>
          </a:xfrm>
          <a:prstGeom prst="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5202936"/>
            <a:ext cx="4754880" cy="566928"/>
          </a:xfrm>
          <a:prstGeom prst="rect">
            <a:avLst/>
          </a:prstGeom>
          <a:noFill/>
        </p:spPr>
        <p:txBody>
          <a:bodyPr wrap="square" anchor="ctr">
            <a:spAutoFit/>
          </a:bodyPr>
          <a:lstStyle/>
          <a:p>
            <a:pPr algn="l"/>
            <a:r>
              <a:rPr sz="1250" b="1" i="0">
                <a:solidFill>
                  <a:srgbClr val="A33607"/>
                </a:solidFill>
                <a:latin typeface="Calibri"/>
              </a:rPr>
              <a:t>总结收尾</a:t>
            </a:r>
          </a:p>
        </p:txBody>
      </p:sp>
      <p:sp>
        <p:nvSpPr>
          <p:cNvPr id="39" name="TextBox 38"/>
          <p:cNvSpPr txBox="1"/>
          <p:nvPr/>
        </p:nvSpPr>
        <p:spPr>
          <a:xfrm>
            <a:off x="5623560" y="5202936"/>
            <a:ext cx="5852160" cy="566928"/>
          </a:xfrm>
          <a:prstGeom prst="rect">
            <a:avLst/>
          </a:prstGeom>
          <a:noFill/>
        </p:spPr>
        <p:txBody>
          <a:bodyPr wrap="square" anchor="ctr">
            <a:spAutoFit/>
          </a:bodyPr>
          <a:lstStyle/>
          <a:p>
            <a:pPr algn="l"/>
            <a:r>
              <a:rPr sz="1250" b="0" i="0">
                <a:solidFill>
                  <a:srgbClr val="1E293B"/>
                </a:solidFill>
                <a:latin typeface="Calibri"/>
              </a:rPr>
              <a:t>ultimately / all things considered / in the final analysis / this is why</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A3360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8C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FC 7分快速检查清单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Speaking · 深圳提分课程</a:t>
            </a:r>
          </a:p>
        </p:txBody>
      </p:sp>
      <p:sp>
        <p:nvSpPr>
          <p:cNvPr id="8" name="Rounded Rectangle 7"/>
          <p:cNvSpPr/>
          <p:nvPr/>
        </p:nvSpPr>
        <p:spPr>
          <a:xfrm>
            <a:off x="548640" y="123444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A33607"/>
                </a:solidFill>
                <a:latin typeface="Calibri"/>
              </a:rPr>
              <a:t>检查1：填充语</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回放录音数um/uh次数——目标&lt;3次/分钟</a:t>
            </a:r>
          </a:p>
        </p:txBody>
      </p:sp>
      <p:sp>
        <p:nvSpPr>
          <p:cNvPr id="12" name="Rounded Rectangle 11"/>
          <p:cNvSpPr/>
          <p:nvPr/>
        </p:nvSpPr>
        <p:spPr>
          <a:xfrm>
            <a:off x="6355079" y="123444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A33607"/>
                </a:solidFill>
                <a:latin typeface="Calibri"/>
              </a:rPr>
              <a:t>检查2：连接词</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数种类——目标5+种不同功能</a:t>
            </a:r>
          </a:p>
        </p:txBody>
      </p:sp>
      <p:sp>
        <p:nvSpPr>
          <p:cNvPr id="16" name="Rounded Rectangle 15"/>
          <p:cNvSpPr/>
          <p:nvPr/>
        </p:nvSpPr>
        <p:spPr>
          <a:xfrm>
            <a:off x="548640" y="286512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A33607"/>
                </a:solidFill>
                <a:latin typeface="Calibri"/>
              </a:rPr>
              <a:t>检查3：节奏</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有没有3秒+停顿——目标：最长停顿&lt;3秒</a:t>
            </a:r>
          </a:p>
        </p:txBody>
      </p:sp>
      <p:sp>
        <p:nvSpPr>
          <p:cNvPr id="20" name="Rounded Rectangle 19"/>
          <p:cNvSpPr/>
          <p:nvPr/>
        </p:nvSpPr>
        <p:spPr>
          <a:xfrm>
            <a:off x="6355079" y="286512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A33607"/>
                </a:solidFill>
                <a:latin typeface="Calibri"/>
              </a:rPr>
              <a:t>检查4：长度</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Part 1: 30-45s / Part 2: ~2min / Part 3: 45-60s</a:t>
            </a:r>
          </a:p>
        </p:txBody>
      </p:sp>
      <p:sp>
        <p:nvSpPr>
          <p:cNvPr id="24" name="Rounded Rectangle 23"/>
          <p:cNvSpPr/>
          <p:nvPr/>
        </p:nvSpPr>
        <p:spPr>
          <a:xfrm>
            <a:off x="548640" y="4495800"/>
            <a:ext cx="5486400" cy="1402080"/>
          </a:xfrm>
          <a:prstGeom prst="roundRect">
            <a:avLst/>
          </a:prstGeom>
          <a:solidFill>
            <a:srgbClr val="FFF3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8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A33607"/>
                </a:solidFill>
                <a:latin typeface="Calibri"/>
              </a:rPr>
              <a:t>检查5：完整性</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答案有没有说完——不要说一半停下来等考官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