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1463040"/>
            <a:ext cx="34134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0" b="1" i="0">
                <a:solidFill>
                  <a:srgbClr val="F28C1D"/>
                </a:solidFill>
                <a:latin typeface="Calibri"/>
              </a:rPr>
              <a:t>L02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3566160"/>
            <a:ext cx="34134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28C1D"/>
                </a:solidFill>
                <a:latin typeface="Calibri"/>
              </a:rPr>
              <a:t>IELTS Speaking 口语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7680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Part 1
日常问答必胜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749807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FDCF2"/>
                </a:solidFill>
                <a:latin typeface="Calibri"/>
              </a:rPr>
              <a:t>Part 1: Mastering Daily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669280"/>
            <a:ext cx="3840480" cy="548640"/>
          </a:xfrm>
          <a:prstGeom prst="round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42432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第 2 节课 · 课时 90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本课流程  Lesson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66928" cy="566928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44168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Part 1结构与评分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67128"/>
            <a:ext cx="566928" cy="566928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85416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DRE答题框架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08376"/>
            <a:ext cx="566928" cy="566928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5409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26664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高频话题攻略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9624"/>
            <a:ext cx="566928" cy="566928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95344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67911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填充语与连接词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25880"/>
            <a:ext cx="566928" cy="566928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344168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话题词汇表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167128"/>
            <a:ext cx="566928" cy="566928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21284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185416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答题流程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008376"/>
            <a:ext cx="566928" cy="566928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05409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026664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课堂练习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849624"/>
            <a:ext cx="566928" cy="566928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895344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867911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小结作业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L01回顾：四维评分核心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A33607"/>
                </a:solidFill>
              </a:rPr>
              <a:t>• CC（25%）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流利连贯：减少停顿，使用连接词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LR（25%）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词汇范围：话题词汇+地道搭配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GRA（25%）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语法多样：复合句+多种时态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P（25%）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发音清晰：重音准确，不影响理解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深圳学生注意：本节课重点：Part 1答题框架+词汇激活，最快提升CC和LR两个维度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学习目标  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28C1D"/>
                </a:solidFill>
                <a:latin typeface="Calibri"/>
              </a:rPr>
              <a:t>完成本课后，你将能够：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E293B"/>
                </a:solidFill>
              </a:rPr>
              <a:t>✦  掌握DRE答题框架，让每道Part 1题目都有内容可说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1E293B"/>
                </a:solidFill>
              </a:rPr>
              <a:t>✦  掌握5大高频话题的核心词汇和答题思路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1E293B"/>
                </a:solidFill>
              </a:rPr>
              <a:t>✦  建立自然的填充语系统，减少"um/uh"等停顿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1E293B"/>
                </a:solidFill>
              </a:rPr>
              <a:t>✦  能在30-45秒内流畅回答任意Part 1题目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A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🎯 深圳学生高频痛点 · Part 1的三大失分陷阱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2A2A"/>
                </a:solidFill>
                <a:latin typeface="Calibri"/>
              </a:rPr>
              <a:t>❌ 常见误区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02A2A"/>
                </a:solidFill>
              </a:rPr>
              <a:t>✗ 答案太短：只答Yes/No或一句话就停——考官会继续追问，反而更紧张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答案太长：一道题说了2分钟，结构混乱——Part 1不是演讲，说太多反而词穷暴露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答案太假：明显背过的模板（"In my opinion, this is a very interesting question"）——考官立刻识别，CC分降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192" y="1097280"/>
            <a:ext cx="36576" cy="521208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7A3D"/>
                </a:solidFill>
                <a:latin typeface="Calibri"/>
              </a:rPr>
              <a:t>✅ 正确做法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✓ 目标长度：30-45秒，约60-80词——足够展示能力，不会暴露弱点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自然扩展：用DRE框架（Direct answer + Reason + Example）自然扩展到目标长度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个人化：用自己真实经历——哪怕语法不完美，真实的细节比完美的模板分数更高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8C1D"/>
                </a:solidFill>
                <a:latin typeface="Calibri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DRE答题框架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DRE Answer Framework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D：Direct Answer（直接回答）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A33607"/>
                </a:solidFill>
                <a:latin typeface="Calibri"/>
              </a:rPr>
              <a:t>第一句话直接回答问题，不绕弯子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33607"/>
                </a:solidFill>
              </a:rPr>
              <a:t>• 作用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让考官立刻知道你的答案——CC分的基础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时长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约5-10秒，1句话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例子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Q: Do you enjoy cooking? → A: Yes, I do enjoy cooking.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错误示范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开场长段背诵："In my daily life, I have many hobbies..."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深圳学生问题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受写作影响，习惯先铺垫再回答——口语要先直接回答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R：Reason（原因）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A33607"/>
                </a:solidFill>
                <a:latin typeface="Calibri"/>
              </a:rPr>
              <a:t>解释你的答案，给理由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33607"/>
                </a:solidFill>
              </a:rPr>
              <a:t>• 作用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展示LR词汇范围和GRA句式多样性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时长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约10-15秒，1-2句话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例子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...mainly because it allows me to be creative and I find it quite therapeutic.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句式建议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mainly because / largely due to / one reason is that / what I love about it is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注意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1-2个理由足够，不要列清单式地说5个理由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E：Example（例子）的重要性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A33607"/>
                </a:solidFill>
              </a:rPr>
              <a:t>• 作用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让答案具体，展示真实经历——考官最喜欢听真实故事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时长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约10-15秒，1-2句话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例子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For instance, last Sunday I made a Cantonese dish called...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深圳优势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用深圳/广东的具体地点/食物/事件，让答案独一无二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注意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例子要具体：避免"for example, sometimes I..."→"last week I..."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DRE框架实例对比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A33607"/>
                </a:solidFill>
              </a:rPr>
              <a:t>• 题目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Q: Do you enjoy cooking?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D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Yes, cooking is something I genuinely enjoy.（直接回答）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R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Mainly because it gives me a sense of accomplishment when a dish turns out well.（理由）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E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For example, last week I tried making Sichuan-style hotpot at home for my family, and they loved it.（例子）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总时长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3句话约40秒——完美的Part 1答题长度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扩展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如果需要更长：加一句感受/反转/未来计划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DRE框架实战练习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用DRE框架回答以下Part 1题目：
"Do you prefer spending time indoors or outdoors?"
D（5秒）：直接说出你的偏好
R（15秒）：给出1-2个理由，用话题词汇
E（15秒）：举一个具体的例子（上周/上个月/小时候）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D: I'd say I lean more towards outdoor activities.
R: Mainly because being outside in nature helps me decompress after long working days — there's something about fresh air that clears my head.
E: Last weekend, for instance, I cycled along the coastal greenway in Shenzhen, and it completely changed my mood.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关键：E要有具体时间（last weekend）+具体地点（coastal greenway in Shenzhen）+结果（changed my mood）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DRE变体：反向框架DREC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当题目问比较/选择类时，加一个C（Contrast）：
Q: "Do you prefer tea or coffee?"
D: I'd definitely say coffee.
R: Mainly because I need the caffeine boost in the morning.
E: I usually grab an Americano from the coffee shop downstairs before work.
C: Though I do switch to herbal tea in the evenings when I want to wind down.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DREC框架的C（Contrast）让答案更丰富，不只是单方面的观点
这样答案长度自然达到45-60秒，词汇量自然增加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Contrast连接词：though / that said / on the other hand / having said that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8C1D"/>
                </a:solidFill>
                <a:latin typeface="Calibri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高频话题攻略：工作与学习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High-Frequency Topics: Work &amp; Study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工作类话题（Work/Job）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A33607"/>
                </a:solidFill>
                <a:latin typeface="Calibri"/>
              </a:rPr>
              <a:t>Part 1 第一个话题必考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33607"/>
                </a:solidFill>
              </a:rPr>
              <a:t>• 必答问题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What do you do? / Do you enjoy your work?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扩展方向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工作性质/工作地点/工作满意度/工作与生活平衡/同事关系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核心词汇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demanding/rewarding/challenging/fulfilling/stressful/collaborative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深圳考生素材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科技行业/创业/互联网公司——用真实行业词汇展示LR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句式模板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I work as a [职位] for a [行业] company based in Shenzhen.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学习类话题（Studies/Education）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A33607"/>
                </a:solidFill>
                <a:latin typeface="Calibri"/>
              </a:rPr>
              <a:t>学生考生必备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33607"/>
                </a:solidFill>
              </a:rPr>
              <a:t>• 必答问题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What do you study? / Why did you choose this subject?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扩展方向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课程难度/喜欢的科目/学习方法/未来计划/大学生活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核心词汇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curriculum/major/thesis/tutorial/semester/academic/challenging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加分细节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提到具体课程名/专业方向/学习目的——不要只说"I study English"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句式模板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I'm currently studying [专业] at [学校], and what I find most fascinating is...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工作/学习话题答题完整示例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A33607"/>
                </a:solidFill>
              </a:rPr>
              <a:t>• 题目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Q: What do you do for work?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D+R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I work as a software engineer for a tech startup in Nanshan District. I chose this field mainly because I've always been fascinated by how technology can solve real-world problems.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E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For example, we recently launched an app that helps small businesses manage their inventory, and seeing actual users benefit from it is incredibly rewarding.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词汇亮点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startup/district/fascinated/inventory/incredibly rewarding——都是话题相关词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GRA亮点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because从句+that定语从句+seeing...is...结构——语法多样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工作话题常见陷阱与解法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A33607"/>
                </a:solidFill>
              </a:rPr>
              <a:t>• 陷阱1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只说职位名称就停——Q: What do you do? A: I'm an engineer.（太短）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陷阱2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用"very good/nice company"——改用：stimulating / dynamic / innovative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陷阱3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说"I don't have a job yet"就停——继续：I'm currently job hunting / preparing for...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解法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工作不满意？也可以说：It's quite demanding but it's given me valuable experience in...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关键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任何答案都要加R+E，不要只说一个事实就停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工作话题临场训练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用DRE框架回答，计时45秒：
"Do you enjoy your work / studies?"（选择一个回答）
要求：①直接说出是否喜欢 ②给一个具体理由（用非常见词）③举一个近期的例子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参考答案框架：
D: Honestly, yes, for the most part.
R: What I particularly enjoy is [具体方面], because it [原因+话题词汇].
E: Just recently, [具体例子+时间+结果].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每次练习后检查：有没有说"very good/very nice"等简单词？如果有，替换成更具体的词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学习话题临场训练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用DRE框架回答，计时45秒：
"What subject did you find most interesting at school?"
要求：①说出科目 ②解释为什么（用at least 2个理由词汇）③举一个具体记忆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参考答案框架：
D: Without a doubt, [科目] was my favourite.
R: I was drawn to it because [理由1] and [理由2].
E: I still remember when our teacher [具体例子] — that really sparked my passion for the subject.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注意：without a doubt / I was drawn to / sparked my passion——这三个表达比very much/like/interesting强很多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8C1D"/>
                </a:solidFill>
                <a:latin typeface="Calibri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高频话题：生活与爱好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High-Frequency Topics: Lifestyle &amp; Hobbies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城市与地点（City/Place）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A33607"/>
                </a:solidFill>
                <a:latin typeface="Calibri"/>
              </a:rPr>
              <a:t>深圳考生的主场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33607"/>
                </a:solidFill>
              </a:rPr>
              <a:t>• 必答问题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Do you like the city you live in? / What do you like about living there?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深圳素材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经济发展快/科技创新/天气好/深南大道/南山/沙滩/餐厅多样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核心词汇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vibrant/dynamic/cosmopolitan/fast-paced/infrastructure/diversity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扩展方向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城市优缺点/与家乡对比/城市未来/居住区特色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句式模板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What I love about Shenzhen is that it has a real energy to it — everything feels like it's constantly evolving.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爱好与休闲（Hobbies/Free Time）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A33607"/>
                </a:solidFill>
                <a:latin typeface="Calibri"/>
              </a:rPr>
              <a:t>深圳学生高频话题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33607"/>
                </a:solidFill>
              </a:rPr>
              <a:t>• 必答问题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What do you do in your free time? / Do you have any hobbies?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扩展方向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何时开始/为什么喜欢/花多少时间/与他人对比/未来计划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核心词汇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unwind/de-stress/absorbing/passionate about/dedicate time to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深圳素材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电竞/科技/健身/徒步（梧桐山）/粤菜美食/深圳湾公园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陷阱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只说"I like reading"就停——继续：I particularly enjoy...because...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爱好话题完整答题示例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A33607"/>
                </a:solidFill>
              </a:rPr>
              <a:t>• 题目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Q: What do you enjoy doing in your free time?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D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Mainly, I like going for hikes in the hills around Shenzhen.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R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It's a great way to decompress after a busy week — there's something about being in nature that helps me clear my mind.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E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Last Saturday, I hiked up Wutong Mountain with a couple of friends, and the view from the top was absolutely breathtaking.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词汇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decompress/clear my mind/breathtaking——三个替换good/nice/beautiful的词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细节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具体地点（Wutong Mountain）+具体时间（last Saturday）+具体人（friends）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城市话题扩展：深圳角度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A33607"/>
                </a:solidFill>
              </a:rPr>
              <a:t>• 正面角度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fast-paced/innovative/exciting/full of opportunities — great for young people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平衡角度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It can get overwhelming sometimes — the traffic and cost of living — but overall I genuinely enjoy city life here.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对比角度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Compared to where I grew up in [地方], Shenzhen feels like a completely different world.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未来角度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I'd love to stay here long-term — there's still so much of the city I haven't explored.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词汇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overwhelming/genuinely/long-term/explore——避免"very good, I like it"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城市话题练习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计时45秒回答：
"What do you like most about the city you live in?"
要求：
① 说出一个具体特点（不是"it's good"）
② 解释为什么喜欢（用形容词/名词搭配）
③ 举一个亲身经历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D: What I love most about Shenzhen is the sheer diversity of experiences it offers.
R: On one hand, there's the bustling tech scene and economic opportunities; on the other, you've got beautiful coastal parks and hiking trails just minutes from downtown.
E: Just last month, I went from a product launch event in Nanshan to a sunset run along the Shenzhen Bay coastal greenway — that kind of variety is hard to find anywhere else.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注意：sheer diversity / bustling tech scene / coastal greenway——这些词比"a lot of things"丰富很多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爱好话题练习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计时45秒回答：
"Is there a new hobby you would like to try in the future?"
要求：
① 说出想尝试的爱好 ② 给出原因（why it appeals to you）③ 说明什么阻碍你还没开始（一个诚实的理由）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D: I've been thinking about taking up photography for quite a while now.
R: I'm drawn to it because Shenzhen has such incredible visual contrasts — the gleaming skyscrapers against the old fishing village buildings in Shekou.
C: The main thing holding me back is the cost of a decent camera, but I'm planning to start with my phone first.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加分点：I've been thinking about（现在完成进行时）+ I'm drawn to（被动表达偏好）+ The main thing holding me back（用复杂短语替代but/because）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8C1D"/>
                </a:solidFill>
                <a:latin typeface="Calibri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填充语系统与流利度管理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Filler Systems &amp; Fluency Management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填充语的正确使用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A33607"/>
                </a:solidFill>
                <a:latin typeface="Calibri"/>
              </a:rPr>
              <a:t>用自然填充语替代"um/uh"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33607"/>
                </a:solidFill>
              </a:rPr>
              <a:t>• 功能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为自己争取思考时间，同时保持语流自然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一级填充语（思考中）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Well... / Let me think... / That's an interesting question...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二级填充语（组织观点中）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Actually... / To be honest... / I suppose...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三级填充语（举例前）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For instance... / Like... / Such as...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禁忌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避免连续用"um, um, um"——这是CC分杀手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练习方法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把"um"替换成"well"——先从这一个改变开始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连接词：让答案有逻辑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A33607"/>
                </a:solidFill>
                <a:latin typeface="Calibri"/>
              </a:rPr>
              <a:t>Discourse Markers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33607"/>
                </a:solidFill>
              </a:rPr>
              <a:t>• 添加信息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Besides that / On top of that / Not only that / What's more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转折对比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That said / Even so / Having said that / On the other hand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举例引入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For instance / Such as / Take [X] for example / A case in point is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总结收尾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Overall / In general / All in all / When I think about it...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A33607"/>
                </a:solidFill>
              </a:rPr>
              <a:t>• 深圳学生问题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多用and+and+and，少用转折和对比——GRA和CC都受影响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填充语练习方法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A33607"/>
                </a:solidFill>
              </a:rPr>
              <a:t>• Step 1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把"um"替换成"Well,"——专注这一个改变，其他不变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Step 2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在答案开头先停1秒（不出声），再说"Well..."——给大脑时间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Step 3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准备3个Part 3时间争取句："That's an interesting point..."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录音检查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录音回放时，数"um/uh"出现几次，目标：减少到3次以下/分钟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自然度检查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填充语不要说得太正式——"Well"&gt;"Certainly, that is a question I find...（太刻意）"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连接词使用进阶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A33607"/>
                </a:solidFill>
              </a:rPr>
              <a:t>• 初级错误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I like it and it is good and I always do it on weekends and...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进阶表达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I genuinely enjoy it, mainly because... What's more, it gives me...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对比升级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I like outdoor activities. But I also like staying home.（弱）→That said, I do enjoy a quiet evening in as well.（强）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举例升级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For example, I read.（弱）→For instance, I recently finished a fascinating book about...（强）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总结升级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In a word, I like it.（弱）→All in all, it's become a really important part of my routine.（强）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填充语实战训练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以下题目在回答前先停顿2秒，然后用一个自然的填充语开头：
"What kind of music do you enjoy?"
"Did you use to have any hobbies as a child that you've given up?"
"Do you think people in your country are becoming more health-conscious?"
每个填充语只用一次（第1题用Well/第2题用Actually/第3题用To be honest）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参考开头：
①Well, I'd say I have quite varied tastes actually...
②Actually, now that you mention it, I used to be really into...
③To be honest, I think there's definitely a growing awareness about health in Shenzhen...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填充语后立刻接内容——不要"Well... um... I think... um... it's..."连续多个填充语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答案完整性检查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用以下5个问题检查你的答案是否完整：
① 我直接回答了问题吗？（D）
② 我给了至少一个原因吗？（R）
③ 我举了一个具体例子吗？（E）
④ 我用了话题词汇吗？（不是good/nice/like）
⑤ 我说了至少30秒吗？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5个全是Yes = 完整答案（目标）
3-4个Yes = 良好但可提升
少于3个Yes = 需要用DRE框架重新组织答案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这5个问题在考场也适用：每答完一题，内心快速过一遍这5个检查点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8C1D"/>
                </a:solidFill>
                <a:latin typeface="Calibri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Part 1 核心词汇表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Part 1 Core Vocabulary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工作与学习话题词汇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demanding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要求高的/繁重的（a demanding job/course）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rewarding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有成就感的（it's a rewarding experience）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stimulating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刺激思维的（intellectually stimulating）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collaborative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需要合作的（collaborative environment）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passionate about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对...充满热情（I'm passionate about design）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career prospects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职业前景（the career prospects are excellent）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hands-on experience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实操经验（I gained hands-on experience in...）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城市与生活话题词汇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vibrant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充满活力的（a vibrant city/neighborhood）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cosmopolitan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国际化的（a cosmopolitan atmosphere）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fast-paced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节奏快的（the fast-paced lifestyle in Shenzhen）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基础设施（excellent transport infrastructure）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multicultural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多元文化的（a multicultural environment）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decompress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放松/减压（hiking helps me decompress）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unwind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放松（I need time to unwind after work）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高频DRE框架表达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mainly because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主要是因为（替换because，听起来更自然）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what I love about it 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我喜欢它的是（引出具体的R）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for instance / take X for 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例如（引出E的最佳表达）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to be specific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具体来说（让例子更精确）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I suppose / I'd say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我想说（比I think更自然的表达方式）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that said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话虽如此（引出转折，让答案更有深度）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3607"/>
                </a:solidFill>
                <a:latin typeface="Calibri"/>
              </a:rPr>
              <a:t>it's kind of hard to explain but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有点难解释但——给大脑争取时间的自然填充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Part 1 高频问题与DRE框架速查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工作/学习类（第一话题）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A33607"/>
                </a:solidFill>
              </a:rPr>
              <a:t>• What do you do?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D: I work as... / I'm studying... at...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A33607"/>
                </a:solidFill>
              </a:rPr>
              <a:t>• Do you enjoy it?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D: Yes, mostly / It's quite challenging but...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A33607"/>
                </a:solidFill>
              </a:rPr>
              <a:t>• Is it popular?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D: Fairly / More and more people...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A33607"/>
                </a:solidFill>
              </a:rPr>
              <a:t>• Did you always want to do this?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D: Not exactly / Actually, I sort of fell into it...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79" y="1188720"/>
            <a:ext cx="5486400" cy="45720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生活爱好类（第二/三话题）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19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A33607"/>
                </a:solidFill>
              </a:rPr>
              <a:t>• Do you have a hobby?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D: Yes, I've been really into [X] lately...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A33607"/>
                </a:solidFill>
              </a:rPr>
              <a:t>• Do you prefer X or Y?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D: I'd lean towards X, mainly because...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A33607"/>
                </a:solidFill>
              </a:rPr>
              <a:t>• Did you do X as a child?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D: Actually, yes / Not really, but I remember...</a:t>
            </a:r>
          </a:p>
          <a:p>
            <a:pPr>
              <a:spcBef>
                <a:spcPts val="700"/>
              </a:spcBef>
            </a:pPr>
            <a:r>
              <a:rPr sz="1650" b="1">
                <a:solidFill>
                  <a:srgbClr val="A33607"/>
                </a:solidFill>
              </a:rPr>
              <a:t>• How often do you X?</a:t>
            </a:r>
          </a:p>
          <a:p>
            <a:pPr>
              <a:spcBef>
                <a:spcPts val="100"/>
              </a:spcBef>
            </a:pPr>
            <a:r>
              <a:rPr sz="1350">
                <a:solidFill>
                  <a:srgbClr val="556075"/>
                </a:solidFill>
              </a:rPr>
              <a:t>   D: Fairly regularly / About once a week, usually...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8C1D"/>
                </a:solidFill>
                <a:latin typeface="Calibri"/>
              </a:rPr>
              <a:t>PART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Part 1 答题系统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Part 1 Answer System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方法步骤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Step 1-3：预题与激活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640080" cy="640080"/>
          </a:xfrm>
          <a:prstGeom prst="round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38528"/>
            <a:ext cx="45720" cy="393191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80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A33607"/>
                </a:solidFill>
                <a:latin typeface="Calibri"/>
              </a:rPr>
              <a:t>考前准备话题词汇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4591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Part 1约12个话题，每个话题准备10个词，考前30分钟温习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640080" cy="640080"/>
          </a:xfrm>
          <a:prstGeom prst="round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8658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990087"/>
            <a:ext cx="45720" cy="393191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3317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A33607"/>
                </a:solidFill>
                <a:latin typeface="Calibri"/>
              </a:rPr>
              <a:t>进场激活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69747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候考时在心里用英语描述周围场景——激活口语频道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79"/>
            <a:ext cx="640080" cy="640080"/>
          </a:xfrm>
          <a:prstGeom prst="round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3814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38327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A33607"/>
                </a:solidFill>
                <a:latin typeface="Calibri"/>
              </a:rPr>
              <a:t>第一题不紧张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4903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Part 1第一题考官会问固定的工作/学习话题——这是最熟悉的话题，先稳住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方法步骤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Step 4-6：答题执行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640080" cy="640080"/>
          </a:xfrm>
          <a:prstGeom prst="round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38528"/>
            <a:ext cx="45720" cy="393191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80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A33607"/>
                </a:solidFill>
                <a:latin typeface="Calibri"/>
              </a:rPr>
              <a:t>听完问题先停0.5秒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4591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大脑整理DRE框架，不要听到问题立刻说——0.5秒准备比立刻说效果好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640080" cy="640080"/>
          </a:xfrm>
          <a:prstGeom prst="round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8658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990087"/>
            <a:ext cx="45720" cy="393191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3317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A33607"/>
                </a:solidFill>
                <a:latin typeface="Calibri"/>
              </a:rPr>
              <a:t>D用填充语开头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69747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Well, / To be honest, / Actually, ——第一个词决定流利感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79"/>
            <a:ext cx="640080" cy="640080"/>
          </a:xfrm>
          <a:prstGeom prst="round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3814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38327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A33607"/>
                </a:solidFill>
                <a:latin typeface="Calibri"/>
              </a:rPr>
              <a:t>E必须有具体时间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4903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last week / recently / a few months ago ——让例子听起来真实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方法步骤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Step 7-8：流量控制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640080" cy="640080"/>
          </a:xfrm>
          <a:prstGeom prst="round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38528"/>
            <a:ext cx="45720" cy="393191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80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A33607"/>
                </a:solidFill>
                <a:latin typeface="Calibri"/>
              </a:rPr>
              <a:t>说到40秒就收尾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4591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Part 1每题目标30-45秒——说到40秒用"Overall..."收尾，不要继续拖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640080" cy="640080"/>
          </a:xfrm>
          <a:prstGeom prst="round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8658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3317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A33607"/>
                </a:solidFill>
                <a:latin typeface="Calibri"/>
              </a:rPr>
              <a:t>准备收尾句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69747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...so that's why I really enjoy it. / All in all, it's been a really positive experience.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高分范例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Band 7 Part 1完整示范：工作话题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题目：Q: What do you do for work?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I'm a product manager for a tech company based in Shenzhen's Nanshan district. It's quite a demanding role — I spend most of my time coordinating between the engineering and design teams, which can get hectic, but I genuinely enjoy the challenge. What I love most is that every day brings something different. For instance, just this week I had to present our Q3 roadmap to the board, which was nerve-wracking but ultimately very rewarding when they approved it. Overall, I'd say it's the kind of job that keeps you on your toes, which suits me perfectly.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28C1D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词汇亮点：demanding/coordinating/hectic/nerve-wracking/rewarding/on your toes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语法：which从句×2 / that从句 / when从句——GRA多样性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结构：D(I'm a PM) + R(demanding but enjoy) + E(this week) + 收尾(Overall...)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高分范例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Band 7 Part 1完整示范：爱好话题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题目：Q: What do you like to do in your spare time?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Well, I'd say my main thing these days is cycling. I got into it about a year ago, initially just as a way to get some exercise, but I've become genuinely passionate about it. What I love about it is the freedom — you can explore parts of the city you'd never see on foot or by metro. Last weekend, for instance, I cycled all the way along the coastal greenway to Shekou, and the views were stunning. I try to go out most weekends, though sometimes work gets in the 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28C1D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填充语示范：Well, / for instance / though——三种不同功能的填充词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词汇：passionate about/freedom/explore/stunning——替换like/good/nice/interesting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GRA：that从句/you'd never（虚拟）/though让步从句——展示语法范围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对比示范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答案长度：太短 vs 太长 vs 刚好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❌ 太短（&lt;20秒）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486400" cy="45720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刚好（30-45秒）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5486400" cy="448056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486400" cy="448056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02A2A"/>
                </a:solidFill>
              </a:rPr>
              <a:t>✗ "Yes, I enjoy cooking."（就这一句）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"I like working. It's good."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答完一句停住，等考官追问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没有R或E，只有D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考官感觉考生词穷/不流利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B7A3D"/>
                </a:solidFill>
              </a:rPr>
              <a:t>✓ "Yes, cooking is something I genuinely enjoy. Mainly because... For instance last week..."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D+R+E完整，约40秒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自然结束，不需要考官追问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展示LR词汇和GRA句式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考官感觉考生流利、有内容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对比示范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填充语：um/uh vs 自然填充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❌ 低分填充语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486400" cy="45720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高分填充语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5486400" cy="448056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486400" cy="448056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02A2A"/>
                </a:solidFill>
              </a:rPr>
              <a:t>✗ "Um... I... um... like... um... cooking?"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每句之间有3秒以上沉默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重复"I think, I think, I think"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"That's a good question." 连用3次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明显在背模板的停顿节奏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B7A3D"/>
                </a:solidFill>
              </a:rPr>
              <a:t>✓ "Well, I'd say cooking is something I genuinely enjoy."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Well/Actually/To be honest开头，自然思考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I suppose... / I'd say... / What I mean is...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"That's an interesting one." 只在Part 3偶用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填充语后立刻接内容，不让停顿延伸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8C1D"/>
                </a:solidFill>
                <a:latin typeface="Calibri"/>
              </a:rPr>
              <a:t>PART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课堂练习：Part 1 即时训练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Classroom Drills: Part 1 Practice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练习1：DRE框架速成（5题）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每题30秒，按D-R-E顺序回答，不要停下来思考超过2秒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"Do you enjoy reading books?"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"What kind of food do you like?"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"Are you good at cooking?"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"Do you prefer the morning or the evening?"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"Is music important to you?"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练习2：词汇替换训练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把以下答案中的简单词替换成更丰富的词汇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"I like it because it's good for me."（替换like/good）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"My job is very busy and sometimes hard."（替换very busy/hard）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"Shenzhen is a nice city with a lot of things to do."（替换nice/a lot of things）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"I enjoy reading because it is interesting."（替换enjoy/interesting）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练习3：填充语替换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以下句子开头含"Um"，用自然的填充语替换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"Um... I like outdoor activities."（→Well, I'd say...）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"Um... it's... um... hard to say."（→That's an interesting one. I suppose...）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"I think... um... I prefer coffee."（→To be honest, I'd lean towards coffee...）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练习4：计时答题（Part 1真题）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以下题目，计时回答，目标30-45秒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"What kind of clothes do you usually wear?"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"Do you enjoy watching sports?"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"How do you usually travel to work or school?"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"Did you use to have a pet when you were a child?"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练习5：互相评分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两人一组：一人答，一人用四维评分表评分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"Tell me about a typical day for you."（评分CC：停顿几次？）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同时评分LR：有话题词汇吗？有没有重复用词？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同时评分GRA：有几种句式？时态正确吗？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给出一个改进建议：对方最需要改进的一个维度是？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8C1D"/>
                </a:solidFill>
                <a:latin typeface="Calibri"/>
              </a:rPr>
              <a:t>PART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Part 1 常见误区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Part 1 Common Pitfalls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A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🎯 深圳学生高频痛点 · Part 1的三大误区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2A2A"/>
                </a:solidFill>
                <a:latin typeface="Calibri"/>
              </a:rPr>
              <a:t>❌ 常见误区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02A2A"/>
                </a:solidFill>
              </a:rPr>
              <a:t>✗ 误区1：答案模板化——说的第一句话是"I think this is a very interesting question"，考官听了100次了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误区2：答案背稿感——整段像在背诵，语速/停顿不自然，连接词在奇怪的位置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误区3：例子太虚——"For example, sometimes I go hiking"，没有时间/地点/结果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192" y="1097280"/>
            <a:ext cx="36576" cy="521208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7A3D"/>
                </a:solidFill>
                <a:latin typeface="Calibri"/>
              </a:rPr>
              <a:t>✅ 正确做法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✓ 替代模板：学"开头词"而非"整段话"——Well/Actually/To be honest三个词足以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自然感训练：把准备好的内容用"自言自语"方式说出，不要有背稿的节奏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具体化例子：每个例子必须有：时间（last week）+地点/人物+结果/感受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Part 1答案的黄金比例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A33607"/>
                </a:solidFill>
              </a:rPr>
              <a:t>• D（直接回答）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约10%时间——1句话，简洁直接，不铺垫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R（理由）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约40%时间——1-2句话，这里展示词汇和句式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E（例子）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约40%时间——具体时间+细节+结果/感受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收尾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约10%时间——Overall/All in all收尾，显示逻辑完整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深圳学生注意：40-40比例：R和E同等重要，不能只有R没有E，也不能例子太长淹没了理由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深圳学生Part 1特别建议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A33607"/>
                </a:solidFill>
              </a:rPr>
              <a:t>• 用深圳素材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Shenzhen/Nanshan/Shekou/Wutong Mountain——真实地点让答案独一无二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用科技素材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tech startup/product launch/app development——深圳学生真实经验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用广东美食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dim sum/Cantonese cuisine/hotpot——比说"Chinese food"更有趣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避免过度谦虚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不要说"My English is not very good but..."——直接答题，考官评分不受此影响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A33607"/>
                </a:solidFill>
              </a:rPr>
              <a:t>• 节奏控制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深圳学生容易说太快——稍微放慢语速，让每个词都清楚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深圳学生注意：用真实经历&gt;虚构完美答案——考官喜欢听真实的，哪怕有语法错误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Part 1 即时应急包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词穷时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使用解释法：I'm not sure of the exact word, but I mean the kind of thing where...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答案太短时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加细节：When exactly? / Who was with you? / How did you feel?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6512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6512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956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没听懂问题时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36804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Sorry, could you rephrase that? / Do you mean...?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86512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86512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2956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话题不熟悉时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36804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对不熟悉话题也能答：I don't have much experience with X, but I know that...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95800"/>
            <a:ext cx="5486400" cy="14020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495800"/>
            <a:ext cx="109728" cy="140208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5872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忘词了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99872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用已知词替代：It's like a big... / it's similar to...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DRE框架快速启动词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46304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146304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D直接回答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Yes, definitely / Not really / I'd say... / Well, it depends but generally...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146304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146304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R理由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Mainly because / What I love about it is / The thing is / It's largely due 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5486400" cy="146304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109728" cy="146304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E例子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For instance / Just last week / Take last month for example / I remember once...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926080"/>
            <a:ext cx="5486400" cy="146304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926080"/>
            <a:ext cx="109728" cy="146304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33607"/>
                </a:solidFill>
                <a:latin typeface="Calibri"/>
              </a:rPr>
              <a:t>收尾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All in all / So yes, overall / That's pretty much it / I suppose that sums it up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自检清单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L02课后自检清单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E293B"/>
                </a:solidFill>
              </a:rPr>
              <a:t>☐ 用DRE框架回答20道Part 1题目，每题录音并评估是否达到30秒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建立5个核心话题的词汇表：各10个话题词（不是good/nice/like类的词）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把答案中所有"um/uh"替换成Well/Actually/To be honest——专注这一项改变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L02 课堂小结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28C1D"/>
                </a:solidFill>
                <a:latin typeface="Calibri"/>
              </a:rPr>
              <a:t>📌 本课核心要点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>
                <a:solidFill>
                  <a:srgbClr val="FFFFFF"/>
                </a:solidFill>
              </a:rPr>
              <a:t>✓  DRE框架：Direct（直接答）+ Reason（给理由）+ Example（举例子）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目标长度：30-45秒，约60-80词——不短不长，展示能力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话题词汇：demanding/rewarding/vibrant/decompress——替换good/nice/like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填充语：Well/Actually/To be honest——替换um/uh，保持语流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核心原则：具体细节（last week/具体地点/具体人）&gt;空泛描述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3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28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28C1D"/>
                </a:solidFill>
                <a:latin typeface="Calibri"/>
              </a:rPr>
              <a:t>练习巩固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L02 课后作业  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Speaking · 深圳提分课程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28C1D"/>
                </a:solidFill>
                <a:latin typeface="Calibri"/>
              </a:rPr>
              <a:t>⏱ 建议用时：约60分钟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1E293B"/>
                </a:solidFill>
              </a:rPr>
              <a:t>作业 1　每天用DRE框架回答5道Part 1题目（录音），连续7天</a:t>
            </a:r>
          </a:p>
          <a:p>
            <a:pPr>
              <a:spcBef>
                <a:spcPts val="1300"/>
              </a:spcBef>
            </a:pPr>
            <a:r>
              <a:rPr sz="1550" b="1">
                <a:solidFill>
                  <a:srgbClr val="1E293B"/>
                </a:solidFill>
              </a:rPr>
              <a:t>作业 2　建立个人Part 1话题词汇本：10个话题×10个词=100个激活词汇</a:t>
            </a:r>
          </a:p>
          <a:p>
            <a:pPr>
              <a:spcBef>
                <a:spcPts val="1300"/>
              </a:spcBef>
            </a:pPr>
            <a:r>
              <a:rPr sz="1550" b="1">
                <a:solidFill>
                  <a:srgbClr val="1E293B"/>
                </a:solidFill>
              </a:rPr>
              <a:t>作业 3　找一个练习伙伴，用Part 1真题相互采访并给反馈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28C1D"/>
                </a:solidFill>
                <a:latin typeface="Calibri"/>
              </a:rPr>
              <a:t>下节预告 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L03 · Part 2 独白：人物与地点类卡片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FDCF2"/>
                </a:solidFill>
              </a:rPr>
              <a:t>→ Cue Card结构：1分钟准备+2分钟发言——时间管理是关键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FDCF2"/>
                </a:solidFill>
              </a:rPr>
              <a:t>→ 人物类卡片攻略：4个提示点全覆盖，说满2分钟的技巧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FDCF2"/>
                </a:solidFill>
              </a:rPr>
              <a:t>→ 地点类卡片攻略：感官细节描写让答案生动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