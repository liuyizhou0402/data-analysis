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Data Cleaning &amp;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Garbage in, garbage out. How to turn a messy nutrition survey into a trustworthy, analysis-ready data matrix — reproducibly.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Why cleaning dominates real projects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Tidy data and variable types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Missing data: mechanisms and remedies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Outliers and robust sanity checks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Transformations: scaling, logs, encoding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reproducible cleaning pipeline in 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Data leakage — the silent killer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cleaning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Real data is never tidy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Surveys and lab instruments produce </a:t>
            </a:r>
            <a:r>
              <a:rPr sz="2000" b="1">
                <a:solidFill>
                  <a:srgbClr val="1B2430"/>
                </a:solidFill>
                <a:latin typeface="Calibri"/>
              </a:rPr>
              <a:t>typos, impossible values, mixed units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Duplicate rows</a:t>
            </a:r>
            <a:r>
              <a:rPr sz="2000" b="0">
                <a:solidFill>
                  <a:srgbClr val="1B2430"/>
                </a:solidFill>
                <a:latin typeface="Calibri"/>
              </a:rPr>
              <a:t>, free text where numbers belong, and gaps everywhere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Data scientists routinely spend </a:t>
            </a:r>
            <a:r>
              <a:rPr sz="2000" b="1">
                <a:solidFill>
                  <a:srgbClr val="1B2430"/>
                </a:solidFill>
                <a:latin typeface="Calibri"/>
              </a:rPr>
              <a:t>~80% of their time</a:t>
            </a:r>
            <a:r>
              <a:rPr sz="2000" b="0">
                <a:solidFill>
                  <a:srgbClr val="1B2430"/>
                </a:solidFill>
                <a:latin typeface="Calibri"/>
              </a:rPr>
              <a:t> cleaning and preparing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It is unglamorous — but a brilliant model on dirty data is </a:t>
            </a:r>
            <a:r>
              <a:rPr sz="2000" b="1">
                <a:solidFill>
                  <a:srgbClr val="1B2430"/>
                </a:solidFill>
                <a:latin typeface="Calibri"/>
              </a:rPr>
              <a:t>worthless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Two commitments before you touch the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Tidy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Each </a:t>
            </a:r>
            <a:r>
              <a:rPr sz="1600" b="1">
                <a:solidFill>
                  <a:srgbClr val="1B2430"/>
                </a:solidFill>
                <a:latin typeface="Calibri"/>
              </a:rPr>
              <a:t>row</a:t>
            </a:r>
            <a:r>
              <a:rPr sz="1600" b="0">
                <a:solidFill>
                  <a:srgbClr val="1B2430"/>
                </a:solidFill>
                <a:latin typeface="Calibri"/>
              </a:rPr>
              <a:t> = one observation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Each </a:t>
            </a:r>
            <a:r>
              <a:rPr sz="1600" b="1">
                <a:solidFill>
                  <a:srgbClr val="1B2430"/>
                </a:solidFill>
                <a:latin typeface="Calibri"/>
              </a:rPr>
              <a:t>column</a:t>
            </a:r>
            <a:r>
              <a:rPr sz="1600" b="0">
                <a:solidFill>
                  <a:srgbClr val="1B2430"/>
                </a:solidFill>
                <a:latin typeface="Calibri"/>
              </a:rPr>
              <a:t> = one variable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Each </a:t>
            </a:r>
            <a:r>
              <a:rPr sz="1600" b="1">
                <a:solidFill>
                  <a:srgbClr val="1B2430"/>
                </a:solidFill>
                <a:latin typeface="Calibri"/>
              </a:rPr>
              <a:t>cell</a:t>
            </a:r>
            <a:r>
              <a:rPr sz="1600" b="0">
                <a:solidFill>
                  <a:srgbClr val="1B2430"/>
                </a:solidFill>
                <a:latin typeface="Calibri"/>
              </a:rPr>
              <a:t> = one value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This shape makes every downstream tool 'just work'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Never</a:t>
            </a:r>
            <a:r>
              <a:rPr sz="1600" b="0">
                <a:solidFill>
                  <a:srgbClr val="1B2430"/>
                </a:solidFill>
                <a:latin typeface="Calibri"/>
              </a:rPr>
              <a:t> edit the raw file by hand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Every fix lives in a </a:t>
            </a:r>
            <a:r>
              <a:rPr sz="1600" b="1">
                <a:solidFill>
                  <a:srgbClr val="1B2430"/>
                </a:solidFill>
                <a:latin typeface="Calibri"/>
              </a:rPr>
              <a:t>script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So it can be re-run, reviewed and trusted (GQ4)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Keep raw data </a:t>
            </a:r>
            <a:r>
              <a:rPr sz="1600" b="1">
                <a:solidFill>
                  <a:srgbClr val="1B2430"/>
                </a:solidFill>
                <a:latin typeface="Calibri"/>
              </a:rPr>
              <a:t>read-only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Know your variable types — they dictate the treatment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91840"/>
                <a:gridCol w="420624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Typical handling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Continuous numeric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energy (kJ), BMI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scale, maybe log-transform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servings of veg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often log(x+1)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Nominal categorical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sex, food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factor → dummy variables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Ordinal categorical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Likert 1–5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ordered factor / integer score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Date /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survey 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parse to Date, derive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'other, please specify'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recode or set aside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Missing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DIAGNOSE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Visualise the pattern of missingness</a:t>
            </a:r>
          </a:p>
        </p:txBody>
      </p:sp>
      <p:pic>
        <p:nvPicPr>
          <p:cNvPr id="6" name="Picture 5" descr="L02_missing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78691"/>
            <a:ext cx="6858000" cy="34321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A7D"/>
                </a:solidFill>
                <a:latin typeface="Calibri"/>
              </a:rPr>
              <a:t>A missing-data map. Variable V5 has a structured block (skip-logic?), while others are scattered — the pattern is a clue to the mechanism.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29000" cy="4343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6F97"/>
                </a:solidFill>
                <a:latin typeface="Calibri"/>
              </a:rPr>
              <a:t>Always start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24231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1">
                <a:solidFill>
                  <a:srgbClr val="1B2430"/>
                </a:solidFill>
                <a:latin typeface="Calibri"/>
              </a:rPr>
              <a:t>Count</a:t>
            </a:r>
            <a:r>
              <a:rPr sz="1500" b="0">
                <a:solidFill>
                  <a:srgbClr val="1B2430"/>
                </a:solidFill>
                <a:latin typeface="Calibri"/>
              </a:rPr>
              <a:t> missing per variable and per row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1">
                <a:solidFill>
                  <a:srgbClr val="1B2430"/>
                </a:solidFill>
                <a:latin typeface="Calibri"/>
              </a:rPr>
              <a:t>Look</a:t>
            </a:r>
            <a:r>
              <a:rPr sz="1500" b="0">
                <a:solidFill>
                  <a:srgbClr val="1B2430"/>
                </a:solidFill>
                <a:latin typeface="Calibri"/>
              </a:rPr>
              <a:t> for blocks and stripes — they reveal structure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Structured missingness is often </a:t>
            </a:r>
            <a:r>
              <a:rPr sz="1500" b="1">
                <a:solidFill>
                  <a:srgbClr val="1B2430"/>
                </a:solidFill>
                <a:latin typeface="Calibri"/>
              </a:rPr>
              <a:t>informative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Tools: `naniar::vis_miss()`, `visdat::vis_dat()`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is it missing? Rubin's three mechanisms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MCAR / 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MCAR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missing completely at random; benign but rare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MAR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missingness depends on </a:t>
            </a:r>
            <a:r>
              <a:rPr sz="1600" b="1">
                <a:solidFill>
                  <a:srgbClr val="1B2430"/>
                </a:solidFill>
                <a:latin typeface="Calibri"/>
              </a:rPr>
              <a:t>observed</a:t>
            </a:r>
            <a:r>
              <a:rPr sz="1600" b="0">
                <a:solidFill>
                  <a:srgbClr val="1B2430"/>
                </a:solidFill>
                <a:latin typeface="Calibri"/>
              </a:rPr>
              <a:t> variables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MAR is handleable by conditioning on what you see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MNAR — the dangerous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Missingness depends on the </a:t>
            </a:r>
            <a:r>
              <a:rPr sz="1600" b="1">
                <a:solidFill>
                  <a:srgbClr val="1B2430"/>
                </a:solidFill>
                <a:latin typeface="Calibri"/>
              </a:rPr>
              <a:t>unobserved value itself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e.g. heavy eaters under-report intake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Cannot be fixed by imputation alone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Must be reasoned about with domain experts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REMEDIES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to do about missing values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474720"/>
                <a:gridCol w="347472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When appropriate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Complete-case (drop rows)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few missing, MCAR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bias + lost power if not MCAR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Mean / median imputation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quick baseline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shrinks variance, distorts correlation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kNN / model-based imputation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needs care, can leak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Multiple imputation (`mice`)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principled inference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more complex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2976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2976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3708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Golden rule: </a:t>
            </a:r>
            <a:r>
              <a:rPr sz="1500" b="1">
                <a:solidFill>
                  <a:srgbClr val="1B2430"/>
                </a:solidFill>
                <a:latin typeface="Calibri"/>
              </a:rPr>
              <a:t>fit imputation on the training data only</a:t>
            </a:r>
            <a:r>
              <a:rPr sz="1500" b="0">
                <a:solidFill>
                  <a:srgbClr val="1B2430"/>
                </a:solidFill>
                <a:latin typeface="Calibri"/>
              </a:rPr>
              <a:t>, then apply the same rule to test data — otherwise you leak information.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Exploring and imputing missingness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4187952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3913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library(naniar); library(mice)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1. See it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vis_miss(diet)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gg_miss_var(diet)          # missing count per variable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2. Simple median imputation (baseline)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diet &lt;- diet %&gt;% mutate(fibre = ifelse(is.na(fibre),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                                      median(fibre, na.rm = TRUE), fibre))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3. Principled: multiple imputation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imp &lt;- mice(diet, m = 5, method = 'pmm', seed = 1)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Outliers &amp;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Boxplots and the IQR rule</a:t>
            </a:r>
          </a:p>
        </p:txBody>
      </p:sp>
      <p:pic>
        <p:nvPicPr>
          <p:cNvPr id="6" name="Picture 5" descr="L02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3592"/>
            <a:ext cx="6858000" cy="412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A7D"/>
                </a:solidFill>
                <a:latin typeface="Calibri"/>
              </a:rPr>
              <a:t>The 1.5×IQR rule flags points far from the middle 50%. Robust to the very outliers it is trying to find.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29000" cy="4343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6F97"/>
                </a:solidFill>
                <a:latin typeface="Calibri"/>
              </a:rPr>
              <a:t>Robust 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24231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Use </a:t>
            </a:r>
            <a:r>
              <a:rPr sz="1500" b="1">
                <a:solidFill>
                  <a:srgbClr val="1B2430"/>
                </a:solidFill>
                <a:latin typeface="Calibri"/>
              </a:rPr>
              <a:t>median &amp; IQR</a:t>
            </a:r>
            <a:r>
              <a:rPr sz="1500" b="0">
                <a:solidFill>
                  <a:srgbClr val="1B2430"/>
                </a:solidFill>
                <a:latin typeface="Calibri"/>
              </a:rPr>
              <a:t>, not mean &amp; SD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The mean is itself </a:t>
            </a:r>
            <a:r>
              <a:rPr sz="1500" b="1">
                <a:solidFill>
                  <a:srgbClr val="1B2430"/>
                </a:solidFill>
                <a:latin typeface="Calibri"/>
              </a:rPr>
              <a:t>dragged</a:t>
            </a:r>
            <a:r>
              <a:rPr sz="1500" b="0">
                <a:solidFill>
                  <a:srgbClr val="1B2430"/>
                </a:solidFill>
                <a:latin typeface="Calibri"/>
              </a:rPr>
              <a:t> by outliers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1">
                <a:solidFill>
                  <a:srgbClr val="1B2430"/>
                </a:solidFill>
                <a:latin typeface="Calibri"/>
              </a:rPr>
              <a:t>MAD</a:t>
            </a:r>
            <a:r>
              <a:rPr sz="1500" b="0">
                <a:solidFill>
                  <a:srgbClr val="1B2430"/>
                </a:solidFill>
                <a:latin typeface="Calibri"/>
              </a:rPr>
              <a:t> (median abs. deviation) is a robust spread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Then </a:t>
            </a:r>
            <a:r>
              <a:rPr sz="1500" b="1">
                <a:solidFill>
                  <a:srgbClr val="1B2430"/>
                </a:solidFill>
                <a:latin typeface="Calibri"/>
              </a:rPr>
              <a:t>investigate</a:t>
            </a:r>
            <a:r>
              <a:rPr sz="1500" b="0">
                <a:solidFill>
                  <a:srgbClr val="1B2430"/>
                </a:solidFill>
                <a:latin typeface="Calibri"/>
              </a:rPr>
              <a:t> — don't blindly delete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An outlier is not automatically an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Range checks</a:t>
            </a:r>
            <a:r>
              <a:rPr sz="2000" b="0">
                <a:solidFill>
                  <a:srgbClr val="1B2430"/>
                </a:solidFill>
                <a:latin typeface="Calibri"/>
              </a:rPr>
              <a:t>: energy of 80,000 kJ/day? age of 200? negative weight? → flag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Logic checks</a:t>
            </a:r>
            <a:r>
              <a:rPr sz="2000" b="0">
                <a:solidFill>
                  <a:srgbClr val="1B2430"/>
                </a:solidFill>
                <a:latin typeface="Calibri"/>
              </a:rPr>
              <a:t>: pregnant + male? end date before start date? → flag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genuine extreme may be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most interesting participant</a:t>
            </a:r>
            <a:r>
              <a:rPr sz="2000" b="0">
                <a:solidFill>
                  <a:srgbClr val="1B2430"/>
                </a:solidFill>
                <a:latin typeface="Calibri"/>
              </a:rPr>
              <a:t> in the study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Document</a:t>
            </a:r>
            <a:r>
              <a:rPr sz="2000" b="0">
                <a:solidFill>
                  <a:srgbClr val="1B2430"/>
                </a:solidFill>
                <a:latin typeface="Calibri"/>
              </a:rPr>
              <a:t> every point you remove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why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reproducibly</a:t>
            </a:r>
          </a:p>
          <a:p>
            <a:pPr lvl="1">
              <a:lnSpc>
                <a:spcPct val="110000"/>
              </a:lnSpc>
              <a:spcBef>
                <a:spcPts val="200"/>
              </a:spcBef>
              <a:spcAft>
                <a:spcPts val="500"/>
              </a:spcAft>
            </a:pPr>
            <a:r>
              <a:rPr sz="1600" b="1">
                <a:solidFill>
                  <a:srgbClr val="5B6A7D"/>
                </a:solidFill>
                <a:latin typeface="Calibri"/>
              </a:rPr>
              <a:t>–  </a:t>
            </a:r>
            <a:r>
              <a:rPr sz="1650" b="0">
                <a:solidFill>
                  <a:srgbClr val="1B2430"/>
                </a:solidFill>
                <a:latin typeface="Calibri"/>
              </a:rPr>
              <a:t>When unsure, run the analysis </a:t>
            </a:r>
            <a:r>
              <a:rPr sz="1650" b="1">
                <a:solidFill>
                  <a:srgbClr val="1B2430"/>
                </a:solidFill>
                <a:latin typeface="Calibri"/>
              </a:rPr>
              <a:t>with and without</a:t>
            </a:r>
            <a:r>
              <a:rPr sz="1650" b="0">
                <a:solidFill>
                  <a:srgbClr val="1B2430"/>
                </a:solidFill>
                <a:latin typeface="Calibri"/>
              </a:rPr>
              <a:t> and report both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Transformations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Put variables on comparable scales</a:t>
            </a:r>
          </a:p>
        </p:txBody>
      </p:sp>
      <p:pic>
        <p:nvPicPr>
          <p:cNvPr id="6" name="Picture 5" descr="L02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02271"/>
            <a:ext cx="6858000" cy="29849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A7D"/>
                </a:solidFill>
                <a:latin typeface="Calibri"/>
              </a:rPr>
              <a:t>Energy (kJ) and Vitamin C (mg) live on wildly different scales. Distance-based methods are dominated by the big-number variable until you standardise.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29000" cy="4343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6F97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24231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k-means, PCA, k-NN, SVM all use </a:t>
            </a:r>
            <a:r>
              <a:rPr sz="1500" b="1">
                <a:solidFill>
                  <a:srgbClr val="1B2430"/>
                </a:solidFill>
                <a:latin typeface="Calibri"/>
              </a:rPr>
              <a:t>distances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Unscaled, </a:t>
            </a:r>
            <a:r>
              <a:rPr sz="1500" b="1">
                <a:solidFill>
                  <a:srgbClr val="1B2430"/>
                </a:solidFill>
                <a:latin typeface="Calibri"/>
              </a:rPr>
              <a:t>energy</a:t>
            </a:r>
            <a:r>
              <a:rPr sz="1500" b="0">
                <a:solidFill>
                  <a:srgbClr val="1B2430"/>
                </a:solidFill>
                <a:latin typeface="Calibri"/>
              </a:rPr>
              <a:t> would swamp </a:t>
            </a:r>
            <a:r>
              <a:rPr sz="1500" b="1">
                <a:solidFill>
                  <a:srgbClr val="1B2430"/>
                </a:solidFill>
                <a:latin typeface="Calibri"/>
              </a:rPr>
              <a:t>vitamin C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Standardising gives every variable equal footing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Fit the scaler on </a:t>
            </a:r>
            <a:r>
              <a:rPr sz="1500" b="1">
                <a:solidFill>
                  <a:srgbClr val="1B2430"/>
                </a:solidFill>
                <a:latin typeface="Calibri"/>
              </a:rPr>
              <a:t>training data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STANDARDISATION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z-score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zᵢ = ( xᵢ − x̄ ) /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Subtract the mean </a:t>
            </a:r>
            <a:r>
              <a:rPr sz="1800" b="1">
                <a:solidFill>
                  <a:srgbClr val="1B2430"/>
                </a:solidFill>
                <a:latin typeface="Calibri"/>
              </a:rPr>
              <a:t>x̄</a:t>
            </a:r>
            <a:r>
              <a:rPr sz="1800" b="0">
                <a:solidFill>
                  <a:srgbClr val="1B2430"/>
                </a:solidFill>
                <a:latin typeface="Calibri"/>
              </a:rPr>
              <a:t>, divide by the standard deviation </a:t>
            </a:r>
            <a:r>
              <a:rPr sz="1800" b="1">
                <a:solidFill>
                  <a:srgbClr val="1B2430"/>
                </a:solidFill>
                <a:latin typeface="Calibri"/>
              </a:rPr>
              <a:t>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Result has </a:t>
            </a:r>
            <a:r>
              <a:rPr sz="1800" b="1">
                <a:solidFill>
                  <a:srgbClr val="1B2430"/>
                </a:solidFill>
                <a:latin typeface="Calibri"/>
              </a:rPr>
              <a:t>mean 0, standard deviation 1</a:t>
            </a:r>
            <a:r>
              <a:rPr sz="1800" b="0">
                <a:solidFill>
                  <a:srgbClr val="1B2430"/>
                </a:solidFill>
                <a:latin typeface="Calibri"/>
              </a:rPr>
              <a:t> for every variable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In R: `scale(x)`; in tidymodels: `step_normalize()`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Alternatives: </a:t>
            </a:r>
            <a:r>
              <a:rPr sz="1500" b="1">
                <a:solidFill>
                  <a:srgbClr val="1B2430"/>
                </a:solidFill>
                <a:latin typeface="Calibri"/>
              </a:rPr>
              <a:t>min–max</a:t>
            </a:r>
            <a:r>
              <a:rPr sz="1500" b="0">
                <a:solidFill>
                  <a:srgbClr val="1B2430"/>
                </a:solidFill>
                <a:latin typeface="Calibri"/>
              </a:rPr>
              <a:t> scaling to [0,1] (`step_range`), or robust scaling using the median and IQR when outliers remain.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SKEW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Log-transform heavy-tailed variables</a:t>
            </a:r>
          </a:p>
        </p:txBody>
      </p:sp>
      <p:pic>
        <p:nvPicPr>
          <p:cNvPr id="6" name="Picture 5" descr="L02_log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58363"/>
            <a:ext cx="9144000" cy="37813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Nutrient and supplement intakes are often right-skewed. A log transform tames the tail and stabilises variance.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CATEGORICALS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Encoding non-numeric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Nominal</a:t>
            </a:r>
            <a:r>
              <a:rPr sz="2000" b="0">
                <a:solidFill>
                  <a:srgbClr val="1B2430"/>
                </a:solidFill>
                <a:latin typeface="Calibri"/>
              </a:rPr>
              <a:t> (sex, food group) → </a:t>
            </a:r>
            <a:r>
              <a:rPr sz="2000" b="1">
                <a:solidFill>
                  <a:srgbClr val="1B2430"/>
                </a:solidFill>
                <a:latin typeface="Calibri"/>
              </a:rPr>
              <a:t>dummy / one-hot</a:t>
            </a:r>
            <a:r>
              <a:rPr sz="2000" b="0">
                <a:solidFill>
                  <a:srgbClr val="1B2430"/>
                </a:solidFill>
                <a:latin typeface="Calibri"/>
              </a:rPr>
              <a:t> variables (`step_dummy`)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Ordinal</a:t>
            </a:r>
            <a:r>
              <a:rPr sz="2000" b="0">
                <a:solidFill>
                  <a:srgbClr val="1B2430"/>
                </a:solidFill>
                <a:latin typeface="Calibri"/>
              </a:rPr>
              <a:t> (Likert) → keep the order (ordered factor or integer score)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Beware </a:t>
            </a:r>
            <a:r>
              <a:rPr sz="2000" b="1">
                <a:solidFill>
                  <a:srgbClr val="1B2430"/>
                </a:solidFill>
                <a:latin typeface="Calibri"/>
              </a:rPr>
              <a:t>high-cardinality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categories (e.g. 'food name') — group rare levels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Trim whitespace and standardise case: `"F "`, `"f"`, `"Female"` are one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Putting it together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reproducible cleaning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4206240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library(tidyverse)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clean &lt;- raw %&gt;%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janitor::clean_names() %&gt;%              # tidy column names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distinct() %&gt;%                          # drop duplicate rows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mutate(sex = factor(str_trim(sex)),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       energy_kj = na_if(energy_kj, 0)) %&gt;%   # 0 = not recorded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filter(between(age, 18, 100),           # logic checks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       veg_serves &gt;= 0) %&gt;%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mutate(across(where(is.numeric),        # standardise numerics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              ~ as.numeric(scale(.))))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skimr::skim(clean)   # profile the cleaned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A7D"/>
                </a:solidFill>
                <a:latin typeface="Calibri"/>
              </a:rPr>
              <a:t>Chain each fix with %&gt;% so the whole pipeline is one auditable object.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Data leakage — the silent killer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Leakage</a:t>
            </a:r>
            <a:r>
              <a:rPr sz="2000" b="0">
                <a:solidFill>
                  <a:srgbClr val="1B2430"/>
                </a:solidFill>
                <a:latin typeface="Calibri"/>
              </a:rPr>
              <a:t> = using information at training time that won't be available at prediction time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Classic mistake: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 or impute using the whole data set</a:t>
            </a:r>
            <a:r>
              <a:rPr sz="2000" b="0">
                <a:solidFill>
                  <a:srgbClr val="1B2430"/>
                </a:solidFill>
                <a:latin typeface="Calibri"/>
              </a:rPr>
              <a:t>, then split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test set 'sees' the training statistics → </a:t>
            </a:r>
            <a:r>
              <a:rPr sz="2000" b="1">
                <a:solidFill>
                  <a:srgbClr val="1B2430"/>
                </a:solidFill>
                <a:latin typeface="Calibri"/>
              </a:rPr>
              <a:t>optimistic, dishonest</a:t>
            </a:r>
            <a:r>
              <a:rPr sz="2000" b="0">
                <a:solidFill>
                  <a:srgbClr val="1B2430"/>
                </a:solidFill>
                <a:latin typeface="Calibri"/>
              </a:rPr>
              <a:t> performance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Fix</a:t>
            </a:r>
            <a:r>
              <a:rPr sz="2000" b="0">
                <a:solidFill>
                  <a:srgbClr val="1B2430"/>
                </a:solidFill>
                <a:latin typeface="Calibri"/>
              </a:rPr>
              <a:t>: split first, then fit every transform inside a </a:t>
            </a:r>
            <a:r>
              <a:rPr sz="2000" b="1">
                <a:solidFill>
                  <a:srgbClr val="1B2430"/>
                </a:solidFill>
                <a:latin typeface="Calibri"/>
              </a:rPr>
              <a:t>recipe</a:t>
            </a:r>
            <a:r>
              <a:rPr sz="2000" b="0">
                <a:solidFill>
                  <a:srgbClr val="1B2430"/>
                </a:solidFill>
                <a:latin typeface="Calibri"/>
              </a:rPr>
              <a:t> on the training fold</a:t>
            </a:r>
          </a:p>
          <a:p>
            <a:pPr lvl="1">
              <a:lnSpc>
                <a:spcPct val="110000"/>
              </a:lnSpc>
              <a:spcBef>
                <a:spcPts val="200"/>
              </a:spcBef>
              <a:spcAft>
                <a:spcPts val="500"/>
              </a:spcAft>
            </a:pPr>
            <a:r>
              <a:rPr sz="1600" b="1">
                <a:solidFill>
                  <a:srgbClr val="5B6A7D"/>
                </a:solidFill>
                <a:latin typeface="Calibri"/>
              </a:rPr>
              <a:t>–  </a:t>
            </a:r>
            <a:r>
              <a:rPr sz="1650" b="0">
                <a:solidFill>
                  <a:srgbClr val="1B2430"/>
                </a:solidFill>
                <a:latin typeface="Calibri"/>
              </a:rPr>
              <a:t>tidymodels' `recipe()` + `workflow()` enforce this automatically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Clean this record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A dietary record reads: age = 24, sex = "F ", energy_kj = 0, veg_serves = −1, vitc_mg = 4200, height_cm = 168.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Identify </a:t>
            </a:r>
            <a:r>
              <a:rPr sz="1900" b="1">
                <a:solidFill>
                  <a:srgbClr val="1B2430"/>
                </a:solidFill>
                <a:latin typeface="Calibri"/>
              </a:rPr>
              <a:t>three</a:t>
            </a:r>
            <a:r>
              <a:rPr sz="1900" b="0">
                <a:solidFill>
                  <a:srgbClr val="1B2430"/>
                </a:solidFill>
                <a:latin typeface="Calibri"/>
              </a:rPr>
              <a:t> data-quality problems.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For each, state whether it is likely an </a:t>
            </a:r>
            <a:r>
              <a:rPr sz="1900" b="1">
                <a:solidFill>
                  <a:srgbClr val="1B2430"/>
                </a:solidFill>
                <a:latin typeface="Calibri"/>
              </a:rPr>
              <a:t>error</a:t>
            </a:r>
            <a:r>
              <a:rPr sz="1900" b="0">
                <a:solidFill>
                  <a:srgbClr val="1B2430"/>
                </a:solidFill>
                <a:latin typeface="Calibri"/>
              </a:rPr>
              <a:t> or a </a:t>
            </a:r>
            <a:r>
              <a:rPr sz="1900" b="1">
                <a:solidFill>
                  <a:srgbClr val="1B2430"/>
                </a:solidFill>
                <a:latin typeface="Calibri"/>
              </a:rPr>
              <a:t>genuine extreme</a:t>
            </a:r>
            <a:r>
              <a:rPr sz="1900" b="0">
                <a:solidFill>
                  <a:srgbClr val="1B2430"/>
                </a:solidFill>
                <a:latin typeface="Calibri"/>
              </a:rPr>
              <a:t>, and how you'd confirm.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Write the mutate()/filter() lines that would handle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Whitespace in a factor, a structural zero, an impossible negative, and an implausible vitamin C value (RDI ≈ 45 mg).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Duplicates, joins &amp; structural checks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DUPLICATES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More common than you'd think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Exact duplicates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same row entered twice (drop with `distinct()`)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Near duplicates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same person, tiny differences (needs a key to detect)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hidden duplicate </a:t>
            </a:r>
            <a:r>
              <a:rPr sz="2000" b="1">
                <a:solidFill>
                  <a:srgbClr val="1B2430"/>
                </a:solidFill>
                <a:latin typeface="Calibri"/>
              </a:rPr>
              <a:t>doubles a participant's weight</a:t>
            </a:r>
            <a:r>
              <a:rPr sz="2000" b="0">
                <a:solidFill>
                  <a:srgbClr val="1B2430"/>
                </a:solidFill>
                <a:latin typeface="Calibri"/>
              </a:rPr>
              <a:t> in every analysis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Always check row counts before and after de-duplication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Primary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primary key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 column (or set) that uniquely identifies each row — e.g. a participant 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Verify it's truly unique: `n_distinct(id) == nrow(data)`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Keys let you safely </a:t>
            </a:r>
            <a:r>
              <a:rPr sz="1800" b="1">
                <a:solidFill>
                  <a:srgbClr val="1B2430"/>
                </a:solidFill>
                <a:latin typeface="Calibri"/>
              </a:rPr>
              <a:t>join</a:t>
            </a:r>
            <a:r>
              <a:rPr sz="1800" b="0">
                <a:solidFill>
                  <a:srgbClr val="1B2430"/>
                </a:solidFill>
                <a:latin typeface="Calibri"/>
              </a:rPr>
              <a:t> datasets (intake + labs)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 duplicated key is a red flag to investigate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JOINING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Combining survey and lab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322576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combined &lt;- intake %&gt;%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inner_join(labs, by = 'participant_id')   # keep matched rows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Sanity-check the join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nrow(intake); nrow(labs); nrow(combined)     # did rows explode or vanish?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combined %&gt;% count(participant_id) %&gt;% filter(n &gt; 1)  # duplicates?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5993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A7D"/>
                </a:solidFill>
                <a:latin typeface="Calibri"/>
              </a:rPr>
              <a:t>A careless join can silently multiply or drop rows — always check counts.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After an inner_join, your row count is HIGHER than either input table. Most likely…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join worked perfectly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The join key is duplicated in one table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You lost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R is broken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A one-to-many match on a non-unique key multiplies rows. Verify the key is unique before joining.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Feature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Feature engineering</a:t>
            </a:r>
            <a:r>
              <a:rPr sz="2000" b="0">
                <a:solidFill>
                  <a:srgbClr val="1B2430"/>
                </a:solidFill>
                <a:latin typeface="Calibri"/>
              </a:rPr>
              <a:t> creates new, more informative variables from the raw data using domain knowledge.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Often more impactful than the choice of model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Encodes what experts know into the data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Do it reproducibly, inside your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Useful features for nutrition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Ratios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protein-to-energy, sodium-to-potassium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Indices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diet-quality score from several intakes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Derived categories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BMI bands from height &amp; weight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Per-kg</a:t>
            </a:r>
            <a:r>
              <a:rPr sz="2000" b="0">
                <a:solidFill>
                  <a:srgbClr val="1B2430"/>
                </a:solidFill>
                <a:latin typeface="Calibri"/>
              </a:rPr>
              <a:t> intakes — normalise by body weight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GOOD VS RISKY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Feature engineering judgement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Good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Grounded in </a:t>
            </a:r>
            <a:r>
              <a:rPr sz="1600" b="1">
                <a:solidFill>
                  <a:srgbClr val="1B2430"/>
                </a:solidFill>
                <a:latin typeface="Calibri"/>
              </a:rPr>
              <a:t>domain knowledge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Reduce noise or redundancy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Interpretable to your partners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Features built using the </a:t>
            </a:r>
            <a:r>
              <a:rPr sz="1600" b="1">
                <a:solidFill>
                  <a:srgbClr val="1B2430"/>
                </a:solidFill>
                <a:latin typeface="Calibri"/>
              </a:rPr>
              <a:t>outcome</a:t>
            </a:r>
            <a:r>
              <a:rPr sz="1600" b="0">
                <a:solidFill>
                  <a:srgbClr val="1B2430"/>
                </a:solidFill>
                <a:latin typeface="Calibri"/>
              </a:rPr>
              <a:t> → leakage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Too many features → overfitting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Opaque transforms → hard to explain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ENCODING REVISITED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Turning categories into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One-hot / dummy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one 0/1 column per category level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Ordinal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integer scores when order is meaningful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Frequency / target encoding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powerful but leakage-prone; use with care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Group </a:t>
            </a:r>
            <a:r>
              <a:rPr sz="2000" b="1">
                <a:solidFill>
                  <a:srgbClr val="1B2430"/>
                </a:solidFill>
                <a:latin typeface="Calibri"/>
              </a:rPr>
              <a:t>rare levels</a:t>
            </a:r>
            <a:r>
              <a:rPr sz="2000" b="0">
                <a:solidFill>
                  <a:srgbClr val="1B2430"/>
                </a:solidFill>
                <a:latin typeface="Calibri"/>
              </a:rPr>
              <a:t> into 'other' to avoid tiny, noisy dummies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EDA &amp; a reproducible mindset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Exploratory data analysis (EDA)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EDA</a:t>
            </a:r>
            <a:r>
              <a:rPr sz="2000" b="0">
                <a:solidFill>
                  <a:srgbClr val="1B2430"/>
                </a:solidFill>
                <a:latin typeface="Calibri"/>
              </a:rPr>
              <a:t> is the open-ended visual and numerical exploration of data to understand its structure before modelling.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Histograms, boxplots, scatterplots, correlation heatmaps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Reveals errors, skew, outliers and relationships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Every project should start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EDA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First looks in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011680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skimr::skim(diet)                 # per-variable summary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diet %&gt;% ggplot(aes(energy_kj)) + geom_histogram()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diet %&gt;% ggplot(aes(sex, bmi)) + geom_boxplot()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diet %&gt;% select(where(is.numeric)) %&gt;% cor(use='pairwise') %&gt;%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corrplot::corrplot()            # correlation heatmap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WHAT EDA REVEALS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Reading your plots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Skew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consider a log transform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Bimodality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possible subgroups (foreshadows clustering!)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Strong correlations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redundancy (foreshadows PCA!)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Isolated points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outliers to investigate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CLEANING MINDSET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Treat data cleaning as a documented, re-runnable pipeline — not a one-off cleanup you can't reproduce.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If you can't re-run it from raw data with one command, it isn't reproducible.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CLEANING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repeatable order of operations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Load raw (read-only)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never overwrite the original file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0662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8833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Fix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5409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tidy names, types, de-duplicate, join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758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576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Handle missing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233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diagnose mechanism, then impute or drop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45152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451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2686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Handle outliers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926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detect robustly, investigate, document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6144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144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961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Transform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9618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scale, log, encode — inside a training-only recipe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31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Which step must happen AFTER the train/test split to avoid leakage?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Fixing column names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De-duplicating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Fitting the standardisation scaler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Parsing 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Scaling uses statistics (mean, SD) that must be learned from training data only, then applied to test data — so it comes after the split.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Design a cleaning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You receive a raw nutrition survey (CSV) plus a separate lab-results table.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List, in order, the cleaning steps you'd apply from raw files to a modelling-ready table.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Mark which steps must go </a:t>
            </a:r>
            <a:r>
              <a:rPr sz="1900" b="1">
                <a:solidFill>
                  <a:srgbClr val="1B2430"/>
                </a:solidFill>
                <a:latin typeface="Calibri"/>
              </a:rPr>
              <a:t>after</a:t>
            </a:r>
            <a:r>
              <a:rPr sz="1900" b="0">
                <a:solidFill>
                  <a:srgbClr val="1B2430"/>
                </a:solidFill>
                <a:latin typeface="Calibri"/>
              </a:rPr>
              <a:t> the train/test split, and why.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Name the R functions you'd use at each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Structural fixes and de-duplication can precede the split; imputation and scaling should be fit on training data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33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COMMON MISTAKES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Avoid these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Editing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raw file</a:t>
            </a:r>
            <a:r>
              <a:rPr sz="2000" b="0">
                <a:solidFill>
                  <a:srgbClr val="1B2430"/>
                </a:solidFill>
                <a:latin typeface="Calibri"/>
              </a:rPr>
              <a:t> by hand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Imputing / scaling </a:t>
            </a:r>
            <a:r>
              <a:rPr sz="2000" b="1">
                <a:solidFill>
                  <a:srgbClr val="1B2430"/>
                </a:solidFill>
                <a:latin typeface="Calibri"/>
              </a:rPr>
              <a:t>before</a:t>
            </a:r>
            <a:r>
              <a:rPr sz="2000" b="0">
                <a:solidFill>
                  <a:srgbClr val="1B2430"/>
                </a:solidFill>
                <a:latin typeface="Calibri"/>
              </a:rPr>
              <a:t> splitting → leakage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Deleting outliers </a:t>
            </a:r>
            <a:r>
              <a:rPr sz="2000" b="1">
                <a:solidFill>
                  <a:srgbClr val="1B2430"/>
                </a:solidFill>
                <a:latin typeface="Calibri"/>
              </a:rPr>
              <a:t>without investigating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Ignoring </a:t>
            </a:r>
            <a:r>
              <a:rPr sz="2000" b="1">
                <a:solidFill>
                  <a:srgbClr val="1B2430"/>
                </a:solidFill>
                <a:latin typeface="Calibri"/>
              </a:rPr>
              <a:t>duplicates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non-unique keys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Missing data, deeper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WHY THE MECHANISM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Consequences of getting it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Assuming </a:t>
            </a:r>
            <a:r>
              <a:rPr sz="2000" b="1">
                <a:solidFill>
                  <a:srgbClr val="1B2430"/>
                </a:solidFill>
                <a:latin typeface="Calibri"/>
              </a:rPr>
              <a:t>MCAR</a:t>
            </a:r>
            <a:r>
              <a:rPr sz="2000" b="0">
                <a:solidFill>
                  <a:srgbClr val="1B2430"/>
                </a:solidFill>
                <a:latin typeface="Calibri"/>
              </a:rPr>
              <a:t> when it's </a:t>
            </a:r>
            <a:r>
              <a:rPr sz="2000" b="1">
                <a:solidFill>
                  <a:srgbClr val="1B2430"/>
                </a:solidFill>
                <a:latin typeface="Calibri"/>
              </a:rPr>
              <a:t>MNAR</a:t>
            </a:r>
            <a:r>
              <a:rPr sz="2000" b="0">
                <a:solidFill>
                  <a:srgbClr val="1B2430"/>
                </a:solidFill>
                <a:latin typeface="Calibri"/>
              </a:rPr>
              <a:t> biases every estimate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Under-reported high intakes (MNAR) make the diet look healthier than it is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You can </a:t>
            </a:r>
            <a:r>
              <a:rPr sz="2000" b="1">
                <a:solidFill>
                  <a:srgbClr val="1B2430"/>
                </a:solidFill>
                <a:latin typeface="Calibri"/>
              </a:rPr>
              <a:t>test</a:t>
            </a:r>
            <a:r>
              <a:rPr sz="2000" b="0">
                <a:solidFill>
                  <a:srgbClr val="1B2430"/>
                </a:solidFill>
                <a:latin typeface="Calibri"/>
              </a:rPr>
              <a:t> for MCAR (e.g. Little's test) but never fully rule out MNAR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Domain knowledge is essential — ask *why* is it missing?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35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Multiple imputation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Multiple imputation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fills each gap several times to reflect uncertainty, analyses each completed dataset, then pools the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Single imputation pretends we know the missing value — MI doesn't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`mice` is the standard R implementation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Pooling propagates imputation uncertainty into your estimates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36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MULTIPLE IMPUTATION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mice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1700784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1426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library(mice)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imp  &lt;- mice(diet, m = 5, method = 'pmm', seed = 1)  # 5 imputations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fits &lt;- with(imp, lm(glucose ~ fibre + energy_kj))   # analyse each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pool(fits)                                           # combine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37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DECISION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Choosing a missing-data strategy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59436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% missing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Suggested approach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&lt; 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MCAR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complete-case or simple imputation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5–30%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multiple imputation (mice)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&gt; 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consider dropping the 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MNAR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model the mechanism; consult domain experts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38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Heavy eaters systematically under-report intake, so their high values are missing. This is…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MCAR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MNAR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Not missing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Missingness depends on the unobserved value itself (the true high intake) — that is MNAR, the hardest case.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39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Scaling, dates &amp; text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SCALING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Beyond the z-score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Formula idea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Use when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Standardise (z)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(x − mean) / 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roughly symmetric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Min–max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(x − min)/(max − min)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need a [0,1] range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Robust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(x − median)/IQR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outliers remain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Log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log(x) or log(x+1)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right-skewed / multiplicative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40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DATES &amp;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common source of 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Parse strings to real </a:t>
            </a:r>
            <a:r>
              <a:rPr sz="2000" b="1">
                <a:solidFill>
                  <a:srgbClr val="1B2430"/>
                </a:solidFill>
                <a:latin typeface="Calibri"/>
              </a:rPr>
              <a:t>Date/POSIXct</a:t>
            </a:r>
            <a:r>
              <a:rPr sz="2000" b="0">
                <a:solidFill>
                  <a:srgbClr val="1B2430"/>
                </a:solidFill>
                <a:latin typeface="Calibri"/>
              </a:rPr>
              <a:t> objects (`lubridate`)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Derive features: </a:t>
            </a:r>
            <a:r>
              <a:rPr sz="2000" b="1">
                <a:solidFill>
                  <a:srgbClr val="1B2430"/>
                </a:solidFill>
                <a:latin typeface="Calibri"/>
              </a:rPr>
              <a:t>day of week</a:t>
            </a:r>
            <a:r>
              <a:rPr sz="2000" b="0">
                <a:solidFill>
                  <a:srgbClr val="1B2430"/>
                </a:solidFill>
                <a:latin typeface="Calibri"/>
              </a:rPr>
              <a:t>, month, season, time since baseline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Watch for </a:t>
            </a:r>
            <a:r>
              <a:rPr sz="2000" b="1">
                <a:solidFill>
                  <a:srgbClr val="1B2430"/>
                </a:solidFill>
                <a:latin typeface="Calibri"/>
              </a:rPr>
              <a:t>timezones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inconsistent formats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Impossible dates (end before start) are logic-check flags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41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FREE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When numbers hide in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'2 cups', 'a handful', '~200g' — inconsistent units to reconcile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Standardise case and whitespace; map synonyms to one label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Recode common responses; set genuinely free text aside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Document every recoding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42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Recipe (tidymodels)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recipe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 reusable specification of preprocessing steps that is *fit on training data* and applied identically to new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Prevents leakage by design — steps learn only from training folds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Chains impute → scale → dummy → … in order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Slots directly into a modelling `workflow()`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43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 LEAKAGE-SAFE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Preprocessing the right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3255264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980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library(tidymodels)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split &lt;- initial_split(diet, prop = 0.8, strata = outcome)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rec &lt;- recipe(outcome ~ ., data = training(split)) %&gt;%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step_impute_median(all_numeric_predictors()) %&gt;%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step_normalize(all_numeric_predictors()) %&gt;%   # scale (train stats)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step_dummy(all_nominal_predictors())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rec is fit on training data, then applied to test data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44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does putting scaling inside a tidymodels recipe prevent leakage?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 runs faster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The scaler learns statistics only from the training fold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 removes outliers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 imputes automatically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A recipe estimates its parameters (means, SDs) from training data only, then applies the same transform to test data — no test information leaks 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45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Fix a leaky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A colleague standardises the whole dataset, then splits into train/test and reports 95% accuracy.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Explain precisely where the leakage occurs.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Rewrite the workflow (in words or a recipe) so it's leakage-free.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Would you expect the honest accuracy to be higher or lower? Why?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Standardising before the split lets the test set's statistics influence training; honest accuracy is usually lower.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46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CLEANING IS A FIRST-CLASS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How you clean shapes every result that follows — it deserves the same rigor and documentation as your modelling.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A reproducible, leakage-free pipeline is the mark of a professional.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DOCUMENTING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Make your cleaning auditable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Keep a </a:t>
            </a:r>
            <a:r>
              <a:rPr sz="2000" b="1">
                <a:solidFill>
                  <a:srgbClr val="1B2430"/>
                </a:solidFill>
                <a:latin typeface="Calibri"/>
              </a:rPr>
              <a:t>data dictionary</a:t>
            </a:r>
            <a:r>
              <a:rPr sz="2000" b="0">
                <a:solidFill>
                  <a:srgbClr val="1B2430"/>
                </a:solidFill>
                <a:latin typeface="Calibri"/>
              </a:rPr>
              <a:t>: what each variable is, its units and valid range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Log every </a:t>
            </a:r>
            <a:r>
              <a:rPr sz="2000" b="1">
                <a:solidFill>
                  <a:srgbClr val="1B2430"/>
                </a:solidFill>
                <a:latin typeface="Calibri"/>
              </a:rPr>
              <a:t>exclusion</a:t>
            </a:r>
            <a:r>
              <a:rPr sz="2000" b="0">
                <a:solidFill>
                  <a:srgbClr val="1B2430"/>
                </a:solidFill>
                <a:latin typeface="Calibri"/>
              </a:rPr>
              <a:t> (how many rows, and why)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Comment non-obvious recodings in the script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Reviewers (and future-you) must be able to </a:t>
            </a:r>
            <a:r>
              <a:rPr sz="2000" b="1">
                <a:solidFill>
                  <a:srgbClr val="1B2430"/>
                </a:solidFill>
                <a:latin typeface="Calibri"/>
              </a:rPr>
              <a:t>reconstruct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clean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48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 go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Wickham &amp; Grolemund, *R for Data Science* — wrangling &amp; tidy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van Buuren, *Flexible Imputation of Missing Data* (mice)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tidymodels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naniar</a:t>
            </a:r>
            <a:r>
              <a:rPr sz="2000" b="0">
                <a:solidFill>
                  <a:srgbClr val="1B2430"/>
                </a:solidFill>
                <a:latin typeface="Calibri"/>
              </a:rPr>
              <a:t> package documentation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49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Cleaning is </a:t>
            </a:r>
            <a:r>
              <a:rPr sz="2000" b="1">
                <a:solidFill>
                  <a:srgbClr val="1B2430"/>
                </a:solidFill>
                <a:latin typeface="Calibri"/>
              </a:rPr>
              <a:t>most</a:t>
            </a:r>
            <a:r>
              <a:rPr sz="2000" b="0">
                <a:solidFill>
                  <a:srgbClr val="1B2430"/>
                </a:solidFill>
                <a:latin typeface="Calibri"/>
              </a:rPr>
              <a:t> of the work — do it in a </a:t>
            </a:r>
            <a:r>
              <a:rPr sz="2000" b="1">
                <a:solidFill>
                  <a:srgbClr val="1B2430"/>
                </a:solidFill>
                <a:latin typeface="Calibri"/>
              </a:rPr>
              <a:t>script</a:t>
            </a:r>
            <a:r>
              <a:rPr sz="2000" b="0">
                <a:solidFill>
                  <a:srgbClr val="1B2430"/>
                </a:solidFill>
                <a:latin typeface="Calibri"/>
              </a:rPr>
              <a:t>, never by hand.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Diagnose missingness first;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mechanism (MCAR/MAR/MNAR)</a:t>
            </a:r>
            <a:r>
              <a:rPr sz="2000" b="0">
                <a:solidFill>
                  <a:srgbClr val="1B2430"/>
                </a:solidFill>
                <a:latin typeface="Calibri"/>
              </a:rPr>
              <a:t> dictates the fix.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Detect outliers with </a:t>
            </a:r>
            <a:r>
              <a:rPr sz="2000" b="1">
                <a:solidFill>
                  <a:srgbClr val="1B2430"/>
                </a:solidFill>
                <a:latin typeface="Calibri"/>
              </a:rPr>
              <a:t>robust</a:t>
            </a:r>
            <a:r>
              <a:rPr sz="2000" b="0">
                <a:solidFill>
                  <a:srgbClr val="1B2430"/>
                </a:solidFill>
                <a:latin typeface="Calibri"/>
              </a:rPr>
              <a:t> statistics, then </a:t>
            </a:r>
            <a:r>
              <a:rPr sz="2000" b="1">
                <a:solidFill>
                  <a:srgbClr val="1B2430"/>
                </a:solidFill>
                <a:latin typeface="Calibri"/>
              </a:rPr>
              <a:t>investigate</a:t>
            </a:r>
            <a:r>
              <a:rPr sz="2000" b="0">
                <a:solidFill>
                  <a:srgbClr val="1B2430"/>
                </a:solidFill>
                <a:latin typeface="Calibri"/>
              </a:rPr>
              <a:t> before deleting.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before any distance-based method, and fit all transforms on </a:t>
            </a:r>
            <a:r>
              <a:rPr sz="2000" b="1">
                <a:solidFill>
                  <a:srgbClr val="1B2430"/>
                </a:solidFill>
                <a:latin typeface="Calibri"/>
              </a:rPr>
              <a:t>training data only</a:t>
            </a:r>
            <a:r>
              <a:rPr sz="2000" b="0">
                <a:solidFill>
                  <a:srgbClr val="1B2430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03 — Unsupervised learning: introduction to clustering.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L02 ·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