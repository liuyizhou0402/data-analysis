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60120"/>
            <a:ext cx="2194560" cy="457200"/>
          </a:xfrm>
          <a:prstGeom prst="round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42415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LECTURE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 Cleaning &amp; 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6052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8D4E2"/>
                </a:solidFill>
                <a:latin typeface="Calibri"/>
              </a:rPr>
              <a:t>Garbage in, garbage out. How to turn a messy nutrition survey into a trustworthy, analysis-ready data matrix — reproducibly.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806440"/>
            <a:ext cx="10515600" cy="15240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FADBD"/>
                </a:solidFill>
                <a:latin typeface="Calibri"/>
              </a:rPr>
              <a:t>School of Mathematics &amp; Statistics · The University of Sydney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Today's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Why cleaning dominates real projects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Tidy data and variable types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Missing data: mechanisms and remedies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Outliers and robust sanity checks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Transformations: scaling, logs, encoding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 reproducible cleaning pipeline in R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Data leakage — the silent killer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Why cleaning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Real data is never tidy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Surveys and lab instruments produce </a:t>
            </a:r>
            <a:r>
              <a:rPr sz="2000" b="1">
                <a:solidFill>
                  <a:srgbClr val="1B2430"/>
                </a:solidFill>
                <a:latin typeface="Calibri"/>
              </a:rPr>
              <a:t>typos, impossible values, mixed units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Duplicate rows</a:t>
            </a:r>
            <a:r>
              <a:rPr sz="2000" b="0">
                <a:solidFill>
                  <a:srgbClr val="1B2430"/>
                </a:solidFill>
                <a:latin typeface="Calibri"/>
              </a:rPr>
              <a:t>, free text where numbers belong, and gaps everywhere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Data scientists routinely spend </a:t>
            </a:r>
            <a:r>
              <a:rPr sz="2000" b="1">
                <a:solidFill>
                  <a:srgbClr val="1B2430"/>
                </a:solidFill>
                <a:latin typeface="Calibri"/>
              </a:rPr>
              <a:t>~80% of their time</a:t>
            </a:r>
            <a:r>
              <a:rPr sz="2000" b="0">
                <a:solidFill>
                  <a:srgbClr val="1B2430"/>
                </a:solidFill>
                <a:latin typeface="Calibri"/>
              </a:rPr>
              <a:t> cleaning and preparing data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It is unglamorous — but a brilliant model on dirty data is </a:t>
            </a:r>
            <a:r>
              <a:rPr sz="2000" b="1">
                <a:solidFill>
                  <a:srgbClr val="1B2430"/>
                </a:solidFill>
                <a:latin typeface="Calibri"/>
              </a:rPr>
              <a:t>worthless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Two commitments before you touch the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Tidy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Each </a:t>
            </a:r>
            <a:r>
              <a:rPr sz="1600" b="1">
                <a:solidFill>
                  <a:srgbClr val="1B2430"/>
                </a:solidFill>
                <a:latin typeface="Calibri"/>
              </a:rPr>
              <a:t>row</a:t>
            </a:r>
            <a:r>
              <a:rPr sz="1600" b="0">
                <a:solidFill>
                  <a:srgbClr val="1B2430"/>
                </a:solidFill>
                <a:latin typeface="Calibri"/>
              </a:rPr>
              <a:t> = one observation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Each </a:t>
            </a:r>
            <a:r>
              <a:rPr sz="1600" b="1">
                <a:solidFill>
                  <a:srgbClr val="1B2430"/>
                </a:solidFill>
                <a:latin typeface="Calibri"/>
              </a:rPr>
              <a:t>column</a:t>
            </a:r>
            <a:r>
              <a:rPr sz="1600" b="0">
                <a:solidFill>
                  <a:srgbClr val="1B2430"/>
                </a:solidFill>
                <a:latin typeface="Calibri"/>
              </a:rPr>
              <a:t> = one variable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Each </a:t>
            </a:r>
            <a:r>
              <a:rPr sz="1600" b="1">
                <a:solidFill>
                  <a:srgbClr val="1B2430"/>
                </a:solidFill>
                <a:latin typeface="Calibri"/>
              </a:rPr>
              <a:t>cell</a:t>
            </a:r>
            <a:r>
              <a:rPr sz="1600" b="0">
                <a:solidFill>
                  <a:srgbClr val="1B2430"/>
                </a:solidFill>
                <a:latin typeface="Calibri"/>
              </a:rPr>
              <a:t> = one value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This shape makes every downstream tool 'just work'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Reproducibility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Never</a:t>
            </a:r>
            <a:r>
              <a:rPr sz="1600" b="0">
                <a:solidFill>
                  <a:srgbClr val="1B2430"/>
                </a:solidFill>
                <a:latin typeface="Calibri"/>
              </a:rPr>
              <a:t> edit the raw file by hand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Every fix lives in a </a:t>
            </a:r>
            <a:r>
              <a:rPr sz="1600" b="1">
                <a:solidFill>
                  <a:srgbClr val="1B2430"/>
                </a:solidFill>
                <a:latin typeface="Calibri"/>
              </a:rPr>
              <a:t>script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So it can be re-run, reviewed and trusted (GQ4)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Keep raw data </a:t>
            </a:r>
            <a:r>
              <a:rPr sz="1600" b="1">
                <a:solidFill>
                  <a:srgbClr val="1B2430"/>
                </a:solidFill>
                <a:latin typeface="Calibri"/>
              </a:rPr>
              <a:t>read-only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Know your variable types — they dictate the treatment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291840"/>
                <a:gridCol w="420624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Typical handling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Continuous numeric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energy (kJ), BMI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scale, maybe log-transform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servings of veg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often log(x+1)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Nominal categorical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sex, food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factor → dummy variables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Ordinal categorical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Likert 1–5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ordered factor / integer score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Date /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survey date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parse to Date, derive features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'other, please specify'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recode or set aside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Missing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DIAGNOSE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Visualise the pattern of missingness</a:t>
            </a:r>
          </a:p>
        </p:txBody>
      </p:sp>
      <p:pic>
        <p:nvPicPr>
          <p:cNvPr id="6" name="Picture 5" descr="L02_missing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78691"/>
            <a:ext cx="6858000" cy="34321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A missing-data map. Variable V5 has a structured block (skip-logic?), while others are scattered — the pattern is a clue to the mechanism.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Always 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Count</a:t>
            </a:r>
            <a:r>
              <a:rPr sz="1500" b="0">
                <a:solidFill>
                  <a:srgbClr val="1B2430"/>
                </a:solidFill>
                <a:latin typeface="Calibri"/>
              </a:rPr>
              <a:t> missing per variable and per row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Look</a:t>
            </a:r>
            <a:r>
              <a:rPr sz="1500" b="0">
                <a:solidFill>
                  <a:srgbClr val="1B2430"/>
                </a:solidFill>
                <a:latin typeface="Calibri"/>
              </a:rPr>
              <a:t> for blocks and stripes — they reveal structure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Structured missingness is often </a:t>
            </a:r>
            <a:r>
              <a:rPr sz="1500" b="1">
                <a:solidFill>
                  <a:srgbClr val="1B2430"/>
                </a:solidFill>
                <a:latin typeface="Calibri"/>
              </a:rPr>
              <a:t>informative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Tools: `naniar::vis_miss()`, `visdat::vis_dat()`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Why is it missing? Rubin's three mechanisms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MCAR / 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MCAR</a:t>
            </a:r>
            <a:r>
              <a:rPr sz="1600" b="0">
                <a:solidFill>
                  <a:srgbClr val="1B2430"/>
                </a:solidFill>
                <a:latin typeface="Calibri"/>
              </a:rPr>
              <a:t> — missing completely at random; benign but rare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MAR</a:t>
            </a:r>
            <a:r>
              <a:rPr sz="1600" b="0">
                <a:solidFill>
                  <a:srgbClr val="1B2430"/>
                </a:solidFill>
                <a:latin typeface="Calibri"/>
              </a:rPr>
              <a:t> — missingness depends on </a:t>
            </a:r>
            <a:r>
              <a:rPr sz="1600" b="1">
                <a:solidFill>
                  <a:srgbClr val="1B2430"/>
                </a:solidFill>
                <a:latin typeface="Calibri"/>
              </a:rPr>
              <a:t>observed</a:t>
            </a:r>
            <a:r>
              <a:rPr sz="1600" b="0">
                <a:solidFill>
                  <a:srgbClr val="1B2430"/>
                </a:solidFill>
                <a:latin typeface="Calibri"/>
              </a:rPr>
              <a:t> variables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MAR is handleable by conditioning on what you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MNAR — the dangerous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Missingness depends on the </a:t>
            </a:r>
            <a:r>
              <a:rPr sz="1600" b="1">
                <a:solidFill>
                  <a:srgbClr val="1B2430"/>
                </a:solidFill>
                <a:latin typeface="Calibri"/>
              </a:rPr>
              <a:t>unobserved value itself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e.g. heavy eaters under-report intake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Cannot be fixed by imputation alone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Must be reasoned about with domain experts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REMEDIES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 to do about missing values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474720"/>
                <a:gridCol w="347472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When appropriate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Complete-case (drop rows)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few missing, MCAR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bias + lost power if not MCAR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Mean / median imputation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quick baseline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shrinks variance, distorts correlation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kNN / model-based imputation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needs care, can leak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Multiple imputation (`mice`)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principled inference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more complex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29768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29768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37083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Golden rule: </a:t>
            </a:r>
            <a:r>
              <a:rPr sz="1500" b="1">
                <a:solidFill>
                  <a:srgbClr val="1B2430"/>
                </a:solidFill>
                <a:latin typeface="Calibri"/>
              </a:rPr>
              <a:t>fit imputation on the training data only</a:t>
            </a:r>
            <a:r>
              <a:rPr sz="1500" b="0">
                <a:solidFill>
                  <a:srgbClr val="1B2430"/>
                </a:solidFill>
                <a:latin typeface="Calibri"/>
              </a:rPr>
              <a:t>, then apply the same rule to test data — otherwise you leak information.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Exploring and imputing missingness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4187952"/>
          </a:xfrm>
          <a:prstGeom prst="round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47088"/>
            <a:ext cx="10058400" cy="39136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library(naniar); library(mice)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7C938A"/>
                </a:solidFill>
                <a:latin typeface="Consolas"/>
              </a:rPr>
              <a:t># 1. See it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vis_miss(diet)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gg_miss_var(diet)          # missing count per variable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7C938A"/>
                </a:solidFill>
                <a:latin typeface="Consolas"/>
              </a:rPr>
              <a:t># 2. Simple median imputation (baseline)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diet &lt;- diet %&gt;% mutate(fibre = ifelse(is.na(fibre),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                                      median(fibre, na.rm = TRUE), fibre))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7C938A"/>
                </a:solidFill>
                <a:latin typeface="Consolas"/>
              </a:rPr>
              <a:t># 3. Principled: multiple imputation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imp &lt;- mice(diet, m = 5, method = 'pmm', seed = 1)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Outliers &amp; errors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Boxplots and the IQR rule</a:t>
            </a:r>
          </a:p>
        </p:txBody>
      </p:sp>
      <p:pic>
        <p:nvPicPr>
          <p:cNvPr id="6" name="Picture 5" descr="L02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3592"/>
            <a:ext cx="6858000" cy="412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The 1.5×IQR rule flags points far from the middle 50%. Robust to the very outliers it is trying to find.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Robust statistics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Use </a:t>
            </a:r>
            <a:r>
              <a:rPr sz="1500" b="1">
                <a:solidFill>
                  <a:srgbClr val="1B2430"/>
                </a:solidFill>
                <a:latin typeface="Calibri"/>
              </a:rPr>
              <a:t>median &amp; IQR</a:t>
            </a:r>
            <a:r>
              <a:rPr sz="1500" b="0">
                <a:solidFill>
                  <a:srgbClr val="1B2430"/>
                </a:solidFill>
                <a:latin typeface="Calibri"/>
              </a:rPr>
              <a:t>, not mean &amp; SD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The mean is itself </a:t>
            </a:r>
            <a:r>
              <a:rPr sz="1500" b="1">
                <a:solidFill>
                  <a:srgbClr val="1B2430"/>
                </a:solidFill>
                <a:latin typeface="Calibri"/>
              </a:rPr>
              <a:t>dragged</a:t>
            </a:r>
            <a:r>
              <a:rPr sz="1500" b="0">
                <a:solidFill>
                  <a:srgbClr val="1B2430"/>
                </a:solidFill>
                <a:latin typeface="Calibri"/>
              </a:rPr>
              <a:t> by outliers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MAD</a:t>
            </a:r>
            <a:r>
              <a:rPr sz="1500" b="0">
                <a:solidFill>
                  <a:srgbClr val="1B2430"/>
                </a:solidFill>
                <a:latin typeface="Calibri"/>
              </a:rPr>
              <a:t> (median abs. deviation) is a robust spread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Then </a:t>
            </a:r>
            <a:r>
              <a:rPr sz="1500" b="1">
                <a:solidFill>
                  <a:srgbClr val="1B2430"/>
                </a:solidFill>
                <a:latin typeface="Calibri"/>
              </a:rPr>
              <a:t>investigate</a:t>
            </a:r>
            <a:r>
              <a:rPr sz="1500" b="0">
                <a:solidFill>
                  <a:srgbClr val="1B2430"/>
                </a:solidFill>
                <a:latin typeface="Calibri"/>
              </a:rPr>
              <a:t> — don't blindly delete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An outlier is not automatically an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Range checks</a:t>
            </a:r>
            <a:r>
              <a:rPr sz="2000" b="0">
                <a:solidFill>
                  <a:srgbClr val="1B2430"/>
                </a:solidFill>
                <a:latin typeface="Calibri"/>
              </a:rPr>
              <a:t>: energy of 80,000 kJ/day? age of 200? negative weight? → flag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Logic checks</a:t>
            </a:r>
            <a:r>
              <a:rPr sz="2000" b="0">
                <a:solidFill>
                  <a:srgbClr val="1B2430"/>
                </a:solidFill>
                <a:latin typeface="Calibri"/>
              </a:rPr>
              <a:t>: pregnant + male? end date before start date? → flag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 genuine extreme may be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most interesting participant</a:t>
            </a:r>
            <a:r>
              <a:rPr sz="2000" b="0">
                <a:solidFill>
                  <a:srgbClr val="1B2430"/>
                </a:solidFill>
                <a:latin typeface="Calibri"/>
              </a:rPr>
              <a:t> in the study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Document</a:t>
            </a:r>
            <a:r>
              <a:rPr sz="2000" b="0">
                <a:solidFill>
                  <a:srgbClr val="1B2430"/>
                </a:solidFill>
                <a:latin typeface="Calibri"/>
              </a:rPr>
              <a:t> every point you remove and </a:t>
            </a:r>
            <a:r>
              <a:rPr sz="2000" b="1">
                <a:solidFill>
                  <a:srgbClr val="1B2430"/>
                </a:solidFill>
                <a:latin typeface="Calibri"/>
              </a:rPr>
              <a:t>why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reproducibly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0">
                <a:solidFill>
                  <a:srgbClr val="1B2430"/>
                </a:solidFill>
                <a:latin typeface="Calibri"/>
              </a:rPr>
              <a:t>When unsure, run the analysis </a:t>
            </a:r>
            <a:r>
              <a:rPr sz="1650" b="1">
                <a:solidFill>
                  <a:srgbClr val="1B2430"/>
                </a:solidFill>
                <a:latin typeface="Calibri"/>
              </a:rPr>
              <a:t>with and without</a:t>
            </a:r>
            <a:r>
              <a:rPr sz="1650" b="0">
                <a:solidFill>
                  <a:srgbClr val="1B2430"/>
                </a:solidFill>
                <a:latin typeface="Calibri"/>
              </a:rPr>
              <a:t> and report both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Transformations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Put variables on comparable scales</a:t>
            </a:r>
          </a:p>
        </p:txBody>
      </p:sp>
      <p:pic>
        <p:nvPicPr>
          <p:cNvPr id="6" name="Picture 5" descr="L02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02271"/>
            <a:ext cx="6858000" cy="29849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Energy (kJ) and Vitamin C (mg) live on wildly different scales. Distance-based methods are dominated by the big-number variable until you standardise.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k-means, PCA, k-NN, SVM all use </a:t>
            </a:r>
            <a:r>
              <a:rPr sz="1500" b="1">
                <a:solidFill>
                  <a:srgbClr val="1B2430"/>
                </a:solidFill>
                <a:latin typeface="Calibri"/>
              </a:rPr>
              <a:t>distances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Unscaled, </a:t>
            </a:r>
            <a:r>
              <a:rPr sz="1500" b="1">
                <a:solidFill>
                  <a:srgbClr val="1B2430"/>
                </a:solidFill>
                <a:latin typeface="Calibri"/>
              </a:rPr>
              <a:t>energy</a:t>
            </a:r>
            <a:r>
              <a:rPr sz="1500" b="0">
                <a:solidFill>
                  <a:srgbClr val="1B2430"/>
                </a:solidFill>
                <a:latin typeface="Calibri"/>
              </a:rPr>
              <a:t> would swamp </a:t>
            </a:r>
            <a:r>
              <a:rPr sz="1500" b="1">
                <a:solidFill>
                  <a:srgbClr val="1B2430"/>
                </a:solidFill>
                <a:latin typeface="Calibri"/>
              </a:rPr>
              <a:t>vitamin C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Standardising gives every variable equal footing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Fit the scaler on </a:t>
            </a:r>
            <a:r>
              <a:rPr sz="1500" b="1">
                <a:solidFill>
                  <a:srgbClr val="1B2430"/>
                </a:solidFill>
                <a:latin typeface="Calibri"/>
              </a:rPr>
              <a:t>training data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STANDARDISATION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z-score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965960"/>
            <a:ext cx="9235440" cy="14173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9052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EAF2FB"/>
                </a:solidFill>
                <a:latin typeface="Cambria Math"/>
              </a:rPr>
              <a:t>zᵢ = ( xᵢ − x̄ ) /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03320"/>
            <a:ext cx="9235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Subtract the mean </a:t>
            </a:r>
            <a:r>
              <a:rPr sz="1800" b="1">
                <a:solidFill>
                  <a:srgbClr val="1B2430"/>
                </a:solidFill>
                <a:latin typeface="Calibri"/>
              </a:rPr>
              <a:t>x̄</a:t>
            </a:r>
            <a:r>
              <a:rPr sz="1800" b="0">
                <a:solidFill>
                  <a:srgbClr val="1B2430"/>
                </a:solidFill>
                <a:latin typeface="Calibri"/>
              </a:rPr>
              <a:t>, divide by the standard deviation </a:t>
            </a:r>
            <a:r>
              <a:rPr sz="1800" b="1">
                <a:solidFill>
                  <a:srgbClr val="1B2430"/>
                </a:solidFill>
                <a:latin typeface="Calibri"/>
              </a:rPr>
              <a:t>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Result has </a:t>
            </a:r>
            <a:r>
              <a:rPr sz="1800" b="1">
                <a:solidFill>
                  <a:srgbClr val="1B2430"/>
                </a:solidFill>
                <a:latin typeface="Calibri"/>
              </a:rPr>
              <a:t>mean 0, standard deviation 1</a:t>
            </a:r>
            <a:r>
              <a:rPr sz="1800" b="0">
                <a:solidFill>
                  <a:srgbClr val="1B2430"/>
                </a:solidFill>
                <a:latin typeface="Calibri"/>
              </a:rPr>
              <a:t> for every variable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In R: `scale(x)`; in tidymodels: `step_normalize()`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5486400"/>
            <a:ext cx="923544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548640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5559552"/>
            <a:ext cx="8778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Alternatives: </a:t>
            </a:r>
            <a:r>
              <a:rPr sz="1500" b="1">
                <a:solidFill>
                  <a:srgbClr val="1B2430"/>
                </a:solidFill>
                <a:latin typeface="Calibri"/>
              </a:rPr>
              <a:t>min–max</a:t>
            </a:r>
            <a:r>
              <a:rPr sz="1500" b="0">
                <a:solidFill>
                  <a:srgbClr val="1B2430"/>
                </a:solidFill>
                <a:latin typeface="Calibri"/>
              </a:rPr>
              <a:t> scaling to [0,1] (`step_range`), or robust scaling using the median and IQR when outliers remain.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SKEW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Log-transform heavy-tailed variables</a:t>
            </a:r>
          </a:p>
        </p:txBody>
      </p:sp>
      <p:pic>
        <p:nvPicPr>
          <p:cNvPr id="6" name="Picture 5" descr="L02_log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58363"/>
            <a:ext cx="9144000" cy="37813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Nutrient and supplement intakes are often right-skewed. A log transform tames the tail and stabilises variance.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CATEGORICALS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Encoding non-numeric variables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Nominal</a:t>
            </a:r>
            <a:r>
              <a:rPr sz="2000" b="0">
                <a:solidFill>
                  <a:srgbClr val="1B2430"/>
                </a:solidFill>
                <a:latin typeface="Calibri"/>
              </a:rPr>
              <a:t> (sex, food group) → </a:t>
            </a:r>
            <a:r>
              <a:rPr sz="2000" b="1">
                <a:solidFill>
                  <a:srgbClr val="1B2430"/>
                </a:solidFill>
                <a:latin typeface="Calibri"/>
              </a:rPr>
              <a:t>dummy / one-hot</a:t>
            </a:r>
            <a:r>
              <a:rPr sz="2000" b="0">
                <a:solidFill>
                  <a:srgbClr val="1B2430"/>
                </a:solidFill>
                <a:latin typeface="Calibri"/>
              </a:rPr>
              <a:t> variables (`step_dummy`)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Ordinal</a:t>
            </a:r>
            <a:r>
              <a:rPr sz="2000" b="0">
                <a:solidFill>
                  <a:srgbClr val="1B2430"/>
                </a:solidFill>
                <a:latin typeface="Calibri"/>
              </a:rPr>
              <a:t> (Likert) → keep the order (ordered factor or integer score)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Beware </a:t>
            </a:r>
            <a:r>
              <a:rPr sz="2000" b="1">
                <a:solidFill>
                  <a:srgbClr val="1B2430"/>
                </a:solidFill>
                <a:latin typeface="Calibri"/>
              </a:rPr>
              <a:t>high-cardinality</a:t>
            </a:r>
            <a:r>
              <a:rPr sz="2000" b="0">
                <a:solidFill>
                  <a:srgbClr val="1B2430"/>
                </a:solidFill>
                <a:latin typeface="Calibri"/>
              </a:rPr>
              <a:t> categories (e.g. 'food name') — group rare levels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Trim whitespace and standardise case: `"F "`, `"f"`, `"Female"` are one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 reproducible cleaning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4206240"/>
          </a:xfrm>
          <a:prstGeom prst="round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47088"/>
            <a:ext cx="100584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library(tidyverse)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clean &lt;- raw %&gt;%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janitor::clean_names() %&gt;%              # tidy column names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distinct() %&gt;%                          # drop duplicate rows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mutate(sex = factor(str_trim(sex)),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       energy_kj = na_if(energy_kj, 0)) %&gt;%   # 0 = not recorded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filter(between(age, 18, 100),           # logic checks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       veg_serves &gt;= 0) %&gt;%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mutate(across(where(is.numeric),        # standardise numerics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               ~ as.numeric(scale(.))))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skimr::skim(clean)   # profile the cleaned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A7D"/>
                </a:solidFill>
                <a:latin typeface="Calibri"/>
              </a:rPr>
              <a:t>Chain each fix with %&gt;% so the whole pipeline is one auditable object.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Data leakage — the silent killer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Leakage</a:t>
            </a:r>
            <a:r>
              <a:rPr sz="2000" b="0">
                <a:solidFill>
                  <a:srgbClr val="1B2430"/>
                </a:solidFill>
                <a:latin typeface="Calibri"/>
              </a:rPr>
              <a:t> = using information at training time that won't be available at prediction time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Classic mistake: </a:t>
            </a:r>
            <a:r>
              <a:rPr sz="2000" b="1">
                <a:solidFill>
                  <a:srgbClr val="1B2430"/>
                </a:solidFill>
                <a:latin typeface="Calibri"/>
              </a:rPr>
              <a:t>standardise or impute using the whole data set</a:t>
            </a:r>
            <a:r>
              <a:rPr sz="2000" b="0">
                <a:solidFill>
                  <a:srgbClr val="1B2430"/>
                </a:solidFill>
                <a:latin typeface="Calibri"/>
              </a:rPr>
              <a:t>, then split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test set 'sees' the training statistics → </a:t>
            </a:r>
            <a:r>
              <a:rPr sz="2000" b="1">
                <a:solidFill>
                  <a:srgbClr val="1B2430"/>
                </a:solidFill>
                <a:latin typeface="Calibri"/>
              </a:rPr>
              <a:t>optimistic, dishonest</a:t>
            </a:r>
            <a:r>
              <a:rPr sz="2000" b="0">
                <a:solidFill>
                  <a:srgbClr val="1B2430"/>
                </a:solidFill>
                <a:latin typeface="Calibri"/>
              </a:rPr>
              <a:t> performance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Fix</a:t>
            </a:r>
            <a:r>
              <a:rPr sz="2000" b="0">
                <a:solidFill>
                  <a:srgbClr val="1B2430"/>
                </a:solidFill>
                <a:latin typeface="Calibri"/>
              </a:rPr>
              <a:t>: split first, then fit every transform inside a </a:t>
            </a:r>
            <a:r>
              <a:rPr sz="2000" b="1">
                <a:solidFill>
                  <a:srgbClr val="1B2430"/>
                </a:solidFill>
                <a:latin typeface="Calibri"/>
              </a:rPr>
              <a:t>recipe</a:t>
            </a:r>
            <a:r>
              <a:rPr sz="2000" b="0">
                <a:solidFill>
                  <a:srgbClr val="1B2430"/>
                </a:solidFill>
                <a:latin typeface="Calibri"/>
              </a:rPr>
              <a:t> on the training fold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0">
                <a:solidFill>
                  <a:srgbClr val="1B2430"/>
                </a:solidFill>
                <a:latin typeface="Calibri"/>
              </a:rPr>
              <a:t>tidymodels' `recipe()` + `workflow()` enforce this automatically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IN-CLASS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Clean this record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15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1.  </a:t>
            </a:r>
            <a:r>
              <a:rPr sz="1900" b="0">
                <a:solidFill>
                  <a:srgbClr val="1B2430"/>
                </a:solidFill>
                <a:latin typeface="Calibri"/>
              </a:rPr>
              <a:t>A dietary record reads: age = 24, sex = "F ", energy_kj = 0, veg_serves = −1, vitc_mg = 4200, height_cm = 168.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2.  </a:t>
            </a:r>
            <a:r>
              <a:rPr sz="1900" b="0">
                <a:solidFill>
                  <a:srgbClr val="1B2430"/>
                </a:solidFill>
                <a:latin typeface="Calibri"/>
              </a:rPr>
              <a:t>Identify </a:t>
            </a:r>
            <a:r>
              <a:rPr sz="1900" b="1">
                <a:solidFill>
                  <a:srgbClr val="1B2430"/>
                </a:solidFill>
                <a:latin typeface="Calibri"/>
              </a:rPr>
              <a:t>three</a:t>
            </a:r>
            <a:r>
              <a:rPr sz="1900" b="0">
                <a:solidFill>
                  <a:srgbClr val="1B2430"/>
                </a:solidFill>
                <a:latin typeface="Calibri"/>
              </a:rPr>
              <a:t> data-quality problems.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3.  </a:t>
            </a:r>
            <a:r>
              <a:rPr sz="1900" b="0">
                <a:solidFill>
                  <a:srgbClr val="1B2430"/>
                </a:solidFill>
                <a:latin typeface="Calibri"/>
              </a:rPr>
              <a:t>For each, state whether it is likely an </a:t>
            </a:r>
            <a:r>
              <a:rPr sz="1900" b="1">
                <a:solidFill>
                  <a:srgbClr val="1B2430"/>
                </a:solidFill>
                <a:latin typeface="Calibri"/>
              </a:rPr>
              <a:t>error</a:t>
            </a:r>
            <a:r>
              <a:rPr sz="1900" b="0">
                <a:solidFill>
                  <a:srgbClr val="1B2430"/>
                </a:solidFill>
                <a:latin typeface="Calibri"/>
              </a:rPr>
              <a:t> or a </a:t>
            </a:r>
            <a:r>
              <a:rPr sz="1900" b="1">
                <a:solidFill>
                  <a:srgbClr val="1B2430"/>
                </a:solidFill>
                <a:latin typeface="Calibri"/>
              </a:rPr>
              <a:t>genuine extreme</a:t>
            </a:r>
            <a:r>
              <a:rPr sz="1900" b="0">
                <a:solidFill>
                  <a:srgbClr val="1B2430"/>
                </a:solidFill>
                <a:latin typeface="Calibri"/>
              </a:rPr>
              <a:t>, and how you'd confirm.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4.  </a:t>
            </a:r>
            <a:r>
              <a:rPr sz="1900" b="0">
                <a:solidFill>
                  <a:srgbClr val="1B2430"/>
                </a:solidFill>
                <a:latin typeface="Calibri"/>
              </a:rPr>
              <a:t>Write the mutate()/filter() lines that would handle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57800"/>
            <a:ext cx="10515600" cy="914400"/>
          </a:xfrm>
          <a:prstGeom prst="roundRect">
            <a:avLst/>
          </a:prstGeom>
          <a:solidFill>
            <a:srgbClr val="FFF6EE"/>
          </a:solidFill>
          <a:ln w="15240">
            <a:solidFill>
              <a:srgbClr val="B98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44068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98416"/>
                </a:solidFill>
                <a:latin typeface="Calibri"/>
              </a:rPr>
              <a:t>Hint.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Whitespace in a factor, a structural zero, an impossible negative, and an implausible vitamin C value (RDI ≈ 45 mg).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Cleaning is </a:t>
            </a:r>
            <a:r>
              <a:rPr sz="2000" b="1">
                <a:solidFill>
                  <a:srgbClr val="1B2430"/>
                </a:solidFill>
                <a:latin typeface="Calibri"/>
              </a:rPr>
              <a:t>most</a:t>
            </a:r>
            <a:r>
              <a:rPr sz="2000" b="0">
                <a:solidFill>
                  <a:srgbClr val="1B2430"/>
                </a:solidFill>
                <a:latin typeface="Calibri"/>
              </a:rPr>
              <a:t> of the work — do it in a </a:t>
            </a:r>
            <a:r>
              <a:rPr sz="2000" b="1">
                <a:solidFill>
                  <a:srgbClr val="1B2430"/>
                </a:solidFill>
                <a:latin typeface="Calibri"/>
              </a:rPr>
              <a:t>script</a:t>
            </a:r>
            <a:r>
              <a:rPr sz="2000" b="0">
                <a:solidFill>
                  <a:srgbClr val="1B2430"/>
                </a:solidFill>
                <a:latin typeface="Calibri"/>
              </a:rPr>
              <a:t>, never by hand.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Diagnose missingness first;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mechanism (MCAR/MAR/MNAR)</a:t>
            </a:r>
            <a:r>
              <a:rPr sz="2000" b="0">
                <a:solidFill>
                  <a:srgbClr val="1B2430"/>
                </a:solidFill>
                <a:latin typeface="Calibri"/>
              </a:rPr>
              <a:t> dictates the fix.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Detect outliers with </a:t>
            </a:r>
            <a:r>
              <a:rPr sz="2000" b="1">
                <a:solidFill>
                  <a:srgbClr val="1B2430"/>
                </a:solidFill>
                <a:latin typeface="Calibri"/>
              </a:rPr>
              <a:t>robust</a:t>
            </a:r>
            <a:r>
              <a:rPr sz="2000" b="0">
                <a:solidFill>
                  <a:srgbClr val="1B2430"/>
                </a:solidFill>
                <a:latin typeface="Calibri"/>
              </a:rPr>
              <a:t> statistics, then </a:t>
            </a:r>
            <a:r>
              <a:rPr sz="2000" b="1">
                <a:solidFill>
                  <a:srgbClr val="1B2430"/>
                </a:solidFill>
                <a:latin typeface="Calibri"/>
              </a:rPr>
              <a:t>investigate</a:t>
            </a:r>
            <a:r>
              <a:rPr sz="2000" b="0">
                <a:solidFill>
                  <a:srgbClr val="1B2430"/>
                </a:solidFill>
                <a:latin typeface="Calibri"/>
              </a:rPr>
              <a:t> before deleting.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1">
                <a:solidFill>
                  <a:srgbClr val="1B2430"/>
                </a:solidFill>
                <a:latin typeface="Calibri"/>
              </a:rPr>
              <a:t>Standardise</a:t>
            </a:r>
            <a:r>
              <a:rPr sz="2000" b="0">
                <a:solidFill>
                  <a:srgbClr val="1B2430"/>
                </a:solidFill>
                <a:latin typeface="Calibri"/>
              </a:rPr>
              <a:t> before any distance-based method, and fit all transforms on </a:t>
            </a:r>
            <a:r>
              <a:rPr sz="2000" b="1">
                <a:solidFill>
                  <a:srgbClr val="1B2430"/>
                </a:solidFill>
                <a:latin typeface="Calibri"/>
              </a:rPr>
              <a:t>training data only</a:t>
            </a:r>
            <a:r>
              <a:rPr sz="2000" b="0">
                <a:solidFill>
                  <a:srgbClr val="1B243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15600" cy="777240"/>
          </a:xfrm>
          <a:prstGeom prst="round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64626"/>
                </a:solidFill>
                <a:latin typeface="Calibri"/>
              </a:rPr>
              <a:t>Next lecture →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Lecture 03 — Unsupervised learning: introduction to clustering.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L02 ·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