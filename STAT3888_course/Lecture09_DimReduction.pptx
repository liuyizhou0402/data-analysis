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60120"/>
            <a:ext cx="2194560" cy="457200"/>
          </a:xfrm>
          <a:prstGeom prst="round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42415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LECTURE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Dimension Reduction Beyond PCA: MDS, t-SNE &amp; UMAP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160520"/>
            <a:ext cx="9692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C8D4E2"/>
                </a:solidFill>
                <a:latin typeface="Calibri"/>
              </a:rPr>
              <a:t>When linear PCA isn't enough — reducing dimensions that preserve distances or reveal non-linear structure, and how to read (and misread) the pictures.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806440"/>
            <a:ext cx="10515600" cy="15240"/>
          </a:xfrm>
          <a:prstGeom prst="rect">
            <a:avLst/>
          </a:prstGeom>
          <a:solidFill>
            <a:srgbClr val="3A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FADBD"/>
                </a:solidFill>
                <a:latin typeface="Calibri"/>
              </a:rPr>
              <a:t>School of Mathematics &amp; Statistics · The University of Sydney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Today's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Recap: what PCA does and where it stops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Multidimensional scaling (MDS): preserve distances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t-SNE: reveal non-linear neighbourhoods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UMAP: the modern alternative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Choosing and comparing methods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Practice in R, pitfalls and honest interpretation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PCA in one breath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PCA finds orthogonal directions of </a:t>
            </a:r>
            <a:r>
              <a:rPr sz="2000" b="1">
                <a:solidFill>
                  <a:srgbClr val="1B2430"/>
                </a:solidFill>
                <a:latin typeface="Calibri"/>
              </a:rPr>
              <a:t>maximum variance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It is </a:t>
            </a:r>
            <a:r>
              <a:rPr sz="2000" b="1">
                <a:solidFill>
                  <a:srgbClr val="1B2430"/>
                </a:solidFill>
                <a:latin typeface="Calibri"/>
              </a:rPr>
              <a:t>linear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new axes are straight-line combinations of variables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Great for compression, denoising and visualising </a:t>
            </a:r>
            <a:r>
              <a:rPr sz="2000" b="1">
                <a:solidFill>
                  <a:srgbClr val="1B2430"/>
                </a:solidFill>
                <a:latin typeface="Calibri"/>
              </a:rPr>
              <a:t>linear</a:t>
            </a:r>
            <a:r>
              <a:rPr sz="2000" b="0">
                <a:solidFill>
                  <a:srgbClr val="1B2430"/>
                </a:solidFill>
                <a:latin typeface="Calibri"/>
              </a:rPr>
              <a:t> structure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But real data often bends…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PCA is fundamentally a … method.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Non-linear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Supervised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Linear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Probabilistic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PCA builds components as linear combinations of the original variables — it can only capture linear structure.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Why go beyond PCA?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THE LIMITATION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PCA can only rotate and stretch — it cannot 'unroll' data that lies on a curved surface.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If the interesting structure is non-linear, PCA's flat projection smears it together.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CURVED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Data on a manifold</a:t>
            </a:r>
          </a:p>
        </p:txBody>
      </p:sp>
      <p:pic>
        <p:nvPicPr>
          <p:cNvPr id="6" name="Picture 5" descr="L09_mani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759055"/>
            <a:ext cx="9144000" cy="39799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The 'Swiss roll': points live on a curved 2-D sheet embedded in 3-D. The true structure (right) is only revealed by 'unrolling' it — PCA can't.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Manifold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A </a:t>
            </a:r>
            <a:r>
              <a:rPr sz="2000" b="1">
                <a:solidFill>
                  <a:srgbClr val="1B2430"/>
                </a:solidFill>
                <a:latin typeface="Calibri"/>
              </a:rPr>
              <a:t>manifold</a:t>
            </a:r>
            <a:r>
              <a:rPr sz="2000" b="0">
                <a:solidFill>
                  <a:srgbClr val="1B2430"/>
                </a:solidFill>
                <a:latin typeface="Calibri"/>
              </a:rPr>
              <a:t> is a lower-dimensional surface (possibly curved) on which the data approximately lies within a higher-dimensional 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The 'manifold hypothesis': real data often lies near a low-dim manifold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Non-linear methods try to recover its intrinsic coordinates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PCA sees only the flat, linear shadow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Linear vs non-linear on real data</a:t>
            </a:r>
          </a:p>
        </p:txBody>
      </p:sp>
      <p:pic>
        <p:nvPicPr>
          <p:cNvPr id="6" name="Picture 5" descr="L09_pca_vs_ts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777563"/>
            <a:ext cx="9144000" cy="39429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64-D handwritten digits in 2-D: PCA (left) overlaps the classes; t-SNE (right) pulls them into clear islands.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TWO GOALS, TWO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What are you reducing for?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Faithful geometry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Preserve </a:t>
            </a:r>
            <a:r>
              <a:rPr sz="1600" b="1">
                <a:solidFill>
                  <a:srgbClr val="1B2430"/>
                </a:solidFill>
                <a:latin typeface="Calibri"/>
              </a:rPr>
              <a:t>actual distances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Good for quantitative structure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→ MDS (and PCA)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Reveal groupings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Preserve </a:t>
            </a:r>
            <a:r>
              <a:rPr sz="1600" b="1">
                <a:solidFill>
                  <a:srgbClr val="1B2430"/>
                </a:solidFill>
                <a:latin typeface="Calibri"/>
              </a:rPr>
              <a:t>local neighbourhoods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Great for spotting clusters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→ t-SNE, UMAP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Multidimensional scaling (MDS)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Multidimensional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MDS</a:t>
            </a:r>
            <a:r>
              <a:rPr sz="2000" b="0">
                <a:solidFill>
                  <a:srgbClr val="1B2430"/>
                </a:solidFill>
                <a:latin typeface="Calibri"/>
              </a:rPr>
              <a:t> places points in a low-dimensional space so that their pairwise distances match the original distances as closely as possible.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Input: a distance / dissimilarity matrix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Output: coordinates (e.g. 2-D) that reproduce those distances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Classical (metric) MDS on Euclidean distance ≈ PCA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Reconstruct a map from distances</a:t>
            </a:r>
          </a:p>
        </p:txBody>
      </p:sp>
      <p:pic>
        <p:nvPicPr>
          <p:cNvPr id="6" name="Picture 5" descr="L09_m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752383"/>
            <a:ext cx="9144000" cy="39933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Given only pairwise distances, MDS recovers a configuration that preserves them — like rebuilding a map from a table of city-to-city distances.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MDS minimises stress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Stress = Σ_{i&lt;j} ( d_{ij} − ‖zᵢ − zⱼ‖ )²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d_{ij}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original dissimilarity between i and j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‖zᵢ − zⱼ‖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distance in the low-dim embedding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Minimising stress = matching the two as well as possible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5486400"/>
            <a:ext cx="923544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548640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5559552"/>
            <a:ext cx="8778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Low stress = a faithful low-dimensional picture.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FLAVOURS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Metric vs non-metric MDS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Metric MDS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preserves the actual distance values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Non-metric MDS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preserves only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rank order</a:t>
            </a:r>
            <a:r>
              <a:rPr sz="2000" b="0">
                <a:solidFill>
                  <a:srgbClr val="1B2430"/>
                </a:solidFill>
                <a:latin typeface="Calibri"/>
              </a:rPr>
              <a:t> of distances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Use non-metric when only ordinal dissimilarities are meaningful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Works with </a:t>
            </a:r>
            <a:r>
              <a:rPr sz="2000" b="1">
                <a:solidFill>
                  <a:srgbClr val="1B2430"/>
                </a:solidFill>
                <a:latin typeface="Calibri"/>
              </a:rPr>
              <a:t>any</a:t>
            </a:r>
            <a:r>
              <a:rPr sz="2000" b="0">
                <a:solidFill>
                  <a:srgbClr val="1B2430"/>
                </a:solidFill>
                <a:latin typeface="Calibri"/>
              </a:rPr>
              <a:t> distance — a big advantage over raw PCA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MDS takes as its input primarily…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The raw data matrix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A matrix of pairwise distances/dissimilarities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Class labels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Principal components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MDS works from a dissimilarity matrix, arranging points to reproduce those dissimilarities in low dimensions.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t-SNE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t-SNE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t-distributed Stochastic Neighbour Embedding</a:t>
            </a:r>
            <a:r>
              <a:rPr sz="2000" b="0">
                <a:solidFill>
                  <a:srgbClr val="1B2430"/>
                </a:solidFill>
                <a:latin typeface="Calibri"/>
              </a:rPr>
              <a:t> places points so that </a:t>
            </a:r>
            <a:r>
              <a:rPr sz="2000" b="1">
                <a:solidFill>
                  <a:srgbClr val="1B2430"/>
                </a:solidFill>
                <a:latin typeface="Calibri"/>
              </a:rPr>
              <a:t>near neighbours stay near</a:t>
            </a:r>
            <a:r>
              <a:rPr sz="2000" b="0">
                <a:solidFill>
                  <a:srgbClr val="1B2430"/>
                </a:solidFill>
                <a:latin typeface="Calibri"/>
              </a:rPr>
              <a:t>, emphasising local structure for visualisation.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Converts distances into neighbour </a:t>
            </a:r>
            <a:r>
              <a:rPr sz="1800" b="1">
                <a:solidFill>
                  <a:srgbClr val="1B2430"/>
                </a:solidFill>
                <a:latin typeface="Calibri"/>
              </a:rPr>
              <a:t>probabilities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Matches those probabilities in 2-D using a heavy-tailed (t) distribution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Superb at revealing clusters; a visualisation tool, not a general reducer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t-SNE in four ideas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19072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Neighbours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8483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for each point, define probabilities of picking each other point as a neighbour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61488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743200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Low-dim mirror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10896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define similar probabilities in the 2-D map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785616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85616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767328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13308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move points to make the two probability sets agree (minimise KL divergence)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809744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09744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79145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Heavy 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15721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the t-distribution stops distant points crowding the centre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Perplexity changes the picture</a:t>
            </a:r>
          </a:p>
        </p:txBody>
      </p:sp>
      <p:pic>
        <p:nvPicPr>
          <p:cNvPr id="6" name="Picture 5" descr="L09_perplex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227250"/>
            <a:ext cx="9144000" cy="30435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Perplexity ≈ the effective number of neighbours. Too small fragments clusters; too large merges them. Always try several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READING T-SNE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What you may and may NOT conclude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Do</a:t>
            </a:r>
            <a:r>
              <a:rPr sz="2000" b="0">
                <a:solidFill>
                  <a:srgbClr val="1B2430"/>
                </a:solidFill>
                <a:latin typeface="Calibri"/>
              </a:rPr>
              <a:t> trust: which points form tight local groups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Don't</a:t>
            </a:r>
            <a:r>
              <a:rPr sz="2000" b="0">
                <a:solidFill>
                  <a:srgbClr val="1B2430"/>
                </a:solidFill>
                <a:latin typeface="Calibri"/>
              </a:rPr>
              <a:t> trust: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sizes</a:t>
            </a:r>
            <a:r>
              <a:rPr sz="2000" b="0">
                <a:solidFill>
                  <a:srgbClr val="1B2430"/>
                </a:solidFill>
                <a:latin typeface="Calibri"/>
              </a:rPr>
              <a:t> of clusters — they're distorted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Don't</a:t>
            </a:r>
            <a:r>
              <a:rPr sz="2000" b="0">
                <a:solidFill>
                  <a:srgbClr val="1B2430"/>
                </a:solidFill>
                <a:latin typeface="Calibri"/>
              </a:rPr>
              <a:t> trust: </a:t>
            </a:r>
            <a:r>
              <a:rPr sz="2000" b="1">
                <a:solidFill>
                  <a:srgbClr val="1B2430"/>
                </a:solidFill>
                <a:latin typeface="Calibri"/>
              </a:rPr>
              <a:t>distances between</a:t>
            </a:r>
            <a:r>
              <a:rPr sz="2000" b="0">
                <a:solidFill>
                  <a:srgbClr val="1B2430"/>
                </a:solidFill>
                <a:latin typeface="Calibri"/>
              </a:rPr>
              <a:t> clusters — not meaningful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Don't</a:t>
            </a:r>
            <a:r>
              <a:rPr sz="2000" b="0">
                <a:solidFill>
                  <a:srgbClr val="1B2430"/>
                </a:solidFill>
                <a:latin typeface="Calibri"/>
              </a:rPr>
              <a:t> trust: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global</a:t>
            </a:r>
            <a:r>
              <a:rPr sz="2000" b="0">
                <a:solidFill>
                  <a:srgbClr val="1B2430"/>
                </a:solidFill>
                <a:latin typeface="Calibri"/>
              </a:rPr>
              <a:t> layout — it can be arbitrary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A FAMOUS WARNING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In t-SNE, cluster sizes and between-cluster distances are essentially meaningless — only local neighbourhoods are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Beautiful plots invite over-interpretation. Report it as exploratory.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In a t-SNE plot, two clusters are far apart. You may conclude…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They are very different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Nothing reliable — t-SNE distorts between-cluster distance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One is larger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They will never merge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t-SNE preserves local neighbourhoods, not global distances, so the gap between two clusters carries little meaning.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UMAP &amp; the modern toolkit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UMAP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Uniform Manifold Approximation and Projection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is a newer non-linear reducer that is faster than t-SNE and better preserves some global 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Built on manifold theory and graph layout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Scales to large data; increasingly the default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Still a visualisation tool — read with the same caution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dimension-reduction toolkit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828800"/>
                <a:gridCol w="3108960"/>
                <a:gridCol w="384048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Preserves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Main use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PCA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linear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variance / global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compress, preprocess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MDS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linear*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distances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faithful geometry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t-SNE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non-linear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local neighbours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cluster visualisation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UMAP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non-linear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local + some global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fast visualisation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22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T-SNE VS UMAP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Choosing between the two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t-SNE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Excellent local structure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Slower on big data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Global layout unreliable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Very widely cited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UMAP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Fast, scales well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Keeps more global structure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Can embed new points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Now often preferred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In practice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Dimension reduction in a few 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3877056"/>
          </a:xfrm>
          <a:prstGeom prst="round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0058400" cy="3602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X &lt;- scale(diet_numeric)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7C938A"/>
                </a:solidFill>
                <a:latin typeface="Consolas"/>
              </a:rPr>
              <a:t># MDS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mds &lt;- cmdscale(dist(X), k = 2)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7C938A"/>
                </a:solidFill>
                <a:latin typeface="Consolas"/>
              </a:rPr>
              <a:t># t-SNE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library(Rtsne)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ts &lt;- Rtsne(X, perplexity = 30)$Y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7C938A"/>
                </a:solidFill>
                <a:latin typeface="Consolas"/>
              </a:rPr>
              <a:t># UMAP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library(umap); um &lt;- umap(X)$layout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24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sensible reduction pipeline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19072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Clean &amp; standardise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8483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as always for distance-based methods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06624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06624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8833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PCA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05409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reduce noise; often feed ~30 PCs into t-SNE/UMAP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675888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6758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657600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Non-linear embed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02336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t-SNE or UMAP for the 2-D picture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645152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4515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626864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Colour by metadata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9926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overlay a known group to interpret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614416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614416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596128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Cross-check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96188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does clustering on the data agree with the picture?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98932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98932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606247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Running t-SNE/UMAP on PCA scores is standard — faster and less noisy.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INTERPRETING HONESTLY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Rules for your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Label the axes as </a:t>
            </a:r>
            <a:r>
              <a:rPr sz="2000" b="1">
                <a:solidFill>
                  <a:srgbClr val="1B2430"/>
                </a:solidFill>
                <a:latin typeface="Calibri"/>
              </a:rPr>
              <a:t>arbitrary</a:t>
            </a:r>
            <a:r>
              <a:rPr sz="2000" b="0">
                <a:solidFill>
                  <a:srgbClr val="1B2430"/>
                </a:solidFill>
                <a:latin typeface="Calibri"/>
              </a:rPr>
              <a:t> for t-SNE/UMAP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State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perplexity / parameters</a:t>
            </a:r>
            <a:r>
              <a:rPr sz="2000" b="0">
                <a:solidFill>
                  <a:srgbClr val="1B2430"/>
                </a:solidFill>
                <a:latin typeface="Calibri"/>
              </a:rPr>
              <a:t> you used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Show that clusters are </a:t>
            </a:r>
            <a:r>
              <a:rPr sz="2000" b="1">
                <a:solidFill>
                  <a:srgbClr val="1B2430"/>
                </a:solidFill>
                <a:latin typeface="Calibri"/>
              </a:rPr>
              <a:t>stable</a:t>
            </a:r>
            <a:r>
              <a:rPr sz="2000" b="0">
                <a:solidFill>
                  <a:srgbClr val="1B2430"/>
                </a:solidFill>
                <a:latin typeface="Calibri"/>
              </a:rPr>
              <a:t> across runs / settings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Back up visual clusters with a </a:t>
            </a:r>
            <a:r>
              <a:rPr sz="2000" b="1">
                <a:solidFill>
                  <a:srgbClr val="1B2430"/>
                </a:solidFill>
                <a:latin typeface="Calibri"/>
              </a:rPr>
              <a:t>quantitative</a:t>
            </a:r>
            <a:r>
              <a:rPr sz="2000" b="0">
                <a:solidFill>
                  <a:srgbClr val="1B2430"/>
                </a:solidFill>
                <a:latin typeface="Calibri"/>
              </a:rPr>
              <a:t> 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Pitfalls, applications &amp; wrap-up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Where students go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Treating a t-SNE plot as </a:t>
            </a:r>
            <a:r>
              <a:rPr sz="2000" b="1">
                <a:solidFill>
                  <a:srgbClr val="1B2430"/>
                </a:solidFill>
                <a:latin typeface="Calibri"/>
              </a:rPr>
              <a:t>quantitative</a:t>
            </a:r>
            <a:r>
              <a:rPr sz="2000" b="0">
                <a:solidFill>
                  <a:srgbClr val="1B2430"/>
                </a:solidFill>
                <a:latin typeface="Calibri"/>
              </a:rPr>
              <a:t> truth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Forgetting to </a:t>
            </a:r>
            <a:r>
              <a:rPr sz="2000" b="1">
                <a:solidFill>
                  <a:srgbClr val="1B2430"/>
                </a:solidFill>
                <a:latin typeface="Calibri"/>
              </a:rPr>
              <a:t>standardise</a:t>
            </a:r>
            <a:r>
              <a:rPr sz="2000" b="0">
                <a:solidFill>
                  <a:srgbClr val="1B2430"/>
                </a:solidFill>
                <a:latin typeface="Calibri"/>
              </a:rPr>
              <a:t> or to set a </a:t>
            </a:r>
            <a:r>
              <a:rPr sz="2000" b="1">
                <a:solidFill>
                  <a:srgbClr val="1B2430"/>
                </a:solidFill>
                <a:latin typeface="Calibri"/>
              </a:rPr>
              <a:t>seed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Reading meaning into cluster </a:t>
            </a:r>
            <a:r>
              <a:rPr sz="2000" b="1">
                <a:solidFill>
                  <a:srgbClr val="1B2430"/>
                </a:solidFill>
                <a:latin typeface="Calibri"/>
              </a:rPr>
              <a:t>sizes / gaps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Using non-linear embeddings as model </a:t>
            </a:r>
            <a:r>
              <a:rPr sz="2000" b="1">
                <a:solidFill>
                  <a:srgbClr val="1B2430"/>
                </a:solidFill>
                <a:latin typeface="Calibri"/>
              </a:rPr>
              <a:t>features</a:t>
            </a:r>
            <a:r>
              <a:rPr sz="2000" b="0">
                <a:solidFill>
                  <a:srgbClr val="1B2430"/>
                </a:solidFill>
                <a:latin typeface="Calibri"/>
              </a:rPr>
              <a:t> (they don't generalise well)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27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WHEN TO USE WHICH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quick decision guide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Reach for PCA/MDS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You need faithful distances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You'll model on the output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Interpretability matters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Reach for t-SNE/UMAP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You're </a:t>
            </a:r>
            <a:r>
              <a:rPr sz="1600" b="1">
                <a:solidFill>
                  <a:srgbClr val="1B2430"/>
                </a:solidFill>
                <a:latin typeface="Calibri"/>
              </a:rPr>
              <a:t>exploring</a:t>
            </a:r>
            <a:r>
              <a:rPr sz="1600" b="0">
                <a:solidFill>
                  <a:srgbClr val="1B2430"/>
                </a:solidFill>
                <a:latin typeface="Calibri"/>
              </a:rPr>
              <a:t> for clusters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Structure looks non-linear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The output is a </a:t>
            </a:r>
            <a:r>
              <a:rPr sz="1600" b="1">
                <a:solidFill>
                  <a:srgbClr val="1B2430"/>
                </a:solidFill>
                <a:latin typeface="Calibri"/>
              </a:rPr>
              <a:t>picture</a:t>
            </a:r>
            <a:r>
              <a:rPr sz="1600" b="0">
                <a:solidFill>
                  <a:srgbClr val="1B2430"/>
                </a:solidFill>
                <a:latin typeface="Calibri"/>
              </a:rPr>
              <a:t>, not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28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Non-linear reduction in the wild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Single-cell genomics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UMAP of thousands of cell types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Metabolomics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visualising participant subtypes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Image / text embeddings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mapping high-dim features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Relevant to your project's </a:t>
            </a:r>
            <a:r>
              <a:rPr sz="2000" b="1">
                <a:solidFill>
                  <a:srgbClr val="1B2430"/>
                </a:solidFill>
                <a:latin typeface="Calibri"/>
              </a:rPr>
              <a:t>exploratory</a:t>
            </a:r>
            <a:r>
              <a:rPr sz="2000" b="0">
                <a:solidFill>
                  <a:srgbClr val="1B2430"/>
                </a:solidFill>
                <a:latin typeface="Calibri"/>
              </a:rPr>
              <a:t> phase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29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Intrinsic dimension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intrinsic dimension</a:t>
            </a:r>
            <a:r>
              <a:rPr sz="2000" b="0">
                <a:solidFill>
                  <a:srgbClr val="1B2430"/>
                </a:solidFill>
                <a:latin typeface="Calibri"/>
              </a:rPr>
              <a:t> is the true number of coordinates needed to describe the data, often far smaller than the number of variables.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The manifold hypothesis says this is usually small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Dimension reduction tries to recover it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Estimating it guides how many components to keep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30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You need reduced features to feed into a classifier that must work on new data. Best choice?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t-SNE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UMAP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PCA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A random projection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PCA gives a fixed, reproducible linear map you can apply to new data. t-SNE has no clean out-of-sample mapping and is meant for visualisation.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31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Reduce and interpret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Standardise the nutrition data and run PCA, t-SNE (perplexity 5, 30, 50) and UMAP.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Which methods show clear participant groups? Are they stable across t-SNE settings?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Colour the embeddings by a health outcome — do groups align with it?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4.  </a:t>
            </a:r>
            <a:r>
              <a:rPr sz="1900" b="0">
                <a:solidFill>
                  <a:srgbClr val="1B2430"/>
                </a:solidFill>
                <a:latin typeface="Calibri"/>
              </a:rPr>
              <a:t>Write one sentence you could defend about the structure, and one you could NOT.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Defensible: 'points form tight local neighbourhoods'. Not defensible: 'cluster A is twice as big / far from B' in t-SNE.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32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KEY IDEAS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Hold onto these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MDS</a:t>
            </a:r>
            <a:r>
              <a:rPr sz="2000" b="0">
                <a:solidFill>
                  <a:srgbClr val="1B2430"/>
                </a:solidFill>
                <a:latin typeface="Calibri"/>
              </a:rPr>
              <a:t> preserves distances; </a:t>
            </a:r>
            <a:r>
              <a:rPr sz="2000" b="1">
                <a:solidFill>
                  <a:srgbClr val="1B2430"/>
                </a:solidFill>
                <a:latin typeface="Calibri"/>
              </a:rPr>
              <a:t>t-SNE/UMAP</a:t>
            </a:r>
            <a:r>
              <a:rPr sz="2000" b="0">
                <a:solidFill>
                  <a:srgbClr val="1B2430"/>
                </a:solidFill>
                <a:latin typeface="Calibri"/>
              </a:rPr>
              <a:t> preserve local neighbourhoods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Non-linear methods reveal structure PCA </a:t>
            </a:r>
            <a:r>
              <a:rPr sz="2000" b="1">
                <a:solidFill>
                  <a:srgbClr val="1B2430"/>
                </a:solidFill>
                <a:latin typeface="Calibri"/>
              </a:rPr>
              <a:t>can't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Their plots are </a:t>
            </a:r>
            <a:r>
              <a:rPr sz="2000" b="1">
                <a:solidFill>
                  <a:srgbClr val="1B2430"/>
                </a:solidFill>
                <a:latin typeface="Calibri"/>
              </a:rPr>
              <a:t>exploratory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sizes &amp; gaps are unreliable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PCA-then-t-SNE/UMAP</a:t>
            </a:r>
            <a:r>
              <a:rPr sz="2000" b="0">
                <a:solidFill>
                  <a:srgbClr val="1B2430"/>
                </a:solidFill>
                <a:latin typeface="Calibri"/>
              </a:rPr>
              <a:t>, standardise, set seeds, validate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33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FURTHER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To go deeper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van der Maaten &amp; Hinton (2008) — the t-SNE paper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McInnes et al. (2018) — UMAP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*Distill.pub* — 'How to Use t-SNE Effectively'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34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More methods &amp; diagnostics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Isomap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Isomap</a:t>
            </a:r>
            <a:r>
              <a:rPr sz="2000" b="0">
                <a:solidFill>
                  <a:srgbClr val="1B2430"/>
                </a:solidFill>
                <a:latin typeface="Calibri"/>
              </a:rPr>
              <a:t> is MDS on </a:t>
            </a:r>
            <a:r>
              <a:rPr sz="2000" b="1">
                <a:solidFill>
                  <a:srgbClr val="1B2430"/>
                </a:solidFill>
                <a:latin typeface="Calibri"/>
              </a:rPr>
              <a:t>geodesic</a:t>
            </a:r>
            <a:r>
              <a:rPr sz="2000" b="0">
                <a:solidFill>
                  <a:srgbClr val="1B2430"/>
                </a:solidFill>
                <a:latin typeface="Calibri"/>
              </a:rPr>
              <a:t> distances — distances measured *along* the manifold rather than straight through 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Builds a neighbour graph, then shortest paths approximate geodesics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Unrolls curved manifolds like the Swiss roll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A bridge between MDS and non-linear methods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35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WIDER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Manifold-learning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LLE</a:t>
            </a:r>
            <a:r>
              <a:rPr sz="2000" b="0">
                <a:solidFill>
                  <a:srgbClr val="1B2430"/>
                </a:solidFill>
                <a:latin typeface="Calibri"/>
              </a:rPr>
              <a:t> (Locally Linear Embedding) — preserve local linear reconstructions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Kernel PCA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PCA in a transformed feature space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Spectral embedding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eigenvectors of a similarity graph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Autoencoders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neural networks that learn a compressed code (preview of NNs)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36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Shepard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A </a:t>
            </a:r>
            <a:r>
              <a:rPr sz="2000" b="1">
                <a:solidFill>
                  <a:srgbClr val="1B2430"/>
                </a:solidFill>
                <a:latin typeface="Calibri"/>
              </a:rPr>
              <a:t>Shepard diagram</a:t>
            </a:r>
            <a:r>
              <a:rPr sz="2000" b="0">
                <a:solidFill>
                  <a:srgbClr val="1B2430"/>
                </a:solidFill>
                <a:latin typeface="Calibri"/>
              </a:rPr>
              <a:t> plots embedded distances against original distances to judge how faithfully an embedding preserves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Points near the diagonal = distances well preserved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Scatter = distortion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A quick honesty check for MDS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37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GOODNESS OF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Is the picture trustworthy?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Stress</a:t>
            </a:r>
            <a:r>
              <a:rPr sz="2000" b="0">
                <a:solidFill>
                  <a:srgbClr val="1B2430"/>
                </a:solidFill>
                <a:latin typeface="Calibri"/>
              </a:rPr>
              <a:t> (MDS) — lower is better; report it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Shepard diagram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visual check of distance preservation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Stability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rerun with new seeds; do groups persist?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Agreement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does clustering confirm the visual groups?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38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COMPUTATIONAL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Practical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Classical MDS &amp; PCA — fast (linear algebra)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t-SNE — </a:t>
            </a:r>
            <a:r>
              <a:rPr sz="2000" b="1">
                <a:solidFill>
                  <a:srgbClr val="1B2430"/>
                </a:solidFill>
                <a:latin typeface="Calibri"/>
              </a:rPr>
              <a:t>O(n²)</a:t>
            </a:r>
            <a:r>
              <a:rPr sz="2000" b="0">
                <a:solidFill>
                  <a:srgbClr val="1B2430"/>
                </a:solidFill>
                <a:latin typeface="Calibri"/>
              </a:rPr>
              <a:t> naively; slow for large 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UMAP — much faster, scales to big data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PCA-first</a:t>
            </a:r>
            <a:r>
              <a:rPr sz="2000" b="0">
                <a:solidFill>
                  <a:srgbClr val="1B2430"/>
                </a:solidFill>
                <a:latin typeface="Calibri"/>
              </a:rPr>
              <a:t> cuts cost and noise for all of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39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Which method is designed to 'unroll' a curved manifold using distances along it?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PCA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Isomap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Classical MDS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Random projection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Isomap uses geodesic (along-manifold) distances, letting it unroll curved structures that straight-line methods cannot.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40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Consolidation &amp; a worked case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THE MENTAL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PCA asks 'which directions vary most?'; MDS asks 'can I preserve distances?'; t-SNE/UMAP ask 'who are each point's neighbours?'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Three different questions — pick the one your problem is really asking.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DECISION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Picking a reducer, expanded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560320"/>
                <a:gridCol w="493776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Compress / preprocess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linear-ish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PCA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Preserve distances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any distance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MDS / Isomap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Explore clusters (viz)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non-linear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t-SNE / UMAP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Features for a model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any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PCA (reproducible map)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42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Metabolite subtypes, exploratory 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Standardise 40 metabolites; run </a:t>
            </a:r>
            <a:r>
              <a:rPr sz="2000" b="1">
                <a:solidFill>
                  <a:srgbClr val="1B2430"/>
                </a:solidFill>
                <a:latin typeface="Calibri"/>
              </a:rPr>
              <a:t>PCA</a:t>
            </a:r>
            <a:r>
              <a:rPr sz="2000" b="0">
                <a:solidFill>
                  <a:srgbClr val="1B2430"/>
                </a:solidFill>
                <a:latin typeface="Calibri"/>
              </a:rPr>
              <a:t> → keep 15 PCs (90% variance)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Feed PCs into </a:t>
            </a:r>
            <a:r>
              <a:rPr sz="2000" b="1">
                <a:solidFill>
                  <a:srgbClr val="1B2430"/>
                </a:solidFill>
                <a:latin typeface="Calibri"/>
              </a:rPr>
              <a:t>UMAP</a:t>
            </a:r>
            <a:r>
              <a:rPr sz="2000" b="0">
                <a:solidFill>
                  <a:srgbClr val="1B2430"/>
                </a:solidFill>
                <a:latin typeface="Calibri"/>
              </a:rPr>
              <a:t>; colour by a clinical variable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See 3 apparent groups → </a:t>
            </a:r>
            <a:r>
              <a:rPr sz="2000" b="1">
                <a:solidFill>
                  <a:srgbClr val="1B2430"/>
                </a:solidFill>
                <a:latin typeface="Calibri"/>
              </a:rPr>
              <a:t>confirm</a:t>
            </a:r>
            <a:r>
              <a:rPr sz="2000" b="0">
                <a:solidFill>
                  <a:srgbClr val="1B2430"/>
                </a:solidFill>
                <a:latin typeface="Calibri"/>
              </a:rPr>
              <a:t> with GMM on the PCs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Report UMAP as </a:t>
            </a:r>
            <a:r>
              <a:rPr sz="2000" b="1">
                <a:solidFill>
                  <a:srgbClr val="1B2430"/>
                </a:solidFill>
                <a:latin typeface="Calibri"/>
              </a:rPr>
              <a:t>exploratory</a:t>
            </a:r>
            <a:r>
              <a:rPr sz="2000" b="0">
                <a:solidFill>
                  <a:srgbClr val="1B2430"/>
                </a:solidFill>
                <a:latin typeface="Calibri"/>
              </a:rPr>
              <a:t>, GMM clusters as the quantitative claim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43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DO &amp; DON'T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Non-linear reduction hygiene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PCA-first, standardise, set seeds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Try several perplexities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Validate with clustering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Report parameters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Don't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Read sizes/gaps as real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Use t-SNE coords as features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Trust one run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Skip the honesty checks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44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Critique a figure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A paper shows a t-SNE plot and claims 'group A is far more diverse than group B'.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Why is that claim unsupportable from t-SNE alone?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What analysis *would* support a claim about within-group diversity?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4.  </a:t>
            </a:r>
            <a:r>
              <a:rPr sz="1900" b="0">
                <a:solidFill>
                  <a:srgbClr val="1B2430"/>
                </a:solidFill>
                <a:latin typeface="Calibri"/>
              </a:rPr>
              <a:t>Rewrite the caption to be defensible.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t-SNE distorts cluster size/spread; measure diversity with variance/pairwise distances in the original (or PCA) space.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45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Out-of-sample extension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The ability to project </a:t>
            </a:r>
            <a:r>
              <a:rPr sz="2000" b="1">
                <a:solidFill>
                  <a:srgbClr val="1B2430"/>
                </a:solidFill>
                <a:latin typeface="Calibri"/>
              </a:rPr>
              <a:t>new</a:t>
            </a:r>
            <a:r>
              <a:rPr sz="2000" b="0">
                <a:solidFill>
                  <a:srgbClr val="1B2430"/>
                </a:solidFill>
                <a:latin typeface="Calibri"/>
              </a:rPr>
              <a:t> points into an existing embedding without refitting.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PCA &amp; UMAP support it cleanly (a reusable mapping)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Standard t-SNE does </a:t>
            </a:r>
            <a:r>
              <a:rPr sz="1800" b="1">
                <a:solidFill>
                  <a:srgbClr val="1B2430"/>
                </a:solidFill>
                <a:latin typeface="Calibri"/>
              </a:rPr>
              <a:t>not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a key limitation for pipelines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Matters when you'll see new data (almost always)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46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You need to embed NEW participants into an existing 2-D map next month. Avoid…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PCA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UMAP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Standard t-SNE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Isomap with a mapping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Standard t-SNE has no clean out-of-sample extension; PCA and UMAP provide reusable mappings for new points.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47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CHAPTER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Before moving on, you can…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Explain why PCA fails on curved manifolds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Describe MDS, t-SNE and UMAP and their goals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List what you may NOT read from a t-SNE plot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Give a PCA-first, seed-set, validated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48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Autoencoder (preview)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An </a:t>
            </a:r>
            <a:r>
              <a:rPr sz="2000" b="1">
                <a:solidFill>
                  <a:srgbClr val="1B2430"/>
                </a:solidFill>
                <a:latin typeface="Calibri"/>
              </a:rPr>
              <a:t>autoencoder</a:t>
            </a:r>
            <a:r>
              <a:rPr sz="2000" b="0">
                <a:solidFill>
                  <a:srgbClr val="1B2430"/>
                </a:solidFill>
                <a:latin typeface="Calibri"/>
              </a:rPr>
              <a:t> is a neural network trained to compress data to a small 'code' and reconstruct it — a non-linear generalisation of PCA.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The bottleneck layer is the reduced representation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Linear autoencoder ≈ PCA; non-linear ones capture curved structure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We meet neural networks in Lectures 17–18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49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APPLICATIONS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Where reduction pays 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Visualisation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of high-dim participant data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Preprocessing</a:t>
            </a:r>
            <a:r>
              <a:rPr sz="2000" b="0">
                <a:solidFill>
                  <a:srgbClr val="1B2430"/>
                </a:solidFill>
                <a:latin typeface="Calibri"/>
              </a:rPr>
              <a:t> before clustering / classification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Denoising</a:t>
            </a:r>
            <a:r>
              <a:rPr sz="2000" b="0">
                <a:solidFill>
                  <a:srgbClr val="1B2430"/>
                </a:solidFill>
                <a:latin typeface="Calibri"/>
              </a:rPr>
              <a:t> by dropping low-variance directions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Compression</a:t>
            </a:r>
            <a:r>
              <a:rPr sz="2000" b="0">
                <a:solidFill>
                  <a:srgbClr val="1B2430"/>
                </a:solidFill>
                <a:latin typeface="Calibri"/>
              </a:rPr>
              <a:t> for storage and speed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50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ONE LINE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Reduce dimensions to *see* and to *simplify* — but always check that the reduced picture tells the truth.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A pretty embedding is a hypothesis, not a result.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PCA is linear; </a:t>
            </a:r>
            <a:r>
              <a:rPr sz="2000" b="1">
                <a:solidFill>
                  <a:srgbClr val="1B2430"/>
                </a:solidFill>
                <a:latin typeface="Calibri"/>
              </a:rPr>
              <a:t>MDS, t-SNE and UMAP</a:t>
            </a:r>
            <a:r>
              <a:rPr sz="2000" b="0">
                <a:solidFill>
                  <a:srgbClr val="1B2430"/>
                </a:solidFill>
                <a:latin typeface="Calibri"/>
              </a:rPr>
              <a:t> handle distances and non-linear structure.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1">
                <a:solidFill>
                  <a:srgbClr val="1B2430"/>
                </a:solidFill>
                <a:latin typeface="Calibri"/>
              </a:rPr>
              <a:t>MDS</a:t>
            </a:r>
            <a:r>
              <a:rPr sz="2000" b="0">
                <a:solidFill>
                  <a:srgbClr val="1B2430"/>
                </a:solidFill>
                <a:latin typeface="Calibri"/>
              </a:rPr>
              <a:t> preserves distances; </a:t>
            </a:r>
            <a:r>
              <a:rPr sz="2000" b="1">
                <a:solidFill>
                  <a:srgbClr val="1B2430"/>
                </a:solidFill>
                <a:latin typeface="Calibri"/>
              </a:rPr>
              <a:t>t-SNE/UMAP</a:t>
            </a:r>
            <a:r>
              <a:rPr sz="2000" b="0">
                <a:solidFill>
                  <a:srgbClr val="1B2430"/>
                </a:solidFill>
                <a:latin typeface="Calibri"/>
              </a:rPr>
              <a:t> preserve local neighbourhoods for visualisation.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t-SNE/UMAP plots are </a:t>
            </a:r>
            <a:r>
              <a:rPr sz="2000" b="1">
                <a:solidFill>
                  <a:srgbClr val="1B2430"/>
                </a:solidFill>
                <a:latin typeface="Calibri"/>
              </a:rPr>
              <a:t>exploratory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cluster sizes and gaps are not trustworthy.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Standardise, often </a:t>
            </a:r>
            <a:r>
              <a:rPr sz="2000" b="1">
                <a:solidFill>
                  <a:srgbClr val="1B2430"/>
                </a:solidFill>
                <a:latin typeface="Calibri"/>
              </a:rPr>
              <a:t>PCA-first</a:t>
            </a:r>
            <a:r>
              <a:rPr sz="2000" b="0">
                <a:solidFill>
                  <a:srgbClr val="1B2430"/>
                </a:solidFill>
                <a:latin typeface="Calibri"/>
              </a:rPr>
              <a:t>, set a seed, and </a:t>
            </a:r>
            <a:r>
              <a:rPr sz="2000" b="1">
                <a:solidFill>
                  <a:srgbClr val="1B2430"/>
                </a:solidFill>
                <a:latin typeface="Calibri"/>
              </a:rPr>
              <a:t>validate</a:t>
            </a:r>
            <a:r>
              <a:rPr sz="2000" b="0">
                <a:solidFill>
                  <a:srgbClr val="1B2430"/>
                </a:solidFill>
                <a:latin typeface="Calibri"/>
              </a:rPr>
              <a:t> visual structure quantitatively.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15600" cy="777240"/>
          </a:xfrm>
          <a:prstGeom prst="round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64626"/>
                </a:solidFill>
                <a:latin typeface="Calibri"/>
              </a:rPr>
              <a:t>Next lecture →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Lecture 10 — Introduction to supervised learning: prediction, error and validation.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L09 · 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