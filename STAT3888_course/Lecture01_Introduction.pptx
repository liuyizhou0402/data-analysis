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60120"/>
            <a:ext cx="2194560" cy="457200"/>
          </a:xfrm>
          <a:prstGeom prst="round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42415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LECTURE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Introduction to Statistical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6052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8D4E2"/>
                </a:solidFill>
                <a:latin typeface="Calibri"/>
              </a:rPr>
              <a:t>What machine learning is, the two big families of methods, the analysis workflow, and the interdisciplinary nutrition project you will tackle this semester.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806440"/>
            <a:ext cx="10515600" cy="15240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FADBD"/>
                </a:solidFill>
                <a:latin typeface="Calibri"/>
              </a:rPr>
              <a:t>School of Mathematics &amp; Statistics · The University of Sydney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Welcome &amp; orientation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 we will cover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What statistical machine learning is — and is not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Supervised vs unsupervised learning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Regression vs classification; the model 'zoo'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end-to-end data-analysis workflow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Overfitting and why we hold out test data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Tools: R, the tidyverse and tidymodels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NUTM3888 joint project, teams and assessment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How to succeed in this unit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ORIENTATION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shape of the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13 weeks</a:t>
            </a:r>
            <a:r>
              <a:rPr sz="2000" b="0">
                <a:solidFill>
                  <a:srgbClr val="1B2430"/>
                </a:solidFill>
                <a:latin typeface="Calibri"/>
              </a:rPr>
              <a:t>: Weeks 1–3 unsupervised learning, Weeks 4–7 supervised learning, Weeks 8–13 project work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Three </a:t>
            </a:r>
            <a:r>
              <a:rPr sz="2000" b="1">
                <a:solidFill>
                  <a:srgbClr val="1B2430"/>
                </a:solidFill>
                <a:latin typeface="Calibri"/>
              </a:rPr>
              <a:t>1-hour lectures</a:t>
            </a:r>
            <a:r>
              <a:rPr sz="2000" b="0">
                <a:solidFill>
                  <a:srgbClr val="1B2430"/>
                </a:solidFill>
                <a:latin typeface="Calibri"/>
              </a:rPr>
              <a:t> + a </a:t>
            </a:r>
            <a:r>
              <a:rPr sz="2000" b="1">
                <a:solidFill>
                  <a:srgbClr val="1B2430"/>
                </a:solidFill>
                <a:latin typeface="Calibri"/>
              </a:rPr>
              <a:t>tutorial/computer lab</a:t>
            </a:r>
            <a:r>
              <a:rPr sz="2000" b="0">
                <a:solidFill>
                  <a:srgbClr val="1B2430"/>
                </a:solidFill>
                <a:latin typeface="Calibri"/>
              </a:rPr>
              <a:t> + a </a:t>
            </a:r>
            <a:r>
              <a:rPr sz="2000" b="1">
                <a:solidFill>
                  <a:srgbClr val="1B2430"/>
                </a:solidFill>
                <a:latin typeface="Calibri"/>
              </a:rPr>
              <a:t>2-hour workshop</a:t>
            </a:r>
            <a:r>
              <a:rPr sz="2000" b="0">
                <a:solidFill>
                  <a:srgbClr val="1B2430"/>
                </a:solidFill>
                <a:latin typeface="Calibri"/>
              </a:rPr>
              <a:t> each week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Assessment is dominated by a </a:t>
            </a:r>
            <a:r>
              <a:rPr sz="2000" b="1">
                <a:solidFill>
                  <a:srgbClr val="1B2430"/>
                </a:solidFill>
                <a:latin typeface="Calibri"/>
              </a:rPr>
              <a:t>team project</a:t>
            </a:r>
            <a:r>
              <a:rPr sz="2000" b="0">
                <a:solidFill>
                  <a:srgbClr val="1B2430"/>
                </a:solidFill>
                <a:latin typeface="Calibri"/>
              </a:rPr>
              <a:t> on a real nutrition data set (65%) plus a final exam (35%)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Coordinator: </a:t>
            </a:r>
            <a:r>
              <a:rPr sz="2000" b="1">
                <a:solidFill>
                  <a:srgbClr val="1B2430"/>
                </a:solidFill>
                <a:latin typeface="Calibri"/>
              </a:rPr>
              <a:t>John Ormerod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questions on the Ed forum or in consultation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0">
                <a:solidFill>
                  <a:srgbClr val="1B2430"/>
                </a:solidFill>
                <a:latin typeface="Calibri"/>
              </a:rPr>
              <a:t>Prerequisite thinking: probability, linear algebra, regression, and 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What is statistical machine learning?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Machine learning in one sentence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Machine learning</a:t>
            </a:r>
            <a:r>
              <a:rPr sz="2000" b="0">
                <a:solidFill>
                  <a:srgbClr val="1B2430"/>
                </a:solidFill>
                <a:latin typeface="Calibri"/>
              </a:rPr>
              <a:t> builds algorithms that </a:t>
            </a:r>
            <a:r>
              <a:rPr sz="2000" b="1">
                <a:solidFill>
                  <a:srgbClr val="1B2430"/>
                </a:solidFill>
                <a:latin typeface="Calibri"/>
              </a:rPr>
              <a:t>learn patterns from data</a:t>
            </a:r>
            <a:r>
              <a:rPr sz="2000" b="0">
                <a:solidFill>
                  <a:srgbClr val="1B2430"/>
                </a:solidFill>
                <a:latin typeface="Calibri"/>
              </a:rPr>
              <a:t> to predict or discover structure — without being explicitly programmed for the task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Statistical</a:t>
            </a:r>
            <a:r>
              <a:rPr sz="2000" b="0">
                <a:solidFill>
                  <a:srgbClr val="1B2430"/>
                </a:solidFill>
                <a:latin typeface="Calibri"/>
              </a:rPr>
              <a:t> ML keeps the statistician's questions in view: uncertainty, assumptions, and whether the pattern is </a:t>
            </a:r>
            <a:r>
              <a:rPr sz="2000" b="1">
                <a:solidFill>
                  <a:srgbClr val="1B2430"/>
                </a:solidFill>
                <a:latin typeface="Calibri"/>
              </a:rPr>
              <a:t>real</a:t>
            </a:r>
            <a:r>
              <a:rPr sz="2000" b="0">
                <a:solidFill>
                  <a:srgbClr val="1B2430"/>
                </a:solidFill>
                <a:latin typeface="Calibri"/>
              </a:rPr>
              <a:t> or noise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Contrast with classical statistics: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0">
                <a:solidFill>
                  <a:srgbClr val="1B2430"/>
                </a:solidFill>
                <a:latin typeface="Calibri"/>
              </a:rPr>
              <a:t>Classical statistics asks *'is this effect real?'* → </a:t>
            </a:r>
            <a:r>
              <a:rPr sz="1650" b="1">
                <a:solidFill>
                  <a:srgbClr val="1B2430"/>
                </a:solidFill>
                <a:latin typeface="Calibri"/>
              </a:rPr>
              <a:t>inference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0">
                <a:solidFill>
                  <a:srgbClr val="1B2430"/>
                </a:solidFill>
                <a:latin typeface="Calibri"/>
              </a:rPr>
              <a:t>Machine learning asks *'how well can I predict the next case?'* → </a:t>
            </a:r>
            <a:r>
              <a:rPr sz="1650" b="1">
                <a:solidFill>
                  <a:srgbClr val="1B2430"/>
                </a:solidFill>
                <a:latin typeface="Calibri"/>
              </a:rPr>
              <a:t>prediction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This unit lives deliberately at their </a:t>
            </a:r>
            <a:r>
              <a:rPr sz="2000" b="1">
                <a:solidFill>
                  <a:srgbClr val="1B2430"/>
                </a:solidFill>
                <a:latin typeface="Calibri"/>
              </a:rPr>
              <a:t>intersection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Data science = statistics + computing + domain</a:t>
            </a:r>
          </a:p>
        </p:txBody>
      </p:sp>
      <p:pic>
        <p:nvPicPr>
          <p:cNvPr id="6" name="Picture 5" descr="L01_ve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4753194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ML sits where </a:t>
            </a:r>
            <a:r>
              <a:rPr sz="1500" b="1">
                <a:solidFill>
                  <a:srgbClr val="1B2430"/>
                </a:solidFill>
                <a:latin typeface="Calibri"/>
              </a:rPr>
              <a:t>statistics</a:t>
            </a:r>
            <a:r>
              <a:rPr sz="1500" b="0">
                <a:solidFill>
                  <a:srgbClr val="1B2430"/>
                </a:solidFill>
                <a:latin typeface="Calibri"/>
              </a:rPr>
              <a:t> meets </a:t>
            </a:r>
            <a:r>
              <a:rPr sz="1500" b="1">
                <a:solidFill>
                  <a:srgbClr val="1B2430"/>
                </a:solidFill>
                <a:latin typeface="Calibri"/>
              </a:rPr>
              <a:t>computer science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Data science</a:t>
            </a:r>
            <a:r>
              <a:rPr sz="1500" b="0">
                <a:solidFill>
                  <a:srgbClr val="1B2430"/>
                </a:solidFill>
                <a:latin typeface="Calibri"/>
              </a:rPr>
              <a:t> adds the third circle: </a:t>
            </a:r>
            <a:r>
              <a:rPr sz="1500" b="1">
                <a:solidFill>
                  <a:srgbClr val="1B2430"/>
                </a:solidFill>
                <a:latin typeface="Calibri"/>
              </a:rPr>
              <a:t>domain knowledge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Your project literally builds this Venn diagram: you supply the stats/CS, Nutrition students supply the domain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The hardest problems live in the </a:t>
            </a:r>
            <a:r>
              <a:rPr sz="1500" b="1">
                <a:solidFill>
                  <a:srgbClr val="1B2430"/>
                </a:solidFill>
                <a:latin typeface="Calibri"/>
              </a:rPr>
              <a:t>overlaps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TWO CULTURES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Statistics vs machine learning: a false dichotomy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Data-modelling culture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Assume a </a:t>
            </a:r>
            <a:r>
              <a:rPr sz="1600" b="1">
                <a:solidFill>
                  <a:srgbClr val="1B2430"/>
                </a:solidFill>
                <a:latin typeface="Calibri"/>
              </a:rPr>
              <a:t>stochastic model</a:t>
            </a:r>
            <a:r>
              <a:rPr sz="1600" b="0">
                <a:solidFill>
                  <a:srgbClr val="1B2430"/>
                </a:solidFill>
                <a:latin typeface="Calibri"/>
              </a:rPr>
              <a:t> generated the data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Estimate parameters, test hypotheses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Prize </a:t>
            </a:r>
            <a:r>
              <a:rPr sz="1600" b="1">
                <a:solidFill>
                  <a:srgbClr val="1B2430"/>
                </a:solidFill>
                <a:latin typeface="Calibri"/>
              </a:rPr>
              <a:t>interpretability</a:t>
            </a:r>
            <a:r>
              <a:rPr sz="1600" b="0">
                <a:solidFill>
                  <a:srgbClr val="1B2430"/>
                </a:solidFill>
                <a:latin typeface="Calibri"/>
              </a:rPr>
              <a:t> and inference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e.g. linear &amp; logistic regression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Algorithmic culture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Treat the mechanism as </a:t>
            </a:r>
            <a:r>
              <a:rPr sz="1600" b="1">
                <a:solidFill>
                  <a:srgbClr val="1B2430"/>
                </a:solidFill>
                <a:latin typeface="Calibri"/>
              </a:rPr>
              <a:t>unknown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Optimise </a:t>
            </a:r>
            <a:r>
              <a:rPr sz="1600" b="1">
                <a:solidFill>
                  <a:srgbClr val="1B2430"/>
                </a:solidFill>
                <a:latin typeface="Calibri"/>
              </a:rPr>
              <a:t>predictive accuracy</a:t>
            </a:r>
            <a:r>
              <a:rPr sz="1600" b="0">
                <a:solidFill>
                  <a:srgbClr val="1B2430"/>
                </a:solidFill>
                <a:latin typeface="Calibri"/>
              </a:rPr>
              <a:t> directly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Prize </a:t>
            </a:r>
            <a:r>
              <a:rPr sz="1600" b="1">
                <a:solidFill>
                  <a:srgbClr val="1B2430"/>
                </a:solidFill>
                <a:latin typeface="Calibri"/>
              </a:rPr>
              <a:t>flexibility</a:t>
            </a:r>
            <a:r>
              <a:rPr sz="1600" b="0">
                <a:solidFill>
                  <a:srgbClr val="1B2430"/>
                </a:solidFill>
                <a:latin typeface="Calibri"/>
              </a:rPr>
              <a:t> and performance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e.g. random forests, neural nets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BREIMAN (2001)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'two cultures' — and why you need both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Leo Breiman warned that statisticians ignoring algorithmic models were missing powerful tools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But pure prediction with </a:t>
            </a:r>
            <a:r>
              <a:rPr sz="2000" b="1">
                <a:solidFill>
                  <a:srgbClr val="1B2430"/>
                </a:solidFill>
                <a:latin typeface="Calibri"/>
              </a:rPr>
              <a:t>no</a:t>
            </a:r>
            <a:r>
              <a:rPr sz="2000" b="0">
                <a:solidFill>
                  <a:srgbClr val="1B2430"/>
                </a:solidFill>
                <a:latin typeface="Calibri"/>
              </a:rPr>
              <a:t> model understanding is dangerous in health and nutrition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Good data scientists move fluidly between both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predict well, *and* explain why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In this unit you learn interpretable methods (regression, LDA, trees) </a:t>
            </a:r>
            <a:r>
              <a:rPr sz="2000" b="1">
                <a:solidFill>
                  <a:srgbClr val="1B2430"/>
                </a:solidFill>
                <a:latin typeface="Calibri"/>
              </a:rPr>
              <a:t>and</a:t>
            </a:r>
            <a:r>
              <a:rPr sz="2000" b="0">
                <a:solidFill>
                  <a:srgbClr val="1B2430"/>
                </a:solidFill>
                <a:latin typeface="Calibri"/>
              </a:rPr>
              <a:t> flexible ones (forests, SVMs, neural nets)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two families of learning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SUPERVISED VS UNSUPERVISED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single most important distinction</a:t>
            </a:r>
          </a:p>
        </p:txBody>
      </p:sp>
      <p:pic>
        <p:nvPicPr>
          <p:cNvPr id="6" name="Picture 5" descr="L01_super_vs_unsu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02271"/>
            <a:ext cx="6858000" cy="29849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Left: unsupervised — only the points, find the groups. Right: supervised — every point carries a known label, learn the rule.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How to tell them apart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Ask: </a:t>
            </a:r>
            <a:r>
              <a:rPr sz="1500" b="1">
                <a:solidFill>
                  <a:srgbClr val="1B2430"/>
                </a:solidFill>
                <a:latin typeface="Calibri"/>
              </a:rPr>
              <a:t>is there a target variable Y?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Yes</a:t>
            </a:r>
            <a:r>
              <a:rPr sz="1500" b="0">
                <a:solidFill>
                  <a:srgbClr val="1B2430"/>
                </a:solidFill>
                <a:latin typeface="Calibri"/>
              </a:rPr>
              <a:t> → supervised learning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No</a:t>
            </a:r>
            <a:r>
              <a:rPr sz="1500" b="0">
                <a:solidFill>
                  <a:srgbClr val="1B2430"/>
                </a:solidFill>
                <a:latin typeface="Calibri"/>
              </a:rPr>
              <a:t> → unsupervised learning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If Y is a </a:t>
            </a:r>
            <a:r>
              <a:rPr sz="1500" b="1">
                <a:solidFill>
                  <a:srgbClr val="1B2430"/>
                </a:solidFill>
                <a:latin typeface="Calibri"/>
              </a:rPr>
              <a:t>number</a:t>
            </a:r>
            <a:r>
              <a:rPr sz="1500" b="0">
                <a:solidFill>
                  <a:srgbClr val="1B2430"/>
                </a:solidFill>
                <a:latin typeface="Calibri"/>
              </a:rPr>
              <a:t> → regression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If Y is a </a:t>
            </a:r>
            <a:r>
              <a:rPr sz="1500" b="1">
                <a:solidFill>
                  <a:srgbClr val="1B2430"/>
                </a:solidFill>
                <a:latin typeface="Calibri"/>
              </a:rPr>
              <a:t>category</a:t>
            </a:r>
            <a:r>
              <a:rPr sz="1500" b="0">
                <a:solidFill>
                  <a:srgbClr val="1B2430"/>
                </a:solidFill>
                <a:latin typeface="Calibri"/>
              </a:rPr>
              <a:t> → classification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SUPERVISED SUB-TYPES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Regression vs classification</a:t>
            </a:r>
          </a:p>
        </p:txBody>
      </p:sp>
      <p:pic>
        <p:nvPicPr>
          <p:cNvPr id="6" name="Picture 5" descr="L01_reg_vs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01361"/>
            <a:ext cx="9144000" cy="38953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Regression predicts a continuous outcome; classification predicts a discrete label. Same framework, different loss.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same tools, many nutrition questions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834640"/>
                <a:gridCol w="274320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Y variable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Predict fasting glucose from diet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glucose (mg/dL)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Is this participant at metabolic risk?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risk / no-risk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Group people into dietary patterns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Clustering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Summarise 200 nutrients into a few indices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Dimension reduction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Flag implausible food-diary entries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valid /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UNSUPERVISED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 can you do without labels?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Clustering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partition observations into groups (Weeks 1–2)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Dimension reduction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compress many correlated variables (PCA, Week 3)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Graphical models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map which variables are conditionally related (Week 12)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These are </a:t>
            </a:r>
            <a:r>
              <a:rPr sz="2000" b="1">
                <a:solidFill>
                  <a:srgbClr val="1B2430"/>
                </a:solidFill>
                <a:latin typeface="Calibri"/>
              </a:rPr>
              <a:t>exploratory</a:t>
            </a:r>
            <a:r>
              <a:rPr sz="2000" b="0">
                <a:solidFill>
                  <a:srgbClr val="1B2430"/>
                </a:solidFill>
                <a:latin typeface="Calibri"/>
              </a:rPr>
              <a:t>: they generate hypotheses you then test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0">
                <a:solidFill>
                  <a:srgbClr val="1B2430"/>
                </a:solidFill>
                <a:latin typeface="Calibri"/>
              </a:rPr>
              <a:t>Crucial when labelling is expensive — which is almost always in health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machine-learning workflow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Every project follows this cycle</a:t>
            </a:r>
          </a:p>
        </p:txBody>
      </p:sp>
      <p:pic>
        <p:nvPicPr>
          <p:cNvPr id="6" name="Picture 5" descr="L0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466004"/>
            <a:ext cx="9144000" cy="2566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Real projects iterate — insights at 'evaluate' send you back to 'clean' or 're-model'.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workflow, stage by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Define the question</a:t>
            </a:r>
            <a:r>
              <a:rPr sz="2000" b="0">
                <a:solidFill>
                  <a:srgbClr val="1B2430"/>
                </a:solidFill>
                <a:latin typeface="Calibri"/>
              </a:rPr>
              <a:t> with your domain partner — narrow and answerable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Clean &amp; explore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the unglamorous 80% (Lecture 2)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Model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pick methods suited to the question and data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Evaluate &amp; select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honest performance on unseen data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Communicate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a decision-maker must understand and trust the result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Iterate: the loop rarely runs cleanly 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GENERALISATION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one idea that separates ML from curve-fitting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We do </a:t>
            </a:r>
            <a:r>
              <a:rPr sz="2000" b="1">
                <a:solidFill>
                  <a:srgbClr val="1B2430"/>
                </a:solidFill>
                <a:latin typeface="Calibri"/>
              </a:rPr>
              <a:t>not</a:t>
            </a:r>
            <a:r>
              <a:rPr sz="2000" b="0">
                <a:solidFill>
                  <a:srgbClr val="1B2430"/>
                </a:solidFill>
                <a:latin typeface="Calibri"/>
              </a:rPr>
              <a:t> care how well a model fits the data it was trained 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We care how well it predicts </a:t>
            </a:r>
            <a:r>
              <a:rPr sz="2000" b="1">
                <a:solidFill>
                  <a:srgbClr val="1B2430"/>
                </a:solidFill>
                <a:latin typeface="Calibri"/>
              </a:rPr>
              <a:t>new, unseen</a:t>
            </a:r>
            <a:r>
              <a:rPr sz="2000" b="0">
                <a:solidFill>
                  <a:srgbClr val="1B2430"/>
                </a:solidFill>
                <a:latin typeface="Calibri"/>
              </a:rPr>
              <a:t> cases — </a:t>
            </a:r>
            <a:r>
              <a:rPr sz="2000" b="1">
                <a:solidFill>
                  <a:srgbClr val="1B2430"/>
                </a:solidFill>
                <a:latin typeface="Calibri"/>
              </a:rPr>
              <a:t>generalisation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So we split data: </a:t>
            </a:r>
            <a:r>
              <a:rPr sz="2000" b="1">
                <a:solidFill>
                  <a:srgbClr val="1B2430"/>
                </a:solidFill>
                <a:latin typeface="Calibri"/>
              </a:rPr>
              <a:t>train</a:t>
            </a:r>
            <a:r>
              <a:rPr sz="2000" b="0">
                <a:solidFill>
                  <a:srgbClr val="1B2430"/>
                </a:solidFill>
                <a:latin typeface="Calibri"/>
              </a:rPr>
              <a:t> the model on one part, </a:t>
            </a:r>
            <a:r>
              <a:rPr sz="2000" b="1">
                <a:solidFill>
                  <a:srgbClr val="1B2430"/>
                </a:solidFill>
                <a:latin typeface="Calibri"/>
              </a:rPr>
              <a:t>test</a:t>
            </a:r>
            <a:r>
              <a:rPr sz="2000" b="0">
                <a:solidFill>
                  <a:srgbClr val="1B2430"/>
                </a:solidFill>
                <a:latin typeface="Calibri"/>
              </a:rPr>
              <a:t> it on another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 model that memorises training data but fails on test data is </a:t>
            </a:r>
            <a:r>
              <a:rPr sz="2000" b="1">
                <a:solidFill>
                  <a:srgbClr val="1B2430"/>
                </a:solidFill>
                <a:latin typeface="Calibri"/>
              </a:rPr>
              <a:t>overfitting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0">
                <a:solidFill>
                  <a:srgbClr val="1B2430"/>
                </a:solidFill>
                <a:latin typeface="Calibri"/>
              </a:rPr>
              <a:t>Cross-validation (Lecture 10) makes this estimate reliable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CENTRAL 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Underfitting vs overfitting</a:t>
            </a:r>
          </a:p>
        </p:txBody>
      </p:sp>
      <p:pic>
        <p:nvPicPr>
          <p:cNvPr id="6" name="Picture 5" descr="L01_over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83" y="1600200"/>
            <a:ext cx="702779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Too simple (grey) misses the signal; too complex (red) chases the noise. The goal is the sweet spot (teal) — the bias–variance trade-off.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MODEL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No single method wins everywhere ('no free lunch')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Unsupervised (Wks 1–3)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Supervised (Wks 4–7)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k-means, GMM, hierarchical clustering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Logistic &amp; penalised regression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Principal component analysis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Discriminant analysis, k-NN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Dimension reduction (MDS, t-SNE)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Trees, random forests, boosting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Graphical / log-linear models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Neural networks, support vector machines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29768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29768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37083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For every method ask the same three questions: </a:t>
            </a:r>
            <a:r>
              <a:rPr sz="1500" b="1">
                <a:solidFill>
                  <a:srgbClr val="1B2430"/>
                </a:solidFill>
                <a:latin typeface="Calibri"/>
              </a:rPr>
              <a:t>what does it assume, how is it fit, and how do we know it worked?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Tools &amp; the project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You will work in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3566160"/>
          </a:xfrm>
          <a:prstGeom prst="round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47088"/>
            <a:ext cx="100584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7C938A"/>
                </a:solidFill>
                <a:latin typeface="Consolas"/>
              </a:rPr>
              <a:t># Core stack for this unit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library(tidyverse)    # data wrangling &amp; ggplot2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library(tidymodels)   # modelling workflows, resampling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library(cluster)      # silhouette, PAM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library(factoextra)   # visualising clusters &amp; PCA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7C938A"/>
                </a:solidFill>
                <a:latin typeface="Consolas"/>
              </a:rPr>
              <a:t># A first taste: read, peek, plot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diet &lt;- read_csv("nutrition.csv")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glimpse(diet)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ggplot(diet, aes(fibre, glucose)) + geom_point()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A7D"/>
                </a:solidFill>
                <a:latin typeface="Calibri"/>
              </a:rPr>
              <a:t>R + the tidyverse is the lingua franca of applied statistics at USYD.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joint project with NUTM3888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Teams of </a:t>
            </a:r>
            <a:r>
              <a:rPr sz="1600" b="1">
                <a:solidFill>
                  <a:srgbClr val="1B2430"/>
                </a:solidFill>
                <a:latin typeface="Calibri"/>
              </a:rPr>
              <a:t>Statistics/Data Science + Nutrition</a:t>
            </a:r>
            <a:r>
              <a:rPr sz="1600" b="0">
                <a:solidFill>
                  <a:srgbClr val="1B2430"/>
                </a:solidFill>
                <a:latin typeface="Calibri"/>
              </a:rPr>
              <a:t> students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A real </a:t>
            </a:r>
            <a:r>
              <a:rPr sz="1600" b="1">
                <a:solidFill>
                  <a:srgbClr val="1B2430"/>
                </a:solidFill>
                <a:latin typeface="Calibri"/>
              </a:rPr>
              <a:t>nutrition &amp; metabolomics</a:t>
            </a:r>
            <a:r>
              <a:rPr sz="1600" b="0">
                <a:solidFill>
                  <a:srgbClr val="1B2430"/>
                </a:solidFill>
                <a:latin typeface="Calibri"/>
              </a:rPr>
              <a:t> data set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Answer a genuine question using statistical ML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Runs Weeks 3–13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Interdisciplinary</a:t>
            </a:r>
            <a:r>
              <a:rPr sz="1600" b="0">
                <a:solidFill>
                  <a:srgbClr val="1B2430"/>
                </a:solidFill>
                <a:latin typeface="Calibri"/>
              </a:rPr>
              <a:t> practice (graduate quality GQ7)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You bring the </a:t>
            </a:r>
            <a:r>
              <a:rPr sz="1600" b="1">
                <a:solidFill>
                  <a:srgbClr val="1B2430"/>
                </a:solidFill>
                <a:latin typeface="Calibri"/>
              </a:rPr>
              <a:t>methods</a:t>
            </a:r>
            <a:r>
              <a:rPr sz="1600" b="0">
                <a:solidFill>
                  <a:srgbClr val="1B2430"/>
                </a:solidFill>
                <a:latin typeface="Calibri"/>
              </a:rPr>
              <a:t>; they bring the </a:t>
            </a:r>
            <a:r>
              <a:rPr sz="1600" b="1">
                <a:solidFill>
                  <a:srgbClr val="1B2430"/>
                </a:solidFill>
                <a:latin typeface="Calibri"/>
              </a:rPr>
              <a:t>question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Neither discipline succeeds alone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Mirrors real data-science teams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 the nutrition data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Participants (rows) measured on </a:t>
            </a:r>
            <a:r>
              <a:rPr sz="2000" b="1">
                <a:solidFill>
                  <a:srgbClr val="1B2430"/>
                </a:solidFill>
                <a:latin typeface="Calibri"/>
              </a:rPr>
              <a:t>dietary intake, anthropometrics and metabolites</a:t>
            </a:r>
            <a:r>
              <a:rPr sz="2000" b="0">
                <a:solidFill>
                  <a:srgbClr val="1B2430"/>
                </a:solidFill>
                <a:latin typeface="Calibri"/>
              </a:rPr>
              <a:t> (columns)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Wide and correlated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many nutrients move together → dimension reduction shines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Messy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missing values, implausible entries, mixed units → cleaning matters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Both </a:t>
            </a:r>
            <a:r>
              <a:rPr sz="2000" b="1">
                <a:solidFill>
                  <a:srgbClr val="1B2430"/>
                </a:solidFill>
                <a:latin typeface="Calibri"/>
              </a:rPr>
              <a:t>unsupervised</a:t>
            </a:r>
            <a:r>
              <a:rPr sz="2000" b="0">
                <a:solidFill>
                  <a:srgbClr val="1B2430"/>
                </a:solidFill>
                <a:latin typeface="Calibri"/>
              </a:rPr>
              <a:t> (find dietary patterns) and </a:t>
            </a:r>
            <a:r>
              <a:rPr sz="2000" b="1">
                <a:solidFill>
                  <a:srgbClr val="1B2430"/>
                </a:solidFill>
                <a:latin typeface="Calibri"/>
              </a:rPr>
              <a:t>supervised</a:t>
            </a:r>
            <a:r>
              <a:rPr sz="2000" b="0">
                <a:solidFill>
                  <a:srgbClr val="1B2430"/>
                </a:solidFill>
                <a:latin typeface="Calibri"/>
              </a:rPr>
              <a:t> (predict a health outcome) questions are natural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How you are graded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2011680"/>
                <a:gridCol w="210312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Final written exam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Exam period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Disciplinary assignment (individual)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Week 11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Major project — presentation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Week 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Major project — manuscript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Week 13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Contribution / reflection / peer 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43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Week 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80060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80060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8737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Project </a:t>
            </a:r>
            <a:r>
              <a:rPr sz="1500" b="1">
                <a:solidFill>
                  <a:srgbClr val="1B2430"/>
                </a:solidFill>
                <a:latin typeface="Calibri"/>
              </a:rPr>
              <a:t>pitch</a:t>
            </a:r>
            <a:r>
              <a:rPr sz="1500" b="0">
                <a:solidFill>
                  <a:srgbClr val="1B2430"/>
                </a:solidFill>
                <a:latin typeface="Calibri"/>
              </a:rPr>
              <a:t> (Wk 6) and optional </a:t>
            </a:r>
            <a:r>
              <a:rPr sz="1500" b="1">
                <a:solidFill>
                  <a:srgbClr val="1B2430"/>
                </a:solidFill>
                <a:latin typeface="Calibri"/>
              </a:rPr>
              <a:t>quiz</a:t>
            </a:r>
            <a:r>
              <a:rPr sz="1500" b="0">
                <a:solidFill>
                  <a:srgbClr val="1B2430"/>
                </a:solidFill>
                <a:latin typeface="Calibri"/>
              </a:rPr>
              <a:t> (Wk 9) are worth 0% but are essential rehearsals — take them seriously.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 you should be able to do by Week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Apply statistics &amp; data science to an </a:t>
            </a:r>
            <a:r>
              <a:rPr sz="2000" b="1">
                <a:solidFill>
                  <a:srgbClr val="1B2430"/>
                </a:solidFill>
                <a:latin typeface="Calibri"/>
              </a:rPr>
              <a:t>interdisciplinary</a:t>
            </a:r>
            <a:r>
              <a:rPr sz="2000" b="0">
                <a:solidFill>
                  <a:srgbClr val="1B2430"/>
                </a:solidFill>
                <a:latin typeface="Calibri"/>
              </a:rPr>
              <a:t> (nutrition) problem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Formulate, apply, interpret and compare</a:t>
            </a:r>
            <a:r>
              <a:rPr sz="2000" b="0">
                <a:solidFill>
                  <a:srgbClr val="1B2430"/>
                </a:solidFill>
                <a:latin typeface="Calibri"/>
              </a:rPr>
              <a:t> statistical ML methods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Judge </a:t>
            </a:r>
            <a:r>
              <a:rPr sz="2000" b="1">
                <a:solidFill>
                  <a:srgbClr val="1B2430"/>
                </a:solidFill>
                <a:latin typeface="Calibri"/>
              </a:rPr>
              <a:t>model appropriateness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evaluation procedures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Collaborate</a:t>
            </a:r>
            <a:r>
              <a:rPr sz="2000" b="0">
                <a:solidFill>
                  <a:srgbClr val="1B2430"/>
                </a:solidFill>
                <a:latin typeface="Calibri"/>
              </a:rPr>
              <a:t> across cultural and disciplinary boundaries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Communicate</a:t>
            </a:r>
            <a:r>
              <a:rPr sz="2000" b="0">
                <a:solidFill>
                  <a:srgbClr val="1B2430"/>
                </a:solidFill>
                <a:latin typeface="Calibri"/>
              </a:rPr>
              <a:t> findings to a broad audience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IN-CLASS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Warm-up: name that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15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1.  </a:t>
            </a:r>
            <a:r>
              <a:rPr sz="1900" b="0">
                <a:solidFill>
                  <a:srgbClr val="1B2430"/>
                </a:solidFill>
                <a:latin typeface="Calibri"/>
              </a:rPr>
              <a:t>Predict a person's fasting glucose from 30 dietary-intake variables.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2.  </a:t>
            </a:r>
            <a:r>
              <a:rPr sz="1900" b="0">
                <a:solidFill>
                  <a:srgbClr val="1B2430"/>
                </a:solidFill>
                <a:latin typeface="Calibri"/>
              </a:rPr>
              <a:t>Group 500 participants into dietary </a:t>
            </a:r>
            <a:r>
              <a:rPr sz="1900" b="1">
                <a:solidFill>
                  <a:srgbClr val="1B2430"/>
                </a:solidFill>
                <a:latin typeface="Calibri"/>
              </a:rPr>
              <a:t>patterns</a:t>
            </a:r>
            <a:r>
              <a:rPr sz="1900" b="0">
                <a:solidFill>
                  <a:srgbClr val="1B2430"/>
                </a:solidFill>
                <a:latin typeface="Calibri"/>
              </a:rPr>
              <a:t> with no pre-defined labels.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3.  </a:t>
            </a:r>
            <a:r>
              <a:rPr sz="1900" b="0">
                <a:solidFill>
                  <a:srgbClr val="1B2430"/>
                </a:solidFill>
                <a:latin typeface="Calibri"/>
              </a:rPr>
              <a:t>Flag whether a food-diary entry is plausible or a data-entry error.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4.  </a:t>
            </a:r>
            <a:r>
              <a:rPr sz="1900" b="0">
                <a:solidFill>
                  <a:srgbClr val="1B2430"/>
                </a:solidFill>
                <a:latin typeface="Calibri"/>
              </a:rPr>
              <a:t>Compress 200 correlated nutrient measurements into a handful of indices.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5.  </a:t>
            </a:r>
            <a:r>
              <a:rPr sz="1900" b="0">
                <a:solidFill>
                  <a:srgbClr val="1B2430"/>
                </a:solidFill>
                <a:latin typeface="Calibri"/>
              </a:rPr>
              <a:t>For each: supervised or unsupervised? If supervised, regression or classification?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57800"/>
            <a:ext cx="10515600" cy="914400"/>
          </a:xfrm>
          <a:prstGeom prst="roundRect">
            <a:avLst/>
          </a:prstGeom>
          <a:solidFill>
            <a:srgbClr val="FFF6EE"/>
          </a:solidFill>
          <a:ln w="15240">
            <a:solidFill>
              <a:srgbClr val="B98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44068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98416"/>
                </a:solidFill>
                <a:latin typeface="Calibri"/>
              </a:rPr>
              <a:t>Hint.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First ask whether there is a target Y; then ask if Y is numeric or categorical.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HOW TO SUCCEED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Advice from previous cohorts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Start the project early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cleaning always takes longer than you think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Communicate weekly</a:t>
            </a:r>
            <a:r>
              <a:rPr sz="2000" b="0">
                <a:solidFill>
                  <a:srgbClr val="1B2430"/>
                </a:solidFill>
                <a:latin typeface="Calibri"/>
              </a:rPr>
              <a:t> with your Nutrition teammates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Version-control</a:t>
            </a:r>
            <a:r>
              <a:rPr sz="2000" b="0">
                <a:solidFill>
                  <a:srgbClr val="1B2430"/>
                </a:solidFill>
                <a:latin typeface="Calibri"/>
              </a:rPr>
              <a:t> your code and write it to be re-run, not re-typed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Ask on Ed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if you're stuck, others are too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Understand</a:t>
            </a:r>
            <a:r>
              <a:rPr sz="2000" b="0">
                <a:solidFill>
                  <a:srgbClr val="1B2430"/>
                </a:solidFill>
                <a:latin typeface="Calibri"/>
              </a:rPr>
              <a:t> methods, don't just call functions — the exam tests this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ML </a:t>
            </a:r>
            <a:r>
              <a:rPr sz="2000" b="1">
                <a:solidFill>
                  <a:srgbClr val="1B2430"/>
                </a:solidFill>
                <a:latin typeface="Calibri"/>
              </a:rPr>
              <a:t>learns patterns from data</a:t>
            </a:r>
            <a:r>
              <a:rPr sz="2000" b="0">
                <a:solidFill>
                  <a:srgbClr val="1B2430"/>
                </a:solidFill>
                <a:latin typeface="Calibri"/>
              </a:rPr>
              <a:t>; statistical ML keeps uncertainty and assumptions in view.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1">
                <a:solidFill>
                  <a:srgbClr val="1B2430"/>
                </a:solidFill>
                <a:latin typeface="Calibri"/>
              </a:rPr>
              <a:t>Supervised</a:t>
            </a:r>
            <a:r>
              <a:rPr sz="2000" b="0">
                <a:solidFill>
                  <a:srgbClr val="1B2430"/>
                </a:solidFill>
                <a:latin typeface="Calibri"/>
              </a:rPr>
              <a:t> = labelled Y (regression/classification); </a:t>
            </a:r>
            <a:r>
              <a:rPr sz="2000" b="1">
                <a:solidFill>
                  <a:srgbClr val="1B2430"/>
                </a:solidFill>
                <a:latin typeface="Calibri"/>
              </a:rPr>
              <a:t>unsupervised</a:t>
            </a:r>
            <a:r>
              <a:rPr sz="2000" b="0">
                <a:solidFill>
                  <a:srgbClr val="1B2430"/>
                </a:solidFill>
                <a:latin typeface="Calibri"/>
              </a:rPr>
              <a:t> = structure discovery.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We optimise </a:t>
            </a:r>
            <a:r>
              <a:rPr sz="2000" b="1">
                <a:solidFill>
                  <a:srgbClr val="1B2430"/>
                </a:solidFill>
                <a:latin typeface="Calibri"/>
              </a:rPr>
              <a:t>generalisation</a:t>
            </a:r>
            <a:r>
              <a:rPr sz="2000" b="0">
                <a:solidFill>
                  <a:srgbClr val="1B2430"/>
                </a:solidFill>
                <a:latin typeface="Calibri"/>
              </a:rPr>
              <a:t> to unseen data, not fit — beware </a:t>
            </a:r>
            <a:r>
              <a:rPr sz="2000" b="1">
                <a:solidFill>
                  <a:srgbClr val="1B2430"/>
                </a:solidFill>
                <a:latin typeface="Calibri"/>
              </a:rPr>
              <a:t>overfitting</a:t>
            </a:r>
            <a:r>
              <a:rPr sz="2000" b="0">
                <a:solidFill>
                  <a:srgbClr val="1B2430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</a:t>
            </a:r>
            <a:r>
              <a:rPr sz="2000" b="1">
                <a:solidFill>
                  <a:srgbClr val="1B2430"/>
                </a:solidFill>
                <a:latin typeface="Calibri"/>
              </a:rPr>
              <a:t>workflow</a:t>
            </a:r>
            <a:r>
              <a:rPr sz="2000" b="0">
                <a:solidFill>
                  <a:srgbClr val="1B2430"/>
                </a:solidFill>
                <a:latin typeface="Calibri"/>
              </a:rPr>
              <a:t> is an iterative loop, and your project is fundamentally </a:t>
            </a:r>
            <a:r>
              <a:rPr sz="2000" b="1">
                <a:solidFill>
                  <a:srgbClr val="1B2430"/>
                </a:solidFill>
                <a:latin typeface="Calibri"/>
              </a:rPr>
              <a:t>interdisciplinary</a:t>
            </a:r>
            <a:r>
              <a:rPr sz="2000" b="0">
                <a:solidFill>
                  <a:srgbClr val="1B243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15600" cy="777240"/>
          </a:xfrm>
          <a:prstGeom prst="round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64626"/>
                </a:solidFill>
                <a:latin typeface="Calibri"/>
              </a:rPr>
              <a:t>Next lecture →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Lecture 02 — Data cleaning: the unglamorous 80% of every project.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L01 ·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