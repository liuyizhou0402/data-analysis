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2194560" cy="457200"/>
          </a:xfrm>
          <a:prstGeom prst="round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42415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LECTURE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Introduction to Statistical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8D4E2"/>
                </a:solidFill>
                <a:latin typeface="Calibri"/>
              </a:rPr>
              <a:t>What machine learning is, the two big families of methods, the analysis workflow, and the interdisciplinary nutrition project you will tackle this semester.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806440"/>
            <a:ext cx="10515600" cy="15240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FADBD"/>
                </a:solidFill>
                <a:latin typeface="Calibri"/>
              </a:rPr>
              <a:t>School of Mathematics &amp; Statistics · The University of Sydney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Welcome &amp; orientation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we will cover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What statistical machine learning is — and is not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Supervised vs unsupervised learning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Regression vs classification; the model 'zoo'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end-to-end data-analysis workflow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Overfitting and why we hold out test data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Tools: R, the tidyverse and tidymodels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NUTM3888 joint project, teams and assessment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How to succeed in this unit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shape of the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13 weeks</a:t>
            </a:r>
            <a:r>
              <a:rPr sz="2000" b="0">
                <a:solidFill>
                  <a:srgbClr val="1B2430"/>
                </a:solidFill>
                <a:latin typeface="Calibri"/>
              </a:rPr>
              <a:t>: Weeks 1–3 unsupervised learning, Weeks 4–7 supervised learning, Weeks 8–13 project work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Three </a:t>
            </a:r>
            <a:r>
              <a:rPr sz="2000" b="1">
                <a:solidFill>
                  <a:srgbClr val="1B2430"/>
                </a:solidFill>
                <a:latin typeface="Calibri"/>
              </a:rPr>
              <a:t>1-hour lectures</a:t>
            </a:r>
            <a:r>
              <a:rPr sz="2000" b="0">
                <a:solidFill>
                  <a:srgbClr val="1B2430"/>
                </a:solidFill>
                <a:latin typeface="Calibri"/>
              </a:rPr>
              <a:t> + a </a:t>
            </a:r>
            <a:r>
              <a:rPr sz="2000" b="1">
                <a:solidFill>
                  <a:srgbClr val="1B2430"/>
                </a:solidFill>
                <a:latin typeface="Calibri"/>
              </a:rPr>
              <a:t>tutorial/computer lab</a:t>
            </a:r>
            <a:r>
              <a:rPr sz="2000" b="0">
                <a:solidFill>
                  <a:srgbClr val="1B2430"/>
                </a:solidFill>
                <a:latin typeface="Calibri"/>
              </a:rPr>
              <a:t> + a </a:t>
            </a:r>
            <a:r>
              <a:rPr sz="2000" b="1">
                <a:solidFill>
                  <a:srgbClr val="1B2430"/>
                </a:solidFill>
                <a:latin typeface="Calibri"/>
              </a:rPr>
              <a:t>2-hour workshop</a:t>
            </a:r>
            <a:r>
              <a:rPr sz="2000" b="0">
                <a:solidFill>
                  <a:srgbClr val="1B2430"/>
                </a:solidFill>
                <a:latin typeface="Calibri"/>
              </a:rPr>
              <a:t> each week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Assessment is dominated by a </a:t>
            </a:r>
            <a:r>
              <a:rPr sz="2000" b="1">
                <a:solidFill>
                  <a:srgbClr val="1B2430"/>
                </a:solidFill>
                <a:latin typeface="Calibri"/>
              </a:rPr>
              <a:t>team project</a:t>
            </a:r>
            <a:r>
              <a:rPr sz="2000" b="0">
                <a:solidFill>
                  <a:srgbClr val="1B2430"/>
                </a:solidFill>
                <a:latin typeface="Calibri"/>
              </a:rPr>
              <a:t> on a real nutrition data set (65%) plus a final exam (35%)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Coordinator: </a:t>
            </a:r>
            <a:r>
              <a:rPr sz="2000" b="1">
                <a:solidFill>
                  <a:srgbClr val="1B2430"/>
                </a:solidFill>
                <a:latin typeface="Calibri"/>
              </a:rPr>
              <a:t>John Ormerod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questions on the Ed forum or in consultation</a:t>
            </a:r>
          </a:p>
          <a:p>
            <a:pPr lvl="1">
              <a:lnSpc>
                <a:spcPct val="110000"/>
              </a:lnSpc>
              <a:spcBef>
                <a:spcPts val="200"/>
              </a:spcBef>
              <a:spcAft>
                <a:spcPts val="500"/>
              </a:spcAft>
            </a:pPr>
            <a:r>
              <a:rPr sz="1600" b="1">
                <a:solidFill>
                  <a:srgbClr val="5B6A7D"/>
                </a:solidFill>
                <a:latin typeface="Calibri"/>
              </a:rPr>
              <a:t>–  </a:t>
            </a:r>
            <a:r>
              <a:rPr sz="1650" b="0">
                <a:solidFill>
                  <a:srgbClr val="1B2430"/>
                </a:solidFill>
                <a:latin typeface="Calibri"/>
              </a:rPr>
              <a:t>Prerequisite thinking: probability, linear algebra, regression, and 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What is statistical machine learning?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Machine learning 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Machine learning</a:t>
            </a:r>
            <a:r>
              <a:rPr sz="2000" b="0">
                <a:solidFill>
                  <a:srgbClr val="1B2430"/>
                </a:solidFill>
                <a:latin typeface="Calibri"/>
              </a:rPr>
              <a:t> builds algorithms that </a:t>
            </a:r>
            <a:r>
              <a:rPr sz="2000" b="1">
                <a:solidFill>
                  <a:srgbClr val="1B2430"/>
                </a:solidFill>
                <a:latin typeface="Calibri"/>
              </a:rPr>
              <a:t>learn patterns from data</a:t>
            </a:r>
            <a:r>
              <a:rPr sz="2000" b="0">
                <a:solidFill>
                  <a:srgbClr val="1B2430"/>
                </a:solidFill>
                <a:latin typeface="Calibri"/>
              </a:rPr>
              <a:t> to predict or discover structure — without being explicitly programmed for the task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Statistical</a:t>
            </a:r>
            <a:r>
              <a:rPr sz="2000" b="0">
                <a:solidFill>
                  <a:srgbClr val="1B2430"/>
                </a:solidFill>
                <a:latin typeface="Calibri"/>
              </a:rPr>
              <a:t> ML keeps the statistician's questions in view: uncertainty, assumptions, and whether the pattern is </a:t>
            </a:r>
            <a:r>
              <a:rPr sz="2000" b="1">
                <a:solidFill>
                  <a:srgbClr val="1B2430"/>
                </a:solidFill>
                <a:latin typeface="Calibri"/>
              </a:rPr>
              <a:t>real</a:t>
            </a:r>
            <a:r>
              <a:rPr sz="2000" b="0">
                <a:solidFill>
                  <a:srgbClr val="1B2430"/>
                </a:solidFill>
                <a:latin typeface="Calibri"/>
              </a:rPr>
              <a:t> or noise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Contrast with classical statistics:</a:t>
            </a:r>
          </a:p>
          <a:p>
            <a:pPr lvl="1">
              <a:lnSpc>
                <a:spcPct val="110000"/>
              </a:lnSpc>
              <a:spcBef>
                <a:spcPts val="200"/>
              </a:spcBef>
              <a:spcAft>
                <a:spcPts val="500"/>
              </a:spcAft>
            </a:pPr>
            <a:r>
              <a:rPr sz="1600" b="1">
                <a:solidFill>
                  <a:srgbClr val="5B6A7D"/>
                </a:solidFill>
                <a:latin typeface="Calibri"/>
              </a:rPr>
              <a:t>–  </a:t>
            </a:r>
            <a:r>
              <a:rPr sz="1650" b="0">
                <a:solidFill>
                  <a:srgbClr val="1B2430"/>
                </a:solidFill>
                <a:latin typeface="Calibri"/>
              </a:rPr>
              <a:t>Classical statistics asks *'is this effect real?'* → </a:t>
            </a:r>
            <a:r>
              <a:rPr sz="1650" b="1">
                <a:solidFill>
                  <a:srgbClr val="1B2430"/>
                </a:solidFill>
                <a:latin typeface="Calibri"/>
              </a:rPr>
              <a:t>inference</a:t>
            </a:r>
          </a:p>
          <a:p>
            <a:pPr lvl="1">
              <a:lnSpc>
                <a:spcPct val="110000"/>
              </a:lnSpc>
              <a:spcBef>
                <a:spcPts val="200"/>
              </a:spcBef>
              <a:spcAft>
                <a:spcPts val="500"/>
              </a:spcAft>
            </a:pPr>
            <a:r>
              <a:rPr sz="1600" b="1">
                <a:solidFill>
                  <a:srgbClr val="5B6A7D"/>
                </a:solidFill>
                <a:latin typeface="Calibri"/>
              </a:rPr>
              <a:t>–  </a:t>
            </a:r>
            <a:r>
              <a:rPr sz="1650" b="0">
                <a:solidFill>
                  <a:srgbClr val="1B2430"/>
                </a:solidFill>
                <a:latin typeface="Calibri"/>
              </a:rPr>
              <a:t>Machine learning asks *'how well can I predict the next case?'* → </a:t>
            </a:r>
            <a:r>
              <a:rPr sz="1650" b="1">
                <a:solidFill>
                  <a:srgbClr val="1B2430"/>
                </a:solidFill>
                <a:latin typeface="Calibri"/>
              </a:rPr>
              <a:t>prediction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This unit lives deliberately at their </a:t>
            </a:r>
            <a:r>
              <a:rPr sz="2000" b="1">
                <a:solidFill>
                  <a:srgbClr val="1B2430"/>
                </a:solidFill>
                <a:latin typeface="Calibri"/>
              </a:rPr>
              <a:t>intersection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Data science = statistics + computing + domain</a:t>
            </a:r>
          </a:p>
        </p:txBody>
      </p:sp>
      <p:pic>
        <p:nvPicPr>
          <p:cNvPr id="6" name="Picture 5" descr="L01_ve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4753194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429000" cy="4343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1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A6F97"/>
                </a:solidFill>
                <a:latin typeface="Calibr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1" y="242316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ML sits where </a:t>
            </a:r>
            <a:r>
              <a:rPr sz="1500" b="1">
                <a:solidFill>
                  <a:srgbClr val="1B2430"/>
                </a:solidFill>
                <a:latin typeface="Calibri"/>
              </a:rPr>
              <a:t>statistics</a:t>
            </a:r>
            <a:r>
              <a:rPr sz="1500" b="0">
                <a:solidFill>
                  <a:srgbClr val="1B2430"/>
                </a:solidFill>
                <a:latin typeface="Calibri"/>
              </a:rPr>
              <a:t> meets </a:t>
            </a:r>
            <a:r>
              <a:rPr sz="1500" b="1">
                <a:solidFill>
                  <a:srgbClr val="1B2430"/>
                </a:solidFill>
                <a:latin typeface="Calibri"/>
              </a:rPr>
              <a:t>computer science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1">
                <a:solidFill>
                  <a:srgbClr val="1B2430"/>
                </a:solidFill>
                <a:latin typeface="Calibri"/>
              </a:rPr>
              <a:t>Data science</a:t>
            </a:r>
            <a:r>
              <a:rPr sz="1500" b="0">
                <a:solidFill>
                  <a:srgbClr val="1B2430"/>
                </a:solidFill>
                <a:latin typeface="Calibri"/>
              </a:rPr>
              <a:t> adds the third circle: </a:t>
            </a:r>
            <a:r>
              <a:rPr sz="1500" b="1">
                <a:solidFill>
                  <a:srgbClr val="1B2430"/>
                </a:solidFill>
                <a:latin typeface="Calibri"/>
              </a:rPr>
              <a:t>domain knowledge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Your project literally builds this Venn diagram: you supply the stats/CS, Nutrition students supply the domain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The hardest problems live in the </a:t>
            </a:r>
            <a:r>
              <a:rPr sz="1500" b="1">
                <a:solidFill>
                  <a:srgbClr val="1B2430"/>
                </a:solidFill>
                <a:latin typeface="Calibri"/>
              </a:rPr>
              <a:t>overlaps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TWO CULTURES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Statistics vs machine learning: a false dichotomy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Data-modelling 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Assume a </a:t>
            </a:r>
            <a:r>
              <a:rPr sz="1600" b="1">
                <a:solidFill>
                  <a:srgbClr val="1B2430"/>
                </a:solidFill>
                <a:latin typeface="Calibri"/>
              </a:rPr>
              <a:t>stochastic model</a:t>
            </a:r>
            <a:r>
              <a:rPr sz="1600" b="0">
                <a:solidFill>
                  <a:srgbClr val="1B2430"/>
                </a:solidFill>
                <a:latin typeface="Calibri"/>
              </a:rPr>
              <a:t> generated the data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Estimate parameters, test hypotheses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Prize </a:t>
            </a:r>
            <a:r>
              <a:rPr sz="1600" b="1">
                <a:solidFill>
                  <a:srgbClr val="1B2430"/>
                </a:solidFill>
                <a:latin typeface="Calibri"/>
              </a:rPr>
              <a:t>interpretability</a:t>
            </a:r>
            <a:r>
              <a:rPr sz="1600" b="0">
                <a:solidFill>
                  <a:srgbClr val="1B2430"/>
                </a:solidFill>
                <a:latin typeface="Calibri"/>
              </a:rPr>
              <a:t> and inference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e.g. linear &amp; logistic regression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Algorithmic culture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Treat the mechanism as </a:t>
            </a:r>
            <a:r>
              <a:rPr sz="1600" b="1">
                <a:solidFill>
                  <a:srgbClr val="1B2430"/>
                </a:solidFill>
                <a:latin typeface="Calibri"/>
              </a:rPr>
              <a:t>unknown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Optimise </a:t>
            </a:r>
            <a:r>
              <a:rPr sz="1600" b="1">
                <a:solidFill>
                  <a:srgbClr val="1B2430"/>
                </a:solidFill>
                <a:latin typeface="Calibri"/>
              </a:rPr>
              <a:t>predictive accuracy</a:t>
            </a:r>
            <a:r>
              <a:rPr sz="1600" b="0">
                <a:solidFill>
                  <a:srgbClr val="1B2430"/>
                </a:solidFill>
                <a:latin typeface="Calibri"/>
              </a:rPr>
              <a:t> directly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Prize </a:t>
            </a:r>
            <a:r>
              <a:rPr sz="1600" b="1">
                <a:solidFill>
                  <a:srgbClr val="1B2430"/>
                </a:solidFill>
                <a:latin typeface="Calibri"/>
              </a:rPr>
              <a:t>flexibility</a:t>
            </a:r>
            <a:r>
              <a:rPr sz="1600" b="0">
                <a:solidFill>
                  <a:srgbClr val="1B2430"/>
                </a:solidFill>
                <a:latin typeface="Calibri"/>
              </a:rPr>
              <a:t> and performance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e.g. random forests, neural nets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BREIMAN (2001)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'two cultures' — and why you need both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Leo Breiman warned that statisticians ignoring algorithmic models were missing powerful tools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But pure prediction with </a:t>
            </a:r>
            <a:r>
              <a:rPr sz="2000" b="1">
                <a:solidFill>
                  <a:srgbClr val="1B2430"/>
                </a:solidFill>
                <a:latin typeface="Calibri"/>
              </a:rPr>
              <a:t>no</a:t>
            </a:r>
            <a:r>
              <a:rPr sz="2000" b="0">
                <a:solidFill>
                  <a:srgbClr val="1B2430"/>
                </a:solidFill>
                <a:latin typeface="Calibri"/>
              </a:rPr>
              <a:t> model understanding is dangerous in health and nutrition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Good data scientists move fluidly between both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predict well, *and* explain why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In this unit you learn interpretable methods (regression, LDA, trees) </a:t>
            </a:r>
            <a:r>
              <a:rPr sz="2000" b="1">
                <a:solidFill>
                  <a:srgbClr val="1B2430"/>
                </a:solidFill>
                <a:latin typeface="Calibri"/>
              </a:rPr>
              <a:t>and</a:t>
            </a:r>
            <a:r>
              <a:rPr sz="2000" b="0">
                <a:solidFill>
                  <a:srgbClr val="1B2430"/>
                </a:solidFill>
                <a:latin typeface="Calibri"/>
              </a:rPr>
              <a:t> flexible ones (forests, SVMs, neural nets)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two families of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SUPERVISED VS UNSUPERVISED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single most important distinction</a:t>
            </a:r>
          </a:p>
        </p:txBody>
      </p:sp>
      <p:pic>
        <p:nvPicPr>
          <p:cNvPr id="6" name="Picture 5" descr="L01_super_vs_unsu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02271"/>
            <a:ext cx="6858000" cy="29849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8932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A7D"/>
                </a:solidFill>
                <a:latin typeface="Calibri"/>
              </a:rPr>
              <a:t>Left: unsupervised — only the points, find the groups. Right: supervised — every point carries a known label, learn the rule.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429000" cy="4343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1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A6F97"/>
                </a:solidFill>
                <a:latin typeface="Calibri"/>
              </a:rPr>
              <a:t>How to tell them apart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1" y="242316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Ask: </a:t>
            </a:r>
            <a:r>
              <a:rPr sz="1500" b="1">
                <a:solidFill>
                  <a:srgbClr val="1B2430"/>
                </a:solidFill>
                <a:latin typeface="Calibri"/>
              </a:rPr>
              <a:t>is there a target variable Y?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1">
                <a:solidFill>
                  <a:srgbClr val="1B2430"/>
                </a:solidFill>
                <a:latin typeface="Calibri"/>
              </a:rPr>
              <a:t>Yes</a:t>
            </a:r>
            <a:r>
              <a:rPr sz="1500" b="0">
                <a:solidFill>
                  <a:srgbClr val="1B2430"/>
                </a:solidFill>
                <a:latin typeface="Calibri"/>
              </a:rPr>
              <a:t> → supervised learning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1">
                <a:solidFill>
                  <a:srgbClr val="1B2430"/>
                </a:solidFill>
                <a:latin typeface="Calibri"/>
              </a:rPr>
              <a:t>No</a:t>
            </a:r>
            <a:r>
              <a:rPr sz="1500" b="0">
                <a:solidFill>
                  <a:srgbClr val="1B2430"/>
                </a:solidFill>
                <a:latin typeface="Calibri"/>
              </a:rPr>
              <a:t> → unsupervised learning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If Y is a </a:t>
            </a:r>
            <a:r>
              <a:rPr sz="1500" b="1">
                <a:solidFill>
                  <a:srgbClr val="1B2430"/>
                </a:solidFill>
                <a:latin typeface="Calibri"/>
              </a:rPr>
              <a:t>number</a:t>
            </a:r>
            <a:r>
              <a:rPr sz="1500" b="0">
                <a:solidFill>
                  <a:srgbClr val="1B2430"/>
                </a:solidFill>
                <a:latin typeface="Calibri"/>
              </a:rPr>
              <a:t> → regression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If Y is a </a:t>
            </a:r>
            <a:r>
              <a:rPr sz="1500" b="1">
                <a:solidFill>
                  <a:srgbClr val="1B2430"/>
                </a:solidFill>
                <a:latin typeface="Calibri"/>
              </a:rPr>
              <a:t>category</a:t>
            </a:r>
            <a:r>
              <a:rPr sz="1500" b="0">
                <a:solidFill>
                  <a:srgbClr val="1B2430"/>
                </a:solidFill>
                <a:latin typeface="Calibri"/>
              </a:rPr>
              <a:t> → classification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SUPERVISED SUB-TYPES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Regression vs classification</a:t>
            </a:r>
          </a:p>
        </p:txBody>
      </p:sp>
      <p:pic>
        <p:nvPicPr>
          <p:cNvPr id="6" name="Picture 5" descr="L01_reg_vs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801361"/>
            <a:ext cx="9144000" cy="38953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Regression predicts a continuous outcome; classification predicts a discrete label. Same framework, different loss.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same tools, many nutrition questions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834640"/>
                <a:gridCol w="274320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Y variable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Predict fasting glucose from diet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glucose (mg/dL)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430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Is this participant at metabolic risk?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risk / no-risk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430"/>
                          </a:solidFill>
                          <a:latin typeface="Calibri"/>
                        </a:rPr>
                        <a:t>Classification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Group people into dietary patterns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430"/>
                          </a:solidFill>
                          <a:latin typeface="Calibri"/>
                        </a:rPr>
                        <a:t>Clustering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Summarise 200 nutrients into a few indices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430"/>
                          </a:solidFill>
                          <a:latin typeface="Calibri"/>
                        </a:rPr>
                        <a:t>Dimension reduction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Flag implausible food-diary entries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valid / 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430"/>
                          </a:solidFill>
                          <a:latin typeface="Calibri"/>
                        </a:rPr>
                        <a:t>Classification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UNSUPERVISED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can you do without labels?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Clustering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partition observations into groups (Weeks 1–2)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Dimension reduction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compress many correlated variables (PCA, Week 3)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Graphical models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map which variables are conditionally related (Week 12)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These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exploratory</a:t>
            </a:r>
            <a:r>
              <a:rPr sz="2000" b="0">
                <a:solidFill>
                  <a:srgbClr val="1B2430"/>
                </a:solidFill>
                <a:latin typeface="Calibri"/>
              </a:rPr>
              <a:t>: they generate hypotheses you then test</a:t>
            </a:r>
          </a:p>
          <a:p>
            <a:pPr lvl="1">
              <a:lnSpc>
                <a:spcPct val="110000"/>
              </a:lnSpc>
              <a:spcBef>
                <a:spcPts val="200"/>
              </a:spcBef>
              <a:spcAft>
                <a:spcPts val="500"/>
              </a:spcAft>
            </a:pPr>
            <a:r>
              <a:rPr sz="1600" b="1">
                <a:solidFill>
                  <a:srgbClr val="5B6A7D"/>
                </a:solidFill>
                <a:latin typeface="Calibri"/>
              </a:rPr>
              <a:t>–  </a:t>
            </a:r>
            <a:r>
              <a:rPr sz="1650" b="0">
                <a:solidFill>
                  <a:srgbClr val="1B2430"/>
                </a:solidFill>
                <a:latin typeface="Calibri"/>
              </a:rPr>
              <a:t>Crucial when labelling is expensive — which is almost always in health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machine-learning workflow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Every project follows this cycle</a:t>
            </a:r>
          </a:p>
        </p:txBody>
      </p:sp>
      <p:pic>
        <p:nvPicPr>
          <p:cNvPr id="6" name="Picture 5" descr="L0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466004"/>
            <a:ext cx="9144000" cy="25660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Real projects iterate — insights at 'evaluate' send you back to 'clean' or 're-model'.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workflow, stage by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Define the question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with your domain partner — narrow and answerable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Clean &amp; explore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the unglamorous 80% (Lecture 2)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Model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pick methods suited to the question and data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Evaluate &amp; select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honest performance on unseen data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Communicate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 decision-maker must understand and trust the result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Iterate: the loop rarely runs cleanly once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GENERALISATION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one idea that separates ML from curve-fitting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We do </a:t>
            </a:r>
            <a:r>
              <a:rPr sz="2000" b="1">
                <a:solidFill>
                  <a:srgbClr val="1B2430"/>
                </a:solidFill>
                <a:latin typeface="Calibri"/>
              </a:rPr>
              <a:t>not</a:t>
            </a:r>
            <a:r>
              <a:rPr sz="2000" b="0">
                <a:solidFill>
                  <a:srgbClr val="1B2430"/>
                </a:solidFill>
                <a:latin typeface="Calibri"/>
              </a:rPr>
              <a:t> care how well a model fits the data it was trained 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We care how well it predicts </a:t>
            </a:r>
            <a:r>
              <a:rPr sz="2000" b="1">
                <a:solidFill>
                  <a:srgbClr val="1B2430"/>
                </a:solidFill>
                <a:latin typeface="Calibri"/>
              </a:rPr>
              <a:t>new, unseen</a:t>
            </a:r>
            <a:r>
              <a:rPr sz="2000" b="0">
                <a:solidFill>
                  <a:srgbClr val="1B2430"/>
                </a:solidFill>
                <a:latin typeface="Calibri"/>
              </a:rPr>
              <a:t> cases — </a:t>
            </a:r>
            <a:r>
              <a:rPr sz="2000" b="1">
                <a:solidFill>
                  <a:srgbClr val="1B2430"/>
                </a:solidFill>
                <a:latin typeface="Calibri"/>
              </a:rPr>
              <a:t>generalisation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So we split data: </a:t>
            </a:r>
            <a:r>
              <a:rPr sz="2000" b="1">
                <a:solidFill>
                  <a:srgbClr val="1B2430"/>
                </a:solidFill>
                <a:latin typeface="Calibri"/>
              </a:rPr>
              <a:t>train</a:t>
            </a:r>
            <a:r>
              <a:rPr sz="2000" b="0">
                <a:solidFill>
                  <a:srgbClr val="1B2430"/>
                </a:solidFill>
                <a:latin typeface="Calibri"/>
              </a:rPr>
              <a:t> the model on one part, </a:t>
            </a:r>
            <a:r>
              <a:rPr sz="2000" b="1">
                <a:solidFill>
                  <a:srgbClr val="1B2430"/>
                </a:solidFill>
                <a:latin typeface="Calibri"/>
              </a:rPr>
              <a:t>test</a:t>
            </a:r>
            <a:r>
              <a:rPr sz="2000" b="0">
                <a:solidFill>
                  <a:srgbClr val="1B2430"/>
                </a:solidFill>
                <a:latin typeface="Calibri"/>
              </a:rPr>
              <a:t> it on another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model that memorises training data but fails on test data is </a:t>
            </a:r>
            <a:r>
              <a:rPr sz="2000" b="1">
                <a:solidFill>
                  <a:srgbClr val="1B2430"/>
                </a:solidFill>
                <a:latin typeface="Calibri"/>
              </a:rPr>
              <a:t>overfitting</a:t>
            </a:r>
          </a:p>
          <a:p>
            <a:pPr lvl="1">
              <a:lnSpc>
                <a:spcPct val="110000"/>
              </a:lnSpc>
              <a:spcBef>
                <a:spcPts val="200"/>
              </a:spcBef>
              <a:spcAft>
                <a:spcPts val="500"/>
              </a:spcAft>
            </a:pPr>
            <a:r>
              <a:rPr sz="1600" b="1">
                <a:solidFill>
                  <a:srgbClr val="5B6A7D"/>
                </a:solidFill>
                <a:latin typeface="Calibri"/>
              </a:rPr>
              <a:t>–  </a:t>
            </a:r>
            <a:r>
              <a:rPr sz="1650" b="0">
                <a:solidFill>
                  <a:srgbClr val="1B2430"/>
                </a:solidFill>
                <a:latin typeface="Calibri"/>
              </a:rPr>
              <a:t>Cross-validation (Lecture 10) makes this estimate reliable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CENTRAL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Underfitting vs overfitting</a:t>
            </a:r>
          </a:p>
        </p:txBody>
      </p:sp>
      <p:pic>
        <p:nvPicPr>
          <p:cNvPr id="6" name="Picture 5" descr="L01_over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83" y="1600200"/>
            <a:ext cx="7027794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Too simple (grey) misses the signal; too complex (red) chases the noise. The goal is the sweet spot (teal) — the bias–variance trade-off.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MODEL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No single method wins everywhere ('no free lunch')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Unsupervised (Wks 1–3)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Supervised (Wks 4–7)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k-means, GMM, hierarchical clustering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Logistic &amp; penalised regression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Principal component analysis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Discriminant analysis, k-NN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Dimension reduction (MDS, t-SNE)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Trees, random forests, boosting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Graphical / log-linear models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Neural networks, support vector machines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2976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2976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3708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For every method ask the same three questions: </a:t>
            </a:r>
            <a:r>
              <a:rPr sz="1500" b="1">
                <a:solidFill>
                  <a:srgbClr val="1B2430"/>
                </a:solidFill>
                <a:latin typeface="Calibri"/>
              </a:rPr>
              <a:t>what does it assume, how is it fit, and how do we know it worked?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Tools &amp; the project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You will work in 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3566160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7C938A"/>
                </a:solidFill>
                <a:latin typeface="Consolas"/>
              </a:rPr>
              <a:t># Core stack for this unit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library(tidyverse)    # data wrangling &amp; ggplot2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library(tidymodels)   # modelling workflows, resampling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library(cluster)      # silhouette, PAM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library(factoextra)   # visualising clusters &amp; PCA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7C938A"/>
                </a:solidFill>
                <a:latin typeface="Consolas"/>
              </a:rPr>
              <a:t># A first taste: read, peek, plot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diet &lt;- read_csv("nutrition.csv")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glimpse(diet)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ggplot(diet, aes(fibre, glucose)) + geom_point()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B6A7D"/>
                </a:solidFill>
                <a:latin typeface="Calibri"/>
              </a:rPr>
              <a:t>R + the tidyverse is the lingua franca of applied statistics at USYD.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joint project with NUTM3888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Teams of </a:t>
            </a:r>
            <a:r>
              <a:rPr sz="1600" b="1">
                <a:solidFill>
                  <a:srgbClr val="1B2430"/>
                </a:solidFill>
                <a:latin typeface="Calibri"/>
              </a:rPr>
              <a:t>Statistics/Data Science + Nutrition</a:t>
            </a:r>
            <a:r>
              <a:rPr sz="1600" b="0">
                <a:solidFill>
                  <a:srgbClr val="1B2430"/>
                </a:solidFill>
                <a:latin typeface="Calibri"/>
              </a:rPr>
              <a:t> students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A real </a:t>
            </a:r>
            <a:r>
              <a:rPr sz="1600" b="1">
                <a:solidFill>
                  <a:srgbClr val="1B2430"/>
                </a:solidFill>
                <a:latin typeface="Calibri"/>
              </a:rPr>
              <a:t>nutrition &amp; metabolomics</a:t>
            </a:r>
            <a:r>
              <a:rPr sz="1600" b="0">
                <a:solidFill>
                  <a:srgbClr val="1B2430"/>
                </a:solidFill>
                <a:latin typeface="Calibri"/>
              </a:rPr>
              <a:t> data set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Answer a genuine question using statistical ML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Runs Weeks 3–13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Interdisciplinary</a:t>
            </a:r>
            <a:r>
              <a:rPr sz="1600" b="0">
                <a:solidFill>
                  <a:srgbClr val="1B2430"/>
                </a:solidFill>
                <a:latin typeface="Calibri"/>
              </a:rPr>
              <a:t> practice (graduate quality GQ7)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You bring the </a:t>
            </a:r>
            <a:r>
              <a:rPr sz="1600" b="1">
                <a:solidFill>
                  <a:srgbClr val="1B2430"/>
                </a:solidFill>
                <a:latin typeface="Calibri"/>
              </a:rPr>
              <a:t>methods</a:t>
            </a:r>
            <a:r>
              <a:rPr sz="1600" b="0">
                <a:solidFill>
                  <a:srgbClr val="1B2430"/>
                </a:solidFill>
                <a:latin typeface="Calibri"/>
              </a:rPr>
              <a:t>; they bring the </a:t>
            </a:r>
            <a:r>
              <a:rPr sz="1600" b="1">
                <a:solidFill>
                  <a:srgbClr val="1B2430"/>
                </a:solidFill>
                <a:latin typeface="Calibri"/>
              </a:rPr>
              <a:t>question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Neither discipline succeeds alone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Mirrors real data-science teams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the nutrition data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Participants (rows) measured on </a:t>
            </a:r>
            <a:r>
              <a:rPr sz="2000" b="1">
                <a:solidFill>
                  <a:srgbClr val="1B2430"/>
                </a:solidFill>
                <a:latin typeface="Calibri"/>
              </a:rPr>
              <a:t>dietary intake, anthropometrics and metabolites</a:t>
            </a:r>
            <a:r>
              <a:rPr sz="2000" b="0">
                <a:solidFill>
                  <a:srgbClr val="1B2430"/>
                </a:solidFill>
                <a:latin typeface="Calibri"/>
              </a:rPr>
              <a:t> (columns)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Wide and correlated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many nutrients move together → dimension reduction shines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Messy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missing values, implausible entries, mixed units → cleaning matters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Both </a:t>
            </a:r>
            <a:r>
              <a:rPr sz="2000" b="1">
                <a:solidFill>
                  <a:srgbClr val="1B2430"/>
                </a:solidFill>
                <a:latin typeface="Calibri"/>
              </a:rPr>
              <a:t>unsupervised</a:t>
            </a:r>
            <a:r>
              <a:rPr sz="2000" b="0">
                <a:solidFill>
                  <a:srgbClr val="1B2430"/>
                </a:solidFill>
                <a:latin typeface="Calibri"/>
              </a:rPr>
              <a:t> (find dietary patterns) and </a:t>
            </a:r>
            <a:r>
              <a:rPr sz="2000" b="1">
                <a:solidFill>
                  <a:srgbClr val="1B2430"/>
                </a:solidFill>
                <a:latin typeface="Calibri"/>
              </a:rPr>
              <a:t>supervised</a:t>
            </a:r>
            <a:r>
              <a:rPr sz="2000" b="0">
                <a:solidFill>
                  <a:srgbClr val="1B2430"/>
                </a:solidFill>
                <a:latin typeface="Calibri"/>
              </a:rPr>
              <a:t> (predict a health outcome) questions are natural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How you are graded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2011680"/>
                <a:gridCol w="210312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Due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Final written exam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430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Exam period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Disciplinary assignment (individual)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43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Week 11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Major project — presentation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43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Week 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Major project — manuscript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430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Week 13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Contribution / reflection / peer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43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Week 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80060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80060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8737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Project </a:t>
            </a:r>
            <a:r>
              <a:rPr sz="1500" b="1">
                <a:solidFill>
                  <a:srgbClr val="1B2430"/>
                </a:solidFill>
                <a:latin typeface="Calibri"/>
              </a:rPr>
              <a:t>pitch</a:t>
            </a:r>
            <a:r>
              <a:rPr sz="1500" b="0">
                <a:solidFill>
                  <a:srgbClr val="1B2430"/>
                </a:solidFill>
                <a:latin typeface="Calibri"/>
              </a:rPr>
              <a:t> (Wk 6) and optional </a:t>
            </a:r>
            <a:r>
              <a:rPr sz="1500" b="1">
                <a:solidFill>
                  <a:srgbClr val="1B2430"/>
                </a:solidFill>
                <a:latin typeface="Calibri"/>
              </a:rPr>
              <a:t>quiz</a:t>
            </a:r>
            <a:r>
              <a:rPr sz="1500" b="0">
                <a:solidFill>
                  <a:srgbClr val="1B2430"/>
                </a:solidFill>
                <a:latin typeface="Calibri"/>
              </a:rPr>
              <a:t> (Wk 9) are worth 0% but are essential rehearsals — take them seriously.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you should be able to do by Week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Apply statistics &amp; data science to an </a:t>
            </a:r>
            <a:r>
              <a:rPr sz="2000" b="1">
                <a:solidFill>
                  <a:srgbClr val="1B2430"/>
                </a:solidFill>
                <a:latin typeface="Calibri"/>
              </a:rPr>
              <a:t>interdisciplinary</a:t>
            </a:r>
            <a:r>
              <a:rPr sz="2000" b="0">
                <a:solidFill>
                  <a:srgbClr val="1B2430"/>
                </a:solidFill>
                <a:latin typeface="Calibri"/>
              </a:rPr>
              <a:t> (nutrition) problem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Formulate, apply, interpret and compare</a:t>
            </a:r>
            <a:r>
              <a:rPr sz="2000" b="0">
                <a:solidFill>
                  <a:srgbClr val="1B2430"/>
                </a:solidFill>
                <a:latin typeface="Calibri"/>
              </a:rPr>
              <a:t> statistical ML methods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Judge </a:t>
            </a:r>
            <a:r>
              <a:rPr sz="2000" b="1">
                <a:solidFill>
                  <a:srgbClr val="1B2430"/>
                </a:solidFill>
                <a:latin typeface="Calibri"/>
              </a:rPr>
              <a:t>model appropriateness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evaluation procedures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Collaborate</a:t>
            </a:r>
            <a:r>
              <a:rPr sz="2000" b="0">
                <a:solidFill>
                  <a:srgbClr val="1B2430"/>
                </a:solidFill>
                <a:latin typeface="Calibri"/>
              </a:rPr>
              <a:t> across cultural and disciplinary boundaries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Communicate</a:t>
            </a:r>
            <a:r>
              <a:rPr sz="2000" b="0">
                <a:solidFill>
                  <a:srgbClr val="1B2430"/>
                </a:solidFill>
                <a:latin typeface="Calibri"/>
              </a:rPr>
              <a:t> findings to a broad audience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Warm-up: name that task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Predict a person's fasting glucose from 30 dietary-intake variables.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Group 500 participants into dietary </a:t>
            </a:r>
            <a:r>
              <a:rPr sz="1900" b="1">
                <a:solidFill>
                  <a:srgbClr val="1B2430"/>
                </a:solidFill>
                <a:latin typeface="Calibri"/>
              </a:rPr>
              <a:t>patterns</a:t>
            </a:r>
            <a:r>
              <a:rPr sz="1900" b="0">
                <a:solidFill>
                  <a:srgbClr val="1B2430"/>
                </a:solidFill>
                <a:latin typeface="Calibri"/>
              </a:rPr>
              <a:t> with no pre-defined labels.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Flag whether a food-diary entry is plausible or a data-entry error.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Compress 200 correlated nutrient measurements into a handful of indices.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5.  </a:t>
            </a:r>
            <a:r>
              <a:rPr sz="1900" b="0">
                <a:solidFill>
                  <a:srgbClr val="1B2430"/>
                </a:solidFill>
                <a:latin typeface="Calibri"/>
              </a:rPr>
              <a:t>For each: supervised or unsupervised? If supervised, regression or classification?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First ask whether there is a target Y; then ask if Y is numeric or categorical.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HOW TO SUCCEED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Advice from previous cohorts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Start the project early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cleaning always takes longer than you think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Communicate weekly</a:t>
            </a:r>
            <a:r>
              <a:rPr sz="2000" b="0">
                <a:solidFill>
                  <a:srgbClr val="1B2430"/>
                </a:solidFill>
                <a:latin typeface="Calibri"/>
              </a:rPr>
              <a:t> with your Nutrition teammates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Version-control</a:t>
            </a:r>
            <a:r>
              <a:rPr sz="2000" b="0">
                <a:solidFill>
                  <a:srgbClr val="1B2430"/>
                </a:solidFill>
                <a:latin typeface="Calibri"/>
              </a:rPr>
              <a:t> your code and write it to be re-run, not re-typed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Ask on Ed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if you're stuck, others are too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Understand</a:t>
            </a:r>
            <a:r>
              <a:rPr sz="2000" b="0">
                <a:solidFill>
                  <a:srgbClr val="1B2430"/>
                </a:solidFill>
                <a:latin typeface="Calibri"/>
              </a:rPr>
              <a:t> methods, don't just call functions — the exam tests this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Data, roles &amp; a little history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Statistical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A set of methods that use </a:t>
            </a:r>
            <a:r>
              <a:rPr sz="2000" b="1">
                <a:solidFill>
                  <a:srgbClr val="1B2430"/>
                </a:solidFill>
                <a:latin typeface="Calibri"/>
              </a:rPr>
              <a:t>data and probability</a:t>
            </a:r>
            <a:r>
              <a:rPr sz="2000" b="0">
                <a:solidFill>
                  <a:srgbClr val="1B2430"/>
                </a:solidFill>
                <a:latin typeface="Calibri"/>
              </a:rPr>
              <a:t> to learn predictive or descriptive models, with explicit attention to </a:t>
            </a:r>
            <a:r>
              <a:rPr sz="2000" b="1">
                <a:solidFill>
                  <a:srgbClr val="1B2430"/>
                </a:solidFill>
                <a:latin typeface="Calibri"/>
              </a:rPr>
              <a:t>uncertainty and generalisation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'Statistical' = we quantify uncertainty and assumptions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'Machine learning' = the algorithm improves with data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blend is exactly what employers and researchers need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 LITTLE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How we got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1900s–50s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regression, Fisher's discriminant, the foundations of statistics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1960s–80s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perceptrons, decision trees, early neural networks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1990s–2000s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SVMs, boosting, random forests; the statistical-learning synthesis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2010s–now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deep learning, big data, and ML everywhere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TYPES OF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Know what you're working with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411480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Example (nutrition)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energy (kJ), BMI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most ML assumes this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servings per day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often skewed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sex, food 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encode as factors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Ordinal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Likert 1–5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order matters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Text / other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free-text notes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needs special handling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Roles in a data-science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You may 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Data engineer</a:t>
            </a:r>
            <a:r>
              <a:rPr sz="1600" b="0">
                <a:solidFill>
                  <a:srgbClr val="1B2430"/>
                </a:solidFill>
                <a:latin typeface="Calibri"/>
              </a:rPr>
              <a:t> — clean &amp; wrangle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Analyst / modeller</a:t>
            </a:r>
            <a:r>
              <a:rPr sz="1600" b="0">
                <a:solidFill>
                  <a:srgbClr val="1B2430"/>
                </a:solidFill>
                <a:latin typeface="Calibri"/>
              </a:rPr>
              <a:t> — fit &amp; compare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Communicator</a:t>
            </a:r>
            <a:r>
              <a:rPr sz="1600" b="0">
                <a:solidFill>
                  <a:srgbClr val="1B2430"/>
                </a:solidFill>
                <a:latin typeface="Calibri"/>
              </a:rPr>
              <a:t> — explain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Your partners bring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Domain framing</a:t>
            </a:r>
            <a:r>
              <a:rPr sz="1600" b="0">
                <a:solidFill>
                  <a:srgbClr val="1B2430"/>
                </a:solidFill>
                <a:latin typeface="Calibri"/>
              </a:rPr>
              <a:t> — the real question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Interpretation</a:t>
            </a:r>
            <a:r>
              <a:rPr sz="1600" b="0">
                <a:solidFill>
                  <a:srgbClr val="1B2430"/>
                </a:solidFill>
                <a:latin typeface="Calibri"/>
              </a:rPr>
              <a:t> — is it plausible?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Impact</a:t>
            </a:r>
            <a:r>
              <a:rPr sz="1600" b="0">
                <a:solidFill>
                  <a:srgbClr val="1B2430"/>
                </a:solidFill>
                <a:latin typeface="Calibri"/>
              </a:rPr>
              <a:t> — what to do about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variable records 'breakfast: yes/no'. What kind is it?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Continuous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Ordinal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Nominal categorical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Yes/no is a two-level nominal (unordered) category — encode it as a factor / dummy.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28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Generalisation, ethics &amp; tools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Overfitting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Overfitting</a:t>
            </a:r>
            <a:r>
              <a:rPr sz="2000" b="0">
                <a:solidFill>
                  <a:srgbClr val="1B2430"/>
                </a:solidFill>
                <a:latin typeface="Calibri"/>
              </a:rPr>
              <a:t> is when a model captures noise specific to the training data and so predicts new data poorly.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Symptom: great training accuracy, poor test accuracy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Cause: too much flexibility for too little data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Cure: simpler models, regularisation, cross-validation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TRAIN / VALIDATE /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three-way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Training</a:t>
            </a:r>
            <a:r>
              <a:rPr sz="2000" b="0">
                <a:solidFill>
                  <a:srgbClr val="1B2430"/>
                </a:solidFill>
                <a:latin typeface="Calibri"/>
              </a:rPr>
              <a:t> set — fit the model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Validation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set — tune settings and compare models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Test</a:t>
            </a:r>
            <a:r>
              <a:rPr sz="2000" b="0">
                <a:solidFill>
                  <a:srgbClr val="1B2430"/>
                </a:solidFill>
                <a:latin typeface="Calibri"/>
              </a:rPr>
              <a:t> set — a final, untouched estimate of real-world performance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Cross-validation reuses data cleverly to do this reliably (Lecture 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30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GOLDEN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Never let information from the test set influence training — that is data leakage, and it makes results a lie.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This single principle underlies honest machine learning.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USING AI RESPONSIBLY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This unit's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Generative AI is </a:t>
            </a:r>
            <a:r>
              <a:rPr sz="2000" b="1">
                <a:solidFill>
                  <a:srgbClr val="1B2430"/>
                </a:solidFill>
                <a:latin typeface="Calibri"/>
              </a:rPr>
              <a:t>allowed</a:t>
            </a:r>
            <a:r>
              <a:rPr sz="2000" b="0">
                <a:solidFill>
                  <a:srgbClr val="1B2430"/>
                </a:solidFill>
                <a:latin typeface="Calibri"/>
              </a:rPr>
              <a:t> for open assessments (project, assignment)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It is </a:t>
            </a:r>
            <a:r>
              <a:rPr sz="2000" b="1">
                <a:solidFill>
                  <a:srgbClr val="1B2430"/>
                </a:solidFill>
                <a:latin typeface="Calibri"/>
              </a:rPr>
              <a:t>prohibited</a:t>
            </a:r>
            <a:r>
              <a:rPr sz="2000" b="0">
                <a:solidFill>
                  <a:srgbClr val="1B2430"/>
                </a:solidFill>
                <a:latin typeface="Calibri"/>
              </a:rPr>
              <a:t> in the supervised final exam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You must always </a:t>
            </a:r>
            <a:r>
              <a:rPr sz="2000" b="1">
                <a:solidFill>
                  <a:srgbClr val="1B2430"/>
                </a:solidFill>
                <a:latin typeface="Calibri"/>
              </a:rPr>
              <a:t>acknowledge</a:t>
            </a:r>
            <a:r>
              <a:rPr sz="2000" b="0">
                <a:solidFill>
                  <a:srgbClr val="1B2430"/>
                </a:solidFill>
                <a:latin typeface="Calibri"/>
              </a:rPr>
              <a:t> AI use — undisclosed use breaches academic integrity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Use it to </a:t>
            </a:r>
            <a:r>
              <a:rPr sz="2000" b="1">
                <a:solidFill>
                  <a:srgbClr val="1B2430"/>
                </a:solidFill>
                <a:latin typeface="Calibri"/>
              </a:rPr>
              <a:t>learn and draft</a:t>
            </a:r>
            <a:r>
              <a:rPr sz="2000" b="0">
                <a:solidFill>
                  <a:srgbClr val="1B2430"/>
                </a:solidFill>
                <a:latin typeface="Calibri"/>
              </a:rPr>
              <a:t>, not to replace understanding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32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ETHICS IN NUTRITION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Think before you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Health data is </a:t>
            </a:r>
            <a:r>
              <a:rPr sz="2000" b="1">
                <a:solidFill>
                  <a:srgbClr val="1B2430"/>
                </a:solidFill>
                <a:latin typeface="Calibri"/>
              </a:rPr>
              <a:t>sensitive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privacy and consent matter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Biased data → biased conclusions that can harm real people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model that predicts well can still be </a:t>
            </a:r>
            <a:r>
              <a:rPr sz="2000" b="1">
                <a:solidFill>
                  <a:srgbClr val="1B2430"/>
                </a:solidFill>
                <a:latin typeface="Calibri"/>
              </a:rPr>
              <a:t>unfair</a:t>
            </a:r>
            <a:r>
              <a:rPr sz="2000" b="0">
                <a:solidFill>
                  <a:srgbClr val="1B2430"/>
                </a:solidFill>
                <a:latin typeface="Calibri"/>
              </a:rPr>
              <a:t> or </a:t>
            </a:r>
            <a:r>
              <a:rPr sz="2000" b="1">
                <a:solidFill>
                  <a:srgbClr val="1B2430"/>
                </a:solidFill>
                <a:latin typeface="Calibri"/>
              </a:rPr>
              <a:t>uninterpretable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Always ask: *should* we, not just *can* we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33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YOUR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R commands you'll live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2322576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library(tidyverse)   # wrangle &amp; visualise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read_csv('diet.csv') |&gt; glimpse()      # load &amp; peek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diet |&gt; summarise(across(where(is.numeric), mean, na.rm=TRUE))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diet |&gt; ggplot(aes(fibre, glucose)) + geom_point() + geom_smooth()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library(tidymodels) # split, model, resample, evaluate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34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model scores 99% on training data but 62% on test data. This is a classic sign of…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Underfitting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Overfitting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Data leakage in the test 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A perfect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A large train-minus-test gap is the signature of overfitting: the model memorised training noise that doesn't generalise.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35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project, up close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PROJECT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How the semester unfolds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1907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Weeks 1–3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8483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learn unsupervised methods; choose a research topic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06624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06624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8833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Weeks 4–7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5409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learn supervised methods; form teams, draft the pitch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675888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758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57600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Week 6–7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2336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project pitch for early feedback (0% but vital)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645152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4515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626864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Weeks 8–12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926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analysis, manuscript, presentation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614416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1441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596128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Week 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96188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submit manuscript, reflection &amp; peer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36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WHAT MAKES A GOOD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Framing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Specific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'which dietary pattern predicts insulin resistance?' beats 'study diet'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Answerable</a:t>
            </a:r>
            <a:r>
              <a:rPr sz="2000" b="0">
                <a:solidFill>
                  <a:srgbClr val="1B2430"/>
                </a:solidFill>
                <a:latin typeface="Calibri"/>
              </a:rPr>
              <a:t> with the data you have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Interesting</a:t>
            </a:r>
            <a:r>
              <a:rPr sz="2000" b="0">
                <a:solidFill>
                  <a:srgbClr val="1B2430"/>
                </a:solidFill>
                <a:latin typeface="Calibri"/>
              </a:rPr>
              <a:t> to your nutrition partners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Matched to a </a:t>
            </a:r>
            <a:r>
              <a:rPr sz="2000" b="1">
                <a:solidFill>
                  <a:srgbClr val="1B2430"/>
                </a:solidFill>
                <a:latin typeface="Calibri"/>
              </a:rPr>
              <a:t>method</a:t>
            </a:r>
            <a:r>
              <a:rPr sz="2000" b="0">
                <a:solidFill>
                  <a:srgbClr val="1B2430"/>
                </a:solidFill>
                <a:latin typeface="Calibri"/>
              </a:rPr>
              <a:t> you're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37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TEAMWORK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Working across disciplines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Meet weekly; keep minutes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Agree on roles early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Explain your stats plainly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Version-control shared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Avoid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Siloing 'stats' vs 'nutrition'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Last-minute integration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Jargon without translation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One person doing everything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38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COMMUNICATING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skill that gets you hired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Lead with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answer</a:t>
            </a:r>
            <a:r>
              <a:rPr sz="2000" b="0">
                <a:solidFill>
                  <a:srgbClr val="1B2430"/>
                </a:solidFill>
                <a:latin typeface="Calibri"/>
              </a:rPr>
              <a:t>, not the method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One </a:t>
            </a:r>
            <a:r>
              <a:rPr sz="2000" b="1">
                <a:solidFill>
                  <a:srgbClr val="1B2430"/>
                </a:solidFill>
                <a:latin typeface="Calibri"/>
              </a:rPr>
              <a:t>clear figure</a:t>
            </a:r>
            <a:r>
              <a:rPr sz="2000" b="0">
                <a:solidFill>
                  <a:srgbClr val="1B2430"/>
                </a:solidFill>
                <a:latin typeface="Calibri"/>
              </a:rPr>
              <a:t> beats a table of p-values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State </a:t>
            </a:r>
            <a:r>
              <a:rPr sz="2000" b="1">
                <a:solidFill>
                  <a:srgbClr val="1B2430"/>
                </a:solidFill>
                <a:latin typeface="Calibri"/>
              </a:rPr>
              <a:t>uncertainty</a:t>
            </a:r>
            <a:r>
              <a:rPr sz="2000" b="0">
                <a:solidFill>
                  <a:srgbClr val="1B2430"/>
                </a:solidFill>
                <a:latin typeface="Calibri"/>
              </a:rPr>
              <a:t> honestly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Tailor depth to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audience</a:t>
            </a:r>
            <a:r>
              <a:rPr sz="2000" b="0">
                <a:solidFill>
                  <a:srgbClr val="1B2430"/>
                </a:solidFill>
                <a:latin typeface="Calibri"/>
              </a:rPr>
              <a:t> (GQ3, GQ7)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39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Frame a project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Pick a plausible nutrition outcome (e.g. fasting glucose, BMI category).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Write a </a:t>
            </a:r>
            <a:r>
              <a:rPr sz="1900" b="1">
                <a:solidFill>
                  <a:srgbClr val="1B2430"/>
                </a:solidFill>
                <a:latin typeface="Calibri"/>
              </a:rPr>
              <a:t>specific, answerable</a:t>
            </a:r>
            <a:r>
              <a:rPr sz="1900" b="0">
                <a:solidFill>
                  <a:srgbClr val="1B2430"/>
                </a:solidFill>
                <a:latin typeface="Calibri"/>
              </a:rPr>
              <a:t> question about it.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Decide: is it supervised or unsupervised? Which method from the syllabus fits?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What would a convincing </a:t>
            </a:r>
            <a:r>
              <a:rPr sz="1900" b="1">
                <a:solidFill>
                  <a:srgbClr val="1B2430"/>
                </a:solidFill>
                <a:latin typeface="Calibri"/>
              </a:rPr>
              <a:t>result figure</a:t>
            </a:r>
            <a:r>
              <a:rPr sz="1900" b="0">
                <a:solidFill>
                  <a:srgbClr val="1B2430"/>
                </a:solidFill>
                <a:latin typeface="Calibri"/>
              </a:rPr>
              <a:t> look like?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If there's a target Y it's supervised; match numeric Y → regression, categorical Y → classification.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40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Words we'll use all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Feature / predictor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an input variable (a column)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Label / target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the output we predict (supervised only)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Model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the fitted rule mapping inputs to outputs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Generalisation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performance on unseen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41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Which best describes the goal of this unit's major project?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Get the highest training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Apply ML to answer a real nutrition question and communicate it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Use as many methods as possible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Avoid using 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The project is about applying appropriate methods to a genuine interdisciplinary question and communicating the findings — not maximising a metric.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42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bigger picture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 KEY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Interpretability vs flexibility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Interpretable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Linear &amp; logistic regression, trees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Easy to explain </a:t>
            </a:r>
            <a:r>
              <a:rPr sz="1600" b="1">
                <a:solidFill>
                  <a:srgbClr val="1B2430"/>
                </a:solidFill>
                <a:latin typeface="Calibri"/>
              </a:rPr>
              <a:t>why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Preferred in health &amp; policy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May underfit complex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Flexible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Random forests, SVMs, neural nets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Often more </a:t>
            </a:r>
            <a:r>
              <a:rPr sz="1600" b="1">
                <a:solidFill>
                  <a:srgbClr val="1B2430"/>
                </a:solidFill>
                <a:latin typeface="Calibri"/>
              </a:rPr>
              <a:t>accurate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Harder to explain ('black box')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Risk overfitting without care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43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CHOOSE DELIBERATELY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More complex is not automatically better — the right model balances accuracy, interpretability, data size and the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In nutrition, being able to *explain* a finding often matters as much as predicting it.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MORE EXAMPLES: UNSUPERVISED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Spot the structure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Grouping foods by </a:t>
            </a:r>
            <a:r>
              <a:rPr sz="2000" b="1">
                <a:solidFill>
                  <a:srgbClr val="1B2430"/>
                </a:solidFill>
                <a:latin typeface="Calibri"/>
              </a:rPr>
              <a:t>nutrient profile</a:t>
            </a:r>
            <a:r>
              <a:rPr sz="2000" b="0">
                <a:solidFill>
                  <a:srgbClr val="1B2430"/>
                </a:solidFill>
                <a:latin typeface="Calibri"/>
              </a:rPr>
              <a:t> → clustering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Summarising 40 metabolites into a few axes → dimension reduction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Mapping which nutrients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conditionally related</a:t>
            </a:r>
            <a:r>
              <a:rPr sz="2000" b="0">
                <a:solidFill>
                  <a:srgbClr val="1B2430"/>
                </a:solidFill>
                <a:latin typeface="Calibri"/>
              </a:rPr>
              <a:t> → graphical models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Finding unusual food diaries → anomaly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45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MORE EXAMPLES: 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Spot the prediction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Predict </a:t>
            </a:r>
            <a:r>
              <a:rPr sz="2000" b="1">
                <a:solidFill>
                  <a:srgbClr val="1B2430"/>
                </a:solidFill>
                <a:latin typeface="Calibri"/>
              </a:rPr>
              <a:t>body-fat %</a:t>
            </a:r>
            <a:r>
              <a:rPr sz="2000" b="0">
                <a:solidFill>
                  <a:srgbClr val="1B2430"/>
                </a:solidFill>
                <a:latin typeface="Calibri"/>
              </a:rPr>
              <a:t> from intake → regression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Classify </a:t>
            </a:r>
            <a:r>
              <a:rPr sz="2000" b="1">
                <a:solidFill>
                  <a:srgbClr val="1B2430"/>
                </a:solidFill>
                <a:latin typeface="Calibri"/>
              </a:rPr>
              <a:t>diabetic / not</a:t>
            </a:r>
            <a:r>
              <a:rPr sz="2000" b="0">
                <a:solidFill>
                  <a:srgbClr val="1B2430"/>
                </a:solidFill>
                <a:latin typeface="Calibri"/>
              </a:rPr>
              <a:t> → classification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Rank features driving an outcome → interpretable models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Forecast weight change over time → regression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46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Grouping foods purely by their nutrient profiles, with no labels, is…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Clustering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Feature engineering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No target variable + finding groups = clustering, an unsupervised task.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47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WHERE TO GET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Support in this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Ed forum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post questions (anonymously if you prefer)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Tutorials &amp; computer labs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hands-on practice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Consultation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the lecturer's office hours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Always include your </a:t>
            </a:r>
            <a:r>
              <a:rPr sz="2000" b="1">
                <a:solidFill>
                  <a:srgbClr val="1B2430"/>
                </a:solidFill>
                <a:latin typeface="Calibri"/>
              </a:rPr>
              <a:t>name and SID</a:t>
            </a:r>
            <a:r>
              <a:rPr sz="2000" b="0">
                <a:solidFill>
                  <a:srgbClr val="1B2430"/>
                </a:solidFill>
                <a:latin typeface="Calibri"/>
              </a:rPr>
              <a:t> in emails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48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ASSESSMENT, UP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Turning weights into a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project (65%)</a:t>
            </a:r>
            <a:r>
              <a:rPr sz="2000" b="0">
                <a:solidFill>
                  <a:srgbClr val="1B2430"/>
                </a:solidFill>
                <a:latin typeface="Calibri"/>
              </a:rPr>
              <a:t> is where most marks live — start early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exam (35%)</a:t>
            </a:r>
            <a:r>
              <a:rPr sz="2000" b="0">
                <a:solidFill>
                  <a:srgbClr val="1B2430"/>
                </a:solidFill>
                <a:latin typeface="Calibri"/>
              </a:rPr>
              <a:t> tests conceptual understanding, not coding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0%-weighted </a:t>
            </a:r>
            <a:r>
              <a:rPr sz="2000" b="1">
                <a:solidFill>
                  <a:srgbClr val="1B2430"/>
                </a:solidFill>
                <a:latin typeface="Calibri"/>
              </a:rPr>
              <a:t>pitch &amp; quiz</a:t>
            </a:r>
            <a:r>
              <a:rPr sz="2000" b="0">
                <a:solidFill>
                  <a:srgbClr val="1B2430"/>
                </a:solidFill>
                <a:latin typeface="Calibri"/>
              </a:rPr>
              <a:t> are your safety rehearsals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Individual </a:t>
            </a:r>
            <a:r>
              <a:rPr sz="2000" b="1">
                <a:solidFill>
                  <a:srgbClr val="1B2430"/>
                </a:solidFill>
                <a:latin typeface="Calibri"/>
              </a:rPr>
              <a:t>contribution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is assessed — pull your weight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49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EXAM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How to prepare from 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For each method learn: </a:t>
            </a:r>
            <a:r>
              <a:rPr sz="2000" b="1">
                <a:solidFill>
                  <a:srgbClr val="1B2430"/>
                </a:solidFill>
                <a:latin typeface="Calibri"/>
              </a:rPr>
              <a:t>assumptions, fitting, evaluation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Practise </a:t>
            </a:r>
            <a:r>
              <a:rPr sz="2000" b="1">
                <a:solidFill>
                  <a:srgbClr val="1B2430"/>
                </a:solidFill>
                <a:latin typeface="Calibri"/>
              </a:rPr>
              <a:t>interpreting output</a:t>
            </a:r>
            <a:r>
              <a:rPr sz="2000" b="0">
                <a:solidFill>
                  <a:srgbClr val="1B2430"/>
                </a:solidFill>
                <a:latin typeface="Calibri"/>
              </a:rPr>
              <a:t>, not just producing it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Redo tutorial questions </a:t>
            </a:r>
            <a:r>
              <a:rPr sz="2000" b="1">
                <a:solidFill>
                  <a:srgbClr val="1B2430"/>
                </a:solidFill>
                <a:latin typeface="Calibri"/>
              </a:rPr>
              <a:t>without</a:t>
            </a:r>
            <a:r>
              <a:rPr sz="2000" b="0">
                <a:solidFill>
                  <a:srgbClr val="1B2430"/>
                </a:solidFill>
                <a:latin typeface="Calibri"/>
              </a:rPr>
              <a:t> the solutions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Explain each concept aloud as if teaching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50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WELCOME ABOARD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By Week 13 you'll take messy nutrition data and turn it into a clear, defensible, machine-learning-driven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That is exactly what a professional data scientist does. Let's begin.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ML </a:t>
            </a:r>
            <a:r>
              <a:rPr sz="2000" b="1">
                <a:solidFill>
                  <a:srgbClr val="1B2430"/>
                </a:solidFill>
                <a:latin typeface="Calibri"/>
              </a:rPr>
              <a:t>learns patterns from data</a:t>
            </a:r>
            <a:r>
              <a:rPr sz="2000" b="0">
                <a:solidFill>
                  <a:srgbClr val="1B2430"/>
                </a:solidFill>
                <a:latin typeface="Calibri"/>
              </a:rPr>
              <a:t>; statistical ML keeps uncertainty and assumptions in view.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1">
                <a:solidFill>
                  <a:srgbClr val="1B2430"/>
                </a:solidFill>
                <a:latin typeface="Calibri"/>
              </a:rPr>
              <a:t>Supervised</a:t>
            </a:r>
            <a:r>
              <a:rPr sz="2000" b="0">
                <a:solidFill>
                  <a:srgbClr val="1B2430"/>
                </a:solidFill>
                <a:latin typeface="Calibri"/>
              </a:rPr>
              <a:t> = labelled Y (regression/classification); </a:t>
            </a:r>
            <a:r>
              <a:rPr sz="2000" b="1">
                <a:solidFill>
                  <a:srgbClr val="1B2430"/>
                </a:solidFill>
                <a:latin typeface="Calibri"/>
              </a:rPr>
              <a:t>unsupervised</a:t>
            </a:r>
            <a:r>
              <a:rPr sz="2000" b="0">
                <a:solidFill>
                  <a:srgbClr val="1B2430"/>
                </a:solidFill>
                <a:latin typeface="Calibri"/>
              </a:rPr>
              <a:t> = structure discovery.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We optimise </a:t>
            </a:r>
            <a:r>
              <a:rPr sz="2000" b="1">
                <a:solidFill>
                  <a:srgbClr val="1B2430"/>
                </a:solidFill>
                <a:latin typeface="Calibri"/>
              </a:rPr>
              <a:t>generalisation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to unseen data, not fit — beware </a:t>
            </a:r>
            <a:r>
              <a:rPr sz="2000" b="1">
                <a:solidFill>
                  <a:srgbClr val="1B2430"/>
                </a:solidFill>
                <a:latin typeface="Calibri"/>
              </a:rPr>
              <a:t>overfitting</a:t>
            </a:r>
            <a:r>
              <a:rPr sz="2000" b="0">
                <a:solidFill>
                  <a:srgbClr val="1B2430"/>
                </a:solidFill>
                <a:latin typeface="Calibri"/>
              </a:rPr>
              <a:t>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workflow</a:t>
            </a:r>
            <a:r>
              <a:rPr sz="2000" b="0">
                <a:solidFill>
                  <a:srgbClr val="1B2430"/>
                </a:solidFill>
                <a:latin typeface="Calibri"/>
              </a:rPr>
              <a:t> is an iterative loop, and your project is fundamentally </a:t>
            </a:r>
            <a:r>
              <a:rPr sz="2000" b="1">
                <a:solidFill>
                  <a:srgbClr val="1B2430"/>
                </a:solidFill>
                <a:latin typeface="Calibri"/>
              </a:rPr>
              <a:t>interdisciplinary</a:t>
            </a:r>
            <a:r>
              <a:rPr sz="2000" b="0">
                <a:solidFill>
                  <a:srgbClr val="1B2430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15600" cy="777240"/>
          </a:xfrm>
          <a:prstGeom prst="round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64626"/>
                </a:solidFill>
                <a:latin typeface="Calibri"/>
              </a:rPr>
              <a:t>Next lecture →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Lecture 02 — Data cleaning: the unglamorous 80% of every project.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L01 · 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