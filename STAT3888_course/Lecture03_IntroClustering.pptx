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Unsupervised Learning: Introduction to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Finding groups in data when nobody gives you the labels — the ideas of distance, within/between variation, and the main families of methods.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clustering problem and nutrition motivation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Distance and dissimilarity measures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What makes a clustering 'good': within vs between variation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families of clustering methods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Validating and interpreting clusters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Common 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clustering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From an unlabelled cloud to proposed groups</a:t>
            </a:r>
          </a:p>
        </p:txBody>
      </p:sp>
      <p:pic>
        <p:nvPicPr>
          <p:cNvPr id="6" name="Picture 5" descr="L03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9055"/>
            <a:ext cx="9144000" cy="3979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Clustering takes points with no labels (left) and proposes a partition (right). There is no 'true' answer to check against — it is exploratory.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clustering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Clustering</a:t>
            </a:r>
            <a:r>
              <a:rPr sz="2000" b="0">
                <a:solidFill>
                  <a:srgbClr val="1B2430"/>
                </a:solidFill>
                <a:latin typeface="Calibri"/>
              </a:rPr>
              <a:t> partitions observations into groups so that members of a group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similar</a:t>
            </a:r>
            <a:r>
              <a:rPr sz="2000" b="0">
                <a:solidFill>
                  <a:srgbClr val="1B2430"/>
                </a:solidFill>
                <a:latin typeface="Calibri"/>
              </a:rPr>
              <a:t>, and different groups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dissimilar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is </a:t>
            </a:r>
            <a:r>
              <a:rPr sz="2000" b="1">
                <a:solidFill>
                  <a:srgbClr val="1B2430"/>
                </a:solidFill>
                <a:latin typeface="Calibri"/>
              </a:rPr>
              <a:t>unsupervised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: there is no target Y to predict or check against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goal is to </a:t>
            </a:r>
            <a:r>
              <a:rPr sz="2000" b="1">
                <a:solidFill>
                  <a:srgbClr val="1B2430"/>
                </a:solidFill>
                <a:latin typeface="Calibri"/>
              </a:rPr>
              <a:t>discover and describe</a:t>
            </a:r>
            <a:r>
              <a:rPr sz="2000" b="0">
                <a:solidFill>
                  <a:srgbClr val="1B2430"/>
                </a:solidFill>
                <a:latin typeface="Calibri"/>
              </a:rPr>
              <a:t> structure, then validate 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Unlike classification, we don't know the groups in advance — or even how many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cluster nutrition data?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Dietary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Instead of 50 nutrients one at a time…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…group people into a few </a:t>
            </a:r>
            <a:r>
              <a:rPr sz="1600" b="1">
                <a:solidFill>
                  <a:srgbClr val="1B2430"/>
                </a:solidFill>
                <a:latin typeface="Calibri"/>
              </a:rPr>
              <a:t>eating patterns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'prudent' vs 'Western' diets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Simpler to study and communicate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Metabolic subtypes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Cluster participants by </a:t>
            </a:r>
            <a:r>
              <a:rPr sz="1600" b="1">
                <a:solidFill>
                  <a:srgbClr val="1B2430"/>
                </a:solidFill>
                <a:latin typeface="Calibri"/>
              </a:rPr>
              <a:t>metabolite profile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Reveal </a:t>
            </a:r>
            <a:r>
              <a:rPr sz="1600" b="1">
                <a:solidFill>
                  <a:srgbClr val="1B2430"/>
                </a:solidFill>
                <a:latin typeface="Calibri"/>
              </a:rPr>
              <a:t>subgroups</a:t>
            </a:r>
            <a:r>
              <a:rPr sz="1600" b="0">
                <a:solidFill>
                  <a:srgbClr val="1B2430"/>
                </a:solidFill>
                <a:latin typeface="Calibri"/>
              </a:rPr>
              <a:t> that respond differently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 powerful </a:t>
            </a:r>
            <a:r>
              <a:rPr sz="1600" b="1">
                <a:solidFill>
                  <a:srgbClr val="1B2430"/>
                </a:solidFill>
                <a:latin typeface="Calibri"/>
              </a:rPr>
              <a:t>hypothesis generator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Exactly the kind of project finding that impresses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Clustering is discovery, not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Supervised learning </a:t>
            </a:r>
            <a:r>
              <a:rPr sz="2000" b="1">
                <a:solidFill>
                  <a:srgbClr val="1B2430"/>
                </a:solidFill>
                <a:latin typeface="Calibri"/>
              </a:rPr>
              <a:t>learns a known label</a:t>
            </a:r>
            <a:r>
              <a:rPr sz="2000" b="0">
                <a:solidFill>
                  <a:srgbClr val="1B2430"/>
                </a:solidFill>
                <a:latin typeface="Calibri"/>
              </a:rPr>
              <a:t>; clustering </a:t>
            </a:r>
            <a:r>
              <a:rPr sz="2000" b="1">
                <a:solidFill>
                  <a:srgbClr val="1B2430"/>
                </a:solidFill>
                <a:latin typeface="Calibri"/>
              </a:rPr>
              <a:t>proposes</a:t>
            </a:r>
            <a:r>
              <a:rPr sz="2000" b="0">
                <a:solidFill>
                  <a:srgbClr val="1B2430"/>
                </a:solidFill>
                <a:latin typeface="Calibri"/>
              </a:rPr>
              <a:t> labels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Results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not unique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different methods and settings give different groupings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So we must </a:t>
            </a:r>
            <a:r>
              <a:rPr sz="2000" b="1">
                <a:solidFill>
                  <a:srgbClr val="1B2430"/>
                </a:solidFill>
                <a:latin typeface="Calibri"/>
              </a:rPr>
              <a:t>validate</a:t>
            </a:r>
            <a:r>
              <a:rPr sz="2000" b="0">
                <a:solidFill>
                  <a:srgbClr val="1B2430"/>
                </a:solidFill>
                <a:latin typeface="Calibri"/>
              </a:rPr>
              <a:t>: are the clusters stable, separated,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biologically meaningful</a:t>
            </a:r>
            <a:r>
              <a:rPr sz="2000" b="0">
                <a:solidFill>
                  <a:srgbClr val="1B2430"/>
                </a:solidFill>
                <a:latin typeface="Calibri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Distance — the heart of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ways to measure how far apart points are</a:t>
            </a:r>
          </a:p>
        </p:txBody>
      </p:sp>
      <p:pic>
        <p:nvPicPr>
          <p:cNvPr id="6" name="Picture 5" descr="L03_di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247761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Euclidean distance is the straight line; Manhattan distance sums the coordinate-wise gaps. The metric encodes what you mean by 'similar'.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Key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Every algorithm needs a </a:t>
            </a:r>
            <a:r>
              <a:rPr sz="1500" b="1">
                <a:solidFill>
                  <a:srgbClr val="1B2430"/>
                </a:solidFill>
                <a:latin typeface="Calibri"/>
              </a:rPr>
              <a:t>distance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The choice is a </a:t>
            </a:r>
            <a:r>
              <a:rPr sz="1500" b="1">
                <a:solidFill>
                  <a:srgbClr val="1B2430"/>
                </a:solidFill>
                <a:latin typeface="Calibri"/>
              </a:rPr>
              <a:t>modelling decision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It defines the shape of your clusters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Choose it deliberately, not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EUCLIDEAN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default metric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d(x, y) = √ Σⱼ ( xⱼ − yⱼ 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Straight-line distance in p-dimensional space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Squared version underlies </a:t>
            </a:r>
            <a:r>
              <a:rPr sz="1800" b="1">
                <a:solidFill>
                  <a:srgbClr val="1B2430"/>
                </a:solidFill>
                <a:latin typeface="Calibri"/>
              </a:rPr>
              <a:t>k-means</a:t>
            </a:r>
            <a:r>
              <a:rPr sz="1800" b="0">
                <a:solidFill>
                  <a:srgbClr val="1B2430"/>
                </a:solidFill>
                <a:latin typeface="Calibri"/>
              </a:rPr>
              <a:t> (Lecture 4)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Sensitive to </a:t>
            </a:r>
            <a:r>
              <a:rPr sz="1800" b="1">
                <a:solidFill>
                  <a:srgbClr val="1B2430"/>
                </a:solidFill>
                <a:latin typeface="Calibri"/>
              </a:rPr>
              <a:t>scale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standardise first!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Common distance / dissimilarity measures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Good for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Euclidean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straight-line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standardised continuous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Manhattan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sum of |differences|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robust, high-dimensional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Correlation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shape, not magnitude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profiles (gene/metabolite)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Gower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mixed variable types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numeric + categorical mix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Jaccard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set overlap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presence/absence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standardising is non-negotiable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Distance is </a:t>
            </a:r>
            <a:r>
              <a:rPr sz="2000" b="1">
                <a:solidFill>
                  <a:srgbClr val="1B2430"/>
                </a:solidFill>
                <a:latin typeface="Calibri"/>
              </a:rPr>
              <a:t>dominated by large-scale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Energy (~8000 kJ) vs vitamin C (~75 mg): energy's numbers are ~100× larger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Without scaling, clustering effectively </a:t>
            </a:r>
            <a:r>
              <a:rPr sz="2000" b="1">
                <a:solidFill>
                  <a:srgbClr val="1B2430"/>
                </a:solidFill>
                <a:latin typeface="Calibri"/>
              </a:rPr>
              <a:t>ignores</a:t>
            </a:r>
            <a:r>
              <a:rPr sz="2000" b="0">
                <a:solidFill>
                  <a:srgbClr val="1B2430"/>
                </a:solidFill>
                <a:latin typeface="Calibri"/>
              </a:rPr>
              <a:t> vitamin 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 (z-scores) so every variable contributes fairly — recall Lecture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 makes a clustering good?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Small within, large between</a:t>
            </a:r>
          </a:p>
        </p:txBody>
      </p:sp>
      <p:pic>
        <p:nvPicPr>
          <p:cNvPr id="6" name="Picture 5" descr="L03_withinbetw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54473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A7D"/>
                </a:solidFill>
                <a:latin typeface="Calibri"/>
              </a:rPr>
              <a:t>We want points close to their own cluster centre (small within-cluster variation) and centres far apart (large between-cluster variation).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29000" cy="4343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1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6F97"/>
                </a:solidFill>
                <a:latin typeface="Calibri"/>
              </a:rPr>
              <a:t>The 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1" y="24231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Within</a:t>
            </a:r>
            <a:r>
              <a:rPr sz="1500" b="0">
                <a:solidFill>
                  <a:srgbClr val="1B2430"/>
                </a:solidFill>
                <a:latin typeface="Calibri"/>
              </a:rPr>
              <a:t>: spread inside each cluster (minimise)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1">
                <a:solidFill>
                  <a:srgbClr val="1B2430"/>
                </a:solidFill>
                <a:latin typeface="Calibri"/>
              </a:rPr>
              <a:t>Between</a:t>
            </a:r>
            <a:r>
              <a:rPr sz="1500" b="0">
                <a:solidFill>
                  <a:srgbClr val="1B2430"/>
                </a:solidFill>
                <a:latin typeface="Calibri"/>
              </a:rPr>
              <a:t>: separation of clusters (maximise)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Total variation = within + between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500">
                <a:solidFill>
                  <a:srgbClr val="2A6F97"/>
                </a:solidFill>
                <a:latin typeface="Calibri"/>
              </a:rPr>
              <a:t>• </a:t>
            </a:r>
            <a:r>
              <a:rPr sz="1500" b="0">
                <a:solidFill>
                  <a:srgbClr val="1B2430"/>
                </a:solidFill>
                <a:latin typeface="Calibri"/>
              </a:rPr>
              <a:t>Most algorithms drive </a:t>
            </a:r>
            <a:r>
              <a:rPr sz="1500" b="1">
                <a:solidFill>
                  <a:srgbClr val="1B2430"/>
                </a:solidFill>
                <a:latin typeface="Calibri"/>
              </a:rPr>
              <a:t>within</a:t>
            </a:r>
            <a:r>
              <a:rPr sz="1500" b="0">
                <a:solidFill>
                  <a:srgbClr val="1B2430"/>
                </a:solidFill>
                <a:latin typeface="Calibri"/>
              </a:rPr>
              <a:t> 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Total sum of squares splits cleanly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TSS = WSS + BSS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WSS</a:t>
            </a:r>
            <a:r>
              <a:rPr sz="1800" b="0">
                <a:solidFill>
                  <a:srgbClr val="1B2430"/>
                </a:solidFill>
                <a:latin typeface="Calibri"/>
              </a:rPr>
              <a:t> = within-cluster sum of squares (compactness)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BSS</a:t>
            </a:r>
            <a:r>
              <a:rPr sz="1800" b="0">
                <a:solidFill>
                  <a:srgbClr val="1B2430"/>
                </a:solidFill>
                <a:latin typeface="Calibri"/>
              </a:rPr>
              <a:t> = between-cluster sum of squares (separation)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Minimising WSS ⇔ maximising BSS, since TSS is fixed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Adding clusters </a:t>
            </a:r>
            <a:r>
              <a:rPr sz="1500" b="1">
                <a:solidFill>
                  <a:srgbClr val="1B2430"/>
                </a:solidFill>
                <a:latin typeface="Calibri"/>
              </a:rPr>
              <a:t>always</a:t>
            </a:r>
            <a:r>
              <a:rPr sz="1500" b="0">
                <a:solidFill>
                  <a:srgbClr val="1B2430"/>
                </a:solidFill>
                <a:latin typeface="Calibri"/>
              </a:rPr>
              <a:t> lowers WSS — so WSS alone can't choose the number of clusters. We need principled criteria (Lecture 4).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Families of methods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Four ways to think about clusters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2004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In this unit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Partitioning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split into k groups, minimise within-SS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k-means</a:t>
                      </a:r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 (L04)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Model-based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data from a mixture of distributions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GMM</a:t>
                      </a:r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 (L05)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Hierarchical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build a tree of nested groups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B2430"/>
                          </a:solidFill>
                          <a:latin typeface="Calibri"/>
                        </a:rPr>
                        <a:t>agglomerative</a:t>
                      </a:r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 (L06)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Density-based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clusters = dense regions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DBSCAN (mentioned)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Partitioning methods (k-means, PAM)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Choose </a:t>
            </a:r>
            <a:r>
              <a:rPr sz="2000" b="1">
                <a:solidFill>
                  <a:srgbClr val="1B2430"/>
                </a:solidFill>
                <a:latin typeface="Calibri"/>
              </a:rPr>
              <a:t>k</a:t>
            </a:r>
            <a:r>
              <a:rPr sz="2000" b="0">
                <a:solidFill>
                  <a:srgbClr val="1B2430"/>
                </a:solidFill>
                <a:latin typeface="Calibri"/>
              </a:rPr>
              <a:t> up front; each cluster summarised by a </a:t>
            </a:r>
            <a:r>
              <a:rPr sz="2000" b="1">
                <a:solidFill>
                  <a:srgbClr val="1B2430"/>
                </a:solidFill>
                <a:latin typeface="Calibri"/>
              </a:rPr>
              <a:t>centroid</a:t>
            </a:r>
            <a:r>
              <a:rPr sz="2000" b="0">
                <a:solidFill>
                  <a:srgbClr val="1B2430"/>
                </a:solidFill>
                <a:latin typeface="Calibri"/>
              </a:rPr>
              <a:t> or </a:t>
            </a:r>
            <a:r>
              <a:rPr sz="2000" b="1">
                <a:solidFill>
                  <a:srgbClr val="1B2430"/>
                </a:solidFill>
                <a:latin typeface="Calibri"/>
              </a:rPr>
              <a:t>medoid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Fast and scalable; assumes roughly </a:t>
            </a:r>
            <a:r>
              <a:rPr sz="2000" b="1">
                <a:solidFill>
                  <a:srgbClr val="1B2430"/>
                </a:solidFill>
                <a:latin typeface="Calibri"/>
              </a:rPr>
              <a:t>spherical, equal-size</a:t>
            </a:r>
            <a:r>
              <a:rPr sz="2000" b="0">
                <a:solidFill>
                  <a:srgbClr val="1B2430"/>
                </a:solidFill>
                <a:latin typeface="Calibri"/>
              </a:rPr>
              <a:t> clusters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workhorse — our entire next lecture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HIERARCHICAL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Hierarchical clustering builds a tree</a:t>
            </a:r>
          </a:p>
        </p:txBody>
      </p:sp>
      <p:pic>
        <p:nvPicPr>
          <p:cNvPr id="6" name="Picture 5" descr="L03_den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560" y="1600200"/>
            <a:ext cx="736183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A dendrogram shows nested groupings at every scale. Cut it at a chosen height to obtain a clustering. Full treatment in Lecture 6.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MODEL-BASED &amp; DENSITY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more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Model-based (GMM)</a:t>
            </a:r>
            <a:r>
              <a:rPr sz="2000" b="0">
                <a:solidFill>
                  <a:srgbClr val="1B2430"/>
                </a:solidFill>
                <a:latin typeface="Calibri"/>
              </a:rPr>
              <a:t>: assume data come from a mixture of Gaussians; gives </a:t>
            </a:r>
            <a:r>
              <a:rPr sz="2000" b="1">
                <a:solidFill>
                  <a:srgbClr val="1B2430"/>
                </a:solidFill>
                <a:latin typeface="Calibri"/>
              </a:rPr>
              <a:t>soft</a:t>
            </a:r>
            <a:r>
              <a:rPr sz="2000" b="0">
                <a:solidFill>
                  <a:srgbClr val="1B2430"/>
                </a:solidFill>
                <a:latin typeface="Calibri"/>
              </a:rPr>
              <a:t> (probabilistic) assignments and a principled way to choose k via the BIC — Lecture 5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Density-based (DBSCAN)</a:t>
            </a:r>
            <a:r>
              <a:rPr sz="2000" b="0">
                <a:solidFill>
                  <a:srgbClr val="1B2430"/>
                </a:solidFill>
                <a:latin typeface="Calibri"/>
              </a:rPr>
              <a:t>: clusters are dense regions separated by sparse ones; finds </a:t>
            </a:r>
            <a:r>
              <a:rPr sz="2000" b="1">
                <a:solidFill>
                  <a:srgbClr val="1B2430"/>
                </a:solidFill>
                <a:latin typeface="Calibri"/>
              </a:rPr>
              <a:t>arbitrary shapes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labels noise, but is sensitive to its distance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Validation &amp; pitfalls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do you know the clusters are real?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Internal</a:t>
            </a:r>
            <a:r>
              <a:rPr sz="2000" b="0">
                <a:solidFill>
                  <a:srgbClr val="1B2430"/>
                </a:solidFill>
                <a:latin typeface="Calibri"/>
              </a:rPr>
              <a:t>: silhouette width, within/between ratios — separation &amp; compactness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: do clusters persist under resampling or small perturbations?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External</a:t>
            </a:r>
            <a:r>
              <a:rPr sz="2000" b="0">
                <a:solidFill>
                  <a:srgbClr val="1B2430"/>
                </a:solidFill>
                <a:latin typeface="Calibri"/>
              </a:rPr>
              <a:t>: do they align with a known variable you held out (e.g. a health outcome)?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Domain</a:t>
            </a:r>
            <a:r>
              <a:rPr sz="2000" b="0">
                <a:solidFill>
                  <a:srgbClr val="1B2430"/>
                </a:solidFill>
                <a:latin typeface="Calibri"/>
              </a:rPr>
              <a:t>: can your Nutrition partners give each cluster a meaningful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clustering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Forgetting to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one variable dominates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Reading meaning into clusters that are just </a:t>
            </a:r>
            <a:r>
              <a:rPr sz="2000" b="1">
                <a:solidFill>
                  <a:srgbClr val="1B2430"/>
                </a:solidFill>
                <a:latin typeface="Calibri"/>
              </a:rPr>
              <a:t>noise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always validate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Choosing a method whose </a:t>
            </a:r>
            <a:r>
              <a:rPr sz="2000" b="1">
                <a:solidFill>
                  <a:srgbClr val="1B2430"/>
                </a:solidFill>
                <a:latin typeface="Calibri"/>
              </a:rPr>
              <a:t>shape assumptions</a:t>
            </a:r>
            <a:r>
              <a:rPr sz="2000" b="0">
                <a:solidFill>
                  <a:srgbClr val="1B2430"/>
                </a:solidFill>
                <a:latin typeface="Calibri"/>
              </a:rPr>
              <a:t> don't match the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Reporting </a:t>
            </a:r>
            <a:r>
              <a:rPr sz="2000" b="1">
                <a:solidFill>
                  <a:srgbClr val="1B2430"/>
                </a:solidFill>
                <a:latin typeface="Calibri"/>
              </a:rPr>
              <a:t>one</a:t>
            </a:r>
            <a:r>
              <a:rPr sz="2000" b="0">
                <a:solidFill>
                  <a:srgbClr val="1B2430"/>
                </a:solidFill>
                <a:latin typeface="Calibri"/>
              </a:rPr>
              <a:t> k without justifying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Clustering in R (next lecture goes deep)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3255264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Standardise first!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X &lt;- scale(diet_numeric)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  &lt;- dist(X)                    # distance matrix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 &lt;- kmeans(X, centers = 3, nstart = 25)   # partitioning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hc &lt;- hclust(d, method = 'ward.D2')          # hierarchical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library(factoextra)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fviz_cluster(km, data = X)       # visualise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Reason about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Two participants have (energy kJ, vitamin C mg): A = (8000, 60), B = (8000, 120), C = (16000, 60).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Compute the Euclidean distance A–B and A–C on the </a:t>
            </a:r>
            <a:r>
              <a:rPr sz="1900" b="1">
                <a:solidFill>
                  <a:srgbClr val="1B2430"/>
                </a:solidFill>
                <a:latin typeface="Calibri"/>
              </a:rPr>
              <a:t>raw</a:t>
            </a:r>
            <a:r>
              <a:rPr sz="1900" b="0">
                <a:solidFill>
                  <a:srgbClr val="1B2430"/>
                </a:solidFill>
                <a:latin typeface="Calibri"/>
              </a:rPr>
              <a:t> scale.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pair looks 'closer'? Is that the answer you actually want?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Recompute after standardising (assume SD = 4000 kJ and 30 mg). What changes, and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Raw distances are dominated by energy because its numbers are ~100× larger than vitamin C's.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Distances, deeper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GENERALISING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Minkowski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d(x,y) = ( Σⱼ |xⱼ − yⱼ|ᵖ )^(1/p)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p = 2</a:t>
            </a:r>
            <a:r>
              <a:rPr sz="1800" b="0">
                <a:solidFill>
                  <a:srgbClr val="1B2430"/>
                </a:solidFill>
                <a:latin typeface="Calibri"/>
              </a:rPr>
              <a:t> → Euclidean (straight line)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p = 1</a:t>
            </a:r>
            <a:r>
              <a:rPr sz="1800" b="0">
                <a:solidFill>
                  <a:srgbClr val="1B2430"/>
                </a:solidFill>
                <a:latin typeface="Calibri"/>
              </a:rPr>
              <a:t> → Manhattan (city-block, more robust)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p → ∞</a:t>
            </a:r>
            <a:r>
              <a:rPr sz="1800" b="0">
                <a:solidFill>
                  <a:srgbClr val="1B2430"/>
                </a:solidFill>
                <a:latin typeface="Calibri"/>
              </a:rPr>
              <a:t> → Chebyshev (max coordinate difference)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One formula, a family of distances — the exponent p tunes how differences add 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Dissimilarity vs similarity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dissimilarity</a:t>
            </a:r>
            <a:r>
              <a:rPr sz="2000" b="0">
                <a:solidFill>
                  <a:srgbClr val="1B2430"/>
                </a:solidFill>
                <a:latin typeface="Calibri"/>
              </a:rPr>
              <a:t> grows as objects differ (like a distance); a </a:t>
            </a:r>
            <a:r>
              <a:rPr sz="2000" b="1">
                <a:solidFill>
                  <a:srgbClr val="1B2430"/>
                </a:solidFill>
                <a:latin typeface="Calibri"/>
              </a:rPr>
              <a:t>similarity</a:t>
            </a:r>
            <a:r>
              <a:rPr sz="2000" b="0">
                <a:solidFill>
                  <a:srgbClr val="1B2430"/>
                </a:solidFill>
                <a:latin typeface="Calibri"/>
              </a:rPr>
              <a:t> grows as they resemble each other (like a correlation).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Clustering usually works from </a:t>
            </a:r>
            <a:r>
              <a:rPr sz="1800" b="1">
                <a:solidFill>
                  <a:srgbClr val="1B2430"/>
                </a:solidFill>
                <a:latin typeface="Calibri"/>
              </a:rPr>
              <a:t>dissimilarities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Similarity s and dissimilarity d often relate by d = 1 − 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Correlation-based clustering compares </a:t>
            </a:r>
            <a:r>
              <a:rPr sz="1800" b="1">
                <a:solidFill>
                  <a:srgbClr val="1B2430"/>
                </a:solidFill>
                <a:latin typeface="Calibri"/>
              </a:rPr>
              <a:t>shapes</a:t>
            </a:r>
            <a:r>
              <a:rPr sz="1800" b="0">
                <a:solidFill>
                  <a:srgbClr val="1B2430"/>
                </a:solidFill>
                <a:latin typeface="Calibri"/>
              </a:rPr>
              <a:t>, not magnitudes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METRIC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Match the distance to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Continuous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Euclidean (after standardising)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Manhattan for robustness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Correlation for profiles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Other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Gower</a:t>
            </a:r>
            <a:r>
              <a:rPr sz="1600" b="0">
                <a:solidFill>
                  <a:srgbClr val="1B2430"/>
                </a:solidFill>
                <a:latin typeface="Calibri"/>
              </a:rPr>
              <a:t> for mixed types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Jaccard</a:t>
            </a:r>
            <a:r>
              <a:rPr sz="1600" b="0">
                <a:solidFill>
                  <a:srgbClr val="1B2430"/>
                </a:solidFill>
                <a:latin typeface="Calibri"/>
              </a:rPr>
              <a:t> for presence/absence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Hamming</a:t>
            </a:r>
            <a:r>
              <a:rPr sz="1600" b="0">
                <a:solidFill>
                  <a:srgbClr val="1B2430"/>
                </a:solidFill>
                <a:latin typeface="Calibri"/>
              </a:rPr>
              <a:t> for categorical strings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want to cluster metabolite **profiles** by shape, ignoring overall magnitude. Best distance?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Euclidean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Manhattan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Correlation-based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Hamming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Correlation-based dissimilarity compares the pattern/shape of profiles regardless of their absolute level.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STANDARDISING, REVISITED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it's the #1 clustering mistake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Distance-based methods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dominated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by high-variance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Energy (~thousands) vs vitamin C (~tens) → energy wins by default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Standardising gives each variable an </a:t>
            </a:r>
            <a:r>
              <a:rPr sz="2000" b="1">
                <a:solidFill>
                  <a:srgbClr val="1B2430"/>
                </a:solidFill>
                <a:latin typeface="Calibri"/>
              </a:rPr>
              <a:t>equal vote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Occasionally you *want* to weight variables — do it </a:t>
            </a:r>
            <a:r>
              <a:rPr sz="2000" b="1">
                <a:solidFill>
                  <a:srgbClr val="1B2430"/>
                </a:solidFill>
                <a:latin typeface="Calibri"/>
              </a:rPr>
              <a:t>deliberately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Validation &amp; interpretation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Silhouette width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silhouette</a:t>
            </a:r>
            <a:r>
              <a:rPr sz="2000" b="0">
                <a:solidFill>
                  <a:srgbClr val="1B2430"/>
                </a:solidFill>
                <a:latin typeface="Calibri"/>
              </a:rPr>
              <a:t> of a point compares its average distance to its own cluster (a) with the nearest other cluster (b): s = (b − a)/max(a,b).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 near +1 → well clustered; near 0 → on a boundary; &lt; 0 → misassigned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Average silhouette scores a whole clustering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 model-free way to compare different 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VALIDATION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Three ways to judge clusters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compact &amp; separated?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silhouette, WSS/BSS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Stability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reproducible?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resampling, bootstrap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External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match known groups?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compare to held-out label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INTERPRETING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Turning groups into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Profile</a:t>
            </a:r>
            <a:r>
              <a:rPr sz="2000" b="0">
                <a:solidFill>
                  <a:srgbClr val="1B2430"/>
                </a:solidFill>
                <a:latin typeface="Calibri"/>
              </a:rPr>
              <a:t> each cluster by its variable means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 it in domain terms ('high-fibre, low-sugar')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Check </a:t>
            </a:r>
            <a:r>
              <a:rPr sz="2000" b="1">
                <a:solidFill>
                  <a:srgbClr val="1B2430"/>
                </a:solidFill>
                <a:latin typeface="Calibri"/>
              </a:rPr>
              <a:t>sizes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tiny cluster may be outliers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Relate to a </a:t>
            </a:r>
            <a:r>
              <a:rPr sz="2000" b="1">
                <a:solidFill>
                  <a:srgbClr val="1B2430"/>
                </a:solidFill>
                <a:latin typeface="Calibri"/>
              </a:rPr>
              <a:t>held-out outcome</a:t>
            </a:r>
            <a:r>
              <a:rPr sz="2000" b="0">
                <a:solidFill>
                  <a:srgbClr val="1B2430"/>
                </a:solidFill>
                <a:latin typeface="Calibri"/>
              </a:rPr>
              <a:t> to argue relevance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CLUSTERS ARE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Clustering proposes structure; it does not prove it. Always validate statistically and biologically before you believe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A pattern in noise is still noise — the discipline is in the checking.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APPLICATIONS IN 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clustering earns its keep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Dietary patterns</a:t>
            </a:r>
            <a:r>
              <a:rPr sz="2000" b="0">
                <a:solidFill>
                  <a:srgbClr val="1B2430"/>
                </a:solidFill>
                <a:latin typeface="Calibri"/>
              </a:rPr>
              <a:t> from intake surveys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Metabolic subtypes</a:t>
            </a:r>
            <a:r>
              <a:rPr sz="2000" b="0">
                <a:solidFill>
                  <a:srgbClr val="1B2430"/>
                </a:solidFill>
                <a:latin typeface="Calibri"/>
              </a:rPr>
              <a:t> from blood metabolites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Food grouping</a:t>
            </a:r>
            <a:r>
              <a:rPr sz="2000" b="0">
                <a:solidFill>
                  <a:srgbClr val="1B2430"/>
                </a:solidFill>
                <a:latin typeface="Calibri"/>
              </a:rPr>
              <a:t> by nutrient composition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Participant segmentation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tailored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clustering has average silhouette 0.08. This suggests…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Excellent, well-separated clusters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Weak, overlapping structure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Perfectly nested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An error in the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Average silhouette near 0 means points sit close to the boundary between clusters — the structure is weak.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Plan a clustering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 have 30 standardised intake variables for 400 participants.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distance and which method family would you try first, and why?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How will you choose the number of clusters?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How will you convince a nutritionist the clusters are </a:t>
            </a:r>
            <a:r>
              <a:rPr sz="1900" b="1">
                <a:solidFill>
                  <a:srgbClr val="1B2430"/>
                </a:solidFill>
                <a:latin typeface="Calibri"/>
              </a:rPr>
              <a:t>real</a:t>
            </a:r>
            <a:r>
              <a:rPr sz="1900" b="0">
                <a:solidFill>
                  <a:srgbClr val="1B2430"/>
                </a:solidFill>
                <a:latin typeface="Calibri"/>
              </a:rPr>
              <a:t>, not noise?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Standardised continuous data → Euclidean + k-means/Ward; choose k by silhouette; validate with stability and a held-out outcome.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methods to 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k-means</a:t>
            </a:r>
            <a:r>
              <a:rPr sz="2000" b="0">
                <a:solidFill>
                  <a:srgbClr val="1B2430"/>
                </a:solidFill>
                <a:latin typeface="Calibri"/>
              </a:rPr>
              <a:t> (next) — fast partitioning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GMM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soft, probabilistic clusters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Hierarchical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tree at every scale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Each makes different </a:t>
            </a:r>
            <a:r>
              <a:rPr sz="2000" b="1">
                <a:solidFill>
                  <a:srgbClr val="1B2430"/>
                </a:solidFill>
                <a:latin typeface="Calibri"/>
              </a:rPr>
              <a:t>assumptions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choose to match your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method families in detail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Density-based clustering (DBSCAN)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DBSCAN</a:t>
            </a:r>
            <a:r>
              <a:rPr sz="2000" b="0">
                <a:solidFill>
                  <a:srgbClr val="1B2430"/>
                </a:solidFill>
                <a:latin typeface="Calibri"/>
              </a:rPr>
              <a:t> defines clusters as </a:t>
            </a:r>
            <a:r>
              <a:rPr sz="2000" b="1">
                <a:solidFill>
                  <a:srgbClr val="1B2430"/>
                </a:solidFill>
                <a:latin typeface="Calibri"/>
              </a:rPr>
              <a:t>dense regions</a:t>
            </a:r>
            <a:r>
              <a:rPr sz="2000" b="0">
                <a:solidFill>
                  <a:srgbClr val="1B2430"/>
                </a:solidFill>
                <a:latin typeface="Calibri"/>
              </a:rPr>
              <a:t> of points separated by sparser regions, and labels low-density points as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Finds </a:t>
            </a:r>
            <a:r>
              <a:rPr sz="1800" b="1">
                <a:solidFill>
                  <a:srgbClr val="1B2430"/>
                </a:solidFill>
                <a:latin typeface="Calibri"/>
              </a:rPr>
              <a:t>arbitrary shapes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not just blobs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Does </a:t>
            </a:r>
            <a:r>
              <a:rPr sz="1800" b="1">
                <a:solidFill>
                  <a:srgbClr val="1B2430"/>
                </a:solidFill>
                <a:latin typeface="Calibri"/>
              </a:rPr>
              <a:t>not</a:t>
            </a:r>
            <a:r>
              <a:rPr sz="1800" b="0">
                <a:solidFill>
                  <a:srgbClr val="1B2430"/>
                </a:solidFill>
                <a:latin typeface="Calibri"/>
              </a:rPr>
              <a:t> need k specified in advance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Sensitive to its density parameters (eps, minPts)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MORE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Beyond the big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Spectral clustering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cluster using a graph of similarities; great for complex shapes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Fuzzy clustering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soft memberships, like a simple GMM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Self-organising maps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neural-network-based clustering + visualisation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right family depends on cluster </a:t>
            </a:r>
            <a:r>
              <a:rPr sz="2000" b="1">
                <a:solidFill>
                  <a:srgbClr val="1B2430"/>
                </a:solidFill>
                <a:latin typeface="Calibri"/>
              </a:rPr>
              <a:t>shape, size and density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family when?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3291840"/>
                <a:gridCol w="32004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Needs k?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Shapes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Scales?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very well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GMM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elliptical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moderately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Hierarchical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 (linkage)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poorly (O(n²))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arbitrary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well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Your clusters are long, curved bands of varying density. Best first choice?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k-means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GMM with spherical covariance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DBSCAN or spectral clustering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None can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Density-based (DBSCAN) and spectral methods handle arbitrary, curved shapes that centroid-based methods carve up incorrectly.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CURSE OF DIMENSIONALITY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Clustering's hidden enemy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 high dimensions, </a:t>
            </a:r>
            <a:r>
              <a:rPr sz="2000" b="1">
                <a:solidFill>
                  <a:srgbClr val="1B2430"/>
                </a:solidFill>
                <a:latin typeface="Calibri"/>
              </a:rPr>
              <a:t>all points become nearly equidistant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Distance-based clustering then loses its power to discriminate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Reduce dimensions first</a:t>
            </a:r>
            <a:r>
              <a:rPr sz="2000" b="0">
                <a:solidFill>
                  <a:srgbClr val="1B2430"/>
                </a:solidFill>
                <a:latin typeface="Calibri"/>
              </a:rPr>
              <a:t> (PCA — Lectures 7–8) or select features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Fewer, informative variables often cluster </a:t>
            </a:r>
            <a:r>
              <a:rPr sz="2000" b="1">
                <a:solidFill>
                  <a:srgbClr val="1B2430"/>
                </a:solidFill>
                <a:latin typeface="Calibri"/>
              </a:rPr>
              <a:t>better</a:t>
            </a:r>
            <a:r>
              <a:rPr sz="2000" b="0">
                <a:solidFill>
                  <a:srgbClr val="1B2430"/>
                </a:solidFill>
                <a:latin typeface="Calibri"/>
              </a:rPr>
              <a:t> than many noisy 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Clustering tendency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Clustering tendency</a:t>
            </a:r>
            <a:r>
              <a:rPr sz="2000" b="0">
                <a:solidFill>
                  <a:srgbClr val="1B2430"/>
                </a:solidFill>
                <a:latin typeface="Calibri"/>
              </a:rPr>
              <a:t> asks whether the data has any cluster structure *at all* before you try to find clusters.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</a:t>
            </a:r>
            <a:r>
              <a:rPr sz="1800" b="1">
                <a:solidFill>
                  <a:srgbClr val="1B2430"/>
                </a:solidFill>
                <a:latin typeface="Calibri"/>
              </a:rPr>
              <a:t>Hopkins statistic</a:t>
            </a:r>
            <a:r>
              <a:rPr sz="1800" b="0">
                <a:solidFill>
                  <a:srgbClr val="1B2430"/>
                </a:solidFill>
                <a:latin typeface="Calibri"/>
              </a:rPr>
              <a:t> tests for it (≈0.5 means random)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Any algorithm will *return* clusters — even from noise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Check tendency so you don't chase phantom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worked example &amp; consolidation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Euclidean distance, two participants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d = √[ (8000−16000)² + (60−60)² ] = 8000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On raw scales the energy gap of 8000 swamps everything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Vitamin C contributes </a:t>
            </a:r>
            <a:r>
              <a:rPr sz="1800" b="1">
                <a:solidFill>
                  <a:srgbClr val="1B2430"/>
                </a:solidFill>
                <a:latin typeface="Calibri"/>
              </a:rPr>
              <a:t>nothing</a:t>
            </a:r>
            <a:r>
              <a:rPr sz="1800" b="0">
                <a:solidFill>
                  <a:srgbClr val="1B2430"/>
                </a:solidFill>
                <a:latin typeface="Calibri"/>
              </a:rPr>
              <a:t> to the distance here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After standardising, both variables contribute on equal footing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This is the single most important practical lesson: standardise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STANDARDISED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Same points, fair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Energy gap: 8000 kJ ÷ 4000 SD = </a:t>
            </a:r>
            <a:r>
              <a:rPr sz="2000" b="1">
                <a:solidFill>
                  <a:srgbClr val="1B2430"/>
                </a:solidFill>
                <a:latin typeface="Calibri"/>
              </a:rPr>
              <a:t>2 SD units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Vitamin C gap: 0 mg ÷ 30 SD = </a:t>
            </a:r>
            <a:r>
              <a:rPr sz="2000" b="1">
                <a:solidFill>
                  <a:srgbClr val="1B2430"/>
                </a:solidFill>
                <a:latin typeface="Calibri"/>
              </a:rPr>
              <a:t>0 SD units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Now compare with pairs that differ in vitamin C — they finally 'count'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Standardising changed which points look </a:t>
            </a:r>
            <a:r>
              <a:rPr sz="2000" b="1">
                <a:solidFill>
                  <a:srgbClr val="1B2430"/>
                </a:solidFill>
                <a:latin typeface="Calibri"/>
              </a:rPr>
              <a:t>closest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DO &amp;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Clustering hygiene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Standardise first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Check clustering tendency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Try several methods &amp; k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Validate and name clusters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Cluster raw, unscaled data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Trust one run blindly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Over-interpret tiny clusters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Confuse noise for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Dietary patterns,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 30 intake variables for 400 participants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Check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Hopkins statistic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is there structure?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Run k-means and Ward; compare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silhouette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Profile &amp;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patterns; relate them to a health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Before clustering, the Hopkins statistic is ≈ 0.5. You should…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Proceed — strong clusters exist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Be cautious — the data may be essentially random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Use more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Standardise again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 Hopkins statistic near 0.5 indicates the data is close to uniformly random — there may be little real cluster structure to find.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Choose distance and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For each scenario pick a distance and a method family, with a one-line justification: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(a) 400 participants, 25 standardised continuous intakes, expect round groups.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(b) Metabolite </a:t>
            </a:r>
            <a:r>
              <a:rPr sz="1900" b="1">
                <a:solidFill>
                  <a:srgbClr val="1B2430"/>
                </a:solidFill>
                <a:latin typeface="Calibri"/>
              </a:rPr>
              <a:t>profiles</a:t>
            </a:r>
            <a:r>
              <a:rPr sz="1900" b="0">
                <a:solidFill>
                  <a:srgbClr val="1B2430"/>
                </a:solidFill>
                <a:latin typeface="Calibri"/>
              </a:rPr>
              <a:t> where shape matters more than level.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(c) Data with curved, variable-density structure and unknown 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(a) Euclidean + k-means; (b) correlation + hierarchical; (c) DBSCAN/spectral.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TERMS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Own this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 / dissimilarity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how far apart two objects are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Within / between</a:t>
            </a:r>
            <a:r>
              <a:rPr sz="2000" b="0">
                <a:solidFill>
                  <a:srgbClr val="1B2430"/>
                </a:solidFill>
                <a:latin typeface="Calibri"/>
              </a:rPr>
              <a:t> variation — compactness vs separation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Silhouette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validation score for clusterings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Clustering tendency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is there structure at all?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clustering toolkit you'll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1700784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1426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X &lt;- scale(diet_numeric)                 # standardise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get_clust_tendency(X, n = 50)            # Hopkins statistic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fviz_nbclust(X, kmeans, method='silhouette')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km &lt;- kmeans(X, 3, nstart = 25); hc &lt;- hclust(dist(X), 'ward.D2')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Clustering is a conversation with your data, not a button you press — you propose structure, then interrogate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Distance, method and validation are all your choices to justify.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is the single most common practical mistake in distance-based clustering?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Using too many colours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Forgetting to standardise the variables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Choosing k =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Using 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Failing to standardise lets high-variance variables dominate the distance and hijack the entire clustering.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49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James et al., *An Introduction to Statistical Learning*, Ch. 12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 et al., *The Elements of Statistical Learning*, Ch. 14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R: `factoextra`, `cluster` vignettes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50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Clustering finds </a:t>
            </a:r>
            <a:r>
              <a:rPr sz="2000" b="1">
                <a:solidFill>
                  <a:srgbClr val="1B2430"/>
                </a:solidFill>
                <a:latin typeface="Calibri"/>
              </a:rPr>
              <a:t>groups without labels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exploratory and hypothesis-generating.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 measure</a:t>
            </a:r>
            <a:r>
              <a:rPr sz="2000" b="0">
                <a:solidFill>
                  <a:srgbClr val="1B2430"/>
                </a:solidFill>
                <a:latin typeface="Calibri"/>
              </a:rPr>
              <a:t> defines 'similar'; it is scale-sensitive, so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first.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Good clusterings have </a:t>
            </a:r>
            <a:r>
              <a:rPr sz="2000" b="1">
                <a:solidFill>
                  <a:srgbClr val="1B2430"/>
                </a:solidFill>
                <a:latin typeface="Calibri"/>
              </a:rPr>
              <a:t>small within, large between</a:t>
            </a:r>
            <a:r>
              <a:rPr sz="2000" b="0">
                <a:solidFill>
                  <a:srgbClr val="1B2430"/>
                </a:solidFill>
                <a:latin typeface="Calibri"/>
              </a:rPr>
              <a:t> variation.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Method families encode different </a:t>
            </a:r>
            <a:r>
              <a:rPr sz="2000" b="1">
                <a:solidFill>
                  <a:srgbClr val="1B2430"/>
                </a:solidFill>
                <a:latin typeface="Calibri"/>
              </a:rPr>
              <a:t>shape assumptions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validate before you believe.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04 — K-means clustering: the workhorse partitioning method.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L03 ·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