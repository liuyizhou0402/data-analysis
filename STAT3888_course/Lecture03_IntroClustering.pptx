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960120"/>
            <a:ext cx="2194560" cy="457200"/>
          </a:xfrm>
          <a:prstGeom prst="round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42415"/>
            <a:ext cx="2194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LECTURE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424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Unsupervised Learning: Introduction to Clustering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160520"/>
            <a:ext cx="9692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8D4E2"/>
                </a:solidFill>
                <a:latin typeface="Calibri"/>
              </a:rPr>
              <a:t>Finding groups in data when nobody gives you the labels — the ideas of distance, within/between variation, and the main families of methods.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806440"/>
            <a:ext cx="10515600" cy="15240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9FADBD"/>
                </a:solidFill>
                <a:latin typeface="Calibri"/>
              </a:rPr>
              <a:t>School of Mathematics &amp; Statistics · The University of Sydney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Today's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The clustering problem and nutrition motivation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Distance and dissimilarity measures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What makes a clustering 'good': within vs between variation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The families of clustering methods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Validating and interpreting clusters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Common 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clustering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From an unlabelled cloud to proposed groups</a:t>
            </a:r>
          </a:p>
        </p:txBody>
      </p:sp>
      <p:pic>
        <p:nvPicPr>
          <p:cNvPr id="6" name="Picture 5" descr="L03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759055"/>
            <a:ext cx="9144000" cy="39799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598932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A7D"/>
                </a:solidFill>
                <a:latin typeface="Calibri"/>
              </a:rPr>
              <a:t>Clustering takes points with no labels (left) and proposes a partition (right). There is no 'true' answer to check against — it is exploratory.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What clustering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Clustering</a:t>
            </a:r>
            <a:r>
              <a:rPr sz="2000" b="0">
                <a:solidFill>
                  <a:srgbClr val="1B2430"/>
                </a:solidFill>
                <a:latin typeface="Calibri"/>
              </a:rPr>
              <a:t> partitions observations into groups so that members of a group are </a:t>
            </a:r>
            <a:r>
              <a:rPr sz="2000" b="1">
                <a:solidFill>
                  <a:srgbClr val="1B2430"/>
                </a:solidFill>
                <a:latin typeface="Calibri"/>
              </a:rPr>
              <a:t>similar</a:t>
            </a:r>
            <a:r>
              <a:rPr sz="2000" b="0">
                <a:solidFill>
                  <a:srgbClr val="1B2430"/>
                </a:solidFill>
                <a:latin typeface="Calibri"/>
              </a:rPr>
              <a:t>, and different groups are </a:t>
            </a:r>
            <a:r>
              <a:rPr sz="2000" b="1">
                <a:solidFill>
                  <a:srgbClr val="1B2430"/>
                </a:solidFill>
                <a:latin typeface="Calibri"/>
              </a:rPr>
              <a:t>dissimilar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It is </a:t>
            </a:r>
            <a:r>
              <a:rPr sz="2000" b="1">
                <a:solidFill>
                  <a:srgbClr val="1B2430"/>
                </a:solidFill>
                <a:latin typeface="Calibri"/>
              </a:rPr>
              <a:t>unsupervised</a:t>
            </a:r>
            <a:r>
              <a:rPr sz="2000" b="0">
                <a:solidFill>
                  <a:srgbClr val="1B2430"/>
                </a:solidFill>
                <a:latin typeface="Calibri"/>
              </a:rPr>
              <a:t>: there is no target Y to predict or check against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The goal is to </a:t>
            </a:r>
            <a:r>
              <a:rPr sz="2000" b="1">
                <a:solidFill>
                  <a:srgbClr val="1B2430"/>
                </a:solidFill>
                <a:latin typeface="Calibri"/>
              </a:rPr>
              <a:t>discover and describe</a:t>
            </a:r>
            <a:r>
              <a:rPr sz="2000" b="0">
                <a:solidFill>
                  <a:srgbClr val="1B2430"/>
                </a:solidFill>
                <a:latin typeface="Calibri"/>
              </a:rPr>
              <a:t> structure, then validate it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Unlike classification, we don't know the groups in advance — or even how many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Why cluster nutrition data?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2A6F97"/>
                </a:solidFill>
                <a:latin typeface="Calibri"/>
              </a:rPr>
              <a:t>Dietary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Instead of 50 nutrients one at a time…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…group people into a few </a:t>
            </a:r>
            <a:r>
              <a:rPr sz="1600" b="1">
                <a:solidFill>
                  <a:srgbClr val="1B2430"/>
                </a:solidFill>
                <a:latin typeface="Calibri"/>
              </a:rPr>
              <a:t>eating patterns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e.g. 'prudent' vs 'Western' diets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Simpler to study and communicate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E64626"/>
                </a:solidFill>
                <a:latin typeface="Calibri"/>
              </a:rPr>
              <a:t>Metabolic subtypes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Cluster participants by </a:t>
            </a:r>
            <a:r>
              <a:rPr sz="1600" b="1">
                <a:solidFill>
                  <a:srgbClr val="1B2430"/>
                </a:solidFill>
                <a:latin typeface="Calibri"/>
              </a:rPr>
              <a:t>metabolite profile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Reveal </a:t>
            </a:r>
            <a:r>
              <a:rPr sz="1600" b="1">
                <a:solidFill>
                  <a:srgbClr val="1B2430"/>
                </a:solidFill>
                <a:latin typeface="Calibri"/>
              </a:rPr>
              <a:t>subgroups</a:t>
            </a:r>
            <a:r>
              <a:rPr sz="1600" b="0">
                <a:solidFill>
                  <a:srgbClr val="1B2430"/>
                </a:solidFill>
                <a:latin typeface="Calibri"/>
              </a:rPr>
              <a:t> that respond differently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A powerful </a:t>
            </a:r>
            <a:r>
              <a:rPr sz="1600" b="1">
                <a:solidFill>
                  <a:srgbClr val="1B2430"/>
                </a:solidFill>
                <a:latin typeface="Calibri"/>
              </a:rPr>
              <a:t>hypothesis generator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Exactly the kind of project finding that impresses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REMINDER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Clustering is discovery, not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Supervised learning </a:t>
            </a:r>
            <a:r>
              <a:rPr sz="2000" b="1">
                <a:solidFill>
                  <a:srgbClr val="1B2430"/>
                </a:solidFill>
                <a:latin typeface="Calibri"/>
              </a:rPr>
              <a:t>learns a known label</a:t>
            </a:r>
            <a:r>
              <a:rPr sz="2000" b="0">
                <a:solidFill>
                  <a:srgbClr val="1B2430"/>
                </a:solidFill>
                <a:latin typeface="Calibri"/>
              </a:rPr>
              <a:t>; clustering </a:t>
            </a:r>
            <a:r>
              <a:rPr sz="2000" b="1">
                <a:solidFill>
                  <a:srgbClr val="1B2430"/>
                </a:solidFill>
                <a:latin typeface="Calibri"/>
              </a:rPr>
              <a:t>proposes</a:t>
            </a:r>
            <a:r>
              <a:rPr sz="2000" b="0">
                <a:solidFill>
                  <a:srgbClr val="1B2430"/>
                </a:solidFill>
                <a:latin typeface="Calibri"/>
              </a:rPr>
              <a:t> labels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Results are </a:t>
            </a:r>
            <a:r>
              <a:rPr sz="2000" b="1">
                <a:solidFill>
                  <a:srgbClr val="1B2430"/>
                </a:solidFill>
                <a:latin typeface="Calibri"/>
              </a:rPr>
              <a:t>not unique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different methods and settings give different groupings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So we must </a:t>
            </a:r>
            <a:r>
              <a:rPr sz="2000" b="1">
                <a:solidFill>
                  <a:srgbClr val="1B2430"/>
                </a:solidFill>
                <a:latin typeface="Calibri"/>
              </a:rPr>
              <a:t>validate</a:t>
            </a:r>
            <a:r>
              <a:rPr sz="2000" b="0">
                <a:solidFill>
                  <a:srgbClr val="1B2430"/>
                </a:solidFill>
                <a:latin typeface="Calibri"/>
              </a:rPr>
              <a:t>: are the clusters stable, separated, and </a:t>
            </a:r>
            <a:r>
              <a:rPr sz="2000" b="1">
                <a:solidFill>
                  <a:srgbClr val="1B2430"/>
                </a:solidFill>
                <a:latin typeface="Calibri"/>
              </a:rPr>
              <a:t>biologically meaningful</a:t>
            </a:r>
            <a:r>
              <a:rPr sz="2000" b="0">
                <a:solidFill>
                  <a:srgbClr val="1B2430"/>
                </a:solidFill>
                <a:latin typeface="Calibri"/>
              </a:rPr>
              <a:t>?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Distance — the heart of clustering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Two ways to measure how far apart points are</a:t>
            </a:r>
          </a:p>
        </p:txBody>
      </p:sp>
      <p:pic>
        <p:nvPicPr>
          <p:cNvPr id="6" name="Picture 5" descr="L03_dist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6247761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B6A7D"/>
                </a:solidFill>
                <a:latin typeface="Calibri"/>
              </a:rPr>
              <a:t>Euclidean distance is the straight line; Manhattan distance sums the coordinate-wise gaps. The metric encodes what you mean by 'similar'.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645920"/>
            <a:ext cx="3429000" cy="4343400"/>
          </a:xfrm>
          <a:prstGeom prst="roundRect">
            <a:avLst/>
          </a:prstGeom>
          <a:solidFill>
            <a:srgbClr val="EEF3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11311" y="187451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A6F97"/>
                </a:solidFill>
                <a:latin typeface="Calibri"/>
              </a:rPr>
              <a:t>Key 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1" y="2423160"/>
            <a:ext cx="2971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Every algorithm needs a </a:t>
            </a:r>
            <a:r>
              <a:rPr sz="1500" b="1">
                <a:solidFill>
                  <a:srgbClr val="1B2430"/>
                </a:solidFill>
                <a:latin typeface="Calibri"/>
              </a:rPr>
              <a:t>distance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The choice is a </a:t>
            </a:r>
            <a:r>
              <a:rPr sz="1500" b="1">
                <a:solidFill>
                  <a:srgbClr val="1B2430"/>
                </a:solidFill>
                <a:latin typeface="Calibri"/>
              </a:rPr>
              <a:t>modelling decision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It defines the shape of your clusters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Choose it deliberately, not by default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EUCLIDEAN DISTANCE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The default metric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1965960"/>
            <a:ext cx="9235440" cy="141732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965960"/>
            <a:ext cx="90525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EAF2FB"/>
                </a:solidFill>
                <a:latin typeface="Cambria Math"/>
              </a:rPr>
              <a:t>d(x, y) = √ Σⱼ ( xⱼ − yⱼ )²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03320"/>
            <a:ext cx="9235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Straight-line distance in p-dimensional space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Squared version underlies </a:t>
            </a:r>
            <a:r>
              <a:rPr sz="1800" b="1">
                <a:solidFill>
                  <a:srgbClr val="1B2430"/>
                </a:solidFill>
                <a:latin typeface="Calibri"/>
              </a:rPr>
              <a:t>k-means</a:t>
            </a:r>
            <a:r>
              <a:rPr sz="1800" b="0">
                <a:solidFill>
                  <a:srgbClr val="1B2430"/>
                </a:solidFill>
                <a:latin typeface="Calibri"/>
              </a:rPr>
              <a:t> (Lecture 4)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Sensitive to </a:t>
            </a:r>
            <a:r>
              <a:rPr sz="1800" b="1">
                <a:solidFill>
                  <a:srgbClr val="1B2430"/>
                </a:solidFill>
                <a:latin typeface="Calibri"/>
              </a:rPr>
              <a:t>scale</a:t>
            </a:r>
            <a:r>
              <a:rPr sz="1800" b="0">
                <a:solidFill>
                  <a:srgbClr val="1B2430"/>
                </a:solidFill>
                <a:latin typeface="Calibri"/>
              </a:rPr>
              <a:t> — standardise first!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CHOICES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Common distance / dissimilarity measures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931920"/>
                <a:gridCol w="4114800"/>
              </a:tblGrid>
              <a:tr h="50292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Idea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Good for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Euclidean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straight-line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standardised continuous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Manhattan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sum of |differences|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robust, high-dimensional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shape, not magnitude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profiles (gene/metabolite)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Gower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mixed variable types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numeric + categorical mix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Jaccard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set overlap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presence/absence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Why standardising is non-negotiable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Distance is </a:t>
            </a:r>
            <a:r>
              <a:rPr sz="2000" b="1">
                <a:solidFill>
                  <a:srgbClr val="1B2430"/>
                </a:solidFill>
                <a:latin typeface="Calibri"/>
              </a:rPr>
              <a:t>dominated by large-scale variables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Energy (~8000 kJ) vs vitamin C (~75 mg): energy's numbers are ~100× larger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Without scaling, clustering effectively </a:t>
            </a:r>
            <a:r>
              <a:rPr sz="2000" b="1">
                <a:solidFill>
                  <a:srgbClr val="1B2430"/>
                </a:solidFill>
                <a:latin typeface="Calibri"/>
              </a:rPr>
              <a:t>ignores</a:t>
            </a:r>
            <a:r>
              <a:rPr sz="2000" b="0">
                <a:solidFill>
                  <a:srgbClr val="1B2430"/>
                </a:solidFill>
                <a:latin typeface="Calibri"/>
              </a:rPr>
              <a:t> vitamin C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Standardise (z-scores) so every variable contributes fairly — recall Lecture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What makes a clustering good?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Small within, large between</a:t>
            </a:r>
          </a:p>
        </p:txBody>
      </p:sp>
      <p:pic>
        <p:nvPicPr>
          <p:cNvPr id="6" name="Picture 5" descr="L03_withinbetw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6544730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B6A7D"/>
                </a:solidFill>
                <a:latin typeface="Calibri"/>
              </a:rPr>
              <a:t>We want points close to their own cluster centre (small within-cluster variation) and centres far apart (large between-cluster variation).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645920"/>
            <a:ext cx="3429000" cy="4343400"/>
          </a:xfrm>
          <a:prstGeom prst="roundRect">
            <a:avLst/>
          </a:prstGeom>
          <a:solidFill>
            <a:srgbClr val="EEF3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11311" y="187451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A6F97"/>
                </a:solidFill>
                <a:latin typeface="Calibri"/>
              </a:rPr>
              <a:t>The trade-off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1" y="2423160"/>
            <a:ext cx="2971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1">
                <a:solidFill>
                  <a:srgbClr val="1B2430"/>
                </a:solidFill>
                <a:latin typeface="Calibri"/>
              </a:rPr>
              <a:t>Within</a:t>
            </a:r>
            <a:r>
              <a:rPr sz="1500" b="0">
                <a:solidFill>
                  <a:srgbClr val="1B2430"/>
                </a:solidFill>
                <a:latin typeface="Calibri"/>
              </a:rPr>
              <a:t>: spread inside each cluster (minimise)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1">
                <a:solidFill>
                  <a:srgbClr val="1B2430"/>
                </a:solidFill>
                <a:latin typeface="Calibri"/>
              </a:rPr>
              <a:t>Between</a:t>
            </a:r>
            <a:r>
              <a:rPr sz="1500" b="0">
                <a:solidFill>
                  <a:srgbClr val="1B2430"/>
                </a:solidFill>
                <a:latin typeface="Calibri"/>
              </a:rPr>
              <a:t>: separation of clusters (maximise)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Total variation = within + between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Most algorithms drive </a:t>
            </a:r>
            <a:r>
              <a:rPr sz="1500" b="1">
                <a:solidFill>
                  <a:srgbClr val="1B2430"/>
                </a:solidFill>
                <a:latin typeface="Calibri"/>
              </a:rPr>
              <a:t>within</a:t>
            </a:r>
            <a:r>
              <a:rPr sz="1500" b="0">
                <a:solidFill>
                  <a:srgbClr val="1B2430"/>
                </a:solidFill>
                <a:latin typeface="Calibri"/>
              </a:rPr>
              <a:t> down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Total sum of squares splits cleanly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1965960"/>
            <a:ext cx="9235440" cy="141732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965960"/>
            <a:ext cx="90525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EAF2FB"/>
                </a:solidFill>
                <a:latin typeface="Cambria Math"/>
              </a:rPr>
              <a:t>TSS = WSS + BSS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03320"/>
            <a:ext cx="9235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1">
                <a:solidFill>
                  <a:srgbClr val="1B2430"/>
                </a:solidFill>
                <a:latin typeface="Calibri"/>
              </a:rPr>
              <a:t>WSS</a:t>
            </a:r>
            <a:r>
              <a:rPr sz="1800" b="0">
                <a:solidFill>
                  <a:srgbClr val="1B2430"/>
                </a:solidFill>
                <a:latin typeface="Calibri"/>
              </a:rPr>
              <a:t> = within-cluster sum of squares (compactness)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1">
                <a:solidFill>
                  <a:srgbClr val="1B2430"/>
                </a:solidFill>
                <a:latin typeface="Calibri"/>
              </a:rPr>
              <a:t>BSS</a:t>
            </a:r>
            <a:r>
              <a:rPr sz="1800" b="0">
                <a:solidFill>
                  <a:srgbClr val="1B2430"/>
                </a:solidFill>
                <a:latin typeface="Calibri"/>
              </a:rPr>
              <a:t> = between-cluster sum of squares (separation)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Minimising WSS ⇔ maximising BSS, since TSS is fixed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5486400"/>
            <a:ext cx="9235440" cy="77724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5486400"/>
            <a:ext cx="73152" cy="7772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5559552"/>
            <a:ext cx="8778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1B2430"/>
                </a:solidFill>
                <a:latin typeface="Calibri"/>
              </a:rPr>
              <a:t>Adding clusters </a:t>
            </a:r>
            <a:r>
              <a:rPr sz="1500" b="1">
                <a:solidFill>
                  <a:srgbClr val="1B2430"/>
                </a:solidFill>
                <a:latin typeface="Calibri"/>
              </a:rPr>
              <a:t>always</a:t>
            </a:r>
            <a:r>
              <a:rPr sz="1500" b="0">
                <a:solidFill>
                  <a:srgbClr val="1B2430"/>
                </a:solidFill>
                <a:latin typeface="Calibri"/>
              </a:rPr>
              <a:t> lowers WSS — so WSS alone can't choose the number of clusters. We need principled criteria (Lecture 4).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Families of methods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Four ways to think about clusters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937760"/>
                <a:gridCol w="3200400"/>
              </a:tblGrid>
              <a:tr h="50292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Core idea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In this unit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Partitioning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split into k groups, minimise within-SS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430"/>
                          </a:solidFill>
                          <a:latin typeface="Calibri"/>
                        </a:rPr>
                        <a:t>k-means</a:t>
                      </a:r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 (L04)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Model-based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data from a mixture of distributions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430"/>
                          </a:solidFill>
                          <a:latin typeface="Calibri"/>
                        </a:rPr>
                        <a:t>GMM</a:t>
                      </a:r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 (L05)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Hierarchical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build a tree of nested groups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430"/>
                          </a:solidFill>
                          <a:latin typeface="Calibri"/>
                        </a:rPr>
                        <a:t>agglomerative</a:t>
                      </a:r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 (L06)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Density-based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clusters = dense regions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DBSCAN (mentioned)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PARTITIONING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Partitioning methods (k-means, PAM)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Choose </a:t>
            </a:r>
            <a:r>
              <a:rPr sz="2000" b="1">
                <a:solidFill>
                  <a:srgbClr val="1B2430"/>
                </a:solidFill>
                <a:latin typeface="Calibri"/>
              </a:rPr>
              <a:t>k</a:t>
            </a:r>
            <a:r>
              <a:rPr sz="2000" b="0">
                <a:solidFill>
                  <a:srgbClr val="1B2430"/>
                </a:solidFill>
                <a:latin typeface="Calibri"/>
              </a:rPr>
              <a:t> up front; each cluster summarised by a </a:t>
            </a:r>
            <a:r>
              <a:rPr sz="2000" b="1">
                <a:solidFill>
                  <a:srgbClr val="1B2430"/>
                </a:solidFill>
                <a:latin typeface="Calibri"/>
              </a:rPr>
              <a:t>centroid</a:t>
            </a:r>
            <a:r>
              <a:rPr sz="2000" b="0">
                <a:solidFill>
                  <a:srgbClr val="1B2430"/>
                </a:solidFill>
                <a:latin typeface="Calibri"/>
              </a:rPr>
              <a:t> or </a:t>
            </a:r>
            <a:r>
              <a:rPr sz="2000" b="1">
                <a:solidFill>
                  <a:srgbClr val="1B2430"/>
                </a:solidFill>
                <a:latin typeface="Calibri"/>
              </a:rPr>
              <a:t>medoid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Fast and scalable; assumes roughly </a:t>
            </a:r>
            <a:r>
              <a:rPr sz="2000" b="1">
                <a:solidFill>
                  <a:srgbClr val="1B2430"/>
                </a:solidFill>
                <a:latin typeface="Calibri"/>
              </a:rPr>
              <a:t>spherical, equal-size</a:t>
            </a:r>
            <a:r>
              <a:rPr sz="2000" b="0">
                <a:solidFill>
                  <a:srgbClr val="1B2430"/>
                </a:solidFill>
                <a:latin typeface="Calibri"/>
              </a:rPr>
              <a:t> clusters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The workhorse — our entire next lecture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HIERARCHICAL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Hierarchical clustering builds a tree</a:t>
            </a:r>
          </a:p>
        </p:txBody>
      </p:sp>
      <p:pic>
        <p:nvPicPr>
          <p:cNvPr id="6" name="Picture 5" descr="L03_dend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5560" y="1600200"/>
            <a:ext cx="7361839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598932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A7D"/>
                </a:solidFill>
                <a:latin typeface="Calibri"/>
              </a:rPr>
              <a:t>A dendrogram shows nested groupings at every scale. Cut it at a chosen height to obtain a clustering. Full treatment in Lecture 6.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MODEL-BASED &amp; DENSITY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Two more families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Model-based (GMM)</a:t>
            </a:r>
            <a:r>
              <a:rPr sz="2000" b="0">
                <a:solidFill>
                  <a:srgbClr val="1B2430"/>
                </a:solidFill>
                <a:latin typeface="Calibri"/>
              </a:rPr>
              <a:t>: assume data come from a mixture of Gaussians; gives </a:t>
            </a:r>
            <a:r>
              <a:rPr sz="2000" b="1">
                <a:solidFill>
                  <a:srgbClr val="1B2430"/>
                </a:solidFill>
                <a:latin typeface="Calibri"/>
              </a:rPr>
              <a:t>soft</a:t>
            </a:r>
            <a:r>
              <a:rPr sz="2000" b="0">
                <a:solidFill>
                  <a:srgbClr val="1B2430"/>
                </a:solidFill>
                <a:latin typeface="Calibri"/>
              </a:rPr>
              <a:t> (probabilistic) assignments and a principled way to choose k via the BIC — Lecture 5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Density-based (DBSCAN)</a:t>
            </a:r>
            <a:r>
              <a:rPr sz="2000" b="0">
                <a:solidFill>
                  <a:srgbClr val="1B2430"/>
                </a:solidFill>
                <a:latin typeface="Calibri"/>
              </a:rPr>
              <a:t>: clusters are dense regions separated by sparse ones; finds </a:t>
            </a:r>
            <a:r>
              <a:rPr sz="2000" b="1">
                <a:solidFill>
                  <a:srgbClr val="1B2430"/>
                </a:solidFill>
                <a:latin typeface="Calibri"/>
              </a:rPr>
              <a:t>arbitrary shapes</a:t>
            </a:r>
            <a:r>
              <a:rPr sz="2000" b="0">
                <a:solidFill>
                  <a:srgbClr val="1B2430"/>
                </a:solidFill>
                <a:latin typeface="Calibri"/>
              </a:rPr>
              <a:t> and labels noise, but is sensitive to its distance threshold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Validation &amp; pitfalls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How do you know the clusters are real?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Internal</a:t>
            </a:r>
            <a:r>
              <a:rPr sz="2000" b="0">
                <a:solidFill>
                  <a:srgbClr val="1B2430"/>
                </a:solidFill>
                <a:latin typeface="Calibri"/>
              </a:rPr>
              <a:t>: silhouette width, within/between ratios — separation &amp; compactness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Stability</a:t>
            </a:r>
            <a:r>
              <a:rPr sz="2000" b="0">
                <a:solidFill>
                  <a:srgbClr val="1B2430"/>
                </a:solidFill>
                <a:latin typeface="Calibri"/>
              </a:rPr>
              <a:t>: do clusters persist under resampling or small perturbations?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External</a:t>
            </a:r>
            <a:r>
              <a:rPr sz="2000" b="0">
                <a:solidFill>
                  <a:srgbClr val="1B2430"/>
                </a:solidFill>
                <a:latin typeface="Calibri"/>
              </a:rPr>
              <a:t>: do they align with a known variable you held out (e.g. a health outcome)?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Domain</a:t>
            </a:r>
            <a:r>
              <a:rPr sz="2000" b="0">
                <a:solidFill>
                  <a:srgbClr val="1B2430"/>
                </a:solidFill>
                <a:latin typeface="Calibri"/>
              </a:rPr>
              <a:t>: can your Nutrition partners give each cluster a meaningful </a:t>
            </a:r>
            <a:r>
              <a:rPr sz="2000" b="1">
                <a:solidFill>
                  <a:srgbClr val="1B2430"/>
                </a:solidFill>
                <a:latin typeface="Calibri"/>
              </a:rPr>
              <a:t>name</a:t>
            </a:r>
            <a:r>
              <a:rPr sz="2000" b="0">
                <a:solidFill>
                  <a:srgbClr val="1B2430"/>
                </a:solidFill>
                <a:latin typeface="Calibri"/>
              </a:rPr>
              <a:t>?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PITFALLS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Where clustering goes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Forgetting to </a:t>
            </a:r>
            <a:r>
              <a:rPr sz="2000" b="1">
                <a:solidFill>
                  <a:srgbClr val="1B2430"/>
                </a:solidFill>
                <a:latin typeface="Calibri"/>
              </a:rPr>
              <a:t>standardise</a:t>
            </a:r>
            <a:r>
              <a:rPr sz="2000" b="0">
                <a:solidFill>
                  <a:srgbClr val="1B2430"/>
                </a:solidFill>
                <a:latin typeface="Calibri"/>
              </a:rPr>
              <a:t> → one variable dominates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Reading meaning into clusters that are just </a:t>
            </a:r>
            <a:r>
              <a:rPr sz="2000" b="1">
                <a:solidFill>
                  <a:srgbClr val="1B2430"/>
                </a:solidFill>
                <a:latin typeface="Calibri"/>
              </a:rPr>
              <a:t>noise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always validate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Choosing a method whose </a:t>
            </a:r>
            <a:r>
              <a:rPr sz="2000" b="1">
                <a:solidFill>
                  <a:srgbClr val="1B2430"/>
                </a:solidFill>
                <a:latin typeface="Calibri"/>
              </a:rPr>
              <a:t>shape assumptions</a:t>
            </a:r>
            <a:r>
              <a:rPr sz="2000" b="0">
                <a:solidFill>
                  <a:srgbClr val="1B2430"/>
                </a:solidFill>
                <a:latin typeface="Calibri"/>
              </a:rPr>
              <a:t> don't match the data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Reporting </a:t>
            </a:r>
            <a:r>
              <a:rPr sz="2000" b="1">
                <a:solidFill>
                  <a:srgbClr val="1B2430"/>
                </a:solidFill>
                <a:latin typeface="Calibri"/>
              </a:rPr>
              <a:t>one</a:t>
            </a:r>
            <a:r>
              <a:rPr sz="2000" b="0">
                <a:solidFill>
                  <a:srgbClr val="1B2430"/>
                </a:solidFill>
                <a:latin typeface="Calibri"/>
              </a:rPr>
              <a:t> k without justifying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PREVIEW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Clustering in R (next lecture goes deep)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515600" cy="3255264"/>
          </a:xfrm>
          <a:prstGeom prst="roundRect">
            <a:avLst/>
          </a:prstGeom>
          <a:solidFill>
            <a:srgbClr val="12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47088"/>
            <a:ext cx="10058400" cy="29809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7C938A"/>
                </a:solidFill>
                <a:latin typeface="Consolas"/>
              </a:rPr>
              <a:t># Standardise first!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X &lt;- scale(diet_numeric)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d  &lt;- dist(X)                    # distance matrix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km &lt;- kmeans(X, centers = 3, nstart = 25)   # partitioning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hc &lt;- hclust(d, method = 'ward.D2')          # hierarchical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library(factoextra)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fviz_cluster(km, data = X)       # visualise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IN-CLASS EXERCISE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Reason about distance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105156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9966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1.  </a:t>
            </a:r>
            <a:r>
              <a:rPr sz="1900" b="0">
                <a:solidFill>
                  <a:srgbClr val="1B2430"/>
                </a:solidFill>
                <a:latin typeface="Calibri"/>
              </a:rPr>
              <a:t>Two participants have (energy kJ, vitamin C mg): A = (8000, 60), B = (8000, 120), C = (16000, 60).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2.  </a:t>
            </a:r>
            <a:r>
              <a:rPr sz="1900" b="0">
                <a:solidFill>
                  <a:srgbClr val="1B2430"/>
                </a:solidFill>
                <a:latin typeface="Calibri"/>
              </a:rPr>
              <a:t>Compute the Euclidean distance A–B and A–C on the </a:t>
            </a:r>
            <a:r>
              <a:rPr sz="1900" b="1">
                <a:solidFill>
                  <a:srgbClr val="1B2430"/>
                </a:solidFill>
                <a:latin typeface="Calibri"/>
              </a:rPr>
              <a:t>raw</a:t>
            </a:r>
            <a:r>
              <a:rPr sz="1900" b="0">
                <a:solidFill>
                  <a:srgbClr val="1B2430"/>
                </a:solidFill>
                <a:latin typeface="Calibri"/>
              </a:rPr>
              <a:t> scale.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3.  </a:t>
            </a:r>
            <a:r>
              <a:rPr sz="1900" b="0">
                <a:solidFill>
                  <a:srgbClr val="1B2430"/>
                </a:solidFill>
                <a:latin typeface="Calibri"/>
              </a:rPr>
              <a:t>Which pair looks 'closer'? Is that the answer you actually want?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4.  </a:t>
            </a:r>
            <a:r>
              <a:rPr sz="1900" b="0">
                <a:solidFill>
                  <a:srgbClr val="1B2430"/>
                </a:solidFill>
                <a:latin typeface="Calibri"/>
              </a:rPr>
              <a:t>Recompute after standardising (assume SD = 4000 kJ and 30 mg). What changes, and why?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257800"/>
            <a:ext cx="10515600" cy="914400"/>
          </a:xfrm>
          <a:prstGeom prst="roundRect">
            <a:avLst/>
          </a:prstGeom>
          <a:solidFill>
            <a:srgbClr val="FFF6EE"/>
          </a:solidFill>
          <a:ln w="15240">
            <a:solidFill>
              <a:srgbClr val="B98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44068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B98416"/>
                </a:solidFill>
                <a:latin typeface="Calibri"/>
              </a:rPr>
              <a:t>Hint.  </a:t>
            </a:r>
            <a:r>
              <a:rPr sz="1600" b="0" i="0">
                <a:solidFill>
                  <a:srgbClr val="1B2430"/>
                </a:solidFill>
                <a:latin typeface="Calibri"/>
              </a:rPr>
              <a:t>Raw distances are dominated by energy because its numbers are ~100× larger than vitamin C's.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0">
                <a:solidFill>
                  <a:srgbClr val="1B2430"/>
                </a:solidFill>
                <a:latin typeface="Calibri"/>
              </a:rPr>
              <a:t>Clustering finds </a:t>
            </a:r>
            <a:r>
              <a:rPr sz="2000" b="1">
                <a:solidFill>
                  <a:srgbClr val="1B2430"/>
                </a:solidFill>
                <a:latin typeface="Calibri"/>
              </a:rPr>
              <a:t>groups without labels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exploratory and hypothesis-generating.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0">
                <a:solidFill>
                  <a:srgbClr val="1B2430"/>
                </a:solidFill>
                <a:latin typeface="Calibri"/>
              </a:rPr>
              <a:t>A </a:t>
            </a:r>
            <a:r>
              <a:rPr sz="2000" b="1">
                <a:solidFill>
                  <a:srgbClr val="1B2430"/>
                </a:solidFill>
                <a:latin typeface="Calibri"/>
              </a:rPr>
              <a:t>distance measure</a:t>
            </a:r>
            <a:r>
              <a:rPr sz="2000" b="0">
                <a:solidFill>
                  <a:srgbClr val="1B2430"/>
                </a:solidFill>
                <a:latin typeface="Calibri"/>
              </a:rPr>
              <a:t> defines 'similar'; it is scale-sensitive, so </a:t>
            </a:r>
            <a:r>
              <a:rPr sz="2000" b="1">
                <a:solidFill>
                  <a:srgbClr val="1B2430"/>
                </a:solidFill>
                <a:latin typeface="Calibri"/>
              </a:rPr>
              <a:t>standardise</a:t>
            </a:r>
            <a:r>
              <a:rPr sz="2000" b="0">
                <a:solidFill>
                  <a:srgbClr val="1B2430"/>
                </a:solidFill>
                <a:latin typeface="Calibri"/>
              </a:rPr>
              <a:t> first.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0">
                <a:solidFill>
                  <a:srgbClr val="1B2430"/>
                </a:solidFill>
                <a:latin typeface="Calibri"/>
              </a:rPr>
              <a:t>Good clusterings have </a:t>
            </a:r>
            <a:r>
              <a:rPr sz="2000" b="1">
                <a:solidFill>
                  <a:srgbClr val="1B2430"/>
                </a:solidFill>
                <a:latin typeface="Calibri"/>
              </a:rPr>
              <a:t>small within, large between</a:t>
            </a:r>
            <a:r>
              <a:rPr sz="2000" b="0">
                <a:solidFill>
                  <a:srgbClr val="1B2430"/>
                </a:solidFill>
                <a:latin typeface="Calibri"/>
              </a:rPr>
              <a:t> variation.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0">
                <a:solidFill>
                  <a:srgbClr val="1B2430"/>
                </a:solidFill>
                <a:latin typeface="Calibri"/>
              </a:rPr>
              <a:t>Method families encode different </a:t>
            </a:r>
            <a:r>
              <a:rPr sz="2000" b="1">
                <a:solidFill>
                  <a:srgbClr val="1B2430"/>
                </a:solidFill>
                <a:latin typeface="Calibri"/>
              </a:rPr>
              <a:t>shape assumptions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validate before you believe.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15600" cy="777240"/>
          </a:xfrm>
          <a:prstGeom prst="round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64626"/>
                </a:solidFill>
                <a:latin typeface="Calibri"/>
              </a:rPr>
              <a:t>Next lecture →  </a:t>
            </a:r>
            <a:r>
              <a:rPr sz="1600" b="0" i="0">
                <a:solidFill>
                  <a:srgbClr val="1B2430"/>
                </a:solidFill>
                <a:latin typeface="Calibri"/>
              </a:rPr>
              <a:t>Lecture 04 — K-means clustering: the workhorse partitioning method.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L03 ·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