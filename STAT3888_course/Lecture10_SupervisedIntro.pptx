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Introduction to 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The framework behind every prediction method: inputs and targets, loss, training vs generalisation, the bias–variance trade-off, and cross-validation.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From unsupervised to supervised learning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setup: features, target, and the function f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Regression vs classification; loss functions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Training error vs test error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Overfitting and the bias–variance trade-off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Cross-validation and honest model assessment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tidymodels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turning point in the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Weeks 1–3: </a:t>
            </a:r>
            <a:r>
              <a:rPr sz="2000" b="1">
                <a:solidFill>
                  <a:srgbClr val="1B2430"/>
                </a:solidFill>
                <a:latin typeface="Calibri"/>
              </a:rPr>
              <a:t>unsupervised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structure without labels (clustering, PCA)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Weeks 4–7: </a:t>
            </a:r>
            <a:r>
              <a:rPr sz="2000" b="1">
                <a:solidFill>
                  <a:srgbClr val="1B2430"/>
                </a:solidFill>
                <a:latin typeface="Calibri"/>
              </a:rPr>
              <a:t>supervised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predicting a known target 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Today builds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framework</a:t>
            </a:r>
            <a:r>
              <a:rPr sz="2000" b="0">
                <a:solidFill>
                  <a:srgbClr val="1B2430"/>
                </a:solidFill>
                <a:latin typeface="Calibri"/>
              </a:rPr>
              <a:t> every later method plugs into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Master this and logistic regression, trees, SVMs all make sense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defines a supervised learning problem?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Many variables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A known target/label Y to predict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 labels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Only numeric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Supervised learning has a target variable Y; the goal is to learn to predict it from features 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supervised setup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Supervised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Learn a function </a:t>
            </a:r>
            <a:r>
              <a:rPr sz="2000" b="1">
                <a:solidFill>
                  <a:srgbClr val="1B2430"/>
                </a:solidFill>
                <a:latin typeface="Calibri"/>
              </a:rPr>
              <a:t>f</a:t>
            </a:r>
            <a:r>
              <a:rPr sz="2000" b="0">
                <a:solidFill>
                  <a:srgbClr val="1B2430"/>
                </a:solidFill>
                <a:latin typeface="Calibri"/>
              </a:rPr>
              <a:t> mapping input features </a:t>
            </a:r>
            <a:r>
              <a:rPr sz="2000" b="1">
                <a:solidFill>
                  <a:srgbClr val="1B2430"/>
                </a:solidFill>
                <a:latin typeface="Calibri"/>
              </a:rPr>
              <a:t>X</a:t>
            </a:r>
            <a:r>
              <a:rPr sz="2000" b="0">
                <a:solidFill>
                  <a:srgbClr val="1B2430"/>
                </a:solidFill>
                <a:latin typeface="Calibri"/>
              </a:rPr>
              <a:t> to a target </a:t>
            </a:r>
            <a:r>
              <a:rPr sz="2000" b="1">
                <a:solidFill>
                  <a:srgbClr val="1B2430"/>
                </a:solidFill>
                <a:latin typeface="Calibri"/>
              </a:rPr>
              <a:t>Y</a:t>
            </a:r>
            <a:r>
              <a:rPr sz="2000" b="0">
                <a:solidFill>
                  <a:srgbClr val="1B2430"/>
                </a:solidFill>
                <a:latin typeface="Calibri"/>
              </a:rPr>
              <a:t>, using labelled examples, so that f predicts Y well on </a:t>
            </a:r>
            <a:r>
              <a:rPr sz="2000" b="1">
                <a:solidFill>
                  <a:srgbClr val="1B2430"/>
                </a:solidFill>
                <a:latin typeface="Calibri"/>
              </a:rPr>
              <a:t>new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1">
                <a:solidFill>
                  <a:srgbClr val="1B2430"/>
                </a:solidFill>
                <a:latin typeface="Calibri"/>
              </a:rPr>
              <a:t>X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predictors / features (the columns you know)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1">
                <a:solidFill>
                  <a:srgbClr val="1B2430"/>
                </a:solidFill>
                <a:latin typeface="Calibri"/>
              </a:rPr>
              <a:t>Y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target / label (what you want to predict)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1">
                <a:solidFill>
                  <a:srgbClr val="1B2430"/>
                </a:solidFill>
                <a:latin typeface="Calibri"/>
              </a:rPr>
              <a:t>f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the fitted model; Ŷ = f(X)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Signal plus noise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Y = f(X) +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f(X)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the true systematic relationship we try to learn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ε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irreducible noise (measurement error, randomness)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We can shrink error toward, but never below, the noise floor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Regression vs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 is </a:t>
            </a:r>
            <a:r>
              <a:rPr sz="1600" b="1">
                <a:solidFill>
                  <a:srgbClr val="1B2430"/>
                </a:solidFill>
                <a:latin typeface="Calibri"/>
              </a:rPr>
              <a:t>numeric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predict fasting glucose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Error: squared / absolute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Output: a number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Y is </a:t>
            </a:r>
            <a:r>
              <a:rPr sz="1600" b="1">
                <a:solidFill>
                  <a:srgbClr val="1B2430"/>
                </a:solidFill>
                <a:latin typeface="Calibri"/>
              </a:rPr>
              <a:t>categorical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diabetic / not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Error: misclassification, log-loss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Output: a class or probability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EXAMPLES IN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Same framework, many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Regression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: body-fat % from intake variables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Classification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: metabolic-syndrome yes/no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: chance of high cholesterol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Ranking</a:t>
            </a:r>
            <a:r>
              <a:rPr sz="2000" b="0">
                <a:solidFill>
                  <a:srgbClr val="1B2430"/>
                </a:solidFill>
                <a:latin typeface="Calibri"/>
              </a:rPr>
              <a:t>: which foods most raise glucose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Measuring error: loss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Loss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loss function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measures how wrong a prediction is; fitting a model means </a:t>
            </a:r>
            <a:r>
              <a:rPr sz="2000" b="1">
                <a:solidFill>
                  <a:srgbClr val="1B2430"/>
                </a:solidFill>
                <a:latin typeface="Calibri"/>
              </a:rPr>
              <a:t>minimising average loss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Regression: squared error (y − ŷ)²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Classification: 0/1 misclassification, or log-loss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loss encodes what 'a good prediction' 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REGRESSION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Mean squared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MSE = (1/n) Σᵢ ( yᵢ − ŷᵢ )²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Averages the squared prediction errors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Squaring punishes </a:t>
            </a:r>
            <a:r>
              <a:rPr sz="1800" b="1">
                <a:solidFill>
                  <a:srgbClr val="1B2430"/>
                </a:solidFill>
                <a:latin typeface="Calibri"/>
              </a:rPr>
              <a:t>large</a:t>
            </a:r>
            <a:r>
              <a:rPr sz="1800" b="0">
                <a:solidFill>
                  <a:srgbClr val="1B2430"/>
                </a:solidFill>
                <a:latin typeface="Calibri"/>
              </a:rPr>
              <a:t> errors heavily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Its square root, RMSE, is on the original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CLASSIFICATION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Ways to be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Misclassification rate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fraction predicted into the wrong class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Log-loss / cross-entropy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punishes confident wrong probabilities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Cost-sensitive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some errors matter more (missing a disease!)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the loss to match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real-world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Training vs test error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Train on some, test on the rest</a:t>
            </a:r>
          </a:p>
        </p:txBody>
      </p:sp>
      <p:pic>
        <p:nvPicPr>
          <p:cNvPr id="6" name="Picture 5" descr="L10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52829"/>
            <a:ext cx="9144000" cy="21924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Fit the model on the training set; estimate real-world performance on a held-out test set it never saw.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Generalisation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Generalisation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model's performance on </a:t>
            </a:r>
            <a:r>
              <a:rPr sz="2000" b="1">
                <a:solidFill>
                  <a:srgbClr val="1B2430"/>
                </a:solidFill>
                <a:latin typeface="Calibri"/>
              </a:rPr>
              <a:t>new, unseen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 — the only performance that actually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Training error is optimistic — the model has seen that data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Test error estimates generalisation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gap between them signals overfitting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CARDINAL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Never evaluate a model on data it was trained on — and never let test data influence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Break this and every performance number becomes a fantasy.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TRAINING ERROR MISLEADS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optimism of hindsight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flexible model can </a:t>
            </a:r>
            <a:r>
              <a:rPr sz="2000" b="1">
                <a:solidFill>
                  <a:srgbClr val="1B2430"/>
                </a:solidFill>
                <a:latin typeface="Calibri"/>
              </a:rPr>
              <a:t>memorise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training data → ~0 training error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That says nothing about </a:t>
            </a:r>
            <a:r>
              <a:rPr sz="2000" b="1">
                <a:solidFill>
                  <a:srgbClr val="1B2430"/>
                </a:solidFill>
                <a:latin typeface="Calibri"/>
              </a:rPr>
              <a:t>new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Test error can be far worse — the honest number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More flexibility always lowers </a:t>
            </a:r>
            <a:r>
              <a:rPr sz="2000" b="1">
                <a:solidFill>
                  <a:srgbClr val="1B2430"/>
                </a:solidFill>
                <a:latin typeface="Calibri"/>
              </a:rPr>
              <a:t>training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error, not always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Overfitting &amp; bias–variance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Underfit, good fit, overfit</a:t>
            </a:r>
          </a:p>
        </p:txBody>
      </p:sp>
      <p:pic>
        <p:nvPicPr>
          <p:cNvPr id="6" name="Picture 5" descr="L10_complexity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80297"/>
            <a:ext cx="9144000" cy="2937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Too simple misses the pattern (bias); too complex chases noise (variance). The middle generalises best.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Bias &amp; 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Bias</a:t>
            </a:r>
            <a:r>
              <a:rPr sz="2000" b="0">
                <a:solidFill>
                  <a:srgbClr val="1B2430"/>
                </a:solidFill>
                <a:latin typeface="Calibri"/>
              </a:rPr>
              <a:t> is error from wrong assumptions (too simple); </a:t>
            </a:r>
            <a:r>
              <a:rPr sz="20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is error from sensitivity to the particular training sample (too complex).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 bias → underfitting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 variance → overfitting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Total error = bias² + variance + irreducible noise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Bias–variance decomposition</a:t>
            </a:r>
          </a:p>
        </p:txBody>
      </p:sp>
      <p:pic>
        <p:nvPicPr>
          <p:cNvPr id="6" name="Picture 5" descr="L10_bias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75" y="1600200"/>
            <a:ext cx="741781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As complexity grows, bias falls but variance rises. Test error is U-shaped — the minimum is the sweet spot.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Expected test error splits three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E[error] = bias² + variance + σ²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bias²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systematic error from an over-simple model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variance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instability across training samples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σ²</a:t>
            </a:r>
            <a:r>
              <a:rPr sz="1800" b="0">
                <a:solidFill>
                  <a:srgbClr val="1B2430"/>
                </a:solidFill>
                <a:latin typeface="Calibri"/>
              </a:rPr>
              <a:t> — irreducible noise you can never remove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Model selection is the art of balancing bias against variance.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very flexible model has near-zero training error but poor test error. It suffers from…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High bias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High variance (overfitting)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Irreducible noise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Underfitting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Low training but high test error = the model fits noise in the training sample: high variance / overfitting.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Cross-validation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Cross-validation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k-fold cross-validation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splits data into k parts, trains on k−1 and validates on the held-out part, rotating through all 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Every observation is used for both training and validation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Average the k validation scores for a stable estimate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Common choices: k = 5 or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5-fold cross-validation</a:t>
            </a:r>
          </a:p>
        </p:txBody>
      </p:sp>
      <p:pic>
        <p:nvPicPr>
          <p:cNvPr id="6" name="Picture 5" descr="L10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19411"/>
            <a:ext cx="9144000" cy="34592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Each fold takes a turn as the validation set (red). Averaging the five scores gives a reliable estimate of generalisation.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WHY CROSS-VALIDATE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Better than a single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single train/test split is </a:t>
            </a:r>
            <a:r>
              <a:rPr sz="2000" b="1">
                <a:solidFill>
                  <a:srgbClr val="1B2430"/>
                </a:solidFill>
                <a:latin typeface="Calibri"/>
              </a:rPr>
              <a:t>noisy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depends on luck of the draw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CV </a:t>
            </a:r>
            <a:r>
              <a:rPr sz="2000" b="1">
                <a:solidFill>
                  <a:srgbClr val="1B2430"/>
                </a:solidFill>
                <a:latin typeface="Calibri"/>
              </a:rPr>
              <a:t>reuses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 efficiently for a stable estimate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Essential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tuning</a:t>
            </a:r>
            <a:r>
              <a:rPr sz="2000" b="0">
                <a:solidFill>
                  <a:srgbClr val="1B2430"/>
                </a:solidFill>
                <a:latin typeface="Calibri"/>
              </a:rPr>
              <a:t> settings (e.g. how much to regularise — Lecture 12)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Still keep a final </a:t>
            </a:r>
            <a:r>
              <a:rPr sz="2000" b="1">
                <a:solidFill>
                  <a:srgbClr val="1B2430"/>
                </a:solidFill>
                <a:latin typeface="Calibri"/>
              </a:rPr>
              <a:t>untouched test set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the last word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Flavours of CV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k-fold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standard (k = 5 or 10)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Stratified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keep class proportions per fold (imbalanced 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Leave-one-out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k = n; low bias, high variance, expensive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Repeated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average over several k-fold runs for stability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use cross-validation instead of a single train/test split?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It's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It gives a more stable, less luck-dependent performance estimate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avoids standardising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removes the need for a test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Averaging over folds reduces the variance of the estimate compared with one arbitrary split — though a final held-out test set is still wise.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Assessment, workflow &amp; pitfalls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we score models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539496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RMSE / MAE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typical prediction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variance explained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fraction correct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ranking quality (Lecture 11)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precision/recall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for imbalanced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Model selection vs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Selection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chooses among models/settings (use CV); </a:t>
            </a:r>
            <a:r>
              <a:rPr sz="2000" b="1">
                <a:solidFill>
                  <a:srgbClr val="1B2430"/>
                </a:solidFill>
                <a:latin typeface="Calibri"/>
              </a:rPr>
              <a:t>assessment</a:t>
            </a:r>
            <a:r>
              <a:rPr sz="2000" b="0">
                <a:solidFill>
                  <a:srgbClr val="1B2430"/>
                </a:solidFill>
                <a:latin typeface="Calibri"/>
              </a:rPr>
              <a:t> estimates the final model's real-world error (use a held-out test set).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Don't use the test set to choose — that leaks and inflates scores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Train → validate (CV) → test, in that order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test set is touched </a:t>
            </a:r>
            <a:r>
              <a:rPr sz="1800" b="1">
                <a:solidFill>
                  <a:srgbClr val="1B2430"/>
                </a:solidFill>
                <a:latin typeface="Calibri"/>
              </a:rPr>
              <a:t>once</a:t>
            </a:r>
            <a:r>
              <a:rPr sz="1800" b="0">
                <a:solidFill>
                  <a:srgbClr val="1B2430"/>
                </a:solidFill>
                <a:latin typeface="Calibri"/>
              </a:rPr>
              <a:t>, at the very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TIDYMODELS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supervised workflow in 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3255264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library(tidymodels)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split &lt;- initial_split(data, prop = 0.8, strata = outcome)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folds &lt;- vfold_cv(training(split), v = 5)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rec  &lt;- recipe(outcome ~ ., training(split)) |&gt; step_normalize(all_numeric_predictors())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spec &lt;- logistic_reg() |&gt; set_engine('glm')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wf   &lt;- workflow() |&gt; add_recipe(rec) |&gt; add_model(spec)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fit_resamples(wf, folds) |&gt; collect_metrics()   # CV estimate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WORKFLOW IN ONE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Split → preprocess on training → cross-validate to select → evaluate once on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This discipline is what separates trustworthy results from wishful ones.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Classic ways to fool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Leakage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preprocessing before the split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Peeking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tuning on the test set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Ignoring imbalance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95% accuracy when 95% are one class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No baseline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always compare to a trivial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No free lunch theorem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No single model is best for all problems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performance depends on the data, so we compare candidates empirically.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Justifies trying several methods and cross-validating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Simplicity and interpretability are legitimate tie-breakers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Domain knowledge narrows the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tuned a model's settings using the test set and now report its test accuracy. The number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Trustworthy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Optimistically biased — the test set influenced the model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Too 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Irrelevant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Using the test set for tuning leaks information; its accuracy no longer reflects genuine generalisation. Tune with CV, test once.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Design an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 must predict metabolic-syndrome (yes/no) from 25 intake variables.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Describe the full split → preprocess → CV → test workflow you'd use.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metric(s) would you report, and why (the classes are imbalanced)?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Name two forms of leakage you'll actively guard against.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For imbalanced classes prefer AUC / precision-recall over raw accuracy; guard against preprocessing-before-split and tuning-on-test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framework in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Supervised learning fits </a:t>
            </a:r>
            <a:r>
              <a:rPr sz="2000" b="1">
                <a:solidFill>
                  <a:srgbClr val="1B2430"/>
                </a:solidFill>
                <a:latin typeface="Calibri"/>
              </a:rPr>
              <a:t>f: X → Y</a:t>
            </a:r>
            <a:r>
              <a:rPr sz="2000" b="0">
                <a:solidFill>
                  <a:srgbClr val="1B2430"/>
                </a:solidFill>
                <a:latin typeface="Calibri"/>
              </a:rPr>
              <a:t> to generalise to new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Minimise a </a:t>
            </a:r>
            <a:r>
              <a:rPr sz="2000" b="1">
                <a:solidFill>
                  <a:srgbClr val="1B2430"/>
                </a:solidFill>
                <a:latin typeface="Calibri"/>
              </a:rPr>
              <a:t>loss</a:t>
            </a:r>
            <a:r>
              <a:rPr sz="2000" b="0">
                <a:solidFill>
                  <a:srgbClr val="1B2430"/>
                </a:solidFill>
                <a:latin typeface="Calibri"/>
              </a:rPr>
              <a:t>; judge by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training, error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Balance </a:t>
            </a:r>
            <a:r>
              <a:rPr sz="2000" b="1">
                <a:solidFill>
                  <a:srgbClr val="1B2430"/>
                </a:solidFill>
                <a:latin typeface="Calibri"/>
              </a:rPr>
              <a:t>bias vs variance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; avoid over/under-fitting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Cross-validate</a:t>
            </a:r>
            <a:r>
              <a:rPr sz="2000" b="0">
                <a:solidFill>
                  <a:srgbClr val="1B2430"/>
                </a:solidFill>
                <a:latin typeface="Calibri"/>
              </a:rPr>
              <a:t> to select; </a:t>
            </a:r>
            <a:r>
              <a:rPr sz="2000" b="1">
                <a:solidFill>
                  <a:srgbClr val="1B2430"/>
                </a:solidFill>
                <a:latin typeface="Calibri"/>
              </a:rPr>
              <a:t>hold out</a:t>
            </a:r>
            <a:r>
              <a:rPr sz="2000" b="0">
                <a:solidFill>
                  <a:srgbClr val="1B2430"/>
                </a:solidFill>
                <a:latin typeface="Calibri"/>
              </a:rPr>
              <a:t> to assess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*An Introduction to Statistical Learning*, Ch. 2 &amp; 5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*The Elements of Statistical Learning*, Ch. 7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tidymodels</a:t>
            </a:r>
            <a:r>
              <a:rPr sz="2000" b="0">
                <a:solidFill>
                  <a:srgbClr val="1B2430"/>
                </a:solidFill>
                <a:latin typeface="Calibri"/>
              </a:rPr>
              <a:t> documentation and *Tidy Modeling with R*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Evaluating classifiers properly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Confusion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confusion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cross-tabulates predicted vs actual classes: true/false positives and negatives.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TP, TN — correct; FP (false alarm), FN (missed case)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Every classification metric is built from these four counts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Always look at it before trusting a single accuracy number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FROM THE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metrics that matter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3327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539496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Answers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(TP+TN)/all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overall correctness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TP/(TP+FP)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of predicted positives, how many right?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Recall (sens.)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TP/(TP+FN)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of actual positives, how many caught?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Specificity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TN/(TN+FP)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of actual negatives, how many caught?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harmonic mean P&amp;R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balance of precision &amp;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ACCURACY PARADOX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If 95% of people are healthy, a model that predicts 'healthy' for everyone scores 95% accuracy — and is useless.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With imbalanced classes, accuracy lies. Use recall, precision, F1 or AUC.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Reading a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100 patients: 20 diseased, 80 healthy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Model catches 15 diseased (TP=15, FN=5) and flags 10 healthy wrongly (FP=10, TN=70)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Accuracy</a:t>
            </a:r>
            <a:r>
              <a:rPr sz="2000" b="0">
                <a:solidFill>
                  <a:srgbClr val="1B2430"/>
                </a:solidFill>
                <a:latin typeface="Calibri"/>
              </a:rPr>
              <a:t> = 85/100 = 85%; </a:t>
            </a:r>
            <a:r>
              <a:rPr sz="2000" b="1">
                <a:solidFill>
                  <a:srgbClr val="1B2430"/>
                </a:solidFill>
                <a:latin typeface="Calibri"/>
              </a:rPr>
              <a:t>Recall</a:t>
            </a:r>
            <a:r>
              <a:rPr sz="2000" b="0">
                <a:solidFill>
                  <a:srgbClr val="1B2430"/>
                </a:solidFill>
                <a:latin typeface="Calibri"/>
              </a:rPr>
              <a:t> = 15/20 = 75%; </a:t>
            </a:r>
            <a:r>
              <a:rPr sz="2000" b="1">
                <a:solidFill>
                  <a:srgbClr val="1B2430"/>
                </a:solidFill>
                <a:latin typeface="Calibri"/>
              </a:rPr>
              <a:t>Precision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= 15/25 = 60%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Accuracy looks fine, but it </a:t>
            </a:r>
            <a:r>
              <a:rPr sz="2000" b="1">
                <a:solidFill>
                  <a:srgbClr val="1B2430"/>
                </a:solidFill>
                <a:latin typeface="Calibri"/>
              </a:rPr>
              <a:t>misses 1 in 4</a:t>
            </a:r>
            <a:r>
              <a:rPr sz="2000" b="0">
                <a:solidFill>
                  <a:srgbClr val="1B2430"/>
                </a:solidFill>
                <a:latin typeface="Calibri"/>
              </a:rPr>
              <a:t> diseased patients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rare-disease test has 99% accuracy but recall 10%. In practice it…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Works well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Misses 90% of actual cases — dangerous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Has no false positives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Is perfectly calibrated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High accuracy with low recall means it rarely predicts the disease and misses most true cases — accuracy is dominated by the healthy majority.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Model families, curves &amp; pitfalls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Parameters vs hyperparameters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Parameters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learned from data (e.g. regression coefficients); </a:t>
            </a:r>
            <a:r>
              <a:rPr sz="2000" b="1">
                <a:solidFill>
                  <a:srgbClr val="1B2430"/>
                </a:solidFill>
                <a:latin typeface="Calibri"/>
              </a:rPr>
              <a:t>hyperparameters</a:t>
            </a:r>
            <a:r>
              <a:rPr sz="2000" b="0">
                <a:solidFill>
                  <a:srgbClr val="1B2430"/>
                </a:solidFill>
                <a:latin typeface="Calibri"/>
              </a:rPr>
              <a:t> are set before fitting (e.g. penalty strength, k in k-NN).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Parameters: fit by minimising loss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Hyperparameters: chosen by cross-validation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Confusing the two is a common exam slip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MODEL SPECTRUM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Parametric vs non-parametric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Parametric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Fixed form &amp; #parameters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linear/logistic regression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Efficient, interpretable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Risk: wrong-shape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Non-parametric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Flexibility grows with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e.g. k-NN, trees, splines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Adapts to complex shapes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Risk: overfitting, needs more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Learning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learning curve</a:t>
            </a:r>
            <a:r>
              <a:rPr sz="2000" b="0">
                <a:solidFill>
                  <a:srgbClr val="1B2430"/>
                </a:solidFill>
                <a:latin typeface="Calibri"/>
              </a:rPr>
              <a:t> plots error against training-set size, revealing whether more data would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 bias: train &amp; test errors both high and close → more data won't help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 variance: big train–test gap → more data may help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 cheap diagnostic before collecting more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Always compare against something trivial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Classification: predict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majority class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Regression: predict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mean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model that can't beat the baseline is worthless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Baselines keep you honest about 'good'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Nested cross-validation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Nested CV</a:t>
            </a:r>
            <a:r>
              <a:rPr sz="2000" b="0">
                <a:solidFill>
                  <a:srgbClr val="1B2430"/>
                </a:solidFill>
                <a:latin typeface="Calibri"/>
              </a:rPr>
              <a:t> uses an inner CV loop to tune hyperparameters and an outer loop to assess performance — avoiding optimistic bias from tuning.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Inner loop: select settings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Outer loop: estimate generalisation of the whole procedure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gold standard when you both tune and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ETHICS &amp; FAIRNESS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Responsible 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model can be </a:t>
            </a:r>
            <a:r>
              <a:rPr sz="2000" b="1">
                <a:solidFill>
                  <a:srgbClr val="1B2430"/>
                </a:solidFill>
                <a:latin typeface="Calibri"/>
              </a:rPr>
              <a:t>accurate yet unfair</a:t>
            </a:r>
            <a:r>
              <a:rPr sz="2000" b="0">
                <a:solidFill>
                  <a:srgbClr val="1B2430"/>
                </a:solidFill>
                <a:latin typeface="Calibri"/>
              </a:rPr>
              <a:t> across groups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Biased training data → biased, harmful predictions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 health, </a:t>
            </a:r>
            <a:r>
              <a:rPr sz="2000" b="1">
                <a:solidFill>
                  <a:srgbClr val="1B2430"/>
                </a:solidFill>
                <a:latin typeface="Calibri"/>
              </a:rPr>
              <a:t>false negatives</a:t>
            </a:r>
            <a:r>
              <a:rPr sz="2000" b="0">
                <a:solidFill>
                  <a:srgbClr val="1B2430"/>
                </a:solidFill>
                <a:latin typeface="Calibri"/>
              </a:rPr>
              <a:t> can be dangerous — weigh error costs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Interpretability supports </a:t>
            </a:r>
            <a:r>
              <a:rPr sz="2000" b="1">
                <a:solidFill>
                  <a:srgbClr val="1B2430"/>
                </a:solidFill>
                <a:latin typeface="Calibri"/>
              </a:rPr>
              <a:t>accountability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is a hyperparameter, not a parameter?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logistic-regression coefficient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regularisation strength λ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fitted cluster mean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 PCA loading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λ is set before fitting and chosen by cross-validation — a hyperparameter. Coefficients, means and loadings are learned from data.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ROAD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Every supervised method in Weeks 4–7 — logistic regression, discriminant analysis, trees, forests, SVMs, neural nets — plugs into this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Fit f, control bias vs variance, cross-validate, evaluate honestly.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Diagnose from a learning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Model A: training and test error are both 30% and nearly equal.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Model B: training error 3%, test error 25%.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Diagnose each (bias vs variance). Would more data help either?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Suggest one concrete fix for each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A: high bias (both high, close) → more data won't help; use a richer model. B: high variance (big gap) → more data / regularisation / simpler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49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evaluation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confusion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, not just accuracy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imbalance use </a:t>
            </a:r>
            <a:r>
              <a:rPr sz="2000" b="1">
                <a:solidFill>
                  <a:srgbClr val="1B2430"/>
                </a:solidFill>
                <a:latin typeface="Calibri"/>
              </a:rPr>
              <a:t>precision, recall, F1, AUC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Tune </a:t>
            </a:r>
            <a:r>
              <a:rPr sz="2000" b="1">
                <a:solidFill>
                  <a:srgbClr val="1B2430"/>
                </a:solidFill>
                <a:latin typeface="Calibri"/>
              </a:rPr>
              <a:t>hyperparameters</a:t>
            </a:r>
            <a:r>
              <a:rPr sz="2000" b="0">
                <a:solidFill>
                  <a:srgbClr val="1B2430"/>
                </a:solidFill>
                <a:latin typeface="Calibri"/>
              </a:rPr>
              <a:t> by CV; assess with a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 set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Always beat a </a:t>
            </a:r>
            <a:r>
              <a:rPr sz="2000" b="1">
                <a:solidFill>
                  <a:srgbClr val="1B2430"/>
                </a:solidFill>
                <a:latin typeface="Calibri"/>
              </a:rPr>
              <a:t>baseline</a:t>
            </a:r>
            <a:r>
              <a:rPr sz="2000" b="0">
                <a:solidFill>
                  <a:srgbClr val="1B2430"/>
                </a:solidFill>
                <a:latin typeface="Calibri"/>
              </a:rPr>
              <a:t>; watch fairness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*ISLR*, Ch. 4 (classification) &amp; Ch. 5 (resampling)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*ESL*, Ch. 7 (model assessment &amp; selection)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*Tidy Modeling with R* — practical resampling &amp;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51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Supervised learning fits </a:t>
            </a:r>
            <a:r>
              <a:rPr sz="2000" b="1">
                <a:solidFill>
                  <a:srgbClr val="1B2430"/>
                </a:solidFill>
                <a:latin typeface="Calibri"/>
              </a:rPr>
              <a:t>f: X → Y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is judged by </a:t>
            </a:r>
            <a:r>
              <a:rPr sz="2000" b="1">
                <a:solidFill>
                  <a:srgbClr val="1B2430"/>
                </a:solidFill>
                <a:latin typeface="Calibri"/>
              </a:rPr>
              <a:t>generalisation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to new data.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Fitting minimises a </a:t>
            </a:r>
            <a:r>
              <a:rPr sz="2000" b="1">
                <a:solidFill>
                  <a:srgbClr val="1B2430"/>
                </a:solidFill>
                <a:latin typeface="Calibri"/>
              </a:rPr>
              <a:t>loss</a:t>
            </a:r>
            <a:r>
              <a:rPr sz="2000" b="0">
                <a:solidFill>
                  <a:srgbClr val="1B2430"/>
                </a:solidFill>
                <a:latin typeface="Calibri"/>
              </a:rPr>
              <a:t>; training error is optimistic, so we rely on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 error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bias–variance trade-off</a:t>
            </a:r>
            <a:r>
              <a:rPr sz="2000" b="0">
                <a:solidFill>
                  <a:srgbClr val="1B2430"/>
                </a:solidFill>
                <a:latin typeface="Calibri"/>
              </a:rPr>
              <a:t> explains under- and over-fitting.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Cross-validate</a:t>
            </a:r>
            <a:r>
              <a:rPr sz="2000" b="0">
                <a:solidFill>
                  <a:srgbClr val="1B2430"/>
                </a:solidFill>
                <a:latin typeface="Calibri"/>
              </a:rPr>
              <a:t> to select and tune; keep an untouched </a:t>
            </a:r>
            <a:r>
              <a:rPr sz="2000" b="1">
                <a:solidFill>
                  <a:srgbClr val="1B2430"/>
                </a:solidFill>
                <a:latin typeface="Calibri"/>
              </a:rPr>
              <a:t>test set</a:t>
            </a:r>
            <a:r>
              <a:rPr sz="2000" b="0">
                <a:solidFill>
                  <a:srgbClr val="1B2430"/>
                </a:solidFill>
                <a:latin typeface="Calibri"/>
              </a:rPr>
              <a:t> to assess.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11 — Logistic regression: the workhorse classifier.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L10 ·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