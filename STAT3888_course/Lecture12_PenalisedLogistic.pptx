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Penalised Logistic Regression: Ridge, Lasso &amp; Elastic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Taming many correlated predictors by shrinking coefficients — controlling variance, doing automatic variable selection, and tuning the penalty by cross-validation.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plain logistic regression struggles with many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Regularisation: the shrinkage idea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Ridge (L2), lasso (L1) and elastic net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geometry: why lasso selects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Choosing the penalty λ by cross-validation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Practice in R with glmnet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plain logistic regression hurts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Last lecture: logistic regression via maximum likelihood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many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 (p large) it </a:t>
            </a:r>
            <a:r>
              <a:rPr sz="2000" b="1">
                <a:solidFill>
                  <a:srgbClr val="1B2430"/>
                </a:solidFill>
                <a:latin typeface="Calibri"/>
              </a:rPr>
              <a:t>overfits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correlated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predictors, coefficients become </a:t>
            </a:r>
            <a:r>
              <a:rPr sz="2000" b="1">
                <a:solidFill>
                  <a:srgbClr val="1B2430"/>
                </a:solidFill>
                <a:latin typeface="Calibri"/>
              </a:rPr>
              <a:t>unstable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Separation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sends estimates to infinity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Penalisation fixes all three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Nutrition data often has many correlated intake variables. For logistic regression this causes…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Faster 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Unstable, high-variance coefficients (overfitting)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Guaranteed separation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Lower AUC always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Many correlated predictors inflate coefficient variance and overfit — exactly what regularisation is designed to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problem &amp; the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Deliberately **shrink** the coefficients toward zero — accept a little bias in exchange for a large drop in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 slightly biased but stable model generalises far better than an unbiased, wildly variable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Regularisation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Regularisation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adds a penalty on coefficient size to the loss, discouraging over-large coefficients and thus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Fit = minimise (−log-likelihood + λ · penalty)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1">
                <a:solidFill>
                  <a:srgbClr val="1B2430"/>
                </a:solidFill>
                <a:latin typeface="Calibri"/>
              </a:rPr>
              <a:t>λ</a:t>
            </a:r>
            <a:r>
              <a:rPr sz="1800" b="0">
                <a:solidFill>
                  <a:srgbClr val="1B2430"/>
                </a:solidFill>
                <a:latin typeface="Calibri"/>
              </a:rPr>
              <a:t> controls the strength of shrinkage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λ = 0 recovers ordinary logistic regression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IT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Regularisation and the bias–variance trade-off</a:t>
            </a:r>
          </a:p>
        </p:txBody>
      </p:sp>
      <p:pic>
        <p:nvPicPr>
          <p:cNvPr id="6" name="Picture 5" descr="L12_bias_var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632" y="1600200"/>
            <a:ext cx="794369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As the penalty λ grows, variance falls and bias rises. Test error is minimised at an intermediate λ — found by cross-validation.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PENALISED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Loss plus penalty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minimise   −ℓ(β)  +  λ · penalty(β)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−ℓ(β)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the usual logistic loss (fit to data)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penalty(β)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grows with coefficient size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λ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the dial: 0 = no penalty, large = heavy shrinkage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Ridge, lasso &amp; elastic 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Ridge (L2) penalty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Ridge</a:t>
            </a:r>
            <a:r>
              <a:rPr sz="2000" b="0">
                <a:solidFill>
                  <a:srgbClr val="1B2430"/>
                </a:solidFill>
                <a:latin typeface="Calibri"/>
              </a:rPr>
              <a:t> penalises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sum of squared</a:t>
            </a:r>
            <a:r>
              <a:rPr sz="2000" b="0">
                <a:solidFill>
                  <a:srgbClr val="1B2430"/>
                </a:solidFill>
                <a:latin typeface="Calibri"/>
              </a:rPr>
              <a:t> coefficients (Σβ²), shrinking them smoothly toward — but never exactly to —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Handles correlated predictors gracefully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Keeps </a:t>
            </a:r>
            <a:r>
              <a:rPr sz="1800" b="1">
                <a:solidFill>
                  <a:srgbClr val="1B2430"/>
                </a:solidFill>
                <a:latin typeface="Calibri"/>
              </a:rPr>
              <a:t>all</a:t>
            </a:r>
            <a:r>
              <a:rPr sz="1800" b="0">
                <a:solidFill>
                  <a:srgbClr val="1B2430"/>
                </a:solidFill>
                <a:latin typeface="Calibri"/>
              </a:rPr>
              <a:t> variables in the model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Great when many small effects matter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Lasso (L1) penalty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penalises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sum of absolute</a:t>
            </a:r>
            <a:r>
              <a:rPr sz="2000" b="0">
                <a:solidFill>
                  <a:srgbClr val="1B2430"/>
                </a:solidFill>
                <a:latin typeface="Calibri"/>
              </a:rPr>
              <a:t> coefficients (Σ|β|), shrinking some </a:t>
            </a:r>
            <a:r>
              <a:rPr sz="2000" b="1">
                <a:solidFill>
                  <a:srgbClr val="1B2430"/>
                </a:solidFill>
                <a:latin typeface="Calibri"/>
              </a:rPr>
              <a:t>exactly to zero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doing automatic variable selection.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Produces </a:t>
            </a:r>
            <a:r>
              <a:rPr sz="1800" b="1">
                <a:solidFill>
                  <a:srgbClr val="1B2430"/>
                </a:solidFill>
                <a:latin typeface="Calibri"/>
              </a:rPr>
              <a:t>sparse</a:t>
            </a:r>
            <a:r>
              <a:rPr sz="1800" b="0">
                <a:solidFill>
                  <a:srgbClr val="1B2430"/>
                </a:solidFill>
                <a:latin typeface="Calibri"/>
              </a:rPr>
              <a:t>, interpretable models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Picks a subset of predictors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Can struggle among highly correlated variables (picks one)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SHRINKAGE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Lasso zeros coefficients; ridge doesn't</a:t>
            </a:r>
          </a:p>
        </p:txBody>
      </p:sp>
      <p:pic>
        <p:nvPicPr>
          <p:cNvPr id="6" name="Picture 5" descr="L12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62084"/>
            <a:ext cx="9144000" cy="3573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As λ increases (left→right), lasso coefficients hit exactly zero one by one; ridge coefficients shrink smoothly but stay non-zero.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lasso selects variables</a:t>
            </a:r>
          </a:p>
        </p:txBody>
      </p:sp>
      <p:pic>
        <p:nvPicPr>
          <p:cNvPr id="6" name="Picture 5" descr="L12_l1_l2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785" y="1600200"/>
            <a:ext cx="841539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lasso's diamond constraint has corners on the axes, so the solution often lands where a coefficient is exactly zero. The ridge circle has no corners.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Elastic 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elastic net</a:t>
            </a:r>
            <a:r>
              <a:rPr sz="2000" b="0">
                <a:solidFill>
                  <a:srgbClr val="1B2430"/>
                </a:solidFill>
                <a:latin typeface="Calibri"/>
              </a:rPr>
              <a:t> combines L1 and L2 penalties, getting lasso's sparsity </a:t>
            </a:r>
            <a:r>
              <a:rPr sz="2000" b="1">
                <a:solidFill>
                  <a:srgbClr val="1B2430"/>
                </a:solidFill>
                <a:latin typeface="Calibri"/>
              </a:rPr>
              <a:t>and</a:t>
            </a:r>
            <a:r>
              <a:rPr sz="2000" b="0">
                <a:solidFill>
                  <a:srgbClr val="1B2430"/>
                </a:solidFill>
                <a:latin typeface="Calibri"/>
              </a:rPr>
              <a:t> ridge's stability with correlated predictors.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Mixing parameter α: α=1 lasso, α=0 ridge, in-between = elastic net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Often the best default for wide, correlated data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Selects </a:t>
            </a:r>
            <a:r>
              <a:rPr sz="1800" b="1">
                <a:solidFill>
                  <a:srgbClr val="1B2430"/>
                </a:solidFill>
                <a:latin typeface="Calibri"/>
              </a:rPr>
              <a:t>groups</a:t>
            </a:r>
            <a:r>
              <a:rPr sz="1800" b="0">
                <a:solidFill>
                  <a:srgbClr val="1B2430"/>
                </a:solidFill>
                <a:latin typeface="Calibri"/>
              </a:rPr>
              <a:t> of correlated predictors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three penalties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926080"/>
                <a:gridCol w="338328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Penalty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Shrinks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Selects variables?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Correlated X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Ridge (L2)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smoothly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 (keeps all)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handles well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Lasso (L1)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to zero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 (sparse)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picks one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Elastic 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groups them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want an interpretable model that automatically drops irrelevant predictors. Choose…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Lasso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Plain logistic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Lasso's L1 penalty sets some coefficients exactly to zero, performing automatic variable selection for a sparse, interpretable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Choosing the penalty 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Λ IS A HYPERPARAMETER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It is not learned from the fit — it is **tuned** by cross-validation to minimise prediction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Too small → overfit; too large → underfit. CV finds the sweet spot.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Cross-validation over λ</a:t>
            </a:r>
          </a:p>
        </p:txBody>
      </p:sp>
      <p:pic>
        <p:nvPicPr>
          <p:cNvPr id="6" name="Picture 5" descr="L12_cv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72" y="1600200"/>
            <a:ext cx="779521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Compute CV error across a grid of λ; pick the λ that minimises it (or the 'one-standard-error' λ for a simpler model).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COMMON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lambda.min vs lambda.1se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λ_min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value giving the lowest CV error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λ_1se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largest λ within one SE of the minimum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simpler</a:t>
            </a:r>
            <a:r>
              <a:rPr sz="2000" b="0">
                <a:solidFill>
                  <a:srgbClr val="1B2430"/>
                </a:solidFill>
                <a:latin typeface="Calibri"/>
              </a:rPr>
              <a:t> model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λ_1se trades a touch of accuracy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parsimony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robustness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`cv.glmnet` reports both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DON'T FORGET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Practical must-dos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 — penalties are scale-sensitive (glmnet does this by default)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Tune λ </a:t>
            </a:r>
            <a:r>
              <a:rPr sz="2000" b="1">
                <a:solidFill>
                  <a:srgbClr val="1B2430"/>
                </a:solidFill>
                <a:latin typeface="Calibri"/>
              </a:rPr>
              <a:t>inside</a:t>
            </a:r>
            <a:r>
              <a:rPr sz="2000" b="0">
                <a:solidFill>
                  <a:srgbClr val="1B2430"/>
                </a:solidFill>
                <a:latin typeface="Calibri"/>
              </a:rPr>
              <a:t> cross-validation to avoid leakage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which variables </a:t>
            </a:r>
            <a:r>
              <a:rPr sz="2000" b="1">
                <a:solidFill>
                  <a:srgbClr val="1B2430"/>
                </a:solidFill>
                <a:latin typeface="Calibri"/>
              </a:rPr>
              <a:t>survive</a:t>
            </a:r>
            <a:r>
              <a:rPr sz="2000" b="0">
                <a:solidFill>
                  <a:srgbClr val="1B2430"/>
                </a:solidFill>
                <a:latin typeface="Calibri"/>
              </a:rPr>
              <a:t> (for lasso/elastic net)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Refit / interpret on the chosen λ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 practice with glmnet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Penalised logistic regression in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944368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library(glmnet)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model.matrix(~ . - 1, data = predictors)   # numeric matrix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y &lt;- outcome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alpha = 1 lasso, 0 ridge, 0.5 elastic net; family = binomial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cvfit &lt;- cv.glmnet(X, y, family = 'binomial', alpha = 1)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plot(cvfit)                       # CV error vs log(lambda)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coef(cvfit, s = 'lambda.1se')     # selected coefficients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PREDICTING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Use the tuned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prob &lt;- predict(cvfit, newx = Xtest, s = 'lambda.min', type = 'response')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pred &lt;- ifelse(prob &gt; 0.5, 1, 0)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which predictors survived?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sel &lt;- coef(cvfit, s = 'lambda.1se')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sel[sel[,1] != 0,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INTERPRETING A PENALISED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Read with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Coefficients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shrunk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smaller than unpenalised ones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Lasso </a:t>
            </a:r>
            <a:r>
              <a:rPr sz="2000" b="1">
                <a:solidFill>
                  <a:srgbClr val="1B2430"/>
                </a:solidFill>
                <a:latin typeface="Calibri"/>
              </a:rPr>
              <a:t>zeros</a:t>
            </a:r>
            <a:r>
              <a:rPr sz="2000" b="0">
                <a:solidFill>
                  <a:srgbClr val="1B2430"/>
                </a:solidFill>
                <a:latin typeface="Calibri"/>
              </a:rPr>
              <a:t> mean 'not selected', not 'no association'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Among correlated predictors, lasso's </a:t>
            </a:r>
            <a:r>
              <a:rPr sz="2000" b="1">
                <a:solidFill>
                  <a:srgbClr val="1B2430"/>
                </a:solidFill>
                <a:latin typeface="Calibri"/>
              </a:rPr>
              <a:t>choice</a:t>
            </a:r>
            <a:r>
              <a:rPr sz="2000" b="0">
                <a:solidFill>
                  <a:srgbClr val="1B2430"/>
                </a:solidFill>
                <a:latin typeface="Calibri"/>
              </a:rPr>
              <a:t> can be arbitrary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inference/odds ratios, be cautious — penalisation biases estimates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Consolidation, pitfalls &amp; wrap-up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STRENGTHS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Penalised regression in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Controls </a:t>
            </a:r>
            <a:r>
              <a:rPr sz="1600" b="1">
                <a:solidFill>
                  <a:srgbClr val="1B2430"/>
                </a:solidFill>
                <a:latin typeface="Calibri"/>
              </a:rPr>
              <a:t>overfitting</a:t>
            </a:r>
            <a:r>
              <a:rPr sz="1600" b="0">
                <a:solidFill>
                  <a:srgbClr val="1B2430"/>
                </a:solidFill>
                <a:latin typeface="Calibri"/>
              </a:rPr>
              <a:t> with many predictors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Lasso gives </a:t>
            </a:r>
            <a:r>
              <a:rPr sz="1600" b="1">
                <a:solidFill>
                  <a:srgbClr val="1B2430"/>
                </a:solidFill>
                <a:latin typeface="Calibri"/>
              </a:rPr>
              <a:t>variable selection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Stabilises </a:t>
            </a:r>
            <a:r>
              <a:rPr sz="1600" b="1">
                <a:solidFill>
                  <a:srgbClr val="1B2430"/>
                </a:solidFill>
                <a:latin typeface="Calibri"/>
              </a:rPr>
              <a:t>correlated</a:t>
            </a:r>
            <a:r>
              <a:rPr sz="1600" b="0">
                <a:solidFill>
                  <a:srgbClr val="1B2430"/>
                </a:solidFill>
                <a:latin typeface="Calibri"/>
              </a:rPr>
              <a:t> predictors (ridge/EN)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Handles p &gt;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λ must be </a:t>
            </a:r>
            <a:r>
              <a:rPr sz="1600" b="1">
                <a:solidFill>
                  <a:srgbClr val="1B2430"/>
                </a:solidFill>
                <a:latin typeface="Calibri"/>
              </a:rPr>
              <a:t>tuned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Shrunk coefficients </a:t>
            </a:r>
            <a:r>
              <a:rPr sz="1600" b="1">
                <a:solidFill>
                  <a:srgbClr val="1B2430"/>
                </a:solidFill>
                <a:latin typeface="Calibri"/>
              </a:rPr>
              <a:t>biased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inference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Lasso arbitrary among correlated X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Still a </a:t>
            </a:r>
            <a:r>
              <a:rPr sz="1600" b="1">
                <a:solidFill>
                  <a:srgbClr val="1B2430"/>
                </a:solidFill>
                <a:latin typeface="Calibri"/>
              </a:rPr>
              <a:t>linear</a:t>
            </a:r>
            <a:r>
              <a:rPr sz="1600" b="0">
                <a:solidFill>
                  <a:srgbClr val="1B2430"/>
                </a:solidFill>
                <a:latin typeface="Calibri"/>
              </a:rPr>
              <a:t> 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Bias–variance, revisited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Penalisation deliberately </a:t>
            </a:r>
            <a:r>
              <a:rPr sz="2000" b="1">
                <a:solidFill>
                  <a:srgbClr val="1B2430"/>
                </a:solidFill>
                <a:latin typeface="Calibri"/>
              </a:rPr>
              <a:t>adds bias</a:t>
            </a:r>
            <a:r>
              <a:rPr sz="2000" b="0">
                <a:solidFill>
                  <a:srgbClr val="1B2430"/>
                </a:solidFill>
                <a:latin typeface="Calibri"/>
              </a:rPr>
              <a:t> (shrinkage) to </a:t>
            </a:r>
            <a:r>
              <a:rPr sz="2000" b="1">
                <a:solidFill>
                  <a:srgbClr val="1B2430"/>
                </a:solidFill>
                <a:latin typeface="Calibri"/>
              </a:rPr>
              <a:t>cut 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, lowering total expected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Unpenalised MLE: low bias, high variance (with many predictors)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Penalised: a little bias, much less variance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whole point is a lower </a:t>
            </a:r>
            <a:r>
              <a:rPr sz="1800" b="1">
                <a:solidFill>
                  <a:srgbClr val="1B2430"/>
                </a:solidFill>
                <a:latin typeface="Calibri"/>
              </a:rPr>
              <a:t>test</a:t>
            </a:r>
            <a:r>
              <a:rPr sz="1800" b="0">
                <a:solidFill>
                  <a:srgbClr val="1B2430"/>
                </a:solidFill>
                <a:latin typeface="Calibri"/>
              </a:rPr>
              <a:t> 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WHEN TO USE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quick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Many predictors, want </a:t>
            </a:r>
            <a:r>
              <a:rPr sz="2000" b="1">
                <a:solidFill>
                  <a:srgbClr val="1B2430"/>
                </a:solidFill>
                <a:latin typeface="Calibri"/>
              </a:rPr>
              <a:t>selection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lasso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Many correlated predictors, keep all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ridge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Wide, correlated, want selection </a:t>
            </a:r>
            <a:r>
              <a:rPr sz="2000" b="1">
                <a:solidFill>
                  <a:srgbClr val="1B2430"/>
                </a:solidFill>
                <a:latin typeface="Calibri"/>
              </a:rPr>
              <a:t>and</a:t>
            </a:r>
            <a:r>
              <a:rPr sz="2000" b="0">
                <a:solidFill>
                  <a:srgbClr val="1B2430"/>
                </a:solidFill>
                <a:latin typeface="Calibri"/>
              </a:rPr>
              <a:t> stability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elastic net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Few, well-chosen predictors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plain</a:t>
            </a:r>
            <a:r>
              <a:rPr sz="2000" b="0">
                <a:solidFill>
                  <a:srgbClr val="1B2430"/>
                </a:solidFill>
                <a:latin typeface="Calibri"/>
              </a:rPr>
              <a:t> logistic may suffice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 ≫ n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When predictors outnumber observations, ordinary regression has no unique solution — penalisation makes it well-posed.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Common in genomics / metabolomics (thousands of features)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Ridge/lasso/elastic net give a unique, stable fit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key reason these methods dominate high-dim biology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glmnet standardises predictors by default because…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It's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penalty is scale-sensitive, so variables must be comparable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removes outliers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selects lambda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L1/L2 penalties act on coefficient magnitudes, which depend on predictor scale — standardising ensures each variable is penalised fairly.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ALSO FIXES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Because it forbids infinite coefficients, penalisation cleanly solves the separation problem that breaks plain logistic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Another reason it's often the safer default in practice.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Build a penalised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 have 60 correlated intake/metabolite predictors and 200 participants.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Would you choose ridge, lasso or elastic net? Justify.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the cv.glmnet call and say how you'd pick λ.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will you report which predictors matter, and with what caveat?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Correlated + want selection → elastic net; tune λ by cv.glmnet; report survivors at lambda.1se, noting penalisation biases coefficient sizes.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Reason about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Explain, using the constraint-region picture, why lasso produces exact zeros but ridge does not.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What happens to two identical (perfectly correlated) predictors under lasso? Under ridge?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penalty would you trust more for that correlated pair,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The L1 diamond's corners lie on the axes (zeros); the L2 circle is smooth. Lasso picks one of the correlated pair; ridge splits the weight between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Hold onto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Penalise coefficient size to </a:t>
            </a:r>
            <a:r>
              <a:rPr sz="2000" b="1">
                <a:solidFill>
                  <a:srgbClr val="1B2430"/>
                </a:solidFill>
                <a:latin typeface="Calibri"/>
              </a:rPr>
              <a:t>trade bias for lower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Ridge</a:t>
            </a:r>
            <a:r>
              <a:rPr sz="2000" b="0">
                <a:solidFill>
                  <a:srgbClr val="1B2430"/>
                </a:solidFill>
                <a:latin typeface="Calibri"/>
              </a:rPr>
              <a:t> shrinks smoothly; </a:t>
            </a:r>
            <a:r>
              <a:rPr sz="2000" b="1">
                <a:solidFill>
                  <a:srgbClr val="1B2430"/>
                </a:solidFill>
                <a:latin typeface="Calibri"/>
              </a:rPr>
              <a:t>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selects; </a:t>
            </a:r>
            <a:r>
              <a:rPr sz="2000" b="1">
                <a:solidFill>
                  <a:srgbClr val="1B2430"/>
                </a:solidFill>
                <a:latin typeface="Calibri"/>
              </a:rPr>
              <a:t>elastic net</a:t>
            </a:r>
            <a:r>
              <a:rPr sz="2000" b="0">
                <a:solidFill>
                  <a:srgbClr val="1B2430"/>
                </a:solidFill>
                <a:latin typeface="Calibri"/>
              </a:rPr>
              <a:t> does both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Tune </a:t>
            </a:r>
            <a:r>
              <a:rPr sz="2000" b="1">
                <a:solidFill>
                  <a:srgbClr val="1B2430"/>
                </a:solidFill>
                <a:latin typeface="Calibri"/>
              </a:rPr>
              <a:t>λ by cross-validation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; standardise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Essential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many / correlated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p ≫ 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*ISLR*, §6.2 (shrinkage methods)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*ESL*, §3.4 &amp; Ch. 18 (high-dimensional)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Hastie, Tibshirani &amp; Wainwright, *Statistical Learning with Sparsity*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Deeper into the mechanics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RIDGE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L2-penalised logistic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minimise  −ℓ(β)  +  λ Σⱼ βⱼ²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penalty grows with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square</a:t>
            </a:r>
            <a:r>
              <a:rPr sz="1800" b="0">
                <a:solidFill>
                  <a:srgbClr val="1B2430"/>
                </a:solidFill>
                <a:latin typeface="Calibri"/>
              </a:rPr>
              <a:t> of each coefficient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Large coefficients are punished heavily → smooth shrinkage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Never forces a coefficient exactly to zero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LASSO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L1-penalised logistic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minimise  −ℓ(β)  +  λ Σⱼ |βⱼ|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penalty grows with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absolute value</a:t>
            </a:r>
            <a:r>
              <a:rPr sz="1800" b="0">
                <a:solidFill>
                  <a:srgbClr val="1B2430"/>
                </a:solidFill>
                <a:latin typeface="Calibri"/>
              </a:rPr>
              <a:t> of each coefficient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Its non-smooth corners at zero create </a:t>
            </a:r>
            <a:r>
              <a:rPr sz="1800" b="1">
                <a:solidFill>
                  <a:srgbClr val="1B2430"/>
                </a:solidFill>
                <a:latin typeface="Calibri"/>
              </a:rPr>
              <a:t>sparsity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Some coefficients become exactly zero →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ELASTIC NET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weighted blend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penalty = λ [ α Σ|βⱼ| + (1−α) Σβⱼ²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α = 1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pure lasso; </a:t>
            </a:r>
            <a:r>
              <a:rPr sz="1800" b="1">
                <a:solidFill>
                  <a:srgbClr val="1B2430"/>
                </a:solidFill>
                <a:latin typeface="Calibri"/>
              </a:rPr>
              <a:t>α = 0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pure ridge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Intermediate α blends selection and stability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α is a second hyperparameter (often fixed, e.g. 0.5)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Shrinkage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Shrinkage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pulls coefficient estimates toward zero, reducing their variance at the cost of a small 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bias is usually far smaller than the variance saved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Predictions become more stable across samples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essence of every penalised 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SPARSITY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appeal of lasso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Fewer variables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simpler, cheaper</a:t>
            </a:r>
            <a:r>
              <a:rPr sz="2000" b="0">
                <a:solidFill>
                  <a:srgbClr val="1B2430"/>
                </a:solidFill>
                <a:latin typeface="Calibri"/>
              </a:rPr>
              <a:t> models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Easier to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explain</a:t>
            </a:r>
            <a:r>
              <a:rPr sz="2000" b="0">
                <a:solidFill>
                  <a:srgbClr val="1B2430"/>
                </a:solidFill>
                <a:latin typeface="Calibri"/>
              </a:rPr>
              <a:t> to domain partners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Highlights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key drivers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the outcome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Reduces the cost of collecting many measurements in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Increasing λ toward infinity drives the coefficients toward…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Infinity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unpenalised MLE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Zero (an intercept-only model)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Random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very large penalty forces all coefficients toward zero, leaving essentially an intercept-only (null) model — maximum bias, minimum variance.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GROUPED &amp; STRUCTURED PENALTIES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Beyond the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Group 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select whole groups of related predictors together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Adaptive 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different penalties per coefficient for better selection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Relaxed 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refit selected variables without shrinkage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rich toolbox built on the same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Workflow, case study &amp; wrap-up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penalised-regression workflow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Split &amp; standardise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train/test split; scale predictors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Build X,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design matrix and binary outcome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cv.glmnet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cross-validate over λ (and maybe α)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Select 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lambda.min or lambda.1se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Evaluate &amp;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test AUC; list selected predictors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60 metabolomic predictors, 180 participants: elastic net selects 12 and achieves test AUC 0.86.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From an unfittable p-heavy problem to a compact, accurate, interpretable model.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the elastic net delivered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Plain logistic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Elastic net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Fits at all (p vs n)?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# predictors used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Test 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0.71 (overfit)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Interpretable?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 (12 drivers)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good penalised-model write-up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State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penalty type</a:t>
            </a:r>
            <a:r>
              <a:rPr sz="2000" b="0">
                <a:solidFill>
                  <a:srgbClr val="1B2430"/>
                </a:solidFill>
                <a:latin typeface="Calibri"/>
              </a:rPr>
              <a:t> (ridge/lasso/EN)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α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Show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CV curve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the chosen </a:t>
            </a:r>
            <a:r>
              <a:rPr sz="2000" b="1">
                <a:solidFill>
                  <a:srgbClr val="1B2430"/>
                </a:solidFill>
                <a:latin typeface="Calibri"/>
              </a:rPr>
              <a:t>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List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selected predictors</a:t>
            </a:r>
            <a:r>
              <a:rPr sz="2000" b="0">
                <a:solidFill>
                  <a:srgbClr val="1B2430"/>
                </a:solidFill>
                <a:latin typeface="Calibri"/>
              </a:rPr>
              <a:t> (and note selection instability)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 performance, not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Avoid 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Forget to standardise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Tune λ on the test set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Over-interpret shrunk coefficients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Assume lasso's choice is 'the'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Let glmnet standardise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Tune λ inside CV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Report odds ratios cautiously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Check selection stability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Selection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Selection stability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asks whether the same variables are chosen under resampling; unstable selection warns against over-reading which variables 'matter'.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Assess by refitting on bootstrap samples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Report how often each predictor is selected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Especially important with correlated predictors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predictors are almost perfectly correlated. Under lasso, you should expect…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kept with equal 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One kept (somewhat arbitrarily), the other zeroed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zeroed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model to 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Lasso tends to pick one variable from a correlated group and zero the rest — the choice can be arbitrary, which is why elastic net is often preferred there.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Compare ridge, lasso, elastic 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On the same wide, correlated dataset, fit ridge, lasso and elastic net with cv.glmnet.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Compare test AUC and the number of predictors each retains.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gives the best accuracy–parsimony trade-off?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stable is lasso's variable selection across bootstrap samples?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Vary alpha = 0, 0.5, 1; compare collect_metrics()/AUC and count non-zero coefficients at lambda.1se; bootstrap to check 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this ties the unit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Regularisation is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bias–variance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trade-off made actionable (Lecture 10)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fixes logistic regression's </a:t>
            </a:r>
            <a:r>
              <a:rPr sz="2000" b="1">
                <a:solidFill>
                  <a:srgbClr val="1B2430"/>
                </a:solidFill>
                <a:latin typeface="Calibri"/>
              </a:rPr>
              <a:t>separation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problem (Lecture 11)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same idea regularises </a:t>
            </a:r>
            <a:r>
              <a:rPr sz="2000" b="1">
                <a:solidFill>
                  <a:srgbClr val="1B2430"/>
                </a:solidFill>
                <a:latin typeface="Calibri"/>
              </a:rPr>
              <a:t>neural networks</a:t>
            </a:r>
            <a:r>
              <a:rPr sz="2000" b="0">
                <a:solidFill>
                  <a:srgbClr val="1B2430"/>
                </a:solidFill>
                <a:latin typeface="Calibri"/>
              </a:rPr>
              <a:t> (weight decay, Lecture 18)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unifying theme across modern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48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BIG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Sometimes the best model is not the one that fits the training data best — it's the one you deliberately hold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Controlled humility (shrinkage) beats unchecked flexibility.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CHAPTER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should be able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why penalisation controls overfitting (bias–variance)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Contrast ridge, lasso and elastic net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geometrically why lasso gives sparsity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Tune λ by cross-validation with glmnet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Degrees of freedom (effective)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Penalisation reduces a model's </a:t>
            </a:r>
            <a:r>
              <a:rPr sz="2000" b="1">
                <a:solidFill>
                  <a:srgbClr val="1B2430"/>
                </a:solidFill>
                <a:latin typeface="Calibri"/>
              </a:rPr>
              <a:t>effective degrees of freedom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its effective complexity — below the raw number of predictors.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More shrinkage → fewer effective degrees of freedom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Explains why penalised models resist overfitting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Links penalty strength directly to model 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51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ONE LINE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Carry this out the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Shrink to stabilise; use L1 to select; tune λ by CV; standardise.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Penalised logistic regression </a:t>
            </a:r>
            <a:r>
              <a:rPr sz="2000" b="1">
                <a:solidFill>
                  <a:srgbClr val="1B2430"/>
                </a:solidFill>
                <a:latin typeface="Calibri"/>
              </a:rPr>
              <a:t>shrinks</a:t>
            </a:r>
            <a:r>
              <a:rPr sz="2000" b="0">
                <a:solidFill>
                  <a:srgbClr val="1B2430"/>
                </a:solidFill>
                <a:latin typeface="Calibri"/>
              </a:rPr>
              <a:t> coefficients to control variance and overfitting.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Ridge</a:t>
            </a:r>
            <a:r>
              <a:rPr sz="2000" b="0">
                <a:solidFill>
                  <a:srgbClr val="1B2430"/>
                </a:solidFill>
                <a:latin typeface="Calibri"/>
              </a:rPr>
              <a:t> keeps all variables; </a:t>
            </a:r>
            <a:r>
              <a:rPr sz="2000" b="1">
                <a:solidFill>
                  <a:srgbClr val="1B2430"/>
                </a:solidFill>
                <a:latin typeface="Calibri"/>
              </a:rPr>
              <a:t>lasso</a:t>
            </a:r>
            <a:r>
              <a:rPr sz="2000" b="0">
                <a:solidFill>
                  <a:srgbClr val="1B2430"/>
                </a:solidFill>
                <a:latin typeface="Calibri"/>
              </a:rPr>
              <a:t> selects a sparse subset; </a:t>
            </a:r>
            <a:r>
              <a:rPr sz="2000" b="1">
                <a:solidFill>
                  <a:srgbClr val="1B2430"/>
                </a:solidFill>
                <a:latin typeface="Calibri"/>
              </a:rPr>
              <a:t>elastic net</a:t>
            </a:r>
            <a:r>
              <a:rPr sz="2000" b="0">
                <a:solidFill>
                  <a:srgbClr val="1B2430"/>
                </a:solidFill>
                <a:latin typeface="Calibri"/>
              </a:rPr>
              <a:t> blends both.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penalty </a:t>
            </a:r>
            <a:r>
              <a:rPr sz="2000" b="1">
                <a:solidFill>
                  <a:srgbClr val="1B2430"/>
                </a:solidFill>
                <a:latin typeface="Calibri"/>
              </a:rPr>
              <a:t>λ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tuned by </a:t>
            </a:r>
            <a:r>
              <a:rPr sz="2000" b="1">
                <a:solidFill>
                  <a:srgbClr val="1B2430"/>
                </a:solidFill>
                <a:latin typeface="Calibri"/>
              </a:rPr>
              <a:t>cross-validation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; always standardise predictors.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It's the go-to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many, correlated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predictors, p ≫ n, and separation.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13 — Discriminant analysis: LDA and QDA.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L12 ·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