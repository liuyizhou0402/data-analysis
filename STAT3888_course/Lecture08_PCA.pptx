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2194560" cy="457200"/>
          </a:xfrm>
          <a:prstGeom prst="round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424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LECTURE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Principal Component Analysis in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8D4E2"/>
                </a:solidFill>
                <a:latin typeface="Calibri"/>
              </a:rPr>
              <a:t>From the covariance matrix to scores, loadings, scree plots and biplots — and how to interpret, choose and use principal components on real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806440"/>
            <a:ext cx="10515600" cy="15240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ADBD"/>
                </a:solidFill>
                <a:latin typeface="Calibri"/>
              </a:rPr>
              <a:t>School of Mathematics &amp; Statistics · The University of Sydney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Today's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recap: the one-slide summary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Scores and loadings — the two outputs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How many components? The scree plot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biplot: variables and observations together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as compression and denoising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Running &amp; interpreting PCA in R; pitfalls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we built last 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finds orthogonal directions of </a:t>
            </a:r>
            <a:r>
              <a:rPr sz="2000" b="1">
                <a:solidFill>
                  <a:srgbClr val="1B2430"/>
                </a:solidFill>
                <a:latin typeface="Calibri"/>
              </a:rPr>
              <a:t>maximum variance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They are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eigenvectors</a:t>
            </a:r>
            <a:r>
              <a:rPr sz="2000" b="0">
                <a:solidFill>
                  <a:srgbClr val="1B2430"/>
                </a:solidFill>
                <a:latin typeface="Calibri"/>
              </a:rPr>
              <a:t> of the covariance/correlation matrix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Eigenvalues</a:t>
            </a:r>
            <a:r>
              <a:rPr sz="2000" b="0">
                <a:solidFill>
                  <a:srgbClr val="1B2430"/>
                </a:solidFill>
                <a:latin typeface="Calibri"/>
              </a:rPr>
              <a:t> say how much variance each captures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Today: turn that into </a:t>
            </a:r>
            <a:r>
              <a:rPr sz="2000" b="1">
                <a:solidFill>
                  <a:srgbClr val="1B2430"/>
                </a:solidFill>
                <a:latin typeface="Calibri"/>
              </a:rPr>
              <a:t>outputs you can read and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ONE-SLIDE PCA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PCA re-expresses your correlated variables as a smaller set of uncorrelated 'principal components', ordered by how much variation they explain.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Keep the top few and you've compressed the data with minimal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two outputs: scores &amp; loadings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FINDING PC1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PC1 is the max-variance direction</a:t>
            </a:r>
          </a:p>
        </p:txBody>
      </p:sp>
      <p:pic>
        <p:nvPicPr>
          <p:cNvPr id="6" name="Picture 5" descr="L08_max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59055"/>
            <a:ext cx="9144000" cy="3979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Rotating a line and measuring the projected variance: the peak (right) defines PC1's direction (left).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Loadings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Loadings</a:t>
            </a:r>
            <a:r>
              <a:rPr sz="2000" b="0">
                <a:solidFill>
                  <a:srgbClr val="1B2430"/>
                </a:solidFill>
                <a:latin typeface="Calibri"/>
              </a:rPr>
              <a:t> are the weights that define each principal component as a linear combination of the original variables.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They describe </a:t>
            </a:r>
            <a:r>
              <a:rPr sz="1800" b="1">
                <a:solidFill>
                  <a:srgbClr val="1B2430"/>
                </a:solidFill>
                <a:latin typeface="Calibri"/>
              </a:rPr>
              <a:t>what each PC means</a:t>
            </a:r>
            <a:r>
              <a:rPr sz="1800" b="0">
                <a:solidFill>
                  <a:srgbClr val="1B2430"/>
                </a:solidFill>
                <a:latin typeface="Calibri"/>
              </a:rPr>
              <a:t> in terms of the variables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Large |loading| = that variable strongly shapes the PC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Signs show whether variables push the PC up or down together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Scores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Scores</a:t>
            </a:r>
            <a:r>
              <a:rPr sz="2000" b="0">
                <a:solidFill>
                  <a:srgbClr val="1B2430"/>
                </a:solidFill>
                <a:latin typeface="Calibri"/>
              </a:rPr>
              <a:t> are the coordinates of each observation on the principal components — the data re-expressed in the new axes.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One score per observation per PC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Plotting PC1 vs PC2 scores is the classic PCA picture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Scores are what you feed into downstream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SCORES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4-D data in 2-D</a:t>
            </a:r>
          </a:p>
        </p:txBody>
      </p:sp>
      <p:pic>
        <p:nvPicPr>
          <p:cNvPr id="6" name="Picture 5" descr="L08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087" y="1600200"/>
            <a:ext cx="6832786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Each point is a flower's scores on PC1 and PC2. Two components already separate the species — that's the power of PCA.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LOADINGS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How variables build each PC</a:t>
            </a:r>
          </a:p>
        </p:txBody>
      </p:sp>
      <p:pic>
        <p:nvPicPr>
          <p:cNvPr id="6" name="Picture 5" descr="L08_lo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252" y="1600200"/>
            <a:ext cx="8320455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A loadings heatmap. Here PC1 loads on petal measurements; reading loadings is how you give each PC a meaning.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INTERPRETING A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Naming components from loadings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Look at which variables have </a:t>
            </a:r>
            <a:r>
              <a:rPr sz="2000" b="1">
                <a:solidFill>
                  <a:srgbClr val="1B2430"/>
                </a:solidFill>
                <a:latin typeface="Calibri"/>
              </a:rPr>
              <a:t>large-magnitude</a:t>
            </a:r>
            <a:r>
              <a:rPr sz="2000" b="0">
                <a:solidFill>
                  <a:srgbClr val="1B2430"/>
                </a:solidFill>
                <a:latin typeface="Calibri"/>
              </a:rPr>
              <a:t> loadings on that PC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Variables with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same sign</a:t>
            </a:r>
            <a:r>
              <a:rPr sz="2000" b="0">
                <a:solidFill>
                  <a:srgbClr val="1B2430"/>
                </a:solidFill>
                <a:latin typeface="Calibri"/>
              </a:rPr>
              <a:t> move together along the PC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Give the PC a </a:t>
            </a:r>
            <a:r>
              <a:rPr sz="2000" b="1">
                <a:solidFill>
                  <a:srgbClr val="1B2430"/>
                </a:solidFill>
                <a:latin typeface="Calibri"/>
              </a:rPr>
              <a:t>name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e.g. 'overall size', 'protein-vs-carb contrast'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This is exactly how you'll interpret </a:t>
            </a:r>
            <a:r>
              <a:rPr sz="2000" b="1">
                <a:solidFill>
                  <a:srgbClr val="1B2430"/>
                </a:solidFill>
                <a:latin typeface="Calibri"/>
              </a:rPr>
              <a:t>dietary indices</a:t>
            </a:r>
            <a:r>
              <a:rPr sz="2000" b="0">
                <a:solidFill>
                  <a:srgbClr val="1B2430"/>
                </a:solidFill>
                <a:latin typeface="Calibri"/>
              </a:rPr>
              <a:t> in the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PC has large positive loadings on all fat-related variables and near-zero on others. You would call it…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A protein axis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An overall 'fat intake' component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Random noise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PC0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When one group of related variables dominates a component's loadings, the PC represents that theme — here, overall fat intake.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How many components to keep?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Proportion of variance explained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Each PC explains a fraction of the total variance equal to its eigenvalue divided by the sum of all eigenvalues.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fractions sum to 100% across all PCs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</a:t>
            </a:r>
            <a:r>
              <a:rPr sz="1800" b="1">
                <a:solidFill>
                  <a:srgbClr val="1B2430"/>
                </a:solidFill>
                <a:latin typeface="Calibri"/>
              </a:rPr>
              <a:t>cumulative</a:t>
            </a:r>
            <a:r>
              <a:rPr sz="1800" b="0">
                <a:solidFill>
                  <a:srgbClr val="1B2430"/>
                </a:solidFill>
                <a:latin typeface="Calibri"/>
              </a:rPr>
              <a:t> proportion tells you how much you've retained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Trade-off: fewer PCs = more compression but more lost variance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SCREE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Variance captured per component</a:t>
            </a:r>
          </a:p>
        </p:txBody>
      </p:sp>
      <p:pic>
        <p:nvPicPr>
          <p:cNvPr id="6" name="Picture 5" descr="L08_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881" y="1600200"/>
            <a:ext cx="792719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Bars = variance per PC; the line = cumulative. Look for the 'elbow' and/or the point where the cumulative curve crosses a threshold (e.g. 90%).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RULES OF THUMB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Choosing the number of PCs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22376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Keep components…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Cumulative variance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until you reach e.g. 80–90% explained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Scree / elbow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before the curve flattens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Kaiser criterion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with eigenvalue &gt; 1 (on standardised data)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Interpretability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as many as you can meaningfully name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No single correct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For </a:t>
            </a:r>
            <a:r>
              <a:rPr sz="2000" b="1">
                <a:solidFill>
                  <a:srgbClr val="1B2430"/>
                </a:solidFill>
                <a:latin typeface="Calibri"/>
              </a:rPr>
              <a:t>visualisation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, you usually keep just 2–3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For </a:t>
            </a:r>
            <a:r>
              <a:rPr sz="2000" b="1">
                <a:solidFill>
                  <a:srgbClr val="1B2430"/>
                </a:solidFill>
                <a:latin typeface="Calibri"/>
              </a:rPr>
              <a:t>preprocessing</a:t>
            </a:r>
            <a:r>
              <a:rPr sz="2000" b="0">
                <a:solidFill>
                  <a:srgbClr val="1B2430"/>
                </a:solidFill>
                <a:latin typeface="Calibri"/>
              </a:rPr>
              <a:t>, keep enough to retain most variance (say 90%)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Rules of thumb </a:t>
            </a:r>
            <a:r>
              <a:rPr sz="2000" b="1">
                <a:solidFill>
                  <a:srgbClr val="1B2430"/>
                </a:solidFill>
                <a:latin typeface="Calibri"/>
              </a:rPr>
              <a:t>disagree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use them together, then decide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Document your choice and its variance retained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Your first two PCs explain 55% and 25% of variance. Cumulative for PC1–PC2 is…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55%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80%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30%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Cumulative variance adds them: 55% + 25% = 80% retained by the first two components.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biplot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Biplot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biplot</a:t>
            </a:r>
            <a:r>
              <a:rPr sz="2000" b="0">
                <a:solidFill>
                  <a:srgbClr val="1B2430"/>
                </a:solidFill>
                <a:latin typeface="Calibri"/>
              </a:rPr>
              <a:t> overlays observation </a:t>
            </a:r>
            <a:r>
              <a:rPr sz="2000" b="1">
                <a:solidFill>
                  <a:srgbClr val="1B2430"/>
                </a:solidFill>
                <a:latin typeface="Calibri"/>
              </a:rPr>
              <a:t>scores</a:t>
            </a:r>
            <a:r>
              <a:rPr sz="2000" b="0">
                <a:solidFill>
                  <a:srgbClr val="1B2430"/>
                </a:solidFill>
                <a:latin typeface="Calibri"/>
              </a:rPr>
              <a:t> (points) and variable </a:t>
            </a:r>
            <a:r>
              <a:rPr sz="2000" b="1">
                <a:solidFill>
                  <a:srgbClr val="1B2430"/>
                </a:solidFill>
                <a:latin typeface="Calibri"/>
              </a:rPr>
              <a:t>loadings</a:t>
            </a:r>
            <a:r>
              <a:rPr sz="2000" b="0">
                <a:solidFill>
                  <a:srgbClr val="1B2430"/>
                </a:solidFill>
                <a:latin typeface="Calibri"/>
              </a:rPr>
              <a:t> (arrows) on the same PC1–PC2 axes.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Arrow direction shows how a variable aligns with the PCs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Arrows pointing the same way = positively correlated variables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Points far along an arrow score high on that variable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TWO VIEWS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biplot</a:t>
            </a:r>
          </a:p>
        </p:txBody>
      </p:sp>
      <p:pic>
        <p:nvPicPr>
          <p:cNvPr id="6" name="Picture 5" descr="L08_bi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776" y="1600200"/>
            <a:ext cx="6453407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Petal-length and petal-width arrows point together (correlated) and drive PC1; observations spread along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READING A BIPLOT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to look for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Arrow 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8483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longer = better represented in this 2-D view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61488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4320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Arrow angle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089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small angle between arrows = correlated variables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85616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8561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67328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Right angle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3308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≈ uncorrelated variables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809744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0974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9145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Point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15721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where an observation sits relative to the arrows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BIPLOT CAUTIONS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Read with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biplot only shows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first two</a:t>
            </a:r>
            <a:r>
              <a:rPr sz="2000" b="0">
                <a:solidFill>
                  <a:srgbClr val="1B2430"/>
                </a:solidFill>
                <a:latin typeface="Calibri"/>
              </a:rPr>
              <a:t> PCs — variance beyond them is hidden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Short arrows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poorly represented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don't over-interpret them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Always report </a:t>
            </a:r>
            <a:r>
              <a:rPr sz="2000" b="1">
                <a:solidFill>
                  <a:srgbClr val="1B2430"/>
                </a:solidFill>
                <a:latin typeface="Calibri"/>
              </a:rPr>
              <a:t>how much variance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PC1 &amp; PC2 capture on the axes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PCA as compression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Rebuilding data from a few PCs</a:t>
            </a:r>
          </a:p>
        </p:txBody>
      </p:sp>
      <p:pic>
        <p:nvPicPr>
          <p:cNvPr id="6" name="Picture 5" descr="L08_re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645224"/>
            <a:ext cx="9144000" cy="22076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A handwritten digit reconstructed from 2, 5, 10, 20 principal components. A fraction of the 64 dimensions recovers most of the image.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COMPRESSION &amp; DENOISING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Two practical superpowers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Compression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store scores on a few PCs instead of all variables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Denoising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low-variance PCs often capture noise; dropping them cleans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Preprocessing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feed PCs into clustering or classification to fight collinearity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Reconstruction error shrinks as you keep more PCs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ELEGANT DUALITY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same eigen-decomposition that maximises retained variance also minimises reconstruction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Keeping the top PCs is the best possible linear compression of your data.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PCA in 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prcomp is all you need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2322576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7C938A"/>
                </a:solidFill>
                <a:latin typeface="Consolas"/>
              </a:rPr>
              <a:t># ALWAYS standardise unless variables share meaningful units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pca &lt;- prcomp(diet_numeric, center = TRUE, scale. = TRUE)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summary(pca)          # proportion &amp; cumulative variance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pca$rotation          # loadings (variables x PCs)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pca$x                 # scores (observations x PCs)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VISUALISING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Scree, scores and biplot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2322576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library(factoextra)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fviz_eig(pca)                     # scree plot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fviz_pca_ind(pca, col.ind = group)# score plot, coloured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fviz_pca_biplot(pca)              # biplot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get_eigenvalue(pca)               # eigenvalues &amp; % variance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Using PCs downstream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Fit PCA on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training</a:t>
            </a:r>
            <a:r>
              <a:rPr sz="2000" b="0">
                <a:solidFill>
                  <a:srgbClr val="1B2430"/>
                </a:solidFill>
                <a:latin typeface="Calibri"/>
              </a:rPr>
              <a:t> data; apply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same</a:t>
            </a:r>
            <a:r>
              <a:rPr sz="2000" b="0">
                <a:solidFill>
                  <a:srgbClr val="1B2430"/>
                </a:solidFill>
                <a:latin typeface="Calibri"/>
              </a:rPr>
              <a:t> rotation to test data (`predict`)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Keep the PCs that reach your variance target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Cluster or classify on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scores</a:t>
            </a:r>
            <a:r>
              <a:rPr sz="2000" b="0">
                <a:solidFill>
                  <a:srgbClr val="1B2430"/>
                </a:solidFill>
                <a:latin typeface="Calibri"/>
              </a:rPr>
              <a:t>, not the raw variables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Interpret results back through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loadings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PCA on the nutrition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Standardise ~30 intake variables; run </a:t>
            </a:r>
            <a:r>
              <a:rPr sz="2000" b="1">
                <a:solidFill>
                  <a:srgbClr val="1B2430"/>
                </a:solidFill>
                <a:latin typeface="Calibri"/>
              </a:rPr>
              <a:t>prcomp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Scree shows PC1–PC4 capture ~85% of variance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Loadings: PC1 = 'overall intake', PC2 = 'plant vs animal' contrast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Plot participants on PC1–PC2; overlay a health outcome by colour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Feed the 4 PCs into clustering for cleaner dietary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27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Pitfalls &amp; limitations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PITFALL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Forgetting to standardise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Raw PCA lets the biggest-scale variable dominate PC1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Nearly always set </a:t>
            </a:r>
            <a:r>
              <a:rPr sz="2000" b="1">
                <a:solidFill>
                  <a:srgbClr val="1B2430"/>
                </a:solidFill>
                <a:latin typeface="Calibri"/>
              </a:rPr>
              <a:t>scale. = TRUE</a:t>
            </a:r>
            <a:r>
              <a:rPr sz="2000" b="0">
                <a:solidFill>
                  <a:srgbClr val="1B2430"/>
                </a:solidFill>
                <a:latin typeface="Calibri"/>
              </a:rPr>
              <a:t> for mixed-unit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28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PITFALL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Over-interpreting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mathematical constructs</a:t>
            </a:r>
            <a:r>
              <a:rPr sz="2000" b="0">
                <a:solidFill>
                  <a:srgbClr val="1B2430"/>
                </a:solidFill>
                <a:latin typeface="Calibri"/>
              </a:rPr>
              <a:t>; not every one has a tidy meaning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Sign is </a:t>
            </a:r>
            <a:r>
              <a:rPr sz="2000" b="1">
                <a:solidFill>
                  <a:srgbClr val="1B2430"/>
                </a:solidFill>
                <a:latin typeface="Calibri"/>
              </a:rPr>
              <a:t>arbitrary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 PC and its negative are the same component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Low-variance PCs are often noise — don't chase stories in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PITFALL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Assuming linearity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captures </a:t>
            </a:r>
            <a:r>
              <a:rPr sz="2000" b="1">
                <a:solidFill>
                  <a:srgbClr val="1B2430"/>
                </a:solidFill>
                <a:latin typeface="Calibri"/>
              </a:rPr>
              <a:t>linear</a:t>
            </a:r>
            <a:r>
              <a:rPr sz="2000" b="0">
                <a:solidFill>
                  <a:srgbClr val="1B2430"/>
                </a:solidFill>
                <a:latin typeface="Calibri"/>
              </a:rPr>
              <a:t> structure only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Curved / manifold structure needs </a:t>
            </a:r>
            <a:r>
              <a:rPr sz="2000" b="1">
                <a:solidFill>
                  <a:srgbClr val="1B2430"/>
                </a:solidFill>
                <a:latin typeface="Calibri"/>
              </a:rPr>
              <a:t>t-SNE or UMAP</a:t>
            </a:r>
            <a:r>
              <a:rPr sz="2000" b="0">
                <a:solidFill>
                  <a:srgbClr val="1B2430"/>
                </a:solidFill>
                <a:latin typeface="Calibri"/>
              </a:rPr>
              <a:t> (next lecture)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is also sensitive to </a:t>
            </a:r>
            <a:r>
              <a:rPr sz="2000" b="1">
                <a:solidFill>
                  <a:srgbClr val="1B2430"/>
                </a:solidFill>
                <a:latin typeface="Calibri"/>
              </a:rPr>
              <a:t>outliers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clean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30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PC1 explains 5% of the variance in your data. This suggests…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PC1 is very important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The variables are largely uncorrelated — little to compress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You must keep only PC1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data is noise-free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If even the top component captures little variance, no single direction dominates — the variables are nearly uncorrelated and PCA won't compress much.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Run and read a PCA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Run </a:t>
            </a:r>
            <a:r>
              <a:rPr sz="1900" b="1">
                <a:solidFill>
                  <a:srgbClr val="1B2430"/>
                </a:solidFill>
                <a:latin typeface="Calibri"/>
              </a:rPr>
              <a:t>prcomp(scale = TRUE)</a:t>
            </a:r>
            <a:r>
              <a:rPr sz="1900" b="0">
                <a:solidFill>
                  <a:srgbClr val="1B2430"/>
                </a:solidFill>
                <a:latin typeface="Calibri"/>
              </a:rPr>
              <a:t> on the nutrition variables. How many PCs reach 90% variance?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Examine PC1's loadings — which variables dominate, and what would you name it?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Plot PC1 vs PC2 scores coloured by a health group. Do groups separate?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Compare clustering on the </a:t>
            </a:r>
            <a:r>
              <a:rPr sz="1900" b="1">
                <a:solidFill>
                  <a:srgbClr val="1B2430"/>
                </a:solidFill>
                <a:latin typeface="Calibri"/>
              </a:rPr>
              <a:t>PC scores</a:t>
            </a:r>
            <a:r>
              <a:rPr sz="1900" b="0">
                <a:solidFill>
                  <a:srgbClr val="1B2430"/>
                </a:solidFill>
                <a:latin typeface="Calibri"/>
              </a:rPr>
              <a:t> vs the raw variables — any difference?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summary(pca) gives cumulative variance; pca$rotation[,1] holds PC1's loadings.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Interpret a biplot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In a biplot, two variable arrows point in nearly the same direction. What does that imply?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A third arrow is at right angles to them. What does that imply?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An observation sits far out along the first two arrows. Describe its profile.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Why should you check the % variance on the axes before trusting the picture?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Small angle → correlated; right angle → uncorrelated; position along an arrow → high on that variable.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33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BEYOND PCA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look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t-SNE / UMAP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non-linear reduction for visualisation (Lecture 9)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Factor analysis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models shared latent factors, not just variance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Kernel PCA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PCA in a transformed space for non-linear structure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remains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first tool to reach for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fast, linear, interpretable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KEY IDEAS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Hold onto these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Loadings</a:t>
            </a:r>
            <a:r>
              <a:rPr sz="2000" b="0">
                <a:solidFill>
                  <a:srgbClr val="1B2430"/>
                </a:solidFill>
                <a:latin typeface="Calibri"/>
              </a:rPr>
              <a:t> define PCs; </a:t>
            </a:r>
            <a:r>
              <a:rPr sz="2000" b="1">
                <a:solidFill>
                  <a:srgbClr val="1B2430"/>
                </a:solidFill>
                <a:latin typeface="Calibri"/>
              </a:rPr>
              <a:t>scores</a:t>
            </a:r>
            <a:r>
              <a:rPr sz="2000" b="0">
                <a:solidFill>
                  <a:srgbClr val="1B2430"/>
                </a:solidFill>
                <a:latin typeface="Calibri"/>
              </a:rPr>
              <a:t> place observations on them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Choose the number of PCs with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scree plot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variance retained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biplot</a:t>
            </a:r>
            <a:r>
              <a:rPr sz="2000" b="0">
                <a:solidFill>
                  <a:srgbClr val="1B2430"/>
                </a:solidFill>
                <a:latin typeface="Calibri"/>
              </a:rPr>
              <a:t> shows variables and observations together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= best linear </a:t>
            </a:r>
            <a:r>
              <a:rPr sz="2000" b="1">
                <a:solidFill>
                  <a:srgbClr val="1B2430"/>
                </a:solidFill>
                <a:latin typeface="Calibri"/>
              </a:rPr>
              <a:t>compression</a:t>
            </a:r>
            <a:r>
              <a:rPr sz="2000" b="0">
                <a:solidFill>
                  <a:srgbClr val="1B2430"/>
                </a:solidFill>
                <a:latin typeface="Calibri"/>
              </a:rPr>
              <a:t>; always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</a:t>
            </a:r>
            <a:r>
              <a:rPr sz="2000" b="0">
                <a:solidFill>
                  <a:srgbClr val="1B2430"/>
                </a:solidFill>
                <a:latin typeface="Calibri"/>
              </a:rPr>
              <a:t>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35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Related methods &amp; a full case study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PCA VS FACTOR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Close cousins, different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PCA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Maximises </a:t>
            </a:r>
            <a:r>
              <a:rPr sz="1600" b="1">
                <a:solidFill>
                  <a:srgbClr val="1B2430"/>
                </a:solidFill>
                <a:latin typeface="Calibri"/>
              </a:rPr>
              <a:t>variance</a:t>
            </a:r>
            <a:r>
              <a:rPr sz="1600" b="0">
                <a:solidFill>
                  <a:srgbClr val="1B2430"/>
                </a:solidFill>
                <a:latin typeface="Calibri"/>
              </a:rPr>
              <a:t> explained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Components are exact linear combos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Descriptive / compression focus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No underlying model of the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Factor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Models shared </a:t>
            </a:r>
            <a:r>
              <a:rPr sz="1600" b="1">
                <a:solidFill>
                  <a:srgbClr val="1B2430"/>
                </a:solidFill>
                <a:latin typeface="Calibri"/>
              </a:rPr>
              <a:t>latent factors</a:t>
            </a:r>
            <a:r>
              <a:rPr sz="1600" b="0">
                <a:solidFill>
                  <a:srgbClr val="1B2430"/>
                </a:solidFill>
                <a:latin typeface="Calibri"/>
              </a:rPr>
              <a:t> + noise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Aims to explain </a:t>
            </a:r>
            <a:r>
              <a:rPr sz="1600" b="1">
                <a:solidFill>
                  <a:srgbClr val="1B2430"/>
                </a:solidFill>
                <a:latin typeface="Calibri"/>
              </a:rPr>
              <a:t>correlations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Assumes a generative model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Common in psychology / surveys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36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Component rotation (varimax)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Rotation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re-orients retained components to make loadings closer to 0 or ±1, so each PC loads on fewer variables and is easier to name.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Trades the max-variance property for </a:t>
            </a:r>
            <a:r>
              <a:rPr sz="1800" b="1">
                <a:solidFill>
                  <a:srgbClr val="1B2430"/>
                </a:solidFill>
                <a:latin typeface="Calibri"/>
              </a:rPr>
              <a:t>interpretability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Varimax is the most common rotation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Popular when the goal is naming interpretable indices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37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PCA HELPS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they pair so 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Clustering in high dimensions is unreliable (curse of dimensionality)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Reduce to a handful of PCs first, then cluster on </a:t>
            </a:r>
            <a:r>
              <a:rPr sz="2000" b="1">
                <a:solidFill>
                  <a:srgbClr val="1B2430"/>
                </a:solidFill>
                <a:latin typeface="Calibri"/>
              </a:rPr>
              <a:t>scores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Removes correlated redundancy and much of the noise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Standard recipe: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 → PCA → k-means/GMM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38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EIGENFACES &amp;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PCA in the wild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Treat each image as a long vector of pixels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on many faces yields </a:t>
            </a:r>
            <a:r>
              <a:rPr sz="2000" b="1">
                <a:solidFill>
                  <a:srgbClr val="1B2430"/>
                </a:solidFill>
                <a:latin typeface="Calibri"/>
              </a:rPr>
              <a:t>'eigenfaces'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the main directions of variation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Any face ≈ average + a few eigenface scores → strong compression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exact idea behind the digit reconstruction we just saw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39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Reproducibility of PCA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To reproduce a PCA you must record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centring/scaling</a:t>
            </a:r>
            <a:r>
              <a:rPr sz="2000" b="0">
                <a:solidFill>
                  <a:srgbClr val="1B2430"/>
                </a:solidFill>
                <a:latin typeface="Calibri"/>
              </a:rPr>
              <a:t>,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number of PCs</a:t>
            </a:r>
            <a:r>
              <a:rPr sz="2000" b="0">
                <a:solidFill>
                  <a:srgbClr val="1B2430"/>
                </a:solidFill>
                <a:latin typeface="Calibri"/>
              </a:rPr>
              <a:t>, and apply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training rotation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to any new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Never re-fit PCA separately on test data — that leaks and shifts axes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Use `predict(pca, newdata)` to project new observations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Report % variance retained alongside every PCA figure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40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Nutrition data: 32 intake variables → 5 principal components capturing 88% of variation.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From an unwieldy wide table to five interpretable dietary indices you can plot, cluster and model.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CASE STUDY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PCA end-to-end on the project data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Clean &amp; standardise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8483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impute, z-score all 32 intake variables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06624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0662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8833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Fit PCA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05409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prcomp(scale.=TRUE); inspect the scree plot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675888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758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5760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Keep 5 PCs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233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they reach 88% cumulative variance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645152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4515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626864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Name them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926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PC1 'overall intake', PC2 'plant vs animal', PC3 'sugar load'…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614416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1441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596128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Use downstream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96188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cluster on scores; regress health outcome on PCs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42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CASE STUDY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Interpreting the retained components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13232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PC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% variance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Dominant loadings → name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PC1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all intakes + → 'overall intake'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PC2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veg/fruit + vs meat − → 'plant vs animal'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PC3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sugar, refined carbs → 'sugar load'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PC4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dairy, calcium → 'dairy'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PC5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alcohol → 'alcohol'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43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REPORTING PCA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a good write-up includes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scree plot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the variance retained by your chosen PCs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loadings table/heatmap</a:t>
            </a:r>
            <a:r>
              <a:rPr sz="2000" b="0">
                <a:solidFill>
                  <a:srgbClr val="1B2430"/>
                </a:solidFill>
                <a:latin typeface="Calibri"/>
              </a:rPr>
              <a:t> with your interpretation of each PC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score (or bi-) plot</a:t>
            </a:r>
            <a:r>
              <a:rPr sz="2000" b="0">
                <a:solidFill>
                  <a:srgbClr val="1B2430"/>
                </a:solidFill>
                <a:latin typeface="Calibri"/>
              </a:rPr>
              <a:t> coloured by a meaningful grouping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sentence on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how many PCs you kept and 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44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 standardised, ran PCA on training data, and now have test data. You should…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Re-run prcomp on the test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Project test data with the training rotation (predict)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Skip PCA on test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Average the two PCAs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Apply the *training* PCA to test data via predict() so both live in the same coordinate system — re-fitting would change the axes and leak information.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45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WHEN PCA IS THE WRONG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Know its limits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PCA struggles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Structure is </a:t>
            </a:r>
            <a:r>
              <a:rPr sz="1600" b="1">
                <a:solidFill>
                  <a:srgbClr val="1B2430"/>
                </a:solidFill>
                <a:latin typeface="Calibri"/>
              </a:rPr>
              <a:t>non-linear</a:t>
            </a:r>
            <a:r>
              <a:rPr sz="1600" b="0">
                <a:solidFill>
                  <a:srgbClr val="1B2430"/>
                </a:solidFill>
                <a:latin typeface="Calibri"/>
              </a:rPr>
              <a:t> / curved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You care about </a:t>
            </a:r>
            <a:r>
              <a:rPr sz="1600" b="1">
                <a:solidFill>
                  <a:srgbClr val="1B2430"/>
                </a:solidFill>
                <a:latin typeface="Calibri"/>
              </a:rPr>
              <a:t>rare</a:t>
            </a:r>
            <a:r>
              <a:rPr sz="1600" b="0">
                <a:solidFill>
                  <a:srgbClr val="1B2430"/>
                </a:solidFill>
                <a:latin typeface="Calibri"/>
              </a:rPr>
              <a:t> low-variance signals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Variables are </a:t>
            </a:r>
            <a:r>
              <a:rPr sz="1600" b="1">
                <a:solidFill>
                  <a:srgbClr val="1B2430"/>
                </a:solidFill>
                <a:latin typeface="Calibri"/>
              </a:rPr>
              <a:t>categorical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Outliers dominate the variance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Reach instead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t-SNE / UMAP</a:t>
            </a:r>
            <a:r>
              <a:rPr sz="1600" b="0">
                <a:solidFill>
                  <a:srgbClr val="1B2430"/>
                </a:solidFill>
                <a:latin typeface="Calibri"/>
              </a:rPr>
              <a:t> (non-linear viz)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Supervised</a:t>
            </a:r>
            <a:r>
              <a:rPr sz="1600" b="0">
                <a:solidFill>
                  <a:srgbClr val="1B2430"/>
                </a:solidFill>
                <a:latin typeface="Calibri"/>
              </a:rPr>
              <a:t> methods for prediction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MCA</a:t>
            </a:r>
            <a:r>
              <a:rPr sz="1600" b="0">
                <a:solidFill>
                  <a:srgbClr val="1B2430"/>
                </a:solidFill>
                <a:latin typeface="Calibri"/>
              </a:rPr>
              <a:t> for categorical data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Robust PCA</a:t>
            </a:r>
            <a:r>
              <a:rPr sz="1600" b="0">
                <a:solidFill>
                  <a:srgbClr val="1B2430"/>
                </a:solidFill>
                <a:latin typeface="Calibri"/>
              </a:rPr>
              <a:t> with outliers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46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Design a PCA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Your team has 40 metabolite variables and wants to visualise participant structure.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Write the full pipeline from raw data to a 2-D score plot (name each step).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State how you'll decide the number of PCs and how you'll interpret PC1.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How will you check the 2-D picture isn't hiding important variation?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Clean → standardise → prcomp → scree → keep PCs → scores plot; check cumulative variance of PC1–PC2.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47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EXAM POINTERS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tends to be 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Distinguish </a:t>
            </a:r>
            <a:r>
              <a:rPr sz="2000" b="1">
                <a:solidFill>
                  <a:srgbClr val="1B2430"/>
                </a:solidFill>
                <a:latin typeface="Calibri"/>
              </a:rPr>
              <a:t>scores</a:t>
            </a:r>
            <a:r>
              <a:rPr sz="2000" b="0">
                <a:solidFill>
                  <a:srgbClr val="1B2430"/>
                </a:solidFill>
                <a:latin typeface="Calibri"/>
              </a:rPr>
              <a:t> vs </a:t>
            </a:r>
            <a:r>
              <a:rPr sz="2000" b="1">
                <a:solidFill>
                  <a:srgbClr val="1B2430"/>
                </a:solidFill>
                <a:latin typeface="Calibri"/>
              </a:rPr>
              <a:t>loadings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Read a </a:t>
            </a:r>
            <a:r>
              <a:rPr sz="2000" b="1">
                <a:solidFill>
                  <a:srgbClr val="1B2430"/>
                </a:solidFill>
                <a:latin typeface="Calibri"/>
              </a:rPr>
              <a:t>scree plot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compute cumulative variance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Interpret a </a:t>
            </a:r>
            <a:r>
              <a:rPr sz="2000" b="1">
                <a:solidFill>
                  <a:srgbClr val="1B2430"/>
                </a:solidFill>
                <a:latin typeface="Calibri"/>
              </a:rPr>
              <a:t>biplot</a:t>
            </a:r>
            <a:r>
              <a:rPr sz="2000" b="0">
                <a:solidFill>
                  <a:srgbClr val="1B2430"/>
                </a:solidFill>
                <a:latin typeface="Calibri"/>
              </a:rPr>
              <a:t> (angles, lengths, positions)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Explain </a:t>
            </a:r>
            <a:r>
              <a:rPr sz="2000" b="1">
                <a:solidFill>
                  <a:srgbClr val="1B2430"/>
                </a:solidFill>
                <a:latin typeface="Calibri"/>
              </a:rPr>
              <a:t>why standardise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what eigenvalues mean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48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Which pair correctly matches PCA outputs to their meaning?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Scores = variable weights; loadings = observation coordinates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Scores = observation coordinates; loadings = variable weights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Both describe variables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Both describe observations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Scores place each observation on the PCs; loadings are the variable weights that define each PC.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49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CHEAT-SHEET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PCA in R, one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Fit</a:t>
            </a:r>
            <a:r>
              <a:rPr sz="2000" b="0">
                <a:solidFill>
                  <a:srgbClr val="1B2430"/>
                </a:solidFill>
                <a:latin typeface="Calibri"/>
              </a:rPr>
              <a:t>: `prcomp(X, scale. = TRUE)`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Variance</a:t>
            </a:r>
            <a:r>
              <a:rPr sz="2000" b="0">
                <a:solidFill>
                  <a:srgbClr val="1B2430"/>
                </a:solidFill>
                <a:latin typeface="Calibri"/>
              </a:rPr>
              <a:t>: `summary()` or `get_eigenvalue()`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Loadings</a:t>
            </a:r>
            <a:r>
              <a:rPr sz="2000" b="0">
                <a:solidFill>
                  <a:srgbClr val="1B2430"/>
                </a:solidFill>
                <a:latin typeface="Calibri"/>
              </a:rPr>
              <a:t>: `pca$rotation` · </a:t>
            </a:r>
            <a:r>
              <a:rPr sz="2000" b="1">
                <a:solidFill>
                  <a:srgbClr val="1B2430"/>
                </a:solidFill>
                <a:latin typeface="Calibri"/>
              </a:rPr>
              <a:t>Scores</a:t>
            </a:r>
            <a:r>
              <a:rPr sz="2000" b="0">
                <a:solidFill>
                  <a:srgbClr val="1B2430"/>
                </a:solidFill>
                <a:latin typeface="Calibri"/>
              </a:rPr>
              <a:t>: `pca$x`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Plots</a:t>
            </a:r>
            <a:r>
              <a:rPr sz="2000" b="0">
                <a:solidFill>
                  <a:srgbClr val="1B2430"/>
                </a:solidFill>
                <a:latin typeface="Calibri"/>
              </a:rPr>
              <a:t>: `fviz_eig`, `fviz_pca_ind`, `fviz_pca_biplot`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New data</a:t>
            </a:r>
            <a:r>
              <a:rPr sz="2000" b="0">
                <a:solidFill>
                  <a:srgbClr val="1B2430"/>
                </a:solidFill>
                <a:latin typeface="Calibri"/>
              </a:rPr>
              <a:t>: `predict(pca, newdata)`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50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BRIDGE TO WEEK 3'S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You can now take wide, correlated nutrition data and compress it into a few meaningful axes — ready to visualise, cluster, or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Next we handle structure PCA can't: non-linear, curved patterns.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 go deeper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James et al., *An Introduction to Statistical Learning*, Ch. 12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Hastie et al., *The Elements of Statistical Learning*, §14.5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R: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factoextra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FactoMineR</a:t>
            </a:r>
            <a:r>
              <a:rPr sz="2000" b="0">
                <a:solidFill>
                  <a:srgbClr val="1B2430"/>
                </a:solidFill>
                <a:latin typeface="Calibri"/>
              </a:rPr>
              <a:t> vignettes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52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turns correlated variables into a few uncorrelated </a:t>
            </a:r>
            <a:r>
              <a:rPr sz="2000" b="1">
                <a:solidFill>
                  <a:srgbClr val="1B2430"/>
                </a:solidFill>
                <a:latin typeface="Calibri"/>
              </a:rPr>
              <a:t>components</a:t>
            </a:r>
            <a:r>
              <a:rPr sz="2000" b="0">
                <a:solidFill>
                  <a:srgbClr val="1B2430"/>
                </a:solidFill>
                <a:latin typeface="Calibri"/>
              </a:rPr>
              <a:t> ranked by variance.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1">
                <a:solidFill>
                  <a:srgbClr val="1B2430"/>
                </a:solidFill>
                <a:latin typeface="Calibri"/>
              </a:rPr>
              <a:t>Loadings</a:t>
            </a:r>
            <a:r>
              <a:rPr sz="2000" b="0">
                <a:solidFill>
                  <a:srgbClr val="1B2430"/>
                </a:solidFill>
                <a:latin typeface="Calibri"/>
              </a:rPr>
              <a:t> tell you what each PC means; </a:t>
            </a:r>
            <a:r>
              <a:rPr sz="2000" b="1">
                <a:solidFill>
                  <a:srgbClr val="1B2430"/>
                </a:solidFill>
                <a:latin typeface="Calibri"/>
              </a:rPr>
              <a:t>scores</a:t>
            </a:r>
            <a:r>
              <a:rPr sz="2000" b="0">
                <a:solidFill>
                  <a:srgbClr val="1B2430"/>
                </a:solidFill>
                <a:latin typeface="Calibri"/>
              </a:rPr>
              <a:t> re-express the observations.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Use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scree plot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cumulative variance to choose how many PCs to keep.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PCA is the best linear </a:t>
            </a:r>
            <a:r>
              <a:rPr sz="2000" b="1">
                <a:solidFill>
                  <a:srgbClr val="1B2430"/>
                </a:solidFill>
                <a:latin typeface="Calibri"/>
              </a:rPr>
              <a:t>compression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powerful for visualisation, denoising and preprocessing.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15600" cy="777240"/>
          </a:xfrm>
          <a:prstGeom prst="round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64626"/>
                </a:solidFill>
                <a:latin typeface="Calibri"/>
              </a:rPr>
              <a:t>Next lecture →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Lecture 09 — Dimension reduction beyond PCA: MDS, t-SNE and when to use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L08 · 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