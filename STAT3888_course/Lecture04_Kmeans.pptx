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60120"/>
            <a:ext cx="2194560" cy="457200"/>
          </a:xfrm>
          <a:prstGeom prst="round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42415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LECTURE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K-means Clustering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8D4E2"/>
                </a:solidFill>
                <a:latin typeface="Calibri"/>
              </a:rPr>
              <a:t>The workhorse partitioning algorithm: its objective, Lloyd's algorithm, choosing the number of clusters, and the assumptions that make it succeed — or fail.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806440"/>
            <a:ext cx="10515600" cy="15240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FADBD"/>
                </a:solidFill>
                <a:latin typeface="Calibri"/>
              </a:rPr>
              <a:t>School of Mathematics &amp; Statistics · The University of Sydney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Today's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k-means objective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Lloyd's algorithm and why it converges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Local optima and random restarts / k-means++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Choosing k: elbow, silhouette, gap statistic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Assumptions, failure modes and alternatives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Running and interpreting k-means in 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Where we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Last lecture: clustering finds </a:t>
            </a:r>
            <a:r>
              <a:rPr sz="2000" b="1">
                <a:solidFill>
                  <a:srgbClr val="1B2430"/>
                </a:solidFill>
                <a:latin typeface="Calibri"/>
              </a:rPr>
              <a:t>groups without labels</a:t>
            </a:r>
            <a:r>
              <a:rPr sz="2000" b="0">
                <a:solidFill>
                  <a:srgbClr val="1B2430"/>
                </a:solidFill>
                <a:latin typeface="Calibri"/>
              </a:rPr>
              <a:t> using a </a:t>
            </a:r>
            <a:r>
              <a:rPr sz="2000" b="1">
                <a:solidFill>
                  <a:srgbClr val="1B2430"/>
                </a:solidFill>
                <a:latin typeface="Calibri"/>
              </a:rPr>
              <a:t>distance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Good clusterings minimise </a:t>
            </a:r>
            <a:r>
              <a:rPr sz="2000" b="1">
                <a:solidFill>
                  <a:srgbClr val="1B2430"/>
                </a:solidFill>
                <a:latin typeface="Calibri"/>
              </a:rPr>
              <a:t>within-cluster</a:t>
            </a:r>
            <a:r>
              <a:rPr sz="2000" b="0">
                <a:solidFill>
                  <a:srgbClr val="1B2430"/>
                </a:solidFill>
                <a:latin typeface="Calibri"/>
              </a:rPr>
              <a:t> variation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k-means is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partitioning</a:t>
            </a:r>
            <a:r>
              <a:rPr sz="2000" b="0">
                <a:solidFill>
                  <a:srgbClr val="1B2430"/>
                </a:solidFill>
                <a:latin typeface="Calibri"/>
              </a:rPr>
              <a:t> method that does exactly this with Euclidean distance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objective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Minimise within-cluster sum of squares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min  Σₖ Σₓ∈Cₖ  ‖ x − μₖ ‖²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Partition n points into k clusters C₁,…,Cₖ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Each cluster is summarised by its </a:t>
            </a:r>
            <a:r>
              <a:rPr sz="1800" b="1">
                <a:solidFill>
                  <a:srgbClr val="1B2430"/>
                </a:solidFill>
                <a:latin typeface="Calibri"/>
              </a:rPr>
              <a:t>centroid</a:t>
            </a:r>
            <a:r>
              <a:rPr sz="1800" b="0">
                <a:solidFill>
                  <a:srgbClr val="1B2430"/>
                </a:solidFill>
                <a:latin typeface="Calibri"/>
              </a:rPr>
              <a:t> μₖ (the mean)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We want every point </a:t>
            </a:r>
            <a:r>
              <a:rPr sz="1800" b="1">
                <a:solidFill>
                  <a:srgbClr val="1B2430"/>
                </a:solidFill>
                <a:latin typeface="Calibri"/>
              </a:rPr>
              <a:t>close to its own centroid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486400"/>
            <a:ext cx="923544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48640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5559552"/>
            <a:ext cx="8778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Searching all possible partitions is </a:t>
            </a:r>
            <a:r>
              <a:rPr sz="1500" b="1">
                <a:solidFill>
                  <a:srgbClr val="1B2430"/>
                </a:solidFill>
                <a:latin typeface="Calibri"/>
              </a:rPr>
              <a:t>NP-hard</a:t>
            </a:r>
            <a:r>
              <a:rPr sz="1500" b="0">
                <a:solidFill>
                  <a:srgbClr val="1B2430"/>
                </a:solidFill>
                <a:latin typeface="Calibri"/>
              </a:rPr>
              <a:t> — so we use a fast, greedy approximation: Lloyd's algorithm.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K-means carves space into Voronoi cells</a:t>
            </a:r>
          </a:p>
        </p:txBody>
      </p:sp>
      <p:pic>
        <p:nvPicPr>
          <p:cNvPr id="6" name="Picture 5" descr="L04_voron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976573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Each point is assigned to the nearest centroid, so cluster boundaries are straight lines (Voronoi cells). This is a strong geometric assumption.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Boundaries are </a:t>
            </a:r>
            <a:r>
              <a:rPr sz="1500" b="1">
                <a:solidFill>
                  <a:srgbClr val="1B2430"/>
                </a:solidFill>
                <a:latin typeface="Calibri"/>
              </a:rPr>
              <a:t>linear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Clusters are implicitly </a:t>
            </a:r>
            <a:r>
              <a:rPr sz="1500" b="1">
                <a:solidFill>
                  <a:srgbClr val="1B2430"/>
                </a:solidFill>
                <a:latin typeface="Calibri"/>
              </a:rPr>
              <a:t>convex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Works best for </a:t>
            </a:r>
            <a:r>
              <a:rPr sz="1500" b="1">
                <a:solidFill>
                  <a:srgbClr val="1B2430"/>
                </a:solidFill>
                <a:latin typeface="Calibri"/>
              </a:rPr>
              <a:t>round, similar-size</a:t>
            </a:r>
            <a:r>
              <a:rPr sz="1500" b="0">
                <a:solidFill>
                  <a:srgbClr val="1B2430"/>
                </a:solidFill>
                <a:latin typeface="Calibri"/>
              </a:rPr>
              <a:t> blobs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We'll see where this breaks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algorithm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Lloyd's algorithm: assign → update → repeat</a:t>
            </a:r>
          </a:p>
        </p:txBody>
      </p:sp>
      <p:pic>
        <p:nvPicPr>
          <p:cNvPr id="6" name="Picture 5" descr="L04_it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122827"/>
            <a:ext cx="9144000" cy="32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Assign each point to the nearest centroid, then move each centroid to its points' mean; repeat. Here a poor start converged to a sub-optimal split — motivating restarts.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Lloyd's algorithm, step by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Input</a:t>
            </a:r>
            <a:r>
              <a:rPr sz="2000" b="0">
                <a:solidFill>
                  <a:srgbClr val="1B2430"/>
                </a:solidFill>
                <a:latin typeface="Calibri"/>
              </a:rPr>
              <a:t>: data X, number of clusters 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Initialise</a:t>
            </a:r>
            <a:r>
              <a:rPr sz="2000" b="0">
                <a:solidFill>
                  <a:srgbClr val="1B2430"/>
                </a:solidFill>
                <a:latin typeface="Calibri"/>
              </a:rPr>
              <a:t> k centroids (randomly, or with k-means++)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1">
                <a:solidFill>
                  <a:srgbClr val="1B2430"/>
                </a:solidFill>
                <a:latin typeface="Calibri"/>
              </a:rPr>
              <a:t>Assign</a:t>
            </a:r>
            <a:r>
              <a:rPr sz="1650" b="0">
                <a:solidFill>
                  <a:srgbClr val="1B2430"/>
                </a:solidFill>
                <a:latin typeface="Calibri"/>
              </a:rPr>
              <a:t> each point to its nearest centroid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1">
                <a:solidFill>
                  <a:srgbClr val="1B2430"/>
                </a:solidFill>
                <a:latin typeface="Calibri"/>
              </a:rPr>
              <a:t>Update</a:t>
            </a:r>
            <a:r>
              <a:rPr sz="1650" b="0">
                <a:solidFill>
                  <a:srgbClr val="1B2430"/>
                </a:solidFill>
                <a:latin typeface="Calibri"/>
              </a:rPr>
              <a:t> each centroid to the mean of its assigned points</a:t>
            </a:r>
          </a:p>
          <a:p>
            <a:pPr lvl="1">
              <a:lnSpc>
                <a:spcPct val="110000"/>
              </a:lnSpc>
              <a:spcBef>
                <a:spcPts val="200"/>
              </a:spcBef>
              <a:spcAft>
                <a:spcPts val="500"/>
              </a:spcAft>
            </a:pPr>
            <a:r>
              <a:rPr sz="1600" b="1">
                <a:solidFill>
                  <a:srgbClr val="5B6A7D"/>
                </a:solidFill>
                <a:latin typeface="Calibri"/>
              </a:rPr>
              <a:t>–  </a:t>
            </a:r>
            <a:r>
              <a:rPr sz="1650" b="1">
                <a:solidFill>
                  <a:srgbClr val="1B2430"/>
                </a:solidFill>
                <a:latin typeface="Calibri"/>
              </a:rPr>
              <a:t>Repeat</a:t>
            </a:r>
            <a:r>
              <a:rPr sz="1650" b="0">
                <a:solidFill>
                  <a:srgbClr val="1B2430"/>
                </a:solidFill>
                <a:latin typeface="Calibri"/>
              </a:rPr>
              <a:t> assign–update until assignments stop changing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Output</a:t>
            </a:r>
            <a:r>
              <a:rPr sz="2000" b="0">
                <a:solidFill>
                  <a:srgbClr val="1B2430"/>
                </a:solidFill>
                <a:latin typeface="Calibri"/>
              </a:rPr>
              <a:t>: cluster labels and final centroids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CONVERGENCE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Why it always converges (but not always to the best answer)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Each </a:t>
            </a:r>
            <a:r>
              <a:rPr sz="2000" b="1">
                <a:solidFill>
                  <a:srgbClr val="1B2430"/>
                </a:solidFill>
                <a:latin typeface="Calibri"/>
              </a:rPr>
              <a:t>assign</a:t>
            </a:r>
            <a:r>
              <a:rPr sz="2000" b="0">
                <a:solidFill>
                  <a:srgbClr val="1B2430"/>
                </a:solidFill>
                <a:latin typeface="Calibri"/>
              </a:rPr>
              <a:t> step can only </a:t>
            </a:r>
            <a:r>
              <a:rPr sz="2000" b="1">
                <a:solidFill>
                  <a:srgbClr val="1B2430"/>
                </a:solidFill>
                <a:latin typeface="Calibri"/>
              </a:rPr>
              <a:t>decrease</a:t>
            </a:r>
            <a:r>
              <a:rPr sz="2000" b="0">
                <a:solidFill>
                  <a:srgbClr val="1B2430"/>
                </a:solidFill>
                <a:latin typeface="Calibri"/>
              </a:rPr>
              <a:t> the within-SS (points move to nearer centroids)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Each </a:t>
            </a:r>
            <a:r>
              <a:rPr sz="2000" b="1">
                <a:solidFill>
                  <a:srgbClr val="1B2430"/>
                </a:solidFill>
                <a:latin typeface="Calibri"/>
              </a:rPr>
              <a:t>update</a:t>
            </a:r>
            <a:r>
              <a:rPr sz="2000" b="0">
                <a:solidFill>
                  <a:srgbClr val="1B2430"/>
                </a:solidFill>
                <a:latin typeface="Calibri"/>
              </a:rPr>
              <a:t> step can only </a:t>
            </a:r>
            <a:r>
              <a:rPr sz="2000" b="1">
                <a:solidFill>
                  <a:srgbClr val="1B2430"/>
                </a:solidFill>
                <a:latin typeface="Calibri"/>
              </a:rPr>
              <a:t>decrease</a:t>
            </a:r>
            <a:r>
              <a:rPr sz="2000" b="0">
                <a:solidFill>
                  <a:srgbClr val="1B2430"/>
                </a:solidFill>
                <a:latin typeface="Calibri"/>
              </a:rPr>
              <a:t> it (the mean minimises squared distance)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The objective is </a:t>
            </a:r>
            <a:r>
              <a:rPr sz="2000" b="1">
                <a:solidFill>
                  <a:srgbClr val="1B2430"/>
                </a:solidFill>
                <a:latin typeface="Calibri"/>
              </a:rPr>
              <a:t>bounded below by 0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keeps decreasing → it </a:t>
            </a:r>
            <a:r>
              <a:rPr sz="2000" b="1">
                <a:solidFill>
                  <a:srgbClr val="1B2430"/>
                </a:solidFill>
                <a:latin typeface="Calibri"/>
              </a:rPr>
              <a:t>converges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But possibly to a </a:t>
            </a:r>
            <a:r>
              <a:rPr sz="2000" b="1">
                <a:solidFill>
                  <a:srgbClr val="1B2430"/>
                </a:solidFill>
                <a:latin typeface="Calibri"/>
              </a:rPr>
              <a:t>local</a:t>
            </a:r>
            <a:r>
              <a:rPr sz="2000" b="0">
                <a:solidFill>
                  <a:srgbClr val="1B2430"/>
                </a:solidFill>
                <a:latin typeface="Calibri"/>
              </a:rPr>
              <a:t> minimum depending on the starting centroids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How expensive is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Per iteration: </a:t>
            </a:r>
            <a:r>
              <a:rPr sz="2000" b="1">
                <a:solidFill>
                  <a:srgbClr val="1B2430"/>
                </a:solidFill>
                <a:latin typeface="Calibri"/>
              </a:rPr>
              <a:t>O(n · k · p)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n points, k clusters, p features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Usually converges in a </a:t>
            </a:r>
            <a:r>
              <a:rPr sz="2000" b="1">
                <a:solidFill>
                  <a:srgbClr val="1B2430"/>
                </a:solidFill>
                <a:latin typeface="Calibri"/>
              </a:rPr>
              <a:t>handful</a:t>
            </a:r>
            <a:r>
              <a:rPr sz="2000" b="0">
                <a:solidFill>
                  <a:srgbClr val="1B2430"/>
                </a:solidFill>
                <a:latin typeface="Calibri"/>
              </a:rPr>
              <a:t> of iterations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Scales well</a:t>
            </a:r>
            <a:r>
              <a:rPr sz="2000" b="0">
                <a:solidFill>
                  <a:srgbClr val="1B2430"/>
                </a:solidFill>
                <a:latin typeface="Calibri"/>
              </a:rPr>
              <a:t> to large data — a big reason for its popularity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Local optima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INITIALISATION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Random vs k-means++ starts</a:t>
            </a:r>
          </a:p>
        </p:txBody>
      </p:sp>
      <p:pic>
        <p:nvPicPr>
          <p:cNvPr id="6" name="Picture 5" descr="L04_kmeans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02271"/>
            <a:ext cx="6858000" cy="29849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Random initialisation can place centroids close together (left), risking a poor local optimum. k-means++ spreads initial centroids apart (right).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Run from </a:t>
            </a:r>
            <a:r>
              <a:rPr sz="1500" b="1">
                <a:solidFill>
                  <a:srgbClr val="1B2430"/>
                </a:solidFill>
                <a:latin typeface="Calibri"/>
              </a:rPr>
              <a:t>many random starts</a:t>
            </a:r>
            <a:r>
              <a:rPr sz="1500" b="0">
                <a:solidFill>
                  <a:srgbClr val="1B2430"/>
                </a:solidFill>
                <a:latin typeface="Calibri"/>
              </a:rPr>
              <a:t>, keep the best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'Best' = </a:t>
            </a:r>
            <a:r>
              <a:rPr sz="1500" b="1">
                <a:solidFill>
                  <a:srgbClr val="1B2430"/>
                </a:solidFill>
                <a:latin typeface="Calibri"/>
              </a:rPr>
              <a:t>lowest</a:t>
            </a:r>
            <a:r>
              <a:rPr sz="1500" b="0">
                <a:solidFill>
                  <a:srgbClr val="1B2430"/>
                </a:solidFill>
                <a:latin typeface="Calibri"/>
              </a:rPr>
              <a:t> total within-SS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k-means++</a:t>
            </a:r>
            <a:r>
              <a:rPr sz="1500" b="0">
                <a:solidFill>
                  <a:srgbClr val="1B2430"/>
                </a:solidFill>
                <a:latin typeface="Calibri"/>
              </a:rPr>
              <a:t> chooses spread-out starts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In R: set `nstart = 25` or more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RESTARTS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Always use multiple restarts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2633472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2359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set.seed(1)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 &lt;- kmeans(X, centers = 3, nstart = 25)   # 25 random restarts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km$tot.withinss    # objective value (lower is better)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km$cluster         # cluster label for each observation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km$centers         # cluster centroids (in scaled units)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km$size            # number of points per cluster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B6A7D"/>
                </a:solidFill>
                <a:latin typeface="Calibri"/>
              </a:rPr>
              <a:t>Without nstart, a single unlucky start can give a badly sub-optimal clustering.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Choosing the number of clusters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DIAGNOSTICS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Elbow and silhouette methods</a:t>
            </a:r>
          </a:p>
        </p:txBody>
      </p:sp>
      <p:pic>
        <p:nvPicPr>
          <p:cNvPr id="6" name="Picture 5" descr="L04_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58363"/>
            <a:ext cx="9144000" cy="37813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B6A7D"/>
                </a:solidFill>
                <a:latin typeface="Calibri"/>
              </a:rPr>
              <a:t>Left: within-SS always falls with k — look for the 'elbow' where gains flatten. Right: the silhouette rewards well-separated clusters and often peaks more clearly.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SILHOUETTE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Measuring how well each point is clustered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s(i) = ( bᵢ − aᵢ ) / max(aᵢ, bᵢ)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1">
                <a:solidFill>
                  <a:srgbClr val="1B2430"/>
                </a:solidFill>
                <a:latin typeface="Calibri"/>
              </a:rPr>
              <a:t>aᵢ</a:t>
            </a:r>
            <a:r>
              <a:rPr sz="1800" b="0">
                <a:solidFill>
                  <a:srgbClr val="1B2430"/>
                </a:solidFill>
                <a:latin typeface="Calibri"/>
              </a:rPr>
              <a:t> = mean distance from i to points in </a:t>
            </a:r>
            <a:r>
              <a:rPr sz="1800" b="1">
                <a:solidFill>
                  <a:srgbClr val="1B2430"/>
                </a:solidFill>
                <a:latin typeface="Calibri"/>
              </a:rPr>
              <a:t>its own</a:t>
            </a:r>
            <a:r>
              <a:rPr sz="1800" b="0">
                <a:solidFill>
                  <a:srgbClr val="1B2430"/>
                </a:solidFill>
                <a:latin typeface="Calibri"/>
              </a:rPr>
              <a:t> cluster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1">
                <a:solidFill>
                  <a:srgbClr val="1B2430"/>
                </a:solidFill>
                <a:latin typeface="Calibri"/>
              </a:rPr>
              <a:t>bᵢ</a:t>
            </a:r>
            <a:r>
              <a:rPr sz="1800" b="0">
                <a:solidFill>
                  <a:srgbClr val="1B2430"/>
                </a:solidFill>
                <a:latin typeface="Calibri"/>
              </a:rPr>
              <a:t> = mean distance from i to points in the </a:t>
            </a:r>
            <a:r>
              <a:rPr sz="1800" b="1">
                <a:solidFill>
                  <a:srgbClr val="1B2430"/>
                </a:solidFill>
                <a:latin typeface="Calibri"/>
              </a:rPr>
              <a:t>nearest other</a:t>
            </a:r>
            <a:r>
              <a:rPr sz="1800" b="0">
                <a:solidFill>
                  <a:srgbClr val="1B2430"/>
                </a:solidFill>
                <a:latin typeface="Calibri"/>
              </a:rPr>
              <a:t> cluster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1">
                <a:solidFill>
                  <a:srgbClr val="1B2430"/>
                </a:solidFill>
                <a:latin typeface="Calibri"/>
              </a:rPr>
              <a:t>s ≈ +1</a:t>
            </a:r>
            <a:r>
              <a:rPr sz="1800" b="0">
                <a:solidFill>
                  <a:srgbClr val="1B2430"/>
                </a:solidFill>
                <a:latin typeface="Calibri"/>
              </a:rPr>
              <a:t>: well clustered · </a:t>
            </a:r>
            <a:r>
              <a:rPr sz="1800" b="1">
                <a:solidFill>
                  <a:srgbClr val="1B2430"/>
                </a:solidFill>
                <a:latin typeface="Calibri"/>
              </a:rPr>
              <a:t>s ≈ 0</a:t>
            </a:r>
            <a:r>
              <a:rPr sz="1800" b="0">
                <a:solidFill>
                  <a:srgbClr val="1B2430"/>
                </a:solidFill>
                <a:latin typeface="Calibri"/>
              </a:rPr>
              <a:t>: on a boundary · </a:t>
            </a:r>
            <a:r>
              <a:rPr sz="1800" b="1">
                <a:solidFill>
                  <a:srgbClr val="1B2430"/>
                </a:solidFill>
                <a:latin typeface="Calibri"/>
              </a:rPr>
              <a:t>s &lt; 0</a:t>
            </a:r>
            <a:r>
              <a:rPr sz="1800" b="0">
                <a:solidFill>
                  <a:srgbClr val="1B2430"/>
                </a:solidFill>
                <a:latin typeface="Calibri"/>
              </a:rPr>
              <a:t>: likely misassigned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486400"/>
            <a:ext cx="923544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48640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5559552"/>
            <a:ext cx="8778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Average s over all points to score a whole clustering; pick the k with the </a:t>
            </a:r>
            <a:r>
              <a:rPr sz="1500" b="1">
                <a:solidFill>
                  <a:srgbClr val="1B2430"/>
                </a:solidFill>
                <a:latin typeface="Calibri"/>
              </a:rPr>
              <a:t>highest</a:t>
            </a:r>
            <a:r>
              <a:rPr sz="1500" b="0">
                <a:solidFill>
                  <a:srgbClr val="1B2430"/>
                </a:solidFill>
                <a:latin typeface="Calibri"/>
              </a:rPr>
              <a:t> average silhouette.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MORE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Other ways to choose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Gap statistic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compares within-SS to that expected under no clustering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Information criteria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natural in the model-based approach (BIC, Lecture 5)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Stability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choose k giving reproducible clusters under resampling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Interpretability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a k your Nutrition partners can </a:t>
            </a:r>
            <a:r>
              <a:rPr sz="2000" b="1">
                <a:solidFill>
                  <a:srgbClr val="1B2430"/>
                </a:solidFill>
                <a:latin typeface="Calibri"/>
              </a:rPr>
              <a:t>name</a:t>
            </a:r>
            <a:r>
              <a:rPr sz="2000" b="0">
                <a:solidFill>
                  <a:srgbClr val="1B2430"/>
                </a:solidFill>
                <a:latin typeface="Calibri"/>
              </a:rPr>
              <a:t> often wins 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Assumptions &amp; limits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FAILURE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K-means assumes round blobs</a:t>
            </a:r>
          </a:p>
        </p:txBody>
      </p:sp>
      <p:pic>
        <p:nvPicPr>
          <p:cNvPr id="6" name="Picture 5" descr="L04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6656867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A7D"/>
                </a:solidFill>
                <a:latin typeface="Calibri"/>
              </a:rPr>
              <a:t>On two interleaving 'moons', k-means carves a straight boundary and splits them the wrong way. Its convex, equal-variance assumptions simply don't hold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645920"/>
            <a:ext cx="3429000" cy="4343400"/>
          </a:xfrm>
          <a:prstGeom prst="roundRect">
            <a:avLst/>
          </a:prstGeom>
          <a:solidFill>
            <a:srgbClr val="EEF3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1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A6F97"/>
                </a:solidFill>
                <a:latin typeface="Calibri"/>
              </a:rPr>
              <a:t>When it struggles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1" y="2423160"/>
            <a:ext cx="2971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Non-convex / elongated shapes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Very different cluster </a:t>
            </a:r>
            <a:r>
              <a:rPr sz="1500" b="1">
                <a:solidFill>
                  <a:srgbClr val="1B2430"/>
                </a:solidFill>
                <a:latin typeface="Calibri"/>
              </a:rPr>
              <a:t>sizes</a:t>
            </a:r>
            <a:r>
              <a:rPr sz="1500" b="0">
                <a:solidFill>
                  <a:srgbClr val="1B2430"/>
                </a:solidFill>
                <a:latin typeface="Calibri"/>
              </a:rPr>
              <a:t> or </a:t>
            </a:r>
            <a:r>
              <a:rPr sz="1500" b="1">
                <a:solidFill>
                  <a:srgbClr val="1B2430"/>
                </a:solidFill>
                <a:latin typeface="Calibri"/>
              </a:rPr>
              <a:t>densities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1">
                <a:solidFill>
                  <a:srgbClr val="1B2430"/>
                </a:solidFill>
                <a:latin typeface="Calibri"/>
              </a:rPr>
              <a:t>Unscaled</a:t>
            </a:r>
            <a:r>
              <a:rPr sz="1500" b="0">
                <a:solidFill>
                  <a:srgbClr val="1B2430"/>
                </a:solidFill>
                <a:latin typeface="Calibri"/>
              </a:rPr>
              <a:t> variables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b="1" sz="1500">
                <a:solidFill>
                  <a:srgbClr val="2A6F97"/>
                </a:solidFill>
                <a:latin typeface="Calibri"/>
              </a:rPr>
              <a:t>• </a:t>
            </a:r>
            <a:r>
              <a:rPr sz="1500" b="0">
                <a:solidFill>
                  <a:srgbClr val="1B2430"/>
                </a:solidFill>
                <a:latin typeface="Calibri"/>
              </a:rPr>
              <a:t>Many irrelevant / noisy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KNOW THE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K-means in a nutshell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It assumes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Clusters are roughly </a:t>
            </a:r>
            <a:r>
              <a:rPr sz="1600" b="1">
                <a:solidFill>
                  <a:srgbClr val="1B2430"/>
                </a:solidFill>
                <a:latin typeface="Calibri"/>
              </a:rPr>
              <a:t>spherical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Clusters have </a:t>
            </a:r>
            <a:r>
              <a:rPr sz="1600" b="1">
                <a:solidFill>
                  <a:srgbClr val="1B2430"/>
                </a:solidFill>
                <a:latin typeface="Calibri"/>
              </a:rPr>
              <a:t>similar size / variance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Euclidean</a:t>
            </a:r>
            <a:r>
              <a:rPr sz="1600" b="0">
                <a:solidFill>
                  <a:srgbClr val="1B2430"/>
                </a:solidFill>
                <a:latin typeface="Calibri"/>
              </a:rPr>
              <a:t> distance is meaningful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You have chosen a sensible </a:t>
            </a:r>
            <a:r>
              <a:rPr sz="1600" b="1">
                <a:solidFill>
                  <a:srgbClr val="1B2430"/>
                </a:solidFill>
                <a:latin typeface="Calibri"/>
              </a:rPr>
              <a:t>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If that fails, consider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GMM</a:t>
            </a:r>
            <a:r>
              <a:rPr sz="1600" b="0">
                <a:solidFill>
                  <a:srgbClr val="1B2430"/>
                </a:solidFill>
                <a:latin typeface="Calibri"/>
              </a:rPr>
              <a:t> — elliptical, soft clusters (L05)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Hierarchical</a:t>
            </a:r>
            <a:r>
              <a:rPr sz="1600" b="0">
                <a:solidFill>
                  <a:srgbClr val="1B2430"/>
                </a:solidFill>
                <a:latin typeface="Calibri"/>
              </a:rPr>
              <a:t> — no fixed shape (L06)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DBSCAN</a:t>
            </a:r>
            <a:r>
              <a:rPr sz="1600" b="0">
                <a:solidFill>
                  <a:srgbClr val="1B2430"/>
                </a:solidFill>
                <a:latin typeface="Calibri"/>
              </a:rPr>
              <a:t> — arbitrary shapes, noise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Always </a:t>
            </a:r>
            <a:r>
              <a:rPr sz="1600" b="1">
                <a:solidFill>
                  <a:srgbClr val="1B2430"/>
                </a:solidFill>
                <a:latin typeface="Calibri"/>
              </a:rPr>
              <a:t>standardise</a:t>
            </a:r>
            <a:r>
              <a:rPr sz="1600" b="0">
                <a:solidFill>
                  <a:srgbClr val="1B2430"/>
                </a:solidFill>
                <a:latin typeface="Calibri"/>
              </a:rPr>
              <a:t>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Interpreting your clusters — the payoff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Profile each cluster by its </a:t>
            </a:r>
            <a:r>
              <a:rPr sz="2000" b="1">
                <a:solidFill>
                  <a:srgbClr val="1B2430"/>
                </a:solidFill>
                <a:latin typeface="Calibri"/>
              </a:rPr>
              <a:t>centroid</a:t>
            </a:r>
            <a:r>
              <a:rPr sz="2000" b="0">
                <a:solidFill>
                  <a:srgbClr val="1B2430"/>
                </a:solidFill>
                <a:latin typeface="Calibri"/>
              </a:rPr>
              <a:t> across the original variables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Give each cluster a </a:t>
            </a:r>
            <a:r>
              <a:rPr sz="2000" b="1">
                <a:solidFill>
                  <a:srgbClr val="1B2430"/>
                </a:solidFill>
                <a:latin typeface="Calibri"/>
              </a:rPr>
              <a:t>name</a:t>
            </a:r>
            <a:r>
              <a:rPr sz="2000" b="0">
                <a:solidFill>
                  <a:srgbClr val="1B2430"/>
                </a:solidFill>
                <a:latin typeface="Calibri"/>
              </a:rPr>
              <a:t> ('high-fibre / low-sugar', 'Western pattern')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Check cluster </a:t>
            </a:r>
            <a:r>
              <a:rPr sz="2000" b="1">
                <a:solidFill>
                  <a:srgbClr val="1B2430"/>
                </a:solidFill>
                <a:latin typeface="Calibri"/>
              </a:rPr>
              <a:t>sizes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a tiny cluster may be outliers, not a real group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Relate clusters to </a:t>
            </a:r>
            <a:r>
              <a:rPr sz="2000" b="1">
                <a:solidFill>
                  <a:srgbClr val="1B2430"/>
                </a:solidFill>
                <a:latin typeface="Calibri"/>
              </a:rPr>
              <a:t>held-out</a:t>
            </a:r>
            <a:r>
              <a:rPr sz="2000" b="0">
                <a:solidFill>
                  <a:srgbClr val="1B2430"/>
                </a:solidFill>
                <a:latin typeface="Calibri"/>
              </a:rPr>
              <a:t> variables to check they're meaningful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This is exactly what you'll do in the project.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 complete k-means analysis in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4187952"/>
          </a:xfrm>
          <a:prstGeom prst="roundRect">
            <a:avLst/>
          </a:prstGeom>
          <a:solidFill>
            <a:srgbClr val="12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47088"/>
            <a:ext cx="10058400" cy="39136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library(tidyverse); library(cluster); library(factoextra)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X &lt;- scale(diet_numeric)                 # 1. standardise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fviz_nbclust(X, kmeans, method = 'wss')  # 2. elbow plot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fviz_nbclust(X, kmeans, method = 'silhouette')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set.seed(1)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km &lt;- kmeans(X, centers = 3, nstart = 25)   # 3. fit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fviz_cluster(km, data = X)                  # 4. visualise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7C938A"/>
                </a:solidFill>
                <a:latin typeface="Consolas"/>
              </a:rPr>
              <a:t># 5. profile &amp; name the clusters</a:t>
            </a:r>
          </a:p>
          <a:p>
            <a:pPr>
              <a:lnSpc>
                <a:spcPct val="115000"/>
              </a:lnSpc>
              <a:spcAft>
                <a:spcPts val="100"/>
              </a:spcAft>
            </a:pPr>
            <a:r>
              <a:rPr sz="1550">
                <a:solidFill>
                  <a:srgbClr val="E6EDF3"/>
                </a:solidFill>
                <a:latin typeface="Consolas"/>
              </a:rPr>
              <a:t>aggregate(diet_numeric, by = list(km$cluster), FUN = mean)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Run and diagnose k-means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Using the standardised nutrition data, fit k-means for k = 2,…,8 with nstart = 25 and record tot.withinss.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Plot within-SS vs k. Where is the elbow?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Compute the mean silhouette for each k. Do the two methods agree?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For your chosen k, profile the cluster means — can you give each cluster a nutrition </a:t>
            </a:r>
            <a:r>
              <a:rPr sz="1900" b="1">
                <a:solidFill>
                  <a:srgbClr val="1B2430"/>
                </a:solidFill>
                <a:latin typeface="Calibri"/>
              </a:rPr>
              <a:t>name</a:t>
            </a:r>
            <a:r>
              <a:rPr sz="1900" b="0">
                <a:solidFill>
                  <a:srgbClr val="1B2430"/>
                </a:solidFill>
                <a:latin typeface="Calibri"/>
              </a:rPr>
              <a:t>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Naming clusters from their centroid profiles is exactly the deliverable your project team will need.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mathematics, a little deeper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WHY THE MEAN?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centroid minimises squared distance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μₖ = argmin_c  Σ_{x∈Cₖ} ‖x − c‖²  =  mean(Cₖ)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For squared Euclidean distance, the best single summary point is the </a:t>
            </a:r>
            <a:r>
              <a:rPr sz="1800" b="1">
                <a:solidFill>
                  <a:srgbClr val="1B2430"/>
                </a:solidFill>
                <a:latin typeface="Calibri"/>
              </a:rPr>
              <a:t>mean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That's why the update step sets each centroid to its cluster's average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Use a different distance and the best 'centre' changes (e.g. medoid for k-medoids)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k-medoids (PAM)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1554480"/>
          </a:xfrm>
          <a:prstGeom prst="roundRect">
            <a:avLst/>
          </a:prstGeom>
          <a:solidFill>
            <a:srgbClr val="EEF3F9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91440" cy="155448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65960"/>
            <a:ext cx="98755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k-medoids</a:t>
            </a:r>
            <a:r>
              <a:rPr sz="2000" b="0">
                <a:solidFill>
                  <a:srgbClr val="1B2430"/>
                </a:solidFill>
                <a:latin typeface="Calibri"/>
              </a:rPr>
              <a:t> is like k-means but each cluster is represented by an actual data point (the medoid), not a mean.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More </a:t>
            </a:r>
            <a:r>
              <a:rPr sz="1800" b="1">
                <a:solidFill>
                  <a:srgbClr val="1B2430"/>
                </a:solidFill>
                <a:latin typeface="Calibri"/>
              </a:rPr>
              <a:t>robust to outliers</a:t>
            </a:r>
            <a:r>
              <a:rPr sz="1800" b="0">
                <a:solidFill>
                  <a:srgbClr val="1B2430"/>
                </a:solidFill>
                <a:latin typeface="Calibri"/>
              </a:rPr>
              <a:t> than k-means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Works with any distance, not just Euclidean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Slower; implemented as `pam()` in R's cluster package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WHY SQUARED DISTANCE?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Consequences of the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Squaring </a:t>
            </a:r>
            <a:r>
              <a:rPr sz="2000" b="1">
                <a:solidFill>
                  <a:srgbClr val="1B2430"/>
                </a:solidFill>
                <a:latin typeface="Calibri"/>
              </a:rPr>
              <a:t>penalises large deviations</a:t>
            </a:r>
            <a:r>
              <a:rPr sz="2000" b="0">
                <a:solidFill>
                  <a:srgbClr val="1B2430"/>
                </a:solidFill>
                <a:latin typeface="Calibri"/>
              </a:rPr>
              <a:t> heavily → sensitive to outliers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Makes the mean the optimal centre (nice math)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Biases toward </a:t>
            </a:r>
            <a:r>
              <a:rPr sz="2000" b="1">
                <a:solidFill>
                  <a:srgbClr val="1B2430"/>
                </a:solidFill>
                <a:latin typeface="Calibri"/>
              </a:rPr>
              <a:t>equal-size, spherical</a:t>
            </a:r>
            <a:r>
              <a:rPr sz="2000" b="0">
                <a:solidFill>
                  <a:srgbClr val="1B2430"/>
                </a:solidFill>
                <a:latin typeface="Calibri"/>
              </a:rPr>
              <a:t> clusters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If that's wrong for your data, choose another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Why does the k-means update step use the mean of each cluster?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2880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Tradition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658368"/>
          </a:xfrm>
          <a:prstGeom prst="roundRect">
            <a:avLst/>
          </a:prstGeom>
          <a:solidFill>
            <a:srgbClr val="E4F3EC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606040"/>
            <a:ext cx="566928" cy="65836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60604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1">
                <a:solidFill>
                  <a:srgbClr val="1B2430"/>
                </a:solidFill>
                <a:latin typeface="Calibri"/>
              </a:rPr>
              <a:t>The mean minimises within-cluster squared distance</a:t>
            </a:r>
            <a:r>
              <a:rPr sz="1650" b="1">
                <a:solidFill>
                  <a:srgbClr val="2A9D8F"/>
                </a:solidFill>
                <a:latin typeface="Calibri"/>
              </a:rPr>
              <a:t>  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8328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8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It's the fastest to compute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6052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16052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16052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6052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To avoid outliers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834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9834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0566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Why: Given squared Euclidean distance, the point minimising total squared distance to a set is exactly its mean — so the mean is the optimal centroid.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Choosing k, in depth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gap statistic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1554480"/>
          </a:xfrm>
          <a:prstGeom prst="roundRect">
            <a:avLst/>
          </a:prstGeom>
          <a:solidFill>
            <a:srgbClr val="EEF3F9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91440" cy="155448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65960"/>
            <a:ext cx="98755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</a:pPr>
            <a:r>
              <a:rPr sz="2000" b="0">
                <a:solidFill>
                  <a:srgbClr val="1B2430"/>
                </a:solidFill>
                <a:latin typeface="Calibri"/>
              </a:rPr>
              <a:t>The </a:t>
            </a:r>
            <a:r>
              <a:rPr sz="2000" b="1">
                <a:solidFill>
                  <a:srgbClr val="1B2430"/>
                </a:solidFill>
                <a:latin typeface="Calibri"/>
              </a:rPr>
              <a:t>gap statistic</a:t>
            </a:r>
            <a:r>
              <a:rPr sz="2000" b="0">
                <a:solidFill>
                  <a:srgbClr val="1B2430"/>
                </a:solidFill>
                <a:latin typeface="Calibri"/>
              </a:rPr>
              <a:t> compares your clustering's within-SS to the within-SS expected under a null model with no clusters.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Large gap = structure well beyond random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Chooses k where the gap is largest (with a standard-error rule)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`cluster::clusGap()` in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METHODS FOR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Four ways, compared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1148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Elbow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where WSS flattens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subjective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separation quality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clear peak, popular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Gap statistic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vs random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principled, slower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Domain sense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interpretable k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breaks ties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WHEN METHODS DISAGREE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 practical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Compute </a:t>
            </a:r>
            <a:r>
              <a:rPr sz="2000" b="1">
                <a:solidFill>
                  <a:srgbClr val="1B2430"/>
                </a:solidFill>
                <a:latin typeface="Calibri"/>
              </a:rPr>
              <a:t>all</a:t>
            </a:r>
            <a:r>
              <a:rPr sz="2000" b="0">
                <a:solidFill>
                  <a:srgbClr val="1B2430"/>
                </a:solidFill>
                <a:latin typeface="Calibri"/>
              </a:rPr>
              <a:t> the criteria — don't rely on one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Prefer a k that is </a:t>
            </a:r>
            <a:r>
              <a:rPr sz="2000" b="1">
                <a:solidFill>
                  <a:srgbClr val="1B2430"/>
                </a:solidFill>
                <a:latin typeface="Calibri"/>
              </a:rPr>
              <a:t>stable</a:t>
            </a:r>
            <a:r>
              <a:rPr sz="2000" b="0">
                <a:solidFill>
                  <a:srgbClr val="1B2430"/>
                </a:solidFill>
                <a:latin typeface="Calibri"/>
              </a:rPr>
              <a:t> across methods and resamples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Among near-ties, choose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most interpretable</a:t>
            </a:r>
            <a:r>
              <a:rPr sz="2000" b="0">
                <a:solidFill>
                  <a:srgbClr val="1B2430"/>
                </a:solidFill>
                <a:latin typeface="Calibri"/>
              </a:rPr>
              <a:t> k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Report *how* you chose — reproducibility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Adding more clusters ALWAYS reduces within-cluster SS. Why can't we just minimise WSS?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2880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WSS is hard to compute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658368"/>
          </a:xfrm>
          <a:prstGeom prst="roundRect">
            <a:avLst/>
          </a:prstGeom>
          <a:solidFill>
            <a:srgbClr val="E4F3EC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606040"/>
            <a:ext cx="566928" cy="65836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60604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1">
                <a:solidFill>
                  <a:srgbClr val="1B2430"/>
                </a:solidFill>
                <a:latin typeface="Calibri"/>
              </a:rPr>
              <a:t>It would pick k = n (one point per cluster)</a:t>
            </a:r>
            <a:r>
              <a:rPr sz="1650" b="1">
                <a:solidFill>
                  <a:srgbClr val="2A9D8F"/>
                </a:solidFill>
                <a:latin typeface="Calibri"/>
              </a:rPr>
              <a:t>  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8328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8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WSS ignores distance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6052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16052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16052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6052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It only works for k =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834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9834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0566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Why: WSS keeps falling as k grows, hitting zero at k = n. So we need criteria (elbow, silhouette, gap) that penalise complexity or reward separation.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Practice, pitfalls &amp; extensions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STRENGTHS &amp; WEAKNESSES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k-means in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1">
                <a:solidFill>
                  <a:srgbClr val="1B2430"/>
                </a:solidFill>
                <a:latin typeface="Calibri"/>
              </a:rPr>
              <a:t>Fast</a:t>
            </a:r>
            <a:r>
              <a:rPr sz="1600" b="0">
                <a:solidFill>
                  <a:srgbClr val="1B2430"/>
                </a:solidFill>
                <a:latin typeface="Calibri"/>
              </a:rPr>
              <a:t> and scales to big data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Simple to implement &amp; explain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Works well on round, separated blobs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Weaknesses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Must </a:t>
            </a:r>
            <a:r>
              <a:rPr sz="1600" b="1">
                <a:solidFill>
                  <a:srgbClr val="1B2430"/>
                </a:solidFill>
                <a:latin typeface="Calibri"/>
              </a:rPr>
              <a:t>pre-specify k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Assumes spherical, equal-size clusters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Sensitive to </a:t>
            </a:r>
            <a:r>
              <a:rPr sz="1600" b="1">
                <a:solidFill>
                  <a:srgbClr val="1B2430"/>
                </a:solidFill>
                <a:latin typeface="Calibri"/>
              </a:rPr>
              <a:t>scale, outliers, init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PREPROCESSING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Before you run k-means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</a:t>
            </a:r>
            <a:r>
              <a:rPr sz="2000" b="0">
                <a:solidFill>
                  <a:srgbClr val="1B2430"/>
                </a:solidFill>
                <a:latin typeface="Calibri"/>
              </a:rPr>
              <a:t> every variable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Handle </a:t>
            </a:r>
            <a:r>
              <a:rPr sz="2000" b="1">
                <a:solidFill>
                  <a:srgbClr val="1B2430"/>
                </a:solidFill>
                <a:latin typeface="Calibri"/>
              </a:rPr>
              <a:t>outliers</a:t>
            </a:r>
            <a:r>
              <a:rPr sz="2000" b="0">
                <a:solidFill>
                  <a:srgbClr val="1B2430"/>
                </a:solidFill>
                <a:latin typeface="Calibri"/>
              </a:rPr>
              <a:t> (they drag centroids)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Consider </a:t>
            </a:r>
            <a:r>
              <a:rPr sz="2000" b="1">
                <a:solidFill>
                  <a:srgbClr val="1B2430"/>
                </a:solidFill>
                <a:latin typeface="Calibri"/>
              </a:rPr>
              <a:t>PCA first</a:t>
            </a:r>
            <a:r>
              <a:rPr sz="2000" b="0">
                <a:solidFill>
                  <a:srgbClr val="1B2430"/>
                </a:solidFill>
                <a:latin typeface="Calibri"/>
              </a:rPr>
              <a:t> if there are many variables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Set a </a:t>
            </a:r>
            <a:r>
              <a:rPr sz="2000" b="1">
                <a:solidFill>
                  <a:srgbClr val="1B2430"/>
                </a:solidFill>
                <a:latin typeface="Calibri"/>
              </a:rPr>
              <a:t>seed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use `nstart ≥ 25`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The k-means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k-means++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smarter initialisation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Mini-batch k-means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scales to millions of points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k-medoids (PAM)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robust, any distance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Fuzzy c-means</a:t>
            </a:r>
            <a:r>
              <a:rPr sz="2000" b="0">
                <a:solidFill>
                  <a:srgbClr val="1B2430"/>
                </a:solidFill>
                <a:latin typeface="Calibri"/>
              </a:rPr>
              <a:t> — soft memberships (a bridge to GMM)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8D4E2"/>
                </a:solidFill>
                <a:latin typeface="Calibri"/>
              </a:rPr>
              <a:t>THE HONEST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424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k-means is the fast, popular first thing to try — and the method whose assumptions you must most actively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292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B9C6D6"/>
                </a:solidFill>
                <a:latin typeface="Calibri"/>
              </a:rPr>
              <a:t>When the blobs aren't round, reach for GMM or hierarchical clustering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Diagnose a failure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You run k-means (k = 2) on clearly crescent-shaped data and the clusters look wrong.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Explain, using k-means' assumptions, </a:t>
            </a:r>
            <a:r>
              <a:rPr sz="1900" b="1">
                <a:solidFill>
                  <a:srgbClr val="1B2430"/>
                </a:solidFill>
                <a:latin typeface="Calibri"/>
              </a:rPr>
              <a:t>why</a:t>
            </a:r>
            <a:r>
              <a:rPr sz="1900" b="0">
                <a:solidFill>
                  <a:srgbClr val="1B2430"/>
                </a:solidFill>
                <a:latin typeface="Calibri"/>
              </a:rPr>
              <a:t> it failed.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Which two alternative methods might succeed, and why?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What preprocessing, if any, would *not* have fixed this?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k-means draws linear (Voronoi) boundaries and assumes convex blobs; scaling won't fix a non-convex shape.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 go deeper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James et al., *An Introduction to Statistical Learning*, §12.4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Hastie et al., *The Elements of Statistical Learning*, §14.3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R: `cluster`, `factoextra` package vignettes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K-means by hand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 tiny 1-D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Points: 1, 2, 3, 10, 11, 12 — clearly two groups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We'll run k-means with k = 2 from a </a:t>
            </a:r>
            <a:r>
              <a:rPr sz="2000" b="1">
                <a:solidFill>
                  <a:srgbClr val="1B2430"/>
                </a:solidFill>
                <a:latin typeface="Calibri"/>
              </a:rPr>
              <a:t>bad</a:t>
            </a:r>
            <a:r>
              <a:rPr sz="2000" b="0">
                <a:solidFill>
                  <a:srgbClr val="1B2430"/>
                </a:solidFill>
                <a:latin typeface="Calibri"/>
              </a:rPr>
              <a:t> start to see it recover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Initial centroids: c₁ = 2, c₂ = 4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ITERATION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Assign, then update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19072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2430"/>
                </a:solidFill>
                <a:latin typeface="Calibri"/>
              </a:rPr>
              <a:t>Assign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08483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5B6A7D"/>
                </a:solidFill>
                <a:latin typeface="Calibri"/>
              </a:rPr>
              <a:t>1,2,3 → c₁ (nearer 2); 10,11,12 → c₂ (nearer 4)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61488"/>
            <a:ext cx="640080" cy="640080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148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43200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2430"/>
                </a:solidFill>
                <a:latin typeface="Calibri"/>
              </a:rPr>
              <a:t>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1089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5B6A7D"/>
                </a:solidFill>
                <a:latin typeface="Calibri"/>
              </a:rPr>
              <a:t>c₁ = mean(1,2,3) = 2; c₂ = mean(10,11,12) = 11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785616"/>
            <a:ext cx="640080" cy="640080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8561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767328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2430"/>
                </a:solidFill>
                <a:latin typeface="Calibri"/>
              </a:rPr>
              <a:t>Reassign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13308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5B6A7D"/>
                </a:solidFill>
                <a:latin typeface="Calibri"/>
              </a:rPr>
              <a:t>assignments unchanged → converged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809744"/>
            <a:ext cx="640080" cy="640080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80974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9145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B2430"/>
                </a:solidFill>
                <a:latin typeface="Calibri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15721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5B6A7D"/>
                </a:solidFill>
                <a:latin typeface="Calibri"/>
              </a:rPr>
              <a:t>clusters {1,2,3} and {10,11,12}, centroids 2 and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98932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98932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60624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Even from a poor c₂ = 4, one pass snaps to the right answer here.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TRACK THE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Within-cluster SS falls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1965960"/>
            <a:ext cx="9235440" cy="14173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90525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EAF2FB"/>
                </a:solidFill>
                <a:latin typeface="Cambria Math"/>
              </a:rPr>
              <a:t>WSS = Σ (x − μₖ)²  :  before ≫ after each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03320"/>
            <a:ext cx="9235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Start WSS is large (centroids misplaced)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Each assign/update step </a:t>
            </a:r>
            <a:r>
              <a:rPr sz="1800" b="1">
                <a:solidFill>
                  <a:srgbClr val="1B2430"/>
                </a:solidFill>
                <a:latin typeface="Calibri"/>
              </a:rPr>
              <a:t>cannot increase</a:t>
            </a:r>
            <a:r>
              <a:rPr sz="1800" b="0">
                <a:solidFill>
                  <a:srgbClr val="1B2430"/>
                </a:solidFill>
                <a:latin typeface="Calibri"/>
              </a:rPr>
              <a:t> WSS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• </a:t>
            </a:r>
            <a:r>
              <a:rPr sz="1800" b="0">
                <a:solidFill>
                  <a:srgbClr val="1B2430"/>
                </a:solidFill>
                <a:latin typeface="Calibri"/>
              </a:rPr>
              <a:t>Convergence = WSS stops changing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EDGE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 if a cluster goes empty?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 centroid can end up with </a:t>
            </a:r>
            <a:r>
              <a:rPr sz="2000" b="1">
                <a:solidFill>
                  <a:srgbClr val="1B2430"/>
                </a:solidFill>
                <a:latin typeface="Calibri"/>
              </a:rPr>
              <a:t>no points assigned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Implementations </a:t>
            </a:r>
            <a:r>
              <a:rPr sz="2000" b="1">
                <a:solidFill>
                  <a:srgbClr val="1B2430"/>
                </a:solidFill>
                <a:latin typeface="Calibri"/>
              </a:rPr>
              <a:t>re-seed</a:t>
            </a:r>
            <a:r>
              <a:rPr sz="2000" b="0">
                <a:solidFill>
                  <a:srgbClr val="1B2430"/>
                </a:solidFill>
                <a:latin typeface="Calibri"/>
              </a:rPr>
              <a:t> it (e.g. to the farthest point)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More restarts make this rare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Another reason `nstart` matters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In the worked example, what guaranteed k-means stopped after one full pass?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2880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It ran out of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658368"/>
          </a:xfrm>
          <a:prstGeom prst="roundRect">
            <a:avLst/>
          </a:prstGeom>
          <a:solidFill>
            <a:srgbClr val="E4F3EC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606040"/>
            <a:ext cx="566928" cy="65836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60604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1">
                <a:solidFill>
                  <a:srgbClr val="1B2430"/>
                </a:solidFill>
                <a:latin typeface="Calibri"/>
              </a:rPr>
              <a:t>The assignments didn't change between steps</a:t>
            </a:r>
            <a:r>
              <a:rPr sz="1650" b="1">
                <a:solidFill>
                  <a:srgbClr val="2A9D8F"/>
                </a:solidFill>
                <a:latin typeface="Calibri"/>
              </a:rPr>
              <a:t>  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8328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8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k was too small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6052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16052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16052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6052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The data was sorted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834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9834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0566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Why: k-means converges exactly when an iteration produces no change in assignments — the objective can't improve further.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6F9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BFD8E8"/>
                </a:solidFill>
                <a:latin typeface="Calibri"/>
              </a:rPr>
              <a:t>PART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Applications &amp; wrap-up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Colour quantisation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1554480"/>
          </a:xfrm>
          <a:prstGeom prst="roundRect">
            <a:avLst/>
          </a:prstGeom>
          <a:solidFill>
            <a:srgbClr val="EEF3F9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91440" cy="155448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65960"/>
            <a:ext cx="98755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Colour quantisation</a:t>
            </a:r>
            <a:r>
              <a:rPr sz="2000" b="0">
                <a:solidFill>
                  <a:srgbClr val="1B2430"/>
                </a:solidFill>
                <a:latin typeface="Calibri"/>
              </a:rPr>
              <a:t> compresses an image by clustering its pixels' colours with k-means and keeping only k representative colours.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Each pixel is a point in 3-D (R,G,B) space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k-means finds k 'average' colours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A vivid, everyday demonstration of clustering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39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WHERE K-MEANS SHOWS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Real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Customer / patient segmentation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Image compression</a:t>
            </a:r>
            <a:r>
              <a:rPr sz="2000" b="0">
                <a:solidFill>
                  <a:srgbClr val="1B2430"/>
                </a:solidFill>
                <a:latin typeface="Calibri"/>
              </a:rPr>
              <a:t> (colour quantisation)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Document / topic grouping</a:t>
            </a:r>
            <a:r>
              <a:rPr sz="2000" b="0">
                <a:solidFill>
                  <a:srgbClr val="1B2430"/>
                </a:solidFill>
                <a:latin typeface="Calibri"/>
              </a:rPr>
              <a:t> on embeddings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Vector quantisation</a:t>
            </a:r>
            <a:r>
              <a:rPr sz="2000" b="0">
                <a:solidFill>
                  <a:srgbClr val="1B2430"/>
                </a:solidFill>
                <a:latin typeface="Calibri"/>
              </a:rPr>
              <a:t> in signal 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K-MEANS VS GMM (PREVIEW)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A taste of next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2A6F97"/>
                </a:solidFill>
                <a:latin typeface="Calibri"/>
              </a:rPr>
              <a:t>k-means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Hard labels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Spherical, equal size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Fast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2A6F97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Distance-based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4983480" cy="42976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E64626"/>
                </a:solidFill>
                <a:latin typeface="Calibri"/>
              </a:rPr>
              <a:t>GMM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434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Soft probabilities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Elliptical, varying size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Slower (EM)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b="1" sz="1600">
                <a:solidFill>
                  <a:srgbClr val="E64626"/>
                </a:solidFill>
                <a:latin typeface="Calibri"/>
              </a:rPr>
              <a:t>• </a:t>
            </a:r>
            <a:r>
              <a:rPr sz="1600" b="0">
                <a:solidFill>
                  <a:srgbClr val="1B2430"/>
                </a:solidFill>
                <a:latin typeface="Calibri"/>
              </a:rPr>
              <a:t>Probability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EXAM POINTERS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What's commonly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State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objective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two steps</a:t>
            </a:r>
            <a:r>
              <a:rPr sz="2000" b="0">
                <a:solidFill>
                  <a:srgbClr val="1B2430"/>
                </a:solidFill>
                <a:latin typeface="Calibri"/>
              </a:rPr>
              <a:t> of the algorithm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Explain </a:t>
            </a:r>
            <a:r>
              <a:rPr sz="2000" b="1">
                <a:solidFill>
                  <a:srgbClr val="1B2430"/>
                </a:solidFill>
                <a:latin typeface="Calibri"/>
              </a:rPr>
              <a:t>local optima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the role of `nstart`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Choose k from an </a:t>
            </a:r>
            <a:r>
              <a:rPr sz="2000" b="1">
                <a:solidFill>
                  <a:srgbClr val="1B2430"/>
                </a:solidFill>
                <a:latin typeface="Calibri"/>
              </a:rPr>
              <a:t>elbow / silhouette</a:t>
            </a:r>
            <a:r>
              <a:rPr sz="2000" b="0">
                <a:solidFill>
                  <a:srgbClr val="1B2430"/>
                </a:solidFill>
                <a:latin typeface="Calibri"/>
              </a:rPr>
              <a:t> plot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Name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assumptions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a failure 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8D4E2"/>
                </a:solidFill>
                <a:latin typeface="Calibri"/>
              </a:rPr>
              <a:t>YOU CAN NOW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424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Standardise → choose k → run k-means with restarts → validate → name the clusters. That's a complete, defensible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292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B9C6D6"/>
                </a:solidFill>
                <a:latin typeface="Calibri"/>
              </a:rPr>
              <a:t>Next we make the clusters soft and probabilistic with Gaussian mixtures.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IN-CLASS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Consolidation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74519"/>
            <a:ext cx="9966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1.  </a:t>
            </a:r>
            <a:r>
              <a:rPr sz="1900" b="0">
                <a:solidFill>
                  <a:srgbClr val="1B2430"/>
                </a:solidFill>
                <a:latin typeface="Calibri"/>
              </a:rPr>
              <a:t>State the k-means objective in one line.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2.  </a:t>
            </a:r>
            <a:r>
              <a:rPr sz="1900" b="0">
                <a:solidFill>
                  <a:srgbClr val="1B2430"/>
                </a:solidFill>
                <a:latin typeface="Calibri"/>
              </a:rPr>
              <a:t>Explain why k-means can give different answers on different runs, and the fix.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3.  </a:t>
            </a:r>
            <a:r>
              <a:rPr sz="1900" b="0">
                <a:solidFill>
                  <a:srgbClr val="1B2430"/>
                </a:solidFill>
                <a:latin typeface="Calibri"/>
              </a:rPr>
              <a:t>Given an elbow at k = 3 but a silhouette peak at k = 4, how would you decide?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900">
                <a:solidFill>
                  <a:srgbClr val="E64626"/>
                </a:solidFill>
                <a:latin typeface="Calibri"/>
              </a:rPr>
              <a:t>4.  </a:t>
            </a:r>
            <a:r>
              <a:rPr sz="1900" b="0">
                <a:solidFill>
                  <a:srgbClr val="1B2430"/>
                </a:solidFill>
                <a:latin typeface="Calibri"/>
              </a:rPr>
              <a:t>Name one dataset shape where k-means fails and what you'd use instead.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FF6EE"/>
          </a:solidFill>
          <a:ln w="15240">
            <a:solidFill>
              <a:srgbClr val="B98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44068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98416"/>
                </a:solidFill>
                <a:latin typeface="Calibri"/>
              </a:rPr>
              <a:t>Hint.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Use interpretability and stability to break elbow-vs-silhouette ties; non-convex shapes → DBSCAN/spectral.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Inertia (within-cluster 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1554480"/>
          </a:xfrm>
          <a:prstGeom prst="roundRect">
            <a:avLst/>
          </a:prstGeom>
          <a:solidFill>
            <a:srgbClr val="EEF3F9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91440" cy="1554480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65960"/>
            <a:ext cx="98755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</a:pPr>
            <a:r>
              <a:rPr sz="2000" b="1">
                <a:solidFill>
                  <a:srgbClr val="1B2430"/>
                </a:solidFill>
                <a:latin typeface="Calibri"/>
              </a:rPr>
              <a:t>Inertia</a:t>
            </a:r>
            <a:r>
              <a:rPr sz="2000" b="0">
                <a:solidFill>
                  <a:srgbClr val="1B2430"/>
                </a:solidFill>
                <a:latin typeface="Calibri"/>
              </a:rPr>
              <a:t> is k-means' objective value — the total squared distance of points to their assigned centroids. Lower is tighter.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Reported as `tot.withinss` in R / `inertia_` in Python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Compare inertia only for the </a:t>
            </a:r>
            <a:r>
              <a:rPr sz="1800" b="1">
                <a:solidFill>
                  <a:srgbClr val="1B2430"/>
                </a:solidFill>
                <a:latin typeface="Calibri"/>
              </a:rPr>
              <a:t>same k</a:t>
            </a:r>
            <a:r>
              <a:rPr sz="1800" b="0">
                <a:solidFill>
                  <a:srgbClr val="1B2430"/>
                </a:solidFill>
                <a:latin typeface="Calibri"/>
              </a:rPr>
              <a:t> across restarts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b="1" sz="1800">
                <a:solidFill>
                  <a:srgbClr val="E64626"/>
                </a:solidFill>
                <a:latin typeface="Calibri"/>
              </a:rPr>
              <a:t>▸  </a:t>
            </a:r>
            <a:r>
              <a:rPr sz="1800" b="0">
                <a:solidFill>
                  <a:srgbClr val="1B2430"/>
                </a:solidFill>
                <a:latin typeface="Calibri"/>
              </a:rPr>
              <a:t>It always decreases as k increases — hence the elbow 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CHEAT-SHEET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k-means at a glance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772400"/>
              </a:tblGrid>
              <a:tr h="5029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anchor="ctr">
                    <a:solidFill>
                      <a:srgbClr val="2A6F9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minimise within-cluster SS (inertia)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Lloyd's: assign → update → repeat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Choose 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elbow, silhouette, gap statistic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Guard against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local optima (nstart), scale, outliers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Assumes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2430"/>
                          </a:solidFill>
                          <a:latin typeface="Calibri"/>
                        </a:rPr>
                        <a:t>round, comparable, convex clusters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`tot.withinss` for k = 4 is lower than for k = 3. Does that prove k = 4 is better?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2880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Yes, lower is always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10515600" cy="658368"/>
          </a:xfrm>
          <a:prstGeom prst="roundRect">
            <a:avLst/>
          </a:prstGeom>
          <a:solidFill>
            <a:srgbClr val="E4F3EC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606040"/>
            <a:ext cx="566928" cy="65836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60604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1">
                <a:solidFill>
                  <a:srgbClr val="1B2430"/>
                </a:solidFill>
                <a:latin typeface="Calibri"/>
              </a:rPr>
              <a:t>No — inertia always falls with k; use silhouette/elbow</a:t>
            </a:r>
            <a:r>
              <a:rPr sz="1650" b="1">
                <a:solidFill>
                  <a:srgbClr val="2A9D8F"/>
                </a:solidFill>
                <a:latin typeface="Calibri"/>
              </a:rPr>
              <a:t>   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8328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8328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8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Only if standardised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60520"/>
            <a:ext cx="105156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160520"/>
            <a:ext cx="566928" cy="658368"/>
          </a:xfrm>
          <a:prstGeom prst="roundRect">
            <a:avLst/>
          </a:prstGeom>
          <a:solidFill>
            <a:srgbClr val="C7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160520"/>
            <a:ext cx="56692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60520"/>
            <a:ext cx="950976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50" b="0">
                <a:solidFill>
                  <a:srgbClr val="1B2430"/>
                </a:solidFill>
                <a:latin typeface="Calibri"/>
              </a:rPr>
              <a:t>Yes, if nstart is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83480"/>
            <a:ext cx="10515600" cy="777240"/>
          </a:xfrm>
          <a:prstGeom prst="roundRect">
            <a:avLst/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983480"/>
            <a:ext cx="73152" cy="7772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05663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500" b="0">
                <a:solidFill>
                  <a:srgbClr val="1B2430"/>
                </a:solidFill>
                <a:latin typeface="Calibri"/>
              </a:rPr>
              <a:t>Why: Inertia decreases monotonically with k, so a lower value at higher k is expected and proves nothing — judge with the elbow/silhouette instead.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ONE-LINE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Carry this out the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1">
                <a:solidFill>
                  <a:srgbClr val="1B2430"/>
                </a:solidFill>
                <a:latin typeface="Calibri"/>
              </a:rPr>
              <a:t>Standardise, restart, choose k with care, validate,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To go deeper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James et al., *An Introduction to Statistical Learning*, §12.4.1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Hastie et al., *The Elements of Statistical Learning*, §14.3.6</a:t>
            </a:r>
          </a:p>
          <a:p>
            <a:pPr>
              <a:lnSpc>
                <a:spcPct val="110000"/>
              </a:lnSpc>
              <a:spcBef>
                <a:spcPts val="200"/>
              </a:spcBef>
              <a:spcAft>
                <a:spcPts val="1100"/>
              </a:spcAft>
            </a:pPr>
            <a:r>
              <a:rPr sz="2000" b="1">
                <a:solidFill>
                  <a:srgbClr val="E64626"/>
                </a:solidFill>
                <a:latin typeface="Calibri"/>
              </a:rPr>
              <a:t>▸  </a:t>
            </a:r>
            <a:r>
              <a:rPr sz="2000" b="0">
                <a:solidFill>
                  <a:srgbClr val="1B2430"/>
                </a:solidFill>
                <a:latin typeface="Calibri"/>
              </a:rPr>
              <a:t>R: `stats::kmeans`, `cluster::pam`, `factoextra` vignettes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49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64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E64626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libri"/>
              </a:rP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K-means minimises </a:t>
            </a:r>
            <a:r>
              <a:rPr sz="2000" b="1">
                <a:solidFill>
                  <a:srgbClr val="1B2430"/>
                </a:solidFill>
                <a:latin typeface="Calibri"/>
              </a:rPr>
              <a:t>within-cluster sum of squares</a:t>
            </a:r>
            <a:r>
              <a:rPr sz="2000" b="0">
                <a:solidFill>
                  <a:srgbClr val="1B2430"/>
                </a:solidFill>
                <a:latin typeface="Calibri"/>
              </a:rPr>
              <a:t> via assign–update iterations.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It converges to a </a:t>
            </a:r>
            <a:r>
              <a:rPr sz="2000" b="1">
                <a:solidFill>
                  <a:srgbClr val="1B2430"/>
                </a:solidFill>
                <a:latin typeface="Calibri"/>
              </a:rPr>
              <a:t>local</a:t>
            </a:r>
            <a:r>
              <a:rPr sz="2000" b="0">
                <a:solidFill>
                  <a:srgbClr val="1B2430"/>
                </a:solidFill>
                <a:latin typeface="Calibri"/>
              </a:rPr>
              <a:t> optimum — always use many </a:t>
            </a:r>
            <a:r>
              <a:rPr sz="2000" b="1">
                <a:solidFill>
                  <a:srgbClr val="1B2430"/>
                </a:solidFill>
                <a:latin typeface="Calibri"/>
              </a:rPr>
              <a:t>restarts</a:t>
            </a:r>
            <a:r>
              <a:rPr sz="2000" b="0">
                <a:solidFill>
                  <a:srgbClr val="1B2430"/>
                </a:solidFill>
                <a:latin typeface="Calibri"/>
              </a:rPr>
              <a:t> / k-means++.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Choose k with the </a:t>
            </a:r>
            <a:r>
              <a:rPr sz="2000" b="1">
                <a:solidFill>
                  <a:srgbClr val="1B2430"/>
                </a:solidFill>
                <a:latin typeface="Calibri"/>
              </a:rPr>
              <a:t>elbow</a:t>
            </a:r>
            <a:r>
              <a:rPr sz="2000" b="0">
                <a:solidFill>
                  <a:srgbClr val="1B2430"/>
                </a:solidFill>
                <a:latin typeface="Calibri"/>
              </a:rPr>
              <a:t> and </a:t>
            </a:r>
            <a:r>
              <a:rPr sz="2000" b="1">
                <a:solidFill>
                  <a:srgbClr val="1B2430"/>
                </a:solidFill>
                <a:latin typeface="Calibri"/>
              </a:rPr>
              <a:t>silhouette</a:t>
            </a:r>
            <a:r>
              <a:rPr sz="2000" b="0">
                <a:solidFill>
                  <a:srgbClr val="1B2430"/>
                </a:solidFill>
                <a:latin typeface="Calibri"/>
              </a:rPr>
              <a:t>; let interpretability break ties.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b="1" sz="2100">
                <a:solidFill>
                  <a:srgbClr val="2A9D8F"/>
                </a:solidFill>
                <a:latin typeface="Calibri"/>
              </a:rPr>
              <a:t>✓  </a:t>
            </a:r>
            <a:r>
              <a:rPr sz="2000" b="0">
                <a:solidFill>
                  <a:srgbClr val="1B2430"/>
                </a:solidFill>
                <a:latin typeface="Calibri"/>
              </a:rPr>
              <a:t>It assumes </a:t>
            </a:r>
            <a:r>
              <a:rPr sz="2000" b="1">
                <a:solidFill>
                  <a:srgbClr val="1B2430"/>
                </a:solidFill>
                <a:latin typeface="Calibri"/>
              </a:rPr>
              <a:t>round, comparable</a:t>
            </a:r>
            <a:r>
              <a:rPr sz="2000" b="0">
                <a:solidFill>
                  <a:srgbClr val="1B2430"/>
                </a:solidFill>
                <a:latin typeface="Calibri"/>
              </a:rPr>
              <a:t> clusters — standardise, and switch methods when that fails.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15600" cy="777240"/>
          </a:xfrm>
          <a:prstGeom prst="round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64626"/>
                </a:solidFill>
                <a:latin typeface="Calibri"/>
              </a:rPr>
              <a:t>Next lecture →  </a:t>
            </a:r>
            <a:r>
              <a:rPr sz="1600" b="0" i="0">
                <a:solidFill>
                  <a:srgbClr val="1B2430"/>
                </a:solidFill>
                <a:latin typeface="Calibri"/>
              </a:rPr>
              <a:t>Lecture 05 — Model-based clustering: soft assignments with Gaussian mixtures.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419088"/>
            <a:ext cx="10607040" cy="12700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STAT3888 · Statistical 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7395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B6A7D"/>
                </a:solidFill>
                <a:latin typeface="Calibri"/>
              </a:rPr>
              <a:t>L04 ·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