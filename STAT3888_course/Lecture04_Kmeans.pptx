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2194560" cy="457200"/>
          </a:xfrm>
          <a:prstGeom prst="round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424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LECTURE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K-means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8D4E2"/>
                </a:solidFill>
                <a:latin typeface="Calibri"/>
              </a:rPr>
              <a:t>The workhorse partitioning algorithm: its objective, Lloyd's algorithm, choosing the number of clusters, and the assumptions that make it succeed — or fail.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06440"/>
            <a:ext cx="10515600" cy="15240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ADBD"/>
                </a:solidFill>
                <a:latin typeface="Calibri"/>
              </a:rPr>
              <a:t>School of Mathematics &amp; Statistics · The University of Sydney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Today's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k-means objective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Lloyd's algorithm and why it converges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Local optima and random restarts / k-means++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Choosing k: elbow, silhouette, gap statistic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Assumptions, failure modes and alternatives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Running and interpreting k-means in 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Where we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Last lecture: clustering finds </a:t>
            </a:r>
            <a:r>
              <a:rPr sz="2000" b="1">
                <a:solidFill>
                  <a:srgbClr val="1B2430"/>
                </a:solidFill>
                <a:latin typeface="Calibri"/>
              </a:rPr>
              <a:t>groups without labels</a:t>
            </a:r>
            <a:r>
              <a:rPr sz="2000" b="0">
                <a:solidFill>
                  <a:srgbClr val="1B2430"/>
                </a:solidFill>
                <a:latin typeface="Calibri"/>
              </a:rPr>
              <a:t> using a </a:t>
            </a:r>
            <a:r>
              <a:rPr sz="2000" b="1">
                <a:solidFill>
                  <a:srgbClr val="1B2430"/>
                </a:solidFill>
                <a:latin typeface="Calibri"/>
              </a:rPr>
              <a:t>distance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Good clusterings minimise </a:t>
            </a:r>
            <a:r>
              <a:rPr sz="2000" b="1">
                <a:solidFill>
                  <a:srgbClr val="1B2430"/>
                </a:solidFill>
                <a:latin typeface="Calibri"/>
              </a:rPr>
              <a:t>within-cluster</a:t>
            </a:r>
            <a:r>
              <a:rPr sz="2000" b="0">
                <a:solidFill>
                  <a:srgbClr val="1B2430"/>
                </a:solidFill>
                <a:latin typeface="Calibri"/>
              </a:rPr>
              <a:t> variation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k-means is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partitioning</a:t>
            </a:r>
            <a:r>
              <a:rPr sz="2000" b="0">
                <a:solidFill>
                  <a:srgbClr val="1B2430"/>
                </a:solidFill>
                <a:latin typeface="Calibri"/>
              </a:rPr>
              <a:t> method that does exactly this with Euclidean distance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objective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Minimise within-cluster sum of squares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min  Σₖ Σₓ∈Cₖ  ‖ x − μₖ ‖²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Partition n points into k clusters C₁,…,Cₖ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Each cluster is summarised by its </a:t>
            </a:r>
            <a:r>
              <a:rPr sz="1800" b="1">
                <a:solidFill>
                  <a:srgbClr val="1B2430"/>
                </a:solidFill>
                <a:latin typeface="Calibri"/>
              </a:rPr>
              <a:t>centroid</a:t>
            </a:r>
            <a:r>
              <a:rPr sz="1800" b="0">
                <a:solidFill>
                  <a:srgbClr val="1B2430"/>
                </a:solidFill>
                <a:latin typeface="Calibri"/>
              </a:rPr>
              <a:t> μₖ (the mean)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We want every point </a:t>
            </a:r>
            <a:r>
              <a:rPr sz="1800" b="1">
                <a:solidFill>
                  <a:srgbClr val="1B2430"/>
                </a:solidFill>
                <a:latin typeface="Calibri"/>
              </a:rPr>
              <a:t>close to its own centroid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486400"/>
            <a:ext cx="923544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48640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559552"/>
            <a:ext cx="8778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Searching all possible partitions is </a:t>
            </a:r>
            <a:r>
              <a:rPr sz="1500" b="1">
                <a:solidFill>
                  <a:srgbClr val="1B2430"/>
                </a:solidFill>
                <a:latin typeface="Calibri"/>
              </a:rPr>
              <a:t>NP-hard</a:t>
            </a:r>
            <a:r>
              <a:rPr sz="1500" b="0">
                <a:solidFill>
                  <a:srgbClr val="1B2430"/>
                </a:solidFill>
                <a:latin typeface="Calibri"/>
              </a:rPr>
              <a:t> — so we use a fast, greedy approximation: Lloyd's algorithm.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K-means carves space into Voronoi cells</a:t>
            </a:r>
          </a:p>
        </p:txBody>
      </p:sp>
      <p:pic>
        <p:nvPicPr>
          <p:cNvPr id="6" name="Picture 5" descr="L04_voron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5976573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A7D"/>
                </a:solidFill>
                <a:latin typeface="Calibri"/>
              </a:rPr>
              <a:t>Each point is assigned to the nearest centroid, so cluster boundaries are straight lines (Voronoi cells). This is a strong geometric assumption.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429000" cy="4343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1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A6F97"/>
                </a:solidFill>
                <a:latin typeface="Calibri"/>
              </a:rPr>
              <a:t>Consequences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1" y="24231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Boundaries are </a:t>
            </a:r>
            <a:r>
              <a:rPr sz="1500" b="1">
                <a:solidFill>
                  <a:srgbClr val="1B2430"/>
                </a:solidFill>
                <a:latin typeface="Calibri"/>
              </a:rPr>
              <a:t>linear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Clusters are implicitly </a:t>
            </a:r>
            <a:r>
              <a:rPr sz="1500" b="1">
                <a:solidFill>
                  <a:srgbClr val="1B2430"/>
                </a:solidFill>
                <a:latin typeface="Calibri"/>
              </a:rPr>
              <a:t>convex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Works best for </a:t>
            </a:r>
            <a:r>
              <a:rPr sz="1500" b="1">
                <a:solidFill>
                  <a:srgbClr val="1B2430"/>
                </a:solidFill>
                <a:latin typeface="Calibri"/>
              </a:rPr>
              <a:t>round, similar-size</a:t>
            </a:r>
            <a:r>
              <a:rPr sz="1500" b="0">
                <a:solidFill>
                  <a:srgbClr val="1B2430"/>
                </a:solidFill>
                <a:latin typeface="Calibri"/>
              </a:rPr>
              <a:t> blobs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We'll see where this breaks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algorithm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Lloyd's algorithm: assign → update → repeat</a:t>
            </a:r>
          </a:p>
        </p:txBody>
      </p:sp>
      <p:pic>
        <p:nvPicPr>
          <p:cNvPr id="6" name="Picture 5" descr="L04_it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122827"/>
            <a:ext cx="9144000" cy="3252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Assign each point to the nearest centroid, then move each centroid to its points' mean; repeat. Here a poor start converged to a sub-optimal split — motivating restarts.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Lloyd's algorithm, step by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Input</a:t>
            </a:r>
            <a:r>
              <a:rPr sz="2000" b="0">
                <a:solidFill>
                  <a:srgbClr val="1B2430"/>
                </a:solidFill>
                <a:latin typeface="Calibri"/>
              </a:rPr>
              <a:t>: data X, number of clusters k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Initialise</a:t>
            </a:r>
            <a:r>
              <a:rPr sz="2000" b="0">
                <a:solidFill>
                  <a:srgbClr val="1B2430"/>
                </a:solidFill>
                <a:latin typeface="Calibri"/>
              </a:rPr>
              <a:t> k centroids (randomly, or with k-means++)</a:t>
            </a:r>
          </a:p>
          <a:p>
            <a:pPr lvl="1">
              <a:lnSpc>
                <a:spcPct val="110000"/>
              </a:lnSpc>
              <a:spcBef>
                <a:spcPts val="200"/>
              </a:spcBef>
              <a:spcAft>
                <a:spcPts val="500"/>
              </a:spcAft>
            </a:pPr>
            <a:r>
              <a:rPr sz="1600" b="1">
                <a:solidFill>
                  <a:srgbClr val="5B6A7D"/>
                </a:solidFill>
                <a:latin typeface="Calibri"/>
              </a:rPr>
              <a:t>–  </a:t>
            </a:r>
            <a:r>
              <a:rPr sz="1650" b="1">
                <a:solidFill>
                  <a:srgbClr val="1B2430"/>
                </a:solidFill>
                <a:latin typeface="Calibri"/>
              </a:rPr>
              <a:t>Assign</a:t>
            </a:r>
            <a:r>
              <a:rPr sz="1650" b="0">
                <a:solidFill>
                  <a:srgbClr val="1B2430"/>
                </a:solidFill>
                <a:latin typeface="Calibri"/>
              </a:rPr>
              <a:t> each point to its nearest centroid</a:t>
            </a:r>
          </a:p>
          <a:p>
            <a:pPr lvl="1">
              <a:lnSpc>
                <a:spcPct val="110000"/>
              </a:lnSpc>
              <a:spcBef>
                <a:spcPts val="200"/>
              </a:spcBef>
              <a:spcAft>
                <a:spcPts val="500"/>
              </a:spcAft>
            </a:pPr>
            <a:r>
              <a:rPr sz="1600" b="1">
                <a:solidFill>
                  <a:srgbClr val="5B6A7D"/>
                </a:solidFill>
                <a:latin typeface="Calibri"/>
              </a:rPr>
              <a:t>–  </a:t>
            </a:r>
            <a:r>
              <a:rPr sz="1650" b="1">
                <a:solidFill>
                  <a:srgbClr val="1B2430"/>
                </a:solidFill>
                <a:latin typeface="Calibri"/>
              </a:rPr>
              <a:t>Update</a:t>
            </a:r>
            <a:r>
              <a:rPr sz="1650" b="0">
                <a:solidFill>
                  <a:srgbClr val="1B2430"/>
                </a:solidFill>
                <a:latin typeface="Calibri"/>
              </a:rPr>
              <a:t> each centroid to the mean of its assigned points</a:t>
            </a:r>
          </a:p>
          <a:p>
            <a:pPr lvl="1">
              <a:lnSpc>
                <a:spcPct val="110000"/>
              </a:lnSpc>
              <a:spcBef>
                <a:spcPts val="200"/>
              </a:spcBef>
              <a:spcAft>
                <a:spcPts val="500"/>
              </a:spcAft>
            </a:pPr>
            <a:r>
              <a:rPr sz="1600" b="1">
                <a:solidFill>
                  <a:srgbClr val="5B6A7D"/>
                </a:solidFill>
                <a:latin typeface="Calibri"/>
              </a:rPr>
              <a:t>–  </a:t>
            </a:r>
            <a:r>
              <a:rPr sz="1650" b="1">
                <a:solidFill>
                  <a:srgbClr val="1B2430"/>
                </a:solidFill>
                <a:latin typeface="Calibri"/>
              </a:rPr>
              <a:t>Repeat</a:t>
            </a:r>
            <a:r>
              <a:rPr sz="1650" b="0">
                <a:solidFill>
                  <a:srgbClr val="1B2430"/>
                </a:solidFill>
                <a:latin typeface="Calibri"/>
              </a:rPr>
              <a:t> assign–update until assignments stop changing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Output</a:t>
            </a:r>
            <a:r>
              <a:rPr sz="2000" b="0">
                <a:solidFill>
                  <a:srgbClr val="1B2430"/>
                </a:solidFill>
                <a:latin typeface="Calibri"/>
              </a:rPr>
              <a:t>: cluster labels and final centroids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it always converges (but not always to the best answer)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Each </a:t>
            </a:r>
            <a:r>
              <a:rPr sz="2000" b="1">
                <a:solidFill>
                  <a:srgbClr val="1B2430"/>
                </a:solidFill>
                <a:latin typeface="Calibri"/>
              </a:rPr>
              <a:t>assign</a:t>
            </a:r>
            <a:r>
              <a:rPr sz="2000" b="0">
                <a:solidFill>
                  <a:srgbClr val="1B2430"/>
                </a:solidFill>
                <a:latin typeface="Calibri"/>
              </a:rPr>
              <a:t> step can only </a:t>
            </a:r>
            <a:r>
              <a:rPr sz="2000" b="1">
                <a:solidFill>
                  <a:srgbClr val="1B2430"/>
                </a:solidFill>
                <a:latin typeface="Calibri"/>
              </a:rPr>
              <a:t>decrease</a:t>
            </a:r>
            <a:r>
              <a:rPr sz="2000" b="0">
                <a:solidFill>
                  <a:srgbClr val="1B2430"/>
                </a:solidFill>
                <a:latin typeface="Calibri"/>
              </a:rPr>
              <a:t> the within-SS (points move to nearer centroids)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Each </a:t>
            </a:r>
            <a:r>
              <a:rPr sz="2000" b="1">
                <a:solidFill>
                  <a:srgbClr val="1B2430"/>
                </a:solidFill>
                <a:latin typeface="Calibri"/>
              </a:rPr>
              <a:t>update</a:t>
            </a:r>
            <a:r>
              <a:rPr sz="2000" b="0">
                <a:solidFill>
                  <a:srgbClr val="1B2430"/>
                </a:solidFill>
                <a:latin typeface="Calibri"/>
              </a:rPr>
              <a:t> step can only </a:t>
            </a:r>
            <a:r>
              <a:rPr sz="2000" b="1">
                <a:solidFill>
                  <a:srgbClr val="1B2430"/>
                </a:solidFill>
                <a:latin typeface="Calibri"/>
              </a:rPr>
              <a:t>decrease</a:t>
            </a:r>
            <a:r>
              <a:rPr sz="2000" b="0">
                <a:solidFill>
                  <a:srgbClr val="1B2430"/>
                </a:solidFill>
                <a:latin typeface="Calibri"/>
              </a:rPr>
              <a:t> it (the mean minimises squared distance)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objective is </a:t>
            </a:r>
            <a:r>
              <a:rPr sz="2000" b="1">
                <a:solidFill>
                  <a:srgbClr val="1B2430"/>
                </a:solidFill>
                <a:latin typeface="Calibri"/>
              </a:rPr>
              <a:t>bounded below by 0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keeps decreasing → it </a:t>
            </a:r>
            <a:r>
              <a:rPr sz="2000" b="1">
                <a:solidFill>
                  <a:srgbClr val="1B2430"/>
                </a:solidFill>
                <a:latin typeface="Calibri"/>
              </a:rPr>
              <a:t>converges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But possibly to a </a:t>
            </a:r>
            <a:r>
              <a:rPr sz="2000" b="1">
                <a:solidFill>
                  <a:srgbClr val="1B2430"/>
                </a:solidFill>
                <a:latin typeface="Calibri"/>
              </a:rPr>
              <a:t>local</a:t>
            </a:r>
            <a:r>
              <a:rPr sz="2000" b="0">
                <a:solidFill>
                  <a:srgbClr val="1B2430"/>
                </a:solidFill>
                <a:latin typeface="Calibri"/>
              </a:rPr>
              <a:t> minimum depending on the starting centroids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How expensive is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Per iteration: </a:t>
            </a:r>
            <a:r>
              <a:rPr sz="2000" b="1">
                <a:solidFill>
                  <a:srgbClr val="1B2430"/>
                </a:solidFill>
                <a:latin typeface="Calibri"/>
              </a:rPr>
              <a:t>O(n · k · p)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n points, k clusters, p features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Usually converges in a </a:t>
            </a:r>
            <a:r>
              <a:rPr sz="2000" b="1">
                <a:solidFill>
                  <a:srgbClr val="1B2430"/>
                </a:solidFill>
                <a:latin typeface="Calibri"/>
              </a:rPr>
              <a:t>handful</a:t>
            </a:r>
            <a:r>
              <a:rPr sz="2000" b="0">
                <a:solidFill>
                  <a:srgbClr val="1B2430"/>
                </a:solidFill>
                <a:latin typeface="Calibri"/>
              </a:rPr>
              <a:t> of iterations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Scales well</a:t>
            </a:r>
            <a:r>
              <a:rPr sz="2000" b="0">
                <a:solidFill>
                  <a:srgbClr val="1B2430"/>
                </a:solidFill>
                <a:latin typeface="Calibri"/>
              </a:rPr>
              <a:t> to large data — a big reason for its popularity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Local optima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INITIALISATION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Random vs k-means++ starts</a:t>
            </a:r>
          </a:p>
        </p:txBody>
      </p:sp>
      <p:pic>
        <p:nvPicPr>
          <p:cNvPr id="6" name="Picture 5" descr="L04_kmeans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02271"/>
            <a:ext cx="6858000" cy="29849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A7D"/>
                </a:solidFill>
                <a:latin typeface="Calibri"/>
              </a:rPr>
              <a:t>Random initialisation can place centroids close together (left), risking a poor local optimum. k-means++ spreads initial centroids apart (right).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429000" cy="4343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1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A6F97"/>
                </a:solidFill>
                <a:latin typeface="Calibri"/>
              </a:rPr>
              <a:t>The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1" y="24231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Run from </a:t>
            </a:r>
            <a:r>
              <a:rPr sz="1500" b="1">
                <a:solidFill>
                  <a:srgbClr val="1B2430"/>
                </a:solidFill>
                <a:latin typeface="Calibri"/>
              </a:rPr>
              <a:t>many random starts</a:t>
            </a:r>
            <a:r>
              <a:rPr sz="1500" b="0">
                <a:solidFill>
                  <a:srgbClr val="1B2430"/>
                </a:solidFill>
                <a:latin typeface="Calibri"/>
              </a:rPr>
              <a:t>, keep the best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'Best' = </a:t>
            </a:r>
            <a:r>
              <a:rPr sz="1500" b="1">
                <a:solidFill>
                  <a:srgbClr val="1B2430"/>
                </a:solidFill>
                <a:latin typeface="Calibri"/>
              </a:rPr>
              <a:t>lowest</a:t>
            </a:r>
            <a:r>
              <a:rPr sz="1500" b="0">
                <a:solidFill>
                  <a:srgbClr val="1B2430"/>
                </a:solidFill>
                <a:latin typeface="Calibri"/>
              </a:rPr>
              <a:t> total within-SS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1">
                <a:solidFill>
                  <a:srgbClr val="1B2430"/>
                </a:solidFill>
                <a:latin typeface="Calibri"/>
              </a:rPr>
              <a:t>k-means++</a:t>
            </a:r>
            <a:r>
              <a:rPr sz="1500" b="0">
                <a:solidFill>
                  <a:srgbClr val="1B2430"/>
                </a:solidFill>
                <a:latin typeface="Calibri"/>
              </a:rPr>
              <a:t> chooses spread-out starts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In R: set `nstart = 25` or more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RESTARTS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Always use multiple restarts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2633472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359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set.seed(1)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km &lt;- kmeans(X, centers = 3, nstart = 25)   # 25 random restarts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km$tot.withinss    # objective value (lower is better)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km$cluster         # cluster label for each observation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km$centers         # cluster centroids (in scaled units)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km$size            # number of points per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708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B6A7D"/>
                </a:solidFill>
                <a:latin typeface="Calibri"/>
              </a:rPr>
              <a:t>Without nstart, a single unlucky start can give a badly sub-optimal clustering.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Choosing the number of clusters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Elbow and silhouette methods</a:t>
            </a:r>
          </a:p>
        </p:txBody>
      </p:sp>
      <p:pic>
        <p:nvPicPr>
          <p:cNvPr id="6" name="Picture 5" descr="L04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58363"/>
            <a:ext cx="9144000" cy="37813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Left: within-SS always falls with k — look for the 'elbow' where gains flatten. Right: the silhouette rewards well-separated clusters and often peaks more clearly.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SILHOUETTE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Measuring how well each point is clustered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s(i) = ( bᵢ − aᵢ ) / max(aᵢ, bᵢ)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aᵢ</a:t>
            </a:r>
            <a:r>
              <a:rPr sz="1800" b="0">
                <a:solidFill>
                  <a:srgbClr val="1B2430"/>
                </a:solidFill>
                <a:latin typeface="Calibri"/>
              </a:rPr>
              <a:t> = mean distance from i to points in </a:t>
            </a:r>
            <a:r>
              <a:rPr sz="1800" b="1">
                <a:solidFill>
                  <a:srgbClr val="1B2430"/>
                </a:solidFill>
                <a:latin typeface="Calibri"/>
              </a:rPr>
              <a:t>its own</a:t>
            </a:r>
            <a:r>
              <a:rPr sz="1800" b="0">
                <a:solidFill>
                  <a:srgbClr val="1B2430"/>
                </a:solidFill>
                <a:latin typeface="Calibri"/>
              </a:rPr>
              <a:t> cluster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bᵢ</a:t>
            </a:r>
            <a:r>
              <a:rPr sz="1800" b="0">
                <a:solidFill>
                  <a:srgbClr val="1B2430"/>
                </a:solidFill>
                <a:latin typeface="Calibri"/>
              </a:rPr>
              <a:t> = mean distance from i to points in the </a:t>
            </a:r>
            <a:r>
              <a:rPr sz="1800" b="1">
                <a:solidFill>
                  <a:srgbClr val="1B2430"/>
                </a:solidFill>
                <a:latin typeface="Calibri"/>
              </a:rPr>
              <a:t>nearest other</a:t>
            </a:r>
            <a:r>
              <a:rPr sz="1800" b="0">
                <a:solidFill>
                  <a:srgbClr val="1B2430"/>
                </a:solidFill>
                <a:latin typeface="Calibri"/>
              </a:rPr>
              <a:t> cluster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s ≈ +1</a:t>
            </a:r>
            <a:r>
              <a:rPr sz="1800" b="0">
                <a:solidFill>
                  <a:srgbClr val="1B2430"/>
                </a:solidFill>
                <a:latin typeface="Calibri"/>
              </a:rPr>
              <a:t>: well clustered · </a:t>
            </a:r>
            <a:r>
              <a:rPr sz="1800" b="1">
                <a:solidFill>
                  <a:srgbClr val="1B2430"/>
                </a:solidFill>
                <a:latin typeface="Calibri"/>
              </a:rPr>
              <a:t>s ≈ 0</a:t>
            </a:r>
            <a:r>
              <a:rPr sz="1800" b="0">
                <a:solidFill>
                  <a:srgbClr val="1B2430"/>
                </a:solidFill>
                <a:latin typeface="Calibri"/>
              </a:rPr>
              <a:t>: on a boundary · </a:t>
            </a:r>
            <a:r>
              <a:rPr sz="1800" b="1">
                <a:solidFill>
                  <a:srgbClr val="1B2430"/>
                </a:solidFill>
                <a:latin typeface="Calibri"/>
              </a:rPr>
              <a:t>s &lt; 0</a:t>
            </a:r>
            <a:r>
              <a:rPr sz="1800" b="0">
                <a:solidFill>
                  <a:srgbClr val="1B2430"/>
                </a:solidFill>
                <a:latin typeface="Calibri"/>
              </a:rPr>
              <a:t>: likely misassigned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486400"/>
            <a:ext cx="923544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48640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559552"/>
            <a:ext cx="8778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Average s over all points to score a whole clustering; pick the k with the </a:t>
            </a:r>
            <a:r>
              <a:rPr sz="1500" b="1">
                <a:solidFill>
                  <a:srgbClr val="1B2430"/>
                </a:solidFill>
                <a:latin typeface="Calibri"/>
              </a:rPr>
              <a:t>highest</a:t>
            </a:r>
            <a:r>
              <a:rPr sz="1500" b="0">
                <a:solidFill>
                  <a:srgbClr val="1B2430"/>
                </a:solidFill>
                <a:latin typeface="Calibri"/>
              </a:rPr>
              <a:t> average silhouette.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MORE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Other ways to choose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Gap statistic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compares within-SS to that expected under no clustering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Information criteria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natural in the model-based approach (BIC, Lecture 5)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Stability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choose k giving reproducible clusters under resampling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Interpretability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 k your Nutrition partners can </a:t>
            </a:r>
            <a:r>
              <a:rPr sz="2000" b="1">
                <a:solidFill>
                  <a:srgbClr val="1B2430"/>
                </a:solidFill>
                <a:latin typeface="Calibri"/>
              </a:rPr>
              <a:t>name</a:t>
            </a:r>
            <a:r>
              <a:rPr sz="2000" b="0">
                <a:solidFill>
                  <a:srgbClr val="1B2430"/>
                </a:solidFill>
                <a:latin typeface="Calibri"/>
              </a:rPr>
              <a:t> often wins 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Assumptions &amp; limits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FAILURE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K-means assumes round blobs</a:t>
            </a:r>
          </a:p>
        </p:txBody>
      </p:sp>
      <p:pic>
        <p:nvPicPr>
          <p:cNvPr id="6" name="Picture 5" descr="L04_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6656867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A7D"/>
                </a:solidFill>
                <a:latin typeface="Calibri"/>
              </a:rPr>
              <a:t>On two interleaving 'moons', k-means carves a straight boundary and splits them the wrong way. Its convex, equal-variance assumptions simply don't hold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429000" cy="4343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1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A6F97"/>
                </a:solidFill>
                <a:latin typeface="Calibri"/>
              </a:rPr>
              <a:t>When it struggles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1" y="24231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Non-convex / elongated shapes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Very different cluster </a:t>
            </a:r>
            <a:r>
              <a:rPr sz="1500" b="1">
                <a:solidFill>
                  <a:srgbClr val="1B2430"/>
                </a:solidFill>
                <a:latin typeface="Calibri"/>
              </a:rPr>
              <a:t>sizes</a:t>
            </a:r>
            <a:r>
              <a:rPr sz="1500" b="0">
                <a:solidFill>
                  <a:srgbClr val="1B2430"/>
                </a:solidFill>
                <a:latin typeface="Calibri"/>
              </a:rPr>
              <a:t> or </a:t>
            </a:r>
            <a:r>
              <a:rPr sz="1500" b="1">
                <a:solidFill>
                  <a:srgbClr val="1B2430"/>
                </a:solidFill>
                <a:latin typeface="Calibri"/>
              </a:rPr>
              <a:t>densities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1">
                <a:solidFill>
                  <a:srgbClr val="1B2430"/>
                </a:solidFill>
                <a:latin typeface="Calibri"/>
              </a:rPr>
              <a:t>Unscaled</a:t>
            </a:r>
            <a:r>
              <a:rPr sz="1500" b="0">
                <a:solidFill>
                  <a:srgbClr val="1B2430"/>
                </a:solidFill>
                <a:latin typeface="Calibri"/>
              </a:rPr>
              <a:t> variables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Many irrelevant / noisy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KNOW THE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K-means in a nutshell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It assumes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Clusters are roughly </a:t>
            </a:r>
            <a:r>
              <a:rPr sz="1600" b="1">
                <a:solidFill>
                  <a:srgbClr val="1B2430"/>
                </a:solidFill>
                <a:latin typeface="Calibri"/>
              </a:rPr>
              <a:t>spherical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Clusters have </a:t>
            </a:r>
            <a:r>
              <a:rPr sz="1600" b="1">
                <a:solidFill>
                  <a:srgbClr val="1B2430"/>
                </a:solidFill>
                <a:latin typeface="Calibri"/>
              </a:rPr>
              <a:t>similar size / variance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Euclidean</a:t>
            </a:r>
            <a:r>
              <a:rPr sz="1600" b="0">
                <a:solidFill>
                  <a:srgbClr val="1B2430"/>
                </a:solidFill>
                <a:latin typeface="Calibri"/>
              </a:rPr>
              <a:t> distance is meaningful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You have chosen a sensible </a:t>
            </a:r>
            <a:r>
              <a:rPr sz="1600" b="1">
                <a:solidFill>
                  <a:srgbClr val="1B2430"/>
                </a:solidFill>
                <a:latin typeface="Calibri"/>
              </a:rPr>
              <a:t>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If that fails, consider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GMM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elliptical, soft clusters (L05)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Hierarchical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no fixed shape (L06)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DBSCAN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arbitrary shapes, noise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Always </a:t>
            </a:r>
            <a:r>
              <a:rPr sz="16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1600" b="0">
                <a:solidFill>
                  <a:srgbClr val="1B2430"/>
                </a:solidFill>
                <a:latin typeface="Calibri"/>
              </a:rPr>
              <a:t>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Interpreting your clusters — the payoff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Profile each cluster by its </a:t>
            </a:r>
            <a:r>
              <a:rPr sz="2000" b="1">
                <a:solidFill>
                  <a:srgbClr val="1B2430"/>
                </a:solidFill>
                <a:latin typeface="Calibri"/>
              </a:rPr>
              <a:t>centroid</a:t>
            </a:r>
            <a:r>
              <a:rPr sz="2000" b="0">
                <a:solidFill>
                  <a:srgbClr val="1B2430"/>
                </a:solidFill>
                <a:latin typeface="Calibri"/>
              </a:rPr>
              <a:t> across the original variables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Give each cluster a </a:t>
            </a:r>
            <a:r>
              <a:rPr sz="2000" b="1">
                <a:solidFill>
                  <a:srgbClr val="1B2430"/>
                </a:solidFill>
                <a:latin typeface="Calibri"/>
              </a:rPr>
              <a:t>name</a:t>
            </a:r>
            <a:r>
              <a:rPr sz="2000" b="0">
                <a:solidFill>
                  <a:srgbClr val="1B2430"/>
                </a:solidFill>
                <a:latin typeface="Calibri"/>
              </a:rPr>
              <a:t> ('high-fibre / low-sugar', 'Western pattern')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Check cluster </a:t>
            </a:r>
            <a:r>
              <a:rPr sz="2000" b="1">
                <a:solidFill>
                  <a:srgbClr val="1B2430"/>
                </a:solidFill>
                <a:latin typeface="Calibri"/>
              </a:rPr>
              <a:t>sizes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 tiny cluster may be outliers, not a real group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Relate clusters to </a:t>
            </a:r>
            <a:r>
              <a:rPr sz="2000" b="1">
                <a:solidFill>
                  <a:srgbClr val="1B2430"/>
                </a:solidFill>
                <a:latin typeface="Calibri"/>
              </a:rPr>
              <a:t>held-out</a:t>
            </a:r>
            <a:r>
              <a:rPr sz="2000" b="0">
                <a:solidFill>
                  <a:srgbClr val="1B2430"/>
                </a:solidFill>
                <a:latin typeface="Calibri"/>
              </a:rPr>
              <a:t> variables to check they're meaningful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This is exactly what you'll do in the project.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complete k-means analysis in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4187952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3913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library(tidyverse); library(cluster); library(factoextra)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X &lt;- scale(diet_numeric)                 # 1. standardise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fviz_nbclust(X, kmeans, method = 'wss')  # 2. elbow plot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fviz_nbclust(X, kmeans, method = 'silhouette')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set.seed(1)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km &lt;- kmeans(X, centers = 3, nstart = 25)   # 3. fit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fviz_cluster(km, data = X)                  # 4. visualise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5. profile &amp; name the clusters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aggregate(diet_numeric, by = list(km$cluster), FUN = mean)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Run and diagnose k-means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Using the standardised nutrition data, fit k-means for k = 2,…,8 with nstart = 25 and record tot.withinss.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Plot within-SS vs k. Where is the elbow?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Compute the mean silhouette for each k. Do the two methods agree?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For your chosen k, profile the cluster means — can you give each cluster a nutrition </a:t>
            </a:r>
            <a:r>
              <a:rPr sz="1900" b="1">
                <a:solidFill>
                  <a:srgbClr val="1B2430"/>
                </a:solidFill>
                <a:latin typeface="Calibri"/>
              </a:rPr>
              <a:t>name</a:t>
            </a:r>
            <a:r>
              <a:rPr sz="1900" b="0">
                <a:solidFill>
                  <a:srgbClr val="1B2430"/>
                </a:solidFill>
                <a:latin typeface="Calibri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Naming clusters from their centroid profiles is exactly the deliverable your project team will need.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K-means minimises </a:t>
            </a:r>
            <a:r>
              <a:rPr sz="2000" b="1">
                <a:solidFill>
                  <a:srgbClr val="1B2430"/>
                </a:solidFill>
                <a:latin typeface="Calibri"/>
              </a:rPr>
              <a:t>within-cluster sum of squares</a:t>
            </a:r>
            <a:r>
              <a:rPr sz="2000" b="0">
                <a:solidFill>
                  <a:srgbClr val="1B2430"/>
                </a:solidFill>
                <a:latin typeface="Calibri"/>
              </a:rPr>
              <a:t> via assign–update iterations.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It converges to a </a:t>
            </a:r>
            <a:r>
              <a:rPr sz="2000" b="1">
                <a:solidFill>
                  <a:srgbClr val="1B2430"/>
                </a:solidFill>
                <a:latin typeface="Calibri"/>
              </a:rPr>
              <a:t>local</a:t>
            </a:r>
            <a:r>
              <a:rPr sz="2000" b="0">
                <a:solidFill>
                  <a:srgbClr val="1B2430"/>
                </a:solidFill>
                <a:latin typeface="Calibri"/>
              </a:rPr>
              <a:t> optimum — always use many </a:t>
            </a:r>
            <a:r>
              <a:rPr sz="2000" b="1">
                <a:solidFill>
                  <a:srgbClr val="1B2430"/>
                </a:solidFill>
                <a:latin typeface="Calibri"/>
              </a:rPr>
              <a:t>restarts</a:t>
            </a:r>
            <a:r>
              <a:rPr sz="2000" b="0">
                <a:solidFill>
                  <a:srgbClr val="1B2430"/>
                </a:solidFill>
                <a:latin typeface="Calibri"/>
              </a:rPr>
              <a:t> / k-means++.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Choose k with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elbow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silhouette</a:t>
            </a:r>
            <a:r>
              <a:rPr sz="2000" b="0">
                <a:solidFill>
                  <a:srgbClr val="1B2430"/>
                </a:solidFill>
                <a:latin typeface="Calibri"/>
              </a:rPr>
              <a:t>; let interpretability break ties.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It assumes </a:t>
            </a:r>
            <a:r>
              <a:rPr sz="2000" b="1">
                <a:solidFill>
                  <a:srgbClr val="1B2430"/>
                </a:solidFill>
                <a:latin typeface="Calibri"/>
              </a:rPr>
              <a:t>round, comparable</a:t>
            </a:r>
            <a:r>
              <a:rPr sz="2000" b="0">
                <a:solidFill>
                  <a:srgbClr val="1B2430"/>
                </a:solidFill>
                <a:latin typeface="Calibri"/>
              </a:rPr>
              <a:t> clusters — standardise, and switch methods when that fails.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15600" cy="777240"/>
          </a:xfrm>
          <a:prstGeom prst="round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64626"/>
                </a:solidFill>
                <a:latin typeface="Calibri"/>
              </a:rPr>
              <a:t>Next lecture →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Lecture 05 — Model-based clustering: soft assignments with Gaussian mixtures.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L04 ·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