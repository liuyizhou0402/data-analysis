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320040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960120"/>
            <a:ext cx="2194560" cy="457200"/>
          </a:xfrm>
          <a:prstGeom prst="round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042415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LECTURE 06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424160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600" b="1" i="0">
                <a:solidFill>
                  <a:srgbClr val="FFFFFF"/>
                </a:solidFill>
                <a:latin typeface="Calibri"/>
              </a:rPr>
              <a:t>Hierarchical Clustering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8" y="4160520"/>
            <a:ext cx="969264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2100" b="0" i="0">
                <a:solidFill>
                  <a:srgbClr val="C8D4E2"/>
                </a:solidFill>
                <a:latin typeface="Calibri"/>
              </a:rPr>
              <a:t>Building a whole tree of nested clusterings — no need to fix k in advance. Linkages, dendrograms, and how to read them.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5806440"/>
            <a:ext cx="10515600" cy="15240"/>
          </a:xfrm>
          <a:prstGeom prst="rect">
            <a:avLst/>
          </a:prstGeom>
          <a:solidFill>
            <a:srgbClr val="3A46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0">
                <a:solidFill>
                  <a:srgbClr val="9FADBD"/>
                </a:solidFill>
                <a:latin typeface="Calibri"/>
              </a:rPr>
              <a:t>School of Mathematics &amp; Statistics · The University of Sydney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AGENDA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Today's roadmap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Why a hierarchy? The limits of fixing 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Agglomerative vs divisive strategies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dendrogram: reading nested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Linkage criteria: single, complete, average, Ward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Distance matrices and cutting the tree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Strengths, pitfalls and R practice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clustering methods so far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k-means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fast, hard, spherical, needs k up front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GMM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soft, elliptical, chooses k by BIC, needs k range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Both require you to </a:t>
            </a:r>
            <a:r>
              <a:rPr sz="2000" b="1">
                <a:solidFill>
                  <a:srgbClr val="1B2430"/>
                </a:solidFill>
                <a:latin typeface="Calibri"/>
              </a:rPr>
              <a:t>commit to a number of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What if you want to see structure at </a:t>
            </a:r>
            <a:r>
              <a:rPr sz="2000" b="1">
                <a:solidFill>
                  <a:srgbClr val="1B2430"/>
                </a:solidFill>
                <a:latin typeface="Calibri"/>
              </a:rPr>
              <a:t>every</a:t>
            </a:r>
            <a:r>
              <a:rPr sz="2000" b="0">
                <a:solidFill>
                  <a:srgbClr val="1B2430"/>
                </a:solidFill>
                <a:latin typeface="Calibri"/>
              </a:rPr>
              <a:t> scale?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do k-means and GMM have in common?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give soft labels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Both require choosing the number of clusters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build a tree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Both ignore distance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Both are partitioning-style: you must specify (or search) k. Hierarchical clustering instead produces clusterings for all k at once.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Why a hierarchy?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IDEA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Instead of one clustering, build a tree that contains a clustering for every possible number of groups — from one big cluster to n singletons.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You choose k afterwards by cutting the tree at a height that makes sense.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OUTPUT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dendrogram</a:t>
            </a:r>
          </a:p>
        </p:txBody>
      </p:sp>
      <p:pic>
        <p:nvPicPr>
          <p:cNvPr id="6" name="Picture 5" descr="L06_dendro_bi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606966"/>
            <a:ext cx="9144000" cy="42841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tree records the order and distance of every merge. Cut it horizontally to read off a clustering — lower cut = more clusters.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TWO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Agglomerative vs divisive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Agglomerative (bottom-up)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Start: every point its own cluster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Repeatedly </a:t>
            </a:r>
            <a:r>
              <a:rPr sz="1600" b="1">
                <a:solidFill>
                  <a:srgbClr val="1B2430"/>
                </a:solidFill>
                <a:latin typeface="Calibri"/>
              </a:rPr>
              <a:t>merge</a:t>
            </a:r>
            <a:r>
              <a:rPr sz="1600" b="0">
                <a:solidFill>
                  <a:srgbClr val="1B2430"/>
                </a:solidFill>
                <a:latin typeface="Calibri"/>
              </a:rPr>
              <a:t> the two closest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End: one cluster containing all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The common, default approach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Divisive (top-down)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Start: all points in one cluster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Repeatedly </a:t>
            </a:r>
            <a:r>
              <a:rPr sz="1600" b="1">
                <a:solidFill>
                  <a:srgbClr val="1B2430"/>
                </a:solidFill>
                <a:latin typeface="Calibri"/>
              </a:rPr>
              <a:t>split</a:t>
            </a:r>
            <a:r>
              <a:rPr sz="1600" b="0">
                <a:solidFill>
                  <a:srgbClr val="1B2430"/>
                </a:solidFill>
                <a:latin typeface="Calibri"/>
              </a:rPr>
              <a:t> a cluster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End: every point alone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Rarer, more expensive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Dendrogram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dendrogram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tree diagram showing the sequence of merges and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 (height)</a:t>
            </a:r>
            <a:r>
              <a:rPr sz="2000" b="0">
                <a:solidFill>
                  <a:srgbClr val="1B2430"/>
                </a:solidFill>
                <a:latin typeface="Calibri"/>
              </a:rPr>
              <a:t> at which each occurred.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Leaves = individual observations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Height of a join = dissimilarity of the merged groups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Points that merge low down are very similar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The agglomerative algorithm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MERGING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Building the tree from the bottom up</a:t>
            </a:r>
          </a:p>
        </p:txBody>
      </p:sp>
      <p:pic>
        <p:nvPicPr>
          <p:cNvPr id="6" name="Picture 5" descr="L06_agglo_step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505977"/>
            <a:ext cx="9144000" cy="248612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Each step fuses the two nearest clusters, reducing the count by one, until a single cluster remains.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9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ALGORITHM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Agglomerative clustering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Start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each of the n points is its own cluster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Find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the two clusters with the smallest linkage distance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73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33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combine them; record the merge height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9145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Repeat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572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until only one cluster remains — you now have the full tree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8932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98932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60624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The result is independent of k — you cut the finished tree wherever you like.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10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KEY QUESTION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far apart are two clusters?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single points, distance is clear (e.g. Euclidean)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But how far apart are two </a:t>
            </a:r>
            <a:r>
              <a:rPr sz="2000" b="1">
                <a:solidFill>
                  <a:srgbClr val="1B2430"/>
                </a:solidFill>
                <a:latin typeface="Calibri"/>
              </a:rPr>
              <a:t>groups</a:t>
            </a:r>
            <a:r>
              <a:rPr sz="2000" b="0">
                <a:solidFill>
                  <a:srgbClr val="1B2430"/>
                </a:solidFill>
                <a:latin typeface="Calibri"/>
              </a:rPr>
              <a:t> of points?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answer is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linkage criterion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and it changes everything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Linkage criteria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Three ways to measure inter-cluster distance</a:t>
            </a:r>
          </a:p>
        </p:txBody>
      </p:sp>
      <p:pic>
        <p:nvPicPr>
          <p:cNvPr id="6" name="Picture 5" descr="L06_linkage_def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253727"/>
            <a:ext cx="9144000" cy="299062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Single = closest pair; complete = farthest pair; average = mean over all cross-cluster pairs.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FOUR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Linkage criteria compared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846320"/>
                <a:gridCol w="365760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Linkage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Distance between clusters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Tendency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Single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closest pair (min)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long, chained clusters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Complete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farthest pair (max)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compact, equal-diameter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Average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mean of all pairs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 compromise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Ward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increase in within-SS when merged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compact, similar-size (popular)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SAME DATA, DIFFERENT TREES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Linkage reshapes the dendrogram</a:t>
            </a:r>
          </a:p>
        </p:txBody>
      </p:sp>
      <p:pic>
        <p:nvPicPr>
          <p:cNvPr id="6" name="Picture 5" descr="L06_linkag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421370"/>
            <a:ext cx="9144000" cy="26553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The identical 30 points give four different hierarchies. Linkage is a genuine modelling choice, not a technicality.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SINGLE LINKAGE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Strengths and its Achilles heel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Can capture </a:t>
            </a:r>
            <a:r>
              <a:rPr sz="2000" b="1">
                <a:solidFill>
                  <a:srgbClr val="1B2430"/>
                </a:solidFill>
                <a:latin typeface="Calibri"/>
              </a:rPr>
              <a:t>elongated, non-convex</a:t>
            </a:r>
            <a:r>
              <a:rPr sz="2000" b="0">
                <a:solidFill>
                  <a:srgbClr val="1B2430"/>
                </a:solidFill>
                <a:latin typeface="Calibri"/>
              </a:rPr>
              <a:t> shapes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Suffers from </a:t>
            </a:r>
            <a:r>
              <a:rPr sz="2000" b="1">
                <a:solidFill>
                  <a:srgbClr val="1B2430"/>
                </a:solidFill>
                <a:latin typeface="Calibri"/>
              </a:rPr>
              <a:t>chaining</a:t>
            </a:r>
            <a:r>
              <a:rPr sz="2000" b="0">
                <a:solidFill>
                  <a:srgbClr val="1B2430"/>
                </a:solidFill>
                <a:latin typeface="Calibri"/>
              </a:rPr>
              <a:t>: a bridge of points merges two real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Sensitive to noise and outliers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CHAINING VS COMPACT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Single linkage follows shape; Ward prefers blobs</a:t>
            </a:r>
          </a:p>
        </p:txBody>
      </p:sp>
      <p:pic>
        <p:nvPicPr>
          <p:cNvPr id="6" name="Picture 5" descr="L06_chain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801070"/>
            <a:ext cx="9144000" cy="389593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On the moons, single linkage traces each arc; Ward carves compact regions and gets them 'wrong' — the right choice depends on your goal.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WARD'S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common default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Merges the pair that </a:t>
            </a:r>
            <a:r>
              <a:rPr sz="2000" b="1">
                <a:solidFill>
                  <a:srgbClr val="1B2430"/>
                </a:solidFill>
                <a:latin typeface="Calibri"/>
              </a:rPr>
              <a:t>least increases</a:t>
            </a:r>
            <a:r>
              <a:rPr sz="2000" b="0">
                <a:solidFill>
                  <a:srgbClr val="1B2430"/>
                </a:solidFill>
                <a:latin typeface="Calibri"/>
              </a:rPr>
              <a:t> total within-cluster variance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Tends to produce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compact, similar-size</a:t>
            </a:r>
            <a:r>
              <a:rPr sz="2000" b="0">
                <a:solidFill>
                  <a:srgbClr val="1B2430"/>
                </a:solidFill>
                <a:latin typeface="Calibri"/>
              </a:rPr>
              <a:t> clusters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Closely related to the k-means objective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Use with </a:t>
            </a:r>
            <a:r>
              <a:rPr sz="2000" b="1">
                <a:solidFill>
                  <a:srgbClr val="1B2430"/>
                </a:solidFill>
                <a:latin typeface="Calibri"/>
              </a:rPr>
              <a:t>Euclidean</a:t>
            </a:r>
            <a:r>
              <a:rPr sz="2000" b="0">
                <a:solidFill>
                  <a:srgbClr val="1B2430"/>
                </a:solidFill>
                <a:latin typeface="Calibri"/>
              </a:rPr>
              <a:t> distance (ward.D2 in R)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17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Which linkage is most prone to 'chaining'?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Complete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Ward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Single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Average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Single linkage joins clusters via their closest pair, so a thin bridge of points can chain two otherwise-separate clusters together.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Distances &amp; cutting the tree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STARTING POINT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It all begins with a distance matrix</a:t>
            </a:r>
          </a:p>
        </p:txBody>
      </p:sp>
      <p:pic>
        <p:nvPicPr>
          <p:cNvPr id="6" name="Picture 5" descr="L06_distm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4776" y="1600200"/>
            <a:ext cx="4943408" cy="42976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371600" y="5989320"/>
            <a:ext cx="9418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300" b="0" i="1">
                <a:solidFill>
                  <a:srgbClr val="5B6A7D"/>
                </a:solidFill>
                <a:latin typeface="Calibri"/>
              </a:rPr>
              <a:t>Hierarchical clustering works from the n×n matrix of pairwise distances. Block structure already hints at the clusters.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19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DISTANCE CHOICE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Two decisions, not one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between points: Euclidean, Manhattan, correlation… (Lecture 3)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Linkage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between clusters: single, complete, average, Ward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Together they define the whole clustering — choose both deliberately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first, as always for distance-based methods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20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CUTTING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From tree to clusters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Cut the dendrogram </a:t>
            </a:r>
            <a:r>
              <a:rPr sz="2000" b="1">
                <a:solidFill>
                  <a:srgbClr val="1B2430"/>
                </a:solidFill>
                <a:latin typeface="Calibri"/>
              </a:rPr>
              <a:t>horizontally</a:t>
            </a:r>
            <a:r>
              <a:rPr sz="2000" b="0">
                <a:solidFill>
                  <a:srgbClr val="1B2430"/>
                </a:solidFill>
                <a:latin typeface="Calibri"/>
              </a:rPr>
              <a:t> at a chosen height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Each branch crossing the cut becomes one cluster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Lower</a:t>
            </a:r>
            <a:r>
              <a:rPr sz="2000" b="0">
                <a:solidFill>
                  <a:srgbClr val="1B2430"/>
                </a:solidFill>
                <a:latin typeface="Calibri"/>
              </a:rPr>
              <a:t> cut → more, smaller clusters; </a:t>
            </a:r>
            <a:r>
              <a:rPr sz="2000" b="1">
                <a:solidFill>
                  <a:srgbClr val="1B2430"/>
                </a:solidFill>
                <a:latin typeface="Calibri"/>
              </a:rPr>
              <a:t>higher</a:t>
            </a:r>
            <a:r>
              <a:rPr sz="2000" b="0">
                <a:solidFill>
                  <a:srgbClr val="1B2430"/>
                </a:solidFill>
                <a:latin typeface="Calibri"/>
              </a:rPr>
              <a:t> cut → fewer, larger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Choose the height at a </a:t>
            </a:r>
            <a:r>
              <a:rPr sz="2000" b="1">
                <a:solidFill>
                  <a:srgbClr val="1B2430"/>
                </a:solidFill>
                <a:latin typeface="Calibri"/>
              </a:rPr>
              <a:t>big vertical gap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natural break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21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READING HEIGHTS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Merge height = dissimilarity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463040" y="1965960"/>
            <a:ext cx="9235440" cy="1417320"/>
          </a:xfrm>
          <a:prstGeom prst="roundRect">
            <a:avLst/>
          </a:prstGeom>
          <a:solidFill>
            <a:srgbClr val="0F17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554480" y="1965960"/>
            <a:ext cx="9052560" cy="1417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0" i="1">
                <a:solidFill>
                  <a:srgbClr val="EAF2FB"/>
                </a:solidFill>
                <a:latin typeface="Cambria Math"/>
              </a:rPr>
              <a:t>big vertical gap  ⇒  natural number of clusters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3703320"/>
            <a:ext cx="92354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A long branch means the two groups below it are quite different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Cutting just below a long branch separates well-distinguished clusters</a:t>
            </a:r>
          </a:p>
          <a:p>
            <a:pPr>
              <a:lnSpc>
                <a:spcPct val="112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•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</a:t>
            </a:r>
            <a:r>
              <a:rPr sz="1800" b="1">
                <a:solidFill>
                  <a:srgbClr val="1B2430"/>
                </a:solidFill>
                <a:latin typeface="Calibri"/>
              </a:rPr>
              <a:t>cophenetic distance</a:t>
            </a:r>
            <a:r>
              <a:rPr sz="1800" b="0">
                <a:solidFill>
                  <a:srgbClr val="1B2430"/>
                </a:solidFill>
                <a:latin typeface="Calibri"/>
              </a:rPr>
              <a:t> is the merge height for a pair of points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22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How many clusters, revisited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Look for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largest gap</a:t>
            </a:r>
            <a:r>
              <a:rPr sz="2000" b="0">
                <a:solidFill>
                  <a:srgbClr val="1B2430"/>
                </a:solidFill>
                <a:latin typeface="Calibri"/>
              </a:rPr>
              <a:t> between successive merge heights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Cross-check with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  <a:r>
              <a:rPr sz="2000" b="0">
                <a:solidFill>
                  <a:srgbClr val="1B2430"/>
                </a:solidFill>
                <a:latin typeface="Calibri"/>
              </a:rPr>
              <a:t> (Lecture 4) at each candidate 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cophenetic correlation</a:t>
            </a:r>
            <a:r>
              <a:rPr sz="2000" b="0">
                <a:solidFill>
                  <a:srgbClr val="1B2430"/>
                </a:solidFill>
                <a:latin typeface="Calibri"/>
              </a:rPr>
              <a:t> measures how faithfully the tree preserves distances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Ultimately: does the clustering make </a:t>
            </a:r>
            <a:r>
              <a:rPr sz="2000" b="1">
                <a:solidFill>
                  <a:srgbClr val="1B2430"/>
                </a:solidFill>
                <a:latin typeface="Calibri"/>
              </a:rPr>
              <a:t>domain sense</a:t>
            </a:r>
            <a:r>
              <a:rPr sz="2000" b="0">
                <a:solidFill>
                  <a:srgbClr val="1B2430"/>
                </a:solidFill>
                <a:latin typeface="Calibri"/>
              </a:rPr>
              <a:t>?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23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Hierarchical clustering in R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From data to dendrogram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944368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670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X &lt;- scale(diet_numeric)          # standardise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d &lt;- dist(X, method = 'euclidean')# distance matrix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hc &lt;- hclust(d, method = 'ward.D2')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plot(hc, hang = -1)               # draw the dendrogram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clusters &lt;- cutree(hc, k = 3)     # cut into 3 clusters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table(clusters)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24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COMPARING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Try several linkages and validate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633472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235915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library(factoextra); library(cluster)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for (m in c('single','complete','average','ward.D2'))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print(cor(cophenetic(hclust(d, m)), d))   # cophenetic corr.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fviz_dend(hc, k = 3, rect = TRUE)  # coloured dendrogram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fviz_nbclust(X, hcut, method = 'silhouette')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PROS &amp; CONS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Hierarchical clustering in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Strengths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No need to fix k</a:t>
            </a:r>
            <a:r>
              <a:rPr sz="1600" b="0">
                <a:solidFill>
                  <a:srgbClr val="1B2430"/>
                </a:solidFill>
                <a:latin typeface="Calibri"/>
              </a:rPr>
              <a:t> in advance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The dendrogram is </a:t>
            </a:r>
            <a:r>
              <a:rPr sz="1600" b="1">
                <a:solidFill>
                  <a:srgbClr val="1B2430"/>
                </a:solidFill>
                <a:latin typeface="Calibri"/>
              </a:rPr>
              <a:t>interpretable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Reveals structure at </a:t>
            </a:r>
            <a:r>
              <a:rPr sz="1600" b="1">
                <a:solidFill>
                  <a:srgbClr val="1B2430"/>
                </a:solidFill>
                <a:latin typeface="Calibri"/>
              </a:rPr>
              <a:t>all scales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Works from any distance matrix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Weaknesses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1">
                <a:solidFill>
                  <a:srgbClr val="1B2430"/>
                </a:solidFill>
                <a:latin typeface="Calibri"/>
              </a:rPr>
              <a:t>O(n²)</a:t>
            </a:r>
            <a:r>
              <a:rPr sz="1600" b="0">
                <a:solidFill>
                  <a:srgbClr val="1B2430"/>
                </a:solidFill>
                <a:latin typeface="Calibri"/>
              </a:rPr>
              <a:t> memory — hard for very large n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Merges are </a:t>
            </a:r>
            <a:r>
              <a:rPr sz="1600" b="1">
                <a:solidFill>
                  <a:srgbClr val="1B2430"/>
                </a:solidFill>
                <a:latin typeface="Calibri"/>
              </a:rPr>
              <a:t>greedy &amp; irreversible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Sensitive to distance &amp; linkage choice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Single linkage prone to chaining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26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Dietary patterns via a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Standardise intake variables and compute Euclidean distances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 </a:t>
            </a:r>
            <a:r>
              <a:rPr sz="2000" b="1">
                <a:solidFill>
                  <a:srgbClr val="1B2430"/>
                </a:solidFill>
                <a:latin typeface="Calibri"/>
              </a:rPr>
              <a:t>Ward</a:t>
            </a:r>
            <a:r>
              <a:rPr sz="2000" b="0">
                <a:solidFill>
                  <a:srgbClr val="1B2430"/>
                </a:solidFill>
                <a:latin typeface="Calibri"/>
              </a:rPr>
              <a:t> linkage; inspect the dendrogram for a clear gap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Cut into k clusters; check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silhouette</a:t>
            </a:r>
            <a:r>
              <a:rPr sz="2000" b="0">
                <a:solidFill>
                  <a:srgbClr val="1B2430"/>
                </a:solidFill>
                <a:latin typeface="Calibri"/>
              </a:rPr>
              <a:t> agrees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Profile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each cluster with your Nutrition partners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Compare the partition with last week's k-means / GMM result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Pitfalls &amp; practice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COMMON MISTAKES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What trips students 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Forgetting to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before computing distances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Reading the dendrogram </a:t>
            </a:r>
            <a:r>
              <a:rPr sz="2000" b="1">
                <a:solidFill>
                  <a:srgbClr val="1B2430"/>
                </a:solidFill>
                <a:latin typeface="Calibri"/>
              </a:rPr>
              <a:t>horizontal</a:t>
            </a:r>
            <a:r>
              <a:rPr sz="2000" b="0">
                <a:solidFill>
                  <a:srgbClr val="1B2430"/>
                </a:solidFill>
                <a:latin typeface="Calibri"/>
              </a:rPr>
              <a:t> order as meaningful — it isn't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Using </a:t>
            </a:r>
            <a:r>
              <a:rPr sz="2000" b="1">
                <a:solidFill>
                  <a:srgbClr val="1B2430"/>
                </a:solidFill>
                <a:latin typeface="Calibri"/>
              </a:rPr>
              <a:t>Ward</a:t>
            </a:r>
            <a:r>
              <a:rPr sz="2000" b="0">
                <a:solidFill>
                  <a:srgbClr val="1B2430"/>
                </a:solidFill>
                <a:latin typeface="Calibri"/>
              </a:rPr>
              <a:t> with a non-Euclidean distance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Picking k without checking a validation measure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On a dendrogram, what does the height of a merge represent?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number of points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The dissimilarity between the merged clusters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cluster's variance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Nothing — it's decorative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Merge height = the linkage distance at which two clusters joined. Big heights mean very different groups.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29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Build and read a tree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a Euclidean distance matrix on the standardised data and run </a:t>
            </a:r>
            <a:r>
              <a:rPr sz="1900" b="1">
                <a:solidFill>
                  <a:srgbClr val="1B2430"/>
                </a:solidFill>
                <a:latin typeface="Calibri"/>
              </a:rPr>
              <a:t>complete</a:t>
            </a:r>
            <a:r>
              <a:rPr sz="1900" b="0">
                <a:solidFill>
                  <a:srgbClr val="1B2430"/>
                </a:solidFill>
                <a:latin typeface="Calibri"/>
              </a:rPr>
              <a:t> and </a:t>
            </a:r>
            <a:r>
              <a:rPr sz="1900" b="1">
                <a:solidFill>
                  <a:srgbClr val="1B2430"/>
                </a:solidFill>
                <a:latin typeface="Calibri"/>
              </a:rPr>
              <a:t>Ward</a:t>
            </a:r>
            <a:r>
              <a:rPr sz="1900" b="0">
                <a:solidFill>
                  <a:srgbClr val="1B2430"/>
                </a:solidFill>
                <a:latin typeface="Calibri"/>
              </a:rPr>
              <a:t> linkage.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Plot both dendrograms. Where is the largest vertical gap in each?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Cut each at k = 3 and cross-tabulate the two labelings. Do they agree?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Compute the </a:t>
            </a:r>
            <a:r>
              <a:rPr sz="1900" b="1">
                <a:solidFill>
                  <a:srgbClr val="1B2430"/>
                </a:solidFill>
                <a:latin typeface="Calibri"/>
              </a:rPr>
              <a:t>cophenetic correlation</a:t>
            </a:r>
            <a:r>
              <a:rPr sz="1900" b="0">
                <a:solidFill>
                  <a:srgbClr val="1B2430"/>
                </a:solidFill>
                <a:latin typeface="Calibri"/>
              </a:rPr>
              <a:t> for each linkage — which preserves distances better?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cutree(hc, k=3) gives labels; table(a, b) cross-tabulates; cor(cophenetic(hc), d) gives the cophenetic correlation.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30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Choose a linkage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Your clusters are expected to be </a:t>
            </a:r>
            <a:r>
              <a:rPr sz="1900" b="1">
                <a:solidFill>
                  <a:srgbClr val="1B2430"/>
                </a:solidFill>
                <a:latin typeface="Calibri"/>
              </a:rPr>
              <a:t>compact and similar-sized</a:t>
            </a:r>
            <a:r>
              <a:rPr sz="1900" b="0">
                <a:solidFill>
                  <a:srgbClr val="1B2430"/>
                </a:solidFill>
                <a:latin typeface="Calibri"/>
              </a:rPr>
              <a:t>. Which linkage fits that prior?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Your clusters may be </a:t>
            </a:r>
            <a:r>
              <a:rPr sz="1900" b="1">
                <a:solidFill>
                  <a:srgbClr val="1B2430"/>
                </a:solidFill>
                <a:latin typeface="Calibri"/>
              </a:rPr>
              <a:t>elongated</a:t>
            </a:r>
            <a:r>
              <a:rPr sz="1900" b="0">
                <a:solidFill>
                  <a:srgbClr val="1B2430"/>
                </a:solidFill>
                <a:latin typeface="Calibri"/>
              </a:rPr>
              <a:t> (e.g. a metabolic gradient). Which linkage might capture that, and what risk does it carry?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Justify a final choice for the project and note how you'd validate 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Ward → compact/equal size; single → shapes but risks chaining.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31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KEY IDEAS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Hold onto these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A </a:t>
            </a:r>
            <a:r>
              <a:rPr sz="2000" b="1">
                <a:solidFill>
                  <a:srgbClr val="1B2430"/>
                </a:solidFill>
                <a:latin typeface="Calibri"/>
              </a:rPr>
              <a:t>dendrogram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encodes clusterings at every k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Linkage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defines inter-cluster distance and shapes the tree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Ward</a:t>
            </a:r>
            <a:r>
              <a:rPr sz="2000" b="0">
                <a:solidFill>
                  <a:srgbClr val="1B2430"/>
                </a:solidFill>
                <a:latin typeface="Calibri"/>
              </a:rPr>
              <a:t> is a solid default; </a:t>
            </a:r>
            <a:r>
              <a:rPr sz="2000" b="1">
                <a:solidFill>
                  <a:srgbClr val="1B2430"/>
                </a:solidFill>
                <a:latin typeface="Calibri"/>
              </a:rPr>
              <a:t>single</a:t>
            </a:r>
            <a:r>
              <a:rPr sz="2000" b="0">
                <a:solidFill>
                  <a:srgbClr val="1B2430"/>
                </a:solidFill>
                <a:latin typeface="Calibri"/>
              </a:rPr>
              <a:t> captures shape but chains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Cut</a:t>
            </a:r>
            <a:r>
              <a:rPr sz="2000" b="0">
                <a:solidFill>
                  <a:srgbClr val="1B2430"/>
                </a:solidFill>
                <a:latin typeface="Calibri"/>
              </a:rPr>
              <a:t> at a large gap; validate with silhouette / cophenetic correlation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32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Divisive methods &amp; complexity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THE OTHER DIRECTION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Divisive (top-down) clustering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2A6F97"/>
                </a:solidFill>
                <a:latin typeface="Calibri"/>
              </a:rPr>
              <a:t>How it works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Begin with </a:t>
            </a:r>
            <a:r>
              <a:rPr sz="1600" b="1">
                <a:solidFill>
                  <a:srgbClr val="1B2430"/>
                </a:solidFill>
                <a:latin typeface="Calibri"/>
              </a:rPr>
              <a:t>all points in one cluster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Repeatedly </a:t>
            </a:r>
            <a:r>
              <a:rPr sz="1600" b="1">
                <a:solidFill>
                  <a:srgbClr val="1B2430"/>
                </a:solidFill>
                <a:latin typeface="Calibri"/>
              </a:rPr>
              <a:t>split</a:t>
            </a:r>
            <a:r>
              <a:rPr sz="1600" b="0">
                <a:solidFill>
                  <a:srgbClr val="1B2430"/>
                </a:solidFill>
                <a:latin typeface="Calibri"/>
              </a:rPr>
              <a:t> the least-cohesive cluster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2A6F97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DIANA is the classic algorithm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691640"/>
            <a:ext cx="4983480" cy="4297680"/>
          </a:xfrm>
          <a:prstGeom prst="roundRect">
            <a:avLst/>
          </a:prstGeom>
          <a:solidFill>
            <a:srgbClr val="F4F6F9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629400" y="1920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E64626"/>
                </a:solidFill>
                <a:latin typeface="Calibri"/>
              </a:rPr>
              <a:t>Why it's rarer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29400" y="2514600"/>
            <a:ext cx="443484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Choosing the best split is </a:t>
            </a:r>
            <a:r>
              <a:rPr sz="1600" b="1">
                <a:solidFill>
                  <a:srgbClr val="1B2430"/>
                </a:solidFill>
                <a:latin typeface="Calibri"/>
              </a:rPr>
              <a:t>expensive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Naively exponential in cluster size</a:t>
            </a:r>
          </a:p>
          <a:p>
            <a:pPr>
              <a:lnSpc>
                <a:spcPct val="110000"/>
              </a:lnSpc>
              <a:spcAft>
                <a:spcPts val="800"/>
              </a:spcAft>
            </a:pPr>
            <a:r>
              <a:rPr b="1" sz="1600">
                <a:solidFill>
                  <a:srgbClr val="E64626"/>
                </a:solidFill>
                <a:latin typeface="Calibri"/>
              </a:rPr>
              <a:t>• </a:t>
            </a:r>
            <a:r>
              <a:rPr sz="1600" b="0">
                <a:solidFill>
                  <a:srgbClr val="1B2430"/>
                </a:solidFill>
                <a:latin typeface="Calibri"/>
              </a:rPr>
              <a:t>Agglomerative is usually preferred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33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SCALABILITY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cost of a full tree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Needs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n×n distance matrix</a:t>
            </a:r>
            <a:r>
              <a:rPr sz="2000" b="0">
                <a:solidFill>
                  <a:srgbClr val="1B2430"/>
                </a:solidFill>
                <a:latin typeface="Calibri"/>
              </a:rPr>
              <a:t> → </a:t>
            </a:r>
            <a:r>
              <a:rPr sz="2000" b="1">
                <a:solidFill>
                  <a:srgbClr val="1B2430"/>
                </a:solidFill>
                <a:latin typeface="Calibri"/>
              </a:rPr>
              <a:t>O(n²)</a:t>
            </a:r>
            <a:r>
              <a:rPr sz="2000" b="0">
                <a:solidFill>
                  <a:srgbClr val="1B2430"/>
                </a:solidFill>
                <a:latin typeface="Calibri"/>
              </a:rPr>
              <a:t> memory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Runtime is typically </a:t>
            </a:r>
            <a:r>
              <a:rPr sz="2000" b="1">
                <a:solidFill>
                  <a:srgbClr val="1B2430"/>
                </a:solidFill>
                <a:latin typeface="Calibri"/>
              </a:rPr>
              <a:t>O(n² log n)</a:t>
            </a:r>
            <a:r>
              <a:rPr sz="2000" b="0">
                <a:solidFill>
                  <a:srgbClr val="1B2430"/>
                </a:solidFill>
                <a:latin typeface="Calibri"/>
              </a:rPr>
              <a:t> or </a:t>
            </a:r>
            <a:r>
              <a:rPr sz="2000" b="1">
                <a:solidFill>
                  <a:srgbClr val="1B2430"/>
                </a:solidFill>
                <a:latin typeface="Calibri"/>
              </a:rPr>
              <a:t>O(n³)</a:t>
            </a:r>
            <a:r>
              <a:rPr sz="2000" b="0">
                <a:solidFill>
                  <a:srgbClr val="1B2430"/>
                </a:solidFill>
                <a:latin typeface="Calibri"/>
              </a:rPr>
              <a:t> depending on implementation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Fine for hundreds–thousands of points; hard for millions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For big data: cluster a </a:t>
            </a:r>
            <a:r>
              <a:rPr sz="2000" b="1">
                <a:solidFill>
                  <a:srgbClr val="1B2430"/>
                </a:solidFill>
                <a:latin typeface="Calibri"/>
              </a:rPr>
              <a:t>sample</a:t>
            </a:r>
            <a:r>
              <a:rPr sz="2000" b="0">
                <a:solidFill>
                  <a:srgbClr val="1B2430"/>
                </a:solidFill>
                <a:latin typeface="Calibri"/>
              </a:rPr>
              <a:t>, or use k-means/mini-batch instead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34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DEFINITION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Cophenetic distance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EEF3F9"/>
          </a:solidFill>
          <a:ln w="17780">
            <a:solidFill>
              <a:srgbClr val="2A6F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822960" y="1783080"/>
            <a:ext cx="91440" cy="155448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88720" y="1965960"/>
            <a:ext cx="9875520" cy="12344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14000"/>
              </a:lnSpc>
            </a:pPr>
            <a:r>
              <a:rPr sz="2000" b="0">
                <a:solidFill>
                  <a:srgbClr val="1B2430"/>
                </a:solidFill>
                <a:latin typeface="Calibri"/>
              </a:rPr>
              <a:t>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cophenetic distance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between two observations is the merge height at which they first fall into the same cluster.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657600"/>
            <a:ext cx="1042416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Comparing it to the original distances measures tree faithfulness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The </a:t>
            </a:r>
            <a:r>
              <a:rPr sz="1800" b="1">
                <a:solidFill>
                  <a:srgbClr val="1B2430"/>
                </a:solidFill>
                <a:latin typeface="Calibri"/>
              </a:rPr>
              <a:t>cophenetic correlation</a:t>
            </a:r>
            <a:r>
              <a:rPr sz="1800" b="0">
                <a:solidFill>
                  <a:srgbClr val="1B2430"/>
                </a:solidFill>
                <a:latin typeface="Calibri"/>
              </a:rPr>
              <a:t> is that comparison as a single number</a:t>
            </a:r>
          </a:p>
          <a:p>
            <a:pPr>
              <a:lnSpc>
                <a:spcPct val="110000"/>
              </a:lnSpc>
              <a:spcAft>
                <a:spcPts val="900"/>
              </a:spcAft>
            </a:pPr>
            <a:r>
              <a:rPr b="1" sz="1800">
                <a:solidFill>
                  <a:srgbClr val="E64626"/>
                </a:solidFill>
                <a:latin typeface="Calibri"/>
              </a:rPr>
              <a:t>▸  </a:t>
            </a:r>
            <a:r>
              <a:rPr sz="1800" b="0">
                <a:solidFill>
                  <a:srgbClr val="1B2430"/>
                </a:solidFill>
                <a:latin typeface="Calibri"/>
              </a:rPr>
              <a:t>Higher (→1) means the dendrogram preserves the real distances well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Why is hierarchical clustering hard to run on 5 million points?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The tree is uninterpretable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It needs an O(n²) distance matrix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can't use Euclidean distance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It requires labels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Storing all pairwise distances is O(n²) memory — 5M points would need ~10¹³ entries, which is infeasible.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36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Heatmaps, bioinformatics &amp; method choice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CLUSTERED HEATMAPS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favourite in genomics &amp; metabolomics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Combine a </a:t>
            </a:r>
            <a:r>
              <a:rPr sz="2000" b="1">
                <a:solidFill>
                  <a:srgbClr val="1B2430"/>
                </a:solidFill>
                <a:latin typeface="Calibri"/>
              </a:rPr>
              <a:t>dendrogram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on rows (samples) and columns (variables)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Reorder both by their trees so </a:t>
            </a:r>
            <a:r>
              <a:rPr sz="2000" b="1">
                <a:solidFill>
                  <a:srgbClr val="1B2430"/>
                </a:solidFill>
                <a:latin typeface="Calibri"/>
              </a:rPr>
              <a:t>blocks of colour</a:t>
            </a:r>
            <a:r>
              <a:rPr sz="2000" b="0">
                <a:solidFill>
                  <a:srgbClr val="1B2430"/>
                </a:solidFill>
                <a:latin typeface="Calibri"/>
              </a:rPr>
              <a:t> reveal patterns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Ubiquitous for gene-expression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metabolite</a:t>
            </a:r>
            <a:r>
              <a:rPr sz="2000" b="0">
                <a:solidFill>
                  <a:srgbClr val="1B2430"/>
                </a:solidFill>
                <a:latin typeface="Calibri"/>
              </a:rPr>
              <a:t> data — relevant to your project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In R: `pheatmap()` or `heatmap()` do the clustering and drawing together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37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HEATMAP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A clustered heatmap in one call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91640"/>
            <a:ext cx="10515600" cy="2011680"/>
          </a:xfrm>
          <a:prstGeom prst="roundRect">
            <a:avLst/>
          </a:prstGeom>
          <a:solidFill>
            <a:srgbClr val="121A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51560" y="1847088"/>
            <a:ext cx="10058400" cy="1737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library(pheatmap)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pheatmap(scale(metabolites),          # standardise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clustering_distance_rows = 'euclidean',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clustering_method = 'ward.D2',</a:t>
            </a:r>
          </a:p>
          <a:p>
            <a:pPr>
              <a:lnSpc>
                <a:spcPct val="115000"/>
              </a:lnSpc>
              <a:spcAft>
                <a:spcPts val="100"/>
              </a:spcAft>
            </a:pPr>
            <a:r>
              <a:rPr sz="1550">
                <a:solidFill>
                  <a:srgbClr val="E6EDF3"/>
                </a:solidFill>
                <a:latin typeface="Consolas"/>
              </a:rPr>
              <a:t>         cutree_rows = 3)              # annotate 3 clusters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38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ALL THREE SO FAR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Choosing a clustering method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822960" y="1691640"/>
          <a:ext cx="10515600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1828800"/>
                <a:gridCol w="2103120"/>
                <a:gridCol w="4297680"/>
              </a:tblGrid>
              <a:tr h="502920"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Fix k?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Shape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Best when</a:t>
                      </a:r>
                    </a:p>
                  </a:txBody>
                  <a:tcPr anchor="ctr">
                    <a:solidFill>
                      <a:srgbClr val="2A6F97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k-means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spherical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large, round, quick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GMM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yes (BIC)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elliptical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overlap, want uncertainty</a:t>
                      </a:r>
                    </a:p>
                  </a:txBody>
                  <a:tcPr anchor="ctr">
                    <a:solidFill>
                      <a:srgbClr val="F4F6F9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Hierarchical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no (cut later)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any (via linkage)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>
                          <a:solidFill>
                            <a:srgbClr val="1B2430"/>
                          </a:solidFill>
                          <a:latin typeface="Calibri"/>
                        </a:rPr>
                        <a:t>want structure at all scales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39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NO UNIVERSAL WINNER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The 'best' clustering method depends on your data's shape, your sample size, and what question you're asking.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A mature analyst runs several, compares them, and validates against domain knowledge — never trusts one blindly.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REPRODUCIBILITY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Make your clustering trustworthy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Record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distance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linkage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you used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Standardise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set a seed where randomness enters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Report </a:t>
            </a:r>
            <a:r>
              <a:rPr sz="2000" b="1">
                <a:solidFill>
                  <a:srgbClr val="1B2430"/>
                </a:solidFill>
                <a:latin typeface="Calibri"/>
              </a:rPr>
              <a:t>how you chose k</a:t>
            </a:r>
            <a:r>
              <a:rPr sz="2000" b="0">
                <a:solidFill>
                  <a:srgbClr val="1B2430"/>
                </a:solidFill>
                <a:latin typeface="Calibri"/>
              </a:rPr>
              <a:t> (gap in heights, silhouette)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Show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dendrogram</a:t>
            </a:r>
            <a:r>
              <a:rPr sz="2000" b="0">
                <a:solidFill>
                  <a:srgbClr val="1B2430"/>
                </a:solidFill>
                <a:latin typeface="Calibri"/>
              </a:rPr>
              <a:t> so readers can judge for themselves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41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You want structure at multiple scales without committing to one k. Best choice?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k-means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GMM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Hierarchical clustering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None can do this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Only hierarchical clustering produces a full tree, letting you inspect and choose clusterings at every granularity after the fact.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42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INTERPRETING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The deliverable,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Cut the tree, then </a:t>
            </a:r>
            <a:r>
              <a:rPr sz="2000" b="1">
                <a:solidFill>
                  <a:srgbClr val="1B2430"/>
                </a:solidFill>
                <a:latin typeface="Calibri"/>
              </a:rPr>
              <a:t>profile</a:t>
            </a:r>
            <a:r>
              <a:rPr sz="2000" b="0">
                <a:solidFill>
                  <a:srgbClr val="1B2430"/>
                </a:solidFill>
                <a:latin typeface="Calibri"/>
              </a:rPr>
              <a:t> each cluster's variable means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Give each a </a:t>
            </a:r>
            <a:r>
              <a:rPr sz="2000" b="1">
                <a:solidFill>
                  <a:srgbClr val="1B2430"/>
                </a:solidFill>
                <a:latin typeface="Calibri"/>
              </a:rPr>
              <a:t>name</a:t>
            </a:r>
            <a:r>
              <a:rPr sz="2000" b="0">
                <a:solidFill>
                  <a:srgbClr val="1B2430"/>
                </a:solidFill>
                <a:latin typeface="Calibri"/>
              </a:rPr>
              <a:t> meaningful to nutrition (e.g. 'high-protein pattern')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Check cluster </a:t>
            </a:r>
            <a:r>
              <a:rPr sz="2000" b="1">
                <a:solidFill>
                  <a:srgbClr val="1B2430"/>
                </a:solidFill>
                <a:latin typeface="Calibri"/>
              </a:rPr>
              <a:t>sizes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tiny branch may be outliers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Relate clusters to a </a:t>
            </a:r>
            <a:r>
              <a:rPr sz="2000" b="1">
                <a:solidFill>
                  <a:srgbClr val="1B2430"/>
                </a:solidFill>
                <a:latin typeface="Calibri"/>
              </a:rPr>
              <a:t>held-out</a:t>
            </a:r>
            <a:r>
              <a:rPr sz="2000" b="0">
                <a:solidFill>
                  <a:srgbClr val="1B2430"/>
                </a:solidFill>
                <a:latin typeface="Calibri"/>
              </a:rPr>
              <a:t> outcome to argue they're real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43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3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IN-CLASS EXERCISE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Compare all three methods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645920"/>
            <a:ext cx="10515600" cy="3383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43000" y="1874519"/>
            <a:ext cx="996696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1.  </a:t>
            </a:r>
            <a:r>
              <a:rPr sz="1900" b="0">
                <a:solidFill>
                  <a:srgbClr val="1B2430"/>
                </a:solidFill>
                <a:latin typeface="Calibri"/>
              </a:rPr>
              <a:t>On the standardised nutrition data, produce clusterings from </a:t>
            </a:r>
            <a:r>
              <a:rPr sz="1900" b="1">
                <a:solidFill>
                  <a:srgbClr val="1B2430"/>
                </a:solidFill>
                <a:latin typeface="Calibri"/>
              </a:rPr>
              <a:t>k-means (k=3)</a:t>
            </a:r>
            <a:r>
              <a:rPr sz="1900" b="0">
                <a:solidFill>
                  <a:srgbClr val="1B2430"/>
                </a:solidFill>
                <a:latin typeface="Calibri"/>
              </a:rPr>
              <a:t>, </a:t>
            </a:r>
            <a:r>
              <a:rPr sz="1900" b="1">
                <a:solidFill>
                  <a:srgbClr val="1B2430"/>
                </a:solidFill>
                <a:latin typeface="Calibri"/>
              </a:rPr>
              <a:t>Mclust</a:t>
            </a:r>
            <a:r>
              <a:rPr sz="1900" b="0">
                <a:solidFill>
                  <a:srgbClr val="1B2430"/>
                </a:solidFill>
                <a:latin typeface="Calibri"/>
              </a:rPr>
              <a:t>, and </a:t>
            </a:r>
            <a:r>
              <a:rPr sz="1900" b="1">
                <a:solidFill>
                  <a:srgbClr val="1B2430"/>
                </a:solidFill>
                <a:latin typeface="Calibri"/>
              </a:rPr>
              <a:t>Ward hierarchical (cut at 3)</a:t>
            </a:r>
            <a:r>
              <a:rPr sz="1900" b="0">
                <a:solidFill>
                  <a:srgbClr val="1B2430"/>
                </a:solidFill>
                <a:latin typeface="Calibri"/>
              </a:rPr>
              <a:t>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2.  </a:t>
            </a:r>
            <a:r>
              <a:rPr sz="1900" b="0">
                <a:solidFill>
                  <a:srgbClr val="1B2430"/>
                </a:solidFill>
                <a:latin typeface="Calibri"/>
              </a:rPr>
              <a:t>Cross-tabulate the three labelings pairwise. Where do they agree and disagree?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3.  </a:t>
            </a:r>
            <a:r>
              <a:rPr sz="1900" b="0">
                <a:solidFill>
                  <a:srgbClr val="1B2430"/>
                </a:solidFill>
                <a:latin typeface="Calibri"/>
              </a:rPr>
              <a:t>For the points where methods </a:t>
            </a:r>
            <a:r>
              <a:rPr sz="1900" b="1">
                <a:solidFill>
                  <a:srgbClr val="1B2430"/>
                </a:solidFill>
                <a:latin typeface="Calibri"/>
              </a:rPr>
              <a:t>disagree</a:t>
            </a:r>
            <a:r>
              <a:rPr sz="1900" b="0">
                <a:solidFill>
                  <a:srgbClr val="1B2430"/>
                </a:solidFill>
                <a:latin typeface="Calibri"/>
              </a:rPr>
              <a:t>, describe where they sit geometrically.</a:t>
            </a:r>
          </a:p>
          <a:p>
            <a:pPr>
              <a:lnSpc>
                <a:spcPct val="115000"/>
              </a:lnSpc>
              <a:spcAft>
                <a:spcPts val="1000"/>
              </a:spcAft>
            </a:pPr>
            <a:r>
              <a:rPr b="1" sz="1900">
                <a:solidFill>
                  <a:srgbClr val="E64626"/>
                </a:solidFill>
                <a:latin typeface="Calibri"/>
              </a:rPr>
              <a:t>4.  </a:t>
            </a:r>
            <a:r>
              <a:rPr sz="1900" b="0">
                <a:solidFill>
                  <a:srgbClr val="1B2430"/>
                </a:solidFill>
                <a:latin typeface="Calibri"/>
              </a:rPr>
              <a:t>Which method would you report to your Nutrition partners, and why?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5257800"/>
            <a:ext cx="10515600" cy="914400"/>
          </a:xfrm>
          <a:prstGeom prst="roundRect">
            <a:avLst/>
          </a:prstGeom>
          <a:solidFill>
            <a:srgbClr val="FFF6EE"/>
          </a:solidFill>
          <a:ln w="15240">
            <a:solidFill>
              <a:srgbClr val="B9841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97280" y="5440680"/>
            <a:ext cx="99669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B98416"/>
                </a:solidFill>
                <a:latin typeface="Calibri"/>
              </a:rPr>
              <a:t>Hint.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Use table() for pairwise agreement; disagreements often sit in overlap/boundary regions.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44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FURTHER READING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To go deeper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James, Witten, Hastie &amp; Tibshirani — *An Introduction to Statistical Learning*, Ch. 12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Hastie, Tibshirani &amp; Friedman — *The Elements of Statistical Learning*, §14.3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R: the </a:t>
            </a:r>
            <a:r>
              <a:rPr sz="2000" b="1">
                <a:solidFill>
                  <a:srgbClr val="1B2430"/>
                </a:solidFill>
                <a:latin typeface="Calibri"/>
              </a:rPr>
              <a:t>cluster</a:t>
            </a:r>
            <a:r>
              <a:rPr sz="2000" b="0">
                <a:solidFill>
                  <a:srgbClr val="1B2430"/>
                </a:solidFill>
                <a:latin typeface="Calibri"/>
              </a:rPr>
              <a:t>, </a:t>
            </a:r>
            <a:r>
              <a:rPr sz="2000" b="1">
                <a:solidFill>
                  <a:srgbClr val="1B2430"/>
                </a:solidFill>
                <a:latin typeface="Calibri"/>
              </a:rPr>
              <a:t>factoextra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</a:t>
            </a:r>
            <a:r>
              <a:rPr sz="2000" b="1">
                <a:solidFill>
                  <a:srgbClr val="1B2430"/>
                </a:solidFill>
                <a:latin typeface="Calibri"/>
              </a:rPr>
              <a:t>pheatmap</a:t>
            </a:r>
            <a:r>
              <a:rPr sz="2000" b="0">
                <a:solidFill>
                  <a:srgbClr val="1B2430"/>
                </a:solidFill>
                <a:latin typeface="Calibri"/>
              </a:rPr>
              <a:t> package vignettes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45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743200"/>
            <a:ext cx="12191695" cy="45720"/>
          </a:xfrm>
          <a:prstGeom prst="rect">
            <a:avLst/>
          </a:prstGeom>
          <a:solidFill>
            <a:srgbClr val="6F9C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92024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500" b="1" i="0">
                <a:solidFill>
                  <a:srgbClr val="BFD8E8"/>
                </a:solidFill>
                <a:latin typeface="Calibri"/>
              </a:rPr>
              <a:t>PART 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9260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Bef>
                <a:spcPts val="0"/>
              </a:spcBef>
              <a:spcAft>
                <a:spcPts val="600"/>
              </a:spcAft>
            </a:pPr>
            <a:r>
              <a:rPr sz="4000" b="1" i="0">
                <a:solidFill>
                  <a:srgbClr val="FFFFFF"/>
                </a:solidFill>
                <a:latin typeface="Calibri"/>
              </a:rPr>
              <a:t>A worked calculation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Merge distances by hand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Four 1-D points: A = 1, B = 2, C = 6, D = 8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Euclidean distances: |A−B| = 1, |C−D| = 2, |B−C| = 4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We'll agglomerate step by step under </a:t>
            </a:r>
            <a:r>
              <a:rPr sz="2000" b="1">
                <a:solidFill>
                  <a:srgbClr val="1B2430"/>
                </a:solidFill>
                <a:latin typeface="Calibri"/>
              </a:rPr>
              <a:t>single</a:t>
            </a:r>
            <a:r>
              <a:rPr sz="2000" b="0">
                <a:solidFill>
                  <a:srgbClr val="1B2430"/>
                </a:solidFill>
                <a:latin typeface="Calibri"/>
              </a:rPr>
              <a:t> linkage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46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TRACE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Single-linkage merges</a:t>
            </a:r>
          </a:p>
        </p:txBody>
      </p:sp>
      <p:sp>
        <p:nvSpPr>
          <p:cNvPr id="6" name="Oval 5"/>
          <p:cNvSpPr/>
          <p:nvPr/>
        </p:nvSpPr>
        <p:spPr>
          <a:xfrm>
            <a:off x="822960" y="1737360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737360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45920" y="1719072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Merge A &amp; B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2084832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closest pair, distance 1 → cluster {A,B}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2761488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2761488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2743200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Merge C &amp; 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3108960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next closest, distance 2 → cluster {C,D}</a:t>
            </a:r>
          </a:p>
        </p:txBody>
      </p:sp>
      <p:sp>
        <p:nvSpPr>
          <p:cNvPr id="14" name="Oval 13"/>
          <p:cNvSpPr/>
          <p:nvPr/>
        </p:nvSpPr>
        <p:spPr>
          <a:xfrm>
            <a:off x="822960" y="3785616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" y="3785616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3767328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Merge {A,B} &amp; {C,D}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133088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single linkage = min pair distance = |B−C| = 4</a:t>
            </a:r>
          </a:p>
        </p:txBody>
      </p:sp>
      <p:sp>
        <p:nvSpPr>
          <p:cNvPr id="18" name="Oval 17"/>
          <p:cNvSpPr/>
          <p:nvPr/>
        </p:nvSpPr>
        <p:spPr>
          <a:xfrm>
            <a:off x="822960" y="4809744"/>
            <a:ext cx="640080" cy="640080"/>
          </a:xfrm>
          <a:prstGeom prst="ellipse">
            <a:avLst/>
          </a:prstGeom>
          <a:solidFill>
            <a:srgbClr val="2A6F9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" y="4809744"/>
            <a:ext cx="64008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4791456"/>
            <a:ext cx="96926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1" i="0">
                <a:solidFill>
                  <a:srgbClr val="1B2430"/>
                </a:solidFill>
                <a:latin typeface="Calibri"/>
              </a:rPr>
              <a:t>Done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45920" y="5157216"/>
            <a:ext cx="9692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600"/>
              </a:spcAft>
            </a:pPr>
            <a:r>
              <a:rPr sz="1550" b="0" i="0">
                <a:solidFill>
                  <a:srgbClr val="5B6A7D"/>
                </a:solidFill>
                <a:latin typeface="Calibri"/>
              </a:rPr>
              <a:t>one cluster; heights recorded are 1, 2, 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598932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598932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606247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Under complete linkage the last merge height would be |A−D| = 7, not 4.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47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CHECK YOUR UNDERSTANDING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For the last merge above, what height does COMPLETE linkage use?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822960" y="182880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00200" y="182880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4 (|B−C|)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606040"/>
            <a:ext cx="10515600" cy="658368"/>
          </a:xfrm>
          <a:prstGeom prst="roundRect">
            <a:avLst/>
          </a:prstGeom>
          <a:solidFill>
            <a:srgbClr val="E4F3EC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22960" y="2606040"/>
            <a:ext cx="566928" cy="658368"/>
          </a:xfrm>
          <a:prstGeom prst="round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260604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B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00200" y="260604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1">
                <a:solidFill>
                  <a:srgbClr val="1B2430"/>
                </a:solidFill>
                <a:latin typeface="Calibri"/>
              </a:rPr>
              <a:t>7 (|A−D|)</a:t>
            </a:r>
            <a:r>
              <a:rPr sz="1650" b="1">
                <a:solidFill>
                  <a:srgbClr val="2A9D8F"/>
                </a:solidFill>
                <a:latin typeface="Calibri"/>
              </a:rPr>
              <a:t>   ✓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338328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22960" y="338328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338328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00200" y="338328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2 (|C−D|)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22960" y="4160520"/>
            <a:ext cx="10515600" cy="65836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2960" y="4160520"/>
            <a:ext cx="566928" cy="658368"/>
          </a:xfrm>
          <a:prstGeom prst="roundRect">
            <a:avLst/>
          </a:prstGeom>
          <a:solidFill>
            <a:srgbClr val="C7D0D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160520"/>
            <a:ext cx="566928" cy="6583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160520"/>
            <a:ext cx="950976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1650" b="0">
                <a:solidFill>
                  <a:srgbClr val="1B2430"/>
                </a:solidFill>
                <a:latin typeface="Calibri"/>
              </a:rPr>
              <a:t>1 (|A−B|)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22960" y="4983480"/>
            <a:ext cx="10515600" cy="777240"/>
          </a:xfrm>
          <a:prstGeom prst="roundRect">
            <a:avLst/>
          </a:prstGeom>
          <a:solidFill>
            <a:srgbClr val="EEF6F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22960" y="4983480"/>
            <a:ext cx="73152" cy="777240"/>
          </a:xfrm>
          <a:prstGeom prst="rect">
            <a:avLst/>
          </a:prstGeom>
          <a:solidFill>
            <a:srgbClr val="2A9D8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78992" y="5056632"/>
            <a:ext cx="1005840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lnSpc>
                <a:spcPct val="108000"/>
              </a:lnSpc>
            </a:pPr>
            <a:r>
              <a:rPr sz="1500" b="0">
                <a:solidFill>
                  <a:srgbClr val="1B2430"/>
                </a:solidFill>
                <a:latin typeface="Calibri"/>
              </a:rPr>
              <a:t>Why: Complete linkage uses the farthest pair between clusters: |A−D| = |1−8| = 7.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48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LESSON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Same data, different heights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600200"/>
            <a:ext cx="1051560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Single</a:t>
            </a:r>
            <a:r>
              <a:rPr sz="2000" b="0">
                <a:solidFill>
                  <a:srgbClr val="1B2430"/>
                </a:solidFill>
                <a:latin typeface="Calibri"/>
              </a:rPr>
              <a:t> linkage last-merge height = 4 (nearest pair)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1">
                <a:solidFill>
                  <a:srgbClr val="1B2430"/>
                </a:solidFill>
                <a:latin typeface="Calibri"/>
              </a:rPr>
              <a:t>Complete</a:t>
            </a:r>
            <a:r>
              <a:rPr sz="2000" b="0">
                <a:solidFill>
                  <a:srgbClr val="1B2430"/>
                </a:solidFill>
                <a:latin typeface="Calibri"/>
              </a:rPr>
              <a:t> linkage last-merge height = 7 (farthest pair)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The tree's </a:t>
            </a:r>
            <a:r>
              <a:rPr sz="2000" b="1">
                <a:solidFill>
                  <a:srgbClr val="1B2430"/>
                </a:solidFill>
                <a:latin typeface="Calibri"/>
              </a:rPr>
              <a:t>shape and cut points</a:t>
            </a:r>
            <a:r>
              <a:rPr sz="2000" b="0">
                <a:solidFill>
                  <a:srgbClr val="1B2430"/>
                </a:solidFill>
                <a:latin typeface="Calibri"/>
              </a:rPr>
              <a:t> change with linkage</a:t>
            </a:r>
          </a:p>
          <a:p>
            <a:pPr>
              <a:lnSpc>
                <a:spcPct val="110000"/>
              </a:lnSpc>
              <a:spcBef>
                <a:spcPts val="200"/>
              </a:spcBef>
              <a:spcAft>
                <a:spcPts val="1100"/>
              </a:spcAft>
            </a:pPr>
            <a:r>
              <a:rPr sz="2000" b="1">
                <a:solidFill>
                  <a:srgbClr val="E64626"/>
                </a:solidFill>
                <a:latin typeface="Calibri"/>
              </a:rPr>
              <a:t>▸  </a:t>
            </a:r>
            <a:r>
              <a:rPr sz="2000" b="0">
                <a:solidFill>
                  <a:srgbClr val="1B2430"/>
                </a:solidFill>
                <a:latin typeface="Calibri"/>
              </a:rPr>
              <a:t>This is why linkage is a genuine modelling decision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49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B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2331720"/>
            <a:ext cx="320040" cy="219456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4173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400" b="1" i="0">
                <a:solidFill>
                  <a:srgbClr val="C8D4E2"/>
                </a:solidFill>
                <a:latin typeface="Calibri"/>
              </a:rPr>
              <a:t>THE TAKEAWAY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104241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Hierarchical clustering doesn't give you one answer — it gives you a whole family, and you choose from it with judgement.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32688" y="502920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900" b="0" i="1">
                <a:solidFill>
                  <a:srgbClr val="B9C6D6"/>
                </a:solidFill>
                <a:latin typeface="Calibri"/>
              </a:rPr>
              <a:t>Distance + linkage + cut height are three levers. Own all three.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E64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250" b="1" i="0">
                <a:solidFill>
                  <a:srgbClr val="E64626"/>
                </a:solidFill>
                <a:latin typeface="Calibri"/>
              </a:rPr>
              <a:t>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49808"/>
            <a:ext cx="106070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</a:pPr>
            <a:r>
              <a:rPr sz="3000" b="1" i="0">
                <a:solidFill>
                  <a:srgbClr val="1B2430"/>
                </a:solidFill>
                <a:latin typeface="Calibri"/>
              </a:rPr>
              <a:t>Key takeaways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1737360"/>
            <a:ext cx="10424160" cy="3840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Hierarchical clustering builds a </a:t>
            </a:r>
            <a:r>
              <a:rPr sz="2000" b="1">
                <a:solidFill>
                  <a:srgbClr val="1B2430"/>
                </a:solidFill>
                <a:latin typeface="Calibri"/>
              </a:rPr>
              <a:t>tree</a:t>
            </a:r>
            <a:r>
              <a:rPr sz="2000" b="0">
                <a:solidFill>
                  <a:srgbClr val="1B2430"/>
                </a:solidFill>
                <a:latin typeface="Calibri"/>
              </a:rPr>
              <a:t> — a clustering for every k, no k fixed up front.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1">
                <a:solidFill>
                  <a:srgbClr val="1B2430"/>
                </a:solidFill>
                <a:latin typeface="Calibri"/>
              </a:rPr>
              <a:t>Agglomerative</a:t>
            </a:r>
            <a:r>
              <a:rPr sz="2000" b="0">
                <a:solidFill>
                  <a:srgbClr val="1B2430"/>
                </a:solidFill>
                <a:latin typeface="Calibri"/>
              </a:rPr>
              <a:t> merging is driven by a </a:t>
            </a:r>
            <a:r>
              <a:rPr sz="2000" b="1">
                <a:solidFill>
                  <a:srgbClr val="1B2430"/>
                </a:solidFill>
                <a:latin typeface="Calibri"/>
              </a:rPr>
              <a:t>linkage</a:t>
            </a:r>
            <a:r>
              <a:rPr sz="2000" b="0">
                <a:solidFill>
                  <a:srgbClr val="1B2430"/>
                </a:solidFill>
                <a:latin typeface="Calibri"/>
              </a:rPr>
              <a:t> criterion (single/complete/average/Ward).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Read clusters by </a:t>
            </a:r>
            <a:r>
              <a:rPr sz="2000" b="1">
                <a:solidFill>
                  <a:srgbClr val="1B2430"/>
                </a:solidFill>
                <a:latin typeface="Calibri"/>
              </a:rPr>
              <a:t>cutting</a:t>
            </a:r>
            <a:r>
              <a:rPr sz="2000" b="0">
                <a:solidFill>
                  <a:srgbClr val="1B2430"/>
                </a:solidFill>
                <a:latin typeface="Calibri"/>
              </a:rPr>
              <a:t> the dendrogram at a natural gap in merge heights.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b="1" sz="2100">
                <a:solidFill>
                  <a:srgbClr val="2A9D8F"/>
                </a:solidFill>
                <a:latin typeface="Calibri"/>
              </a:rPr>
              <a:t>✓  </a:t>
            </a:r>
            <a:r>
              <a:rPr sz="2000" b="0">
                <a:solidFill>
                  <a:srgbClr val="1B2430"/>
                </a:solidFill>
                <a:latin typeface="Calibri"/>
              </a:rPr>
              <a:t>It's interpretable and shape-aware, but </a:t>
            </a:r>
            <a:r>
              <a:rPr sz="2000" b="1">
                <a:solidFill>
                  <a:srgbClr val="1B2430"/>
                </a:solidFill>
                <a:latin typeface="Calibri"/>
              </a:rPr>
              <a:t>O(n²)</a:t>
            </a:r>
            <a:r>
              <a:rPr sz="2000" b="0">
                <a:solidFill>
                  <a:srgbClr val="1B2430"/>
                </a:solidFill>
                <a:latin typeface="Calibri"/>
              </a:rPr>
              <a:t> and sensitive to distance &amp; linkage choices.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5486400"/>
            <a:ext cx="10515600" cy="777240"/>
          </a:xfrm>
          <a:prstGeom prst="roundRect">
            <a:avLst/>
          </a:prstGeom>
          <a:solidFill>
            <a:srgbClr val="EEF3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69280"/>
            <a:ext cx="99669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600" b="1" i="0">
                <a:solidFill>
                  <a:srgbClr val="E64626"/>
                </a:solidFill>
                <a:latin typeface="Calibri"/>
              </a:rPr>
              <a:t>Next lecture →  </a:t>
            </a:r>
            <a:r>
              <a:rPr sz="1600" b="0" i="0">
                <a:solidFill>
                  <a:srgbClr val="1B2430"/>
                </a:solidFill>
                <a:latin typeface="Calibri"/>
              </a:rPr>
              <a:t>Lecture 07 — PCA background: the linear algebra behind dimension reduction.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6419088"/>
            <a:ext cx="10607040" cy="1270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6473952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STAT3888 · Statistical Machine Learning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6473952"/>
            <a:ext cx="14173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6000"/>
              </a:lnSpc>
              <a:spcBef>
                <a:spcPts val="0"/>
              </a:spcBef>
              <a:spcAft>
                <a:spcPts val="600"/>
              </a:spcAft>
            </a:pPr>
            <a:r>
              <a:rPr sz="1000" b="0" i="0">
                <a:solidFill>
                  <a:srgbClr val="5B6A7D"/>
                </a:solidFill>
                <a:latin typeface="Calibri"/>
              </a:rPr>
              <a:t>L06 · 51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