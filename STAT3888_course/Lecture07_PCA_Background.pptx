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Principal Component Analysis: The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The linear-algebra foundations — variance, covariance, projections, eigenvectors — that make PCA work. Build the intuition before the method.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Why dimension reduction? The curse of dimensionality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Variance: measuring spread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Covariance and the covariance matrix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Vectors, projections and linear combinations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Eigenvectors and eigenvalues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Putting it together: the geometry of PCA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From clustering to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Weeks 1–2: we </a:t>
            </a:r>
            <a:r>
              <a:rPr sz="2000" b="1">
                <a:solidFill>
                  <a:srgbClr val="1B2430"/>
                </a:solidFill>
                <a:latin typeface="Calibri"/>
              </a:rPr>
              <a:t>grouped</a:t>
            </a:r>
            <a:r>
              <a:rPr sz="2000" b="0">
                <a:solidFill>
                  <a:srgbClr val="1B2430"/>
                </a:solidFill>
                <a:latin typeface="Calibri"/>
              </a:rPr>
              <a:t> observations (clustering)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Now we shift to </a:t>
            </a:r>
            <a:r>
              <a:rPr sz="2000" b="1">
                <a:solidFill>
                  <a:srgbClr val="1B2430"/>
                </a:solidFill>
                <a:latin typeface="Calibri"/>
              </a:rPr>
              <a:t>summarising variables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dimension reduction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Nutrition data is </a:t>
            </a:r>
            <a:r>
              <a:rPr sz="2000" b="1">
                <a:solidFill>
                  <a:srgbClr val="1B2430"/>
                </a:solidFill>
                <a:latin typeface="Calibri"/>
              </a:rPr>
              <a:t>wide</a:t>
            </a:r>
            <a:r>
              <a:rPr sz="2000" b="0">
                <a:solidFill>
                  <a:srgbClr val="1B2430"/>
                </a:solidFill>
                <a:latin typeface="Calibri"/>
              </a:rPr>
              <a:t>: dozens of correlated intake &amp; metabolite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compresses them into a few informative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reduce dimensions?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Dimension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Dimension reduction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replaces many (correlated) variables with a few new variables that retain most of the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Fewer variables → easier to visualise, store and model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Removes redundancy among correlated measurements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Can reduce noise and improve downstream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CURSE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high dimensions hurt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Distances lose meaning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everything becomes far apart and roughly equidistant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Models need </a:t>
            </a:r>
            <a:r>
              <a:rPr sz="2000" b="1">
                <a:solidFill>
                  <a:srgbClr val="1B2430"/>
                </a:solidFill>
                <a:latin typeface="Calibri"/>
              </a:rPr>
              <a:t>exponentially more data</a:t>
            </a:r>
            <a:r>
              <a:rPr sz="2000" b="0">
                <a:solidFill>
                  <a:srgbClr val="1B2430"/>
                </a:solidFill>
                <a:latin typeface="Calibri"/>
              </a:rPr>
              <a:t> as dimensions grow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Overfitting</a:t>
            </a:r>
            <a:r>
              <a:rPr sz="2000" b="0">
                <a:solidFill>
                  <a:srgbClr val="1B2430"/>
                </a:solidFill>
                <a:latin typeface="Calibri"/>
              </a:rPr>
              <a:t> becomes easy; visualisation becomes impossible beyond 3-D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Many variables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redundant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they move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If variables are correlated, the data doesn't really fill all those dimensions — it lives near a lower-dimensional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PCA finds that surface: the few directions along which the data actually varies.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dimension reduction is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Visualisation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Squeeze many variables into 2–3 axes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Plot participants and spot patterns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Communicate structure to non-experts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Feed fewer, cleaner inputs to models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Reduce collinearity and noise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Speed up and stabilise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Variance: measuring spread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of a variable is the average squared distance of its values from their mean — a measure of spread.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Larger variance = data more spread out along that variable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treats variance as </a:t>
            </a:r>
            <a:r>
              <a:rPr sz="1800" b="1">
                <a:solidFill>
                  <a:srgbClr val="1B2430"/>
                </a:solidFill>
                <a:latin typeface="Calibri"/>
              </a:rPr>
              <a:t>information</a:t>
            </a:r>
            <a:r>
              <a:rPr sz="1800" b="0">
                <a:solidFill>
                  <a:srgbClr val="1B2430"/>
                </a:solidFill>
                <a:latin typeface="Calibri"/>
              </a:rPr>
              <a:t> worth keeping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Zero variance = a constant, carrying no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Sample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s² = (1/(n−1)) Σᵢ ( xᵢ − x̄ 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Subtract the mean, square, average (with n−1 for an unbiased estimate)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Units are squared;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standard deviation</a:t>
            </a:r>
            <a:r>
              <a:rPr sz="1800" b="0">
                <a:solidFill>
                  <a:srgbClr val="1B2430"/>
                </a:solidFill>
                <a:latin typeface="Calibri"/>
              </a:rPr>
              <a:t> s is on the original scale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seeks new axes that </a:t>
            </a:r>
            <a:r>
              <a:rPr sz="1800" b="1">
                <a:solidFill>
                  <a:srgbClr val="1B2430"/>
                </a:solidFill>
                <a:latin typeface="Calibri"/>
              </a:rPr>
              <a:t>maximise</a:t>
            </a:r>
            <a:r>
              <a:rPr sz="1800" b="0">
                <a:solidFill>
                  <a:srgbClr val="1B2430"/>
                </a:solidFill>
                <a:latin typeface="Calibri"/>
              </a:rPr>
              <a:t> this quantity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Variance is spread</a:t>
            </a:r>
          </a:p>
        </p:txBody>
      </p:sp>
      <p:pic>
        <p:nvPicPr>
          <p:cNvPr id="6" name="Picture 5" descr="L07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05581"/>
            <a:ext cx="9144000" cy="40869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Both clouds share the same centre, but the right has far more variance. PCA cares about directions where variance is large.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WHY VARIANCE =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PCA worldview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direction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high 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separates observations — it's informative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direction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near-zero 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looks the same for everyone — drop 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ranks directions by variance and keeps the top few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Covariance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of two variables measures how they vary </a:t>
            </a:r>
            <a:r>
              <a:rPr sz="2000" b="1">
                <a:solidFill>
                  <a:srgbClr val="1B2430"/>
                </a:solidFill>
                <a:latin typeface="Calibri"/>
              </a:rPr>
              <a:t>together</a:t>
            </a:r>
            <a:r>
              <a:rPr sz="2000" b="0">
                <a:solidFill>
                  <a:srgbClr val="1B2430"/>
                </a:solidFill>
                <a:latin typeface="Calibri"/>
              </a:rPr>
              <a:t>: positive if they rise together, negative if one falls as the other rises.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Cov &gt; 0: move in the same direction (e.g. energy &amp; fat)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Cov &lt; 0: move oppositely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Cov ≈ 0: no linear 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Sample covariance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cov(x,y) = (1/(n−1)) Σᵢ (xᵢ−x̄)(yᵢ−ȳ)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Positive when both variables are above (or both below) their means together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Symmetric: cov(x,y) = cov(y,x)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cov(x,x) is just the variance of 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THREE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Covariance encodes co-movement</a:t>
            </a:r>
          </a:p>
        </p:txBody>
      </p:sp>
      <p:pic>
        <p:nvPicPr>
          <p:cNvPr id="6" name="Picture 5" descr="L07_co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36013"/>
            <a:ext cx="9144000" cy="32260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Negative, near-zero, and positive covariance. PCA works from exactly this structure across all variable pairs.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Covariance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covariance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 Σ collects the variance of every variable (diagonal) and the covariance of every pair (off-diagonal).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For p variables it is p×p and symmetric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Diagonal = variances; off-diagonal = covariances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This single matrix is the raw material for PCA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p×p covariance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Σ = [ var(x₁)   cov(x₁,x₂) … ; cov(x₂,x₁)  var(x₂) … ;  ⋮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Symmetric and (usually) positive semi-definite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Captures the whole </a:t>
            </a:r>
            <a:r>
              <a:rPr sz="1800" b="1">
                <a:solidFill>
                  <a:srgbClr val="1B2430"/>
                </a:solidFill>
                <a:latin typeface="Calibri"/>
              </a:rPr>
              <a:t>linear</a:t>
            </a:r>
            <a:r>
              <a:rPr sz="1800" b="0">
                <a:solidFill>
                  <a:srgbClr val="1B2430"/>
                </a:solidFill>
                <a:latin typeface="Calibri"/>
              </a:rPr>
              <a:t> dependence structure of the data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= an eigen-decomposition of this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Covariance's scaled cousin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Correlation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= covariance divided by the two standard deviations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between −1 and +1 — scale-free and interpretable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Running PCA on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correlation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matrix = PCA on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Almost always what you want when variables have different units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Energy (kJ) and fat (g) tend to rise together. Their covariance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Negative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Zero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Positive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Undefined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Variables that increase together have positive covariance.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Vectors &amp; projections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Data points as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observation with p variables is a </a:t>
            </a:r>
            <a:r>
              <a:rPr sz="2000" b="1">
                <a:solidFill>
                  <a:srgbClr val="1B2430"/>
                </a:solidFill>
                <a:latin typeface="Calibri"/>
              </a:rPr>
              <a:t>point / vector</a:t>
            </a:r>
            <a:r>
              <a:rPr sz="2000" b="0">
                <a:solidFill>
                  <a:srgbClr val="1B2430"/>
                </a:solidFill>
                <a:latin typeface="Calibri"/>
              </a:rPr>
              <a:t> in p-dimensional space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direction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unit vector v (length 1) pointing some way through that space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is a hunt for the most </a:t>
            </a:r>
            <a:r>
              <a:rPr sz="2000" b="1">
                <a:solidFill>
                  <a:srgbClr val="1B2430"/>
                </a:solidFill>
                <a:latin typeface="Calibri"/>
              </a:rPr>
              <a:t>informative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projection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of a point onto a direction v is its 'shadow' on that line — how far along v the point sits, given by the dot product xᵀv.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Projecting reduces a p-dim point to a single number (its coordinate on v)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set of all projections is a new 1-D variable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chooses v so this new variable has </a:t>
            </a:r>
            <a:r>
              <a:rPr sz="1800" b="1">
                <a:solidFill>
                  <a:srgbClr val="1B2430"/>
                </a:solidFill>
                <a:latin typeface="Calibri"/>
              </a:rPr>
              <a:t>maximum variance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Projecting data onto a direction</a:t>
            </a:r>
          </a:p>
        </p:txBody>
      </p:sp>
      <p:pic>
        <p:nvPicPr>
          <p:cNvPr id="6" name="Picture 5" descr="L07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491" y="1600200"/>
            <a:ext cx="522597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Grey lines drop each point onto the line. PCA picks the line (red) for which the projected points (teal) are as spread out as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PC1 maximises projected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PC1 = argmaxᵥ  Var( X v )   subject to ‖v‖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Among all unit directions, find the one with the most spread after projection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That direction is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first principal component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next PC does the same, but must be </a:t>
            </a:r>
            <a:r>
              <a:rPr sz="1800" b="1">
                <a:solidFill>
                  <a:srgbClr val="1B2430"/>
                </a:solidFill>
                <a:latin typeface="Calibri"/>
              </a:rPr>
              <a:t>orthogonal</a:t>
            </a:r>
            <a:r>
              <a:rPr sz="1800" b="0">
                <a:solidFill>
                  <a:srgbClr val="1B2430"/>
                </a:solidFill>
                <a:latin typeface="Calibri"/>
              </a:rPr>
              <a:t> to the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LINEAR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a principal component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PC is a </a:t>
            </a:r>
            <a:r>
              <a:rPr sz="2000" b="1">
                <a:solidFill>
                  <a:srgbClr val="1B2430"/>
                </a:solidFill>
                <a:latin typeface="Calibri"/>
              </a:rPr>
              <a:t>weighted sum</a:t>
            </a:r>
            <a:r>
              <a:rPr sz="2000" b="0">
                <a:solidFill>
                  <a:srgbClr val="1B2430"/>
                </a:solidFill>
                <a:latin typeface="Calibri"/>
              </a:rPr>
              <a:t> of the original variables: PC = w₁x₁ + w₂x₂ + 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weights </a:t>
            </a:r>
            <a:r>
              <a:rPr sz="2000" b="1">
                <a:solidFill>
                  <a:srgbClr val="1B2430"/>
                </a:solidFill>
                <a:latin typeface="Calibri"/>
              </a:rPr>
              <a:t>w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called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they define the direction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resulting values are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each participant's PC coordinate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So PCA = choosing loadings that maximise score variance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Eigenvectors &amp; eigenvalues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Eigenvector &amp; eigenvalue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An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eigenvector</a:t>
            </a:r>
            <a:r>
              <a:rPr sz="2000" b="0">
                <a:solidFill>
                  <a:srgbClr val="1B2430"/>
                </a:solidFill>
                <a:latin typeface="Calibri"/>
              </a:rPr>
              <a:t> of a matrix is a direction that the matrix only </a:t>
            </a:r>
            <a:r>
              <a:rPr sz="2000" b="1">
                <a:solidFill>
                  <a:srgbClr val="1B2430"/>
                </a:solidFill>
                <a:latin typeface="Calibri"/>
              </a:rPr>
              <a:t>stretches</a:t>
            </a:r>
            <a:r>
              <a:rPr sz="2000" b="0">
                <a:solidFill>
                  <a:srgbClr val="1B2430"/>
                </a:solidFill>
                <a:latin typeface="Calibri"/>
              </a:rPr>
              <a:t> (not rotates); its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eigenvalue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stretch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For the covariance matrix, eigenvectors = principal component directions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Eigenvalues = the variance captured along each PC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Bigger eigenvalue = more important 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Eigenvectors of the covariance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Σ v = λ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v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an eigenvector (a principal direction)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λ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its eigenvalue (variance along that direction)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Solving this for Σ yields </a:t>
            </a:r>
            <a:r>
              <a:rPr sz="1800" b="1">
                <a:solidFill>
                  <a:srgbClr val="1B2430"/>
                </a:solidFill>
                <a:latin typeface="Calibri"/>
              </a:rPr>
              <a:t>all</a:t>
            </a:r>
            <a:r>
              <a:rPr sz="1800" b="0">
                <a:solidFill>
                  <a:srgbClr val="1B2430"/>
                </a:solidFill>
                <a:latin typeface="Calibri"/>
              </a:rPr>
              <a:t> the principal components at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The eigenvector with the largest λ is PC1; the next largest is PC2; and so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Eigenvectors of covariance = principal axes</a:t>
            </a:r>
          </a:p>
        </p:txBody>
      </p:sp>
      <p:pic>
        <p:nvPicPr>
          <p:cNvPr id="6" name="Picture 5" descr="L07_ei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302" y="1600200"/>
            <a:ext cx="695035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PC1 (largest eigenvalue) runs along the cloud's longest axis; PC2 is orthogonal, capturing the remaining spread.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Properties of the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Eigenvectors of a symmetric Σ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orthogonal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PCs are uncorrelated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Eigenvalues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non-negative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sum to the total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Ordering</a:t>
            </a:r>
            <a:r>
              <a:rPr sz="2000" b="0">
                <a:solidFill>
                  <a:srgbClr val="1B2430"/>
                </a:solidFill>
                <a:latin typeface="Calibri"/>
              </a:rPr>
              <a:t> by eigenvalue ranks components by importance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Proportion of variance explained by PCk = λₖ / Σλ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 PCA, the eigenvalue associated with a principal component tells you…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Its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How much variance it captures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number of clusters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correlation with 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Each eigenvalue is the variance of the data along its eigenvector (that PC). Larger eigenvalue = more informative component.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Standardisation &amp; geometry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SCALE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standardising matters for PCA</a:t>
            </a:r>
          </a:p>
        </p:txBody>
      </p:sp>
      <p:pic>
        <p:nvPicPr>
          <p:cNvPr id="6" name="Picture 5" descr="L07_standard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9055"/>
            <a:ext cx="9144000" cy="3979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Before standardising, the high-variance variable (energy) hijacks PC1. After, every variable competes fairly.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STANDARDISE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Correlation- vs covariance-based PCA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On </a:t>
            </a:r>
            <a:r>
              <a:rPr sz="2000" b="1">
                <a:solidFill>
                  <a:srgbClr val="1B2430"/>
                </a:solidFill>
                <a:latin typeface="Calibri"/>
              </a:rPr>
              <a:t>raw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data, PCA chases the variable with the biggest numeric scale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Standardising</a:t>
            </a:r>
            <a:r>
              <a:rPr sz="2000" b="0">
                <a:solidFill>
                  <a:srgbClr val="1B2430"/>
                </a:solidFill>
                <a:latin typeface="Calibri"/>
              </a:rPr>
              <a:t> (z-scores) makes each variable have variance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Then PCA works on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correlation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structure — usually what you want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Exception: if all variables share the same meaningful unit, raw PCA can be fine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in five conceptual steps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Standardise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centre and scale every variable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0662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form the covariance (correlation) matrix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Eigen-decompose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find eigenvectors (directions) and eigenvalues (variances)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68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Order &amp; 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rank by eigenvalue, keep the top few PCs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61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compute scores — the data in the new low-dim coordinates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98932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98932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606247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Lecture 8 turns this recipe into practice, plots and interpretation.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PCA rotates the coordinate axes to line up with the directions of greatest variance — then throws away the boring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No information about *which* variables matter is lost; it's re-expressed.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Consolidate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Terms you now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Variance / covariance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spread and co-movement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Covariance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all of it, in one p×p object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Projection / loading / score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direction, weights, coordinates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Eigenvector / eigenvalue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principal direction and its variance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Covariance by hand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Two participants' (fibre, fullness) values: A = (2, 3), B = (4, 7); means are (3, 5).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Compute the covariance of fibre and fullness from these two points.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Is it positive or negative? What does the sign say about the relationship?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Why must we </a:t>
            </a:r>
            <a:r>
              <a:rPr sz="19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1900" b="0">
                <a:solidFill>
                  <a:srgbClr val="1B2430"/>
                </a:solidFill>
                <a:latin typeface="Calibri"/>
              </a:rPr>
              <a:t> before PCA if fibre is in grams and fullness on a 1–10 scale?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cov = (1/(n−1)) Σ (xᵢ−x̄)(yᵢ−ȳ); here that's (1/1)[(−1)(−2)+(1)(2)].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Reason about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A data cloud is a long, thin ellipse tilted at 45°. Sketch where PC1 and PC2 point.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PC has the larger eigenvalue, and why?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If you kept only PC1, what information about the data would you lose?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PC1 follows the long axis (most variance); PC2 is perpendicular (the thin direction).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run PCA on standardised data when variables have different units?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To speed it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So no single variable dominates purely because of its scale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To make it supervised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To remove all correlation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Without standardising, a variable measured in large numbers (e.g. kJ) contributes huge variance and dominates the components for no good reason.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COMMON MISCONCEPTIONS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Clear these up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is </a:t>
            </a:r>
            <a:r>
              <a:rPr sz="2000" b="1">
                <a:solidFill>
                  <a:srgbClr val="1B2430"/>
                </a:solidFill>
                <a:latin typeface="Calibri"/>
              </a:rPr>
              <a:t>unsupervised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it never looks at an outcome 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new variables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a subset of the originals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High variance ≠ 'important for prediction' — only 'spread out'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captures </a:t>
            </a:r>
            <a:r>
              <a:rPr sz="2000" b="1">
                <a:solidFill>
                  <a:srgbClr val="1B2430"/>
                </a:solidFill>
                <a:latin typeface="Calibri"/>
              </a:rPr>
              <a:t>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 structure only (curved structure needs t-SNE, Lecture 9)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Filling in the linear algebra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Dot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dot product</a:t>
            </a:r>
            <a:r>
              <a:rPr sz="2000" b="0">
                <a:solidFill>
                  <a:srgbClr val="1B2430"/>
                </a:solidFill>
                <a:latin typeface="Calibri"/>
              </a:rPr>
              <a:t> xᵀv = Σⱼ xⱼvⱼ multiplies matching coordinates and sums them; it measures how much x points along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If v is a unit vector, xᵀv is the length of x's shadow on v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Dot product zero ⇒ the vectors are </a:t>
            </a:r>
            <a:r>
              <a:rPr sz="1800" b="1">
                <a:solidFill>
                  <a:srgbClr val="1B2430"/>
                </a:solidFill>
                <a:latin typeface="Calibri"/>
              </a:rPr>
              <a:t>orthogonal</a:t>
            </a:r>
            <a:r>
              <a:rPr sz="1800" b="0">
                <a:solidFill>
                  <a:srgbClr val="1B2430"/>
                </a:solidFill>
                <a:latin typeface="Calibri"/>
              </a:rPr>
              <a:t> (perpendicular)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Projections — and hence PCA — are built from dot 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Orthogonality &amp; unit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Two directions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orthogonal</a:t>
            </a:r>
            <a:r>
              <a:rPr sz="2000" b="0">
                <a:solidFill>
                  <a:srgbClr val="1B2430"/>
                </a:solidFill>
                <a:latin typeface="Calibri"/>
              </a:rPr>
              <a:t> if their dot product is zero; a </a:t>
            </a:r>
            <a:r>
              <a:rPr sz="2000" b="1">
                <a:solidFill>
                  <a:srgbClr val="1B2430"/>
                </a:solidFill>
                <a:latin typeface="Calibri"/>
              </a:rPr>
              <a:t>unit vector</a:t>
            </a:r>
            <a:r>
              <a:rPr sz="2000" b="0">
                <a:solidFill>
                  <a:srgbClr val="1B2430"/>
                </a:solidFill>
                <a:latin typeface="Calibri"/>
              </a:rPr>
              <a:t> has length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PCA constrains each direction to be a unit vector (‖v‖ = 1)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Successive PCs are mutually orthogonal → uncorrelated scores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Together the PCs form a rotated orthonormal coordinate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MATRIX AS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Σv actually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Multiplying a vector by a matrix generally </a:t>
            </a:r>
            <a:r>
              <a:rPr sz="2000" b="1">
                <a:solidFill>
                  <a:srgbClr val="1B2430"/>
                </a:solidFill>
                <a:latin typeface="Calibri"/>
              </a:rPr>
              <a:t>rotates and stretches</a:t>
            </a:r>
            <a:r>
              <a:rPr sz="2000" b="0">
                <a:solidFill>
                  <a:srgbClr val="1B2430"/>
                </a:solidFill>
                <a:latin typeface="Calibri"/>
              </a:rPr>
              <a:t> 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Eigenvectors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the special directions that get </a:t>
            </a:r>
            <a:r>
              <a:rPr sz="2000" b="1">
                <a:solidFill>
                  <a:srgbClr val="1B2430"/>
                </a:solidFill>
                <a:latin typeface="Calibri"/>
              </a:rPr>
              <a:t>stretched but not rotated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eigenvalue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stretch factor along that direction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covariance Σ, the stretch factor </a:t>
            </a:r>
            <a:r>
              <a:rPr sz="2000" b="1">
                <a:solidFill>
                  <a:srgbClr val="1B2430"/>
                </a:solidFill>
                <a:latin typeface="Calibri"/>
              </a:rPr>
              <a:t>is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variance in that direction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WORKED 2×2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Eigenvalues of a small covariance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Σ = [ 2  0 ; 0  1 ]  →  λ = 2 (v = e₁),  λ = 1 (v = e₂)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 diagonal Σ has the coordinate axes themselves as eigenvectors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Variance is 2 along x₁ and 1 along x₂ → PC1 is the x₁ axis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Off-diagonal terms </a:t>
            </a:r>
            <a:r>
              <a:rPr sz="1800" b="1">
                <a:solidFill>
                  <a:srgbClr val="1B2430"/>
                </a:solidFill>
                <a:latin typeface="Calibri"/>
              </a:rPr>
              <a:t>tilt</a:t>
            </a:r>
            <a:r>
              <a:rPr sz="1800" b="0">
                <a:solidFill>
                  <a:srgbClr val="1B2430"/>
                </a:solidFill>
                <a:latin typeface="Calibri"/>
              </a:rPr>
              <a:t> the eigenvectors away from the axes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SOLVING IN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eigenvalues are found (conceptually)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Solve </a:t>
            </a:r>
            <a:r>
              <a:rPr sz="2000" b="1">
                <a:solidFill>
                  <a:srgbClr val="1B2430"/>
                </a:solidFill>
                <a:latin typeface="Calibri"/>
              </a:rPr>
              <a:t>det(Σ − λI) = 0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the eigenvalues λ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each λ, solve </a:t>
            </a:r>
            <a:r>
              <a:rPr sz="2000" b="1">
                <a:solidFill>
                  <a:srgbClr val="1B2430"/>
                </a:solidFill>
                <a:latin typeface="Calibri"/>
              </a:rPr>
              <a:t>(Σ − λI)v = 0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its eigenvector v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You never do this by hand for real data — software does it instantly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spectral theorem</a:t>
            </a:r>
            <a:r>
              <a:rPr sz="2000" b="0">
                <a:solidFill>
                  <a:srgbClr val="1B2430"/>
                </a:solidFill>
                <a:latin typeface="Calibri"/>
              </a:rPr>
              <a:t> guarantees a full set of orthogonal eigenvectors for symmetric Σ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Singular value decomposition (SVD)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SVD</a:t>
            </a:r>
            <a:r>
              <a:rPr sz="2000" b="0">
                <a:solidFill>
                  <a:srgbClr val="1B2430"/>
                </a:solidFill>
                <a:latin typeface="Calibri"/>
              </a:rPr>
              <a:t> factorises the data matrix directly as X = U D Vᵀ; the columns of V are the principal directions.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Software computes PCA via the SVD — it's numerically stabler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Singular values relate to eigenvalues (variances) of Σ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Same answer as eigen-decomposing the covariance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WHY IT ALWAYS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For a symmetric covariance matrix, the principal components always exist, are orthogonal, and are unique (up to sign).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That guarantee — the spectral theorem — is what makes PCA reliable across every data set.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 LITTLE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PCA came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Karl Pearson (1901)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'lines and planes of closest fit' to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Harold Hotelling (1933)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formalised principal components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Now a cornerstone of statistics, signal processing and machine learning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same math powers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eigenfaces</a:t>
            </a:r>
            <a:r>
              <a:rPr sz="2000" b="0">
                <a:solidFill>
                  <a:srgbClr val="1B2430"/>
                </a:solidFill>
                <a:latin typeface="Calibri"/>
              </a:rPr>
              <a:t>, image compression and genomics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WHERE IT'S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across 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Science &amp;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Genomics &amp; metabolomics structure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Population genetics (ancestry axes)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Neuroimaging dimensionality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Engineering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Image &amp; signal compression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Feature extraction for ML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Anomaly detection via residuals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Successive principal components are orthogonal. A consequence is that the PC scores are…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Perfectly correlated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Uncorrelated with each other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Always positive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Equal in variance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Orthogonal directions produce scores with zero correlation — a key reason PCA removes redundancy.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COVARIANCE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variables, three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x = (1,2,3),  y = (2,4,6)  →  cov(x,y) = 2,  perfectly correlated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Both increase together in lock-step → large positive covariance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Here y = 2x exactly, so one PC captures </a:t>
            </a:r>
            <a:r>
              <a:rPr sz="1800" b="1">
                <a:solidFill>
                  <a:srgbClr val="1B2430"/>
                </a:solidFill>
                <a:latin typeface="Calibri"/>
              </a:rPr>
              <a:t>all</a:t>
            </a:r>
            <a:r>
              <a:rPr sz="1800" b="0">
                <a:solidFill>
                  <a:srgbClr val="1B2430"/>
                </a:solidFill>
                <a:latin typeface="Calibri"/>
              </a:rPr>
              <a:t> the variance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second PC would have eigenvalue 0 — redundant 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CONNECTING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this powers clustering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Cluster in </a:t>
            </a:r>
            <a:r>
              <a:rPr sz="2000" b="1">
                <a:solidFill>
                  <a:srgbClr val="1B2430"/>
                </a:solidFill>
                <a:latin typeface="Calibri"/>
              </a:rPr>
              <a:t>PC space</a:t>
            </a:r>
            <a:r>
              <a:rPr sz="2000" b="0">
                <a:solidFill>
                  <a:srgbClr val="1B2430"/>
                </a:solidFill>
                <a:latin typeface="Calibri"/>
              </a:rPr>
              <a:t> to beat the curse of dimensionality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Uncorrelated PCs suit distance-based methods (k-means, GMM)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Dropping low-variance PCs </a:t>
            </a:r>
            <a:r>
              <a:rPr sz="2000" b="1">
                <a:solidFill>
                  <a:srgbClr val="1B2430"/>
                </a:solidFill>
                <a:latin typeface="Calibri"/>
              </a:rPr>
              <a:t>denoises</a:t>
            </a:r>
            <a:r>
              <a:rPr sz="2000" b="0">
                <a:solidFill>
                  <a:srgbClr val="1B2430"/>
                </a:solidFill>
                <a:latin typeface="Calibri"/>
              </a:rPr>
              <a:t> before clustering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+ clustering is a standard nutrition-data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49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Eigen-intuition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Σ = [[3, 0], [0, 1]], write down the two eigenvectors and eigenvalues by inspection.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is PC1? How much of the total variance does it explain?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Now imagine a small off-diagonal term appears. Qualitatively, what happens to the eigenvectors?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A diagonal matrix has the coordinate axes as eigenvectors; % variance = λ / Σλ.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50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CHAPTER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Before Lecture 8, be sure you can…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variance, covariance and the covariance matrix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Describe a projection and a linear combination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State what eigenvectors/eigenvalues mean for PCA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Say why standardisation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51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Dimension reduction fights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curse of dimensionality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by exploiting correlation.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measures spread; PCA treats variance as information to keep.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covariance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 encodes all pairwise linear structure.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Eigenvectors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that matrix are the principal directions;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eigenvalues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their variances.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08 — Principal Component Analysis in practice: scores, loadings and biplots.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L07 ·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