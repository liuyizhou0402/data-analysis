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194560" cy="457200"/>
          </a:xfrm>
          <a:prstGeom prst="round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424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LECTURE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Model-based Clustering: Gaussian Mixture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8D4E2"/>
                </a:solidFill>
                <a:latin typeface="Calibri"/>
              </a:rPr>
              <a:t>From hard partitions to soft, probabilistic clusters — the mixture model, the EM algorithm, and choosing the number of components with the BIC.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10515600" cy="15240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ADBD"/>
                </a:solidFill>
                <a:latin typeface="Calibri"/>
              </a:rPr>
              <a:t>School of Mathematics &amp; Statistics · The University of Sydney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Today's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Why k-means is not enough: soft vs hard clustering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Gaussian mixture model (GMM)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Fitting a GMM with the EM algorithm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Covariance structures and model flexibility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Choosing the number of components with the BIC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GMM vs k-means; fitting in R with mclust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Diagnostics, pitfalls and worked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Where we've been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Lecture 3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clustering finds groups without labels using a distance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Lecture 4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k-means minimises within-cluster sum of squares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k-means gives every point a </a:t>
            </a:r>
            <a:r>
              <a:rPr sz="2000" b="1">
                <a:solidFill>
                  <a:srgbClr val="1B2430"/>
                </a:solidFill>
                <a:latin typeface="Calibri"/>
              </a:rPr>
              <a:t>hard</a:t>
            </a:r>
            <a:r>
              <a:rPr sz="2000" b="0">
                <a:solidFill>
                  <a:srgbClr val="1B2430"/>
                </a:solidFill>
                <a:latin typeface="Calibri"/>
              </a:rPr>
              <a:t> label and assumes </a:t>
            </a:r>
            <a:r>
              <a:rPr sz="2000" b="1">
                <a:solidFill>
                  <a:srgbClr val="1B2430"/>
                </a:solidFill>
                <a:latin typeface="Calibri"/>
              </a:rPr>
              <a:t>round, equal-size</a:t>
            </a:r>
            <a:r>
              <a:rPr sz="2000" b="0">
                <a:solidFill>
                  <a:srgbClr val="1B2430"/>
                </a:solidFill>
                <a:latin typeface="Calibri"/>
              </a:rPr>
              <a:t> blobs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Today we relax both assumptions with a </a:t>
            </a:r>
            <a:r>
              <a:rPr sz="2000" b="1">
                <a:solidFill>
                  <a:srgbClr val="1B2430"/>
                </a:solidFill>
                <a:latin typeface="Calibri"/>
              </a:rPr>
              <a:t>probability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Recap: what does k-means assume about cluster shape?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Arbitrary shapes are fine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Roughly spherical, similar-size clusters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Only elongated clusters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 makes no assumptions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k-means uses squared Euclidean distance to a centroid, which implicitly assumes convex, roughly spherical, comparable-variance clusters.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Why we need soft clustering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LIMITATION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k-means forces every point into exactly one cluster — even points sitting on the boundary between two groups.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Real data is rarely so tidy. A participant's diet may be 60% 'prudent', 40% 'Western'. Hard labels throw that nuance away.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Hard labels vs soft probabilities</a:t>
            </a:r>
          </a:p>
        </p:txBody>
      </p:sp>
      <p:pic>
        <p:nvPicPr>
          <p:cNvPr id="6" name="Picture 5" descr="L05_soft_vs_h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98170"/>
            <a:ext cx="9144000" cy="39017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k-means (left) draws a crisp line. A GMM (right) reports P(cluster) for every point — colour fades through the overlap zone.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SOFT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'soft' buys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Each point gets a </a:t>
            </a:r>
            <a:r>
              <a:rPr sz="2000" b="1">
                <a:solidFill>
                  <a:srgbClr val="1B2430"/>
                </a:solidFill>
                <a:latin typeface="Calibri"/>
              </a:rPr>
              <a:t>probability of membership</a:t>
            </a:r>
            <a:r>
              <a:rPr sz="2000" b="0">
                <a:solidFill>
                  <a:srgbClr val="1B2430"/>
                </a:solidFill>
                <a:latin typeface="Calibri"/>
              </a:rPr>
              <a:t> in every cluster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Points in overlaps are honestly reported as </a:t>
            </a:r>
            <a:r>
              <a:rPr sz="2000" b="1">
                <a:solidFill>
                  <a:srgbClr val="1B2430"/>
                </a:solidFill>
                <a:latin typeface="Calibri"/>
              </a:rPr>
              <a:t>uncertain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Clusters can be </a:t>
            </a:r>
            <a:r>
              <a:rPr sz="2000" b="1">
                <a:solidFill>
                  <a:srgbClr val="1B2430"/>
                </a:solidFill>
                <a:latin typeface="Calibri"/>
              </a:rPr>
              <a:t>elliptical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have </a:t>
            </a:r>
            <a:r>
              <a:rPr sz="2000" b="1">
                <a:solidFill>
                  <a:srgbClr val="1B2430"/>
                </a:solidFill>
                <a:latin typeface="Calibri"/>
              </a:rPr>
              <a:t>different sizes / orientations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We get a full </a:t>
            </a:r>
            <a:r>
              <a:rPr sz="2000" b="1">
                <a:solidFill>
                  <a:srgbClr val="1B2430"/>
                </a:solidFill>
                <a:latin typeface="Calibri"/>
              </a:rPr>
              <a:t>generative model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we can simulate new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this matters for the nutrition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The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Metabolic subtypes rarely have sharp edges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 person can partly belong to two dietary patterns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Uncertainty is information, not a nuisance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The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 model lets us use </a:t>
            </a:r>
            <a:r>
              <a:rPr sz="1600" b="1">
                <a:solidFill>
                  <a:srgbClr val="1B2430"/>
                </a:solidFill>
                <a:latin typeface="Calibri"/>
              </a:rPr>
              <a:t>likelihood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Likelihood gives principled </a:t>
            </a:r>
            <a:r>
              <a:rPr sz="1600" b="1">
                <a:solidFill>
                  <a:srgbClr val="1B2430"/>
                </a:solidFill>
                <a:latin typeface="Calibri"/>
              </a:rPr>
              <a:t>model selection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We can compare 2, 3, 4… clusters fairly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Gaussian mixture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Mixture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mixture model</a:t>
            </a:r>
            <a:r>
              <a:rPr sz="2000" b="0">
                <a:solidFill>
                  <a:srgbClr val="1B2430"/>
                </a:solidFill>
                <a:latin typeface="Calibri"/>
              </a:rPr>
              <a:t> assumes each observation is drawn from one of K underlying distributions (the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components</a:t>
            </a:r>
            <a:r>
              <a:rPr sz="2000" b="0">
                <a:solidFill>
                  <a:srgbClr val="1B2430"/>
                </a:solidFill>
                <a:latin typeface="Calibri"/>
              </a:rPr>
              <a:t>), but we don't observe which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Each component k has a weight </a:t>
            </a:r>
            <a:r>
              <a:rPr sz="1800" b="1">
                <a:solidFill>
                  <a:srgbClr val="1B2430"/>
                </a:solidFill>
                <a:latin typeface="Calibri"/>
              </a:rPr>
              <a:t>πₖ</a:t>
            </a:r>
            <a:r>
              <a:rPr sz="1800" b="0">
                <a:solidFill>
                  <a:srgbClr val="1B2430"/>
                </a:solidFill>
                <a:latin typeface="Calibri"/>
              </a:rPr>
              <a:t> (mixing proportion), with Σπₖ = 1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For a </a:t>
            </a:r>
            <a:r>
              <a:rPr sz="1800" b="1">
                <a:solidFill>
                  <a:srgbClr val="1B2430"/>
                </a:solidFill>
                <a:latin typeface="Calibri"/>
              </a:rPr>
              <a:t>Gaussian</a:t>
            </a:r>
            <a:r>
              <a:rPr sz="1800" b="0">
                <a:solidFill>
                  <a:srgbClr val="1B2430"/>
                </a:solidFill>
                <a:latin typeface="Calibri"/>
              </a:rPr>
              <a:t> mixture, each component is a normal distribution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observed data is the weighted blend of all components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ONE 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mixture is a weighted sum of bells</a:t>
            </a:r>
          </a:p>
        </p:txBody>
      </p:sp>
      <p:pic>
        <p:nvPicPr>
          <p:cNvPr id="6" name="Picture 5" descr="L05_1d_mi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006" y="1600200"/>
            <a:ext cx="817894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Two Gaussian components (dashed) with weights 0.4 and 0.6 add up to the mixture density (black) that generated the histogram.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Gaussian mixture density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p(x) = Σₖ  πₖ · N( x | μₖ , Σₖ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πₖ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mixing weight of component k (how common it is)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μₖ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mean vector (centre) of component k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Σₖ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covariance matrix (shape &amp; orientation) of component 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486400"/>
            <a:ext cx="923544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48640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559552"/>
            <a:ext cx="8778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Fitting a GMM means estimating all the πₖ, μₖ and Σₖ from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BUILDING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multivariate Gaussian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N(x | μ, Σ) ∝ exp( −½ (x−μ)ᵀ Σ⁻¹ (x−μ)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term (x−μ)ᵀΣ⁻¹(x−μ) is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Mahalanobis distance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a scale-aware distance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Σ controls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shape</a:t>
            </a:r>
            <a:r>
              <a:rPr sz="1800" b="0">
                <a:solidFill>
                  <a:srgbClr val="1B2430"/>
                </a:solidFill>
                <a:latin typeface="Calibri"/>
              </a:rPr>
              <a:t>: circular, stretched, or tilted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k-means secretly uses the special case Σ = σ²I (a circle)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TWO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GMM fits elliptical clusters</a:t>
            </a:r>
          </a:p>
        </p:txBody>
      </p:sp>
      <p:pic>
        <p:nvPicPr>
          <p:cNvPr id="6" name="Picture 5" descr="L05_ellip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650" y="1600200"/>
            <a:ext cx="634966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Each component is an ellipse defined by its covariance matrix — far more flexible than k-means' circles.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the covariance matrix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Diagonal entries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variance along each axis (width &amp; height)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Off-diagonal entries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covariance (tilt / correlation)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full Σ can capture a cluster stretched along any direction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Restricting Σ trades flexibility for fewer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FLEXIBILITY DIAL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Covariance types</a:t>
            </a:r>
          </a:p>
        </p:txBody>
      </p:sp>
      <p:pic>
        <p:nvPicPr>
          <p:cNvPr id="6" name="Picture 5" descr="L05_cov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73288"/>
            <a:ext cx="9144000" cy="25515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From spherical (like k-means) to full (any ellipse). More flexible models fit better but need more data and can overfit.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Common covariance structures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What's shared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Spherical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one variance, circular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fewest (≈ k-means)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Diagonal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axis-aligned ellipse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few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Tied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same Σ for all clusters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any ellipse per cluster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most / most flexible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2976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2976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3708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mclust automatically tries a whole family of these and picks the best by BIC.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Which covariance type most resembles k-means?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Full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Spherical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Diagonal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Spherical, equal-variance components with equal weights reduce a GMM to (essentially) k-means.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Fitting a GMM: the EM algorithm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OBSTACLE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chicken-and-egg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If we </a:t>
            </a:r>
            <a:r>
              <a:rPr sz="2000" b="1">
                <a:solidFill>
                  <a:srgbClr val="1B2430"/>
                </a:solidFill>
                <a:latin typeface="Calibri"/>
              </a:rPr>
              <a:t>knew</a:t>
            </a:r>
            <a:r>
              <a:rPr sz="2000" b="0">
                <a:solidFill>
                  <a:srgbClr val="1B2430"/>
                </a:solidFill>
                <a:latin typeface="Calibri"/>
              </a:rPr>
              <a:t> which component each point came from, estimating πₖ, μₖ, Σₖ would be easy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If we </a:t>
            </a:r>
            <a:r>
              <a:rPr sz="2000" b="1">
                <a:solidFill>
                  <a:srgbClr val="1B2430"/>
                </a:solidFill>
                <a:latin typeface="Calibri"/>
              </a:rPr>
              <a:t>knew</a:t>
            </a:r>
            <a:r>
              <a:rPr sz="2000" b="0">
                <a:solidFill>
                  <a:srgbClr val="1B2430"/>
                </a:solidFill>
                <a:latin typeface="Calibri"/>
              </a:rPr>
              <a:t> the parameters, computing each point's component would be easy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But we know </a:t>
            </a:r>
            <a:r>
              <a:rPr sz="2000" b="1">
                <a:solidFill>
                  <a:srgbClr val="1B2430"/>
                </a:solidFill>
                <a:latin typeface="Calibri"/>
              </a:rPr>
              <a:t>neither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 component labels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latent</a:t>
            </a:r>
            <a:r>
              <a:rPr sz="2000" b="0">
                <a:solidFill>
                  <a:srgbClr val="1B2430"/>
                </a:solidFill>
                <a:latin typeface="Calibri"/>
              </a:rPr>
              <a:t> (hidden)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EM</a:t>
            </a:r>
            <a:r>
              <a:rPr sz="2000" b="0">
                <a:solidFill>
                  <a:srgbClr val="1B2430"/>
                </a:solidFill>
                <a:latin typeface="Calibri"/>
              </a:rPr>
              <a:t> breaks the deadlock by alternating between the two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Responsibility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responsibility</a:t>
            </a:r>
            <a:r>
              <a:rPr sz="2000" b="0">
                <a:solidFill>
                  <a:srgbClr val="1B2430"/>
                </a:solidFill>
                <a:latin typeface="Calibri"/>
              </a:rPr>
              <a:t> γᵢₖ is the posterior probability that point i was generated by component k, given the current parameters.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It is the 'soft label' — a number between 0 and 1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For each point, responsibilities across components sum to 1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Computed by Bayes' rule from the weighted component densities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Compute responsibilities (Bayes' rule)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γᵢₖ = πₖ N(xᵢ|μₖ,Σₖ)  /  Σⱼ πⱼ N(xᵢ|μⱼ,Σⱼ)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Numerator: how well component k explains point i, weighted by πₖ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Denominator: total across all components (normalises to a probability)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This is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Expectation</a:t>
            </a:r>
            <a:r>
              <a:rPr sz="1800" b="0">
                <a:solidFill>
                  <a:srgbClr val="1B2430"/>
                </a:solidFill>
                <a:latin typeface="Calibri"/>
              </a:rPr>
              <a:t> step — filling in soft labels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SOFT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Responsibilities shared across clusters</a:t>
            </a:r>
          </a:p>
        </p:txBody>
      </p:sp>
      <p:pic>
        <p:nvPicPr>
          <p:cNvPr id="6" name="Picture 5" descr="L05_respo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01117"/>
            <a:ext cx="9144000" cy="40958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Each observation (column) is split between clusters. Points near a centre are almost pure; points between are shared.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Re-estimate parameters (weighted MLE)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μₖ = Σᵢ γᵢₖ xᵢ / Σᵢ γᵢₖ ,   πₖ = (1/n) Σᵢ γᵢₖ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Each parameter is a </a:t>
            </a:r>
            <a:r>
              <a:rPr sz="1800" b="1">
                <a:solidFill>
                  <a:srgbClr val="1B2430"/>
                </a:solidFill>
                <a:latin typeface="Calibri"/>
              </a:rPr>
              <a:t>responsibility-weighted</a:t>
            </a:r>
            <a:r>
              <a:rPr sz="1800" b="0">
                <a:solidFill>
                  <a:srgbClr val="1B2430"/>
                </a:solidFill>
                <a:latin typeface="Calibri"/>
              </a:rPr>
              <a:t> average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Points that 'belong' more to k count more toward its mean/covariance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This is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Maximisation</a:t>
            </a:r>
            <a:r>
              <a:rPr sz="1800" b="0">
                <a:solidFill>
                  <a:srgbClr val="1B2430"/>
                </a:solidFill>
                <a:latin typeface="Calibri"/>
              </a:rPr>
              <a:t> step — refitting given the soft labels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EM in four steps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Initialise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8483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guess parameters (often from k-means)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61488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4320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E-step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089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compute responsibilities γᵢₖ for every point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85616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8561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6732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M-step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330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update πₖ, μₖ, Σₖ using weighted averages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09744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0974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9145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5721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until the log-likelihood stops increasing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98932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98932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606247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Each iteration is guaranteed </a:t>
            </a:r>
            <a:r>
              <a:rPr sz="1500" b="1">
                <a:solidFill>
                  <a:srgbClr val="1B2430"/>
                </a:solidFill>
                <a:latin typeface="Calibri"/>
              </a:rPr>
              <a:t>not to decrease</a:t>
            </a:r>
            <a:r>
              <a:rPr sz="1500" b="0">
                <a:solidFill>
                  <a:srgbClr val="1B2430"/>
                </a:solidFill>
                <a:latin typeface="Calibri"/>
              </a:rPr>
              <a:t> the log-likelihood.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EM refines the components each pass</a:t>
            </a:r>
          </a:p>
        </p:txBody>
      </p:sp>
      <p:pic>
        <p:nvPicPr>
          <p:cNvPr id="6" name="Picture 5" descr="L05_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167617"/>
            <a:ext cx="9144000" cy="31628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From a poor start, the component means and widths adjust until they explain the data — here recovering the two true groups.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to know about 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Monotone</a:t>
            </a:r>
            <a:r>
              <a:rPr sz="2000" b="0">
                <a:solidFill>
                  <a:srgbClr val="1B2430"/>
                </a:solidFill>
                <a:latin typeface="Calibri"/>
              </a:rPr>
              <a:t>: log-likelihood increases (or stays) each iteration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Converges to a </a:t>
            </a:r>
            <a:r>
              <a:rPr sz="2000" b="1">
                <a:solidFill>
                  <a:srgbClr val="1B2430"/>
                </a:solidFill>
                <a:latin typeface="Calibri"/>
              </a:rPr>
              <a:t>local</a:t>
            </a:r>
            <a:r>
              <a:rPr sz="2000" b="0">
                <a:solidFill>
                  <a:srgbClr val="1B2430"/>
                </a:solidFill>
                <a:latin typeface="Calibri"/>
              </a:rPr>
              <a:t> optimum — like k-means, use several restarts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Initialisation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matters; k-means is a common warm start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Can be </a:t>
            </a:r>
            <a:r>
              <a:rPr sz="2000" b="1">
                <a:solidFill>
                  <a:srgbClr val="1B2430"/>
                </a:solidFill>
                <a:latin typeface="Calibri"/>
              </a:rPr>
              <a:t>slow</a:t>
            </a:r>
            <a:r>
              <a:rPr sz="2000" b="0">
                <a:solidFill>
                  <a:srgbClr val="1B2430"/>
                </a:solidFill>
                <a:latin typeface="Calibri"/>
              </a:rPr>
              <a:t> near convergence, but reliable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In EM, what does the E-step compute?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Updated cluster means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Soft responsibilities for each point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number of clusters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BIC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The E (Expectation) step fixes the parameters and computes each point's posterior probability of belonging to each component.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How many components?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TEMPTATION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we can't just maximise likelihood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Adding components </a:t>
            </a:r>
            <a:r>
              <a:rPr sz="2000" b="1">
                <a:solidFill>
                  <a:srgbClr val="1B2430"/>
                </a:solidFill>
                <a:latin typeface="Calibri"/>
              </a:rPr>
              <a:t>always</a:t>
            </a:r>
            <a:r>
              <a:rPr sz="2000" b="0">
                <a:solidFill>
                  <a:srgbClr val="1B2430"/>
                </a:solidFill>
                <a:latin typeface="Calibri"/>
              </a:rPr>
              <a:t> increases the training log-likelihood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Taken to the extreme, one component per point fits perfectly — and is useless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We need to </a:t>
            </a:r>
            <a:r>
              <a:rPr sz="2000" b="1">
                <a:solidFill>
                  <a:srgbClr val="1B2430"/>
                </a:solidFill>
                <a:latin typeface="Calibri"/>
              </a:rPr>
              <a:t>penalise complexity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reward fit, punish extra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Bayesian Information Criterion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BIC = −2 · log L  +  d · log(n)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log L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maximised log-likelihood (fit)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d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number of free parameters (complexity)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n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sample size; the penalty grows with data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Lower BIC is better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choose the model that minimises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BIC across candidate models</a:t>
            </a:r>
          </a:p>
        </p:txBody>
      </p:sp>
      <p:pic>
        <p:nvPicPr>
          <p:cNvPr id="6" name="Picture 5" descr="L05_b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632" y="1600200"/>
            <a:ext cx="7943696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Fit GMMs for a range of k and pick the k with the lowest BIC. Here BIC bottoms out at the true number of clusters.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AIC VS 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note on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AIC</a:t>
            </a:r>
            <a:r>
              <a:rPr sz="2000" b="0">
                <a:solidFill>
                  <a:srgbClr val="1B2430"/>
                </a:solidFill>
                <a:latin typeface="Calibri"/>
              </a:rPr>
              <a:t> = −2 log L + 2d — lighter penalty, tends to pick </a:t>
            </a:r>
            <a:r>
              <a:rPr sz="2000" b="1">
                <a:solidFill>
                  <a:srgbClr val="1B2430"/>
                </a:solidFill>
                <a:latin typeface="Calibri"/>
              </a:rPr>
              <a:t>more</a:t>
            </a:r>
            <a:r>
              <a:rPr sz="2000" b="0">
                <a:solidFill>
                  <a:srgbClr val="1B2430"/>
                </a:solidFill>
                <a:latin typeface="Calibri"/>
              </a:rPr>
              <a:t> components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BIC</a:t>
            </a:r>
            <a:r>
              <a:rPr sz="2000" b="0">
                <a:solidFill>
                  <a:srgbClr val="1B2430"/>
                </a:solidFill>
                <a:latin typeface="Calibri"/>
              </a:rPr>
              <a:t> penalises complexity more as n grows — tends to be </a:t>
            </a:r>
            <a:r>
              <a:rPr sz="2000" b="1">
                <a:solidFill>
                  <a:srgbClr val="1B2430"/>
                </a:solidFill>
                <a:latin typeface="Calibri"/>
              </a:rPr>
              <a:t>more parsimonious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 clustering/interpretation, </a:t>
            </a:r>
            <a:r>
              <a:rPr sz="2000" b="1">
                <a:solidFill>
                  <a:srgbClr val="1B2430"/>
                </a:solidFill>
                <a:latin typeface="Calibri"/>
              </a:rPr>
              <a:t>BIC</a:t>
            </a:r>
            <a:r>
              <a:rPr sz="2000" b="0">
                <a:solidFill>
                  <a:srgbClr val="1B2430"/>
                </a:solidFill>
                <a:latin typeface="Calibri"/>
              </a:rPr>
              <a:t> is the usual default (and mclust's)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GMM vs k-means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HEAD TO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Two clustering philosophies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41148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k-means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GMM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Assignment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hard (one label)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soft (probabilities)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Cluster shape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spherical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any ellipse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Cluster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similar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can differ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distance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probability model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Choose k by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elbow / silhouette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BIC / likelihood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very fast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slower (EM)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k-means is a special case of a Gaussian mixture — equal weights, spherical equal covariances, and hard assignments.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So GMM is the more general model. Use k-means for speed and simplicity; reach for GMM when clusters overlap or aren't round.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When to use which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Prefer k-means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Data is large and you need speed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Clusters look roughly round &amp; separated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You just need a quick partition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Prefer GMM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Clusters overlap or are elliptical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You want membership </a:t>
            </a:r>
            <a:r>
              <a:rPr sz="1600" b="1">
                <a:solidFill>
                  <a:srgbClr val="1B2430"/>
                </a:solidFill>
                <a:latin typeface="Calibri"/>
              </a:rPr>
              <a:t>uncertainty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You want principled selection of k (BIC)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33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GMM in 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mclust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mclust</a:t>
            </a:r>
            <a:r>
              <a:rPr sz="2000" b="0">
                <a:solidFill>
                  <a:srgbClr val="1B2430"/>
                </a:solidFill>
                <a:latin typeface="Calibri"/>
              </a:rPr>
              <a:t> fits Gaussian mixtures and does model selection automatically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It searches over </a:t>
            </a:r>
            <a:r>
              <a:rPr sz="2000" b="1">
                <a:solidFill>
                  <a:srgbClr val="1B2430"/>
                </a:solidFill>
                <a:latin typeface="Calibri"/>
              </a:rPr>
              <a:t>covariance types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number of components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Reports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best model by BIC</a:t>
            </a:r>
            <a:r>
              <a:rPr sz="2000" b="0">
                <a:solidFill>
                  <a:srgbClr val="1B2430"/>
                </a:solidFill>
                <a:latin typeface="Calibri"/>
              </a:rPr>
              <a:t> with a three-letter code (e.g. VVV, EEI)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GMM in a few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3255264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980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library(mclust)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X &lt;- scale(diet_numeric)          # standardise first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fit &lt;- Mclust(X)                  # searches covariance types &amp; k by BIC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summary(fit)                      # best model, k, BIC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fit$G                             # chosen number of components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fit$classification               # hard labels (argmax responsibility)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head(fit$z)                       # soft responsibilities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35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VISUALISING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Plots that explain the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322576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plot(fit, what = 'BIC')           # BIC vs k for each model type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plot(fit, what = 'classification')# clusters with ellipses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plot(fit, what = 'uncertainty')   # highlight uncertain points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Profile the clusters, as with k-means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aggregate(diet_numeric, list(fit$classification), mean)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36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mclust's covariance codes (E=equal, V=varying)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0392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EII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spherical, equal volume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VII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spherical, varying volume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ellipsoidal, all equal (tied)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VVV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ellipsoidal, all varying (most flexible)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37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nutrition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Standardise intake &amp; metabolite variables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Run </a:t>
            </a:r>
            <a:r>
              <a:rPr sz="2000" b="1">
                <a:solidFill>
                  <a:srgbClr val="1B2430"/>
                </a:solidFill>
                <a:latin typeface="Calibri"/>
              </a:rPr>
              <a:t>Mclust(X)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say it selects VEV with k = 3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Inspect </a:t>
            </a:r>
            <a:r>
              <a:rPr sz="2000" b="1">
                <a:solidFill>
                  <a:srgbClr val="1B2430"/>
                </a:solidFill>
                <a:latin typeface="Calibri"/>
              </a:rPr>
              <a:t>uncertainty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flag participants on cluster boundaries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Profile each cluster's mean intake → name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dietary subtypes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Relate subtypes to a held-out health outcome to check they matter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38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Diagnostics &amp; pitfalls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PITFALL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Singularities and degeneracy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component can collapse onto a single point → variance → 0, likelihood → ∞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This is a </a:t>
            </a:r>
            <a:r>
              <a:rPr sz="2000" b="1">
                <a:solidFill>
                  <a:srgbClr val="1B2430"/>
                </a:solidFill>
                <a:latin typeface="Calibri"/>
              </a:rPr>
              <a:t>degenerate</a:t>
            </a:r>
            <a:r>
              <a:rPr sz="2000" b="0">
                <a:solidFill>
                  <a:srgbClr val="1B2430"/>
                </a:solidFill>
                <a:latin typeface="Calibri"/>
              </a:rPr>
              <a:t> solution, not a real cluster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Remedies: </a:t>
            </a:r>
            <a:r>
              <a:rPr sz="2000" b="1">
                <a:solidFill>
                  <a:srgbClr val="1B2430"/>
                </a:solidFill>
                <a:latin typeface="Calibri"/>
              </a:rPr>
              <a:t>regularise</a:t>
            </a:r>
            <a:r>
              <a:rPr sz="2000" b="0">
                <a:solidFill>
                  <a:srgbClr val="1B2430"/>
                </a:solidFill>
                <a:latin typeface="Calibri"/>
              </a:rPr>
              <a:t> the covariance, or restrict the covariance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39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PITFALL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High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full covariance needs ~p²/2 parameters </a:t>
            </a:r>
            <a:r>
              <a:rPr sz="2000" b="1">
                <a:solidFill>
                  <a:srgbClr val="1B2430"/>
                </a:solidFill>
                <a:latin typeface="Calibri"/>
              </a:rPr>
              <a:t>per component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With many variables this explodes — you run out of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Remedies: </a:t>
            </a:r>
            <a:r>
              <a:rPr sz="2000" b="1">
                <a:solidFill>
                  <a:srgbClr val="1B2430"/>
                </a:solidFill>
                <a:latin typeface="Calibri"/>
              </a:rPr>
              <a:t>reduce dimensions first</a:t>
            </a:r>
            <a:r>
              <a:rPr sz="2000" b="0">
                <a:solidFill>
                  <a:srgbClr val="1B2430"/>
                </a:solidFill>
                <a:latin typeface="Calibri"/>
              </a:rPr>
              <a:t> (PCA — Lectures 7–8) or use diagonal Σ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40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PITFALL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Label switching &amp;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Component labels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arbitrary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'cluster 1' can swap with 'cluster 2' between runs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Interpret clusters by their </a:t>
            </a:r>
            <a:r>
              <a:rPr sz="2000" b="1">
                <a:solidFill>
                  <a:srgbClr val="1B2430"/>
                </a:solidFill>
                <a:latin typeface="Calibri"/>
              </a:rPr>
              <a:t>profiles</a:t>
            </a:r>
            <a:r>
              <a:rPr sz="2000" b="0">
                <a:solidFill>
                  <a:srgbClr val="1B2430"/>
                </a:solidFill>
                <a:latin typeface="Calibri"/>
              </a:rPr>
              <a:t>, not their numbers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Always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set a seed for reproducibility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41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Your GMM returns one component with almost-zero variance around a single point. This is…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best cluster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A degenerate/singular solution to guard against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Proof you need more clusters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Expected and fine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A component shrinking onto one point sends the likelihood to infinity — a degeneracy. Regularise the covariance or constrain the model.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42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Fit and compare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Fit </a:t>
            </a:r>
            <a:r>
              <a:rPr sz="1900" b="1">
                <a:solidFill>
                  <a:srgbClr val="1B2430"/>
                </a:solidFill>
                <a:latin typeface="Calibri"/>
              </a:rPr>
              <a:t>Mclust(X)</a:t>
            </a:r>
            <a:r>
              <a:rPr sz="1900" b="0">
                <a:solidFill>
                  <a:srgbClr val="1B2430"/>
                </a:solidFill>
                <a:latin typeface="Calibri"/>
              </a:rPr>
              <a:t> on the standardised nutrition data. What model and k does BIC choose?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Compare its k to the k you chose for </a:t>
            </a:r>
            <a:r>
              <a:rPr sz="1900" b="1">
                <a:solidFill>
                  <a:srgbClr val="1B2430"/>
                </a:solidFill>
                <a:latin typeface="Calibri"/>
              </a:rPr>
              <a:t>k-means</a:t>
            </a:r>
            <a:r>
              <a:rPr sz="1900" b="0">
                <a:solidFill>
                  <a:srgbClr val="1B2430"/>
                </a:solidFill>
                <a:latin typeface="Calibri"/>
              </a:rPr>
              <a:t> last week. Do they agree?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Identify the 5 participants with the </a:t>
            </a:r>
            <a:r>
              <a:rPr sz="1900" b="1">
                <a:solidFill>
                  <a:srgbClr val="1B2430"/>
                </a:solidFill>
                <a:latin typeface="Calibri"/>
              </a:rPr>
              <a:t>highest uncertainty</a:t>
            </a:r>
            <a:r>
              <a:rPr sz="1900" b="0">
                <a:solidFill>
                  <a:srgbClr val="1B2430"/>
                </a:solidFill>
                <a:latin typeface="Calibri"/>
              </a:rPr>
              <a:t>. Where do they sit?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Profile the components — can you name each dietary subtype?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fit$uncertainty gives 1 − max responsibility for each point; sort it descending.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43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Reason about the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Write down how many parameters a </a:t>
            </a:r>
            <a:r>
              <a:rPr sz="1900" b="1">
                <a:solidFill>
                  <a:srgbClr val="1B2430"/>
                </a:solidFill>
                <a:latin typeface="Calibri"/>
              </a:rPr>
              <a:t>full</a:t>
            </a:r>
            <a:r>
              <a:rPr sz="1900" b="0">
                <a:solidFill>
                  <a:srgbClr val="1B2430"/>
                </a:solidFill>
                <a:latin typeface="Calibri"/>
              </a:rPr>
              <a:t>-covariance GMM needs for k = 3, p = 10.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Why might that be a problem with only n = 150 participants?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What two remedies would you try, and what does each give up?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Per component: k−1 weights + p means + p(p+1)/2 covariance terms. Multiply and compare to 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44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PRACTICAL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Getting good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every variable before fitting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Consider </a:t>
            </a:r>
            <a:r>
              <a:rPr sz="2000" b="1">
                <a:solidFill>
                  <a:srgbClr val="1B2430"/>
                </a:solidFill>
                <a:latin typeface="Calibri"/>
              </a:rPr>
              <a:t>PCA first</a:t>
            </a:r>
            <a:r>
              <a:rPr sz="2000" b="0">
                <a:solidFill>
                  <a:srgbClr val="1B2430"/>
                </a:solidFill>
                <a:latin typeface="Calibri"/>
              </a:rPr>
              <a:t> if p is large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Let mclust choose the covariance type — don't force </a:t>
            </a:r>
            <a:r>
              <a:rPr sz="2000" b="1">
                <a:solidFill>
                  <a:srgbClr val="1B2430"/>
                </a:solidFill>
                <a:latin typeface="Calibri"/>
              </a:rPr>
              <a:t>full</a:t>
            </a:r>
            <a:r>
              <a:rPr sz="2000" b="0">
                <a:solidFill>
                  <a:srgbClr val="1B2430"/>
                </a:solidFill>
                <a:latin typeface="Calibri"/>
              </a:rPr>
              <a:t> blindly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Report </a:t>
            </a:r>
            <a:r>
              <a:rPr sz="2000" b="1">
                <a:solidFill>
                  <a:srgbClr val="1B2430"/>
                </a:solidFill>
                <a:latin typeface="Calibri"/>
              </a:rPr>
              <a:t>uncertainty</a:t>
            </a:r>
            <a:r>
              <a:rPr sz="2000" b="0">
                <a:solidFill>
                  <a:srgbClr val="1B2430"/>
                </a:solidFill>
                <a:latin typeface="Calibri"/>
              </a:rPr>
              <a:t>, not just hard labels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45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KEY FORMULAS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three you must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Model</a:t>
            </a:r>
            <a:r>
              <a:rPr sz="2000" b="0">
                <a:solidFill>
                  <a:srgbClr val="1B2430"/>
                </a:solidFill>
                <a:latin typeface="Calibri"/>
              </a:rPr>
              <a:t>: p(x) = Σ πₖ N(x | μₖ, Σₖ)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E-step</a:t>
            </a:r>
            <a:r>
              <a:rPr sz="2000" b="0">
                <a:solidFill>
                  <a:srgbClr val="1B2430"/>
                </a:solidFill>
                <a:latin typeface="Calibri"/>
              </a:rPr>
              <a:t>: γᵢₖ ∝ πₖ N(xᵢ | μₖ, Σₖ)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Selection</a:t>
            </a:r>
            <a:r>
              <a:rPr sz="2000" b="0">
                <a:solidFill>
                  <a:srgbClr val="1B2430"/>
                </a:solidFill>
                <a:latin typeface="Calibri"/>
              </a:rPr>
              <a:t>: BIC = −2 log L + d log n (minimise)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46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Deeper understanding &amp; applications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Likelihood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likelihood</a:t>
            </a:r>
            <a:r>
              <a:rPr sz="2000" b="0">
                <a:solidFill>
                  <a:srgbClr val="1B2430"/>
                </a:solidFill>
                <a:latin typeface="Calibri"/>
              </a:rPr>
              <a:t> is the probability of the observed data under the model, viewed as a function of the parameters. We fit by </a:t>
            </a:r>
            <a:r>
              <a:rPr sz="2000" b="1">
                <a:solidFill>
                  <a:srgbClr val="1B2430"/>
                </a:solidFill>
                <a:latin typeface="Calibri"/>
              </a:rPr>
              <a:t>maximising</a:t>
            </a:r>
            <a:r>
              <a:rPr sz="2000" b="0">
                <a:solidFill>
                  <a:srgbClr val="1B2430"/>
                </a:solidFill>
                <a:latin typeface="Calibri"/>
              </a:rPr>
              <a:t>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For a GMM: log L = Σᵢ log( Σₖ πₖ N(xᵢ|μₖ,Σₖ) 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EM increases this quantity every iteration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It is the 'fit' term that BIC then penalises for complexity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47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GENERATIVE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GMM can create data, not just cluster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To simulate a point: </a:t>
            </a:r>
            <a:r>
              <a:rPr sz="2000" b="1">
                <a:solidFill>
                  <a:srgbClr val="1B2430"/>
                </a:solidFill>
                <a:latin typeface="Calibri"/>
              </a:rPr>
              <a:t>pick a component</a:t>
            </a:r>
            <a:r>
              <a:rPr sz="2000" b="0">
                <a:solidFill>
                  <a:srgbClr val="1B2430"/>
                </a:solidFill>
                <a:latin typeface="Calibri"/>
              </a:rPr>
              <a:t> k with probability πₖ, then </a:t>
            </a:r>
            <a:r>
              <a:rPr sz="2000" b="1">
                <a:solidFill>
                  <a:srgbClr val="1B2430"/>
                </a:solidFill>
                <a:latin typeface="Calibri"/>
              </a:rPr>
              <a:t>draw</a:t>
            </a:r>
            <a:r>
              <a:rPr sz="2000" b="0">
                <a:solidFill>
                  <a:srgbClr val="1B2430"/>
                </a:solidFill>
                <a:latin typeface="Calibri"/>
              </a:rPr>
              <a:t> from N(μₖ,Σₖ)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This 'generative' nature is what makes likelihood and BIC available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It also powers </a:t>
            </a:r>
            <a:r>
              <a:rPr sz="2000" b="1">
                <a:solidFill>
                  <a:srgbClr val="1B2430"/>
                </a:solidFill>
                <a:latin typeface="Calibri"/>
              </a:rPr>
              <a:t>density estimation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 smooth model of where data lives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Contrast: k-means is purely </a:t>
            </a:r>
            <a:r>
              <a:rPr sz="2000" b="1">
                <a:solidFill>
                  <a:srgbClr val="1B2430"/>
                </a:solidFill>
                <a:latin typeface="Calibri"/>
              </a:rPr>
              <a:t>algorithmic</a:t>
            </a:r>
            <a:r>
              <a:rPr sz="2000" b="0">
                <a:solidFill>
                  <a:srgbClr val="1B2430"/>
                </a:solidFill>
                <a:latin typeface="Calibri"/>
              </a:rPr>
              <a:t>, with no generative 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48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GMMs beyond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Density estimation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flexible model of a variable's distribution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Anomaly detection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points with very low p(x) are outliers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Soft segmentation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image, market or patient segmentation with uncertainty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Semi-supervised learning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components can align with partial labels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49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INITIALISATION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Strategies that help 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k-means warm start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run k-means, use its clusters to seed EM (mclust's default idea)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Multiple random restarts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keep the fit with the highest log-likelihood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Hierarchical seeding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mclust initialises from model-based hierarchical clustering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good start avoids poor local optima and speeds convergence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50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EM never decreases the log-likelihood — but 'never decreasing' only guarantees a local optimum, not the global best.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That's why initialisation and restarts matter, exactly as with k-means.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 compare GMMs with k = 2, 3, 4 and get BIC = 980, 940, 965. Which do you pick?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k =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k = 3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k =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one with highest BIC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BIC is minimised at k = 3 (940). Lower BIC balances fit against complexity, so k = 3 is preferred.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52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Where GMMs sit in the bigger picture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Related ideas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Latent-variable models (the hidden component)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The EM algorithm generalises far beyond GMMs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Mixtures of other distributions are possible too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What's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Overlapping, high-dimensional data → reduce first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PCA (Lectures 7–8) tames dimensionality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Then cluster in the reduced space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53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GMM</a:t>
            </a:r>
            <a:r>
              <a:rPr sz="2000" b="0">
                <a:solidFill>
                  <a:srgbClr val="1B2430"/>
                </a:solidFill>
                <a:latin typeface="Calibri"/>
              </a:rPr>
              <a:t> models data as a weighted mixture of Gaussians, giving </a:t>
            </a:r>
            <a:r>
              <a:rPr sz="2000" b="1">
                <a:solidFill>
                  <a:srgbClr val="1B2430"/>
                </a:solidFill>
                <a:latin typeface="Calibri"/>
              </a:rPr>
              <a:t>soft</a:t>
            </a:r>
            <a:r>
              <a:rPr sz="2000" b="0">
                <a:solidFill>
                  <a:srgbClr val="1B2430"/>
                </a:solidFill>
                <a:latin typeface="Calibri"/>
              </a:rPr>
              <a:t> cluster probabilities.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1">
                <a:solidFill>
                  <a:srgbClr val="1B2430"/>
                </a:solidFill>
                <a:latin typeface="Calibri"/>
              </a:rPr>
              <a:t>EM</a:t>
            </a:r>
            <a:r>
              <a:rPr sz="2000" b="0">
                <a:solidFill>
                  <a:srgbClr val="1B2430"/>
                </a:solidFill>
                <a:latin typeface="Calibri"/>
              </a:rPr>
              <a:t> fits it by alternating responsibilities (E) and weighted re-estimation (M).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covariance type</a:t>
            </a:r>
            <a:r>
              <a:rPr sz="2000" b="0">
                <a:solidFill>
                  <a:srgbClr val="1B2430"/>
                </a:solidFill>
                <a:latin typeface="Calibri"/>
              </a:rPr>
              <a:t> dials flexibility from spherical (k-means-like) to full ellipses.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Choose the number of components with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BIC</a:t>
            </a:r>
            <a:r>
              <a:rPr sz="2000" b="0">
                <a:solidFill>
                  <a:srgbClr val="1B2430"/>
                </a:solidFill>
                <a:latin typeface="Calibri"/>
              </a:rPr>
              <a:t>; k-means is the GMM's simplest special 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77724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4626"/>
                </a:solidFill>
                <a:latin typeface="Calibri"/>
              </a:rPr>
              <a:t>Next lecture →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Lecture 06 — Hierarchical clustering: building a tree of nested groups.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L05 · 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