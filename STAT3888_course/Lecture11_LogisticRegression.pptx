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960120"/>
            <a:ext cx="2194560" cy="457200"/>
          </a:xfrm>
          <a:prstGeom prst="round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042415"/>
            <a:ext cx="2194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LECTURE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4241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Calibri"/>
              </a:rPr>
              <a:t>Logistic Regression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4160520"/>
            <a:ext cx="9692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0" i="0">
                <a:solidFill>
                  <a:srgbClr val="C8D4E2"/>
                </a:solidFill>
                <a:latin typeface="Calibri"/>
              </a:rPr>
              <a:t>The workhorse classifier: modelling probabilities with the logit link, interpreting coefficients as odds, fitting by maximum likelihood, and evaluating with the ROC curve.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5806440"/>
            <a:ext cx="10515600" cy="15240"/>
          </a:xfrm>
          <a:prstGeom prst="rect">
            <a:avLst/>
          </a:prstGeom>
          <a:solidFill>
            <a:srgbClr val="3A4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9FADBD"/>
                </a:solidFill>
                <a:latin typeface="Calibri"/>
              </a:rPr>
              <a:t>School of Mathematics &amp; Statistics · The University of Sydney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Today's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Why not linear regression for classification?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The logistic function and the logit link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Odds, log-odds and coefficient interpretation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Fitting by maximum likelihood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The decision boundary &amp; thresholds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Evaluation: confusion matrix, ROC and AUC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L11 ·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The supervised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Last lecture: fit </a:t>
            </a:r>
            <a:r>
              <a:rPr sz="2000" b="1">
                <a:solidFill>
                  <a:srgbClr val="1B2430"/>
                </a:solidFill>
                <a:latin typeface="Calibri"/>
              </a:rPr>
              <a:t>f: X → Y</a:t>
            </a:r>
            <a:r>
              <a:rPr sz="2000" b="0">
                <a:solidFill>
                  <a:srgbClr val="1B2430"/>
                </a:solidFill>
                <a:latin typeface="Calibri"/>
              </a:rPr>
              <a:t>, judge by generalisation, cross-validate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Now our first named method for </a:t>
            </a:r>
            <a:r>
              <a:rPr sz="2000" b="1">
                <a:solidFill>
                  <a:srgbClr val="1B2430"/>
                </a:solidFill>
                <a:latin typeface="Calibri"/>
              </a:rPr>
              <a:t>classification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Y is </a:t>
            </a:r>
            <a:r>
              <a:rPr sz="2000" b="1">
                <a:solidFill>
                  <a:srgbClr val="1B2430"/>
                </a:solidFill>
                <a:latin typeface="Calibri"/>
              </a:rPr>
              <a:t>binary</a:t>
            </a:r>
            <a:r>
              <a:rPr sz="2000" b="0">
                <a:solidFill>
                  <a:srgbClr val="1B2430"/>
                </a:solidFill>
                <a:latin typeface="Calibri"/>
              </a:rPr>
              <a:t>: diseased/healthy, at-risk/not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We predict a </a:t>
            </a:r>
            <a:r>
              <a:rPr sz="2000" b="1">
                <a:solidFill>
                  <a:srgbClr val="1B2430"/>
                </a:solidFill>
                <a:latin typeface="Calibri"/>
              </a:rPr>
              <a:t>probability</a:t>
            </a:r>
            <a:r>
              <a:rPr sz="2000" b="0">
                <a:solidFill>
                  <a:srgbClr val="1B2430"/>
                </a:solidFill>
                <a:latin typeface="Calibri"/>
              </a:rPr>
              <a:t>, then a class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L11 ·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Logistic regression is used primarily for…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82880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Predicting a continuous number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06040"/>
            <a:ext cx="10515600" cy="658368"/>
          </a:xfrm>
          <a:prstGeom prst="roundRect">
            <a:avLst/>
          </a:prstGeom>
          <a:solidFill>
            <a:srgbClr val="E4F3EC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606040"/>
            <a:ext cx="566928" cy="65836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60604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60604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1">
                <a:solidFill>
                  <a:srgbClr val="1B2430"/>
                </a:solidFill>
                <a:latin typeface="Calibri"/>
              </a:rPr>
              <a:t>Predicting a class / probability</a:t>
            </a:r>
            <a:r>
              <a:rPr sz="1650" b="1">
                <a:solidFill>
                  <a:srgbClr val="2A9D8F"/>
                </a:solidFill>
                <a:latin typeface="Calibri"/>
              </a:rPr>
              <a:t>   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38328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338328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38328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38328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Clustering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16052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416052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16052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16052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Dimension reduction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983480"/>
            <a:ext cx="10515600" cy="777240"/>
          </a:xfrm>
          <a:prstGeom prst="roundRect">
            <a:avLst/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983480"/>
            <a:ext cx="73152" cy="7772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505663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8000"/>
              </a:lnSpc>
            </a:pPr>
            <a:r>
              <a:rPr sz="1500" b="0">
                <a:solidFill>
                  <a:srgbClr val="1B2430"/>
                </a:solidFill>
                <a:latin typeface="Calibri"/>
              </a:rPr>
              <a:t>Why: Despite its name, logistic regression is a </a:t>
            </a:r>
            <a:r>
              <a:rPr sz="1500" b="1">
                <a:solidFill>
                  <a:srgbClr val="1B2430"/>
                </a:solidFill>
                <a:latin typeface="Calibri"/>
              </a:rPr>
              <a:t>classification</a:t>
            </a:r>
            <a:r>
              <a:rPr sz="1500" b="0">
                <a:solidFill>
                  <a:srgbClr val="1B2430"/>
                </a:solidFill>
                <a:latin typeface="Calibri"/>
              </a:rPr>
              <a:t> method — it models the probability of a categorical outcome.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L11 ·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6F9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FD8E8"/>
                </a:solidFill>
                <a:latin typeface="Calibri"/>
              </a:rPr>
              <a:t>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Why not linear regression?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31720"/>
            <a:ext cx="320040" cy="219456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C8D4E2"/>
                </a:solidFill>
                <a:latin typeface="Calibri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104241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Fit a straight line to 0/1 outcomes and it predicts probabilities below 0 and above 1 — which are meaningless.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50292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1">
                <a:solidFill>
                  <a:srgbClr val="B9C6D6"/>
                </a:solidFill>
                <a:latin typeface="Calibri"/>
              </a:rPr>
              <a:t>We need a model that always returns a valid probability in (0, 1).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THE FIX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Linear vs logistic on binary data</a:t>
            </a:r>
          </a:p>
        </p:txBody>
      </p:sp>
      <p:pic>
        <p:nvPicPr>
          <p:cNvPr id="6" name="Picture 5" descr="L11_linear_vs_logis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841905"/>
            <a:ext cx="9144000" cy="381427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1600" y="5989320"/>
            <a:ext cx="9418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5B6A7D"/>
                </a:solidFill>
                <a:latin typeface="Calibri"/>
              </a:rPr>
              <a:t>Linear regression (left) leaves the [0,1] range and extrapolates nonsense. Logistic regression (right) produces a proper S-shaped probability.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L11 ·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WHAT WE NEED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Requirements for a classifier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Output a </a:t>
            </a:r>
            <a:r>
              <a:rPr sz="2000" b="1">
                <a:solidFill>
                  <a:srgbClr val="1B2430"/>
                </a:solidFill>
                <a:latin typeface="Calibri"/>
              </a:rPr>
              <a:t>probability</a:t>
            </a:r>
            <a:r>
              <a:rPr sz="2000" b="0">
                <a:solidFill>
                  <a:srgbClr val="1B2430"/>
                </a:solidFill>
                <a:latin typeface="Calibri"/>
              </a:rPr>
              <a:t> in (0, 1)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Be </a:t>
            </a:r>
            <a:r>
              <a:rPr sz="2000" b="1">
                <a:solidFill>
                  <a:srgbClr val="1B2430"/>
                </a:solidFill>
                <a:latin typeface="Calibri"/>
              </a:rPr>
              <a:t>monotonic</a:t>
            </a:r>
            <a:r>
              <a:rPr sz="2000" b="0">
                <a:solidFill>
                  <a:srgbClr val="1B2430"/>
                </a:solidFill>
                <a:latin typeface="Calibri"/>
              </a:rPr>
              <a:t> in the predictors (more risk → higher probability)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Keep the </a:t>
            </a:r>
            <a:r>
              <a:rPr sz="2000" b="1">
                <a:solidFill>
                  <a:srgbClr val="1B2430"/>
                </a:solidFill>
                <a:latin typeface="Calibri"/>
              </a:rPr>
              <a:t>interpretability</a:t>
            </a:r>
            <a:r>
              <a:rPr sz="2000" b="0">
                <a:solidFill>
                  <a:srgbClr val="1B2430"/>
                </a:solidFill>
                <a:latin typeface="Calibri"/>
              </a:rPr>
              <a:t> of regression coefficients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Logistic regression delivers all three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L11 · 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6F9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FD8E8"/>
                </a:solidFill>
                <a:latin typeface="Calibri"/>
              </a:rPr>
              <a:t>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The logistic model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Logistic (sigmoid) function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10515600" cy="1554480"/>
          </a:xfrm>
          <a:prstGeom prst="roundRect">
            <a:avLst/>
          </a:prstGeom>
          <a:solidFill>
            <a:srgbClr val="EEF3F9"/>
          </a:solidFill>
          <a:ln w="1778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91440" cy="155448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965960"/>
            <a:ext cx="98755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</a:pPr>
            <a:r>
              <a:rPr sz="2000" b="0">
                <a:solidFill>
                  <a:srgbClr val="1B2430"/>
                </a:solidFill>
                <a:latin typeface="Calibri"/>
              </a:rPr>
              <a:t>The </a:t>
            </a:r>
            <a:r>
              <a:rPr sz="2000" b="1">
                <a:solidFill>
                  <a:srgbClr val="1B2430"/>
                </a:solidFill>
                <a:latin typeface="Calibri"/>
              </a:rPr>
              <a:t>logistic function</a:t>
            </a:r>
            <a:r>
              <a:rPr sz="2000" b="0">
                <a:solidFill>
                  <a:srgbClr val="1B2430"/>
                </a:solidFill>
                <a:latin typeface="Calibri"/>
              </a:rPr>
              <a:t> σ(η) = 1/(1 + e⁻η) maps any real number η into the interval (0, 1).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57600"/>
            <a:ext cx="10424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η is the linear predictor β₀ + β₁x₁ + …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σ is S-shaped: flat, steep, flat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σ(0) = 0.5 — the natural decision threshold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L11 · 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THE CURVE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The sigmoid squashes η into a probability</a:t>
            </a:r>
          </a:p>
        </p:txBody>
      </p:sp>
      <p:pic>
        <p:nvPicPr>
          <p:cNvPr id="6" name="Picture 5" descr="L11_sigmo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1283" y="1600200"/>
            <a:ext cx="7770394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1600" y="5989320"/>
            <a:ext cx="9418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5B6A7D"/>
                </a:solidFill>
                <a:latin typeface="Calibri"/>
              </a:rPr>
              <a:t>Large positive η → probability near 1; large negative → near 0; η = 0 → 0.5.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L11 · 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THE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Logistic regression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1965960"/>
            <a:ext cx="9235440" cy="1417320"/>
          </a:xfrm>
          <a:prstGeom prst="roundRect">
            <a:avLst/>
          </a:prstGeom>
          <a:solidFill>
            <a:srgbClr val="0F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1965960"/>
            <a:ext cx="905256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 i="1">
                <a:solidFill>
                  <a:srgbClr val="EAF2FB"/>
                </a:solidFill>
                <a:latin typeface="Cambria Math"/>
              </a:rPr>
              <a:t>P(Y=1 | x) = 1 / ( 1 + e^−(β₀ + β₁x₁ + … + βₚxₚ) 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703320"/>
            <a:ext cx="9235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• </a:t>
            </a:r>
            <a:r>
              <a:rPr sz="1800" b="0">
                <a:solidFill>
                  <a:srgbClr val="1B2430"/>
                </a:solidFill>
                <a:latin typeface="Calibri"/>
              </a:rPr>
              <a:t>A </a:t>
            </a:r>
            <a:r>
              <a:rPr sz="1800" b="1">
                <a:solidFill>
                  <a:srgbClr val="1B2430"/>
                </a:solidFill>
                <a:latin typeface="Calibri"/>
              </a:rPr>
              <a:t>linear</a:t>
            </a:r>
            <a:r>
              <a:rPr sz="1800" b="0">
                <a:solidFill>
                  <a:srgbClr val="1B2430"/>
                </a:solidFill>
                <a:latin typeface="Calibri"/>
              </a:rPr>
              <a:t> predictor passed through the </a:t>
            </a:r>
            <a:r>
              <a:rPr sz="1800" b="1">
                <a:solidFill>
                  <a:srgbClr val="1B2430"/>
                </a:solidFill>
                <a:latin typeface="Calibri"/>
              </a:rPr>
              <a:t>sigmoid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• </a:t>
            </a:r>
            <a:r>
              <a:rPr sz="1800" b="0">
                <a:solidFill>
                  <a:srgbClr val="1B2430"/>
                </a:solidFill>
                <a:latin typeface="Calibri"/>
              </a:rPr>
              <a:t>Coefficients β act on the log-odds scale (next)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• </a:t>
            </a:r>
            <a:r>
              <a:rPr sz="1800" b="0">
                <a:solidFill>
                  <a:srgbClr val="1B2430"/>
                </a:solidFill>
                <a:latin typeface="Calibri"/>
              </a:rPr>
              <a:t>Fitted by maximum likelihood, not least squares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L11 · 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The logit link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10515600" cy="1554480"/>
          </a:xfrm>
          <a:prstGeom prst="roundRect">
            <a:avLst/>
          </a:prstGeom>
          <a:solidFill>
            <a:srgbClr val="EEF3F9"/>
          </a:solidFill>
          <a:ln w="1778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91440" cy="155448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965960"/>
            <a:ext cx="98755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</a:pPr>
            <a:r>
              <a:rPr sz="2000" b="0">
                <a:solidFill>
                  <a:srgbClr val="1B2430"/>
                </a:solidFill>
                <a:latin typeface="Calibri"/>
              </a:rPr>
              <a:t>The </a:t>
            </a:r>
            <a:r>
              <a:rPr sz="2000" b="1">
                <a:solidFill>
                  <a:srgbClr val="1B2430"/>
                </a:solidFill>
                <a:latin typeface="Calibri"/>
              </a:rPr>
              <a:t>logit</a:t>
            </a:r>
            <a:r>
              <a:rPr sz="2000" b="0">
                <a:solidFill>
                  <a:srgbClr val="1B2430"/>
                </a:solidFill>
                <a:latin typeface="Calibri"/>
              </a:rPr>
              <a:t> is the log-odds, log(p/(1−p)). Logistic regression makes the logit a </a:t>
            </a:r>
            <a:r>
              <a:rPr sz="2000" b="1">
                <a:solidFill>
                  <a:srgbClr val="1B2430"/>
                </a:solidFill>
                <a:latin typeface="Calibri"/>
              </a:rPr>
              <a:t>linear</a:t>
            </a:r>
            <a:r>
              <a:rPr sz="2000" b="0">
                <a:solidFill>
                  <a:srgbClr val="1B2430"/>
                </a:solidFill>
                <a:latin typeface="Calibri"/>
              </a:rPr>
              <a:t> function of the predictors.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57600"/>
            <a:ext cx="10424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logit(p) = β₀ + β₁x₁ + … — linear on this scale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It's the inverse of the sigmoid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This is why logistic regression is a 'generalised linear model'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L11 · 11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TWO SCALES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Probability, odds and log-odds</a:t>
            </a:r>
          </a:p>
        </p:txBody>
      </p:sp>
      <p:pic>
        <p:nvPicPr>
          <p:cNvPr id="6" name="Picture 5" descr="L11_od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938528"/>
            <a:ext cx="9144000" cy="36210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1600" y="5989320"/>
            <a:ext cx="9418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5B6A7D"/>
                </a:solidFill>
                <a:latin typeface="Calibri"/>
              </a:rPr>
              <a:t>The model is linear on the log-odds scale (left); on the odds scale a unit change in x multiplies the odds (right).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L11 · 12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6F9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FD8E8"/>
                </a:solidFill>
                <a:latin typeface="Calibri"/>
              </a:rPr>
              <a:t>PART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Odds &amp; interpreting coefficients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Odds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10515600" cy="1554480"/>
          </a:xfrm>
          <a:prstGeom prst="roundRect">
            <a:avLst/>
          </a:prstGeom>
          <a:solidFill>
            <a:srgbClr val="EEF3F9"/>
          </a:solidFill>
          <a:ln w="1778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91440" cy="155448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965960"/>
            <a:ext cx="98755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</a:pPr>
            <a:r>
              <a:rPr sz="2000" b="0">
                <a:solidFill>
                  <a:srgbClr val="1B2430"/>
                </a:solidFill>
                <a:latin typeface="Calibri"/>
              </a:rPr>
              <a:t>The </a:t>
            </a:r>
            <a:r>
              <a:rPr sz="2000" b="1">
                <a:solidFill>
                  <a:srgbClr val="1B2430"/>
                </a:solidFill>
                <a:latin typeface="Calibri"/>
              </a:rPr>
              <a:t>odds</a:t>
            </a:r>
            <a:r>
              <a:rPr sz="2000" b="0">
                <a:solidFill>
                  <a:srgbClr val="1B2430"/>
                </a:solidFill>
                <a:latin typeface="Calibri"/>
              </a:rPr>
              <a:t> of an event is p/(1−p): the probability it happens divided by the probability it doesn't.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57600"/>
            <a:ext cx="10424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p = 0.5 → odds 1 ('even'); p = 0.8 → odds 4 ('4 to 1')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Odds range 0 to ∞; log-odds range −∞ to +∞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Coefficients are naturally read on the odds scale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L11 · 13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INTERPRETATION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Coefficients are log odds-ratios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1965960"/>
            <a:ext cx="9235440" cy="1417320"/>
          </a:xfrm>
          <a:prstGeom prst="roundRect">
            <a:avLst/>
          </a:prstGeom>
          <a:solidFill>
            <a:srgbClr val="0F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1965960"/>
            <a:ext cx="905256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 i="1">
                <a:solidFill>
                  <a:srgbClr val="EAF2FB"/>
                </a:solidFill>
                <a:latin typeface="Cambria Math"/>
              </a:rPr>
              <a:t>e^βⱼ = odds ratio for a one-unit increase in xⱼ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703320"/>
            <a:ext cx="9235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• </a:t>
            </a:r>
            <a:r>
              <a:rPr sz="1800" b="0">
                <a:solidFill>
                  <a:srgbClr val="1B2430"/>
                </a:solidFill>
                <a:latin typeface="Calibri"/>
              </a:rPr>
              <a:t>A one-unit rise in xⱼ </a:t>
            </a:r>
            <a:r>
              <a:rPr sz="1800" b="1">
                <a:solidFill>
                  <a:srgbClr val="1B2430"/>
                </a:solidFill>
                <a:latin typeface="Calibri"/>
              </a:rPr>
              <a:t>multiplies</a:t>
            </a:r>
            <a:r>
              <a:rPr sz="1800" b="0">
                <a:solidFill>
                  <a:srgbClr val="1B2430"/>
                </a:solidFill>
                <a:latin typeface="Calibri"/>
              </a:rPr>
              <a:t> the odds by e^βⱼ (others held fixed)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• </a:t>
            </a:r>
            <a:r>
              <a:rPr sz="1800" b="1">
                <a:solidFill>
                  <a:srgbClr val="1B2430"/>
                </a:solidFill>
                <a:latin typeface="Calibri"/>
              </a:rPr>
              <a:t>βⱼ &gt; 0</a:t>
            </a:r>
            <a:r>
              <a:rPr sz="1800" b="0">
                <a:solidFill>
                  <a:srgbClr val="1B2430"/>
                </a:solidFill>
                <a:latin typeface="Calibri"/>
              </a:rPr>
              <a:t> → e^βⱼ &gt; 1 → the event becomes more likely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• </a:t>
            </a:r>
            <a:r>
              <a:rPr sz="1800" b="1">
                <a:solidFill>
                  <a:srgbClr val="1B2430"/>
                </a:solidFill>
                <a:latin typeface="Calibri"/>
              </a:rPr>
              <a:t>βⱼ = 0</a:t>
            </a:r>
            <a:r>
              <a:rPr sz="1800" b="0">
                <a:solidFill>
                  <a:srgbClr val="1B2430"/>
                </a:solidFill>
                <a:latin typeface="Calibri"/>
              </a:rPr>
              <a:t> → e^βⱼ = 1 → xⱼ has no effect on the odds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63040" y="5486400"/>
            <a:ext cx="9235440" cy="777240"/>
          </a:xfrm>
          <a:prstGeom prst="roundRect">
            <a:avLst/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63040" y="5486400"/>
            <a:ext cx="73152" cy="7772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19072" y="5559552"/>
            <a:ext cx="8778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8000"/>
              </a:lnSpc>
            </a:pPr>
            <a:r>
              <a:rPr sz="1500" b="0">
                <a:solidFill>
                  <a:srgbClr val="1B2430"/>
                </a:solidFill>
                <a:latin typeface="Calibri"/>
              </a:rPr>
              <a:t>Report odds ratios with confidence intervals — the standard in health research.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L11 · 14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WORKED INTERPRETATION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A nutrition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Model: P(high cholesterol) from saturated-fat intake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Suppose β = 0.4 for fat (per 10 g/day)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e^0.4 ≈ </a:t>
            </a:r>
            <a:r>
              <a:rPr sz="2000" b="1">
                <a:solidFill>
                  <a:srgbClr val="1B2430"/>
                </a:solidFill>
                <a:latin typeface="Calibri"/>
              </a:rPr>
              <a:t>1.49</a:t>
            </a:r>
            <a:r>
              <a:rPr sz="2000" b="0">
                <a:solidFill>
                  <a:srgbClr val="1B2430"/>
                </a:solidFill>
                <a:latin typeface="Calibri"/>
              </a:rPr>
              <a:t> → each extra 10 g/day raises the </a:t>
            </a:r>
            <a:r>
              <a:rPr sz="2000" b="1">
                <a:solidFill>
                  <a:srgbClr val="1B2430"/>
                </a:solidFill>
                <a:latin typeface="Calibri"/>
              </a:rPr>
              <a:t>odds</a:t>
            </a:r>
            <a:r>
              <a:rPr sz="2000" b="0">
                <a:solidFill>
                  <a:srgbClr val="1B2430"/>
                </a:solidFill>
                <a:latin typeface="Calibri"/>
              </a:rPr>
              <a:t> by ~49%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Odds ratios, not probabilities, are what the coefficient gives you directly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L11 · 15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A predictor has coefficient β = 0 in a logistic model. Its odds ratio e^β is…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82880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06040"/>
            <a:ext cx="10515600" cy="658368"/>
          </a:xfrm>
          <a:prstGeom prst="roundRect">
            <a:avLst/>
          </a:prstGeom>
          <a:solidFill>
            <a:srgbClr val="E4F3EC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606040"/>
            <a:ext cx="566928" cy="65836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60604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60604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1">
                <a:solidFill>
                  <a:srgbClr val="1B2430"/>
                </a:solidFill>
                <a:latin typeface="Calibri"/>
              </a:rPr>
              <a:t>1 (no effect)</a:t>
            </a:r>
            <a:r>
              <a:rPr sz="1650" b="1">
                <a:solidFill>
                  <a:srgbClr val="2A9D8F"/>
                </a:solidFill>
                <a:latin typeface="Calibri"/>
              </a:rPr>
              <a:t>   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38328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338328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38328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38328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Infinite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16052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416052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16052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16052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Negative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983480"/>
            <a:ext cx="10515600" cy="777240"/>
          </a:xfrm>
          <a:prstGeom prst="roundRect">
            <a:avLst/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983480"/>
            <a:ext cx="73152" cy="7772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505663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8000"/>
              </a:lnSpc>
            </a:pPr>
            <a:r>
              <a:rPr sz="1500" b="0">
                <a:solidFill>
                  <a:srgbClr val="1B2430"/>
                </a:solidFill>
                <a:latin typeface="Calibri"/>
              </a:rPr>
              <a:t>Why: e^0 = 1, meaning a one-unit change multiplies the odds by 1 — i.e. no effect on the outcome's odds.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L11 · 16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CAREFUL INTERPRETATION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Common traps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Odds ratio ≠ </a:t>
            </a:r>
            <a:r>
              <a:rPr sz="2000" b="1">
                <a:solidFill>
                  <a:srgbClr val="1B2430"/>
                </a:solidFill>
                <a:latin typeface="Calibri"/>
              </a:rPr>
              <a:t>probability</a:t>
            </a:r>
            <a:r>
              <a:rPr sz="2000" b="0">
                <a:solidFill>
                  <a:srgbClr val="1B2430"/>
                </a:solidFill>
                <a:latin typeface="Calibri"/>
              </a:rPr>
              <a:t> ratio (only ≈ for rare events)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Coefficients are </a:t>
            </a:r>
            <a:r>
              <a:rPr sz="2000" b="1">
                <a:solidFill>
                  <a:srgbClr val="1B2430"/>
                </a:solidFill>
                <a:latin typeface="Calibri"/>
              </a:rPr>
              <a:t>conditional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'holding other variables fixed'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Standardise</a:t>
            </a:r>
            <a:r>
              <a:rPr sz="2000" b="0">
                <a:solidFill>
                  <a:srgbClr val="1B2430"/>
                </a:solidFill>
                <a:latin typeface="Calibri"/>
              </a:rPr>
              <a:t> predictors to compare coefficient magnitudes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Correlation among predictors makes coefficients unstable (→ Lecture 12)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L11 · 17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6F9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FD8E8"/>
                </a:solidFill>
                <a:latin typeface="Calibri"/>
              </a:rPr>
              <a:t>PART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Fitting the model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Maximum likelihood estimation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10515600" cy="1554480"/>
          </a:xfrm>
          <a:prstGeom prst="roundRect">
            <a:avLst/>
          </a:prstGeom>
          <a:solidFill>
            <a:srgbClr val="EEF3F9"/>
          </a:solidFill>
          <a:ln w="1778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91440" cy="155448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965960"/>
            <a:ext cx="98755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</a:pPr>
            <a:r>
              <a:rPr sz="2000" b="1">
                <a:solidFill>
                  <a:srgbClr val="1B2430"/>
                </a:solidFill>
                <a:latin typeface="Calibri"/>
              </a:rPr>
              <a:t>MLE</a:t>
            </a:r>
            <a:r>
              <a:rPr sz="2000" b="0">
                <a:solidFill>
                  <a:srgbClr val="1B2430"/>
                </a:solidFill>
                <a:latin typeface="Calibri"/>
              </a:rPr>
              <a:t> chooses the coefficients that make the observed 0/1 outcomes </a:t>
            </a:r>
            <a:r>
              <a:rPr sz="2000" b="1">
                <a:solidFill>
                  <a:srgbClr val="1B2430"/>
                </a:solidFill>
                <a:latin typeface="Calibri"/>
              </a:rPr>
              <a:t>most probable</a:t>
            </a:r>
            <a:r>
              <a:rPr sz="2000" b="0">
                <a:solidFill>
                  <a:srgbClr val="1B2430"/>
                </a:solidFill>
                <a:latin typeface="Calibri"/>
              </a:rPr>
              <a:t> under the model.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57600"/>
            <a:ext cx="10424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No closed-form solution — solved numerically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Iteratively Reweighted Least Squares (IRLS) / Newton's method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Contrast with least squares used in linear regression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L11 · 18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Maximise the log-likelihood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1965960"/>
            <a:ext cx="9235440" cy="1417320"/>
          </a:xfrm>
          <a:prstGeom prst="roundRect">
            <a:avLst/>
          </a:prstGeom>
          <a:solidFill>
            <a:srgbClr val="0F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1965960"/>
            <a:ext cx="905256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 i="1">
                <a:solidFill>
                  <a:srgbClr val="EAF2FB"/>
                </a:solidFill>
                <a:latin typeface="Cambria Math"/>
              </a:rPr>
              <a:t>ℓ(β) = Σᵢ [ yᵢ log pᵢ + (1−yᵢ) log(1−pᵢ)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703320"/>
            <a:ext cx="9235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• </a:t>
            </a:r>
            <a:r>
              <a:rPr sz="1800" b="0">
                <a:solidFill>
                  <a:srgbClr val="1B2430"/>
                </a:solidFill>
                <a:latin typeface="Calibri"/>
              </a:rPr>
              <a:t>pᵢ = σ(β₀ + βᵀxᵢ) is the model's probability for case i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• </a:t>
            </a:r>
            <a:r>
              <a:rPr sz="1800" b="0">
                <a:solidFill>
                  <a:srgbClr val="1B2430"/>
                </a:solidFill>
                <a:latin typeface="Calibri"/>
              </a:rPr>
              <a:t>Rewards high pᵢ when yᵢ = 1 and low pᵢ when yᵢ = 0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• </a:t>
            </a:r>
            <a:r>
              <a:rPr sz="1800" b="0">
                <a:solidFill>
                  <a:srgbClr val="1B2430"/>
                </a:solidFill>
                <a:latin typeface="Calibri"/>
              </a:rPr>
              <a:t>Equivalent to minimising </a:t>
            </a:r>
            <a:r>
              <a:rPr sz="1800" b="1">
                <a:solidFill>
                  <a:srgbClr val="1B2430"/>
                </a:solidFill>
                <a:latin typeface="Calibri"/>
              </a:rPr>
              <a:t>cross-entropy / log-loss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L11 · 19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HOW IT'S SOLVED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Under the hood (conceptually)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Start with a guess for β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Repeatedly update β to </a:t>
            </a:r>
            <a:r>
              <a:rPr sz="2000" b="1">
                <a:solidFill>
                  <a:srgbClr val="1B2430"/>
                </a:solidFill>
                <a:latin typeface="Calibri"/>
              </a:rPr>
              <a:t>increase</a:t>
            </a:r>
            <a:r>
              <a:rPr sz="2000" b="0">
                <a:solidFill>
                  <a:srgbClr val="1B2430"/>
                </a:solidFill>
                <a:latin typeface="Calibri"/>
              </a:rPr>
              <a:t> the log-likelihood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Converges quickly for well-behaved data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`glm(family = binomial)` does this for you in R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L11 · 20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ASSUMPTIONS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What logistic regression assumes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The </a:t>
            </a:r>
            <a:r>
              <a:rPr sz="2000" b="1">
                <a:solidFill>
                  <a:srgbClr val="1B2430"/>
                </a:solidFill>
                <a:latin typeface="Calibri"/>
              </a:rPr>
              <a:t>logit is linear</a:t>
            </a:r>
            <a:r>
              <a:rPr sz="2000" b="0">
                <a:solidFill>
                  <a:srgbClr val="1B2430"/>
                </a:solidFill>
                <a:latin typeface="Calibri"/>
              </a:rPr>
              <a:t> in the predictors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Observations are </a:t>
            </a:r>
            <a:r>
              <a:rPr sz="2000" b="1">
                <a:solidFill>
                  <a:srgbClr val="1B2430"/>
                </a:solidFill>
                <a:latin typeface="Calibri"/>
              </a:rPr>
              <a:t>independent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Little multicollinearity</a:t>
            </a:r>
            <a:r>
              <a:rPr sz="2000" b="0">
                <a:solidFill>
                  <a:srgbClr val="1B2430"/>
                </a:solidFill>
                <a:latin typeface="Calibri"/>
              </a:rPr>
              <a:t> among predictors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Enough events per predictor (rule of thumb: ≥ 10)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L11 · 21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6F9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FD8E8"/>
                </a:solidFill>
                <a:latin typeface="Calibri"/>
              </a:rPr>
              <a:t>PART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Predictions &amp; the decision boundary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GEOMETRY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Where probability crosses 0.5</a:t>
            </a:r>
          </a:p>
        </p:txBody>
      </p:sp>
      <p:pic>
        <p:nvPicPr>
          <p:cNvPr id="6" name="Picture 5" descr="L11_bound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509" y="1600200"/>
            <a:ext cx="6155942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1600" y="5989320"/>
            <a:ext cx="9418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5B6A7D"/>
                </a:solidFill>
                <a:latin typeface="Calibri"/>
              </a:rPr>
              <a:t>Logistic regression draws a **linear** decision boundary — the line where P(Y=1) = 0.5. One side is predicted positive, the other negative.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L11 · 22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Decision threshold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10515600" cy="1554480"/>
          </a:xfrm>
          <a:prstGeom prst="roundRect">
            <a:avLst/>
          </a:prstGeom>
          <a:solidFill>
            <a:srgbClr val="EEF3F9"/>
          </a:solidFill>
          <a:ln w="1778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91440" cy="155448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965960"/>
            <a:ext cx="98755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</a:pPr>
            <a:r>
              <a:rPr sz="2000" b="0">
                <a:solidFill>
                  <a:srgbClr val="1B2430"/>
                </a:solidFill>
                <a:latin typeface="Calibri"/>
              </a:rPr>
              <a:t>The </a:t>
            </a:r>
            <a:r>
              <a:rPr sz="2000" b="1">
                <a:solidFill>
                  <a:srgbClr val="1B2430"/>
                </a:solidFill>
                <a:latin typeface="Calibri"/>
              </a:rPr>
              <a:t>threshold</a:t>
            </a:r>
            <a:r>
              <a:rPr sz="2000" b="0">
                <a:solidFill>
                  <a:srgbClr val="1B2430"/>
                </a:solidFill>
                <a:latin typeface="Calibri"/>
              </a:rPr>
              <a:t> converts a predicted probability into a class label — default 0.5, but adjustable to trade off error types.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57600"/>
            <a:ext cx="10424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Lower threshold → catch more positives (higher recall, more false alarms)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Higher threshold → fewer false alarms (higher precision, more misses)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Choose it from the </a:t>
            </a:r>
            <a:r>
              <a:rPr sz="1800" b="1">
                <a:solidFill>
                  <a:srgbClr val="1B2430"/>
                </a:solidFill>
                <a:latin typeface="Calibri"/>
              </a:rPr>
              <a:t>cost</a:t>
            </a:r>
            <a:r>
              <a:rPr sz="1800" b="0">
                <a:solidFill>
                  <a:srgbClr val="1B2430"/>
                </a:solidFill>
                <a:latin typeface="Calibri"/>
              </a:rPr>
              <a:t> of each error type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L11 · 23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CHOOSING A THRESHOLD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It's a decision, not a default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Screening for disease? </a:t>
            </a:r>
            <a:r>
              <a:rPr sz="2000" b="1">
                <a:solidFill>
                  <a:srgbClr val="1B2430"/>
                </a:solidFill>
                <a:latin typeface="Calibri"/>
              </a:rPr>
              <a:t>Lower</a:t>
            </a:r>
            <a:r>
              <a:rPr sz="2000" b="0">
                <a:solidFill>
                  <a:srgbClr val="1B2430"/>
                </a:solidFill>
                <a:latin typeface="Calibri"/>
              </a:rPr>
              <a:t> the threshold — don't miss cases (high recall)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Costly intervention? </a:t>
            </a:r>
            <a:r>
              <a:rPr sz="2000" b="1">
                <a:solidFill>
                  <a:srgbClr val="1B2430"/>
                </a:solidFill>
                <a:latin typeface="Calibri"/>
              </a:rPr>
              <a:t>Raise</a:t>
            </a:r>
            <a:r>
              <a:rPr sz="2000" b="0">
                <a:solidFill>
                  <a:srgbClr val="1B2430"/>
                </a:solidFill>
                <a:latin typeface="Calibri"/>
              </a:rPr>
              <a:t> it — avoid false alarms (high precision)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0.5 is a starting point, not a law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The ROC curve shows all thresholds at once (next)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L11 · 24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Lowering the classification threshold from 0.5 to 0.3 will generally…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0515600" cy="658368"/>
          </a:xfrm>
          <a:prstGeom prst="roundRect">
            <a:avLst/>
          </a:prstGeom>
          <a:solidFill>
            <a:srgbClr val="E4F3EC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566928" cy="65836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82880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1">
                <a:solidFill>
                  <a:srgbClr val="1B2430"/>
                </a:solidFill>
                <a:latin typeface="Calibri"/>
              </a:rPr>
              <a:t>Increase recall, increase false positives</a:t>
            </a:r>
            <a:r>
              <a:rPr sz="1650" b="1">
                <a:solidFill>
                  <a:srgbClr val="2A9D8F"/>
                </a:solidFill>
                <a:latin typeface="Calibri"/>
              </a:rPr>
              <a:t>   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0604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60604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60604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60604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Increase precision, reduce recall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38328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338328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38328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38328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Have no effect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16052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416052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16052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16052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Reduce both errors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983480"/>
            <a:ext cx="10515600" cy="777240"/>
          </a:xfrm>
          <a:prstGeom prst="roundRect">
            <a:avLst/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983480"/>
            <a:ext cx="73152" cy="7772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505663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8000"/>
              </a:lnSpc>
            </a:pPr>
            <a:r>
              <a:rPr sz="1500" b="0">
                <a:solidFill>
                  <a:srgbClr val="1B2430"/>
                </a:solidFill>
                <a:latin typeface="Calibri"/>
              </a:rPr>
              <a:t>Why: A lower threshold labels more cases positive, catching more true positives (higher recall) but also producing more false positives.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L11 · 25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6F9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FD8E8"/>
                </a:solidFill>
                <a:latin typeface="Calibri"/>
              </a:rPr>
              <a:t>PART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Evaluation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THE ROC CURVE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Performance across all thresholds</a:t>
            </a:r>
          </a:p>
        </p:txBody>
      </p:sp>
      <p:pic>
        <p:nvPicPr>
          <p:cNvPr id="6" name="Picture 5" descr="L11_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1281" y="1600200"/>
            <a:ext cx="5230398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1600" y="5989320"/>
            <a:ext cx="9418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5B6A7D"/>
                </a:solidFill>
                <a:latin typeface="Calibri"/>
              </a:rPr>
              <a:t>The ROC curve plots true-positive vs false-positive rate as the threshold varies. The area under it (AUC) summarises ranking quality.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L11 · 26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AUC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10515600" cy="1554480"/>
          </a:xfrm>
          <a:prstGeom prst="roundRect">
            <a:avLst/>
          </a:prstGeom>
          <a:solidFill>
            <a:srgbClr val="EEF3F9"/>
          </a:solidFill>
          <a:ln w="1778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91440" cy="155448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965960"/>
            <a:ext cx="98755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</a:pPr>
            <a:r>
              <a:rPr sz="2000" b="0">
                <a:solidFill>
                  <a:srgbClr val="1B2430"/>
                </a:solidFill>
                <a:latin typeface="Calibri"/>
              </a:rPr>
              <a:t>The </a:t>
            </a:r>
            <a:r>
              <a:rPr sz="2000" b="1">
                <a:solidFill>
                  <a:srgbClr val="1B2430"/>
                </a:solidFill>
                <a:latin typeface="Calibri"/>
              </a:rPr>
              <a:t>area under the ROC curve</a:t>
            </a:r>
            <a:r>
              <a:rPr sz="2000" b="0">
                <a:solidFill>
                  <a:srgbClr val="1B2430"/>
                </a:solidFill>
                <a:latin typeface="Calibri"/>
              </a:rPr>
              <a:t> is the probability the model ranks a random positive above a random negative.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57600"/>
            <a:ext cx="10424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AUC = 0.5 → no better than chance; 1.0 → perfect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Threshold-free — measures ranking, not a single cutoff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Robust to class imbalance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L11 · 27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EVALUATING A CLASSIFIER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The full picture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Confusion matrix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the raw counts at a chosen threshold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Precision / recall / F1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especially under imbalance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ROC / AUC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threshold-free ranking quality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Calibration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do predicted probabilities match observed rates?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L11 · 28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IN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Fit and evaluate a logistic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10515600" cy="2944368"/>
          </a:xfrm>
          <a:prstGeom prst="roundRect">
            <a:avLst/>
          </a:prstGeom>
          <a:solidFill>
            <a:srgbClr val="12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47088"/>
            <a:ext cx="10058400" cy="2670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fit &lt;- glm(highchol ~ sat_fat + fibre + age,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           data = training, family = binomial)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summary(fit)                       # coefficients (log-odds)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exp(coef(fit))                     # odds ratios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prob &lt;- predict(fit, test, type = 'response')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pred &lt;- ifelse(prob &gt; 0.5, 1, 0)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library(pROC); roc(test$highchol, prob)$auc   # AUC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L11 · 29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31720"/>
            <a:ext cx="320040" cy="219456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C8D4E2"/>
                </a:solidFill>
                <a:latin typeface="Calibri"/>
              </a:rPr>
              <a:t>WHY IT ENDURES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104241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Logistic regression is fast, interpretable and calibrated — often the first classifier to try and the baseline to beat.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50292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1">
                <a:solidFill>
                  <a:srgbClr val="B9C6D6"/>
                </a:solidFill>
                <a:latin typeface="Calibri"/>
              </a:rPr>
              <a:t>Its coefficients tell a story a clinician can act on — a rare and valuable property.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IN-CLASS EXERCISE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Interpret a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1051560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874519"/>
            <a:ext cx="9966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1.  </a:t>
            </a:r>
            <a:r>
              <a:rPr sz="1900" b="0">
                <a:solidFill>
                  <a:srgbClr val="1B2430"/>
                </a:solidFill>
                <a:latin typeface="Calibri"/>
              </a:rPr>
              <a:t>A logistic model gives β = 0.7 for a binary 'processed-food' predictor of obesity.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2.  </a:t>
            </a:r>
            <a:r>
              <a:rPr sz="1900" b="0">
                <a:solidFill>
                  <a:srgbClr val="1B2430"/>
                </a:solidFill>
                <a:latin typeface="Calibri"/>
              </a:rPr>
              <a:t>Compute and interpret the odds ratio.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3.  </a:t>
            </a:r>
            <a:r>
              <a:rPr sz="1900" b="0">
                <a:solidFill>
                  <a:srgbClr val="1B2430"/>
                </a:solidFill>
                <a:latin typeface="Calibri"/>
              </a:rPr>
              <a:t>The model's AUC is 0.82 — what does that mean in plain words?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4.  </a:t>
            </a:r>
            <a:r>
              <a:rPr sz="1900" b="0">
                <a:solidFill>
                  <a:srgbClr val="1B2430"/>
                </a:solidFill>
                <a:latin typeface="Calibri"/>
              </a:rPr>
              <a:t>For a public-health screening tool, would you raise or lower the 0.5 threshold, and why?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257800"/>
            <a:ext cx="10515600" cy="914400"/>
          </a:xfrm>
          <a:prstGeom prst="roundRect">
            <a:avLst/>
          </a:prstGeom>
          <a:solidFill>
            <a:srgbClr val="FFF6EE"/>
          </a:solidFill>
          <a:ln w="15240">
            <a:solidFill>
              <a:srgbClr val="B98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44068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B98416"/>
                </a:solidFill>
                <a:latin typeface="Calibri"/>
              </a:rPr>
              <a:t>Hint.  </a:t>
            </a:r>
            <a:r>
              <a:rPr sz="1600" b="0" i="0">
                <a:solidFill>
                  <a:srgbClr val="1B2430"/>
                </a:solidFill>
                <a:latin typeface="Calibri"/>
              </a:rPr>
              <a:t>e^0.7 ≈ 2.01 → roughly double the odds; AUC 0.82 = 82% chance a random obese person is ranked above a random non-obese one; screening favours higher recall (lower threshold).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L11 · 31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10424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300"/>
              </a:spcAft>
            </a:pPr>
            <a:r>
              <a:rPr b="1" sz="2100">
                <a:solidFill>
                  <a:srgbClr val="2A9D8F"/>
                </a:solidFill>
                <a:latin typeface="Calibri"/>
              </a:rPr>
              <a:t>✓  </a:t>
            </a:r>
            <a:r>
              <a:rPr sz="2000" b="0">
                <a:solidFill>
                  <a:srgbClr val="1B2430"/>
                </a:solidFill>
                <a:latin typeface="Calibri"/>
              </a:rPr>
              <a:t>Logistic regression models </a:t>
            </a:r>
            <a:r>
              <a:rPr sz="2000" b="1">
                <a:solidFill>
                  <a:srgbClr val="1B2430"/>
                </a:solidFill>
                <a:latin typeface="Calibri"/>
              </a:rPr>
              <a:t>P(Y=1)</a:t>
            </a:r>
            <a:r>
              <a:rPr sz="2000" b="0">
                <a:solidFill>
                  <a:srgbClr val="1B2430"/>
                </a:solidFill>
                <a:latin typeface="Calibri"/>
              </a:rPr>
              <a:t> via the sigmoid of a linear predictor.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b="1" sz="2100">
                <a:solidFill>
                  <a:srgbClr val="2A9D8F"/>
                </a:solidFill>
                <a:latin typeface="Calibri"/>
              </a:rPr>
              <a:t>✓  </a:t>
            </a:r>
            <a:r>
              <a:rPr sz="2000" b="0">
                <a:solidFill>
                  <a:srgbClr val="1B2430"/>
                </a:solidFill>
                <a:latin typeface="Calibri"/>
              </a:rPr>
              <a:t>It is linear on the </a:t>
            </a:r>
            <a:r>
              <a:rPr sz="2000" b="1">
                <a:solidFill>
                  <a:srgbClr val="1B2430"/>
                </a:solidFill>
                <a:latin typeface="Calibri"/>
              </a:rPr>
              <a:t>log-odds</a:t>
            </a:r>
            <a:r>
              <a:rPr sz="2000" b="0">
                <a:solidFill>
                  <a:srgbClr val="1B2430"/>
                </a:solidFill>
                <a:latin typeface="Calibri"/>
              </a:rPr>
              <a:t> scale; e^β is an </a:t>
            </a:r>
            <a:r>
              <a:rPr sz="2000" b="1">
                <a:solidFill>
                  <a:srgbClr val="1B2430"/>
                </a:solidFill>
                <a:latin typeface="Calibri"/>
              </a:rPr>
              <a:t>odds ratio</a:t>
            </a:r>
            <a:r>
              <a:rPr sz="2000" b="0">
                <a:solidFill>
                  <a:srgbClr val="1B2430"/>
                </a:solidFill>
                <a:latin typeface="Calibri"/>
              </a:rPr>
              <a:t>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b="1" sz="2100">
                <a:solidFill>
                  <a:srgbClr val="2A9D8F"/>
                </a:solidFill>
                <a:latin typeface="Calibri"/>
              </a:rPr>
              <a:t>✓  </a:t>
            </a:r>
            <a:r>
              <a:rPr sz="2000" b="0">
                <a:solidFill>
                  <a:srgbClr val="1B2430"/>
                </a:solidFill>
                <a:latin typeface="Calibri"/>
              </a:rPr>
              <a:t>Fit by </a:t>
            </a:r>
            <a:r>
              <a:rPr sz="2000" b="1">
                <a:solidFill>
                  <a:srgbClr val="1B2430"/>
                </a:solidFill>
                <a:latin typeface="Calibri"/>
              </a:rPr>
              <a:t>maximum likelihood</a:t>
            </a:r>
            <a:r>
              <a:rPr sz="2000" b="0">
                <a:solidFill>
                  <a:srgbClr val="1B2430"/>
                </a:solidFill>
                <a:latin typeface="Calibri"/>
              </a:rPr>
              <a:t>; the decision boundary is </a:t>
            </a:r>
            <a:r>
              <a:rPr sz="2000" b="1">
                <a:solidFill>
                  <a:srgbClr val="1B2430"/>
                </a:solidFill>
                <a:latin typeface="Calibri"/>
              </a:rPr>
              <a:t>linear</a:t>
            </a:r>
            <a:r>
              <a:rPr sz="2000" b="0">
                <a:solidFill>
                  <a:srgbClr val="1B2430"/>
                </a:solidFill>
                <a:latin typeface="Calibri"/>
              </a:rPr>
              <a:t>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b="1" sz="2100">
                <a:solidFill>
                  <a:srgbClr val="2A9D8F"/>
                </a:solidFill>
                <a:latin typeface="Calibri"/>
              </a:rPr>
              <a:t>✓  </a:t>
            </a:r>
            <a:r>
              <a:rPr sz="2000" b="0">
                <a:solidFill>
                  <a:srgbClr val="1B2430"/>
                </a:solidFill>
                <a:latin typeface="Calibri"/>
              </a:rPr>
              <a:t>Evaluate with the </a:t>
            </a:r>
            <a:r>
              <a:rPr sz="2000" b="1">
                <a:solidFill>
                  <a:srgbClr val="1B2430"/>
                </a:solidFill>
                <a:latin typeface="Calibri"/>
              </a:rPr>
              <a:t>confusion matrix, precision/recall and ROC/AUC</a:t>
            </a:r>
            <a:r>
              <a:rPr sz="2000" b="0">
                <a:solidFill>
                  <a:srgbClr val="1B2430"/>
                </a:solidFill>
                <a:latin typeface="Calibri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486400"/>
            <a:ext cx="10515600" cy="777240"/>
          </a:xfrm>
          <a:prstGeom prst="round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5669280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E64626"/>
                </a:solidFill>
                <a:latin typeface="Calibri"/>
              </a:rPr>
              <a:t>Next lecture →  </a:t>
            </a:r>
            <a:r>
              <a:rPr sz="1600" b="0" i="0">
                <a:solidFill>
                  <a:srgbClr val="1B2430"/>
                </a:solidFill>
                <a:latin typeface="Calibri"/>
              </a:rPr>
              <a:t>Lecture 12 — Penalised logistic regression: ridge, lasso and elastic net.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L11 · 32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6F9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FD8E8"/>
                </a:solidFill>
                <a:latin typeface="Calibri"/>
              </a:rPr>
              <a:t>PART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Extensions, diagnostics &amp; consolidation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Generalised linear model (GLM)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10515600" cy="1554480"/>
          </a:xfrm>
          <a:prstGeom prst="roundRect">
            <a:avLst/>
          </a:prstGeom>
          <a:solidFill>
            <a:srgbClr val="EEF3F9"/>
          </a:solidFill>
          <a:ln w="1778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91440" cy="155448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965960"/>
            <a:ext cx="98755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</a:pPr>
            <a:r>
              <a:rPr sz="2000" b="0">
                <a:solidFill>
                  <a:srgbClr val="1B2430"/>
                </a:solidFill>
                <a:latin typeface="Calibri"/>
              </a:rPr>
              <a:t>A </a:t>
            </a:r>
            <a:r>
              <a:rPr sz="2000" b="1">
                <a:solidFill>
                  <a:srgbClr val="1B2430"/>
                </a:solidFill>
                <a:latin typeface="Calibri"/>
              </a:rPr>
              <a:t>GLM</a:t>
            </a:r>
            <a:r>
              <a:rPr sz="2000" b="0">
                <a:solidFill>
                  <a:srgbClr val="1B2430"/>
                </a:solidFill>
                <a:latin typeface="Calibri"/>
              </a:rPr>
              <a:t> links a linear predictor to a response distribution via a link function; logistic regression is the GLM for binary data.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57600"/>
            <a:ext cx="10424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Link: logit; distribution: Bernoulli/binomial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Poisson regression (counts) is another GLM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One unifying framework, many response types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L11 · 33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MULTICLASS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Beyond two classes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Multinomial logistic regression</a:t>
            </a:r>
            <a:r>
              <a:rPr sz="2000" b="0">
                <a:solidFill>
                  <a:srgbClr val="1B2430"/>
                </a:solidFill>
                <a:latin typeface="Calibri"/>
              </a:rPr>
              <a:t> handles &gt;2 unordered classes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Ordinal logistic regression</a:t>
            </a:r>
            <a:r>
              <a:rPr sz="2000" b="0">
                <a:solidFill>
                  <a:srgbClr val="1B2430"/>
                </a:solidFill>
                <a:latin typeface="Calibri"/>
              </a:rPr>
              <a:t> for ordered categories (e.g. BMI band)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One-vs-rest</a:t>
            </a:r>
            <a:r>
              <a:rPr sz="2000" b="0">
                <a:solidFill>
                  <a:srgbClr val="1B2430"/>
                </a:solidFill>
                <a:latin typeface="Calibri"/>
              </a:rPr>
              <a:t> fits a binary model per class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The same logit machinery, generalised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L11 · 34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DIAGNOSTICS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Checking a fitted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Residual / deviance</a:t>
            </a:r>
            <a:r>
              <a:rPr sz="2000" b="0">
                <a:solidFill>
                  <a:srgbClr val="1B2430"/>
                </a:solidFill>
                <a:latin typeface="Calibri"/>
              </a:rPr>
              <a:t> checks for lack of fit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Influence</a:t>
            </a:r>
            <a:r>
              <a:rPr sz="2000" b="0">
                <a:solidFill>
                  <a:srgbClr val="1B2430"/>
                </a:solidFill>
                <a:latin typeface="Calibri"/>
              </a:rPr>
              <a:t> measures for outlying observations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Multicollinearity</a:t>
            </a:r>
            <a:r>
              <a:rPr sz="2000" b="0">
                <a:solidFill>
                  <a:srgbClr val="1B2430"/>
                </a:solidFill>
                <a:latin typeface="Calibri"/>
              </a:rPr>
              <a:t> via the variance inflation factor (VIF)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Calibration plot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predicted vs observed probabilities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L11 · 35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Separation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10515600" cy="1554480"/>
          </a:xfrm>
          <a:prstGeom prst="roundRect">
            <a:avLst/>
          </a:prstGeom>
          <a:solidFill>
            <a:srgbClr val="EEF3F9"/>
          </a:solidFill>
          <a:ln w="1778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91440" cy="155448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965960"/>
            <a:ext cx="98755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</a:pPr>
            <a:r>
              <a:rPr sz="2000" b="1">
                <a:solidFill>
                  <a:srgbClr val="1B2430"/>
                </a:solidFill>
                <a:latin typeface="Calibri"/>
              </a:rPr>
              <a:t>Perfect separation</a:t>
            </a:r>
            <a:r>
              <a:rPr sz="2000" b="0">
                <a:solidFill>
                  <a:srgbClr val="1B2430"/>
                </a:solidFill>
                <a:latin typeface="Calibri"/>
              </a:rPr>
              <a:t> occurs when a predictor perfectly splits the classes; MLE estimates then diverge to ±∞.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57600"/>
            <a:ext cx="10424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Symptom: huge coefficients and standard errors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Common with small samples or strong predictors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Remedy: penalisation (Lecture 12!) or Firth's correction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L11 · 36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STRENGTHS &amp; LIMITS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Logistic regression in balance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4983480" cy="42976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2A6F97"/>
                </a:solidFill>
                <a:latin typeface="Calibri"/>
              </a:rPr>
              <a:t>Strengths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14600"/>
            <a:ext cx="4434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Interpretable odds ratios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Fast, well-calibrated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Probabilistic output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Strong baseline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691640"/>
            <a:ext cx="4983480" cy="42976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92024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E64626"/>
                </a:solidFill>
                <a:latin typeface="Calibri"/>
              </a:rPr>
              <a:t>Limits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514600"/>
            <a:ext cx="4434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Only </a:t>
            </a:r>
            <a:r>
              <a:rPr sz="1600" b="1">
                <a:solidFill>
                  <a:srgbClr val="1B2430"/>
                </a:solidFill>
                <a:latin typeface="Calibri"/>
              </a:rPr>
              <a:t>linear</a:t>
            </a:r>
            <a:r>
              <a:rPr sz="1600" b="0">
                <a:solidFill>
                  <a:srgbClr val="1B2430"/>
                </a:solidFill>
                <a:latin typeface="Calibri"/>
              </a:rPr>
              <a:t> boundaries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Struggles with many correlated predictors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Sensitive to separation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Needs feature engineering for non-linearity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L11 · 37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MAKING IT NON-LINEAR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Extending the reach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Add </a:t>
            </a:r>
            <a:r>
              <a:rPr sz="2000" b="1">
                <a:solidFill>
                  <a:srgbClr val="1B2430"/>
                </a:solidFill>
                <a:latin typeface="Calibri"/>
              </a:rPr>
              <a:t>polynomial</a:t>
            </a:r>
            <a:r>
              <a:rPr sz="2000" b="0">
                <a:solidFill>
                  <a:srgbClr val="1B2430"/>
                </a:solidFill>
                <a:latin typeface="Calibri"/>
              </a:rPr>
              <a:t> or </a:t>
            </a:r>
            <a:r>
              <a:rPr sz="2000" b="1">
                <a:solidFill>
                  <a:srgbClr val="1B2430"/>
                </a:solidFill>
                <a:latin typeface="Calibri"/>
              </a:rPr>
              <a:t>spline</a:t>
            </a:r>
            <a:r>
              <a:rPr sz="2000" b="0">
                <a:solidFill>
                  <a:srgbClr val="1B2430"/>
                </a:solidFill>
                <a:latin typeface="Calibri"/>
              </a:rPr>
              <a:t> terms of predictors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Add </a:t>
            </a:r>
            <a:r>
              <a:rPr sz="2000" b="1">
                <a:solidFill>
                  <a:srgbClr val="1B2430"/>
                </a:solidFill>
                <a:latin typeface="Calibri"/>
              </a:rPr>
              <a:t>interaction</a:t>
            </a:r>
            <a:r>
              <a:rPr sz="2000" b="0">
                <a:solidFill>
                  <a:srgbClr val="1B2430"/>
                </a:solidFill>
                <a:latin typeface="Calibri"/>
              </a:rPr>
              <a:t> terms (effect of one depends on another)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Still a linear model </a:t>
            </a:r>
            <a:r>
              <a:rPr sz="2000" b="1">
                <a:solidFill>
                  <a:srgbClr val="1B2430"/>
                </a:solidFill>
                <a:latin typeface="Calibri"/>
              </a:rPr>
              <a:t>in the transformed features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Or switch to trees / SVMs / neural nets (later lectures)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L11 · 38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Your logistic fit returns a coefficient of 40 with a standard error of 9000. Likely cause?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82880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Great fit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06040"/>
            <a:ext cx="10515600" cy="658368"/>
          </a:xfrm>
          <a:prstGeom prst="roundRect">
            <a:avLst/>
          </a:prstGeom>
          <a:solidFill>
            <a:srgbClr val="E4F3EC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606040"/>
            <a:ext cx="566928" cy="65836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60604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60604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1">
                <a:solidFill>
                  <a:srgbClr val="1B2430"/>
                </a:solidFill>
                <a:latin typeface="Calibri"/>
              </a:rPr>
              <a:t>Perfect (or quasi-) separation</a:t>
            </a:r>
            <a:r>
              <a:rPr sz="1650" b="1">
                <a:solidFill>
                  <a:srgbClr val="2A9D8F"/>
                </a:solidFill>
                <a:latin typeface="Calibri"/>
              </a:rPr>
              <a:t>   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38328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338328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38328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38328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Too little regularisation of the mean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16052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416052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16052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16052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Wrong link function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983480"/>
            <a:ext cx="10515600" cy="777240"/>
          </a:xfrm>
          <a:prstGeom prst="roundRect">
            <a:avLst/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983480"/>
            <a:ext cx="73152" cy="7772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505663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8000"/>
              </a:lnSpc>
            </a:pPr>
            <a:r>
              <a:rPr sz="1500" b="0">
                <a:solidFill>
                  <a:srgbClr val="1B2430"/>
                </a:solidFill>
                <a:latin typeface="Calibri"/>
              </a:rPr>
              <a:t>Why: Enormous coefficients with huge standard errors are the classic signature of separation — a predictor splits the classes too cleanly for plain MLE.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L11 · 39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Predicting metabolic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Fit logistic model of metabolic-syndrome on intake + anthropometrics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Report </a:t>
            </a:r>
            <a:r>
              <a:rPr sz="2000" b="1">
                <a:solidFill>
                  <a:srgbClr val="1B2430"/>
                </a:solidFill>
                <a:latin typeface="Calibri"/>
              </a:rPr>
              <a:t>odds ratios</a:t>
            </a:r>
            <a:r>
              <a:rPr sz="2000" b="0">
                <a:solidFill>
                  <a:srgbClr val="1B2430"/>
                </a:solidFill>
                <a:latin typeface="Calibri"/>
              </a:rPr>
              <a:t> with 95% CIs for each predictor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Assess discrimination via </a:t>
            </a:r>
            <a:r>
              <a:rPr sz="2000" b="1">
                <a:solidFill>
                  <a:srgbClr val="1B2430"/>
                </a:solidFill>
                <a:latin typeface="Calibri"/>
              </a:rPr>
              <a:t>AUC</a:t>
            </a:r>
            <a:r>
              <a:rPr sz="2000" b="0">
                <a:solidFill>
                  <a:srgbClr val="1B2430"/>
                </a:solidFill>
                <a:latin typeface="Calibri"/>
              </a:rPr>
              <a:t> on a held-out set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Check </a:t>
            </a:r>
            <a:r>
              <a:rPr sz="2000" b="1">
                <a:solidFill>
                  <a:srgbClr val="1B2430"/>
                </a:solidFill>
                <a:latin typeface="Calibri"/>
              </a:rPr>
              <a:t>calibration</a:t>
            </a:r>
            <a:r>
              <a:rPr sz="2000" b="0">
                <a:solidFill>
                  <a:srgbClr val="1B2430"/>
                </a:solidFill>
                <a:latin typeface="Calibri"/>
              </a:rPr>
              <a:t>; choose a threshold from clinical costs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L11 · 40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IN-CLASS EXERCISE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Plan a classification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1051560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874519"/>
            <a:ext cx="9966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1.  </a:t>
            </a:r>
            <a:r>
              <a:rPr sz="1900" b="0">
                <a:solidFill>
                  <a:srgbClr val="1B2430"/>
                </a:solidFill>
                <a:latin typeface="Calibri"/>
              </a:rPr>
              <a:t>You must classify participants as insulin-resistant or not from 20 predictors.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2.  </a:t>
            </a:r>
            <a:r>
              <a:rPr sz="1900" b="0">
                <a:solidFill>
                  <a:srgbClr val="1B2430"/>
                </a:solidFill>
                <a:latin typeface="Calibri"/>
              </a:rPr>
              <a:t>Write the workflow: split → recipe → glm → threshold → evaluate.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3.  </a:t>
            </a:r>
            <a:r>
              <a:rPr sz="1900" b="0">
                <a:solidFill>
                  <a:srgbClr val="1B2430"/>
                </a:solidFill>
                <a:latin typeface="Calibri"/>
              </a:rPr>
              <a:t>Which metric leads your report, and why (classes are imbalanced)?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4.  </a:t>
            </a:r>
            <a:r>
              <a:rPr sz="1900" b="0">
                <a:solidFill>
                  <a:srgbClr val="1B2430"/>
                </a:solidFill>
                <a:latin typeface="Calibri"/>
              </a:rPr>
              <a:t>How would you detect and handle separation if it arises?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257800"/>
            <a:ext cx="10515600" cy="914400"/>
          </a:xfrm>
          <a:prstGeom prst="roundRect">
            <a:avLst/>
          </a:prstGeom>
          <a:solidFill>
            <a:srgbClr val="FFF6EE"/>
          </a:solidFill>
          <a:ln w="15240">
            <a:solidFill>
              <a:srgbClr val="B98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44068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B98416"/>
                </a:solidFill>
                <a:latin typeface="Calibri"/>
              </a:rPr>
              <a:t>Hint.  </a:t>
            </a:r>
            <a:r>
              <a:rPr sz="1600" b="0" i="0">
                <a:solidFill>
                  <a:srgbClr val="1B2430"/>
                </a:solidFill>
                <a:latin typeface="Calibri"/>
              </a:rPr>
              <a:t>Lead with AUC / recall under imbalance; handle separation with penalisation (next lecture) or Firth's method.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L11 · 41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KEY IDEAS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Hold onto these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Sigmoid + linear predictor = valid probability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e^β = odds ratio</a:t>
            </a:r>
            <a:r>
              <a:rPr sz="2000" b="0">
                <a:solidFill>
                  <a:srgbClr val="1B2430"/>
                </a:solidFill>
                <a:latin typeface="Calibri"/>
              </a:rPr>
              <a:t>; linear on the log-odds scale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Fit by </a:t>
            </a:r>
            <a:r>
              <a:rPr sz="2000" b="1">
                <a:solidFill>
                  <a:srgbClr val="1B2430"/>
                </a:solidFill>
                <a:latin typeface="Calibri"/>
              </a:rPr>
              <a:t>maximum likelihood</a:t>
            </a:r>
            <a:r>
              <a:rPr sz="2000" b="0">
                <a:solidFill>
                  <a:srgbClr val="1B2430"/>
                </a:solidFill>
                <a:latin typeface="Calibri"/>
              </a:rPr>
              <a:t>; boundary is linear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Evaluate with </a:t>
            </a:r>
            <a:r>
              <a:rPr sz="2000" b="1">
                <a:solidFill>
                  <a:srgbClr val="1B2430"/>
                </a:solidFill>
                <a:latin typeface="Calibri"/>
              </a:rPr>
              <a:t>ROC/AUC</a:t>
            </a:r>
            <a:r>
              <a:rPr sz="2000" b="0">
                <a:solidFill>
                  <a:srgbClr val="1B2430"/>
                </a:solidFill>
                <a:latin typeface="Calibri"/>
              </a:rPr>
              <a:t> and the confusion matrix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L11 · 42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FURTHER READING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To go deeper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James et al., *ISLR*, §4.3 (logistic regression)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Hastie et al., *ESL*, §4.4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Harrell, *Regression Modeling Strategies* — clinical practice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L11 · 43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31720"/>
            <a:ext cx="320040" cy="219456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C8D4E2"/>
                </a:solidFill>
                <a:latin typeface="Calibri"/>
              </a:rPr>
              <a:t>THE TAKEAWAY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104241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When you need a fast, interpretable, probabilistic classifier, logistic regression is almost always the right first move.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50292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1">
                <a:solidFill>
                  <a:srgbClr val="B9C6D6"/>
                </a:solidFill>
                <a:latin typeface="Calibri"/>
              </a:rPr>
              <a:t>Next: how to make it robust when predictors are many and correlated.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6F9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FD8E8"/>
                </a:solidFill>
                <a:latin typeface="Calibri"/>
              </a:rPr>
              <a:t>PART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Probabilities, inference &amp; context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Calibration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10515600" cy="1554480"/>
          </a:xfrm>
          <a:prstGeom prst="roundRect">
            <a:avLst/>
          </a:prstGeom>
          <a:solidFill>
            <a:srgbClr val="EEF3F9"/>
          </a:solidFill>
          <a:ln w="1778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91440" cy="155448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965960"/>
            <a:ext cx="98755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</a:pPr>
            <a:r>
              <a:rPr sz="2000" b="0">
                <a:solidFill>
                  <a:srgbClr val="1B2430"/>
                </a:solidFill>
                <a:latin typeface="Calibri"/>
              </a:rPr>
              <a:t>A classifier is </a:t>
            </a:r>
            <a:r>
              <a:rPr sz="2000" b="1">
                <a:solidFill>
                  <a:srgbClr val="1B2430"/>
                </a:solidFill>
                <a:latin typeface="Calibri"/>
              </a:rPr>
              <a:t>well-calibrated</a:t>
            </a:r>
            <a:r>
              <a:rPr sz="2000" b="0">
                <a:solidFill>
                  <a:srgbClr val="1B2430"/>
                </a:solidFill>
                <a:latin typeface="Calibri"/>
              </a:rPr>
              <a:t> if, among cases it gives probability p, about a fraction p are truly positive.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57600"/>
            <a:ext cx="10424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Logistic regression is usually well-calibrated by construction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Check with a calibration (reliability) plot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Matters when the </a:t>
            </a:r>
            <a:r>
              <a:rPr sz="1800" b="1">
                <a:solidFill>
                  <a:srgbClr val="1B2430"/>
                </a:solidFill>
                <a:latin typeface="Calibri"/>
              </a:rPr>
              <a:t>probability itself</a:t>
            </a:r>
            <a:r>
              <a:rPr sz="1800" b="0">
                <a:solidFill>
                  <a:srgbClr val="1B2430"/>
                </a:solidFill>
                <a:latin typeface="Calibri"/>
              </a:rPr>
              <a:t> is used for decisions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L11 · 45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STATISTICAL INFERENCE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Beyond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Each coefficient has a </a:t>
            </a:r>
            <a:r>
              <a:rPr sz="2000" b="1">
                <a:solidFill>
                  <a:srgbClr val="1B2430"/>
                </a:solidFill>
                <a:latin typeface="Calibri"/>
              </a:rPr>
              <a:t>standard error</a:t>
            </a:r>
            <a:r>
              <a:rPr sz="2000" b="0">
                <a:solidFill>
                  <a:srgbClr val="1B2430"/>
                </a:solidFill>
                <a:latin typeface="Calibri"/>
              </a:rPr>
              <a:t>, z-test and p-value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Report </a:t>
            </a:r>
            <a:r>
              <a:rPr sz="2000" b="1">
                <a:solidFill>
                  <a:srgbClr val="1B2430"/>
                </a:solidFill>
                <a:latin typeface="Calibri"/>
              </a:rPr>
              <a:t>odds ratios with 95% confidence intervals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The </a:t>
            </a:r>
            <a:r>
              <a:rPr sz="2000" b="1">
                <a:solidFill>
                  <a:srgbClr val="1B2430"/>
                </a:solidFill>
                <a:latin typeface="Calibri"/>
              </a:rPr>
              <a:t>Wald</a:t>
            </a:r>
            <a:r>
              <a:rPr sz="2000" b="0">
                <a:solidFill>
                  <a:srgbClr val="1B2430"/>
                </a:solidFill>
                <a:latin typeface="Calibri"/>
              </a:rPr>
              <a:t> and </a:t>
            </a:r>
            <a:r>
              <a:rPr sz="2000" b="1">
                <a:solidFill>
                  <a:srgbClr val="1B2430"/>
                </a:solidFill>
                <a:latin typeface="Calibri"/>
              </a:rPr>
              <a:t>likelihood-ratio</a:t>
            </a:r>
            <a:r>
              <a:rPr sz="2000" b="0">
                <a:solidFill>
                  <a:srgbClr val="1B2430"/>
                </a:solidFill>
                <a:latin typeface="Calibri"/>
              </a:rPr>
              <a:t> tests assess predictors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Deviance</a:t>
            </a:r>
            <a:r>
              <a:rPr sz="2000" b="0">
                <a:solidFill>
                  <a:srgbClr val="1B2430"/>
                </a:solidFill>
                <a:latin typeface="Calibri"/>
              </a:rPr>
              <a:t> compares nested models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L11 · 46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CONFIDENCE INTERVALS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On the odds-ratio scale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1965960"/>
            <a:ext cx="9235440" cy="1417320"/>
          </a:xfrm>
          <a:prstGeom prst="roundRect">
            <a:avLst/>
          </a:prstGeom>
          <a:solidFill>
            <a:srgbClr val="0F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1965960"/>
            <a:ext cx="905256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 i="1">
                <a:solidFill>
                  <a:srgbClr val="EAF2FB"/>
                </a:solidFill>
                <a:latin typeface="Cambria Math"/>
              </a:rPr>
              <a:t>95% CI for OR = exp( β̂ ± 1.96 · SE(β̂) 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703320"/>
            <a:ext cx="9235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• </a:t>
            </a:r>
            <a:r>
              <a:rPr sz="1800" b="0">
                <a:solidFill>
                  <a:srgbClr val="1B2430"/>
                </a:solidFill>
                <a:latin typeface="Calibri"/>
              </a:rPr>
              <a:t>Compute the interval on the </a:t>
            </a:r>
            <a:r>
              <a:rPr sz="1800" b="1">
                <a:solidFill>
                  <a:srgbClr val="1B2430"/>
                </a:solidFill>
                <a:latin typeface="Calibri"/>
              </a:rPr>
              <a:t>log-odds</a:t>
            </a:r>
            <a:r>
              <a:rPr sz="1800" b="0">
                <a:solidFill>
                  <a:srgbClr val="1B2430"/>
                </a:solidFill>
                <a:latin typeface="Calibri"/>
              </a:rPr>
              <a:t> scale, then exponentiate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• </a:t>
            </a:r>
            <a:r>
              <a:rPr sz="1800" b="0">
                <a:solidFill>
                  <a:srgbClr val="1B2430"/>
                </a:solidFill>
                <a:latin typeface="Calibri"/>
              </a:rPr>
              <a:t>If the CI for the OR excludes </a:t>
            </a:r>
            <a:r>
              <a:rPr sz="1800" b="1">
                <a:solidFill>
                  <a:srgbClr val="1B2430"/>
                </a:solidFill>
                <a:latin typeface="Calibri"/>
              </a:rPr>
              <a:t>1</a:t>
            </a:r>
            <a:r>
              <a:rPr sz="1800" b="0">
                <a:solidFill>
                  <a:srgbClr val="1B2430"/>
                </a:solidFill>
                <a:latin typeface="Calibri"/>
              </a:rPr>
              <a:t>, the effect is significant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• </a:t>
            </a:r>
            <a:r>
              <a:rPr sz="1800" b="0">
                <a:solidFill>
                  <a:srgbClr val="1B2430"/>
                </a:solidFill>
                <a:latin typeface="Calibri"/>
              </a:rPr>
              <a:t>The standard way clinical results are reported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L11 · 47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SAMPLE-SIZE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Enough data to trust the fit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Rule of thumb: </a:t>
            </a:r>
            <a:r>
              <a:rPr sz="2000" b="1">
                <a:solidFill>
                  <a:srgbClr val="1B2430"/>
                </a:solidFill>
                <a:latin typeface="Calibri"/>
              </a:rPr>
              <a:t>≥ 10 events per predictor</a:t>
            </a:r>
            <a:r>
              <a:rPr sz="2000" b="0">
                <a:solidFill>
                  <a:srgbClr val="1B2430"/>
                </a:solidFill>
                <a:latin typeface="Calibri"/>
              </a:rPr>
              <a:t> (EPV)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Too few events → unstable, over-optimistic coefficients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Rare outcomes need </a:t>
            </a:r>
            <a:r>
              <a:rPr sz="2000" b="1">
                <a:solidFill>
                  <a:srgbClr val="1B2430"/>
                </a:solidFill>
                <a:latin typeface="Calibri"/>
              </a:rPr>
              <a:t>large</a:t>
            </a:r>
            <a:r>
              <a:rPr sz="2000" b="0">
                <a:solidFill>
                  <a:srgbClr val="1B2430"/>
                </a:solidFill>
                <a:latin typeface="Calibri"/>
              </a:rPr>
              <a:t> samples or penalisation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Report EPV so readers can judge reliability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L11 · 48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LOGISTIC VS THE ALTERNATIVES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Placing it among classifiers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4983480" cy="42976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2A6F97"/>
                </a:solidFill>
                <a:latin typeface="Calibri"/>
              </a:rPr>
              <a:t>Logistic regression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14600"/>
            <a:ext cx="4434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Linear boundary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Interpretable, calibrated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Great baseline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691640"/>
            <a:ext cx="4983480" cy="42976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92024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E64626"/>
                </a:solidFill>
                <a:latin typeface="Calibri"/>
              </a:rPr>
              <a:t>Coming 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514600"/>
            <a:ext cx="4434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1">
                <a:solidFill>
                  <a:srgbClr val="1B2430"/>
                </a:solidFill>
                <a:latin typeface="Calibri"/>
              </a:rPr>
              <a:t>LDA/QDA</a:t>
            </a:r>
            <a:r>
              <a:rPr sz="1600" b="0">
                <a:solidFill>
                  <a:srgbClr val="1B2430"/>
                </a:solidFill>
                <a:latin typeface="Calibri"/>
              </a:rPr>
              <a:t> — generative, Gaussian (L13)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1">
                <a:solidFill>
                  <a:srgbClr val="1B2430"/>
                </a:solidFill>
                <a:latin typeface="Calibri"/>
              </a:rPr>
              <a:t>Trees/forests</a:t>
            </a:r>
            <a:r>
              <a:rPr sz="1600" b="0">
                <a:solidFill>
                  <a:srgbClr val="1B2430"/>
                </a:solidFill>
                <a:latin typeface="Calibri"/>
              </a:rPr>
              <a:t> — non-linear (L15–16)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1">
                <a:solidFill>
                  <a:srgbClr val="1B2430"/>
                </a:solidFill>
                <a:latin typeface="Calibri"/>
              </a:rPr>
              <a:t>SVM</a:t>
            </a:r>
            <a:r>
              <a:rPr sz="1600" b="0">
                <a:solidFill>
                  <a:srgbClr val="1B2430"/>
                </a:solidFill>
                <a:latin typeface="Calibri"/>
              </a:rPr>
              <a:t> — margins &amp; kernels (L19–20)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L11 · 49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To report a nutrition finding to clinicians, which output of a logistic model is most useful?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82880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The raw log-odds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06040"/>
            <a:ext cx="10515600" cy="658368"/>
          </a:xfrm>
          <a:prstGeom prst="roundRect">
            <a:avLst/>
          </a:prstGeom>
          <a:solidFill>
            <a:srgbClr val="E4F3EC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606040"/>
            <a:ext cx="566928" cy="65836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60604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60604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1">
                <a:solidFill>
                  <a:srgbClr val="1B2430"/>
                </a:solidFill>
                <a:latin typeface="Calibri"/>
              </a:rPr>
              <a:t>Odds ratios with confidence intervals</a:t>
            </a:r>
            <a:r>
              <a:rPr sz="1650" b="1">
                <a:solidFill>
                  <a:srgbClr val="2A9D8F"/>
                </a:solidFill>
                <a:latin typeface="Calibri"/>
              </a:rPr>
              <a:t>   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38328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338328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38328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38328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The number of iterations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16052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416052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16052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16052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The training accuracy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983480"/>
            <a:ext cx="10515600" cy="777240"/>
          </a:xfrm>
          <a:prstGeom prst="roundRect">
            <a:avLst/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983480"/>
            <a:ext cx="73152" cy="7772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505663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8000"/>
              </a:lnSpc>
            </a:pPr>
            <a:r>
              <a:rPr sz="1500" b="0">
                <a:solidFill>
                  <a:srgbClr val="1B2430"/>
                </a:solidFill>
                <a:latin typeface="Calibri"/>
              </a:rPr>
              <a:t>Why: Clinicians interpret odds ratios (with CIs) directly — they quantify how a predictor changes the odds of the outcome.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L11 · 50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CHAPTER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You should be able to…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Explain why linear regression fails for classification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Interpret a coefficient as an </a:t>
            </a:r>
            <a:r>
              <a:rPr sz="2000" b="1">
                <a:solidFill>
                  <a:srgbClr val="1B2430"/>
                </a:solidFill>
                <a:latin typeface="Calibri"/>
              </a:rPr>
              <a:t>odds ratio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Describe MLE fitting and the linear boundary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Evaluate with ROC/AUC and pick a threshold from costs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L11 · 51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31720"/>
            <a:ext cx="320040" cy="219456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C8D4E2"/>
                </a:solidFill>
                <a:latin typeface="Calibri"/>
              </a:rPr>
              <a:t>BRIDGE TO NEXT LECTURE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104241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Plain logistic regression falters when predictors are many and correlated — so we penalise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50292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1">
                <a:solidFill>
                  <a:srgbClr val="B9C6D6"/>
                </a:solidFill>
                <a:latin typeface="Calibri"/>
              </a:rPr>
              <a:t>Ridge, lasso and elastic net make it robust and even self-selecting.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